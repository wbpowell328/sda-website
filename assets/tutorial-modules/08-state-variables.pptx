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4"/>
  </p:sldMasterIdLst>
  <p:notesMasterIdLst>
    <p:notesMasterId r:id="rId330"/>
  </p:notesMasterIdLst>
  <p:sldIdLst>
    <p:sldId id="10747" r:id="rId211"/>
    <p:sldId id="9925" r:id="rId212"/>
    <p:sldId id="10442" r:id="rId213"/>
    <p:sldId id="10707" r:id="rId214"/>
    <p:sldId id="10231" r:id="rId215"/>
    <p:sldId id="5340" r:id="rId216"/>
    <p:sldId id="5341" r:id="rId217"/>
    <p:sldId id="5343" r:id="rId218"/>
    <p:sldId id="10359" r:id="rId219"/>
    <p:sldId id="10713" r:id="rId220"/>
    <p:sldId id="10411" r:id="rId221"/>
    <p:sldId id="10537" r:id="rId222"/>
    <p:sldId id="10587" r:id="rId223"/>
    <p:sldId id="8003" r:id="rId224"/>
    <p:sldId id="5345" r:id="rId225"/>
    <p:sldId id="5346" r:id="rId226"/>
    <p:sldId id="5347" r:id="rId227"/>
    <p:sldId id="5806" r:id="rId228"/>
    <p:sldId id="5348" r:id="rId229"/>
    <p:sldId id="5349" r:id="rId230"/>
    <p:sldId id="10538" r:id="rId231"/>
    <p:sldId id="5397" r:id="rId232"/>
    <p:sldId id="10708" r:id="rId233"/>
    <p:sldId id="10709" r:id="rId234"/>
    <p:sldId id="6049" r:id="rId235"/>
    <p:sldId id="6050" r:id="rId236"/>
    <p:sldId id="6040" r:id="rId237"/>
    <p:sldId id="10390" r:id="rId238"/>
    <p:sldId id="10539" r:id="rId239"/>
    <p:sldId id="10444" r:id="rId240"/>
    <p:sldId id="5386" r:id="rId241"/>
    <p:sldId id="10445" r:id="rId242"/>
    <p:sldId id="5389" r:id="rId243"/>
    <p:sldId id="5390" r:id="rId244"/>
    <p:sldId id="5391" r:id="rId245"/>
    <p:sldId id="5373" r:id="rId246"/>
    <p:sldId id="10970" r:id="rId247"/>
  </p:sldIdLst>
  <p:sldSz cx="12192000" cy="6858000"/>
  <p:notesSz cx="7102475" cy="9388475"/>
  <p:embeddedFontLst>
    <p:embeddedFont>
      <p:font typeface="Cambria Math" panose="02040503050406030204" pitchFamily="18" charset="0"/>
      <p:regular r:id="rId331"/>
    </p:embeddedFont>
    <p:embeddedFont>
      <p:font typeface="Oswald" panose="00000500000000000000" pitchFamily="2" charset="0"/>
      <p:regular r:id="rId332"/>
      <p:bold r:id="rId333"/>
    </p:embeddedFont>
    <p:embeddedFont>
      <p:font typeface="Oswald Regular" panose="00000500000000000000" charset="0"/>
      <p:regular r:id="rId334"/>
      <p:bold r:id="rId335"/>
    </p:embeddedFont>
    <p:embeddedFont>
      <p:font typeface="Playfair Display" panose="00000500000000000000" pitchFamily="2" charset="0"/>
      <p:regular r:id="rId336"/>
      <p:bold r:id="rId337"/>
      <p:italic r:id="rId338"/>
      <p:boldItalic r:id="rId339"/>
    </p:embeddedFont>
    <p:embeddedFont>
      <p:font typeface="Raleway" pitchFamily="2" charset="0"/>
      <p:regular r:id="rId340"/>
      <p:bold r:id="rId341"/>
      <p:italic r:id="rId342"/>
      <p:boldItalic r:id="rId343"/>
    </p:embeddedFont>
    <p:embeddedFont>
      <p:font typeface="Raleway Thin" pitchFamily="2" charset="0"/>
      <p:regular r:id="rId344"/>
      <p:bold r:id="rId345"/>
      <p:italic r:id="rId346"/>
      <p:boldItalic r:id="rId3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594221A-EA1A-49CA-A6F5-055A24DBA16E}">
          <p14:sldIdLst/>
        </p14:section>
        <p14:section name="Opening" id="{15E8A6E9-652B-44EF-A433-602AA2C0CF1D}">
          <p14:sldIdLst/>
        </p14:section>
        <p14:section name="Background for this tutorial" id="{9E777E73-11DD-4A73-81F1-368F6E4B7E85}">
          <p14:sldIdLst>
            <p14:sldId id="10779"/>
            <p14:sldId id="9124"/>
            <p14:sldId id="8947"/>
            <p14:sldId id="9364"/>
            <p14:sldId id="8505"/>
            <p14:sldId id="258"/>
            <p14:sldId id="7813"/>
            <p14:sldId id="9228"/>
            <p14:sldId id="9227"/>
            <p14:sldId id="10645"/>
            <p14:sldId id="10330"/>
            <p14:sldId id="9922"/>
            <p14:sldId id="10477"/>
            <p14:sldId id="10174"/>
            <p14:sldId id="10022"/>
            <p14:sldId id="10173"/>
            <p14:sldId id="10172"/>
            <p14:sldId id="10419"/>
            <p14:sldId id="10907"/>
          </p14:sldIdLst>
        </p14:section>
        <p14:section name="History of RL (short)" id="{A11ABB24-D8C5-421E-8D7B-89403AEF34B0}">
          <p14:sldIdLst>
            <p14:sldId id="10742"/>
            <p14:sldId id="10530"/>
            <p14:sldId id="10481"/>
            <p14:sldId id="8657"/>
            <p14:sldId id="10483"/>
            <p14:sldId id="10657"/>
            <p14:sldId id="10531"/>
            <p14:sldId id="10679"/>
            <p14:sldId id="10488"/>
            <p14:sldId id="10489"/>
            <p14:sldId id="10654"/>
            <p14:sldId id="10491"/>
            <p14:sldId id="10492"/>
            <p14:sldId id="10658"/>
            <p14:sldId id="10494"/>
            <p14:sldId id="10721"/>
            <p14:sldId id="10577"/>
            <p14:sldId id="10660"/>
            <p14:sldId id="10838"/>
            <p14:sldId id="10840"/>
            <p14:sldId id="10499"/>
            <p14:sldId id="10500"/>
            <p14:sldId id="10576"/>
            <p14:sldId id="10501"/>
            <p14:sldId id="10502"/>
            <p14:sldId id="10503"/>
            <p14:sldId id="10575"/>
            <p14:sldId id="10963"/>
          </p14:sldIdLst>
        </p14:section>
        <p14:section name="Sequential decision problems" id="{ACC58C93-CA30-44E4-A6F7-33A7A138D8CC}">
          <p14:sldIdLst>
            <p14:sldId id="10743"/>
            <p14:sldId id="8053"/>
            <p14:sldId id="8621"/>
            <p14:sldId id="8630"/>
            <p14:sldId id="9224"/>
            <p14:sldId id="8650"/>
            <p14:sldId id="8284"/>
            <p14:sldId id="294"/>
            <p14:sldId id="293"/>
            <p14:sldId id="10064"/>
            <p14:sldId id="10065"/>
            <p14:sldId id="4727"/>
            <p14:sldId id="4732"/>
            <p14:sldId id="4600"/>
            <p14:sldId id="10451"/>
            <p14:sldId id="10714"/>
            <p14:sldId id="10465"/>
            <p14:sldId id="10591"/>
            <p14:sldId id="10728"/>
            <p14:sldId id="10729"/>
            <p14:sldId id="10964"/>
          </p14:sldIdLst>
        </p14:section>
        <p14:section name="Framing the problem" id="{D8CB74C6-BADA-4949-8842-1630826271F0}">
          <p14:sldIdLst>
            <p14:sldId id="10870"/>
            <p14:sldId id="10872"/>
            <p14:sldId id="10873"/>
            <p14:sldId id="10843"/>
            <p14:sldId id="10844"/>
            <p14:sldId id="10845"/>
            <p14:sldId id="10846"/>
            <p14:sldId id="10847"/>
            <p14:sldId id="10874"/>
            <p14:sldId id="10852"/>
            <p14:sldId id="10853"/>
            <p14:sldId id="10882"/>
            <p14:sldId id="10854"/>
            <p14:sldId id="10855"/>
            <p14:sldId id="9931"/>
            <p14:sldId id="9946"/>
            <p14:sldId id="10875"/>
            <p14:sldId id="10541"/>
            <p14:sldId id="10639"/>
            <p14:sldId id="9559"/>
            <p14:sldId id="10661"/>
            <p14:sldId id="10655"/>
            <p14:sldId id="10533"/>
            <p14:sldId id="10656"/>
            <p14:sldId id="10581"/>
            <p14:sldId id="10364"/>
            <p14:sldId id="10858"/>
            <p14:sldId id="9791"/>
            <p14:sldId id="9935"/>
            <p14:sldId id="10876"/>
            <p14:sldId id="10863"/>
            <p14:sldId id="10864"/>
            <p14:sldId id="10347"/>
            <p14:sldId id="10663"/>
            <p14:sldId id="10662"/>
            <p14:sldId id="10582"/>
            <p14:sldId id="10583"/>
            <p14:sldId id="10349"/>
            <p14:sldId id="10879"/>
            <p14:sldId id="10848"/>
            <p14:sldId id="10849"/>
            <p14:sldId id="10850"/>
            <p14:sldId id="10135"/>
            <p14:sldId id="10118"/>
            <p14:sldId id="10119"/>
            <p14:sldId id="10880"/>
            <p14:sldId id="10883"/>
            <p14:sldId id="10881"/>
            <p14:sldId id="10859"/>
            <p14:sldId id="10860"/>
            <p14:sldId id="10861"/>
            <p14:sldId id="10868"/>
            <p14:sldId id="10869"/>
            <p14:sldId id="10965"/>
          </p14:sldIdLst>
        </p14:section>
        <p14:section name="The universal modeling framework (high level)" id="{B4EDCA7E-9BFF-4C15-9330-9A564F4DF9C2}">
          <p14:sldIdLst>
            <p14:sldId id="10744"/>
            <p14:sldId id="10185"/>
            <p14:sldId id="10070"/>
            <p14:sldId id="10071"/>
            <p14:sldId id="10166"/>
            <p14:sldId id="10887"/>
            <p14:sldId id="10888"/>
            <p14:sldId id="10176"/>
            <p14:sldId id="10685"/>
            <p14:sldId id="9586"/>
            <p14:sldId id="10696"/>
            <p14:sldId id="10966"/>
          </p14:sldIdLst>
        </p14:section>
        <p14:section name="Estimation methods" id="{DD45CA11-C71B-4DFB-931F-CCF5075140C5}">
          <p14:sldIdLst>
            <p14:sldId id="10745"/>
            <p14:sldId id="10555"/>
            <p14:sldId id="10841"/>
            <p14:sldId id="5161"/>
            <p14:sldId id="10556"/>
            <p14:sldId id="10731"/>
            <p14:sldId id="3326"/>
            <p14:sldId id="3327"/>
            <p14:sldId id="3328"/>
            <p14:sldId id="10402"/>
            <p14:sldId id="7482"/>
            <p14:sldId id="7492"/>
            <p14:sldId id="10557"/>
            <p14:sldId id="6635"/>
            <p14:sldId id="6636"/>
            <p14:sldId id="6651"/>
            <p14:sldId id="6641"/>
            <p14:sldId id="6642"/>
            <p14:sldId id="6643"/>
            <p14:sldId id="6644"/>
            <p14:sldId id="6645"/>
            <p14:sldId id="6646"/>
            <p14:sldId id="6647"/>
            <p14:sldId id="6599"/>
            <p14:sldId id="6600"/>
            <p14:sldId id="6601"/>
            <p14:sldId id="5763"/>
            <p14:sldId id="10579"/>
            <p14:sldId id="10580"/>
            <p14:sldId id="10558"/>
            <p14:sldId id="10682"/>
            <p14:sldId id="5435"/>
            <p14:sldId id="10681"/>
            <p14:sldId id="10967"/>
          </p14:sldIdLst>
        </p14:section>
        <p14:section name="The universal modeling framework (detailed)" id="{821755DE-5A4C-4C1D-9ABA-B5A3E99D2088}">
          <p14:sldIdLst>
            <p14:sldId id="10746"/>
            <p14:sldId id="10345"/>
            <p14:sldId id="10698"/>
            <p14:sldId id="10703"/>
            <p14:sldId id="10706"/>
            <p14:sldId id="10704"/>
            <p14:sldId id="10697"/>
            <p14:sldId id="10471"/>
            <p14:sldId id="10562"/>
            <p14:sldId id="6101"/>
            <p14:sldId id="5410"/>
            <p14:sldId id="10724"/>
            <p14:sldId id="10563"/>
            <p14:sldId id="5354"/>
            <p14:sldId id="10885"/>
            <p14:sldId id="10564"/>
            <p14:sldId id="5355"/>
            <p14:sldId id="5356"/>
            <p14:sldId id="10565"/>
            <p14:sldId id="5357"/>
            <p14:sldId id="10346"/>
            <p14:sldId id="10886"/>
            <p14:sldId id="10386"/>
            <p14:sldId id="10566"/>
            <p14:sldId id="5358"/>
            <p14:sldId id="10584"/>
            <p14:sldId id="10567"/>
            <p14:sldId id="5359"/>
            <p14:sldId id="10192"/>
            <p14:sldId id="10585"/>
            <p14:sldId id="10249"/>
            <p14:sldId id="10193"/>
            <p14:sldId id="10194"/>
            <p14:sldId id="10195"/>
            <p14:sldId id="10570"/>
            <p14:sldId id="10367"/>
            <p14:sldId id="10191"/>
            <p14:sldId id="10969"/>
          </p14:sldIdLst>
        </p14:section>
        <p14:section name="State variables" id="{EF92328B-1E57-457D-B684-87CD0E42401A}">
          <p14:sldIdLst>
            <p14:sldId id="10747"/>
            <p14:sldId id="9925"/>
            <p14:sldId id="10442"/>
            <p14:sldId id="10707"/>
            <p14:sldId id="10231"/>
            <p14:sldId id="5340"/>
            <p14:sldId id="5341"/>
            <p14:sldId id="5343"/>
            <p14:sldId id="10359"/>
            <p14:sldId id="10713"/>
            <p14:sldId id="10411"/>
            <p14:sldId id="10537"/>
            <p14:sldId id="10587"/>
            <p14:sldId id="8003"/>
            <p14:sldId id="5345"/>
            <p14:sldId id="5346"/>
            <p14:sldId id="5347"/>
            <p14:sldId id="5806"/>
            <p14:sldId id="5348"/>
            <p14:sldId id="5349"/>
            <p14:sldId id="10538"/>
            <p14:sldId id="5397"/>
            <p14:sldId id="10708"/>
            <p14:sldId id="10709"/>
            <p14:sldId id="6049"/>
            <p14:sldId id="6050"/>
            <p14:sldId id="6040"/>
            <p14:sldId id="10390"/>
            <p14:sldId id="10539"/>
            <p14:sldId id="10444"/>
            <p14:sldId id="5386"/>
            <p14:sldId id="10445"/>
            <p14:sldId id="5389"/>
            <p14:sldId id="5390"/>
            <p14:sldId id="5391"/>
            <p14:sldId id="5373"/>
            <p14:sldId id="10970"/>
          </p14:sldIdLst>
        </p14:section>
        <p14:section name="Modeling uncertainty" id="{273EC5AA-4BFE-49D9-AEE9-6F0DCC951FB4}">
          <p14:sldIdLst>
            <p14:sldId id="10973"/>
            <p14:sldId id="10975"/>
            <p14:sldId id="11002"/>
            <p14:sldId id="10992"/>
            <p14:sldId id="10976"/>
            <p14:sldId id="10997"/>
            <p14:sldId id="10990"/>
            <p14:sldId id="10980"/>
            <p14:sldId id="11020"/>
            <p14:sldId id="11003"/>
            <p14:sldId id="10977"/>
            <p14:sldId id="10981"/>
            <p14:sldId id="10982"/>
            <p14:sldId id="10983"/>
            <p14:sldId id="10984"/>
            <p14:sldId id="10985"/>
            <p14:sldId id="11004"/>
            <p14:sldId id="10986"/>
            <p14:sldId id="10998"/>
            <p14:sldId id="10999"/>
            <p14:sldId id="11000"/>
            <p14:sldId id="11005"/>
            <p14:sldId id="10979"/>
            <p14:sldId id="11007"/>
            <p14:sldId id="11008"/>
            <p14:sldId id="11013"/>
            <p14:sldId id="11014"/>
            <p14:sldId id="11016"/>
            <p14:sldId id="11017"/>
            <p14:sldId id="11009"/>
            <p14:sldId id="6048"/>
            <p14:sldId id="11015"/>
            <p14:sldId id="5487"/>
            <p14:sldId id="11018"/>
            <p14:sldId id="11021"/>
            <p14:sldId id="11019"/>
            <p14:sldId id="10974"/>
          </p14:sldIdLst>
        </p14:section>
        <p14:section name="Designing policies - overview" id="{41540112-45D0-49AB-B584-51A2771BCDA9}">
          <p14:sldIdLst>
            <p14:sldId id="10748"/>
            <p14:sldId id="7834"/>
            <p14:sldId id="7835"/>
            <p14:sldId id="307"/>
            <p14:sldId id="9747"/>
            <p14:sldId id="9748"/>
            <p14:sldId id="10504"/>
            <p14:sldId id="9767"/>
            <p14:sldId id="9856"/>
            <p14:sldId id="9750"/>
            <p14:sldId id="9751"/>
            <p14:sldId id="10669"/>
            <p14:sldId id="10672"/>
            <p14:sldId id="9763"/>
            <p14:sldId id="10040"/>
            <p14:sldId id="9873"/>
            <p14:sldId id="10391"/>
            <p14:sldId id="10392"/>
            <p14:sldId id="10393"/>
            <p14:sldId id="10394"/>
            <p14:sldId id="9836"/>
            <p14:sldId id="9758"/>
            <p14:sldId id="10041"/>
            <p14:sldId id="9760"/>
            <p14:sldId id="9768"/>
            <p14:sldId id="9950"/>
            <p14:sldId id="10686"/>
            <p14:sldId id="10726"/>
            <p14:sldId id="10687"/>
            <p14:sldId id="8862"/>
            <p14:sldId id="10189"/>
            <p14:sldId id="5775"/>
            <p14:sldId id="10971"/>
          </p14:sldIdLst>
        </p14:section>
        <p14:section name="Choosing policies" id="{E08E9834-D518-4D97-8BC2-73F067E8DD93}">
          <p14:sldIdLst>
            <p14:sldId id="10780"/>
            <p14:sldId id="10890"/>
            <p14:sldId id="10889"/>
            <p14:sldId id="10099"/>
            <p14:sldId id="10100"/>
            <p14:sldId id="10110"/>
            <p14:sldId id="9548"/>
            <p14:sldId id="9837"/>
            <p14:sldId id="7930"/>
            <p14:sldId id="8043"/>
            <p14:sldId id="9284"/>
            <p14:sldId id="10972"/>
          </p14:sldIdLst>
        </p14:section>
        <p14:section name="Untitled Section" id="{1B10CAED-9D60-4577-9174-6652579FD55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6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AF6"/>
    <a:srgbClr val="92551A"/>
    <a:srgbClr val="4F1F14"/>
    <a:srgbClr val="3D2914"/>
    <a:srgbClr val="F5ECD6"/>
    <a:srgbClr val="EFF2FB"/>
    <a:srgbClr val="F2F2FC"/>
    <a:srgbClr val="800000"/>
    <a:srgbClr val="FFFFFF"/>
    <a:srgbClr val="00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4651" autoAdjust="0"/>
    <p:restoredTop sz="94699" autoAdjust="0"/>
  </p:normalViewPr>
  <p:slideViewPr>
    <p:cSldViewPr snapToGrid="0">
      <p:cViewPr varScale="1">
        <p:scale>
          <a:sx n="81" d="100"/>
          <a:sy n="81" d="100"/>
        </p:scale>
        <p:origin x="173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0187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56"/>
        <p:guide pos="2237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226" Type="http://schemas.openxmlformats.org/officeDocument/2006/relationships/slide" Target="slides/slide222.xml"/><Relationship Id="rId335" Type="http://schemas.openxmlformats.org/officeDocument/2006/relationships/font" Target="fonts/font5.fntdata"/><Relationship Id="rId237" Type="http://schemas.openxmlformats.org/officeDocument/2006/relationships/slide" Target="slides/slide233.xml"/><Relationship Id="rId346" Type="http://schemas.openxmlformats.org/officeDocument/2006/relationships/font" Target="fonts/font16.fntdata"/><Relationship Id="rId217" Type="http://schemas.openxmlformats.org/officeDocument/2006/relationships/slide" Target="slides/slide213.xml"/><Relationship Id="rId228" Type="http://schemas.openxmlformats.org/officeDocument/2006/relationships/slide" Target="slides/slide224.xml"/><Relationship Id="rId337" Type="http://schemas.openxmlformats.org/officeDocument/2006/relationships/font" Target="fonts/font7.fntdata"/><Relationship Id="rId239" Type="http://schemas.openxmlformats.org/officeDocument/2006/relationships/slide" Target="slides/slide235.xml"/><Relationship Id="rId348" Type="http://schemas.openxmlformats.org/officeDocument/2006/relationships/presProps" Target="presProps.xml"/><Relationship Id="rId219" Type="http://schemas.openxmlformats.org/officeDocument/2006/relationships/slide" Target="slides/slide215.xml"/><Relationship Id="rId230" Type="http://schemas.openxmlformats.org/officeDocument/2006/relationships/slide" Target="slides/slide226.xml"/><Relationship Id="rId349" Type="http://schemas.openxmlformats.org/officeDocument/2006/relationships/viewProps" Target="viewProps.xml"/><Relationship Id="rId220" Type="http://schemas.openxmlformats.org/officeDocument/2006/relationships/slide" Target="slides/slide216.xml"/><Relationship Id="rId241" Type="http://schemas.openxmlformats.org/officeDocument/2006/relationships/slide" Target="slides/slide237.xml"/><Relationship Id="rId339" Type="http://schemas.openxmlformats.org/officeDocument/2006/relationships/font" Target="fonts/font9.fntdata"/><Relationship Id="rId350" Type="http://schemas.openxmlformats.org/officeDocument/2006/relationships/theme" Target="theme/theme1.xml"/><Relationship Id="rId231" Type="http://schemas.openxmlformats.org/officeDocument/2006/relationships/slide" Target="slides/slide227.xml"/><Relationship Id="rId340" Type="http://schemas.openxmlformats.org/officeDocument/2006/relationships/font" Target="fonts/font10.fntdata"/><Relationship Id="rId221" Type="http://schemas.openxmlformats.org/officeDocument/2006/relationships/slide" Target="slides/slide217.xml"/><Relationship Id="rId242" Type="http://schemas.openxmlformats.org/officeDocument/2006/relationships/slide" Target="slides/slide238.xml"/><Relationship Id="rId330" Type="http://schemas.openxmlformats.org/officeDocument/2006/relationships/notesMaster" Target="notesMasters/notesMaster1.xml"/><Relationship Id="rId351" Type="http://schemas.openxmlformats.org/officeDocument/2006/relationships/tableStyles" Target="tableStyles.xml"/><Relationship Id="rId211" Type="http://schemas.openxmlformats.org/officeDocument/2006/relationships/slide" Target="slides/slide207.xml"/><Relationship Id="rId232" Type="http://schemas.openxmlformats.org/officeDocument/2006/relationships/slide" Target="slides/slide228.xml"/><Relationship Id="rId341" Type="http://schemas.openxmlformats.org/officeDocument/2006/relationships/font" Target="fonts/font11.fntdata"/><Relationship Id="rId222" Type="http://schemas.openxmlformats.org/officeDocument/2006/relationships/slide" Target="slides/slide218.xml"/><Relationship Id="rId243" Type="http://schemas.openxmlformats.org/officeDocument/2006/relationships/slide" Target="slides/slide239.xml"/><Relationship Id="rId331" Type="http://schemas.openxmlformats.org/officeDocument/2006/relationships/font" Target="fonts/font1.fntdata"/><Relationship Id="rId1" Type="http://schemas.openxmlformats.org/officeDocument/2006/relationships/customXml" Target="../customXml/item1.xml"/><Relationship Id="rId212" Type="http://schemas.openxmlformats.org/officeDocument/2006/relationships/slide" Target="slides/slide208.xml"/><Relationship Id="rId233" Type="http://schemas.openxmlformats.org/officeDocument/2006/relationships/slide" Target="slides/slide229.xml"/><Relationship Id="rId342" Type="http://schemas.openxmlformats.org/officeDocument/2006/relationships/font" Target="fonts/font12.fntdata"/><Relationship Id="rId223" Type="http://schemas.openxmlformats.org/officeDocument/2006/relationships/slide" Target="slides/slide219.xml"/><Relationship Id="rId244" Type="http://schemas.openxmlformats.org/officeDocument/2006/relationships/slide" Target="slides/slide240.xml"/><Relationship Id="rId332" Type="http://schemas.openxmlformats.org/officeDocument/2006/relationships/font" Target="fonts/font2.fntdata"/><Relationship Id="rId213" Type="http://schemas.openxmlformats.org/officeDocument/2006/relationships/slide" Target="slides/slide209.xml"/><Relationship Id="rId234" Type="http://schemas.openxmlformats.org/officeDocument/2006/relationships/slide" Target="slides/slide230.xml"/><Relationship Id="rId2" Type="http://schemas.openxmlformats.org/officeDocument/2006/relationships/customXml" Target="../customXml/item2.xml"/><Relationship Id="rId343" Type="http://schemas.openxmlformats.org/officeDocument/2006/relationships/font" Target="fonts/font13.fntdata"/><Relationship Id="rId224" Type="http://schemas.openxmlformats.org/officeDocument/2006/relationships/slide" Target="slides/slide220.xml"/><Relationship Id="rId245" Type="http://schemas.openxmlformats.org/officeDocument/2006/relationships/slide" Target="slides/slide241.xml"/><Relationship Id="rId333" Type="http://schemas.openxmlformats.org/officeDocument/2006/relationships/font" Target="fonts/font3.fntdata"/><Relationship Id="rId3" Type="http://schemas.openxmlformats.org/officeDocument/2006/relationships/customXml" Target="../customXml/item3.xml"/><Relationship Id="rId214" Type="http://schemas.openxmlformats.org/officeDocument/2006/relationships/slide" Target="slides/slide210.xml"/><Relationship Id="rId235" Type="http://schemas.openxmlformats.org/officeDocument/2006/relationships/slide" Target="slides/slide231.xml"/><Relationship Id="rId344" Type="http://schemas.openxmlformats.org/officeDocument/2006/relationships/font" Target="fonts/font14.fntdata"/><Relationship Id="rId225" Type="http://schemas.openxmlformats.org/officeDocument/2006/relationships/slide" Target="slides/slide221.xml"/><Relationship Id="rId246" Type="http://schemas.openxmlformats.org/officeDocument/2006/relationships/slide" Target="slides/slide242.xml"/><Relationship Id="rId334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215" Type="http://schemas.openxmlformats.org/officeDocument/2006/relationships/slide" Target="slides/slide211.xml"/><Relationship Id="rId236" Type="http://schemas.openxmlformats.org/officeDocument/2006/relationships/slide" Target="slides/slide232.xml"/><Relationship Id="rId345" Type="http://schemas.openxmlformats.org/officeDocument/2006/relationships/font" Target="fonts/font15.fntdata"/><Relationship Id="rId247" Type="http://schemas.openxmlformats.org/officeDocument/2006/relationships/slide" Target="slides/slide243.xml"/><Relationship Id="rId216" Type="http://schemas.openxmlformats.org/officeDocument/2006/relationships/slide" Target="slides/slide212.xml"/><Relationship Id="rId227" Type="http://schemas.openxmlformats.org/officeDocument/2006/relationships/slide" Target="slides/slide223.xml"/><Relationship Id="rId336" Type="http://schemas.openxmlformats.org/officeDocument/2006/relationships/font" Target="fonts/font6.fntdata"/><Relationship Id="rId238" Type="http://schemas.openxmlformats.org/officeDocument/2006/relationships/slide" Target="slides/slide234.xml"/><Relationship Id="rId347" Type="http://schemas.openxmlformats.org/officeDocument/2006/relationships/font" Target="fonts/font17.fntdata"/><Relationship Id="rId218" Type="http://schemas.openxmlformats.org/officeDocument/2006/relationships/slide" Target="slides/slide214.xml"/><Relationship Id="rId229" Type="http://schemas.openxmlformats.org/officeDocument/2006/relationships/slide" Target="slides/slide225.xml"/><Relationship Id="rId240" Type="http://schemas.openxmlformats.org/officeDocument/2006/relationships/slide" Target="slides/slide236.xml"/><Relationship Id="rId3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85895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98E6F74-871F-CF01-95B6-99116DB73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D4DE3EBD-2FB8-5458-777A-DFD9C6E600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F97D42AD-141B-5FFF-6DCB-B398F4BF65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713244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2AED22B-326E-B02F-9161-9D7E35556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967EE4BE-52C3-807F-F9E3-41F1FB64B1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A09E28F6-6680-EDB2-E953-3CEC0405A5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919931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BAC0C6-E78B-4365-8C7B-FC781F3ED89C}" type="slidenum">
              <a:rPr lang="en-US"/>
              <a:pPr/>
              <a:t>212</a:t>
            </a:fld>
            <a:endParaRPr lang="en-US"/>
          </a:p>
        </p:txBody>
      </p:sp>
      <p:sp>
        <p:nvSpPr>
          <p:cNvPr id="206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72247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0A824B-3660-4E73-AE60-1CC7B618A3D6}" type="slidenum">
              <a:rPr lang="en-US"/>
              <a:pPr/>
              <a:t>213</a:t>
            </a:fld>
            <a:endParaRPr lang="en-US"/>
          </a:p>
        </p:txBody>
      </p:sp>
      <p:sp>
        <p:nvSpPr>
          <p:cNvPr id="245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0070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BC638F3-F7FF-DDBA-D4BC-C112241EA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5C2567A7-F579-7984-B5A1-19A113C98F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6EDBC422-809A-0A12-D5DA-56F1EC1870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1391285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BEC7AFF-3936-C1B6-5068-3172870F9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EE92BB87-D6D1-5A1C-77E6-2E2E973EC3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79C3CADD-3677-A5E0-AFB9-9C7C5F337A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36163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87AD3-A03C-7B77-FD9E-857DE59DE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22" name="Rectangle 7">
            <a:extLst>
              <a:ext uri="{FF2B5EF4-FFF2-40B4-BE49-F238E27FC236}">
                <a16:creationId xmlns:a16="http://schemas.microsoft.com/office/drawing/2014/main" id="{9300277F-2C97-FA48-1012-E957E696B7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7798" indent="-287615"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50458" indent="-230091"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10642" indent="-230091"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70824" indent="-230091" defTabSz="936347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31007" indent="-230091" defTabSz="93634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91193" indent="-230091" defTabSz="93634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51372" indent="-230091" defTabSz="93634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11560" indent="-230091" defTabSz="93634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09B4027-4807-430D-9475-79E8E0CB46DC}" type="slidenum">
              <a:rPr lang="en-US" sz="1300"/>
              <a:pPr/>
              <a:t>229</a:t>
            </a:fld>
            <a:endParaRPr lang="en-US" sz="1300"/>
          </a:p>
        </p:txBody>
      </p:sp>
      <p:sp>
        <p:nvSpPr>
          <p:cNvPr id="696323" name="Rectangle 2">
            <a:extLst>
              <a:ext uri="{FF2B5EF4-FFF2-40B4-BE49-F238E27FC236}">
                <a16:creationId xmlns:a16="http://schemas.microsoft.com/office/drawing/2014/main" id="{3F715972-0CF1-4B3A-8889-83B957CA5E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24" name="Rectangle 3">
            <a:extLst>
              <a:ext uri="{FF2B5EF4-FFF2-40B4-BE49-F238E27FC236}">
                <a16:creationId xmlns:a16="http://schemas.microsoft.com/office/drawing/2014/main" id="{1FE69A3F-4952-127B-F228-9FA1ED4863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93680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ED67EBD-E37A-8744-601B-3695A456C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2AD3DC5D-54F5-7541-14D6-CB9D77E94F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BB6B839E-F687-19D8-1D54-AF0E047B08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196866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>
            <a:lvl1pPr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4F24A6C3-1A23-45DE-9883-A00F48E40D9C}" type="slidenum">
              <a:rPr lang="en-US" i="0" smtClean="0"/>
              <a:pPr/>
              <a:t>231</a:t>
            </a:fld>
            <a:endParaRPr lang="en-US" i="0"/>
          </a:p>
        </p:txBody>
      </p:sp>
      <p:sp>
        <p:nvSpPr>
          <p:cNvPr id="248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8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27211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84578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>
            <a:lvl1pPr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98755BE4-26E3-4492-9344-24603838DCC0}" type="slidenum">
              <a:rPr lang="en-US" i="0" smtClean="0"/>
              <a:pPr/>
              <a:t>233</a:t>
            </a:fld>
            <a:endParaRPr lang="en-US" i="0"/>
          </a:p>
        </p:txBody>
      </p:sp>
      <p:sp>
        <p:nvSpPr>
          <p:cNvPr id="250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400800" cy="3600450"/>
          </a:xfrm>
          <a:ln/>
        </p:spPr>
      </p:sp>
      <p:sp>
        <p:nvSpPr>
          <p:cNvPr id="2508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04260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1AFAB9D-7E68-5E71-12E2-366CA2CFB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ACA335AE-61F0-9BB7-D0FF-ED2491D22F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290A31A5-BF93-E7D6-C012-F6746F7EC6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2778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FFFF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sz="3300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630092" y="1279489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bg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" name="Google Shape;22;p3">
            <a:extLst>
              <a:ext uri="{FF2B5EF4-FFF2-40B4-BE49-F238E27FC236}">
                <a16:creationId xmlns:a16="http://schemas.microsoft.com/office/drawing/2014/main" id="{58B34863-E096-4468-B3E2-0513B8E89889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bg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chemeClr val="bg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bg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solidFill>
          <a:schemeClr val="bg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116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bg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619500" y="-1562100"/>
            <a:ext cx="4953000" cy="10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solidFill>
          <a:schemeClr val="bg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7086600" y="1905000"/>
            <a:ext cx="57912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1803400" y="-584200"/>
            <a:ext cx="5791200" cy="75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bg>
      <p:bgPr>
        <a:solidFill>
          <a:schemeClr val="bg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bg>
      <p:bgPr>
        <a:solidFill>
          <a:schemeClr val="bg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3"/>
          </p:nvPr>
        </p:nvSpPr>
        <p:spPr>
          <a:xfrm>
            <a:off x="9144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4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bg>
      <p:bgPr>
        <a:solidFill>
          <a:schemeClr val="bg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3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Only">
  <p:cSld name="OBJECT_ONLY"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914400" y="304800"/>
            <a:ext cx="103632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574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10363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8DAADDE6-9D87-4A94-9A5F-2FE2DE75B0D7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" name="Google Shape;129;p18">
            <a:extLst>
              <a:ext uri="{FF2B5EF4-FFF2-40B4-BE49-F238E27FC236}">
                <a16:creationId xmlns:a16="http://schemas.microsoft.com/office/drawing/2014/main" id="{2199409B-45F8-4A01-AB9C-7EA2B2CCD078}"/>
              </a:ext>
            </a:extLst>
          </p:cNvPr>
          <p:cNvPicPr preferRelativeResize="0"/>
          <p:nvPr userDrawn="1"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56373" y="6533883"/>
            <a:ext cx="2041301" cy="2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;p3">
            <a:extLst>
              <a:ext uri="{FF2B5EF4-FFF2-40B4-BE49-F238E27FC236}">
                <a16:creationId xmlns:a16="http://schemas.microsoft.com/office/drawing/2014/main" id="{1D1BDBDF-7EA2-8C6E-6985-BFD39B103D2C}"/>
              </a:ext>
            </a:extLst>
          </p:cNvPr>
          <p:cNvSpPr/>
          <p:nvPr userDrawn="1"/>
        </p:nvSpPr>
        <p:spPr>
          <a:xfrm>
            <a:off x="4885608" y="6521551"/>
            <a:ext cx="1837408" cy="303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Playfair Display"/>
              <a:buNone/>
            </a:pPr>
            <a:r>
              <a:rPr lang="en-US" sz="900" b="0" dirty="0">
                <a:solidFill>
                  <a:schemeClr val="tx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© WARREN POWELL 2026</a:t>
            </a:r>
            <a:endParaRPr sz="900" b="0" dirty="0">
              <a:solidFill>
                <a:schemeClr val="tx1"/>
              </a:solidFill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ED04E7B-9405-B242-E92F-713BCFDEE4BD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5495" b="97253" l="4706" r="97059">
                        <a14:foregroundMark x1="45294" y1="24725" x2="45294" y2="24725"/>
                        <a14:foregroundMark x1="56471" y1="23626" x2="56471" y2="23626"/>
                        <a14:foregroundMark x1="41765" y1="20879" x2="41765" y2="20879"/>
                        <a14:foregroundMark x1="10000" y1="72527" x2="10000" y2="72527"/>
                        <a14:foregroundMark x1="10588" y1="79121" x2="10588" y2="79121"/>
                        <a14:foregroundMark x1="11765" y1="68681" x2="11765" y2="68681"/>
                        <a14:foregroundMark x1="6471" y1="68681" x2="6471" y2="68681"/>
                        <a14:foregroundMark x1="40000" y1="30220" x2="40000" y2="30220"/>
                        <a14:foregroundMark x1="54706" y1="20879" x2="54706" y2="20879"/>
                        <a14:foregroundMark x1="54706" y1="30220" x2="54706" y2="30220"/>
                        <a14:foregroundMark x1="54706" y1="30220" x2="54706" y2="30220"/>
                        <a14:foregroundMark x1="51765" y1="24176" x2="51765" y2="24176"/>
                        <a14:foregroundMark x1="53529" y1="30769" x2="53529" y2="30769"/>
                        <a14:foregroundMark x1="45882" y1="29670" x2="45882" y2="29670"/>
                        <a14:foregroundMark x1="8824" y1="87363" x2="8824" y2="87363"/>
                        <a14:foregroundMark x1="19412" y1="89011" x2="19412" y2="89011"/>
                        <a14:foregroundMark x1="31176" y1="93407" x2="31176" y2="93407"/>
                        <a14:foregroundMark x1="24118" y1="95604" x2="24118" y2="96154"/>
                        <a14:foregroundMark x1="24118" y1="87912" x2="24118" y2="95604"/>
                        <a14:foregroundMark x1="5882" y1="65385" x2="5882" y2="65385"/>
                        <a14:foregroundMark x1="9413" y1="62088" x2="8235" y2="61538"/>
                        <a14:foregroundMark x1="10588" y1="62637" x2="9413" y2="62088"/>
                        <a14:foregroundMark x1="16471" y1="65385" x2="10588" y2="62637"/>
                        <a14:foregroundMark x1="28235" y1="89560" x2="28235" y2="89560"/>
                        <a14:foregroundMark x1="31765" y1="96703" x2="31765" y2="96703"/>
                        <a14:foregroundMark x1="38235" y1="95604" x2="38235" y2="95604"/>
                        <a14:foregroundMark x1="35882" y1="92857" x2="35882" y2="92857"/>
                        <a14:foregroundMark x1="34118" y1="90110" x2="34118" y2="90110"/>
                        <a14:foregroundMark x1="41765" y1="90659" x2="41765" y2="90659"/>
                        <a14:foregroundMark x1="41765" y1="93956" x2="41765" y2="93956"/>
                        <a14:foregroundMark x1="45882" y1="97253" x2="45882" y2="97253"/>
                        <a14:foregroundMark x1="50000" y1="97802" x2="50000" y2="97802"/>
                        <a14:foregroundMark x1="52941" y1="97802" x2="52941" y2="97802"/>
                        <a14:foregroundMark x1="58235" y1="97253" x2="58235" y2="97253"/>
                        <a14:foregroundMark x1="61176" y1="97802" x2="61176" y2="97802"/>
                        <a14:foregroundMark x1="60000" y1="90110" x2="60000" y2="90110"/>
                        <a14:foregroundMark x1="64118" y1="90659" x2="64118" y2="90659"/>
                        <a14:foregroundMark x1="70000" y1="86813" x2="70000" y2="86813"/>
                        <a14:foregroundMark x1="74118" y1="85165" x2="74118" y2="85165"/>
                        <a14:foregroundMark x1="75882" y1="91758" x2="75882" y2="91758"/>
                        <a14:foregroundMark x1="87647" y1="75275" x2="87647" y2="75275"/>
                        <a14:foregroundMark x1="87647" y1="75275" x2="87647" y2="75275"/>
                        <a14:foregroundMark x1="87647" y1="72527" x2="87647" y2="72527"/>
                        <a14:foregroundMark x1="84706" y1="80769" x2="84706" y2="80769"/>
                        <a14:foregroundMark x1="92941" y1="82418" x2="92941" y2="82418"/>
                        <a14:foregroundMark x1="97059" y1="65934" x2="97059" y2="65934"/>
                        <a14:foregroundMark x1="88235" y1="65934" x2="88235" y2="65934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50000" y1="5495" x2="50000" y2="5495"/>
                        <a14:foregroundMark x1="9412" y1="62637" x2="9412" y2="62637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backgroundMark x1="9412" y1="61538" x2="9412" y2="61538"/>
                        <a14:backgroundMark x1="8235" y1="60989" x2="8235" y2="60989"/>
                        <a14:backgroundMark x1="11765" y1="62637" x2="11765" y2="62637"/>
                        <a14:backgroundMark x1="10588" y1="62088" x2="10588" y2="62088"/>
                        <a14:backgroundMark x1="24706" y1="96154" x2="24706" y2="96154"/>
                        <a14:backgroundMark x1="24118" y1="95604" x2="24118" y2="95604"/>
                        <a14:backgroundMark x1="23529" y1="97253" x2="23529" y2="97253"/>
                        <a14:backgroundMark x1="24118" y1="97253" x2="24118" y2="97253"/>
                        <a14:backgroundMark x1="24118" y1="97253" x2="24118" y2="97253"/>
                        <a14:backgroundMark x1="23529" y1="97802" x2="23529" y2="97802"/>
                        <a14:backgroundMark x1="23529" y1="96703" x2="23529" y2="96703"/>
                        <a14:backgroundMark x1="23529" y1="96703" x2="23529" y2="96154"/>
                        <a14:backgroundMark x1="7647" y1="62088" x2="7647" y2="62088"/>
                        <a14:backgroundMark x1="8824" y1="62637" x2="8824" y2="626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49805" y="6324600"/>
            <a:ext cx="498231" cy="5334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7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1.png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3.png"/><Relationship Id="rId2" Type="http://schemas.openxmlformats.org/officeDocument/2006/relationships/image" Target="../media/image302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04.png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9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680.png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5.png"/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1.png"/><Relationship Id="rId2" Type="http://schemas.openxmlformats.org/officeDocument/2006/relationships/image" Target="../media/image27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30.png"/><Relationship Id="rId4" Type="http://schemas.openxmlformats.org/officeDocument/2006/relationships/image" Target="../media/image2720.png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81.png"/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1.wmf"/><Relationship Id="rId18" Type="http://schemas.openxmlformats.org/officeDocument/2006/relationships/oleObject" Target="../embeddings/oleObject44.bin"/><Relationship Id="rId26" Type="http://schemas.openxmlformats.org/officeDocument/2006/relationships/oleObject" Target="../embeddings/oleObject48.bin"/><Relationship Id="rId39" Type="http://schemas.openxmlformats.org/officeDocument/2006/relationships/image" Target="../media/image324.wmf"/><Relationship Id="rId21" Type="http://schemas.openxmlformats.org/officeDocument/2006/relationships/image" Target="../media/image315.wmf"/><Relationship Id="rId34" Type="http://schemas.openxmlformats.org/officeDocument/2006/relationships/oleObject" Target="../embeddings/oleObject52.bin"/><Relationship Id="rId42" Type="http://schemas.openxmlformats.org/officeDocument/2006/relationships/oleObject" Target="../embeddings/oleObject56.bin"/><Relationship Id="rId47" Type="http://schemas.openxmlformats.org/officeDocument/2006/relationships/image" Target="../media/image328.wmf"/><Relationship Id="rId50" Type="http://schemas.openxmlformats.org/officeDocument/2006/relationships/oleObject" Target="../embeddings/oleObject60.bin"/><Relationship Id="rId55" Type="http://schemas.openxmlformats.org/officeDocument/2006/relationships/image" Target="../media/image332.wmf"/><Relationship Id="rId63" Type="http://schemas.openxmlformats.org/officeDocument/2006/relationships/image" Target="../media/image336.wmf"/><Relationship Id="rId7" Type="http://schemas.openxmlformats.org/officeDocument/2006/relationships/image" Target="../media/image308.wmf"/><Relationship Id="rId2" Type="http://schemas.openxmlformats.org/officeDocument/2006/relationships/oleObject" Target="../embeddings/oleObject36.bin"/><Relationship Id="rId16" Type="http://schemas.openxmlformats.org/officeDocument/2006/relationships/oleObject" Target="../embeddings/oleObject43.bin"/><Relationship Id="rId29" Type="http://schemas.openxmlformats.org/officeDocument/2006/relationships/image" Target="../media/image319.wmf"/><Relationship Id="rId11" Type="http://schemas.openxmlformats.org/officeDocument/2006/relationships/image" Target="../media/image310.wmf"/><Relationship Id="rId24" Type="http://schemas.openxmlformats.org/officeDocument/2006/relationships/oleObject" Target="../embeddings/oleObject47.bin"/><Relationship Id="rId32" Type="http://schemas.openxmlformats.org/officeDocument/2006/relationships/oleObject" Target="../embeddings/oleObject51.bin"/><Relationship Id="rId37" Type="http://schemas.openxmlformats.org/officeDocument/2006/relationships/image" Target="../media/image323.wmf"/><Relationship Id="rId40" Type="http://schemas.openxmlformats.org/officeDocument/2006/relationships/oleObject" Target="../embeddings/oleObject55.bin"/><Relationship Id="rId45" Type="http://schemas.openxmlformats.org/officeDocument/2006/relationships/image" Target="../media/image327.wmf"/><Relationship Id="rId53" Type="http://schemas.openxmlformats.org/officeDocument/2006/relationships/image" Target="../media/image331.wmf"/><Relationship Id="rId58" Type="http://schemas.openxmlformats.org/officeDocument/2006/relationships/oleObject" Target="../embeddings/oleObject64.bin"/><Relationship Id="rId5" Type="http://schemas.openxmlformats.org/officeDocument/2006/relationships/image" Target="../media/image307.wmf"/><Relationship Id="rId61" Type="http://schemas.openxmlformats.org/officeDocument/2006/relationships/image" Target="../media/image335.wmf"/><Relationship Id="rId19" Type="http://schemas.openxmlformats.org/officeDocument/2006/relationships/image" Target="../media/image314.wmf"/><Relationship Id="rId14" Type="http://schemas.openxmlformats.org/officeDocument/2006/relationships/oleObject" Target="../embeddings/oleObject42.bin"/><Relationship Id="rId22" Type="http://schemas.openxmlformats.org/officeDocument/2006/relationships/oleObject" Target="../embeddings/oleObject46.bin"/><Relationship Id="rId27" Type="http://schemas.openxmlformats.org/officeDocument/2006/relationships/image" Target="../media/image318.wmf"/><Relationship Id="rId30" Type="http://schemas.openxmlformats.org/officeDocument/2006/relationships/oleObject" Target="../embeddings/oleObject50.bin"/><Relationship Id="rId35" Type="http://schemas.openxmlformats.org/officeDocument/2006/relationships/image" Target="../media/image322.wmf"/><Relationship Id="rId43" Type="http://schemas.openxmlformats.org/officeDocument/2006/relationships/image" Target="../media/image326.wmf"/><Relationship Id="rId48" Type="http://schemas.openxmlformats.org/officeDocument/2006/relationships/oleObject" Target="../embeddings/oleObject59.bin"/><Relationship Id="rId56" Type="http://schemas.openxmlformats.org/officeDocument/2006/relationships/oleObject" Target="../embeddings/oleObject63.bin"/><Relationship Id="rId64" Type="http://schemas.openxmlformats.org/officeDocument/2006/relationships/image" Target="../media/image2930.png"/><Relationship Id="rId8" Type="http://schemas.openxmlformats.org/officeDocument/2006/relationships/oleObject" Target="../embeddings/oleObject39.bin"/><Relationship Id="rId51" Type="http://schemas.openxmlformats.org/officeDocument/2006/relationships/image" Target="../media/image330.wmf"/><Relationship Id="rId3" Type="http://schemas.openxmlformats.org/officeDocument/2006/relationships/image" Target="../media/image306.wmf"/><Relationship Id="rId12" Type="http://schemas.openxmlformats.org/officeDocument/2006/relationships/oleObject" Target="../embeddings/oleObject41.bin"/><Relationship Id="rId17" Type="http://schemas.openxmlformats.org/officeDocument/2006/relationships/image" Target="../media/image313.wmf"/><Relationship Id="rId25" Type="http://schemas.openxmlformats.org/officeDocument/2006/relationships/image" Target="../media/image317.wmf"/><Relationship Id="rId33" Type="http://schemas.openxmlformats.org/officeDocument/2006/relationships/image" Target="../media/image321.wmf"/><Relationship Id="rId38" Type="http://schemas.openxmlformats.org/officeDocument/2006/relationships/oleObject" Target="../embeddings/oleObject54.bin"/><Relationship Id="rId46" Type="http://schemas.openxmlformats.org/officeDocument/2006/relationships/oleObject" Target="../embeddings/oleObject58.bin"/><Relationship Id="rId59" Type="http://schemas.openxmlformats.org/officeDocument/2006/relationships/image" Target="../media/image334.wmf"/><Relationship Id="rId20" Type="http://schemas.openxmlformats.org/officeDocument/2006/relationships/oleObject" Target="../embeddings/oleObject45.bin"/><Relationship Id="rId41" Type="http://schemas.openxmlformats.org/officeDocument/2006/relationships/image" Target="../media/image325.wmf"/><Relationship Id="rId54" Type="http://schemas.openxmlformats.org/officeDocument/2006/relationships/oleObject" Target="../embeddings/oleObject62.bin"/><Relationship Id="rId62" Type="http://schemas.openxmlformats.org/officeDocument/2006/relationships/oleObject" Target="../embeddings/oleObject6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8.bin"/><Relationship Id="rId15" Type="http://schemas.openxmlformats.org/officeDocument/2006/relationships/image" Target="../media/image312.wmf"/><Relationship Id="rId23" Type="http://schemas.openxmlformats.org/officeDocument/2006/relationships/image" Target="../media/image316.wmf"/><Relationship Id="rId28" Type="http://schemas.openxmlformats.org/officeDocument/2006/relationships/oleObject" Target="../embeddings/oleObject49.bin"/><Relationship Id="rId36" Type="http://schemas.openxmlformats.org/officeDocument/2006/relationships/oleObject" Target="../embeddings/oleObject53.bin"/><Relationship Id="rId49" Type="http://schemas.openxmlformats.org/officeDocument/2006/relationships/image" Target="../media/image329.wmf"/><Relationship Id="rId57" Type="http://schemas.openxmlformats.org/officeDocument/2006/relationships/image" Target="../media/image333.wmf"/><Relationship Id="rId10" Type="http://schemas.openxmlformats.org/officeDocument/2006/relationships/oleObject" Target="../embeddings/oleObject40.bin"/><Relationship Id="rId31" Type="http://schemas.openxmlformats.org/officeDocument/2006/relationships/image" Target="../media/image320.wmf"/><Relationship Id="rId44" Type="http://schemas.openxmlformats.org/officeDocument/2006/relationships/oleObject" Target="../embeddings/oleObject57.bin"/><Relationship Id="rId52" Type="http://schemas.openxmlformats.org/officeDocument/2006/relationships/oleObject" Target="../embeddings/oleObject61.bin"/><Relationship Id="rId60" Type="http://schemas.openxmlformats.org/officeDocument/2006/relationships/oleObject" Target="../embeddings/oleObject65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309.wmf"/></Relationships>
</file>

<file path=ppt/slides/_rels/slide2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1.wmf"/><Relationship Id="rId18" Type="http://schemas.openxmlformats.org/officeDocument/2006/relationships/oleObject" Target="../embeddings/oleObject44.bin"/><Relationship Id="rId26" Type="http://schemas.openxmlformats.org/officeDocument/2006/relationships/oleObject" Target="../embeddings/oleObject51.bin"/><Relationship Id="rId39" Type="http://schemas.openxmlformats.org/officeDocument/2006/relationships/image" Target="../media/image339.wmf"/><Relationship Id="rId21" Type="http://schemas.openxmlformats.org/officeDocument/2006/relationships/image" Target="../media/image315.wmf"/><Relationship Id="rId34" Type="http://schemas.openxmlformats.org/officeDocument/2006/relationships/oleObject" Target="../embeddings/oleObject47.bin"/><Relationship Id="rId42" Type="http://schemas.openxmlformats.org/officeDocument/2006/relationships/image" Target="../media/image341.wmf"/><Relationship Id="rId7" Type="http://schemas.openxmlformats.org/officeDocument/2006/relationships/image" Target="../media/image308.wmf"/><Relationship Id="rId2" Type="http://schemas.openxmlformats.org/officeDocument/2006/relationships/oleObject" Target="../embeddings/oleObject36.bin"/><Relationship Id="rId16" Type="http://schemas.openxmlformats.org/officeDocument/2006/relationships/oleObject" Target="../embeddings/oleObject43.bin"/><Relationship Id="rId29" Type="http://schemas.openxmlformats.org/officeDocument/2006/relationships/image" Target="../media/image326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310.wmf"/><Relationship Id="rId24" Type="http://schemas.openxmlformats.org/officeDocument/2006/relationships/oleObject" Target="../embeddings/oleObject50.bin"/><Relationship Id="rId32" Type="http://schemas.openxmlformats.org/officeDocument/2006/relationships/oleObject" Target="../embeddings/oleObject58.bin"/><Relationship Id="rId37" Type="http://schemas.openxmlformats.org/officeDocument/2006/relationships/image" Target="../media/image338.wmf"/><Relationship Id="rId40" Type="http://schemas.openxmlformats.org/officeDocument/2006/relationships/image" Target="../media/image340.jpeg"/><Relationship Id="rId45" Type="http://schemas.openxmlformats.org/officeDocument/2006/relationships/image" Target="../media/image343.wmf"/><Relationship Id="rId5" Type="http://schemas.openxmlformats.org/officeDocument/2006/relationships/image" Target="../media/image307.wmf"/><Relationship Id="rId15" Type="http://schemas.openxmlformats.org/officeDocument/2006/relationships/image" Target="../media/image312.wmf"/><Relationship Id="rId23" Type="http://schemas.openxmlformats.org/officeDocument/2006/relationships/image" Target="../media/image316.wmf"/><Relationship Id="rId28" Type="http://schemas.openxmlformats.org/officeDocument/2006/relationships/oleObject" Target="../embeddings/oleObject56.bin"/><Relationship Id="rId36" Type="http://schemas.openxmlformats.org/officeDocument/2006/relationships/oleObject" Target="../embeddings/oleObject48.bin"/><Relationship Id="rId10" Type="http://schemas.openxmlformats.org/officeDocument/2006/relationships/oleObject" Target="../embeddings/oleObject40.bin"/><Relationship Id="rId19" Type="http://schemas.openxmlformats.org/officeDocument/2006/relationships/image" Target="../media/image314.wmf"/><Relationship Id="rId31" Type="http://schemas.openxmlformats.org/officeDocument/2006/relationships/image" Target="../media/image327.wmf"/><Relationship Id="rId44" Type="http://schemas.openxmlformats.org/officeDocument/2006/relationships/oleObject" Target="../embeddings/oleObject65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309.wmf"/><Relationship Id="rId14" Type="http://schemas.openxmlformats.org/officeDocument/2006/relationships/oleObject" Target="../embeddings/oleObject42.bin"/><Relationship Id="rId22" Type="http://schemas.openxmlformats.org/officeDocument/2006/relationships/oleObject" Target="../embeddings/oleObject46.bin"/><Relationship Id="rId27" Type="http://schemas.openxmlformats.org/officeDocument/2006/relationships/image" Target="../media/image321.wmf"/><Relationship Id="rId30" Type="http://schemas.openxmlformats.org/officeDocument/2006/relationships/oleObject" Target="../embeddings/oleObject57.bin"/><Relationship Id="rId35" Type="http://schemas.openxmlformats.org/officeDocument/2006/relationships/image" Target="../media/image337.wmf"/><Relationship Id="rId43" Type="http://schemas.openxmlformats.org/officeDocument/2006/relationships/image" Target="../media/image342.jpeg"/><Relationship Id="rId8" Type="http://schemas.openxmlformats.org/officeDocument/2006/relationships/oleObject" Target="../embeddings/oleObject39.bin"/><Relationship Id="rId3" Type="http://schemas.openxmlformats.org/officeDocument/2006/relationships/image" Target="../media/image306.wmf"/><Relationship Id="rId12" Type="http://schemas.openxmlformats.org/officeDocument/2006/relationships/oleObject" Target="../embeddings/oleObject41.bin"/><Relationship Id="rId17" Type="http://schemas.openxmlformats.org/officeDocument/2006/relationships/image" Target="../media/image313.wmf"/><Relationship Id="rId25" Type="http://schemas.openxmlformats.org/officeDocument/2006/relationships/image" Target="../media/image320.wmf"/><Relationship Id="rId33" Type="http://schemas.openxmlformats.org/officeDocument/2006/relationships/image" Target="../media/image328.wmf"/><Relationship Id="rId38" Type="http://schemas.openxmlformats.org/officeDocument/2006/relationships/oleObject" Target="../embeddings/oleObject49.bin"/><Relationship Id="rId20" Type="http://schemas.openxmlformats.org/officeDocument/2006/relationships/oleObject" Target="../embeddings/oleObject45.bin"/><Relationship Id="rId41" Type="http://schemas.openxmlformats.org/officeDocument/2006/relationships/oleObject" Target="../embeddings/oleObject53.bin"/></Relationships>
</file>

<file path=ppt/slides/_rels/slide2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1.wmf"/><Relationship Id="rId18" Type="http://schemas.openxmlformats.org/officeDocument/2006/relationships/oleObject" Target="../embeddings/oleObject44.bin"/><Relationship Id="rId26" Type="http://schemas.openxmlformats.org/officeDocument/2006/relationships/oleObject" Target="../embeddings/oleObject51.bin"/><Relationship Id="rId39" Type="http://schemas.openxmlformats.org/officeDocument/2006/relationships/image" Target="../media/image339.wmf"/><Relationship Id="rId21" Type="http://schemas.openxmlformats.org/officeDocument/2006/relationships/image" Target="../media/image315.wmf"/><Relationship Id="rId34" Type="http://schemas.openxmlformats.org/officeDocument/2006/relationships/oleObject" Target="../embeddings/oleObject47.bin"/><Relationship Id="rId42" Type="http://schemas.openxmlformats.org/officeDocument/2006/relationships/image" Target="../media/image341.wmf"/><Relationship Id="rId47" Type="http://schemas.openxmlformats.org/officeDocument/2006/relationships/image" Target="../media/image344.wmf"/><Relationship Id="rId50" Type="http://schemas.openxmlformats.org/officeDocument/2006/relationships/oleObject" Target="../embeddings/oleObject69.bin"/><Relationship Id="rId55" Type="http://schemas.openxmlformats.org/officeDocument/2006/relationships/image" Target="../media/image348.wmf"/><Relationship Id="rId7" Type="http://schemas.openxmlformats.org/officeDocument/2006/relationships/image" Target="../media/image308.wmf"/><Relationship Id="rId2" Type="http://schemas.openxmlformats.org/officeDocument/2006/relationships/oleObject" Target="../embeddings/oleObject36.bin"/><Relationship Id="rId16" Type="http://schemas.openxmlformats.org/officeDocument/2006/relationships/oleObject" Target="../embeddings/oleObject43.bin"/><Relationship Id="rId29" Type="http://schemas.openxmlformats.org/officeDocument/2006/relationships/image" Target="../media/image326.wmf"/><Relationship Id="rId11" Type="http://schemas.openxmlformats.org/officeDocument/2006/relationships/image" Target="../media/image310.wmf"/><Relationship Id="rId24" Type="http://schemas.openxmlformats.org/officeDocument/2006/relationships/oleObject" Target="../embeddings/oleObject50.bin"/><Relationship Id="rId32" Type="http://schemas.openxmlformats.org/officeDocument/2006/relationships/oleObject" Target="../embeddings/oleObject58.bin"/><Relationship Id="rId37" Type="http://schemas.openxmlformats.org/officeDocument/2006/relationships/image" Target="../media/image338.wmf"/><Relationship Id="rId40" Type="http://schemas.openxmlformats.org/officeDocument/2006/relationships/image" Target="../media/image340.jpeg"/><Relationship Id="rId45" Type="http://schemas.openxmlformats.org/officeDocument/2006/relationships/image" Target="../media/image343.wmf"/><Relationship Id="rId53" Type="http://schemas.openxmlformats.org/officeDocument/2006/relationships/image" Target="../media/image347.wmf"/><Relationship Id="rId5" Type="http://schemas.openxmlformats.org/officeDocument/2006/relationships/image" Target="../media/image307.wmf"/><Relationship Id="rId10" Type="http://schemas.openxmlformats.org/officeDocument/2006/relationships/oleObject" Target="../embeddings/oleObject40.bin"/><Relationship Id="rId19" Type="http://schemas.openxmlformats.org/officeDocument/2006/relationships/image" Target="../media/image314.wmf"/><Relationship Id="rId31" Type="http://schemas.openxmlformats.org/officeDocument/2006/relationships/image" Target="../media/image327.wmf"/><Relationship Id="rId44" Type="http://schemas.openxmlformats.org/officeDocument/2006/relationships/oleObject" Target="../embeddings/oleObject65.bin"/><Relationship Id="rId52" Type="http://schemas.openxmlformats.org/officeDocument/2006/relationships/oleObject" Target="../embeddings/oleObject70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309.wmf"/><Relationship Id="rId14" Type="http://schemas.openxmlformats.org/officeDocument/2006/relationships/oleObject" Target="../embeddings/oleObject42.bin"/><Relationship Id="rId22" Type="http://schemas.openxmlformats.org/officeDocument/2006/relationships/oleObject" Target="../embeddings/oleObject46.bin"/><Relationship Id="rId27" Type="http://schemas.openxmlformats.org/officeDocument/2006/relationships/image" Target="../media/image321.wmf"/><Relationship Id="rId30" Type="http://schemas.openxmlformats.org/officeDocument/2006/relationships/oleObject" Target="../embeddings/oleObject57.bin"/><Relationship Id="rId35" Type="http://schemas.openxmlformats.org/officeDocument/2006/relationships/image" Target="../media/image337.wmf"/><Relationship Id="rId43" Type="http://schemas.openxmlformats.org/officeDocument/2006/relationships/image" Target="../media/image342.jpeg"/><Relationship Id="rId48" Type="http://schemas.openxmlformats.org/officeDocument/2006/relationships/oleObject" Target="../embeddings/oleObject68.bin"/><Relationship Id="rId8" Type="http://schemas.openxmlformats.org/officeDocument/2006/relationships/oleObject" Target="../embeddings/oleObject39.bin"/><Relationship Id="rId51" Type="http://schemas.openxmlformats.org/officeDocument/2006/relationships/image" Target="../media/image346.wmf"/><Relationship Id="rId3" Type="http://schemas.openxmlformats.org/officeDocument/2006/relationships/image" Target="../media/image306.wmf"/><Relationship Id="rId12" Type="http://schemas.openxmlformats.org/officeDocument/2006/relationships/oleObject" Target="../embeddings/oleObject41.bin"/><Relationship Id="rId17" Type="http://schemas.openxmlformats.org/officeDocument/2006/relationships/image" Target="../media/image313.wmf"/><Relationship Id="rId25" Type="http://schemas.openxmlformats.org/officeDocument/2006/relationships/image" Target="../media/image320.wmf"/><Relationship Id="rId33" Type="http://schemas.openxmlformats.org/officeDocument/2006/relationships/image" Target="../media/image328.wmf"/><Relationship Id="rId38" Type="http://schemas.openxmlformats.org/officeDocument/2006/relationships/oleObject" Target="../embeddings/oleObject49.bin"/><Relationship Id="rId46" Type="http://schemas.openxmlformats.org/officeDocument/2006/relationships/oleObject" Target="../embeddings/oleObject67.bin"/><Relationship Id="rId20" Type="http://schemas.openxmlformats.org/officeDocument/2006/relationships/oleObject" Target="../embeddings/oleObject45.bin"/><Relationship Id="rId41" Type="http://schemas.openxmlformats.org/officeDocument/2006/relationships/oleObject" Target="../embeddings/oleObject53.bin"/><Relationship Id="rId54" Type="http://schemas.openxmlformats.org/officeDocument/2006/relationships/oleObject" Target="../embeddings/oleObject7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8.bin"/><Relationship Id="rId15" Type="http://schemas.openxmlformats.org/officeDocument/2006/relationships/image" Target="../media/image312.wmf"/><Relationship Id="rId23" Type="http://schemas.openxmlformats.org/officeDocument/2006/relationships/image" Target="../media/image316.wmf"/><Relationship Id="rId28" Type="http://schemas.openxmlformats.org/officeDocument/2006/relationships/oleObject" Target="../embeddings/oleObject56.bin"/><Relationship Id="rId36" Type="http://schemas.openxmlformats.org/officeDocument/2006/relationships/oleObject" Target="../embeddings/oleObject48.bin"/><Relationship Id="rId49" Type="http://schemas.openxmlformats.org/officeDocument/2006/relationships/image" Target="../media/image345.wmf"/></Relationships>
</file>

<file path=ppt/slides/_rels/slide2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1.wmf"/><Relationship Id="rId18" Type="http://schemas.openxmlformats.org/officeDocument/2006/relationships/oleObject" Target="../embeddings/oleObject44.bin"/><Relationship Id="rId26" Type="http://schemas.openxmlformats.org/officeDocument/2006/relationships/oleObject" Target="../embeddings/oleObject51.bin"/><Relationship Id="rId39" Type="http://schemas.openxmlformats.org/officeDocument/2006/relationships/image" Target="../media/image341.wmf"/><Relationship Id="rId21" Type="http://schemas.openxmlformats.org/officeDocument/2006/relationships/image" Target="../media/image315.wmf"/><Relationship Id="rId34" Type="http://schemas.openxmlformats.org/officeDocument/2006/relationships/oleObject" Target="../embeddings/oleObject48.bin"/><Relationship Id="rId42" Type="http://schemas.openxmlformats.org/officeDocument/2006/relationships/image" Target="../media/image343.wmf"/><Relationship Id="rId47" Type="http://schemas.openxmlformats.org/officeDocument/2006/relationships/oleObject" Target="../embeddings/oleObject69.bin"/><Relationship Id="rId50" Type="http://schemas.openxmlformats.org/officeDocument/2006/relationships/image" Target="../media/image352.wmf"/><Relationship Id="rId55" Type="http://schemas.openxmlformats.org/officeDocument/2006/relationships/image" Target="../media/image342.jpeg"/><Relationship Id="rId7" Type="http://schemas.openxmlformats.org/officeDocument/2006/relationships/image" Target="../media/image308.wmf"/><Relationship Id="rId2" Type="http://schemas.openxmlformats.org/officeDocument/2006/relationships/oleObject" Target="../embeddings/oleObject36.bin"/><Relationship Id="rId16" Type="http://schemas.openxmlformats.org/officeDocument/2006/relationships/oleObject" Target="../embeddings/oleObject43.bin"/><Relationship Id="rId29" Type="http://schemas.openxmlformats.org/officeDocument/2006/relationships/image" Target="../media/image326.wmf"/><Relationship Id="rId11" Type="http://schemas.openxmlformats.org/officeDocument/2006/relationships/image" Target="../media/image310.wmf"/><Relationship Id="rId24" Type="http://schemas.openxmlformats.org/officeDocument/2006/relationships/oleObject" Target="../embeddings/oleObject50.bin"/><Relationship Id="rId32" Type="http://schemas.openxmlformats.org/officeDocument/2006/relationships/oleObject" Target="../embeddings/oleObject47.bin"/><Relationship Id="rId37" Type="http://schemas.openxmlformats.org/officeDocument/2006/relationships/image" Target="../media/image339.wmf"/><Relationship Id="rId40" Type="http://schemas.openxmlformats.org/officeDocument/2006/relationships/image" Target="../media/image340.jpeg"/><Relationship Id="rId45" Type="http://schemas.openxmlformats.org/officeDocument/2006/relationships/oleObject" Target="../embeddings/oleObject68.bin"/><Relationship Id="rId53" Type="http://schemas.openxmlformats.org/officeDocument/2006/relationships/oleObject" Target="../embeddings/oleObject74.bin"/><Relationship Id="rId5" Type="http://schemas.openxmlformats.org/officeDocument/2006/relationships/image" Target="../media/image307.wmf"/><Relationship Id="rId10" Type="http://schemas.openxmlformats.org/officeDocument/2006/relationships/oleObject" Target="../embeddings/oleObject40.bin"/><Relationship Id="rId19" Type="http://schemas.openxmlformats.org/officeDocument/2006/relationships/image" Target="../media/image314.wmf"/><Relationship Id="rId31" Type="http://schemas.openxmlformats.org/officeDocument/2006/relationships/image" Target="../media/image327.wmf"/><Relationship Id="rId44" Type="http://schemas.openxmlformats.org/officeDocument/2006/relationships/image" Target="../media/image349.wmf"/><Relationship Id="rId52" Type="http://schemas.openxmlformats.org/officeDocument/2006/relationships/image" Target="../media/image353.wmf"/><Relationship Id="rId4" Type="http://schemas.openxmlformats.org/officeDocument/2006/relationships/oleObject" Target="../embeddings/oleObject37.bin"/><Relationship Id="rId9" Type="http://schemas.openxmlformats.org/officeDocument/2006/relationships/image" Target="../media/image309.wmf"/><Relationship Id="rId14" Type="http://schemas.openxmlformats.org/officeDocument/2006/relationships/oleObject" Target="../embeddings/oleObject42.bin"/><Relationship Id="rId22" Type="http://schemas.openxmlformats.org/officeDocument/2006/relationships/oleObject" Target="../embeddings/oleObject46.bin"/><Relationship Id="rId27" Type="http://schemas.openxmlformats.org/officeDocument/2006/relationships/image" Target="../media/image321.wmf"/><Relationship Id="rId30" Type="http://schemas.openxmlformats.org/officeDocument/2006/relationships/oleObject" Target="../embeddings/oleObject57.bin"/><Relationship Id="rId35" Type="http://schemas.openxmlformats.org/officeDocument/2006/relationships/image" Target="../media/image338.wmf"/><Relationship Id="rId43" Type="http://schemas.openxmlformats.org/officeDocument/2006/relationships/oleObject" Target="../embeddings/oleObject72.bin"/><Relationship Id="rId48" Type="http://schemas.openxmlformats.org/officeDocument/2006/relationships/image" Target="../media/image351.wmf"/><Relationship Id="rId8" Type="http://schemas.openxmlformats.org/officeDocument/2006/relationships/oleObject" Target="../embeddings/oleObject39.bin"/><Relationship Id="rId51" Type="http://schemas.openxmlformats.org/officeDocument/2006/relationships/oleObject" Target="../embeddings/oleObject73.bin"/><Relationship Id="rId3" Type="http://schemas.openxmlformats.org/officeDocument/2006/relationships/image" Target="../media/image306.wmf"/><Relationship Id="rId12" Type="http://schemas.openxmlformats.org/officeDocument/2006/relationships/oleObject" Target="../embeddings/oleObject41.bin"/><Relationship Id="rId17" Type="http://schemas.openxmlformats.org/officeDocument/2006/relationships/image" Target="../media/image313.wmf"/><Relationship Id="rId25" Type="http://schemas.openxmlformats.org/officeDocument/2006/relationships/image" Target="../media/image320.wmf"/><Relationship Id="rId33" Type="http://schemas.openxmlformats.org/officeDocument/2006/relationships/image" Target="../media/image337.wmf"/><Relationship Id="rId38" Type="http://schemas.openxmlformats.org/officeDocument/2006/relationships/oleObject" Target="../embeddings/oleObject53.bin"/><Relationship Id="rId46" Type="http://schemas.openxmlformats.org/officeDocument/2006/relationships/image" Target="../media/image350.wmf"/><Relationship Id="rId20" Type="http://schemas.openxmlformats.org/officeDocument/2006/relationships/oleObject" Target="../embeddings/oleObject45.bin"/><Relationship Id="rId41" Type="http://schemas.openxmlformats.org/officeDocument/2006/relationships/oleObject" Target="../embeddings/oleObject65.bin"/><Relationship Id="rId54" Type="http://schemas.openxmlformats.org/officeDocument/2006/relationships/image" Target="../media/image354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8.bin"/><Relationship Id="rId15" Type="http://schemas.openxmlformats.org/officeDocument/2006/relationships/image" Target="../media/image312.wmf"/><Relationship Id="rId23" Type="http://schemas.openxmlformats.org/officeDocument/2006/relationships/image" Target="../media/image316.wmf"/><Relationship Id="rId28" Type="http://schemas.openxmlformats.org/officeDocument/2006/relationships/oleObject" Target="../embeddings/oleObject56.bin"/><Relationship Id="rId36" Type="http://schemas.openxmlformats.org/officeDocument/2006/relationships/oleObject" Target="../embeddings/oleObject49.bin"/><Relationship Id="rId49" Type="http://schemas.openxmlformats.org/officeDocument/2006/relationships/oleObject" Target="../embeddings/oleObject70.bin"/></Relationships>
</file>

<file path=ppt/slides/_rels/slide2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4.png"/><Relationship Id="rId13" Type="http://schemas.openxmlformats.org/officeDocument/2006/relationships/image" Target="../media/image315.png"/><Relationship Id="rId3" Type="http://schemas.openxmlformats.org/officeDocument/2006/relationships/image" Target="../media/image313.png"/><Relationship Id="rId7" Type="http://schemas.openxmlformats.org/officeDocument/2006/relationships/image" Target="../media/image345.wmf"/><Relationship Id="rId12" Type="http://schemas.openxmlformats.org/officeDocument/2006/relationships/image" Target="../media/image347.wmf"/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8.bin"/><Relationship Id="rId11" Type="http://schemas.openxmlformats.org/officeDocument/2006/relationships/oleObject" Target="../embeddings/oleObject70.bin"/><Relationship Id="rId5" Type="http://schemas.openxmlformats.org/officeDocument/2006/relationships/image" Target="../media/image345.wmf"/><Relationship Id="rId4" Type="http://schemas.openxmlformats.org/officeDocument/2006/relationships/oleObject" Target="../embeddings/oleObject68.bin"/><Relationship Id="rId9" Type="http://schemas.openxmlformats.org/officeDocument/2006/relationships/oleObject" Target="../embeddings/oleObject70.bin"/></Relationships>
</file>

<file path=ppt/slides/_rels/slide2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4.wmf"/><Relationship Id="rId18" Type="http://schemas.openxmlformats.org/officeDocument/2006/relationships/oleObject" Target="../embeddings/oleObject51.bin"/><Relationship Id="rId26" Type="http://schemas.openxmlformats.org/officeDocument/2006/relationships/oleObject" Target="../embeddings/oleObject47.bin"/><Relationship Id="rId39" Type="http://schemas.openxmlformats.org/officeDocument/2006/relationships/image" Target="../media/image315.wmf"/><Relationship Id="rId21" Type="http://schemas.openxmlformats.org/officeDocument/2006/relationships/image" Target="../media/image326.wmf"/><Relationship Id="rId34" Type="http://schemas.openxmlformats.org/officeDocument/2006/relationships/image" Target="../media/image341.wmf"/><Relationship Id="rId42" Type="http://schemas.openxmlformats.org/officeDocument/2006/relationships/oleObject" Target="../embeddings/oleObject41.bin"/><Relationship Id="rId7" Type="http://schemas.openxmlformats.org/officeDocument/2006/relationships/image" Target="../media/image308.wmf"/><Relationship Id="rId2" Type="http://schemas.openxmlformats.org/officeDocument/2006/relationships/oleObject" Target="../embeddings/oleObject36.bin"/><Relationship Id="rId16" Type="http://schemas.openxmlformats.org/officeDocument/2006/relationships/oleObject" Target="../embeddings/oleObject50.bin"/><Relationship Id="rId29" Type="http://schemas.openxmlformats.org/officeDocument/2006/relationships/image" Target="../media/image338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313.wmf"/><Relationship Id="rId24" Type="http://schemas.openxmlformats.org/officeDocument/2006/relationships/oleObject" Target="../embeddings/oleObject58.bin"/><Relationship Id="rId32" Type="http://schemas.openxmlformats.org/officeDocument/2006/relationships/image" Target="../media/image340.jpeg"/><Relationship Id="rId37" Type="http://schemas.openxmlformats.org/officeDocument/2006/relationships/image" Target="../media/image343.wmf"/><Relationship Id="rId40" Type="http://schemas.openxmlformats.org/officeDocument/2006/relationships/oleObject" Target="../embeddings/oleObject40.bin"/><Relationship Id="rId45" Type="http://schemas.openxmlformats.org/officeDocument/2006/relationships/image" Target="../media/image312.wmf"/><Relationship Id="rId5" Type="http://schemas.openxmlformats.org/officeDocument/2006/relationships/image" Target="../media/image307.wmf"/><Relationship Id="rId15" Type="http://schemas.openxmlformats.org/officeDocument/2006/relationships/image" Target="../media/image316.wmf"/><Relationship Id="rId23" Type="http://schemas.openxmlformats.org/officeDocument/2006/relationships/image" Target="../media/image327.wmf"/><Relationship Id="rId28" Type="http://schemas.openxmlformats.org/officeDocument/2006/relationships/oleObject" Target="../embeddings/oleObject48.bin"/><Relationship Id="rId36" Type="http://schemas.openxmlformats.org/officeDocument/2006/relationships/oleObject" Target="../embeddings/oleObject65.bin"/><Relationship Id="rId10" Type="http://schemas.openxmlformats.org/officeDocument/2006/relationships/oleObject" Target="../embeddings/oleObject43.bin"/><Relationship Id="rId19" Type="http://schemas.openxmlformats.org/officeDocument/2006/relationships/image" Target="../media/image321.wmf"/><Relationship Id="rId31" Type="http://schemas.openxmlformats.org/officeDocument/2006/relationships/image" Target="../media/image339.wmf"/><Relationship Id="rId44" Type="http://schemas.openxmlformats.org/officeDocument/2006/relationships/oleObject" Target="../embeddings/oleObject42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309.wmf"/><Relationship Id="rId14" Type="http://schemas.openxmlformats.org/officeDocument/2006/relationships/oleObject" Target="../embeddings/oleObject46.bin"/><Relationship Id="rId22" Type="http://schemas.openxmlformats.org/officeDocument/2006/relationships/oleObject" Target="../embeddings/oleObject57.bin"/><Relationship Id="rId27" Type="http://schemas.openxmlformats.org/officeDocument/2006/relationships/image" Target="../media/image337.wmf"/><Relationship Id="rId30" Type="http://schemas.openxmlformats.org/officeDocument/2006/relationships/oleObject" Target="../embeddings/oleObject49.bin"/><Relationship Id="rId35" Type="http://schemas.openxmlformats.org/officeDocument/2006/relationships/image" Target="../media/image342.jpeg"/><Relationship Id="rId43" Type="http://schemas.openxmlformats.org/officeDocument/2006/relationships/image" Target="../media/image311.wmf"/><Relationship Id="rId8" Type="http://schemas.openxmlformats.org/officeDocument/2006/relationships/oleObject" Target="../embeddings/oleObject39.bin"/><Relationship Id="rId3" Type="http://schemas.openxmlformats.org/officeDocument/2006/relationships/image" Target="../media/image306.wmf"/><Relationship Id="rId12" Type="http://schemas.openxmlformats.org/officeDocument/2006/relationships/oleObject" Target="../embeddings/oleObject44.bin"/><Relationship Id="rId17" Type="http://schemas.openxmlformats.org/officeDocument/2006/relationships/image" Target="../media/image320.wmf"/><Relationship Id="rId25" Type="http://schemas.openxmlformats.org/officeDocument/2006/relationships/image" Target="../media/image328.wmf"/><Relationship Id="rId33" Type="http://schemas.openxmlformats.org/officeDocument/2006/relationships/oleObject" Target="../embeddings/oleObject53.bin"/><Relationship Id="rId38" Type="http://schemas.openxmlformats.org/officeDocument/2006/relationships/oleObject" Target="../embeddings/oleObject45.bin"/><Relationship Id="rId20" Type="http://schemas.openxmlformats.org/officeDocument/2006/relationships/oleObject" Target="../embeddings/oleObject56.bin"/><Relationship Id="rId41" Type="http://schemas.openxmlformats.org/officeDocument/2006/relationships/image" Target="../media/image310.wmf"/></Relationships>
</file>

<file path=ppt/slides/_rels/slide2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4.wmf"/><Relationship Id="rId18" Type="http://schemas.openxmlformats.org/officeDocument/2006/relationships/oleObject" Target="../embeddings/oleObject51.bin"/><Relationship Id="rId26" Type="http://schemas.openxmlformats.org/officeDocument/2006/relationships/oleObject" Target="../embeddings/oleObject47.bin"/><Relationship Id="rId39" Type="http://schemas.openxmlformats.org/officeDocument/2006/relationships/oleObject" Target="../embeddings/oleObject45.bin"/><Relationship Id="rId21" Type="http://schemas.openxmlformats.org/officeDocument/2006/relationships/image" Target="../media/image326.wmf"/><Relationship Id="rId34" Type="http://schemas.openxmlformats.org/officeDocument/2006/relationships/image" Target="../media/image341.wmf"/><Relationship Id="rId42" Type="http://schemas.openxmlformats.org/officeDocument/2006/relationships/image" Target="../media/image310.wmf"/><Relationship Id="rId47" Type="http://schemas.openxmlformats.org/officeDocument/2006/relationships/oleObject" Target="../embeddings/oleObject68.bin"/><Relationship Id="rId50" Type="http://schemas.openxmlformats.org/officeDocument/2006/relationships/image" Target="../media/image346.wmf"/><Relationship Id="rId55" Type="http://schemas.openxmlformats.org/officeDocument/2006/relationships/oleObject" Target="../embeddings/oleObject75.bin"/><Relationship Id="rId7" Type="http://schemas.openxmlformats.org/officeDocument/2006/relationships/image" Target="../media/image308.wmf"/><Relationship Id="rId2" Type="http://schemas.openxmlformats.org/officeDocument/2006/relationships/oleObject" Target="../embeddings/oleObject36.bin"/><Relationship Id="rId16" Type="http://schemas.openxmlformats.org/officeDocument/2006/relationships/oleObject" Target="../embeddings/oleObject50.bin"/><Relationship Id="rId29" Type="http://schemas.openxmlformats.org/officeDocument/2006/relationships/image" Target="../media/image338.wmf"/><Relationship Id="rId11" Type="http://schemas.openxmlformats.org/officeDocument/2006/relationships/image" Target="../media/image313.wmf"/><Relationship Id="rId24" Type="http://schemas.openxmlformats.org/officeDocument/2006/relationships/oleObject" Target="../embeddings/oleObject58.bin"/><Relationship Id="rId32" Type="http://schemas.openxmlformats.org/officeDocument/2006/relationships/image" Target="../media/image340.jpeg"/><Relationship Id="rId37" Type="http://schemas.openxmlformats.org/officeDocument/2006/relationships/image" Target="../media/image355.png"/><Relationship Id="rId40" Type="http://schemas.openxmlformats.org/officeDocument/2006/relationships/image" Target="../media/image315.wmf"/><Relationship Id="rId45" Type="http://schemas.openxmlformats.org/officeDocument/2006/relationships/oleObject" Target="../embeddings/oleObject42.bin"/><Relationship Id="rId53" Type="http://schemas.openxmlformats.org/officeDocument/2006/relationships/oleObject" Target="../embeddings/oleObject71.bin"/><Relationship Id="rId58" Type="http://schemas.openxmlformats.org/officeDocument/2006/relationships/image" Target="../media/image359.wmf"/><Relationship Id="rId5" Type="http://schemas.openxmlformats.org/officeDocument/2006/relationships/image" Target="../media/image307.wmf"/><Relationship Id="rId19" Type="http://schemas.openxmlformats.org/officeDocument/2006/relationships/image" Target="../media/image321.wmf"/><Relationship Id="rId4" Type="http://schemas.openxmlformats.org/officeDocument/2006/relationships/oleObject" Target="../embeddings/oleObject37.bin"/><Relationship Id="rId9" Type="http://schemas.openxmlformats.org/officeDocument/2006/relationships/image" Target="../media/image309.wmf"/><Relationship Id="rId14" Type="http://schemas.openxmlformats.org/officeDocument/2006/relationships/oleObject" Target="../embeddings/oleObject46.bin"/><Relationship Id="rId22" Type="http://schemas.openxmlformats.org/officeDocument/2006/relationships/oleObject" Target="../embeddings/oleObject57.bin"/><Relationship Id="rId27" Type="http://schemas.openxmlformats.org/officeDocument/2006/relationships/image" Target="../media/image337.wmf"/><Relationship Id="rId30" Type="http://schemas.openxmlformats.org/officeDocument/2006/relationships/oleObject" Target="../embeddings/oleObject49.bin"/><Relationship Id="rId35" Type="http://schemas.openxmlformats.org/officeDocument/2006/relationships/oleObject" Target="../embeddings/oleObject65.bin"/><Relationship Id="rId43" Type="http://schemas.openxmlformats.org/officeDocument/2006/relationships/oleObject" Target="../embeddings/oleObject41.bin"/><Relationship Id="rId48" Type="http://schemas.openxmlformats.org/officeDocument/2006/relationships/image" Target="../media/image345.wmf"/><Relationship Id="rId56" Type="http://schemas.openxmlformats.org/officeDocument/2006/relationships/image" Target="../media/image358.wmf"/><Relationship Id="rId8" Type="http://schemas.openxmlformats.org/officeDocument/2006/relationships/oleObject" Target="../embeddings/oleObject39.bin"/><Relationship Id="rId51" Type="http://schemas.openxmlformats.org/officeDocument/2006/relationships/oleObject" Target="../embeddings/oleObject70.bin"/><Relationship Id="rId3" Type="http://schemas.openxmlformats.org/officeDocument/2006/relationships/image" Target="../media/image306.wmf"/><Relationship Id="rId12" Type="http://schemas.openxmlformats.org/officeDocument/2006/relationships/oleObject" Target="../embeddings/oleObject44.bin"/><Relationship Id="rId17" Type="http://schemas.openxmlformats.org/officeDocument/2006/relationships/image" Target="../media/image320.wmf"/><Relationship Id="rId25" Type="http://schemas.openxmlformats.org/officeDocument/2006/relationships/image" Target="../media/image328.wmf"/><Relationship Id="rId33" Type="http://schemas.openxmlformats.org/officeDocument/2006/relationships/oleObject" Target="../embeddings/oleObject53.bin"/><Relationship Id="rId38" Type="http://schemas.openxmlformats.org/officeDocument/2006/relationships/image" Target="../media/image356.jpeg"/><Relationship Id="rId46" Type="http://schemas.openxmlformats.org/officeDocument/2006/relationships/image" Target="../media/image312.wmf"/><Relationship Id="rId59" Type="http://schemas.openxmlformats.org/officeDocument/2006/relationships/oleObject" Target="../embeddings/oleObject77.bin"/><Relationship Id="rId20" Type="http://schemas.openxmlformats.org/officeDocument/2006/relationships/oleObject" Target="../embeddings/oleObject56.bin"/><Relationship Id="rId41" Type="http://schemas.openxmlformats.org/officeDocument/2006/relationships/oleObject" Target="../embeddings/oleObject40.bin"/><Relationship Id="rId54" Type="http://schemas.openxmlformats.org/officeDocument/2006/relationships/image" Target="../media/image357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8.bin"/><Relationship Id="rId15" Type="http://schemas.openxmlformats.org/officeDocument/2006/relationships/image" Target="../media/image316.wmf"/><Relationship Id="rId23" Type="http://schemas.openxmlformats.org/officeDocument/2006/relationships/image" Target="../media/image327.wmf"/><Relationship Id="rId28" Type="http://schemas.openxmlformats.org/officeDocument/2006/relationships/oleObject" Target="../embeddings/oleObject48.bin"/><Relationship Id="rId36" Type="http://schemas.openxmlformats.org/officeDocument/2006/relationships/image" Target="../media/image343.wmf"/><Relationship Id="rId49" Type="http://schemas.openxmlformats.org/officeDocument/2006/relationships/oleObject" Target="../embeddings/oleObject69.bin"/><Relationship Id="rId57" Type="http://schemas.openxmlformats.org/officeDocument/2006/relationships/oleObject" Target="../embeddings/oleObject76.bin"/><Relationship Id="rId10" Type="http://schemas.openxmlformats.org/officeDocument/2006/relationships/oleObject" Target="../embeddings/oleObject43.bin"/><Relationship Id="rId31" Type="http://schemas.openxmlformats.org/officeDocument/2006/relationships/image" Target="../media/image339.wmf"/><Relationship Id="rId44" Type="http://schemas.openxmlformats.org/officeDocument/2006/relationships/image" Target="../media/image311.wmf"/><Relationship Id="rId52" Type="http://schemas.openxmlformats.org/officeDocument/2006/relationships/image" Target="../media/image347.wmf"/><Relationship Id="rId60" Type="http://schemas.openxmlformats.org/officeDocument/2006/relationships/image" Target="../media/image360.wmf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1.png"/><Relationship Id="rId2" Type="http://schemas.openxmlformats.org/officeDocument/2006/relationships/image" Target="../media/image22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3.png"/><Relationship Id="rId4" Type="http://schemas.openxmlformats.org/officeDocument/2006/relationships/image" Target="../media/image362.png"/></Relationships>
</file>

<file path=ppt/slides/_rels/slide2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3.png"/><Relationship Id="rId3" Type="http://schemas.openxmlformats.org/officeDocument/2006/relationships/image" Target="../media/image1803.png"/><Relationship Id="rId7" Type="http://schemas.openxmlformats.org/officeDocument/2006/relationships/image" Target="../media/image33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32.png"/><Relationship Id="rId5" Type="http://schemas.openxmlformats.org/officeDocument/2006/relationships/image" Target="../media/image328.png"/><Relationship Id="rId4" Type="http://schemas.openxmlformats.org/officeDocument/2006/relationships/image" Target="../media/image1813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4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81.png"/><Relationship Id="rId4" Type="http://schemas.openxmlformats.org/officeDocument/2006/relationships/image" Target="../media/image2271.png"/></Relationships>
</file>

<file path=ppt/slides/_rels/slide2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6.wmf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0.bin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5.wmf"/><Relationship Id="rId5" Type="http://schemas.openxmlformats.org/officeDocument/2006/relationships/oleObject" Target="../embeddings/oleObject79.bin"/><Relationship Id="rId10" Type="http://schemas.openxmlformats.org/officeDocument/2006/relationships/image" Target="../media/image2411.png"/><Relationship Id="rId4" Type="http://schemas.openxmlformats.org/officeDocument/2006/relationships/image" Target="../media/image364.wmf"/><Relationship Id="rId9" Type="http://schemas.openxmlformats.org/officeDocument/2006/relationships/image" Target="../media/image2403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12.png"/><Relationship Id="rId4" Type="http://schemas.openxmlformats.org/officeDocument/2006/relationships/image" Target="../media/image2330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0.png"/><Relationship Id="rId2" Type="http://schemas.openxmlformats.org/officeDocument/2006/relationships/image" Target="../media/image230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51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90.png"/><Relationship Id="rId2" Type="http://schemas.openxmlformats.org/officeDocument/2006/relationships/image" Target="../media/image24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10.png"/><Relationship Id="rId4" Type="http://schemas.openxmlformats.org/officeDocument/2006/relationships/image" Target="../media/image3301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7.png"/><Relationship Id="rId2" Type="http://schemas.openxmlformats.org/officeDocument/2006/relationships/image" Target="../media/image338.png"/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7.png"/><Relationship Id="rId2" Type="http://schemas.openxmlformats.org/officeDocument/2006/relationships/image" Target="../media/image3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9.wmf"/><Relationship Id="rId4" Type="http://schemas.openxmlformats.org/officeDocument/2006/relationships/oleObject" Target="../embeddings/oleObject81.bin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2.bin"/><Relationship Id="rId2" Type="http://schemas.openxmlformats.org/officeDocument/2006/relationships/image" Target="../media/image3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0.wmf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3.bin"/><Relationship Id="rId2" Type="http://schemas.openxmlformats.org/officeDocument/2006/relationships/image" Target="../media/image3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2.w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371.wmf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3.wmf"/><Relationship Id="rId7" Type="http://schemas.openxmlformats.org/officeDocument/2006/relationships/image" Target="../media/image368.png"/><Relationship Id="rId2" Type="http://schemas.openxmlformats.org/officeDocument/2006/relationships/oleObject" Target="../embeddings/oleObject8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4.wmf"/><Relationship Id="rId5" Type="http://schemas.openxmlformats.org/officeDocument/2006/relationships/oleObject" Target="../embeddings/oleObject86.bin"/><Relationship Id="rId4" Type="http://schemas.openxmlformats.org/officeDocument/2006/relationships/image" Target="../media/image346.png"/><Relationship Id="rId9" Type="http://schemas.openxmlformats.org/officeDocument/2006/relationships/image" Target="../media/image3030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7.png"/><Relationship Id="rId2" Type="http://schemas.openxmlformats.org/officeDocument/2006/relationships/image" Target="../media/image3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90.png"/><Relationship Id="rId4" Type="http://schemas.openxmlformats.org/officeDocument/2006/relationships/image" Target="../media/image318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11637-1425-129F-2835-56A8C9B0E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859F1B0-9719-A950-7919-62C7FA7DF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" y="0"/>
            <a:ext cx="12180024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A3CB467-204D-8FF5-A382-92A83D415F82}"/>
              </a:ext>
            </a:extLst>
          </p:cNvPr>
          <p:cNvSpPr txBox="1">
            <a:spLocks/>
          </p:cNvSpPr>
          <p:nvPr/>
        </p:nvSpPr>
        <p:spPr>
          <a:xfrm>
            <a:off x="0" y="129992"/>
            <a:ext cx="12192000" cy="84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Tutorial Series on Sequential Decision Analytics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8BF8AE64-3E79-0637-102D-BB1DB9C08294}"/>
              </a:ext>
            </a:extLst>
          </p:cNvPr>
          <p:cNvSpPr txBox="1">
            <a:spLocks/>
          </p:cNvSpPr>
          <p:nvPr/>
        </p:nvSpPr>
        <p:spPr>
          <a:xfrm>
            <a:off x="0" y="927251"/>
            <a:ext cx="12192000" cy="115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Warren B Powell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Professor Emeritus, Princeton University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BDA6C6-3CFA-BE60-E8DA-F58B417C8710}"/>
              </a:ext>
            </a:extLst>
          </p:cNvPr>
          <p:cNvSpPr txBox="1">
            <a:spLocks/>
          </p:cNvSpPr>
          <p:nvPr/>
        </p:nvSpPr>
        <p:spPr>
          <a:xfrm>
            <a:off x="4224760" y="1866418"/>
            <a:ext cx="3715473" cy="57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Recorded: August 12, 2026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BEE4B36-0C61-CAAE-9E57-1794D9EA9EE5}"/>
              </a:ext>
            </a:extLst>
          </p:cNvPr>
          <p:cNvSpPr txBox="1">
            <a:spLocks/>
          </p:cNvSpPr>
          <p:nvPr/>
        </p:nvSpPr>
        <p:spPr>
          <a:xfrm>
            <a:off x="1212348" y="2751400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Module:	</a:t>
            </a:r>
            <a:r>
              <a:rPr lang="en-US" sz="2400" dirty="0">
                <a:solidFill>
                  <a:schemeClr val="bg1"/>
                </a:solidFill>
              </a:rPr>
              <a:t>State variables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State variables are of fundamental importance in sequential decision problems, yet there is considerable confusion in how they are presented in the research literature.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434207B-4D4E-02FC-0BAB-EC201891E991}"/>
              </a:ext>
            </a:extLst>
          </p:cNvPr>
          <p:cNvSpPr txBox="1">
            <a:spLocks/>
          </p:cNvSpPr>
          <p:nvPr/>
        </p:nvSpPr>
        <p:spPr>
          <a:xfrm>
            <a:off x="1214274" y="5160862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level: General modeling notation.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F5900D4-74E9-C161-C1DF-001301CD8D01}"/>
              </a:ext>
            </a:extLst>
          </p:cNvPr>
          <p:cNvSpPr txBox="1">
            <a:spLocks/>
          </p:cNvSpPr>
          <p:nvPr/>
        </p:nvSpPr>
        <p:spPr>
          <a:xfrm>
            <a:off x="1214274" y="3887648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Predecessor module(s): The universal modeling framework (detailed) – This module will demonstrate how state variables are used.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ED668E-FE19-AB44-301F-0DB174671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461" y="1084325"/>
            <a:ext cx="2014549" cy="201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616613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33AE242-35BD-24B9-5193-2885DE4E4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8AB277-5CBC-F9D7-DA56-916C49C24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29216067-38E5-57EB-CF18-D6A5E24254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933AF773-D737-7EFC-1BA4-E829CF98AF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State variables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State variables defined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 network routing problem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Belief state variables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Pre- and post- decision state variables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 sample of state variables</a:t>
            </a:r>
          </a:p>
          <a:p>
            <a:pPr marL="342900" indent="-342900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1170751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146AEFE-ECDE-DED9-A498-F6B3009F2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E4FE3C-7613-2068-2E21-78AE082FA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458A5673-1050-13A1-099B-AC9EBCB91C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3CA3936F-57E8-5E28-DA61-86ED7B4C0C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State variables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State variables defined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 network routing problem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Belief state variables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Pre- and post- decision state variables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 sample of state variables</a:t>
            </a:r>
          </a:p>
        </p:txBody>
      </p:sp>
    </p:spTree>
    <p:extLst>
      <p:ext uri="{BB962C8B-B14F-4D97-AF65-F5344CB8AC3E}">
        <p14:creationId xmlns:p14="http://schemas.microsoft.com/office/powerpoint/2010/main" val="4186602152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7A3EE-0617-B002-C8FD-DBFE5E5B0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swald" panose="00000500000000000000" pitchFamily="2" charset="0"/>
              </a:rPr>
              <a:t>State variables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510616-B88E-C55B-633F-2D9E9BD5C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141" y="1145621"/>
            <a:ext cx="10074403" cy="513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560530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7A45DB8-2030-A360-66D3-82AA3E9A7871}"/>
              </a:ext>
            </a:extLst>
          </p:cNvPr>
          <p:cNvSpPr txBox="1"/>
          <p:nvPr/>
        </p:nvSpPr>
        <p:spPr>
          <a:xfrm>
            <a:off x="2205772" y="1115568"/>
            <a:ext cx="15295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Raleway" pitchFamily="2" charset="0"/>
              </a:rPr>
              <a:t>Textbook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F75E12-D753-B224-9E55-1907459A4674}"/>
              </a:ext>
            </a:extLst>
          </p:cNvPr>
          <p:cNvSpPr txBox="1"/>
          <p:nvPr/>
        </p:nvSpPr>
        <p:spPr>
          <a:xfrm>
            <a:off x="6796822" y="1115568"/>
            <a:ext cx="17107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Raleway" pitchFamily="2" charset="0"/>
              </a:rPr>
              <a:t>Real world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C8DD7DD-7862-D6C1-BD93-AC876A645C0A}"/>
              </a:ext>
            </a:extLst>
          </p:cNvPr>
          <p:cNvSpPr txBox="1">
            <a:spLocks/>
          </p:cNvSpPr>
          <p:nvPr/>
        </p:nvSpPr>
        <p:spPr>
          <a:xfrm>
            <a:off x="2021700" y="353850"/>
            <a:ext cx="8283900" cy="550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300" dirty="0">
                <a:latin typeface="Oswald" panose="00000500000000000000" pitchFamily="2" charset="0"/>
              </a:rPr>
              <a:t>State variables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451911-4D06-AFD3-CEEB-1E09DB419726}"/>
              </a:ext>
            </a:extLst>
          </p:cNvPr>
          <p:cNvSpPr txBox="1"/>
          <p:nvPr/>
        </p:nvSpPr>
        <p:spPr>
          <a:xfrm>
            <a:off x="1504951" y="5619750"/>
            <a:ext cx="9276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aleway" pitchFamily="2" charset="0"/>
              </a:rPr>
              <a:t>Real world state variables are quite rich, and subtle. We can use our modeling framework to tell us the information that belongs in the state variable.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24AB48-C72B-30EF-370A-71AC342757CC}"/>
              </a:ext>
            </a:extLst>
          </p:cNvPr>
          <p:cNvGrpSpPr/>
          <p:nvPr/>
        </p:nvGrpSpPr>
        <p:grpSpPr>
          <a:xfrm>
            <a:off x="2183641" y="3307487"/>
            <a:ext cx="2643487" cy="1819940"/>
            <a:chOff x="2469391" y="3669437"/>
            <a:chExt cx="2643487" cy="181994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4867743-29C2-4A36-52DF-EE13FBDE29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69391" y="3669437"/>
              <a:ext cx="2643487" cy="1474063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B7CCB8B-65CA-A2C4-7C07-FE48083A1EDA}"/>
                </a:ext>
              </a:extLst>
            </p:cNvPr>
            <p:cNvSpPr txBox="1"/>
            <p:nvPr/>
          </p:nvSpPr>
          <p:spPr>
            <a:xfrm>
              <a:off x="2638425" y="5181600"/>
              <a:ext cx="23471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Raleway" pitchFamily="2" charset="0"/>
                </a:rPr>
                <a:t>From Princeton RL course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20E0DC57-9543-1277-DE01-540B6DBA6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85" y="1902751"/>
            <a:ext cx="1779998" cy="17357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AB472A-1904-5DB8-3CFF-E77189E15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000" y="1696760"/>
            <a:ext cx="3009703" cy="358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613579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variables: Definition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496" y="1143000"/>
            <a:ext cx="10058400" cy="52578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What is a state variable? – The MDP community</a:t>
            </a:r>
          </a:p>
          <a:p>
            <a:pPr lvl="1"/>
            <a:r>
              <a:rPr lang="en-US" dirty="0"/>
              <a:t>Bellman’s classic text on dynamic programming (1957) describes the state variable with:</a:t>
            </a:r>
          </a:p>
          <a:p>
            <a:pPr lvl="2"/>
            <a:r>
              <a:rPr lang="en-US" dirty="0"/>
              <a:t>“… we have a physical system characterized at any stage by a small set of parameters, the </a:t>
            </a:r>
            <a:r>
              <a:rPr lang="en-US" i="1" dirty="0"/>
              <a:t>state variables.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The most popular book on dynamic programming (</a:t>
            </a:r>
            <a:r>
              <a:rPr lang="en-US" dirty="0" err="1"/>
              <a:t>Puterman</a:t>
            </a:r>
            <a:r>
              <a:rPr lang="en-US" dirty="0"/>
              <a:t>, 1994, p.18) “defines” a state variable with the following sentence:</a:t>
            </a:r>
          </a:p>
          <a:p>
            <a:pPr lvl="2"/>
            <a:r>
              <a:rPr lang="en-US" dirty="0"/>
              <a:t>“At each decision epoch, the system occupies a </a:t>
            </a:r>
            <a:r>
              <a:rPr lang="en-US" i="1" dirty="0"/>
              <a:t>state</a:t>
            </a:r>
            <a:r>
              <a:rPr lang="en-US" dirty="0"/>
              <a:t>.”</a:t>
            </a:r>
          </a:p>
          <a:p>
            <a:pPr lvl="1"/>
            <a:r>
              <a:rPr lang="en-US" dirty="0"/>
              <a:t>Wikipedia:</a:t>
            </a:r>
          </a:p>
          <a:p>
            <a:pPr lvl="2"/>
            <a:r>
              <a:rPr lang="en-US" dirty="0"/>
              <a:t>“A state variable is one of the set of variables that are used to describe the mathematical ‘state’ of a dynamical system.”</a:t>
            </a:r>
          </a:p>
          <a:p>
            <a:pPr lvl="1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50CB38-4C99-344F-C41B-DA6B9253CD53}"/>
              </a:ext>
            </a:extLst>
          </p:cNvPr>
          <p:cNvSpPr txBox="1"/>
          <p:nvPr/>
        </p:nvSpPr>
        <p:spPr>
          <a:xfrm>
            <a:off x="1133475" y="5848350"/>
            <a:ext cx="9682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Raleway" pitchFamily="2" charset="0"/>
              </a:rPr>
              <a:t>For a thorough discussion of state variables, go to: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 https://tinyurl.com/onstatevariables/</a:t>
            </a:r>
          </a:p>
        </p:txBody>
      </p:sp>
    </p:spTree>
    <p:extLst>
      <p:ext uri="{BB962C8B-B14F-4D97-AF65-F5344CB8AC3E}">
        <p14:creationId xmlns:p14="http://schemas.microsoft.com/office/powerpoint/2010/main" val="2395811203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variables: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/>
              <p:cNvSpPr txBox="1">
                <a:spLocks noChangeArrowheads="1"/>
              </p:cNvSpPr>
              <p:nvPr/>
            </p:nvSpPr>
            <p:spPr>
              <a:xfrm>
                <a:off x="533781" y="1143000"/>
                <a:ext cx="9947891" cy="49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7084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dk1"/>
                  </a:buClr>
                  <a:buSzPts val="2240"/>
                  <a:buFont typeface="Raleway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1pPr>
                <a:lvl2pPr marL="914400" marR="0" lvl="1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4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9pPr>
              </a:lstStyle>
              <a:p>
                <a:r>
                  <a:rPr lang="en-US" dirty="0"/>
                  <a:t>What is a state variable? – The controls community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Kirk (2004) and Cassandras and Lafortune (2008) both use:</a:t>
                </a:r>
              </a:p>
              <a:p>
                <a:pPr lvl="2"/>
                <a:endParaRPr lang="en-US" dirty="0"/>
              </a:p>
              <a:p>
                <a:pPr lvl="2"/>
                <a:r>
                  <a:rPr lang="en-US" dirty="0"/>
                  <a:t>A state variable is all the information you need at time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to model the system from time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onward.</a:t>
                </a:r>
              </a:p>
              <a:p>
                <a:pPr lvl="2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Perfectly valid, but they don’t specify </a:t>
                </a:r>
                <a:r>
                  <a:rPr lang="en-US" i="1" dirty="0"/>
                  <a:t>what</a:t>
                </a:r>
                <a:r>
                  <a:rPr lang="en-US" dirty="0"/>
                  <a:t> information.</a:t>
                </a:r>
              </a:p>
              <a:p>
                <a:pPr lvl="1">
                  <a:buFontTx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81" y="1143000"/>
                <a:ext cx="9947891" cy="4953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3785470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variables: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42688" y="1054029"/>
                <a:ext cx="8283900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sz="2600" dirty="0"/>
                  <a:t>Powell – Reinforcement Learning and Stochastic Optimization (2022), section 9.4:</a:t>
                </a:r>
              </a:p>
              <a:p>
                <a:pPr marL="973138" lvl="2" fontAlgn="base"/>
                <a:endParaRPr lang="en-US" sz="1100" b="1" dirty="0"/>
              </a:p>
              <a:p>
                <a:pPr marL="515938" lvl="1" fontAlgn="base"/>
                <a:r>
                  <a:rPr lang="en-US" sz="1800" b="1" dirty="0"/>
                  <a:t>Policy-dependent version</a:t>
                </a:r>
                <a:r>
                  <a:rPr lang="en-US" sz="1800" dirty="0"/>
                  <a:t> – A function of history that is necessary and sufficient to compute:</a:t>
                </a:r>
              </a:p>
              <a:p>
                <a:pPr marL="973138" lvl="2" fontAlgn="base">
                  <a:buAutoNum type="alphaLcParenR"/>
                </a:pPr>
                <a:r>
                  <a:rPr lang="en-US" sz="1400" dirty="0"/>
                  <a:t>The cost/contribution function,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/>
              </a:p>
              <a:p>
                <a:pPr marL="973138" lvl="2" fontAlgn="base">
                  <a:buAutoNum type="alphaLcParenR"/>
                </a:pPr>
                <a:endParaRPr lang="en-US" sz="600" dirty="0"/>
              </a:p>
              <a:p>
                <a:pPr marL="973138" lvl="2" fontAlgn="base">
                  <a:buAutoNum type="alphaLcParenR"/>
                </a:pPr>
                <a:r>
                  <a:rPr lang="en-US" sz="1400" dirty="0"/>
                  <a:t>The decision function (the policy).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/>
              </a:p>
              <a:p>
                <a:pPr marL="973138" lvl="2" fontAlgn="base">
                  <a:buAutoNum type="alphaLcParenR"/>
                </a:pPr>
                <a:endParaRPr lang="en-US" sz="600" dirty="0"/>
              </a:p>
              <a:p>
                <a:pPr marL="973138" lvl="2" fontAlgn="base">
                  <a:buAutoNum type="alphaLcParenR"/>
                </a:pPr>
                <a:r>
                  <a:rPr lang="en-US" sz="1400" dirty="0"/>
                  <a:t>Any information required by the transition function to model the information needed for the cost/contribution and decision functions in the future.</a:t>
                </a:r>
              </a:p>
              <a:p>
                <a:pPr marL="630238" lvl="2" indent="0" fontAlgn="base">
                  <a:buNone/>
                </a:pPr>
                <a:r>
                  <a:rPr lang="en-US" sz="1400" dirty="0"/>
                  <a:t>			</a:t>
                </a:r>
              </a:p>
              <a:p>
                <a:pPr marL="630238" lvl="2" indent="0" fontAlgn="base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1400" dirty="0"/>
              </a:p>
              <a:p>
                <a:pPr marL="973138" lvl="2" fontAlgn="base"/>
                <a:endParaRPr lang="en-US" sz="1400" dirty="0"/>
              </a:p>
              <a:p>
                <a:pPr marL="515938" lvl="1" fontAlgn="base"/>
                <a:r>
                  <a:rPr lang="en-US" sz="1800" b="1" dirty="0"/>
                  <a:t>Optimization version</a:t>
                </a:r>
                <a:r>
                  <a:rPr lang="en-US" sz="1800" dirty="0"/>
                  <a:t> – A function of history that is necessary and sufficient to compute: </a:t>
                </a:r>
              </a:p>
              <a:p>
                <a:pPr marL="973138" lvl="2" fontAlgn="base">
                  <a:buAutoNum type="alphaLcParenR"/>
                </a:pPr>
                <a:r>
                  <a:rPr lang="en-US" sz="1400" dirty="0"/>
                  <a:t>The cost/contribution function,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/>
              </a:p>
              <a:p>
                <a:pPr marL="973138" lvl="2" fontAlgn="base">
                  <a:buAutoNum type="alphaLcParenR"/>
                </a:pPr>
                <a:endParaRPr lang="en-US" sz="600" dirty="0"/>
              </a:p>
              <a:p>
                <a:pPr marL="973138" lvl="2" fontAlgn="base">
                  <a:buAutoNum type="alphaLcParenR"/>
                </a:pPr>
                <a:r>
                  <a:rPr lang="en-US" sz="1400" dirty="0"/>
                  <a:t>The constraints.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/>
              </a:p>
              <a:p>
                <a:pPr marL="973138" lvl="2" fontAlgn="base">
                  <a:buFont typeface="Raleway"/>
                  <a:buAutoNum type="alphaLcParenR"/>
                </a:pPr>
                <a:endParaRPr lang="en-US" sz="600" dirty="0"/>
              </a:p>
              <a:p>
                <a:pPr marL="973138" lvl="2" fontAlgn="base">
                  <a:buFont typeface="Raleway"/>
                  <a:buAutoNum type="alphaLcParenR"/>
                </a:pPr>
                <a:r>
                  <a:rPr lang="en-US" sz="1400" dirty="0"/>
                  <a:t>Any information required by the transition function to model the information needed for the cost/contribution and constraints in the future.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1400" dirty="0"/>
              </a:p>
              <a:p>
                <a:pPr marL="973138" lvl="2" fontAlgn="base">
                  <a:buAutoNum type="alphaLcParenR"/>
                </a:pPr>
                <a:endParaRPr lang="en-US" sz="1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2688" y="1054029"/>
                <a:ext cx="8283900" cy="4401600"/>
              </a:xfrm>
              <a:blipFill>
                <a:blip r:embed="rId2"/>
                <a:stretch>
                  <a:fillRect l="-294" r="-74" b="-15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6BED7E2-C974-86E1-3BB8-4806803161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230"/>
          <a:stretch/>
        </p:blipFill>
        <p:spPr>
          <a:xfrm>
            <a:off x="8827513" y="1840973"/>
            <a:ext cx="2734395" cy="38685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0E80B1-281C-B96A-F60A-A90A9EA54CDB}"/>
              </a:ext>
            </a:extLst>
          </p:cNvPr>
          <p:cNvSpPr txBox="1"/>
          <p:nvPr/>
        </p:nvSpPr>
        <p:spPr>
          <a:xfrm>
            <a:off x="9503882" y="4543425"/>
            <a:ext cx="13099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Chapter 9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CCE8D80-930F-37A7-DEB0-A63C1EAECF4E}"/>
              </a:ext>
            </a:extLst>
          </p:cNvPr>
          <p:cNvSpPr/>
          <p:nvPr/>
        </p:nvSpPr>
        <p:spPr>
          <a:xfrm>
            <a:off x="3842657" y="2721430"/>
            <a:ext cx="892629" cy="283029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74ABAC2-43AD-7F16-09EE-B8A65A70CDBE}"/>
              </a:ext>
            </a:extLst>
          </p:cNvPr>
          <p:cNvSpPr/>
          <p:nvPr/>
        </p:nvSpPr>
        <p:spPr>
          <a:xfrm>
            <a:off x="3995057" y="3015345"/>
            <a:ext cx="751115" cy="283029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60DE5C3-1992-9FAD-7B10-2A7BCF0A504B}"/>
              </a:ext>
            </a:extLst>
          </p:cNvPr>
          <p:cNvSpPr/>
          <p:nvPr/>
        </p:nvSpPr>
        <p:spPr>
          <a:xfrm>
            <a:off x="3428999" y="3918859"/>
            <a:ext cx="1861458" cy="370111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B1B6332-A02E-4633-AB69-CC01979D5208}"/>
              </a:ext>
            </a:extLst>
          </p:cNvPr>
          <p:cNvSpPr/>
          <p:nvPr/>
        </p:nvSpPr>
        <p:spPr>
          <a:xfrm>
            <a:off x="4169229" y="3799117"/>
            <a:ext cx="990600" cy="631369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37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BF39A-8404-0EC7-D007-851D59158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variables: Definition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DD76C-9FBB-1C7C-D737-EFBA22DDD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092" y="1160617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From </a:t>
            </a:r>
            <a:r>
              <a:rPr lang="en-US" dirty="0" err="1"/>
              <a:t>Puterman</a:t>
            </a:r>
            <a:r>
              <a:rPr lang="en-US" dirty="0"/>
              <a:t> (2005):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800" dirty="0"/>
              <a:t>A state variable, by definition, includes whatever information you need from history, so there is no difference between state-dependent and history-dependent.</a:t>
            </a:r>
          </a:p>
          <a:p>
            <a:r>
              <a:rPr lang="en-US" sz="1800" dirty="0"/>
              <a:t>All properly modeled problems are Markovian, so this adjective is not needed.</a:t>
            </a:r>
          </a:p>
          <a:p>
            <a:r>
              <a:rPr lang="en-US" sz="1800" dirty="0"/>
              <a:t>(Hidden state variables are modeled using beliefs, which are part of the state variable.)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A6730E-7993-2595-D24F-24E18D3BA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48" y="1968160"/>
            <a:ext cx="10661304" cy="198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189919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D9023-6A39-2537-5C55-674ED3127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52F0E3-0095-52FA-8DFE-883C2F26A8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0981" y="1034392"/>
                <a:ext cx="9854619" cy="1891728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sz="2600" dirty="0"/>
                  <a:t>Time series price model</a:t>
                </a:r>
              </a:p>
              <a:p>
                <a:pPr marL="86360" indent="0">
                  <a:buNone/>
                </a:pPr>
                <a:endParaRPr lang="en-US" sz="2400" dirty="0"/>
              </a:p>
              <a:p>
                <a:pPr marL="86360" indent="0">
                  <a:buNone/>
                </a:pPr>
                <a:endParaRPr lang="en-US" sz="2400" dirty="0"/>
              </a:p>
              <a:p>
                <a:pPr marL="86360" indent="0">
                  <a:buNone/>
                </a:pPr>
                <a:endParaRPr lang="en-US" sz="2400" dirty="0"/>
              </a:p>
              <a:p>
                <a:pPr marL="86360" indent="0">
                  <a:buNone/>
                </a:pPr>
                <a:r>
                  <a:rPr lang="en-US" sz="2600" dirty="0"/>
                  <a:t>	</a:t>
                </a:r>
                <a:r>
                  <a:rPr lang="en-US" sz="2400" dirty="0"/>
                  <a:t>where the price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variable is given by</a:t>
                </a:r>
                <a:endParaRPr lang="en-US" sz="2600" dirty="0"/>
              </a:p>
              <a:p>
                <a:pPr marL="86360" indent="0">
                  <a:buNone/>
                </a:pPr>
                <a:endParaRPr lang="en-US" dirty="0"/>
              </a:p>
              <a:p>
                <a:pPr marL="86360" indent="0">
                  <a:buNone/>
                </a:pPr>
                <a:endParaRPr lang="en-US" dirty="0"/>
              </a:p>
              <a:p>
                <a:pPr marL="86360" indent="0">
                  <a:buNone/>
                </a:pPr>
                <a:endParaRPr lang="en-US" sz="1600" dirty="0"/>
              </a:p>
              <a:p>
                <a:pPr>
                  <a:buSzPct val="80000"/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The prices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sz="2000" dirty="0"/>
                  <a:t> represent information that we need to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>
                  <a:buSzPct val="80000"/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It does not matter </a:t>
                </a:r>
                <a:r>
                  <a:rPr lang="en-US" sz="2000" i="1" dirty="0"/>
                  <a:t>when</a:t>
                </a:r>
                <a:r>
                  <a:rPr lang="en-US" sz="2000" dirty="0"/>
                  <a:t> this information became available.  What matters is that we know it at time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/>
                  <a:t>, and we need the information to model the future.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52F0E3-0095-52FA-8DFE-883C2F26A8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0981" y="1034392"/>
                <a:ext cx="9854619" cy="1891728"/>
              </a:xfrm>
              <a:blipFill>
                <a:blip r:embed="rId2"/>
                <a:stretch>
                  <a:fillRect l="-247" b="-157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9">
                <a:extLst>
                  <a:ext uri="{FF2B5EF4-FFF2-40B4-BE49-F238E27FC236}">
                    <a16:creationId xmlns:a16="http://schemas.microsoft.com/office/drawing/2014/main" id="{B46C5187-D1D4-CF08-35EF-205FD211DEFB}"/>
                  </a:ext>
                </a:extLst>
              </p:cNvPr>
              <p:cNvSpPr txBox="1"/>
              <p:nvPr/>
            </p:nvSpPr>
            <p:spPr bwMode="auto">
              <a:xfrm>
                <a:off x="1110366" y="1718089"/>
                <a:ext cx="7892232" cy="12607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en-US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2400" dirty="0">
                    <a:solidFill>
                      <a:srgbClr val="000000"/>
                    </a:solidFill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̄"/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Object 9">
                <a:extLst>
                  <a:ext uri="{FF2B5EF4-FFF2-40B4-BE49-F238E27FC236}">
                    <a16:creationId xmlns:a16="http://schemas.microsoft.com/office/drawing/2014/main" id="{B46C5187-D1D4-CF08-35EF-205FD211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0366" y="1718089"/>
                <a:ext cx="7892232" cy="12607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0">
                <a:extLst>
                  <a:ext uri="{FF2B5EF4-FFF2-40B4-BE49-F238E27FC236}">
                    <a16:creationId xmlns:a16="http://schemas.microsoft.com/office/drawing/2014/main" id="{8C7470C3-369A-6193-BC26-A854F8094608}"/>
                  </a:ext>
                </a:extLst>
              </p:cNvPr>
              <p:cNvSpPr txBox="1"/>
              <p:nvPr/>
            </p:nvSpPr>
            <p:spPr>
              <a:xfrm>
                <a:off x="1500337" y="3498130"/>
                <a:ext cx="2109638" cy="114162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11" name="Object 10">
                <a:extLst>
                  <a:ext uri="{FF2B5EF4-FFF2-40B4-BE49-F238E27FC236}">
                    <a16:creationId xmlns:a16="http://schemas.microsoft.com/office/drawing/2014/main" id="{8C7470C3-369A-6193-BC26-A854F8094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337" y="3498130"/>
                <a:ext cx="2109638" cy="11416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48BFB82-E5F6-4712-6DCD-79FC16B62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variables: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0">
                <a:extLst>
                  <a:ext uri="{FF2B5EF4-FFF2-40B4-BE49-F238E27FC236}">
                    <a16:creationId xmlns:a16="http://schemas.microsoft.com/office/drawing/2014/main" id="{3FA2B653-70C0-D1C1-F0C8-E0513B44A900}"/>
                  </a:ext>
                </a:extLst>
              </p:cNvPr>
              <p:cNvSpPr txBox="1"/>
              <p:nvPr/>
            </p:nvSpPr>
            <p:spPr>
              <a:xfrm>
                <a:off x="8195962" y="1980256"/>
                <a:ext cx="2109638" cy="114162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4" name="Object 10">
                <a:extLst>
                  <a:ext uri="{FF2B5EF4-FFF2-40B4-BE49-F238E27FC236}">
                    <a16:creationId xmlns:a16="http://schemas.microsoft.com/office/drawing/2014/main" id="{3FA2B653-70C0-D1C1-F0C8-E0513B44A9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5962" y="1980256"/>
                <a:ext cx="2109638" cy="11416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2024951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7E1EB-B92B-6FF1-8F01-0280EFB96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variables: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76B612B-9300-AD83-D2DF-A772977F802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Note: Need to separate initial state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the dynamic state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&gt;0.</m:t>
                    </m:r>
                  </m:oMath>
                </a14:m>
                <a:endParaRPr lang="en-US" b="0" dirty="0"/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Initial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includes:</a:t>
                </a:r>
              </a:p>
              <a:p>
                <a:pPr lvl="2"/>
                <a:r>
                  <a:rPr lang="en-US" dirty="0"/>
                  <a:t>Parameters and functions that are fixed over time.</a:t>
                </a:r>
              </a:p>
              <a:p>
                <a:pPr lvl="2"/>
                <a:r>
                  <a:rPr lang="en-US" dirty="0"/>
                  <a:t>Initial functions that may change over time.</a:t>
                </a:r>
              </a:p>
              <a:p>
                <a:pPr lvl="2"/>
                <a:r>
                  <a:rPr lang="en-US" dirty="0"/>
                  <a:t>Initial values of quantities.</a:t>
                </a:r>
              </a:p>
              <a:p>
                <a:pPr lvl="2"/>
                <a:r>
                  <a:rPr lang="en-US" dirty="0"/>
                  <a:t>Initial values of dynamically varying parameters</a:t>
                </a:r>
              </a:p>
              <a:p>
                <a:pPr lvl="2"/>
                <a:r>
                  <a:rPr lang="en-US" dirty="0"/>
                  <a:t>Initial beliefs about uncertain quantities or parameters.</a:t>
                </a:r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Dynamic state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include:</a:t>
                </a:r>
              </a:p>
              <a:p>
                <a:pPr lvl="2"/>
                <a:r>
                  <a:rPr lang="en-US" dirty="0"/>
                  <a:t>Any quantities, parameters or beliefs that change over time.</a:t>
                </a:r>
              </a:p>
              <a:p>
                <a:pPr lvl="2"/>
                <a:r>
                  <a:rPr lang="en-US" dirty="0"/>
                  <a:t>Any functions that may change over time.</a:t>
                </a:r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76B612B-9300-AD83-D2DF-A772977F8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353" b="-6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6445062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2AA103E-E575-BB30-2EC0-F6877848C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C82C77-5E67-E33D-C892-250770FAB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A5767EED-5811-3B09-6F06-75C7BB522D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0723F733-7600-9609-5B39-DB36C1112F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State variables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State variables defined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 network routing problem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Belief state variables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Pre- and post- decision state variables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 sample of state variables</a:t>
            </a:r>
          </a:p>
        </p:txBody>
      </p:sp>
    </p:spTree>
    <p:extLst>
      <p:ext uri="{BB962C8B-B14F-4D97-AF65-F5344CB8AC3E}">
        <p14:creationId xmlns:p14="http://schemas.microsoft.com/office/powerpoint/2010/main" val="3359805043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1EAC9-8EFC-DF52-90A5-D5DA1838B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variables: Network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FD5B5-DE3B-BFC9-1FA7-28410EC8C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028700" lvl="2" indent="0">
              <a:buNone/>
            </a:pPr>
            <a:r>
              <a:rPr lang="en-US" dirty="0"/>
              <a:t>		        </a:t>
            </a:r>
            <a:r>
              <a:rPr lang="en-US" sz="3200" dirty="0"/>
              <a:t>I need four volunteers</a:t>
            </a:r>
          </a:p>
        </p:txBody>
      </p:sp>
    </p:spTree>
    <p:extLst>
      <p:ext uri="{BB962C8B-B14F-4D97-AF65-F5344CB8AC3E}">
        <p14:creationId xmlns:p14="http://schemas.microsoft.com/office/powerpoint/2010/main" val="1211438604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700AD-0BA7-9FBD-3C8C-872A75BB0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35E06-24DD-9081-904B-95864203B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variables: Network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49420-8F0A-6801-CAB9-7D97E576A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6360" indent="0">
              <a:buNone/>
            </a:pPr>
            <a:r>
              <a:rPr lang="en-US" dirty="0"/>
              <a:t>Illustrating state variables</a:t>
            </a:r>
          </a:p>
          <a:p>
            <a:pPr lvl="1"/>
            <a:r>
              <a:rPr lang="en-US" dirty="0"/>
              <a:t>A deterministic graph, traveler at node 6.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C531FB7-2399-358B-45CA-1C0A319D3C05}"/>
              </a:ext>
            </a:extLst>
          </p:cNvPr>
          <p:cNvSpPr/>
          <p:nvPr/>
        </p:nvSpPr>
        <p:spPr>
          <a:xfrm>
            <a:off x="4322334" y="265650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16AD724-594A-E0DC-1AB9-B9E84AF2E69D}"/>
              </a:ext>
            </a:extLst>
          </p:cNvPr>
          <p:cNvSpPr/>
          <p:nvPr/>
        </p:nvSpPr>
        <p:spPr>
          <a:xfrm>
            <a:off x="4326144" y="370044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FC5A9B-C8E0-BDCC-820D-53BB2878A1F5}"/>
              </a:ext>
            </a:extLst>
          </p:cNvPr>
          <p:cNvSpPr/>
          <p:nvPr/>
        </p:nvSpPr>
        <p:spPr>
          <a:xfrm>
            <a:off x="4318524" y="475581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789A218-FCD8-A0DF-1C46-3998B874103F}"/>
              </a:ext>
            </a:extLst>
          </p:cNvPr>
          <p:cNvCxnSpPr/>
          <p:nvPr/>
        </p:nvCxnSpPr>
        <p:spPr bwMode="auto">
          <a:xfrm>
            <a:off x="4592845" y="3833578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170F37-1AE7-4003-0537-FC16CE9C8037}"/>
              </a:ext>
            </a:extLst>
          </p:cNvPr>
          <p:cNvCxnSpPr/>
          <p:nvPr/>
        </p:nvCxnSpPr>
        <p:spPr bwMode="auto">
          <a:xfrm>
            <a:off x="4592845" y="279181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DCD7FA3-679F-F44C-ECCB-B80E1B5C2496}"/>
              </a:ext>
            </a:extLst>
          </p:cNvPr>
          <p:cNvCxnSpPr/>
          <p:nvPr/>
        </p:nvCxnSpPr>
        <p:spPr bwMode="auto">
          <a:xfrm>
            <a:off x="4573410" y="488916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D5719A7-CA8F-4075-32F0-4A1D6593EEF5}"/>
              </a:ext>
            </a:extLst>
          </p:cNvPr>
          <p:cNvCxnSpPr>
            <a:stCxn id="5" idx="4"/>
          </p:cNvCxnSpPr>
          <p:nvPr/>
        </p:nvCxnSpPr>
        <p:spPr bwMode="auto">
          <a:xfrm flipH="1">
            <a:off x="4448626" y="292320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E1BE731-1527-CB68-3905-A9B2A1249923}"/>
              </a:ext>
            </a:extLst>
          </p:cNvPr>
          <p:cNvCxnSpPr/>
          <p:nvPr/>
        </p:nvCxnSpPr>
        <p:spPr bwMode="auto">
          <a:xfrm flipH="1">
            <a:off x="4441568" y="397857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42116AAB-9927-7586-275D-25B5B0AC8751}"/>
              </a:ext>
            </a:extLst>
          </p:cNvPr>
          <p:cNvSpPr/>
          <p:nvPr/>
        </p:nvSpPr>
        <p:spPr>
          <a:xfrm>
            <a:off x="5949204" y="264888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D161603-2C2E-141F-B118-182DAE34AFFD}"/>
              </a:ext>
            </a:extLst>
          </p:cNvPr>
          <p:cNvSpPr/>
          <p:nvPr/>
        </p:nvSpPr>
        <p:spPr>
          <a:xfrm>
            <a:off x="5953014" y="369282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3C4557F-CA07-A4DC-E80A-6E9D60647939}"/>
              </a:ext>
            </a:extLst>
          </p:cNvPr>
          <p:cNvSpPr/>
          <p:nvPr/>
        </p:nvSpPr>
        <p:spPr>
          <a:xfrm>
            <a:off x="5945394" y="474819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7E1A5A3-C9BD-11CC-73C0-786878E5B148}"/>
              </a:ext>
            </a:extLst>
          </p:cNvPr>
          <p:cNvCxnSpPr/>
          <p:nvPr/>
        </p:nvCxnSpPr>
        <p:spPr bwMode="auto">
          <a:xfrm>
            <a:off x="6219715" y="3825958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80F9E87-AB27-3783-584A-6665510FA4AA}"/>
              </a:ext>
            </a:extLst>
          </p:cNvPr>
          <p:cNvCxnSpPr/>
          <p:nvPr/>
        </p:nvCxnSpPr>
        <p:spPr bwMode="auto">
          <a:xfrm>
            <a:off x="6208285" y="278419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D241CE7-D53B-CD6C-C0A5-8577143A1D55}"/>
              </a:ext>
            </a:extLst>
          </p:cNvPr>
          <p:cNvCxnSpPr/>
          <p:nvPr/>
        </p:nvCxnSpPr>
        <p:spPr bwMode="auto">
          <a:xfrm>
            <a:off x="6200280" y="488154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FC92490-D681-08F2-08EC-9A2953066D38}"/>
              </a:ext>
            </a:extLst>
          </p:cNvPr>
          <p:cNvCxnSpPr>
            <a:stCxn id="13" idx="4"/>
          </p:cNvCxnSpPr>
          <p:nvPr/>
        </p:nvCxnSpPr>
        <p:spPr bwMode="auto">
          <a:xfrm flipH="1">
            <a:off x="6075496" y="291558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4ED8155-E89F-E27E-4B19-046D90B3BB84}"/>
              </a:ext>
            </a:extLst>
          </p:cNvPr>
          <p:cNvCxnSpPr/>
          <p:nvPr/>
        </p:nvCxnSpPr>
        <p:spPr bwMode="auto">
          <a:xfrm flipH="1">
            <a:off x="6068438" y="397095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B926975E-7160-C84A-8632-9CAB0617FB26}"/>
              </a:ext>
            </a:extLst>
          </p:cNvPr>
          <p:cNvSpPr/>
          <p:nvPr/>
        </p:nvSpPr>
        <p:spPr>
          <a:xfrm>
            <a:off x="7564644" y="265269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A94AE60-7362-F84D-A335-DE9CEABB811E}"/>
              </a:ext>
            </a:extLst>
          </p:cNvPr>
          <p:cNvSpPr/>
          <p:nvPr/>
        </p:nvSpPr>
        <p:spPr>
          <a:xfrm>
            <a:off x="7568454" y="369663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8211E11-F21B-D168-8A1C-CA0687EB6DFB}"/>
              </a:ext>
            </a:extLst>
          </p:cNvPr>
          <p:cNvSpPr/>
          <p:nvPr/>
        </p:nvSpPr>
        <p:spPr>
          <a:xfrm>
            <a:off x="7560834" y="475200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55BEB47-8389-01A0-F68A-EF5F75193980}"/>
              </a:ext>
            </a:extLst>
          </p:cNvPr>
          <p:cNvCxnSpPr>
            <a:stCxn id="21" idx="4"/>
          </p:cNvCxnSpPr>
          <p:nvPr/>
        </p:nvCxnSpPr>
        <p:spPr bwMode="auto">
          <a:xfrm flipH="1">
            <a:off x="7690936" y="291939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4D2BBCC-68A7-0681-3971-F4A1492597F0}"/>
              </a:ext>
            </a:extLst>
          </p:cNvPr>
          <p:cNvCxnSpPr/>
          <p:nvPr/>
        </p:nvCxnSpPr>
        <p:spPr bwMode="auto">
          <a:xfrm flipH="1">
            <a:off x="7683878" y="397476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E662EFC1-A85A-D763-216C-EB8B10BBF17B}"/>
              </a:ext>
            </a:extLst>
          </p:cNvPr>
          <p:cNvSpPr/>
          <p:nvPr/>
        </p:nvSpPr>
        <p:spPr>
          <a:xfrm>
            <a:off x="2684034" y="369282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FB53250-A3EF-AE5F-6F73-8BB83AC433A7}"/>
              </a:ext>
            </a:extLst>
          </p:cNvPr>
          <p:cNvCxnSpPr/>
          <p:nvPr/>
        </p:nvCxnSpPr>
        <p:spPr bwMode="auto">
          <a:xfrm>
            <a:off x="2944771" y="383379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4CCA00A-9114-172B-C798-40E55E6536F0}"/>
              </a:ext>
            </a:extLst>
          </p:cNvPr>
          <p:cNvCxnSpPr>
            <a:stCxn id="45" idx="7"/>
            <a:endCxn id="5" idx="3"/>
          </p:cNvCxnSpPr>
          <p:nvPr/>
        </p:nvCxnSpPr>
        <p:spPr bwMode="auto">
          <a:xfrm flipV="1">
            <a:off x="2911677" y="2884143"/>
            <a:ext cx="1449714" cy="847734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3E5E34D-57D3-E41C-5680-96434CE1E734}"/>
              </a:ext>
            </a:extLst>
          </p:cNvPr>
          <p:cNvCxnSpPr>
            <a:stCxn id="45" idx="5"/>
            <a:endCxn id="7" idx="2"/>
          </p:cNvCxnSpPr>
          <p:nvPr/>
        </p:nvCxnSpPr>
        <p:spPr bwMode="auto">
          <a:xfrm>
            <a:off x="2911678" y="3920464"/>
            <a:ext cx="1406847" cy="96869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415114F-EEC2-DB0A-A437-8909FBCEC947}"/>
              </a:ext>
            </a:extLst>
          </p:cNvPr>
          <p:cNvGrpSpPr/>
          <p:nvPr/>
        </p:nvGrpSpPr>
        <p:grpSpPr>
          <a:xfrm flipH="1">
            <a:off x="7794974" y="2876524"/>
            <a:ext cx="1677357" cy="2005017"/>
            <a:chOff x="851076" y="4306515"/>
            <a:chExt cx="1677357" cy="2005017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BC694FCF-E81C-855B-3DB8-E5C88B247050}"/>
                </a:ext>
              </a:extLst>
            </p:cNvPr>
            <p:cNvSpPr/>
            <p:nvPr/>
          </p:nvSpPr>
          <p:spPr>
            <a:xfrm>
              <a:off x="851076" y="5115192"/>
              <a:ext cx="266700" cy="266700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6F4873A-D488-ECEB-AB79-2180B55C0E9D}"/>
                </a:ext>
              </a:extLst>
            </p:cNvPr>
            <p:cNvCxnSpPr/>
            <p:nvPr/>
          </p:nvCxnSpPr>
          <p:spPr bwMode="auto">
            <a:xfrm>
              <a:off x="1111812" y="5256162"/>
              <a:ext cx="1369831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</p:spPr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2464B3FE-232F-3DC4-FF66-87CAF51AE4F0}"/>
                </a:ext>
              </a:extLst>
            </p:cNvPr>
            <p:cNvCxnSpPr>
              <a:stCxn id="41" idx="7"/>
            </p:cNvCxnSpPr>
            <p:nvPr/>
          </p:nvCxnSpPr>
          <p:spPr bwMode="auto">
            <a:xfrm flipV="1">
              <a:off x="1078719" y="4306515"/>
              <a:ext cx="1449714" cy="847734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</p:spPr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1495939A-443A-0524-2367-1D50F1FC72B3}"/>
                </a:ext>
              </a:extLst>
            </p:cNvPr>
            <p:cNvCxnSpPr>
              <a:stCxn id="41" idx="5"/>
            </p:cNvCxnSpPr>
            <p:nvPr/>
          </p:nvCxnSpPr>
          <p:spPr bwMode="auto">
            <a:xfrm>
              <a:off x="1078719" y="5342835"/>
              <a:ext cx="1406847" cy="968697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</p:spPr>
        </p:cxnSp>
      </p:grpSp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BAB54B0C-8470-1EF7-DFA0-16A82AC0A6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50709" y="3692820"/>
          <a:ext cx="13335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560" imgH="164880" progId="Equation.DSMT4">
                  <p:embed/>
                </p:oleObj>
              </mc:Choice>
              <mc:Fallback>
                <p:oleObj name="Equation" r:id="rId2" imgW="88560" imgH="16488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BAB54B0C-8470-1EF7-DFA0-16A82AC0A6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0709" y="3692820"/>
                        <a:ext cx="133350" cy="24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oup 28">
            <a:extLst>
              <a:ext uri="{FF2B5EF4-FFF2-40B4-BE49-F238E27FC236}">
                <a16:creationId xmlns:a16="http://schemas.microsoft.com/office/drawing/2014/main" id="{F8E8B2BD-4FC5-59BC-2E30-1AA7C02D3153}"/>
              </a:ext>
            </a:extLst>
          </p:cNvPr>
          <p:cNvGrpSpPr/>
          <p:nvPr/>
        </p:nvGrpSpPr>
        <p:grpSpPr>
          <a:xfrm>
            <a:off x="4348828" y="2644804"/>
            <a:ext cx="209550" cy="2359025"/>
            <a:chOff x="2070100" y="4067175"/>
            <a:chExt cx="209550" cy="2359025"/>
          </a:xfrm>
        </p:grpSpPr>
        <p:graphicFrame>
          <p:nvGraphicFramePr>
            <p:cNvPr id="38" name="Object 37">
              <a:extLst>
                <a:ext uri="{FF2B5EF4-FFF2-40B4-BE49-F238E27FC236}">
                  <a16:creationId xmlns:a16="http://schemas.microsoft.com/office/drawing/2014/main" id="{B1D14122-0C03-71A7-5645-444D92CC55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70100" y="4067175"/>
            <a:ext cx="190500" cy="24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720" imgH="164880" progId="Equation.DSMT4">
                    <p:embed/>
                  </p:oleObj>
                </mc:Choice>
                <mc:Fallback>
                  <p:oleObj name="Equation" r:id="rId4" imgW="126720" imgH="164880" progId="Equation.DSMT4">
                    <p:embed/>
                    <p:pic>
                      <p:nvPicPr>
                        <p:cNvPr id="38" name="Object 37">
                          <a:extLst>
                            <a:ext uri="{FF2B5EF4-FFF2-40B4-BE49-F238E27FC236}">
                              <a16:creationId xmlns:a16="http://schemas.microsoft.com/office/drawing/2014/main" id="{B1D14122-0C03-71A7-5645-444D92CC55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0100" y="4067175"/>
                          <a:ext cx="190500" cy="247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38">
              <a:extLst>
                <a:ext uri="{FF2B5EF4-FFF2-40B4-BE49-F238E27FC236}">
                  <a16:creationId xmlns:a16="http://schemas.microsoft.com/office/drawing/2014/main" id="{D829E473-361F-F7F0-553E-98288D5A8A2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95500" y="5124450"/>
            <a:ext cx="17145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4120" imgH="177480" progId="Equation.DSMT4">
                    <p:embed/>
                  </p:oleObj>
                </mc:Choice>
                <mc:Fallback>
                  <p:oleObj name="Equation" r:id="rId6" imgW="114120" imgH="177480" progId="Equation.DSMT4">
                    <p:embed/>
                    <p:pic>
                      <p:nvPicPr>
                        <p:cNvPr id="39" name="Object 38">
                          <a:extLst>
                            <a:ext uri="{FF2B5EF4-FFF2-40B4-BE49-F238E27FC236}">
                              <a16:creationId xmlns:a16="http://schemas.microsoft.com/office/drawing/2014/main" id="{D829E473-361F-F7F0-553E-98288D5A8A2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5500" y="5124450"/>
                          <a:ext cx="17145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39">
              <a:extLst>
                <a:ext uri="{FF2B5EF4-FFF2-40B4-BE49-F238E27FC236}">
                  <a16:creationId xmlns:a16="http://schemas.microsoft.com/office/drawing/2014/main" id="{35618BC4-C9D4-2482-C0F3-E63595A1896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89150" y="6178550"/>
            <a:ext cx="190500" cy="24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6720" imgH="164880" progId="Equation.DSMT4">
                    <p:embed/>
                  </p:oleObj>
                </mc:Choice>
                <mc:Fallback>
                  <p:oleObj name="Equation" r:id="rId8" imgW="126720" imgH="164880" progId="Equation.DSMT4">
                    <p:embed/>
                    <p:pic>
                      <p:nvPicPr>
                        <p:cNvPr id="40" name="Object 39">
                          <a:extLst>
                            <a:ext uri="{FF2B5EF4-FFF2-40B4-BE49-F238E27FC236}">
                              <a16:creationId xmlns:a16="http://schemas.microsoft.com/office/drawing/2014/main" id="{35618BC4-C9D4-2482-C0F3-E63595A1896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9150" y="6178550"/>
                          <a:ext cx="190500" cy="247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5E3D2F3-D44E-3C77-A836-08DA21D804E8}"/>
              </a:ext>
            </a:extLst>
          </p:cNvPr>
          <p:cNvGrpSpPr/>
          <p:nvPr/>
        </p:nvGrpSpPr>
        <p:grpSpPr>
          <a:xfrm>
            <a:off x="5991574" y="2651154"/>
            <a:ext cx="205105" cy="2378075"/>
            <a:chOff x="3712845" y="4073525"/>
            <a:chExt cx="205105" cy="2378075"/>
          </a:xfrm>
        </p:grpSpPr>
        <p:graphicFrame>
          <p:nvGraphicFramePr>
            <p:cNvPr id="35" name="Object 34">
              <a:extLst>
                <a:ext uri="{FF2B5EF4-FFF2-40B4-BE49-F238E27FC236}">
                  <a16:creationId xmlns:a16="http://schemas.microsoft.com/office/drawing/2014/main" id="{AEDB42A9-4750-C35A-4081-76F2BC4D4D8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17925" y="4073525"/>
            <a:ext cx="17145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14120" imgH="177480" progId="Equation.DSMT4">
                    <p:embed/>
                  </p:oleObj>
                </mc:Choice>
                <mc:Fallback>
                  <p:oleObj name="Equation" r:id="rId10" imgW="114120" imgH="177480" progId="Equation.DSMT4">
                    <p:embed/>
                    <p:pic>
                      <p:nvPicPr>
                        <p:cNvPr id="35" name="Object 34">
                          <a:extLst>
                            <a:ext uri="{FF2B5EF4-FFF2-40B4-BE49-F238E27FC236}">
                              <a16:creationId xmlns:a16="http://schemas.microsoft.com/office/drawing/2014/main" id="{AEDB42A9-4750-C35A-4081-76F2BC4D4D8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7925" y="4073525"/>
                          <a:ext cx="17145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35">
              <a:extLst>
                <a:ext uri="{FF2B5EF4-FFF2-40B4-BE49-F238E27FC236}">
                  <a16:creationId xmlns:a16="http://schemas.microsoft.com/office/drawing/2014/main" id="{49A67A55-6B2E-0E0B-F1E6-7285523C84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12845" y="5128895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26720" imgH="177480" progId="Equation.DSMT4">
                    <p:embed/>
                  </p:oleObj>
                </mc:Choice>
                <mc:Fallback>
                  <p:oleObj name="Equation" r:id="rId12" imgW="126720" imgH="177480" progId="Equation.DSMT4">
                    <p:embed/>
                    <p:pic>
                      <p:nvPicPr>
                        <p:cNvPr id="36" name="Object 35">
                          <a:extLst>
                            <a:ext uri="{FF2B5EF4-FFF2-40B4-BE49-F238E27FC236}">
                              <a16:creationId xmlns:a16="http://schemas.microsoft.com/office/drawing/2014/main" id="{49A67A55-6B2E-0E0B-F1E6-7285523C84B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2845" y="5128895"/>
                          <a:ext cx="1905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36">
              <a:extLst>
                <a:ext uri="{FF2B5EF4-FFF2-40B4-BE49-F238E27FC236}">
                  <a16:creationId xmlns:a16="http://schemas.microsoft.com/office/drawing/2014/main" id="{CDE28FCA-74C5-D165-5E9B-4C746F06E1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27450" y="6184900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26720" imgH="177480" progId="Equation.DSMT4">
                    <p:embed/>
                  </p:oleObj>
                </mc:Choice>
                <mc:Fallback>
                  <p:oleObj name="Equation" r:id="rId14" imgW="126720" imgH="177480" progId="Equation.DSMT4">
                    <p:embed/>
                    <p:pic>
                      <p:nvPicPr>
                        <p:cNvPr id="37" name="Object 36">
                          <a:extLst>
                            <a:ext uri="{FF2B5EF4-FFF2-40B4-BE49-F238E27FC236}">
                              <a16:creationId xmlns:a16="http://schemas.microsoft.com/office/drawing/2014/main" id="{CDE28FCA-74C5-D165-5E9B-4C746F06E1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7450" y="6184900"/>
                          <a:ext cx="1905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BFC6A588-F0F3-E929-74F3-C3C862EDB9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12093" y="2643533"/>
          <a:ext cx="1714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4120" imgH="177480" progId="Equation.DSMT4">
                  <p:embed/>
                </p:oleObj>
              </mc:Choice>
              <mc:Fallback>
                <p:oleObj name="Equation" r:id="rId16" imgW="114120" imgH="177480" progId="Equation.DSMT4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BFC6A588-F0F3-E929-74F3-C3C862EDB9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2093" y="2643533"/>
                        <a:ext cx="1714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>
            <a:extLst>
              <a:ext uri="{FF2B5EF4-FFF2-40B4-BE49-F238E27FC236}">
                <a16:creationId xmlns:a16="http://schemas.microsoft.com/office/drawing/2014/main" id="{081703B8-1A49-8019-6EDB-E2DB033B19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8603" y="3710016"/>
          <a:ext cx="1714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4120" imgH="177480" progId="Equation.DSMT4">
                  <p:embed/>
                </p:oleObj>
              </mc:Choice>
              <mc:Fallback>
                <p:oleObj name="Equation" r:id="rId18" imgW="114120" imgH="177480" progId="Equation.DSMT4">
                  <p:embed/>
                  <p:pic>
                    <p:nvPicPr>
                      <p:cNvPr id="32" name="Object 31">
                        <a:extLst>
                          <a:ext uri="{FF2B5EF4-FFF2-40B4-BE49-F238E27FC236}">
                            <a16:creationId xmlns:a16="http://schemas.microsoft.com/office/drawing/2014/main" id="{081703B8-1A49-8019-6EDB-E2DB033B19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8603" y="3710016"/>
                        <a:ext cx="1714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2">
            <a:extLst>
              <a:ext uri="{FF2B5EF4-FFF2-40B4-BE49-F238E27FC236}">
                <a16:creationId xmlns:a16="http://schemas.microsoft.com/office/drawing/2014/main" id="{5B83F379-595B-B74D-CB9E-87253959D7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9863" y="4754591"/>
          <a:ext cx="2667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7480" imgH="177480" progId="Equation.DSMT4">
                  <p:embed/>
                </p:oleObj>
              </mc:Choice>
              <mc:Fallback>
                <p:oleObj name="Equation" r:id="rId20" imgW="177480" imgH="177480" progId="Equation.DSMT4">
                  <p:embed/>
                  <p:pic>
                    <p:nvPicPr>
                      <p:cNvPr id="33" name="Object 32">
                        <a:extLst>
                          <a:ext uri="{FF2B5EF4-FFF2-40B4-BE49-F238E27FC236}">
                            <a16:creationId xmlns:a16="http://schemas.microsoft.com/office/drawing/2014/main" id="{5B83F379-595B-B74D-CB9E-87253959D7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9863" y="4754591"/>
                        <a:ext cx="2667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3">
            <a:extLst>
              <a:ext uri="{FF2B5EF4-FFF2-40B4-BE49-F238E27FC236}">
                <a16:creationId xmlns:a16="http://schemas.microsoft.com/office/drawing/2014/main" id="{E9E6C0E6-2A5F-6DDE-8EDE-2E4BCD20EF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24041" y="3685251"/>
          <a:ext cx="24765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4880" imgH="164880" progId="Equation.DSMT4">
                  <p:embed/>
                </p:oleObj>
              </mc:Choice>
              <mc:Fallback>
                <p:oleObj name="Equation" r:id="rId22" imgW="164880" imgH="164880" progId="Equation.DSMT4">
                  <p:embed/>
                  <p:pic>
                    <p:nvPicPr>
                      <p:cNvPr id="34" name="Object 33">
                        <a:extLst>
                          <a:ext uri="{FF2B5EF4-FFF2-40B4-BE49-F238E27FC236}">
                            <a16:creationId xmlns:a16="http://schemas.microsoft.com/office/drawing/2014/main" id="{E9E6C0E6-2A5F-6DDE-8EDE-2E4BCD20EF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4041" y="3685251"/>
                        <a:ext cx="247650" cy="24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8">
            <a:extLst>
              <a:ext uri="{FF2B5EF4-FFF2-40B4-BE49-F238E27FC236}">
                <a16:creationId xmlns:a16="http://schemas.microsoft.com/office/drawing/2014/main" id="{B1FA36BA-0B53-5ADE-7962-B6A0CC2BFB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67976" y="2900621"/>
          <a:ext cx="4381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91960" imgH="177480" progId="Equation.DSMT4">
                  <p:embed/>
                </p:oleObj>
              </mc:Choice>
              <mc:Fallback>
                <p:oleObj name="Equation" r:id="rId24" imgW="291960" imgH="177480" progId="Equation.DSMT4">
                  <p:embed/>
                  <p:pic>
                    <p:nvPicPr>
                      <p:cNvPr id="49" name="Object 48">
                        <a:extLst>
                          <a:ext uri="{FF2B5EF4-FFF2-40B4-BE49-F238E27FC236}">
                            <a16:creationId xmlns:a16="http://schemas.microsoft.com/office/drawing/2014/main" id="{B1FA36BA-0B53-5ADE-7962-B6A0CC2BFB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7976" y="2900621"/>
                        <a:ext cx="4381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9">
            <a:extLst>
              <a:ext uri="{FF2B5EF4-FFF2-40B4-BE49-F238E27FC236}">
                <a16:creationId xmlns:a16="http://schemas.microsoft.com/office/drawing/2014/main" id="{89942266-9A4F-743F-147A-731DF86F36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50983" y="3526547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28600" imgH="177480" progId="Equation.DSMT4">
                  <p:embed/>
                </p:oleObj>
              </mc:Choice>
              <mc:Fallback>
                <p:oleObj name="Equation" r:id="rId26" imgW="228600" imgH="177480" progId="Equation.DSMT4">
                  <p:embed/>
                  <p:pic>
                    <p:nvPicPr>
                      <p:cNvPr id="50" name="Object 49">
                        <a:extLst>
                          <a:ext uri="{FF2B5EF4-FFF2-40B4-BE49-F238E27FC236}">
                            <a16:creationId xmlns:a16="http://schemas.microsoft.com/office/drawing/2014/main" id="{89942266-9A4F-743F-147A-731DF86F36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0983" y="3526547"/>
                        <a:ext cx="342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50">
            <a:extLst>
              <a:ext uri="{FF2B5EF4-FFF2-40B4-BE49-F238E27FC236}">
                <a16:creationId xmlns:a16="http://schemas.microsoft.com/office/drawing/2014/main" id="{0A2CB47A-74EE-6275-FEA8-88528BEEDA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91587" y="4083893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28600" imgH="177480" progId="Equation.DSMT4">
                  <p:embed/>
                </p:oleObj>
              </mc:Choice>
              <mc:Fallback>
                <p:oleObj name="Equation" r:id="rId28" imgW="228600" imgH="177480" progId="Equation.DSMT4">
                  <p:embed/>
                  <p:pic>
                    <p:nvPicPr>
                      <p:cNvPr id="51" name="Object 50">
                        <a:extLst>
                          <a:ext uri="{FF2B5EF4-FFF2-40B4-BE49-F238E27FC236}">
                            <a16:creationId xmlns:a16="http://schemas.microsoft.com/office/drawing/2014/main" id="{0A2CB47A-74EE-6275-FEA8-88528BEEDA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1587" y="4083893"/>
                        <a:ext cx="342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51">
            <a:extLst>
              <a:ext uri="{FF2B5EF4-FFF2-40B4-BE49-F238E27FC236}">
                <a16:creationId xmlns:a16="http://schemas.microsoft.com/office/drawing/2014/main" id="{4188B604-18D5-92B1-DA9D-BB8063626E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9024" y="4226220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28600" imgH="177480" progId="Equation.DSMT4">
                  <p:embed/>
                </p:oleObj>
              </mc:Choice>
              <mc:Fallback>
                <p:oleObj name="Equation" r:id="rId30" imgW="228600" imgH="177480" progId="Equation.DSMT4">
                  <p:embed/>
                  <p:pic>
                    <p:nvPicPr>
                      <p:cNvPr id="52" name="Object 51">
                        <a:extLst>
                          <a:ext uri="{FF2B5EF4-FFF2-40B4-BE49-F238E27FC236}">
                            <a16:creationId xmlns:a16="http://schemas.microsoft.com/office/drawing/2014/main" id="{4188B604-18D5-92B1-DA9D-BB8063626E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9024" y="4226220"/>
                        <a:ext cx="342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52">
            <a:extLst>
              <a:ext uri="{FF2B5EF4-FFF2-40B4-BE49-F238E27FC236}">
                <a16:creationId xmlns:a16="http://schemas.microsoft.com/office/drawing/2014/main" id="{67D2C758-C0A9-ED96-2526-99614420EE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21866" y="3143278"/>
          <a:ext cx="3238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15640" imgH="177480" progId="Equation.DSMT4">
                  <p:embed/>
                </p:oleObj>
              </mc:Choice>
              <mc:Fallback>
                <p:oleObj name="Equation" r:id="rId32" imgW="215640" imgH="177480" progId="Equation.DSMT4">
                  <p:embed/>
                  <p:pic>
                    <p:nvPicPr>
                      <p:cNvPr id="53" name="Object 52">
                        <a:extLst>
                          <a:ext uri="{FF2B5EF4-FFF2-40B4-BE49-F238E27FC236}">
                            <a16:creationId xmlns:a16="http://schemas.microsoft.com/office/drawing/2014/main" id="{67D2C758-C0A9-ED96-2526-99614420EE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866" y="3143278"/>
                        <a:ext cx="3238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53">
            <a:extLst>
              <a:ext uri="{FF2B5EF4-FFF2-40B4-BE49-F238E27FC236}">
                <a16:creationId xmlns:a16="http://schemas.microsoft.com/office/drawing/2014/main" id="{2AABE7FC-8944-92D6-C755-CD4735C334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91753" y="2483560"/>
          <a:ext cx="4381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91960" imgH="177480" progId="Equation.DSMT4">
                  <p:embed/>
                </p:oleObj>
              </mc:Choice>
              <mc:Fallback>
                <p:oleObj name="Equation" r:id="rId34" imgW="291960" imgH="177480" progId="Equation.DSMT4">
                  <p:embed/>
                  <p:pic>
                    <p:nvPicPr>
                      <p:cNvPr id="54" name="Object 53">
                        <a:extLst>
                          <a:ext uri="{FF2B5EF4-FFF2-40B4-BE49-F238E27FC236}">
                            <a16:creationId xmlns:a16="http://schemas.microsoft.com/office/drawing/2014/main" id="{2AABE7FC-8944-92D6-C755-CD4735C334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1753" y="2483560"/>
                        <a:ext cx="4381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54">
            <a:extLst>
              <a:ext uri="{FF2B5EF4-FFF2-40B4-BE49-F238E27FC236}">
                <a16:creationId xmlns:a16="http://schemas.microsoft.com/office/drawing/2014/main" id="{E578799C-4CC0-C8EB-A204-5D5D25ADB8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64143" y="3504640"/>
          <a:ext cx="4381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291960" imgH="177480" progId="Equation.DSMT4">
                  <p:embed/>
                </p:oleObj>
              </mc:Choice>
              <mc:Fallback>
                <p:oleObj name="Equation" r:id="rId36" imgW="291960" imgH="177480" progId="Equation.DSMT4">
                  <p:embed/>
                  <p:pic>
                    <p:nvPicPr>
                      <p:cNvPr id="55" name="Object 54">
                        <a:extLst>
                          <a:ext uri="{FF2B5EF4-FFF2-40B4-BE49-F238E27FC236}">
                            <a16:creationId xmlns:a16="http://schemas.microsoft.com/office/drawing/2014/main" id="{E578799C-4CC0-C8EB-A204-5D5D25ADB8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4143" y="3504640"/>
                        <a:ext cx="4381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55">
            <a:extLst>
              <a:ext uri="{FF2B5EF4-FFF2-40B4-BE49-F238E27FC236}">
                <a16:creationId xmlns:a16="http://schemas.microsoft.com/office/drawing/2014/main" id="{3C1958D8-EE11-CBEB-825D-B1336493BD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7158" y="4629178"/>
          <a:ext cx="4381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291960" imgH="177480" progId="Equation.DSMT4">
                  <p:embed/>
                </p:oleObj>
              </mc:Choice>
              <mc:Fallback>
                <p:oleObj name="Equation" r:id="rId38" imgW="291960" imgH="177480" progId="Equation.DSMT4">
                  <p:embed/>
                  <p:pic>
                    <p:nvPicPr>
                      <p:cNvPr id="56" name="Object 55">
                        <a:extLst>
                          <a:ext uri="{FF2B5EF4-FFF2-40B4-BE49-F238E27FC236}">
                            <a16:creationId xmlns:a16="http://schemas.microsoft.com/office/drawing/2014/main" id="{3C1958D8-EE11-CBEB-825D-B1336493BD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7158" y="4629178"/>
                        <a:ext cx="4381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14A10703-8CD0-0179-F8BE-2CAB1A773E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76091" y="4632353"/>
          <a:ext cx="4762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317160" imgH="177480" progId="Equation.DSMT4">
                  <p:embed/>
                </p:oleObj>
              </mc:Choice>
              <mc:Fallback>
                <p:oleObj name="Equation" r:id="rId40" imgW="317160" imgH="177480" progId="Equation.DSMT4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14A10703-8CD0-0179-F8BE-2CAB1A773E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6091" y="4632353"/>
                        <a:ext cx="4762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57">
            <a:extLst>
              <a:ext uri="{FF2B5EF4-FFF2-40B4-BE49-F238E27FC236}">
                <a16:creationId xmlns:a16="http://schemas.microsoft.com/office/drawing/2014/main" id="{8979EDEA-8EE1-A948-3522-B89D4DAD1B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9841" y="4229128"/>
          <a:ext cx="4381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291960" imgH="177480" progId="Equation.DSMT4">
                  <p:embed/>
                </p:oleObj>
              </mc:Choice>
              <mc:Fallback>
                <p:oleObj name="Equation" r:id="rId42" imgW="291960" imgH="177480" progId="Equation.DSMT4">
                  <p:embed/>
                  <p:pic>
                    <p:nvPicPr>
                      <p:cNvPr id="58" name="Object 57">
                        <a:extLst>
                          <a:ext uri="{FF2B5EF4-FFF2-40B4-BE49-F238E27FC236}">
                            <a16:creationId xmlns:a16="http://schemas.microsoft.com/office/drawing/2014/main" id="{8979EDEA-8EE1-A948-3522-B89D4DAD1B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9841" y="4229128"/>
                        <a:ext cx="4381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58">
            <a:extLst>
              <a:ext uri="{FF2B5EF4-FFF2-40B4-BE49-F238E27FC236}">
                <a16:creationId xmlns:a16="http://schemas.microsoft.com/office/drawing/2014/main" id="{BFF1B008-A0E7-16DF-4EB2-A5962FCD28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0703" y="3507497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228600" imgH="177480" progId="Equation.DSMT4">
                  <p:embed/>
                </p:oleObj>
              </mc:Choice>
              <mc:Fallback>
                <p:oleObj name="Equation" r:id="rId44" imgW="228600" imgH="177480" progId="Equation.DSMT4">
                  <p:embed/>
                  <p:pic>
                    <p:nvPicPr>
                      <p:cNvPr id="59" name="Object 58">
                        <a:extLst>
                          <a:ext uri="{FF2B5EF4-FFF2-40B4-BE49-F238E27FC236}">
                            <a16:creationId xmlns:a16="http://schemas.microsoft.com/office/drawing/2014/main" id="{BFF1B008-A0E7-16DF-4EB2-A5962FCD28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0703" y="3507497"/>
                        <a:ext cx="342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59">
            <a:extLst>
              <a:ext uri="{FF2B5EF4-FFF2-40B4-BE49-F238E27FC236}">
                <a16:creationId xmlns:a16="http://schemas.microsoft.com/office/drawing/2014/main" id="{03B5E22A-75A8-E2BF-E84C-2CFFA5B9B0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3491" y="3146453"/>
          <a:ext cx="4572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304560" imgH="177480" progId="Equation.DSMT4">
                  <p:embed/>
                </p:oleObj>
              </mc:Choice>
              <mc:Fallback>
                <p:oleObj name="Equation" r:id="rId46" imgW="304560" imgH="177480" progId="Equation.DSMT4">
                  <p:embed/>
                  <p:pic>
                    <p:nvPicPr>
                      <p:cNvPr id="60" name="Object 59">
                        <a:extLst>
                          <a:ext uri="{FF2B5EF4-FFF2-40B4-BE49-F238E27FC236}">
                            <a16:creationId xmlns:a16="http://schemas.microsoft.com/office/drawing/2014/main" id="{03B5E22A-75A8-E2BF-E84C-2CFFA5B9B0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3491" y="3146453"/>
                        <a:ext cx="4572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92FB5754-7109-F5A1-B7D2-3530E011F8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30053" y="2487370"/>
          <a:ext cx="4381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291960" imgH="177480" progId="Equation.DSMT4">
                  <p:embed/>
                </p:oleObj>
              </mc:Choice>
              <mc:Fallback>
                <p:oleObj name="Equation" r:id="rId48" imgW="291960" imgH="177480" progId="Equation.DSMT4">
                  <p:embed/>
                  <p:pic>
                    <p:nvPicPr>
                      <p:cNvPr id="61" name="Object 60">
                        <a:extLst>
                          <a:ext uri="{FF2B5EF4-FFF2-40B4-BE49-F238E27FC236}">
                            <a16:creationId xmlns:a16="http://schemas.microsoft.com/office/drawing/2014/main" id="{92FB5754-7109-F5A1-B7D2-3530E011F8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0053" y="2487370"/>
                        <a:ext cx="4381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61">
            <a:extLst>
              <a:ext uri="{FF2B5EF4-FFF2-40B4-BE49-F238E27FC236}">
                <a16:creationId xmlns:a16="http://schemas.microsoft.com/office/drawing/2014/main" id="{4EF9BA24-EBAE-330F-FBCD-89072B0AE9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69001" y="4132926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0" imgW="228600" imgH="177480" progId="Equation.DSMT4">
                  <p:embed/>
                </p:oleObj>
              </mc:Choice>
              <mc:Fallback>
                <p:oleObj name="Equation" r:id="rId50" imgW="228600" imgH="177480" progId="Equation.DSMT4">
                  <p:embed/>
                  <p:pic>
                    <p:nvPicPr>
                      <p:cNvPr id="62" name="Object 61">
                        <a:extLst>
                          <a:ext uri="{FF2B5EF4-FFF2-40B4-BE49-F238E27FC236}">
                            <a16:creationId xmlns:a16="http://schemas.microsoft.com/office/drawing/2014/main" id="{4EF9BA24-EBAE-330F-FBCD-89072B0AE9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9001" y="4132926"/>
                        <a:ext cx="342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62">
            <a:extLst>
              <a:ext uri="{FF2B5EF4-FFF2-40B4-BE49-F238E27FC236}">
                <a16:creationId xmlns:a16="http://schemas.microsoft.com/office/drawing/2014/main" id="{A84A0007-8408-5069-DF34-E0BDD38E81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41316" y="4221191"/>
          <a:ext cx="3619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2" imgW="241200" imgH="177480" progId="Equation.DSMT4">
                  <p:embed/>
                </p:oleObj>
              </mc:Choice>
              <mc:Fallback>
                <p:oleObj name="Equation" r:id="rId52" imgW="241200" imgH="177480" progId="Equation.DSMT4">
                  <p:embed/>
                  <p:pic>
                    <p:nvPicPr>
                      <p:cNvPr id="63" name="Object 62">
                        <a:extLst>
                          <a:ext uri="{FF2B5EF4-FFF2-40B4-BE49-F238E27FC236}">
                            <a16:creationId xmlns:a16="http://schemas.microsoft.com/office/drawing/2014/main" id="{A84A0007-8408-5069-DF34-E0BDD38E81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1316" y="4221191"/>
                        <a:ext cx="3619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63">
            <a:extLst>
              <a:ext uri="{FF2B5EF4-FFF2-40B4-BE49-F238E27FC236}">
                <a16:creationId xmlns:a16="http://schemas.microsoft.com/office/drawing/2014/main" id="{4BB445FB-3884-DFB8-E7AB-746B04CCDE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4078" y="3557616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4" imgW="228600" imgH="177480" progId="Equation.DSMT4">
                  <p:embed/>
                </p:oleObj>
              </mc:Choice>
              <mc:Fallback>
                <p:oleObj name="Equation" r:id="rId54" imgW="228600" imgH="177480" progId="Equation.DSMT4">
                  <p:embed/>
                  <p:pic>
                    <p:nvPicPr>
                      <p:cNvPr id="64" name="Object 63">
                        <a:extLst>
                          <a:ext uri="{FF2B5EF4-FFF2-40B4-BE49-F238E27FC236}">
                            <a16:creationId xmlns:a16="http://schemas.microsoft.com/office/drawing/2014/main" id="{4BB445FB-3884-DFB8-E7AB-746B04CCDE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4078" y="3557616"/>
                        <a:ext cx="342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64">
            <a:extLst>
              <a:ext uri="{FF2B5EF4-FFF2-40B4-BE49-F238E27FC236}">
                <a16:creationId xmlns:a16="http://schemas.microsoft.com/office/drawing/2014/main" id="{AA99AEC1-7475-E4B6-08C3-684A02D72B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54016" y="3138516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6" imgW="228600" imgH="177480" progId="Equation.DSMT4">
                  <p:embed/>
                </p:oleObj>
              </mc:Choice>
              <mc:Fallback>
                <p:oleObj name="Equation" r:id="rId56" imgW="228600" imgH="177480" progId="Equation.DSMT4">
                  <p:embed/>
                  <p:pic>
                    <p:nvPicPr>
                      <p:cNvPr id="65" name="Object 64">
                        <a:extLst>
                          <a:ext uri="{FF2B5EF4-FFF2-40B4-BE49-F238E27FC236}">
                            <a16:creationId xmlns:a16="http://schemas.microsoft.com/office/drawing/2014/main" id="{AA99AEC1-7475-E4B6-08C3-684A02D72B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4016" y="3138516"/>
                        <a:ext cx="342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65">
            <a:extLst>
              <a:ext uri="{FF2B5EF4-FFF2-40B4-BE49-F238E27FC236}">
                <a16:creationId xmlns:a16="http://schemas.microsoft.com/office/drawing/2014/main" id="{46E72096-0274-AB49-7A59-9B81B03D5A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20753" y="2890866"/>
          <a:ext cx="3619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8" imgW="241200" imgH="177480" progId="Equation.DSMT4">
                  <p:embed/>
                </p:oleObj>
              </mc:Choice>
              <mc:Fallback>
                <p:oleObj name="Equation" r:id="rId58" imgW="241200" imgH="177480" progId="Equation.DSMT4">
                  <p:embed/>
                  <p:pic>
                    <p:nvPicPr>
                      <p:cNvPr id="66" name="Object 65">
                        <a:extLst>
                          <a:ext uri="{FF2B5EF4-FFF2-40B4-BE49-F238E27FC236}">
                            <a16:creationId xmlns:a16="http://schemas.microsoft.com/office/drawing/2014/main" id="{46E72096-0274-AB49-7A59-9B81B03D5A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0753" y="2890866"/>
                        <a:ext cx="3619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4917523-8F32-6E3A-E8B6-393FAEFC5AFC}"/>
              </a:ext>
            </a:extLst>
          </p:cNvPr>
          <p:cNvCxnSpPr/>
          <p:nvPr/>
        </p:nvCxnSpPr>
        <p:spPr bwMode="auto">
          <a:xfrm>
            <a:off x="2952031" y="3826536"/>
            <a:ext cx="1369831" cy="0"/>
          </a:xfrm>
          <a:prstGeom prst="straightConnector1">
            <a:avLst/>
          </a:prstGeom>
          <a:noFill/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315F754-EC26-9515-12A6-4AD5E4DCB7C1}"/>
              </a:ext>
            </a:extLst>
          </p:cNvPr>
          <p:cNvCxnSpPr/>
          <p:nvPr/>
        </p:nvCxnSpPr>
        <p:spPr bwMode="auto">
          <a:xfrm>
            <a:off x="4599373" y="3833796"/>
            <a:ext cx="1369831" cy="0"/>
          </a:xfrm>
          <a:prstGeom prst="straightConnector1">
            <a:avLst/>
          </a:prstGeom>
          <a:noFill/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94E154E8-3FA3-CFD7-4672-49E26EECD368}"/>
              </a:ext>
            </a:extLst>
          </p:cNvPr>
          <p:cNvSpPr/>
          <p:nvPr/>
        </p:nvSpPr>
        <p:spPr>
          <a:xfrm>
            <a:off x="2691294" y="3685566"/>
            <a:ext cx="266700" cy="266700"/>
          </a:xfrm>
          <a:prstGeom prst="ellipse">
            <a:avLst/>
          </a:prstGeom>
          <a:ln w="571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70349C75-BD0D-70EE-77AE-CF1CA9FFC85E}"/>
              </a:ext>
            </a:extLst>
          </p:cNvPr>
          <p:cNvSpPr/>
          <p:nvPr/>
        </p:nvSpPr>
        <p:spPr>
          <a:xfrm>
            <a:off x="4324122" y="3692826"/>
            <a:ext cx="266700" cy="266700"/>
          </a:xfrm>
          <a:prstGeom prst="ellipse">
            <a:avLst/>
          </a:prstGeom>
          <a:ln w="571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3BDE3112-2BAC-3D09-B186-1F1103EE9944}"/>
              </a:ext>
            </a:extLst>
          </p:cNvPr>
          <p:cNvSpPr/>
          <p:nvPr/>
        </p:nvSpPr>
        <p:spPr>
          <a:xfrm>
            <a:off x="5956950" y="3700086"/>
            <a:ext cx="266700" cy="266700"/>
          </a:xfrm>
          <a:prstGeom prst="ellipse">
            <a:avLst/>
          </a:prstGeom>
          <a:ln w="571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graphicFrame>
        <p:nvGraphicFramePr>
          <p:cNvPr id="73" name="Object 72">
            <a:extLst>
              <a:ext uri="{FF2B5EF4-FFF2-40B4-BE49-F238E27FC236}">
                <a16:creationId xmlns:a16="http://schemas.microsoft.com/office/drawing/2014/main" id="{870903CA-D94E-6674-FFB4-9D27FEC22C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3810" y="5365073"/>
          <a:ext cx="951593" cy="55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0" imgW="393480" imgH="228600" progId="Equation.DSMT4">
                  <p:embed/>
                </p:oleObj>
              </mc:Choice>
              <mc:Fallback>
                <p:oleObj name="Equation" r:id="rId60" imgW="393480" imgH="228600" progId="Equation.DSMT4">
                  <p:embed/>
                  <p:pic>
                    <p:nvPicPr>
                      <p:cNvPr id="73" name="Object 72">
                        <a:extLst>
                          <a:ext uri="{FF2B5EF4-FFF2-40B4-BE49-F238E27FC236}">
                            <a16:creationId xmlns:a16="http://schemas.microsoft.com/office/drawing/2014/main" id="{870903CA-D94E-6674-FFB4-9D27FEC22C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3413810" y="5365073"/>
                        <a:ext cx="951593" cy="552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73">
            <a:extLst>
              <a:ext uri="{FF2B5EF4-FFF2-40B4-BE49-F238E27FC236}">
                <a16:creationId xmlns:a16="http://schemas.microsoft.com/office/drawing/2014/main" id="{59FD0DA7-0769-8C93-C6C4-AAECA701F1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7689" y="5373010"/>
          <a:ext cx="19939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2" imgW="825480" imgH="228600" progId="Equation.DSMT4">
                  <p:embed/>
                </p:oleObj>
              </mc:Choice>
              <mc:Fallback>
                <p:oleObj name="Equation" r:id="rId62" imgW="825480" imgH="228600" progId="Equation.DSMT4">
                  <p:embed/>
                  <p:pic>
                    <p:nvPicPr>
                      <p:cNvPr id="74" name="Object 73">
                        <a:extLst>
                          <a:ext uri="{FF2B5EF4-FFF2-40B4-BE49-F238E27FC236}">
                            <a16:creationId xmlns:a16="http://schemas.microsoft.com/office/drawing/2014/main" id="{59FD0DA7-0769-8C93-C6C4-AAECA701F1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7689" y="5373010"/>
                        <a:ext cx="1993900" cy="5524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C8DC6F-3139-9A31-3E23-9920B4DC59A0}"/>
                  </a:ext>
                </a:extLst>
              </p:cNvPr>
              <p:cNvSpPr txBox="1"/>
              <p:nvPr/>
            </p:nvSpPr>
            <p:spPr>
              <a:xfrm>
                <a:off x="1895475" y="6000750"/>
                <a:ext cx="682045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Raleway" pitchFamily="2" charset="0"/>
                  </a:rPr>
                  <a:t>The set of travel times are fixed, so they are stored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C8DC6F-3139-9A31-3E23-9920B4DC5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475" y="6000750"/>
                <a:ext cx="6820457" cy="400110"/>
              </a:xfrm>
              <a:prstGeom prst="rect">
                <a:avLst/>
              </a:prstGeom>
              <a:blipFill>
                <a:blip r:embed="rId64"/>
                <a:stretch>
                  <a:fillRect l="-983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98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0" grpId="0" animBg="1"/>
      <p:bldP spid="71" grpId="0" animBg="1"/>
      <p:bldP spid="4" grpId="0"/>
    </p:bld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variables: Network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6360" indent="0">
              <a:buNone/>
            </a:pPr>
            <a:r>
              <a:rPr lang="en-US" dirty="0"/>
              <a:t>Illustrating state variables</a:t>
            </a:r>
          </a:p>
          <a:p>
            <a:pPr lvl="1"/>
            <a:r>
              <a:rPr lang="en-US" dirty="0"/>
              <a:t>A stochastic graph</a:t>
            </a:r>
          </a:p>
        </p:txBody>
      </p:sp>
      <p:sp>
        <p:nvSpPr>
          <p:cNvPr id="5" name="Oval 4"/>
          <p:cNvSpPr/>
          <p:nvPr/>
        </p:nvSpPr>
        <p:spPr>
          <a:xfrm>
            <a:off x="4322334" y="265650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326144" y="370044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4318524" y="475581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4592845" y="3833578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4592845" y="279181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>
            <a:off x="4573410" y="488916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4"/>
          </p:cNvCxnSpPr>
          <p:nvPr/>
        </p:nvCxnSpPr>
        <p:spPr bwMode="auto">
          <a:xfrm flipH="1">
            <a:off x="4448626" y="292320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/>
          <p:nvPr/>
        </p:nvCxnSpPr>
        <p:spPr bwMode="auto">
          <a:xfrm flipH="1">
            <a:off x="4441568" y="397857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3" name="Oval 12"/>
          <p:cNvSpPr/>
          <p:nvPr/>
        </p:nvSpPr>
        <p:spPr>
          <a:xfrm>
            <a:off x="5949204" y="264888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953014" y="369282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945394" y="474819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 bwMode="auto">
          <a:xfrm>
            <a:off x="6219715" y="3825958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>
            <a:off x="6208285" y="278419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6200280" y="488154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9" name="Straight Arrow Connector 18"/>
          <p:cNvCxnSpPr>
            <a:stCxn id="13" idx="4"/>
          </p:cNvCxnSpPr>
          <p:nvPr/>
        </p:nvCxnSpPr>
        <p:spPr bwMode="auto">
          <a:xfrm flipH="1">
            <a:off x="6075496" y="291558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 flipH="1">
            <a:off x="6068438" y="397095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21" name="Oval 20"/>
          <p:cNvSpPr/>
          <p:nvPr/>
        </p:nvSpPr>
        <p:spPr>
          <a:xfrm>
            <a:off x="7564644" y="265269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568454" y="369663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560834" y="475200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24" name="Straight Arrow Connector 23"/>
          <p:cNvCxnSpPr>
            <a:stCxn id="21" idx="4"/>
          </p:cNvCxnSpPr>
          <p:nvPr/>
        </p:nvCxnSpPr>
        <p:spPr bwMode="auto">
          <a:xfrm flipH="1">
            <a:off x="7690936" y="291939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5" name="Straight Arrow Connector 24"/>
          <p:cNvCxnSpPr/>
          <p:nvPr/>
        </p:nvCxnSpPr>
        <p:spPr bwMode="auto">
          <a:xfrm flipH="1">
            <a:off x="7683878" y="397476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45" name="Oval 44"/>
          <p:cNvSpPr/>
          <p:nvPr/>
        </p:nvSpPr>
        <p:spPr>
          <a:xfrm>
            <a:off x="2684034" y="369282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46" name="Straight Arrow Connector 45"/>
          <p:cNvCxnSpPr/>
          <p:nvPr/>
        </p:nvCxnSpPr>
        <p:spPr bwMode="auto">
          <a:xfrm>
            <a:off x="2944771" y="383379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grpSp>
        <p:nvGrpSpPr>
          <p:cNvPr id="27" name="Group 26"/>
          <p:cNvGrpSpPr/>
          <p:nvPr/>
        </p:nvGrpSpPr>
        <p:grpSpPr>
          <a:xfrm flipH="1">
            <a:off x="7794974" y="2876524"/>
            <a:ext cx="1677357" cy="2005017"/>
            <a:chOff x="851076" y="4306515"/>
            <a:chExt cx="1677357" cy="2005017"/>
          </a:xfrm>
        </p:grpSpPr>
        <p:sp>
          <p:nvSpPr>
            <p:cNvPr id="41" name="Oval 40"/>
            <p:cNvSpPr/>
            <p:nvPr/>
          </p:nvSpPr>
          <p:spPr>
            <a:xfrm>
              <a:off x="851076" y="5115192"/>
              <a:ext cx="266700" cy="266700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cxnSp>
          <p:nvCxnSpPr>
            <p:cNvPr id="42" name="Straight Arrow Connector 41"/>
            <p:cNvCxnSpPr/>
            <p:nvPr/>
          </p:nvCxnSpPr>
          <p:spPr bwMode="auto">
            <a:xfrm>
              <a:off x="1111812" y="5256162"/>
              <a:ext cx="1369831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</p:spPr>
        </p:cxnSp>
        <p:cxnSp>
          <p:nvCxnSpPr>
            <p:cNvPr id="43" name="Straight Arrow Connector 42"/>
            <p:cNvCxnSpPr>
              <a:stCxn id="41" idx="7"/>
            </p:cNvCxnSpPr>
            <p:nvPr/>
          </p:nvCxnSpPr>
          <p:spPr bwMode="auto">
            <a:xfrm flipV="1">
              <a:off x="1078719" y="4306515"/>
              <a:ext cx="1449714" cy="847734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</p:spPr>
        </p:cxnSp>
        <p:cxnSp>
          <p:nvCxnSpPr>
            <p:cNvPr id="44" name="Straight Arrow Connector 43"/>
            <p:cNvCxnSpPr>
              <a:stCxn id="41" idx="5"/>
            </p:cNvCxnSpPr>
            <p:nvPr/>
          </p:nvCxnSpPr>
          <p:spPr bwMode="auto">
            <a:xfrm>
              <a:off x="1078719" y="5342835"/>
              <a:ext cx="1406847" cy="968697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</p:spPr>
        </p:cxnSp>
      </p:grpSp>
      <p:graphicFrame>
        <p:nvGraphicFramePr>
          <p:cNvPr id="28" name="Object 27"/>
          <p:cNvGraphicFramePr>
            <a:graphicFrameLocks noChangeAspect="1"/>
          </p:cNvGraphicFramePr>
          <p:nvPr/>
        </p:nvGraphicFramePr>
        <p:xfrm>
          <a:off x="2750709" y="3692820"/>
          <a:ext cx="13335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560" imgH="164880" progId="Equation.DSMT4">
                  <p:embed/>
                </p:oleObj>
              </mc:Choice>
              <mc:Fallback>
                <p:oleObj name="Equation" r:id="rId2" imgW="88560" imgH="164880" progId="Equation.DSMT4">
                  <p:embed/>
                  <p:pic>
                    <p:nvPicPr>
                      <p:cNvPr id="2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0709" y="3692820"/>
                        <a:ext cx="133350" cy="24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oup 28"/>
          <p:cNvGrpSpPr/>
          <p:nvPr/>
        </p:nvGrpSpPr>
        <p:grpSpPr>
          <a:xfrm>
            <a:off x="4348828" y="2644804"/>
            <a:ext cx="209550" cy="2359025"/>
            <a:chOff x="2070100" y="4067175"/>
            <a:chExt cx="209550" cy="2359025"/>
          </a:xfrm>
        </p:grpSpPr>
        <p:graphicFrame>
          <p:nvGraphicFramePr>
            <p:cNvPr id="38" name="Object 37"/>
            <p:cNvGraphicFramePr>
              <a:graphicFrameLocks noChangeAspect="1"/>
            </p:cNvGraphicFramePr>
            <p:nvPr/>
          </p:nvGraphicFramePr>
          <p:xfrm>
            <a:off x="2070100" y="4067175"/>
            <a:ext cx="190500" cy="24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720" imgH="164880" progId="Equation.DSMT4">
                    <p:embed/>
                  </p:oleObj>
                </mc:Choice>
                <mc:Fallback>
                  <p:oleObj name="Equation" r:id="rId4" imgW="126720" imgH="164880" progId="Equation.DSMT4">
                    <p:embed/>
                    <p:pic>
                      <p:nvPicPr>
                        <p:cNvPr id="38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0100" y="4067175"/>
                          <a:ext cx="190500" cy="247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38"/>
            <p:cNvGraphicFramePr>
              <a:graphicFrameLocks noChangeAspect="1"/>
            </p:cNvGraphicFramePr>
            <p:nvPr/>
          </p:nvGraphicFramePr>
          <p:xfrm>
            <a:off x="2095500" y="5124450"/>
            <a:ext cx="17145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4120" imgH="177480" progId="Equation.DSMT4">
                    <p:embed/>
                  </p:oleObj>
                </mc:Choice>
                <mc:Fallback>
                  <p:oleObj name="Equation" r:id="rId6" imgW="114120" imgH="177480" progId="Equation.DSMT4">
                    <p:embed/>
                    <p:pic>
                      <p:nvPicPr>
                        <p:cNvPr id="39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5500" y="5124450"/>
                          <a:ext cx="17145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39"/>
            <p:cNvGraphicFramePr>
              <a:graphicFrameLocks noChangeAspect="1"/>
            </p:cNvGraphicFramePr>
            <p:nvPr/>
          </p:nvGraphicFramePr>
          <p:xfrm>
            <a:off x="2089150" y="6178550"/>
            <a:ext cx="190500" cy="24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6720" imgH="164880" progId="Equation.DSMT4">
                    <p:embed/>
                  </p:oleObj>
                </mc:Choice>
                <mc:Fallback>
                  <p:oleObj name="Equation" r:id="rId8" imgW="126720" imgH="164880" progId="Equation.DSMT4">
                    <p:embed/>
                    <p:pic>
                      <p:nvPicPr>
                        <p:cNvPr id="4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9150" y="6178550"/>
                          <a:ext cx="190500" cy="247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Group 29"/>
          <p:cNvGrpSpPr/>
          <p:nvPr/>
        </p:nvGrpSpPr>
        <p:grpSpPr>
          <a:xfrm>
            <a:off x="5991574" y="2651154"/>
            <a:ext cx="205105" cy="2378075"/>
            <a:chOff x="3712845" y="4073525"/>
            <a:chExt cx="205105" cy="2378075"/>
          </a:xfrm>
        </p:grpSpPr>
        <p:graphicFrame>
          <p:nvGraphicFramePr>
            <p:cNvPr id="35" name="Object 34"/>
            <p:cNvGraphicFramePr>
              <a:graphicFrameLocks noChangeAspect="1"/>
            </p:cNvGraphicFramePr>
            <p:nvPr/>
          </p:nvGraphicFramePr>
          <p:xfrm>
            <a:off x="3717925" y="4073525"/>
            <a:ext cx="17145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14120" imgH="177480" progId="Equation.DSMT4">
                    <p:embed/>
                  </p:oleObj>
                </mc:Choice>
                <mc:Fallback>
                  <p:oleObj name="Equation" r:id="rId10" imgW="114120" imgH="177480" progId="Equation.DSMT4">
                    <p:embed/>
                    <p:pic>
                      <p:nvPicPr>
                        <p:cNvPr id="35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7925" y="4073525"/>
                          <a:ext cx="17145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35"/>
            <p:cNvGraphicFramePr>
              <a:graphicFrameLocks noChangeAspect="1"/>
            </p:cNvGraphicFramePr>
            <p:nvPr/>
          </p:nvGraphicFramePr>
          <p:xfrm>
            <a:off x="3712845" y="5128895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26720" imgH="177480" progId="Equation.DSMT4">
                    <p:embed/>
                  </p:oleObj>
                </mc:Choice>
                <mc:Fallback>
                  <p:oleObj name="Equation" r:id="rId12" imgW="126720" imgH="177480" progId="Equation.DSMT4">
                    <p:embed/>
                    <p:pic>
                      <p:nvPicPr>
                        <p:cNvPr id="36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2845" y="5128895"/>
                          <a:ext cx="1905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36"/>
            <p:cNvGraphicFramePr>
              <a:graphicFrameLocks noChangeAspect="1"/>
            </p:cNvGraphicFramePr>
            <p:nvPr/>
          </p:nvGraphicFramePr>
          <p:xfrm>
            <a:off x="3727450" y="6184900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26720" imgH="177480" progId="Equation.DSMT4">
                    <p:embed/>
                  </p:oleObj>
                </mc:Choice>
                <mc:Fallback>
                  <p:oleObj name="Equation" r:id="rId14" imgW="126720" imgH="177480" progId="Equation.DSMT4">
                    <p:embed/>
                    <p:pic>
                      <p:nvPicPr>
                        <p:cNvPr id="37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7450" y="6184900"/>
                          <a:ext cx="1905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" name="Object 30"/>
          <p:cNvGraphicFramePr>
            <a:graphicFrameLocks noChangeAspect="1"/>
          </p:cNvGraphicFramePr>
          <p:nvPr/>
        </p:nvGraphicFramePr>
        <p:xfrm>
          <a:off x="7612093" y="2643533"/>
          <a:ext cx="1714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4120" imgH="177480" progId="Equation.DSMT4">
                  <p:embed/>
                </p:oleObj>
              </mc:Choice>
              <mc:Fallback>
                <p:oleObj name="Equation" r:id="rId16" imgW="114120" imgH="177480" progId="Equation.DSMT4">
                  <p:embed/>
                  <p:pic>
                    <p:nvPicPr>
                      <p:cNvPr id="31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2093" y="2643533"/>
                        <a:ext cx="1714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/>
          <p:cNvGraphicFramePr>
            <a:graphicFrameLocks noChangeAspect="1"/>
          </p:cNvGraphicFramePr>
          <p:nvPr/>
        </p:nvGraphicFramePr>
        <p:xfrm>
          <a:off x="7628603" y="3710016"/>
          <a:ext cx="1714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4120" imgH="177480" progId="Equation.DSMT4">
                  <p:embed/>
                </p:oleObj>
              </mc:Choice>
              <mc:Fallback>
                <p:oleObj name="Equation" r:id="rId18" imgW="114120" imgH="177480" progId="Equation.DSMT4">
                  <p:embed/>
                  <p:pic>
                    <p:nvPicPr>
                      <p:cNvPr id="32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8603" y="3710016"/>
                        <a:ext cx="1714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2"/>
          <p:cNvGraphicFramePr>
            <a:graphicFrameLocks noChangeAspect="1"/>
          </p:cNvGraphicFramePr>
          <p:nvPr/>
        </p:nvGraphicFramePr>
        <p:xfrm>
          <a:off x="7549863" y="4754591"/>
          <a:ext cx="2667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7480" imgH="177480" progId="Equation.DSMT4">
                  <p:embed/>
                </p:oleObj>
              </mc:Choice>
              <mc:Fallback>
                <p:oleObj name="Equation" r:id="rId20" imgW="177480" imgH="177480" progId="Equation.DSMT4">
                  <p:embed/>
                  <p:pic>
                    <p:nvPicPr>
                      <p:cNvPr id="33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9863" y="4754591"/>
                        <a:ext cx="2667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3"/>
          <p:cNvGraphicFramePr>
            <a:graphicFrameLocks noChangeAspect="1"/>
          </p:cNvGraphicFramePr>
          <p:nvPr/>
        </p:nvGraphicFramePr>
        <p:xfrm>
          <a:off x="9224041" y="3685251"/>
          <a:ext cx="24765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4880" imgH="164880" progId="Equation.DSMT4">
                  <p:embed/>
                </p:oleObj>
              </mc:Choice>
              <mc:Fallback>
                <p:oleObj name="Equation" r:id="rId22" imgW="164880" imgH="164880" progId="Equation.DSMT4">
                  <p:embed/>
                  <p:pic>
                    <p:nvPicPr>
                      <p:cNvPr id="34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4041" y="3685251"/>
                        <a:ext cx="247650" cy="24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51"/>
          <p:cNvGraphicFramePr>
            <a:graphicFrameLocks noChangeAspect="1"/>
          </p:cNvGraphicFramePr>
          <p:nvPr/>
        </p:nvGraphicFramePr>
        <p:xfrm>
          <a:off x="4509024" y="4226220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28600" imgH="177480" progId="Equation.DSMT4">
                  <p:embed/>
                </p:oleObj>
              </mc:Choice>
              <mc:Fallback>
                <p:oleObj name="Equation" r:id="rId24" imgW="228600" imgH="177480" progId="Equation.DSMT4">
                  <p:embed/>
                  <p:pic>
                    <p:nvPicPr>
                      <p:cNvPr id="52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9024" y="4226220"/>
                        <a:ext cx="342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52"/>
          <p:cNvGraphicFramePr>
            <a:graphicFrameLocks noChangeAspect="1"/>
          </p:cNvGraphicFramePr>
          <p:nvPr/>
        </p:nvGraphicFramePr>
        <p:xfrm>
          <a:off x="4521866" y="3143278"/>
          <a:ext cx="3238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15640" imgH="177480" progId="Equation.DSMT4">
                  <p:embed/>
                </p:oleObj>
              </mc:Choice>
              <mc:Fallback>
                <p:oleObj name="Equation" r:id="rId26" imgW="215640" imgH="177480" progId="Equation.DSMT4">
                  <p:embed/>
                  <p:pic>
                    <p:nvPicPr>
                      <p:cNvPr id="53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866" y="3143278"/>
                        <a:ext cx="3238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57"/>
          <p:cNvGraphicFramePr>
            <a:graphicFrameLocks noChangeAspect="1"/>
          </p:cNvGraphicFramePr>
          <p:nvPr/>
        </p:nvGraphicFramePr>
        <p:xfrm>
          <a:off x="6099841" y="4229128"/>
          <a:ext cx="4381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91960" imgH="177480" progId="Equation.DSMT4">
                  <p:embed/>
                </p:oleObj>
              </mc:Choice>
              <mc:Fallback>
                <p:oleObj name="Equation" r:id="rId28" imgW="291960" imgH="177480" progId="Equation.DSMT4">
                  <p:embed/>
                  <p:pic>
                    <p:nvPicPr>
                      <p:cNvPr id="58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9841" y="4229128"/>
                        <a:ext cx="4381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58"/>
          <p:cNvGraphicFramePr>
            <a:graphicFrameLocks noChangeAspect="1"/>
          </p:cNvGraphicFramePr>
          <p:nvPr/>
        </p:nvGraphicFramePr>
        <p:xfrm>
          <a:off x="6650703" y="3565553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28600" imgH="177480" progId="Equation.DSMT4">
                  <p:embed/>
                </p:oleObj>
              </mc:Choice>
              <mc:Fallback>
                <p:oleObj name="Equation" r:id="rId30" imgW="228600" imgH="177480" progId="Equation.DSMT4">
                  <p:embed/>
                  <p:pic>
                    <p:nvPicPr>
                      <p:cNvPr id="59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0703" y="3565553"/>
                        <a:ext cx="342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59"/>
          <p:cNvGraphicFramePr>
            <a:graphicFrameLocks noChangeAspect="1"/>
          </p:cNvGraphicFramePr>
          <p:nvPr/>
        </p:nvGraphicFramePr>
        <p:xfrm>
          <a:off x="6093491" y="3146453"/>
          <a:ext cx="4572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304560" imgH="177480" progId="Equation.DSMT4">
                  <p:embed/>
                </p:oleObj>
              </mc:Choice>
              <mc:Fallback>
                <p:oleObj name="Equation" r:id="rId32" imgW="304560" imgH="177480" progId="Equation.DSMT4">
                  <p:embed/>
                  <p:pic>
                    <p:nvPicPr>
                      <p:cNvPr id="6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3491" y="3146453"/>
                        <a:ext cx="4572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7" name="Straight Arrow Connector 66"/>
          <p:cNvCxnSpPr/>
          <p:nvPr/>
        </p:nvCxnSpPr>
        <p:spPr bwMode="auto">
          <a:xfrm>
            <a:off x="2952031" y="3826536"/>
            <a:ext cx="1369831" cy="0"/>
          </a:xfrm>
          <a:prstGeom prst="straightConnector1">
            <a:avLst/>
          </a:prstGeom>
          <a:noFill/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69" name="Oval 68"/>
          <p:cNvSpPr/>
          <p:nvPr/>
        </p:nvSpPr>
        <p:spPr>
          <a:xfrm>
            <a:off x="2691294" y="3685566"/>
            <a:ext cx="266700" cy="266700"/>
          </a:xfrm>
          <a:prstGeom prst="ellipse">
            <a:avLst/>
          </a:prstGeom>
          <a:ln w="571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4324122" y="3692826"/>
            <a:ext cx="266700" cy="266700"/>
          </a:xfrm>
          <a:prstGeom prst="ellipse">
            <a:avLst/>
          </a:prstGeom>
          <a:ln w="571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grpSp>
        <p:nvGrpSpPr>
          <p:cNvPr id="81" name="Group 80"/>
          <p:cNvGrpSpPr/>
          <p:nvPr/>
        </p:nvGrpSpPr>
        <p:grpSpPr>
          <a:xfrm>
            <a:off x="6537532" y="2458669"/>
            <a:ext cx="695325" cy="257175"/>
            <a:chOff x="7081838" y="2527956"/>
            <a:chExt cx="1766887" cy="439082"/>
          </a:xfrm>
        </p:grpSpPr>
        <p:cxnSp>
          <p:nvCxnSpPr>
            <p:cNvPr id="26" name="Straight Connector 25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8" name="Freeform 77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80" name="Freeform 79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83" name="Group 82"/>
          <p:cNvGrpSpPr/>
          <p:nvPr/>
        </p:nvGrpSpPr>
        <p:grpSpPr>
          <a:xfrm rot="1714784">
            <a:off x="8235645" y="2946893"/>
            <a:ext cx="695325" cy="257175"/>
            <a:chOff x="7081838" y="2527956"/>
            <a:chExt cx="1766887" cy="439082"/>
          </a:xfrm>
        </p:grpSpPr>
        <p:cxnSp>
          <p:nvCxnSpPr>
            <p:cNvPr id="84" name="Straight Connector 83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5" name="Freeform 84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86" name="Freeform 85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87" name="Group 86"/>
          <p:cNvGrpSpPr/>
          <p:nvPr/>
        </p:nvGrpSpPr>
        <p:grpSpPr>
          <a:xfrm rot="19396710">
            <a:off x="8090538" y="4107252"/>
            <a:ext cx="695325" cy="257175"/>
            <a:chOff x="7081838" y="2527956"/>
            <a:chExt cx="1766887" cy="439082"/>
          </a:xfrm>
        </p:grpSpPr>
        <p:cxnSp>
          <p:nvCxnSpPr>
            <p:cNvPr id="88" name="Straight Connector 87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9" name="Freeform 88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90" name="Freeform 89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8119848" y="3484344"/>
            <a:ext cx="695325" cy="257175"/>
            <a:chOff x="7081838" y="2527956"/>
            <a:chExt cx="1766887" cy="439082"/>
          </a:xfrm>
        </p:grpSpPr>
        <p:cxnSp>
          <p:nvCxnSpPr>
            <p:cNvPr id="92" name="Straight Connector 91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3" name="Freeform 92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94" name="Freeform 93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6588334" y="4555945"/>
            <a:ext cx="695325" cy="257175"/>
            <a:chOff x="7081838" y="2527956"/>
            <a:chExt cx="1766887" cy="439082"/>
          </a:xfrm>
        </p:grpSpPr>
        <p:cxnSp>
          <p:nvCxnSpPr>
            <p:cNvPr id="96" name="Straight Connector 95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7" name="Freeform 96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98" name="Freeform 97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4861168" y="2451415"/>
            <a:ext cx="695325" cy="257175"/>
            <a:chOff x="7081838" y="2527956"/>
            <a:chExt cx="1766887" cy="439082"/>
          </a:xfrm>
        </p:grpSpPr>
        <p:cxnSp>
          <p:nvCxnSpPr>
            <p:cNvPr id="100" name="Straight Connector 99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1" name="Freeform 100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102" name="Freeform 101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4911970" y="4548691"/>
            <a:ext cx="695325" cy="257175"/>
            <a:chOff x="7081838" y="2527956"/>
            <a:chExt cx="1766887" cy="439082"/>
          </a:xfrm>
        </p:grpSpPr>
        <p:cxnSp>
          <p:nvCxnSpPr>
            <p:cNvPr id="104" name="Straight Connector 103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5" name="Freeform 104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106" name="Freeform 105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aphicFrame>
        <p:nvGraphicFramePr>
          <p:cNvPr id="82" name="Object 81"/>
          <p:cNvGraphicFramePr>
            <a:graphicFrameLocks noChangeAspect="1"/>
          </p:cNvGraphicFramePr>
          <p:nvPr/>
        </p:nvGraphicFramePr>
        <p:xfrm>
          <a:off x="3368675" y="2900363"/>
          <a:ext cx="4381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91960" imgH="177480" progId="Equation.DSMT4">
                  <p:embed/>
                </p:oleObj>
              </mc:Choice>
              <mc:Fallback>
                <p:oleObj name="Equation" r:id="rId34" imgW="291960" imgH="177480" progId="Equation.DSMT4">
                  <p:embed/>
                  <p:pic>
                    <p:nvPicPr>
                      <p:cNvPr id="82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8675" y="2900363"/>
                        <a:ext cx="4381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106"/>
          <p:cNvGraphicFramePr>
            <a:graphicFrameLocks noChangeAspect="1"/>
          </p:cNvGraphicFramePr>
          <p:nvPr/>
        </p:nvGraphicFramePr>
        <p:xfrm>
          <a:off x="3451225" y="3525838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228600" imgH="177480" progId="Equation.DSMT4">
                  <p:embed/>
                </p:oleObj>
              </mc:Choice>
              <mc:Fallback>
                <p:oleObj name="Equation" r:id="rId36" imgW="228600" imgH="177480" progId="Equation.DSMT4">
                  <p:embed/>
                  <p:pic>
                    <p:nvPicPr>
                      <p:cNvPr id="107" name="Object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1225" y="3525838"/>
                        <a:ext cx="342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ct 107"/>
          <p:cNvGraphicFramePr>
            <a:graphicFrameLocks noChangeAspect="1"/>
          </p:cNvGraphicFramePr>
          <p:nvPr/>
        </p:nvGraphicFramePr>
        <p:xfrm>
          <a:off x="3590925" y="4084638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228600" imgH="177480" progId="Equation.DSMT4">
                  <p:embed/>
                </p:oleObj>
              </mc:Choice>
              <mc:Fallback>
                <p:oleObj name="Equation" r:id="rId38" imgW="228600" imgH="177480" progId="Equation.DSMT4">
                  <p:embed/>
                  <p:pic>
                    <p:nvPicPr>
                      <p:cNvPr id="108" name="Object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0925" y="4084638"/>
                        <a:ext cx="342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05566" name="Picture 30"/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78" y="3498846"/>
            <a:ext cx="7016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8" name="Picture 30"/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367155" y="3159496"/>
            <a:ext cx="58756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09" name="Object 108"/>
          <p:cNvGraphicFramePr>
            <a:graphicFrameLocks noChangeAspect="1"/>
          </p:cNvGraphicFramePr>
          <p:nvPr/>
        </p:nvGraphicFramePr>
        <p:xfrm>
          <a:off x="4964113" y="3505200"/>
          <a:ext cx="4381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291960" imgH="177480" progId="Equation.DSMT4">
                  <p:embed/>
                </p:oleObj>
              </mc:Choice>
              <mc:Fallback>
                <p:oleObj name="Equation" r:id="rId41" imgW="291960" imgH="177480" progId="Equation.DSMT4">
                  <p:embed/>
                  <p:pic>
                    <p:nvPicPr>
                      <p:cNvPr id="109" name="Object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4113" y="3505200"/>
                        <a:ext cx="4381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7" name="Picture 30"/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1584" y="3462564"/>
            <a:ext cx="7016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05568" name="Picture 32"/>
          <p:cNvPicPr>
            <a:picLocks noChangeAspect="1" noChangeArrowheads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3115">
            <a:off x="3387406" y="2902073"/>
            <a:ext cx="571500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6" name="Picture 30"/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394285" y="4215914"/>
            <a:ext cx="583512" cy="350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7" name="Picture 30"/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089051" y="3069550"/>
            <a:ext cx="587560" cy="467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8" name="Picture 30"/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078375" y="4163774"/>
            <a:ext cx="583512" cy="467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9" name="Picture 30"/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594062" y="3147944"/>
            <a:ext cx="58756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0" name="Picture 30"/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583386" y="4242168"/>
            <a:ext cx="58351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1" name="Picture 30"/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5834" y="3475264"/>
            <a:ext cx="7016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2" name="Picture 32"/>
          <p:cNvPicPr>
            <a:picLocks noChangeAspect="1" noChangeArrowheads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351994">
            <a:off x="3367138" y="4031060"/>
            <a:ext cx="647843" cy="509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14" name="Object 113"/>
          <p:cNvGraphicFramePr>
            <a:graphicFrameLocks noChangeAspect="1"/>
          </p:cNvGraphicFramePr>
          <p:nvPr/>
        </p:nvGraphicFramePr>
        <p:xfrm>
          <a:off x="3413823" y="5365073"/>
          <a:ext cx="95091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393480" imgH="228600" progId="Equation.DSMT4">
                  <p:embed/>
                </p:oleObj>
              </mc:Choice>
              <mc:Fallback>
                <p:oleObj name="Equation" r:id="rId44" imgW="393480" imgH="228600" progId="Equation.DSMT4">
                  <p:embed/>
                  <p:pic>
                    <p:nvPicPr>
                      <p:cNvPr id="114" name="Object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3823" y="5365073"/>
                        <a:ext cx="950912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3333094" y="2894819"/>
            <a:ext cx="701675" cy="1707546"/>
            <a:chOff x="1780065" y="2880305"/>
            <a:chExt cx="701675" cy="1707546"/>
          </a:xfrm>
        </p:grpSpPr>
        <p:pic>
          <p:nvPicPr>
            <p:cNvPr id="110" name="Picture 32"/>
            <p:cNvPicPr>
              <a:picLocks noChangeAspect="1" noChangeArrowheads="1"/>
            </p:cNvPicPr>
            <p:nvPr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3115">
              <a:off x="1841638" y="2880305"/>
              <a:ext cx="571500" cy="449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1" name="Picture 30"/>
            <p:cNvPicPr>
              <a:picLocks noChangeAspect="1" noChangeArrowheads="1"/>
            </p:cNvPicPr>
            <p:nvPr/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0065" y="3453496"/>
              <a:ext cx="70167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2" name="Picture 32"/>
            <p:cNvPicPr>
              <a:picLocks noChangeAspect="1" noChangeArrowheads="1"/>
            </p:cNvPicPr>
            <p:nvPr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4351994">
              <a:off x="1821369" y="4009292"/>
              <a:ext cx="647843" cy="509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47" name="Straight Arrow Connector 46"/>
          <p:cNvCxnSpPr/>
          <p:nvPr/>
        </p:nvCxnSpPr>
        <p:spPr bwMode="auto">
          <a:xfrm flipV="1">
            <a:off x="2911677" y="2884143"/>
            <a:ext cx="1449714" cy="847734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48" name="Straight Arrow Connector 47"/>
          <p:cNvCxnSpPr>
            <a:stCxn id="45" idx="5"/>
            <a:endCxn id="7" idx="2"/>
          </p:cNvCxnSpPr>
          <p:nvPr/>
        </p:nvCxnSpPr>
        <p:spPr bwMode="auto">
          <a:xfrm>
            <a:off x="2911678" y="3920464"/>
            <a:ext cx="1406847" cy="96869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759334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7055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5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0" grpId="0" animBg="1"/>
    </p:bld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variables: Network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6360" indent="0">
              <a:buNone/>
            </a:pPr>
            <a:r>
              <a:rPr lang="en-US" dirty="0"/>
              <a:t>Illustrating state variables</a:t>
            </a:r>
          </a:p>
          <a:p>
            <a:pPr lvl="1"/>
            <a:r>
              <a:rPr lang="en-US" dirty="0"/>
              <a:t>A stochastic graph</a:t>
            </a:r>
          </a:p>
        </p:txBody>
      </p:sp>
      <p:sp>
        <p:nvSpPr>
          <p:cNvPr id="5" name="Oval 4"/>
          <p:cNvSpPr/>
          <p:nvPr/>
        </p:nvSpPr>
        <p:spPr>
          <a:xfrm>
            <a:off x="4322334" y="265650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326144" y="370044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4318524" y="475581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4592845" y="3833578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4592845" y="279181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>
            <a:off x="4573410" y="488916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4"/>
          </p:cNvCxnSpPr>
          <p:nvPr/>
        </p:nvCxnSpPr>
        <p:spPr bwMode="auto">
          <a:xfrm flipH="1">
            <a:off x="4448626" y="292320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/>
          <p:nvPr/>
        </p:nvCxnSpPr>
        <p:spPr bwMode="auto">
          <a:xfrm flipH="1">
            <a:off x="4441568" y="397857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3" name="Oval 12"/>
          <p:cNvSpPr/>
          <p:nvPr/>
        </p:nvSpPr>
        <p:spPr>
          <a:xfrm>
            <a:off x="5949204" y="264888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953014" y="369282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945394" y="474819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 bwMode="auto">
          <a:xfrm>
            <a:off x="6219715" y="3825958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>
            <a:off x="6208285" y="278419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6200280" y="488154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9" name="Straight Arrow Connector 18"/>
          <p:cNvCxnSpPr>
            <a:stCxn id="13" idx="4"/>
          </p:cNvCxnSpPr>
          <p:nvPr/>
        </p:nvCxnSpPr>
        <p:spPr bwMode="auto">
          <a:xfrm flipH="1">
            <a:off x="6075496" y="291558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 flipH="1">
            <a:off x="6068438" y="397095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21" name="Oval 20"/>
          <p:cNvSpPr/>
          <p:nvPr/>
        </p:nvSpPr>
        <p:spPr>
          <a:xfrm>
            <a:off x="7564644" y="265269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568454" y="369663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560834" y="475200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24" name="Straight Arrow Connector 23"/>
          <p:cNvCxnSpPr>
            <a:stCxn id="21" idx="4"/>
          </p:cNvCxnSpPr>
          <p:nvPr/>
        </p:nvCxnSpPr>
        <p:spPr bwMode="auto">
          <a:xfrm flipH="1">
            <a:off x="7690936" y="291939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5" name="Straight Arrow Connector 24"/>
          <p:cNvCxnSpPr/>
          <p:nvPr/>
        </p:nvCxnSpPr>
        <p:spPr bwMode="auto">
          <a:xfrm flipH="1">
            <a:off x="7683878" y="397476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45" name="Oval 44"/>
          <p:cNvSpPr/>
          <p:nvPr/>
        </p:nvSpPr>
        <p:spPr>
          <a:xfrm>
            <a:off x="2684034" y="369282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46" name="Straight Arrow Connector 45"/>
          <p:cNvCxnSpPr/>
          <p:nvPr/>
        </p:nvCxnSpPr>
        <p:spPr bwMode="auto">
          <a:xfrm>
            <a:off x="2944771" y="383379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grpSp>
        <p:nvGrpSpPr>
          <p:cNvPr id="27" name="Group 26"/>
          <p:cNvGrpSpPr/>
          <p:nvPr/>
        </p:nvGrpSpPr>
        <p:grpSpPr>
          <a:xfrm flipH="1">
            <a:off x="7794974" y="2876524"/>
            <a:ext cx="1677357" cy="2005017"/>
            <a:chOff x="851076" y="4306515"/>
            <a:chExt cx="1677357" cy="2005017"/>
          </a:xfrm>
        </p:grpSpPr>
        <p:sp>
          <p:nvSpPr>
            <p:cNvPr id="41" name="Oval 40"/>
            <p:cNvSpPr/>
            <p:nvPr/>
          </p:nvSpPr>
          <p:spPr>
            <a:xfrm>
              <a:off x="851076" y="5115192"/>
              <a:ext cx="266700" cy="266700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cxnSp>
          <p:nvCxnSpPr>
            <p:cNvPr id="42" name="Straight Arrow Connector 41"/>
            <p:cNvCxnSpPr/>
            <p:nvPr/>
          </p:nvCxnSpPr>
          <p:spPr bwMode="auto">
            <a:xfrm>
              <a:off x="1111812" y="5256162"/>
              <a:ext cx="1369831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</p:spPr>
        </p:cxnSp>
        <p:cxnSp>
          <p:nvCxnSpPr>
            <p:cNvPr id="43" name="Straight Arrow Connector 42"/>
            <p:cNvCxnSpPr>
              <a:stCxn id="41" idx="7"/>
            </p:cNvCxnSpPr>
            <p:nvPr/>
          </p:nvCxnSpPr>
          <p:spPr bwMode="auto">
            <a:xfrm flipV="1">
              <a:off x="1078719" y="4306515"/>
              <a:ext cx="1449714" cy="847734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</p:spPr>
        </p:cxnSp>
        <p:cxnSp>
          <p:nvCxnSpPr>
            <p:cNvPr id="44" name="Straight Arrow Connector 43"/>
            <p:cNvCxnSpPr>
              <a:stCxn id="41" idx="5"/>
            </p:cNvCxnSpPr>
            <p:nvPr/>
          </p:nvCxnSpPr>
          <p:spPr bwMode="auto">
            <a:xfrm>
              <a:off x="1078719" y="5342835"/>
              <a:ext cx="1406847" cy="968697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</p:spPr>
        </p:cxnSp>
      </p:grpSp>
      <p:graphicFrame>
        <p:nvGraphicFramePr>
          <p:cNvPr id="28" name="Object 27"/>
          <p:cNvGraphicFramePr>
            <a:graphicFrameLocks noChangeAspect="1"/>
          </p:cNvGraphicFramePr>
          <p:nvPr/>
        </p:nvGraphicFramePr>
        <p:xfrm>
          <a:off x="2750709" y="3692820"/>
          <a:ext cx="13335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560" imgH="164880" progId="Equation.DSMT4">
                  <p:embed/>
                </p:oleObj>
              </mc:Choice>
              <mc:Fallback>
                <p:oleObj name="Equation" r:id="rId2" imgW="88560" imgH="164880" progId="Equation.DSMT4">
                  <p:embed/>
                  <p:pic>
                    <p:nvPicPr>
                      <p:cNvPr id="2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0709" y="3692820"/>
                        <a:ext cx="133350" cy="24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oup 28"/>
          <p:cNvGrpSpPr/>
          <p:nvPr/>
        </p:nvGrpSpPr>
        <p:grpSpPr>
          <a:xfrm>
            <a:off x="4348828" y="2644804"/>
            <a:ext cx="209550" cy="2359025"/>
            <a:chOff x="2070100" y="4067175"/>
            <a:chExt cx="209550" cy="2359025"/>
          </a:xfrm>
        </p:grpSpPr>
        <p:graphicFrame>
          <p:nvGraphicFramePr>
            <p:cNvPr id="38" name="Object 37"/>
            <p:cNvGraphicFramePr>
              <a:graphicFrameLocks noChangeAspect="1"/>
            </p:cNvGraphicFramePr>
            <p:nvPr/>
          </p:nvGraphicFramePr>
          <p:xfrm>
            <a:off x="2070100" y="4067175"/>
            <a:ext cx="190500" cy="24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720" imgH="164880" progId="Equation.DSMT4">
                    <p:embed/>
                  </p:oleObj>
                </mc:Choice>
                <mc:Fallback>
                  <p:oleObj name="Equation" r:id="rId4" imgW="126720" imgH="164880" progId="Equation.DSMT4">
                    <p:embed/>
                    <p:pic>
                      <p:nvPicPr>
                        <p:cNvPr id="38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0100" y="4067175"/>
                          <a:ext cx="190500" cy="247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38"/>
            <p:cNvGraphicFramePr>
              <a:graphicFrameLocks noChangeAspect="1"/>
            </p:cNvGraphicFramePr>
            <p:nvPr/>
          </p:nvGraphicFramePr>
          <p:xfrm>
            <a:off x="2095500" y="5124450"/>
            <a:ext cx="17145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4120" imgH="177480" progId="Equation.DSMT4">
                    <p:embed/>
                  </p:oleObj>
                </mc:Choice>
                <mc:Fallback>
                  <p:oleObj name="Equation" r:id="rId6" imgW="114120" imgH="177480" progId="Equation.DSMT4">
                    <p:embed/>
                    <p:pic>
                      <p:nvPicPr>
                        <p:cNvPr id="39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5500" y="5124450"/>
                          <a:ext cx="17145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39"/>
            <p:cNvGraphicFramePr>
              <a:graphicFrameLocks noChangeAspect="1"/>
            </p:cNvGraphicFramePr>
            <p:nvPr/>
          </p:nvGraphicFramePr>
          <p:xfrm>
            <a:off x="2089150" y="6178550"/>
            <a:ext cx="190500" cy="24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6720" imgH="164880" progId="Equation.DSMT4">
                    <p:embed/>
                  </p:oleObj>
                </mc:Choice>
                <mc:Fallback>
                  <p:oleObj name="Equation" r:id="rId8" imgW="126720" imgH="164880" progId="Equation.DSMT4">
                    <p:embed/>
                    <p:pic>
                      <p:nvPicPr>
                        <p:cNvPr id="4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9150" y="6178550"/>
                          <a:ext cx="190500" cy="247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Group 29"/>
          <p:cNvGrpSpPr/>
          <p:nvPr/>
        </p:nvGrpSpPr>
        <p:grpSpPr>
          <a:xfrm>
            <a:off x="5991574" y="2651154"/>
            <a:ext cx="205105" cy="2378075"/>
            <a:chOff x="3712845" y="4073525"/>
            <a:chExt cx="205105" cy="2378075"/>
          </a:xfrm>
        </p:grpSpPr>
        <p:graphicFrame>
          <p:nvGraphicFramePr>
            <p:cNvPr id="35" name="Object 34"/>
            <p:cNvGraphicFramePr>
              <a:graphicFrameLocks noChangeAspect="1"/>
            </p:cNvGraphicFramePr>
            <p:nvPr/>
          </p:nvGraphicFramePr>
          <p:xfrm>
            <a:off x="3717925" y="4073525"/>
            <a:ext cx="17145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14120" imgH="177480" progId="Equation.DSMT4">
                    <p:embed/>
                  </p:oleObj>
                </mc:Choice>
                <mc:Fallback>
                  <p:oleObj name="Equation" r:id="rId10" imgW="114120" imgH="177480" progId="Equation.DSMT4">
                    <p:embed/>
                    <p:pic>
                      <p:nvPicPr>
                        <p:cNvPr id="35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7925" y="4073525"/>
                          <a:ext cx="17145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35"/>
            <p:cNvGraphicFramePr>
              <a:graphicFrameLocks noChangeAspect="1"/>
            </p:cNvGraphicFramePr>
            <p:nvPr/>
          </p:nvGraphicFramePr>
          <p:xfrm>
            <a:off x="3712845" y="5128895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26720" imgH="177480" progId="Equation.DSMT4">
                    <p:embed/>
                  </p:oleObj>
                </mc:Choice>
                <mc:Fallback>
                  <p:oleObj name="Equation" r:id="rId12" imgW="126720" imgH="177480" progId="Equation.DSMT4">
                    <p:embed/>
                    <p:pic>
                      <p:nvPicPr>
                        <p:cNvPr id="36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2845" y="5128895"/>
                          <a:ext cx="1905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36"/>
            <p:cNvGraphicFramePr>
              <a:graphicFrameLocks noChangeAspect="1"/>
            </p:cNvGraphicFramePr>
            <p:nvPr/>
          </p:nvGraphicFramePr>
          <p:xfrm>
            <a:off x="3727450" y="6184900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26720" imgH="177480" progId="Equation.DSMT4">
                    <p:embed/>
                  </p:oleObj>
                </mc:Choice>
                <mc:Fallback>
                  <p:oleObj name="Equation" r:id="rId14" imgW="126720" imgH="177480" progId="Equation.DSMT4">
                    <p:embed/>
                    <p:pic>
                      <p:nvPicPr>
                        <p:cNvPr id="37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7450" y="6184900"/>
                          <a:ext cx="1905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" name="Object 30"/>
          <p:cNvGraphicFramePr>
            <a:graphicFrameLocks noChangeAspect="1"/>
          </p:cNvGraphicFramePr>
          <p:nvPr/>
        </p:nvGraphicFramePr>
        <p:xfrm>
          <a:off x="7612093" y="2643533"/>
          <a:ext cx="1714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4120" imgH="177480" progId="Equation.DSMT4">
                  <p:embed/>
                </p:oleObj>
              </mc:Choice>
              <mc:Fallback>
                <p:oleObj name="Equation" r:id="rId16" imgW="114120" imgH="177480" progId="Equation.DSMT4">
                  <p:embed/>
                  <p:pic>
                    <p:nvPicPr>
                      <p:cNvPr id="31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2093" y="2643533"/>
                        <a:ext cx="1714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/>
          <p:cNvGraphicFramePr>
            <a:graphicFrameLocks noChangeAspect="1"/>
          </p:cNvGraphicFramePr>
          <p:nvPr/>
        </p:nvGraphicFramePr>
        <p:xfrm>
          <a:off x="7628603" y="3710016"/>
          <a:ext cx="1714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4120" imgH="177480" progId="Equation.DSMT4">
                  <p:embed/>
                </p:oleObj>
              </mc:Choice>
              <mc:Fallback>
                <p:oleObj name="Equation" r:id="rId18" imgW="114120" imgH="177480" progId="Equation.DSMT4">
                  <p:embed/>
                  <p:pic>
                    <p:nvPicPr>
                      <p:cNvPr id="32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8603" y="3710016"/>
                        <a:ext cx="1714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2"/>
          <p:cNvGraphicFramePr>
            <a:graphicFrameLocks noChangeAspect="1"/>
          </p:cNvGraphicFramePr>
          <p:nvPr/>
        </p:nvGraphicFramePr>
        <p:xfrm>
          <a:off x="7549863" y="4754591"/>
          <a:ext cx="2667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7480" imgH="177480" progId="Equation.DSMT4">
                  <p:embed/>
                </p:oleObj>
              </mc:Choice>
              <mc:Fallback>
                <p:oleObj name="Equation" r:id="rId20" imgW="177480" imgH="177480" progId="Equation.DSMT4">
                  <p:embed/>
                  <p:pic>
                    <p:nvPicPr>
                      <p:cNvPr id="33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9863" y="4754591"/>
                        <a:ext cx="2667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3"/>
          <p:cNvGraphicFramePr>
            <a:graphicFrameLocks noChangeAspect="1"/>
          </p:cNvGraphicFramePr>
          <p:nvPr/>
        </p:nvGraphicFramePr>
        <p:xfrm>
          <a:off x="9224041" y="3685251"/>
          <a:ext cx="24765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4880" imgH="164880" progId="Equation.DSMT4">
                  <p:embed/>
                </p:oleObj>
              </mc:Choice>
              <mc:Fallback>
                <p:oleObj name="Equation" r:id="rId22" imgW="164880" imgH="164880" progId="Equation.DSMT4">
                  <p:embed/>
                  <p:pic>
                    <p:nvPicPr>
                      <p:cNvPr id="34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4041" y="3685251"/>
                        <a:ext cx="247650" cy="24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51"/>
          <p:cNvGraphicFramePr>
            <a:graphicFrameLocks noChangeAspect="1"/>
          </p:cNvGraphicFramePr>
          <p:nvPr/>
        </p:nvGraphicFramePr>
        <p:xfrm>
          <a:off x="4509024" y="4226220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28600" imgH="177480" progId="Equation.DSMT4">
                  <p:embed/>
                </p:oleObj>
              </mc:Choice>
              <mc:Fallback>
                <p:oleObj name="Equation" r:id="rId24" imgW="228600" imgH="177480" progId="Equation.DSMT4">
                  <p:embed/>
                  <p:pic>
                    <p:nvPicPr>
                      <p:cNvPr id="52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9024" y="4226220"/>
                        <a:ext cx="342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52"/>
          <p:cNvGraphicFramePr>
            <a:graphicFrameLocks noChangeAspect="1"/>
          </p:cNvGraphicFramePr>
          <p:nvPr/>
        </p:nvGraphicFramePr>
        <p:xfrm>
          <a:off x="4521866" y="3143278"/>
          <a:ext cx="3238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15640" imgH="177480" progId="Equation.DSMT4">
                  <p:embed/>
                </p:oleObj>
              </mc:Choice>
              <mc:Fallback>
                <p:oleObj name="Equation" r:id="rId26" imgW="215640" imgH="177480" progId="Equation.DSMT4">
                  <p:embed/>
                  <p:pic>
                    <p:nvPicPr>
                      <p:cNvPr id="53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866" y="3143278"/>
                        <a:ext cx="3238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57"/>
          <p:cNvGraphicFramePr>
            <a:graphicFrameLocks noChangeAspect="1"/>
          </p:cNvGraphicFramePr>
          <p:nvPr/>
        </p:nvGraphicFramePr>
        <p:xfrm>
          <a:off x="6099841" y="4229128"/>
          <a:ext cx="4381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91960" imgH="177480" progId="Equation.DSMT4">
                  <p:embed/>
                </p:oleObj>
              </mc:Choice>
              <mc:Fallback>
                <p:oleObj name="Equation" r:id="rId28" imgW="291960" imgH="177480" progId="Equation.DSMT4">
                  <p:embed/>
                  <p:pic>
                    <p:nvPicPr>
                      <p:cNvPr id="58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9841" y="4229128"/>
                        <a:ext cx="4381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58"/>
          <p:cNvGraphicFramePr>
            <a:graphicFrameLocks noChangeAspect="1"/>
          </p:cNvGraphicFramePr>
          <p:nvPr/>
        </p:nvGraphicFramePr>
        <p:xfrm>
          <a:off x="6650703" y="3565553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28600" imgH="177480" progId="Equation.DSMT4">
                  <p:embed/>
                </p:oleObj>
              </mc:Choice>
              <mc:Fallback>
                <p:oleObj name="Equation" r:id="rId30" imgW="228600" imgH="177480" progId="Equation.DSMT4">
                  <p:embed/>
                  <p:pic>
                    <p:nvPicPr>
                      <p:cNvPr id="59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0703" y="3565553"/>
                        <a:ext cx="342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59"/>
          <p:cNvGraphicFramePr>
            <a:graphicFrameLocks noChangeAspect="1"/>
          </p:cNvGraphicFramePr>
          <p:nvPr/>
        </p:nvGraphicFramePr>
        <p:xfrm>
          <a:off x="6093491" y="3146453"/>
          <a:ext cx="4572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304560" imgH="177480" progId="Equation.DSMT4">
                  <p:embed/>
                </p:oleObj>
              </mc:Choice>
              <mc:Fallback>
                <p:oleObj name="Equation" r:id="rId32" imgW="304560" imgH="177480" progId="Equation.DSMT4">
                  <p:embed/>
                  <p:pic>
                    <p:nvPicPr>
                      <p:cNvPr id="6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3491" y="3146453"/>
                        <a:ext cx="4572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7" name="Straight Arrow Connector 66"/>
          <p:cNvCxnSpPr/>
          <p:nvPr/>
        </p:nvCxnSpPr>
        <p:spPr bwMode="auto">
          <a:xfrm>
            <a:off x="2952031" y="3826536"/>
            <a:ext cx="1369831" cy="0"/>
          </a:xfrm>
          <a:prstGeom prst="straightConnector1">
            <a:avLst/>
          </a:prstGeom>
          <a:noFill/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8" name="Straight Arrow Connector 67"/>
          <p:cNvCxnSpPr/>
          <p:nvPr/>
        </p:nvCxnSpPr>
        <p:spPr bwMode="auto">
          <a:xfrm>
            <a:off x="4599373" y="3833796"/>
            <a:ext cx="1369831" cy="0"/>
          </a:xfrm>
          <a:prstGeom prst="straightConnector1">
            <a:avLst/>
          </a:prstGeom>
          <a:noFill/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69" name="Oval 68"/>
          <p:cNvSpPr/>
          <p:nvPr/>
        </p:nvSpPr>
        <p:spPr>
          <a:xfrm>
            <a:off x="2691294" y="3685566"/>
            <a:ext cx="266700" cy="266700"/>
          </a:xfrm>
          <a:prstGeom prst="ellipse">
            <a:avLst/>
          </a:prstGeom>
          <a:ln w="571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4324122" y="3692826"/>
            <a:ext cx="266700" cy="266700"/>
          </a:xfrm>
          <a:prstGeom prst="ellipse">
            <a:avLst/>
          </a:prstGeom>
          <a:ln w="571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5956950" y="3700086"/>
            <a:ext cx="266700" cy="266700"/>
          </a:xfrm>
          <a:prstGeom prst="ellipse">
            <a:avLst/>
          </a:prstGeom>
          <a:ln w="571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grpSp>
        <p:nvGrpSpPr>
          <p:cNvPr id="81" name="Group 80"/>
          <p:cNvGrpSpPr/>
          <p:nvPr/>
        </p:nvGrpSpPr>
        <p:grpSpPr>
          <a:xfrm>
            <a:off x="6537532" y="2458669"/>
            <a:ext cx="695325" cy="257175"/>
            <a:chOff x="7081838" y="2527956"/>
            <a:chExt cx="1766887" cy="439082"/>
          </a:xfrm>
        </p:grpSpPr>
        <p:cxnSp>
          <p:nvCxnSpPr>
            <p:cNvPr id="26" name="Straight Connector 25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8" name="Freeform 77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80" name="Freeform 79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83" name="Group 82"/>
          <p:cNvGrpSpPr/>
          <p:nvPr/>
        </p:nvGrpSpPr>
        <p:grpSpPr>
          <a:xfrm rot="1714784">
            <a:off x="8235645" y="2946893"/>
            <a:ext cx="695325" cy="257175"/>
            <a:chOff x="7081838" y="2527956"/>
            <a:chExt cx="1766887" cy="439082"/>
          </a:xfrm>
        </p:grpSpPr>
        <p:cxnSp>
          <p:nvCxnSpPr>
            <p:cNvPr id="84" name="Straight Connector 83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5" name="Freeform 84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86" name="Freeform 85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87" name="Group 86"/>
          <p:cNvGrpSpPr/>
          <p:nvPr/>
        </p:nvGrpSpPr>
        <p:grpSpPr>
          <a:xfrm rot="19396710">
            <a:off x="8090538" y="4107252"/>
            <a:ext cx="695325" cy="257175"/>
            <a:chOff x="7081838" y="2527956"/>
            <a:chExt cx="1766887" cy="439082"/>
          </a:xfrm>
        </p:grpSpPr>
        <p:cxnSp>
          <p:nvCxnSpPr>
            <p:cNvPr id="88" name="Straight Connector 87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9" name="Freeform 88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90" name="Freeform 89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8119848" y="3484344"/>
            <a:ext cx="695325" cy="257175"/>
            <a:chOff x="7081838" y="2527956"/>
            <a:chExt cx="1766887" cy="439082"/>
          </a:xfrm>
        </p:grpSpPr>
        <p:cxnSp>
          <p:nvCxnSpPr>
            <p:cNvPr id="92" name="Straight Connector 91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3" name="Freeform 92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94" name="Freeform 93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6588334" y="4555945"/>
            <a:ext cx="695325" cy="257175"/>
            <a:chOff x="7081838" y="2527956"/>
            <a:chExt cx="1766887" cy="439082"/>
          </a:xfrm>
        </p:grpSpPr>
        <p:cxnSp>
          <p:nvCxnSpPr>
            <p:cNvPr id="96" name="Straight Connector 95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7" name="Freeform 96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98" name="Freeform 97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4861168" y="2451415"/>
            <a:ext cx="695325" cy="257175"/>
            <a:chOff x="7081838" y="2527956"/>
            <a:chExt cx="1766887" cy="439082"/>
          </a:xfrm>
        </p:grpSpPr>
        <p:cxnSp>
          <p:nvCxnSpPr>
            <p:cNvPr id="100" name="Straight Connector 99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1" name="Freeform 100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102" name="Freeform 101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4911970" y="4548691"/>
            <a:ext cx="695325" cy="257175"/>
            <a:chOff x="7081838" y="2527956"/>
            <a:chExt cx="1766887" cy="439082"/>
          </a:xfrm>
        </p:grpSpPr>
        <p:cxnSp>
          <p:nvCxnSpPr>
            <p:cNvPr id="104" name="Straight Connector 103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5" name="Freeform 104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106" name="Freeform 105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aphicFrame>
        <p:nvGraphicFramePr>
          <p:cNvPr id="82" name="Object 81"/>
          <p:cNvGraphicFramePr>
            <a:graphicFrameLocks noChangeAspect="1"/>
          </p:cNvGraphicFramePr>
          <p:nvPr/>
        </p:nvGraphicFramePr>
        <p:xfrm>
          <a:off x="3368675" y="2900363"/>
          <a:ext cx="4381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91960" imgH="177480" progId="Equation.DSMT4">
                  <p:embed/>
                </p:oleObj>
              </mc:Choice>
              <mc:Fallback>
                <p:oleObj name="Equation" r:id="rId34" imgW="291960" imgH="177480" progId="Equation.DSMT4">
                  <p:embed/>
                  <p:pic>
                    <p:nvPicPr>
                      <p:cNvPr id="82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8675" y="2900363"/>
                        <a:ext cx="4381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106"/>
          <p:cNvGraphicFramePr>
            <a:graphicFrameLocks noChangeAspect="1"/>
          </p:cNvGraphicFramePr>
          <p:nvPr/>
        </p:nvGraphicFramePr>
        <p:xfrm>
          <a:off x="3451225" y="3525838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228600" imgH="177480" progId="Equation.DSMT4">
                  <p:embed/>
                </p:oleObj>
              </mc:Choice>
              <mc:Fallback>
                <p:oleObj name="Equation" r:id="rId36" imgW="228600" imgH="177480" progId="Equation.DSMT4">
                  <p:embed/>
                  <p:pic>
                    <p:nvPicPr>
                      <p:cNvPr id="107" name="Object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1225" y="3525838"/>
                        <a:ext cx="342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ct 107"/>
          <p:cNvGraphicFramePr>
            <a:graphicFrameLocks noChangeAspect="1"/>
          </p:cNvGraphicFramePr>
          <p:nvPr/>
        </p:nvGraphicFramePr>
        <p:xfrm>
          <a:off x="3590925" y="4084638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228600" imgH="177480" progId="Equation.DSMT4">
                  <p:embed/>
                </p:oleObj>
              </mc:Choice>
              <mc:Fallback>
                <p:oleObj name="Equation" r:id="rId38" imgW="228600" imgH="177480" progId="Equation.DSMT4">
                  <p:embed/>
                  <p:pic>
                    <p:nvPicPr>
                      <p:cNvPr id="108" name="Object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0925" y="4084638"/>
                        <a:ext cx="342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05566" name="Picture 30"/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78" y="3498846"/>
            <a:ext cx="7016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09" name="Object 108"/>
          <p:cNvGraphicFramePr>
            <a:graphicFrameLocks noChangeAspect="1"/>
          </p:cNvGraphicFramePr>
          <p:nvPr/>
        </p:nvGraphicFramePr>
        <p:xfrm>
          <a:off x="4964113" y="3505200"/>
          <a:ext cx="4381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291960" imgH="177480" progId="Equation.DSMT4">
                  <p:embed/>
                </p:oleObj>
              </mc:Choice>
              <mc:Fallback>
                <p:oleObj name="Equation" r:id="rId41" imgW="291960" imgH="177480" progId="Equation.DSMT4">
                  <p:embed/>
                  <p:pic>
                    <p:nvPicPr>
                      <p:cNvPr id="109" name="Object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4113" y="3505200"/>
                        <a:ext cx="4381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05568" name="Picture 32"/>
          <p:cNvPicPr>
            <a:picLocks noChangeAspect="1" noChangeArrowheads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3115">
            <a:off x="3387406" y="2902073"/>
            <a:ext cx="571500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4510916" y="3003035"/>
            <a:ext cx="1072343" cy="1679760"/>
            <a:chOff x="2986915" y="3003035"/>
            <a:chExt cx="1072343" cy="1679760"/>
          </a:xfrm>
        </p:grpSpPr>
        <p:pic>
          <p:nvPicPr>
            <p:cNvPr id="118" name="Picture 30"/>
            <p:cNvPicPr>
              <a:picLocks noChangeAspect="1" noChangeArrowheads="1"/>
            </p:cNvPicPr>
            <p:nvPr/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843155" y="3159496"/>
              <a:ext cx="58756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7" name="Picture 30"/>
            <p:cNvPicPr>
              <a:picLocks noChangeAspect="1" noChangeArrowheads="1"/>
            </p:cNvPicPr>
            <p:nvPr/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7583" y="3462564"/>
              <a:ext cx="70167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6" name="Picture 30"/>
            <p:cNvPicPr>
              <a:picLocks noChangeAspect="1" noChangeArrowheads="1"/>
            </p:cNvPicPr>
            <p:nvPr/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870285" y="4215913"/>
              <a:ext cx="583512" cy="350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27" name="Picture 30"/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089051" y="3069550"/>
            <a:ext cx="587560" cy="467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8" name="Picture 30"/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078375" y="4163774"/>
            <a:ext cx="583512" cy="467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9" name="Picture 30"/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594062" y="3147944"/>
            <a:ext cx="58756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0" name="Picture 30"/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583386" y="4242168"/>
            <a:ext cx="58351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1" name="Picture 30"/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5834" y="3475264"/>
            <a:ext cx="7016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7" name="Straight Arrow Connector 46"/>
          <p:cNvCxnSpPr/>
          <p:nvPr/>
        </p:nvCxnSpPr>
        <p:spPr bwMode="auto">
          <a:xfrm flipV="1">
            <a:off x="2911677" y="2884143"/>
            <a:ext cx="1449714" cy="847734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pic>
        <p:nvPicPr>
          <p:cNvPr id="132" name="Picture 32"/>
          <p:cNvPicPr>
            <a:picLocks noChangeAspect="1" noChangeArrowheads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351994">
            <a:off x="3367138" y="4031060"/>
            <a:ext cx="647843" cy="509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8" name="Straight Arrow Connector 47"/>
          <p:cNvCxnSpPr>
            <a:stCxn id="45" idx="5"/>
            <a:endCxn id="7" idx="2"/>
          </p:cNvCxnSpPr>
          <p:nvPr/>
        </p:nvCxnSpPr>
        <p:spPr bwMode="auto">
          <a:xfrm>
            <a:off x="2911678" y="3920464"/>
            <a:ext cx="1406847" cy="96869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graphicFrame>
        <p:nvGraphicFramePr>
          <p:cNvPr id="114" name="Object 113"/>
          <p:cNvGraphicFramePr>
            <a:graphicFrameLocks noChangeAspect="1"/>
          </p:cNvGraphicFramePr>
          <p:nvPr/>
        </p:nvGraphicFramePr>
        <p:xfrm>
          <a:off x="3413823" y="5365073"/>
          <a:ext cx="95091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393480" imgH="228600" progId="Equation.DSMT4">
                  <p:embed/>
                </p:oleObj>
              </mc:Choice>
              <mc:Fallback>
                <p:oleObj name="Equation" r:id="rId44" imgW="393480" imgH="228600" progId="Equation.DSMT4">
                  <p:embed/>
                  <p:pic>
                    <p:nvPicPr>
                      <p:cNvPr id="114" name="Object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3823" y="5365073"/>
                        <a:ext cx="950912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8"/>
          <p:cNvGraphicFramePr>
            <a:graphicFrameLocks noChangeAspect="1"/>
          </p:cNvGraphicFramePr>
          <p:nvPr/>
        </p:nvGraphicFramePr>
        <p:xfrm>
          <a:off x="3430589" y="5221289"/>
          <a:ext cx="5951537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2463480" imgH="355320" progId="Equation.DSMT4">
                  <p:embed/>
                </p:oleObj>
              </mc:Choice>
              <mc:Fallback>
                <p:oleObj name="Equation" r:id="rId46" imgW="2463480" imgH="355320" progId="Equation.DSMT4">
                  <p:embed/>
                  <p:pic>
                    <p:nvPicPr>
                      <p:cNvPr id="49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0589" y="5221289"/>
                        <a:ext cx="5951537" cy="8588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9"/>
          <p:cNvGraphicFramePr>
            <a:graphicFrameLocks noChangeAspect="1"/>
          </p:cNvGraphicFramePr>
          <p:nvPr/>
        </p:nvGraphicFramePr>
        <p:xfrm>
          <a:off x="4271963" y="6105525"/>
          <a:ext cx="34925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165028" imgH="228501" progId="Equation.DSMT4">
                  <p:embed/>
                </p:oleObj>
              </mc:Choice>
              <mc:Fallback>
                <p:oleObj name="Equation" r:id="rId48" imgW="165028" imgH="228501" progId="Equation.DSMT4">
                  <p:embed/>
                  <p:pic>
                    <p:nvPicPr>
                      <p:cNvPr id="5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1963" y="6105525"/>
                        <a:ext cx="349250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50"/>
          <p:cNvGraphicFramePr>
            <a:graphicFrameLocks noChangeAspect="1"/>
          </p:cNvGraphicFramePr>
          <p:nvPr/>
        </p:nvGraphicFramePr>
        <p:xfrm>
          <a:off x="4237039" y="5730876"/>
          <a:ext cx="4984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0" imgW="330200" imgH="368300" progId="Equation.DSMT4">
                  <p:embed/>
                </p:oleObj>
              </mc:Choice>
              <mc:Fallback>
                <p:oleObj name="Equation" r:id="rId50" imgW="330200" imgH="368300" progId="Equation.DSMT4">
                  <p:embed/>
                  <p:pic>
                    <p:nvPicPr>
                      <p:cNvPr id="51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7039" y="5730876"/>
                        <a:ext cx="49847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53"/>
          <p:cNvGraphicFramePr>
            <a:graphicFrameLocks noChangeAspect="1"/>
          </p:cNvGraphicFramePr>
          <p:nvPr/>
        </p:nvGraphicFramePr>
        <p:xfrm>
          <a:off x="5176839" y="6113464"/>
          <a:ext cx="2952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2" imgW="139700" imgH="228600" progId="Equation.DSMT4">
                  <p:embed/>
                </p:oleObj>
              </mc:Choice>
              <mc:Fallback>
                <p:oleObj name="Equation" r:id="rId52" imgW="139700" imgH="228600" progId="Equation.DSMT4">
                  <p:embed/>
                  <p:pic>
                    <p:nvPicPr>
                      <p:cNvPr id="54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6839" y="6113464"/>
                        <a:ext cx="295275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54"/>
          <p:cNvGraphicFramePr>
            <a:graphicFrameLocks noChangeAspect="1"/>
          </p:cNvGraphicFramePr>
          <p:nvPr/>
        </p:nvGraphicFramePr>
        <p:xfrm>
          <a:off x="4779964" y="5726114"/>
          <a:ext cx="113347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4" imgW="749160" imgH="380880" progId="Equation.DSMT4">
                  <p:embed/>
                </p:oleObj>
              </mc:Choice>
              <mc:Fallback>
                <p:oleObj name="Equation" r:id="rId54" imgW="749160" imgH="380880" progId="Equation.DSMT4">
                  <p:embed/>
                  <p:pic>
                    <p:nvPicPr>
                      <p:cNvPr id="55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9964" y="5726114"/>
                        <a:ext cx="113347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881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055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</p:bld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variables: Network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6360" indent="0">
              <a:buNone/>
            </a:pPr>
            <a:r>
              <a:rPr lang="en-US" dirty="0"/>
              <a:t>Illustrating state variables</a:t>
            </a:r>
          </a:p>
          <a:p>
            <a:pPr lvl="1"/>
            <a:r>
              <a:rPr lang="en-US" dirty="0"/>
              <a:t>A stochastic graph with left turn penalties</a:t>
            </a:r>
          </a:p>
        </p:txBody>
      </p:sp>
      <p:sp>
        <p:nvSpPr>
          <p:cNvPr id="5" name="Oval 4"/>
          <p:cNvSpPr/>
          <p:nvPr/>
        </p:nvSpPr>
        <p:spPr>
          <a:xfrm>
            <a:off x="4322334" y="265650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326144" y="370044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4318524" y="475581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4592845" y="3833578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4592845" y="279181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>
            <a:off x="4573410" y="488916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4"/>
          </p:cNvCxnSpPr>
          <p:nvPr/>
        </p:nvCxnSpPr>
        <p:spPr bwMode="auto">
          <a:xfrm flipH="1">
            <a:off x="4448626" y="292320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/>
          <p:nvPr/>
        </p:nvCxnSpPr>
        <p:spPr bwMode="auto">
          <a:xfrm flipH="1">
            <a:off x="4441568" y="397857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3" name="Oval 12"/>
          <p:cNvSpPr/>
          <p:nvPr/>
        </p:nvSpPr>
        <p:spPr>
          <a:xfrm>
            <a:off x="5949204" y="264888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953014" y="369282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945394" y="474819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 bwMode="auto">
          <a:xfrm>
            <a:off x="6219715" y="3825958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>
            <a:off x="6208285" y="278419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6200280" y="488154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9" name="Straight Arrow Connector 18"/>
          <p:cNvCxnSpPr>
            <a:stCxn id="13" idx="4"/>
          </p:cNvCxnSpPr>
          <p:nvPr/>
        </p:nvCxnSpPr>
        <p:spPr bwMode="auto">
          <a:xfrm flipH="1">
            <a:off x="6075496" y="291558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 flipH="1">
            <a:off x="6068438" y="397095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21" name="Oval 20"/>
          <p:cNvSpPr/>
          <p:nvPr/>
        </p:nvSpPr>
        <p:spPr>
          <a:xfrm>
            <a:off x="7564644" y="265269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568454" y="369663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560834" y="475200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24" name="Straight Arrow Connector 23"/>
          <p:cNvCxnSpPr>
            <a:stCxn id="21" idx="4"/>
          </p:cNvCxnSpPr>
          <p:nvPr/>
        </p:nvCxnSpPr>
        <p:spPr bwMode="auto">
          <a:xfrm flipH="1">
            <a:off x="7690936" y="291939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5" name="Straight Arrow Connector 24"/>
          <p:cNvCxnSpPr/>
          <p:nvPr/>
        </p:nvCxnSpPr>
        <p:spPr bwMode="auto">
          <a:xfrm flipH="1">
            <a:off x="7683878" y="397476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45" name="Oval 44"/>
          <p:cNvSpPr/>
          <p:nvPr/>
        </p:nvSpPr>
        <p:spPr>
          <a:xfrm>
            <a:off x="2684034" y="369282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46" name="Straight Arrow Connector 45"/>
          <p:cNvCxnSpPr/>
          <p:nvPr/>
        </p:nvCxnSpPr>
        <p:spPr bwMode="auto">
          <a:xfrm>
            <a:off x="2944771" y="383379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grpSp>
        <p:nvGrpSpPr>
          <p:cNvPr id="27" name="Group 26"/>
          <p:cNvGrpSpPr/>
          <p:nvPr/>
        </p:nvGrpSpPr>
        <p:grpSpPr>
          <a:xfrm flipH="1">
            <a:off x="7794974" y="2876524"/>
            <a:ext cx="1677357" cy="2005017"/>
            <a:chOff x="851076" y="4306515"/>
            <a:chExt cx="1677357" cy="2005017"/>
          </a:xfrm>
        </p:grpSpPr>
        <p:sp>
          <p:nvSpPr>
            <p:cNvPr id="41" name="Oval 40"/>
            <p:cNvSpPr/>
            <p:nvPr/>
          </p:nvSpPr>
          <p:spPr>
            <a:xfrm>
              <a:off x="851076" y="5115192"/>
              <a:ext cx="266700" cy="266700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cxnSp>
          <p:nvCxnSpPr>
            <p:cNvPr id="42" name="Straight Arrow Connector 41"/>
            <p:cNvCxnSpPr/>
            <p:nvPr/>
          </p:nvCxnSpPr>
          <p:spPr bwMode="auto">
            <a:xfrm>
              <a:off x="1111812" y="5256162"/>
              <a:ext cx="1369831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</p:spPr>
        </p:cxnSp>
        <p:cxnSp>
          <p:nvCxnSpPr>
            <p:cNvPr id="43" name="Straight Arrow Connector 42"/>
            <p:cNvCxnSpPr>
              <a:stCxn id="41" idx="7"/>
            </p:cNvCxnSpPr>
            <p:nvPr/>
          </p:nvCxnSpPr>
          <p:spPr bwMode="auto">
            <a:xfrm flipV="1">
              <a:off x="1078719" y="4306515"/>
              <a:ext cx="1449714" cy="847734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</p:spPr>
        </p:cxnSp>
        <p:cxnSp>
          <p:nvCxnSpPr>
            <p:cNvPr id="44" name="Straight Arrow Connector 43"/>
            <p:cNvCxnSpPr>
              <a:stCxn id="41" idx="5"/>
            </p:cNvCxnSpPr>
            <p:nvPr/>
          </p:nvCxnSpPr>
          <p:spPr bwMode="auto">
            <a:xfrm>
              <a:off x="1078719" y="5342835"/>
              <a:ext cx="1406847" cy="968697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</p:spPr>
        </p:cxnSp>
      </p:grpSp>
      <p:graphicFrame>
        <p:nvGraphicFramePr>
          <p:cNvPr id="28" name="Object 27"/>
          <p:cNvGraphicFramePr>
            <a:graphicFrameLocks noChangeAspect="1"/>
          </p:cNvGraphicFramePr>
          <p:nvPr/>
        </p:nvGraphicFramePr>
        <p:xfrm>
          <a:off x="2750709" y="3692820"/>
          <a:ext cx="13335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560" imgH="164880" progId="Equation.DSMT4">
                  <p:embed/>
                </p:oleObj>
              </mc:Choice>
              <mc:Fallback>
                <p:oleObj name="Equation" r:id="rId2" imgW="88560" imgH="164880" progId="Equation.DSMT4">
                  <p:embed/>
                  <p:pic>
                    <p:nvPicPr>
                      <p:cNvPr id="2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0709" y="3692820"/>
                        <a:ext cx="133350" cy="24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oup 28"/>
          <p:cNvGrpSpPr/>
          <p:nvPr/>
        </p:nvGrpSpPr>
        <p:grpSpPr>
          <a:xfrm>
            <a:off x="4348828" y="2644804"/>
            <a:ext cx="209550" cy="2359025"/>
            <a:chOff x="2070100" y="4067175"/>
            <a:chExt cx="209550" cy="2359025"/>
          </a:xfrm>
        </p:grpSpPr>
        <p:graphicFrame>
          <p:nvGraphicFramePr>
            <p:cNvPr id="38" name="Object 37"/>
            <p:cNvGraphicFramePr>
              <a:graphicFrameLocks noChangeAspect="1"/>
            </p:cNvGraphicFramePr>
            <p:nvPr/>
          </p:nvGraphicFramePr>
          <p:xfrm>
            <a:off x="2070100" y="4067175"/>
            <a:ext cx="190500" cy="24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720" imgH="164880" progId="Equation.DSMT4">
                    <p:embed/>
                  </p:oleObj>
                </mc:Choice>
                <mc:Fallback>
                  <p:oleObj name="Equation" r:id="rId4" imgW="126720" imgH="164880" progId="Equation.DSMT4">
                    <p:embed/>
                    <p:pic>
                      <p:nvPicPr>
                        <p:cNvPr id="38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0100" y="4067175"/>
                          <a:ext cx="190500" cy="247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38"/>
            <p:cNvGraphicFramePr>
              <a:graphicFrameLocks noChangeAspect="1"/>
            </p:cNvGraphicFramePr>
            <p:nvPr/>
          </p:nvGraphicFramePr>
          <p:xfrm>
            <a:off x="2095500" y="5124450"/>
            <a:ext cx="17145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4120" imgH="177480" progId="Equation.DSMT4">
                    <p:embed/>
                  </p:oleObj>
                </mc:Choice>
                <mc:Fallback>
                  <p:oleObj name="Equation" r:id="rId6" imgW="114120" imgH="177480" progId="Equation.DSMT4">
                    <p:embed/>
                    <p:pic>
                      <p:nvPicPr>
                        <p:cNvPr id="39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5500" y="5124450"/>
                          <a:ext cx="17145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39"/>
            <p:cNvGraphicFramePr>
              <a:graphicFrameLocks noChangeAspect="1"/>
            </p:cNvGraphicFramePr>
            <p:nvPr/>
          </p:nvGraphicFramePr>
          <p:xfrm>
            <a:off x="2089150" y="6178550"/>
            <a:ext cx="190500" cy="24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6720" imgH="164880" progId="Equation.DSMT4">
                    <p:embed/>
                  </p:oleObj>
                </mc:Choice>
                <mc:Fallback>
                  <p:oleObj name="Equation" r:id="rId8" imgW="126720" imgH="164880" progId="Equation.DSMT4">
                    <p:embed/>
                    <p:pic>
                      <p:nvPicPr>
                        <p:cNvPr id="4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9150" y="6178550"/>
                          <a:ext cx="190500" cy="247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Group 29"/>
          <p:cNvGrpSpPr/>
          <p:nvPr/>
        </p:nvGrpSpPr>
        <p:grpSpPr>
          <a:xfrm>
            <a:off x="5991574" y="2651154"/>
            <a:ext cx="205105" cy="2378075"/>
            <a:chOff x="3712845" y="4073525"/>
            <a:chExt cx="205105" cy="2378075"/>
          </a:xfrm>
        </p:grpSpPr>
        <p:graphicFrame>
          <p:nvGraphicFramePr>
            <p:cNvPr id="35" name="Object 34"/>
            <p:cNvGraphicFramePr>
              <a:graphicFrameLocks noChangeAspect="1"/>
            </p:cNvGraphicFramePr>
            <p:nvPr/>
          </p:nvGraphicFramePr>
          <p:xfrm>
            <a:off x="3717925" y="4073525"/>
            <a:ext cx="17145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14120" imgH="177480" progId="Equation.DSMT4">
                    <p:embed/>
                  </p:oleObj>
                </mc:Choice>
                <mc:Fallback>
                  <p:oleObj name="Equation" r:id="rId10" imgW="114120" imgH="177480" progId="Equation.DSMT4">
                    <p:embed/>
                    <p:pic>
                      <p:nvPicPr>
                        <p:cNvPr id="35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7925" y="4073525"/>
                          <a:ext cx="17145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35"/>
            <p:cNvGraphicFramePr>
              <a:graphicFrameLocks noChangeAspect="1"/>
            </p:cNvGraphicFramePr>
            <p:nvPr/>
          </p:nvGraphicFramePr>
          <p:xfrm>
            <a:off x="3712845" y="5128895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26720" imgH="177480" progId="Equation.DSMT4">
                    <p:embed/>
                  </p:oleObj>
                </mc:Choice>
                <mc:Fallback>
                  <p:oleObj name="Equation" r:id="rId12" imgW="126720" imgH="177480" progId="Equation.DSMT4">
                    <p:embed/>
                    <p:pic>
                      <p:nvPicPr>
                        <p:cNvPr id="36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2845" y="5128895"/>
                          <a:ext cx="1905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36"/>
            <p:cNvGraphicFramePr>
              <a:graphicFrameLocks noChangeAspect="1"/>
            </p:cNvGraphicFramePr>
            <p:nvPr/>
          </p:nvGraphicFramePr>
          <p:xfrm>
            <a:off x="3727450" y="6184900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26720" imgH="177480" progId="Equation.DSMT4">
                    <p:embed/>
                  </p:oleObj>
                </mc:Choice>
                <mc:Fallback>
                  <p:oleObj name="Equation" r:id="rId14" imgW="126720" imgH="177480" progId="Equation.DSMT4">
                    <p:embed/>
                    <p:pic>
                      <p:nvPicPr>
                        <p:cNvPr id="37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7450" y="6184900"/>
                          <a:ext cx="1905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" name="Object 30"/>
          <p:cNvGraphicFramePr>
            <a:graphicFrameLocks noChangeAspect="1"/>
          </p:cNvGraphicFramePr>
          <p:nvPr/>
        </p:nvGraphicFramePr>
        <p:xfrm>
          <a:off x="7612093" y="2643533"/>
          <a:ext cx="1714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4120" imgH="177480" progId="Equation.DSMT4">
                  <p:embed/>
                </p:oleObj>
              </mc:Choice>
              <mc:Fallback>
                <p:oleObj name="Equation" r:id="rId16" imgW="114120" imgH="177480" progId="Equation.DSMT4">
                  <p:embed/>
                  <p:pic>
                    <p:nvPicPr>
                      <p:cNvPr id="31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2093" y="2643533"/>
                        <a:ext cx="1714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/>
          <p:cNvGraphicFramePr>
            <a:graphicFrameLocks noChangeAspect="1"/>
          </p:cNvGraphicFramePr>
          <p:nvPr/>
        </p:nvGraphicFramePr>
        <p:xfrm>
          <a:off x="7628603" y="3710016"/>
          <a:ext cx="1714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4120" imgH="177480" progId="Equation.DSMT4">
                  <p:embed/>
                </p:oleObj>
              </mc:Choice>
              <mc:Fallback>
                <p:oleObj name="Equation" r:id="rId18" imgW="114120" imgH="177480" progId="Equation.DSMT4">
                  <p:embed/>
                  <p:pic>
                    <p:nvPicPr>
                      <p:cNvPr id="32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8603" y="3710016"/>
                        <a:ext cx="1714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2"/>
          <p:cNvGraphicFramePr>
            <a:graphicFrameLocks noChangeAspect="1"/>
          </p:cNvGraphicFramePr>
          <p:nvPr/>
        </p:nvGraphicFramePr>
        <p:xfrm>
          <a:off x="7549863" y="4754591"/>
          <a:ext cx="2667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7480" imgH="177480" progId="Equation.DSMT4">
                  <p:embed/>
                </p:oleObj>
              </mc:Choice>
              <mc:Fallback>
                <p:oleObj name="Equation" r:id="rId20" imgW="177480" imgH="177480" progId="Equation.DSMT4">
                  <p:embed/>
                  <p:pic>
                    <p:nvPicPr>
                      <p:cNvPr id="33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9863" y="4754591"/>
                        <a:ext cx="2667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3"/>
          <p:cNvGraphicFramePr>
            <a:graphicFrameLocks noChangeAspect="1"/>
          </p:cNvGraphicFramePr>
          <p:nvPr/>
        </p:nvGraphicFramePr>
        <p:xfrm>
          <a:off x="9224041" y="3685251"/>
          <a:ext cx="24765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4880" imgH="164880" progId="Equation.DSMT4">
                  <p:embed/>
                </p:oleObj>
              </mc:Choice>
              <mc:Fallback>
                <p:oleObj name="Equation" r:id="rId22" imgW="164880" imgH="164880" progId="Equation.DSMT4">
                  <p:embed/>
                  <p:pic>
                    <p:nvPicPr>
                      <p:cNvPr id="34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4041" y="3685251"/>
                        <a:ext cx="247650" cy="24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51"/>
          <p:cNvGraphicFramePr>
            <a:graphicFrameLocks noChangeAspect="1"/>
          </p:cNvGraphicFramePr>
          <p:nvPr/>
        </p:nvGraphicFramePr>
        <p:xfrm>
          <a:off x="4509024" y="4226220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28600" imgH="177480" progId="Equation.DSMT4">
                  <p:embed/>
                </p:oleObj>
              </mc:Choice>
              <mc:Fallback>
                <p:oleObj name="Equation" r:id="rId24" imgW="228600" imgH="177480" progId="Equation.DSMT4">
                  <p:embed/>
                  <p:pic>
                    <p:nvPicPr>
                      <p:cNvPr id="52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9024" y="4226220"/>
                        <a:ext cx="342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52"/>
          <p:cNvGraphicFramePr>
            <a:graphicFrameLocks noChangeAspect="1"/>
          </p:cNvGraphicFramePr>
          <p:nvPr/>
        </p:nvGraphicFramePr>
        <p:xfrm>
          <a:off x="4521866" y="3143278"/>
          <a:ext cx="3238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15640" imgH="177480" progId="Equation.DSMT4">
                  <p:embed/>
                </p:oleObj>
              </mc:Choice>
              <mc:Fallback>
                <p:oleObj name="Equation" r:id="rId26" imgW="215640" imgH="177480" progId="Equation.DSMT4">
                  <p:embed/>
                  <p:pic>
                    <p:nvPicPr>
                      <p:cNvPr id="53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866" y="3143278"/>
                        <a:ext cx="3238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57"/>
          <p:cNvGraphicFramePr>
            <a:graphicFrameLocks noChangeAspect="1"/>
          </p:cNvGraphicFramePr>
          <p:nvPr/>
        </p:nvGraphicFramePr>
        <p:xfrm>
          <a:off x="6099841" y="4229128"/>
          <a:ext cx="4381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91960" imgH="177480" progId="Equation.DSMT4">
                  <p:embed/>
                </p:oleObj>
              </mc:Choice>
              <mc:Fallback>
                <p:oleObj name="Equation" r:id="rId28" imgW="291960" imgH="177480" progId="Equation.DSMT4">
                  <p:embed/>
                  <p:pic>
                    <p:nvPicPr>
                      <p:cNvPr id="58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9841" y="4229128"/>
                        <a:ext cx="4381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58"/>
          <p:cNvGraphicFramePr>
            <a:graphicFrameLocks noChangeAspect="1"/>
          </p:cNvGraphicFramePr>
          <p:nvPr/>
        </p:nvGraphicFramePr>
        <p:xfrm>
          <a:off x="6650703" y="3565553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28600" imgH="177480" progId="Equation.DSMT4">
                  <p:embed/>
                </p:oleObj>
              </mc:Choice>
              <mc:Fallback>
                <p:oleObj name="Equation" r:id="rId30" imgW="228600" imgH="177480" progId="Equation.DSMT4">
                  <p:embed/>
                  <p:pic>
                    <p:nvPicPr>
                      <p:cNvPr id="59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0703" y="3565553"/>
                        <a:ext cx="342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7" name="Straight Arrow Connector 66"/>
          <p:cNvCxnSpPr/>
          <p:nvPr/>
        </p:nvCxnSpPr>
        <p:spPr bwMode="auto">
          <a:xfrm>
            <a:off x="2952031" y="3826536"/>
            <a:ext cx="1369831" cy="0"/>
          </a:xfrm>
          <a:prstGeom prst="straightConnector1">
            <a:avLst/>
          </a:prstGeom>
          <a:noFill/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8" name="Straight Arrow Connector 67"/>
          <p:cNvCxnSpPr/>
          <p:nvPr/>
        </p:nvCxnSpPr>
        <p:spPr bwMode="auto">
          <a:xfrm>
            <a:off x="4599373" y="3833796"/>
            <a:ext cx="1369831" cy="0"/>
          </a:xfrm>
          <a:prstGeom prst="straightConnector1">
            <a:avLst/>
          </a:prstGeom>
          <a:noFill/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69" name="Oval 68"/>
          <p:cNvSpPr/>
          <p:nvPr/>
        </p:nvSpPr>
        <p:spPr>
          <a:xfrm>
            <a:off x="2691294" y="3685566"/>
            <a:ext cx="266700" cy="266700"/>
          </a:xfrm>
          <a:prstGeom prst="ellipse">
            <a:avLst/>
          </a:prstGeom>
          <a:ln w="571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4324122" y="3692826"/>
            <a:ext cx="266700" cy="266700"/>
          </a:xfrm>
          <a:prstGeom prst="ellipse">
            <a:avLst/>
          </a:prstGeom>
          <a:ln w="571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5956950" y="3700086"/>
            <a:ext cx="266700" cy="266700"/>
          </a:xfrm>
          <a:prstGeom prst="ellipse">
            <a:avLst/>
          </a:prstGeom>
          <a:ln w="571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grpSp>
        <p:nvGrpSpPr>
          <p:cNvPr id="81" name="Group 80"/>
          <p:cNvGrpSpPr/>
          <p:nvPr/>
        </p:nvGrpSpPr>
        <p:grpSpPr>
          <a:xfrm>
            <a:off x="6537532" y="2458669"/>
            <a:ext cx="695325" cy="257175"/>
            <a:chOff x="7081838" y="2527956"/>
            <a:chExt cx="1766887" cy="439082"/>
          </a:xfrm>
        </p:grpSpPr>
        <p:cxnSp>
          <p:nvCxnSpPr>
            <p:cNvPr id="26" name="Straight Connector 25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8" name="Freeform 77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80" name="Freeform 79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83" name="Group 82"/>
          <p:cNvGrpSpPr/>
          <p:nvPr/>
        </p:nvGrpSpPr>
        <p:grpSpPr>
          <a:xfrm rot="1714784">
            <a:off x="8235645" y="2946893"/>
            <a:ext cx="695325" cy="257175"/>
            <a:chOff x="7081838" y="2527956"/>
            <a:chExt cx="1766887" cy="439082"/>
          </a:xfrm>
        </p:grpSpPr>
        <p:cxnSp>
          <p:nvCxnSpPr>
            <p:cNvPr id="84" name="Straight Connector 83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5" name="Freeform 84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86" name="Freeform 85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87" name="Group 86"/>
          <p:cNvGrpSpPr/>
          <p:nvPr/>
        </p:nvGrpSpPr>
        <p:grpSpPr>
          <a:xfrm rot="19396710">
            <a:off x="8090538" y="4107252"/>
            <a:ext cx="695325" cy="257175"/>
            <a:chOff x="7081838" y="2527956"/>
            <a:chExt cx="1766887" cy="439082"/>
          </a:xfrm>
        </p:grpSpPr>
        <p:cxnSp>
          <p:nvCxnSpPr>
            <p:cNvPr id="88" name="Straight Connector 87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9" name="Freeform 88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90" name="Freeform 89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8119848" y="3484344"/>
            <a:ext cx="695325" cy="257175"/>
            <a:chOff x="7081838" y="2527956"/>
            <a:chExt cx="1766887" cy="439082"/>
          </a:xfrm>
        </p:grpSpPr>
        <p:cxnSp>
          <p:nvCxnSpPr>
            <p:cNvPr id="92" name="Straight Connector 91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3" name="Freeform 92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94" name="Freeform 93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6588334" y="4555945"/>
            <a:ext cx="695325" cy="257175"/>
            <a:chOff x="7081838" y="2527956"/>
            <a:chExt cx="1766887" cy="439082"/>
          </a:xfrm>
        </p:grpSpPr>
        <p:cxnSp>
          <p:nvCxnSpPr>
            <p:cNvPr id="96" name="Straight Connector 95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7" name="Freeform 96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98" name="Freeform 97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4861168" y="2451415"/>
            <a:ext cx="695325" cy="257175"/>
            <a:chOff x="7081838" y="2527956"/>
            <a:chExt cx="1766887" cy="439082"/>
          </a:xfrm>
        </p:grpSpPr>
        <p:cxnSp>
          <p:nvCxnSpPr>
            <p:cNvPr id="100" name="Straight Connector 99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1" name="Freeform 100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102" name="Freeform 101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4911970" y="4548691"/>
            <a:ext cx="695325" cy="257175"/>
            <a:chOff x="7081838" y="2527956"/>
            <a:chExt cx="1766887" cy="439082"/>
          </a:xfrm>
        </p:grpSpPr>
        <p:cxnSp>
          <p:nvCxnSpPr>
            <p:cNvPr id="104" name="Straight Connector 103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5" name="Freeform 104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106" name="Freeform 105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aphicFrame>
        <p:nvGraphicFramePr>
          <p:cNvPr id="82" name="Object 81"/>
          <p:cNvGraphicFramePr>
            <a:graphicFrameLocks noChangeAspect="1"/>
          </p:cNvGraphicFramePr>
          <p:nvPr/>
        </p:nvGraphicFramePr>
        <p:xfrm>
          <a:off x="3368675" y="2900363"/>
          <a:ext cx="4381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91960" imgH="177480" progId="Equation.DSMT4">
                  <p:embed/>
                </p:oleObj>
              </mc:Choice>
              <mc:Fallback>
                <p:oleObj name="Equation" r:id="rId32" imgW="291960" imgH="177480" progId="Equation.DSMT4">
                  <p:embed/>
                  <p:pic>
                    <p:nvPicPr>
                      <p:cNvPr id="82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8675" y="2900363"/>
                        <a:ext cx="4381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106"/>
          <p:cNvGraphicFramePr>
            <a:graphicFrameLocks noChangeAspect="1"/>
          </p:cNvGraphicFramePr>
          <p:nvPr/>
        </p:nvGraphicFramePr>
        <p:xfrm>
          <a:off x="3451225" y="3525838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28600" imgH="177480" progId="Equation.DSMT4">
                  <p:embed/>
                </p:oleObj>
              </mc:Choice>
              <mc:Fallback>
                <p:oleObj name="Equation" r:id="rId34" imgW="228600" imgH="177480" progId="Equation.DSMT4">
                  <p:embed/>
                  <p:pic>
                    <p:nvPicPr>
                      <p:cNvPr id="107" name="Object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1225" y="3525838"/>
                        <a:ext cx="342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ct 107"/>
          <p:cNvGraphicFramePr>
            <a:graphicFrameLocks noChangeAspect="1"/>
          </p:cNvGraphicFramePr>
          <p:nvPr/>
        </p:nvGraphicFramePr>
        <p:xfrm>
          <a:off x="3590925" y="4084638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228600" imgH="177480" progId="Equation.DSMT4">
                  <p:embed/>
                </p:oleObj>
              </mc:Choice>
              <mc:Fallback>
                <p:oleObj name="Equation" r:id="rId36" imgW="228600" imgH="177480" progId="Equation.DSMT4">
                  <p:embed/>
                  <p:pic>
                    <p:nvPicPr>
                      <p:cNvPr id="108" name="Object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0925" y="4084638"/>
                        <a:ext cx="342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" name="Object 108"/>
          <p:cNvGraphicFramePr>
            <a:graphicFrameLocks noChangeAspect="1"/>
          </p:cNvGraphicFramePr>
          <p:nvPr/>
        </p:nvGraphicFramePr>
        <p:xfrm>
          <a:off x="4964113" y="3505200"/>
          <a:ext cx="4381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291960" imgH="177480" progId="Equation.DSMT4">
                  <p:embed/>
                </p:oleObj>
              </mc:Choice>
              <mc:Fallback>
                <p:oleObj name="Equation" r:id="rId38" imgW="291960" imgH="177480" progId="Equation.DSMT4">
                  <p:embed/>
                  <p:pic>
                    <p:nvPicPr>
                      <p:cNvPr id="109" name="Object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4113" y="3505200"/>
                        <a:ext cx="4381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9" name="Picture 30"/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594062" y="3147944"/>
            <a:ext cx="58756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0" name="Picture 30"/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583386" y="4242168"/>
            <a:ext cx="58351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14" name="Object 113"/>
          <p:cNvGraphicFramePr>
            <a:graphicFrameLocks noChangeAspect="1"/>
          </p:cNvGraphicFramePr>
          <p:nvPr/>
        </p:nvGraphicFramePr>
        <p:xfrm>
          <a:off x="3413823" y="5365073"/>
          <a:ext cx="95091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393480" imgH="228600" progId="Equation.DSMT4">
                  <p:embed/>
                </p:oleObj>
              </mc:Choice>
              <mc:Fallback>
                <p:oleObj name="Equation" r:id="rId41" imgW="393480" imgH="228600" progId="Equation.DSMT4">
                  <p:embed/>
                  <p:pic>
                    <p:nvPicPr>
                      <p:cNvPr id="114" name="Object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3823" y="5365073"/>
                        <a:ext cx="950912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" name="Object 119"/>
          <p:cNvGraphicFramePr>
            <a:graphicFrameLocks noChangeAspect="1"/>
          </p:cNvGraphicFramePr>
          <p:nvPr/>
        </p:nvGraphicFramePr>
        <p:xfrm>
          <a:off x="3417203" y="5220610"/>
          <a:ext cx="7085013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2933640" imgH="355320" progId="Equation.DSMT4">
                  <p:embed/>
                </p:oleObj>
              </mc:Choice>
              <mc:Fallback>
                <p:oleObj name="Equation" r:id="rId43" imgW="2933640" imgH="355320" progId="Equation.DSMT4">
                  <p:embed/>
                  <p:pic>
                    <p:nvPicPr>
                      <p:cNvPr id="120" name="Object 1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203" y="5220610"/>
                        <a:ext cx="7085013" cy="8588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" name="Group 53"/>
          <p:cNvGrpSpPr/>
          <p:nvPr/>
        </p:nvGrpSpPr>
        <p:grpSpPr>
          <a:xfrm>
            <a:off x="4280323" y="5745161"/>
            <a:ext cx="498060" cy="858836"/>
            <a:chOff x="2756323" y="5730647"/>
            <a:chExt cx="498060" cy="858836"/>
          </a:xfrm>
        </p:grpSpPr>
        <p:graphicFrame>
          <p:nvGraphicFramePr>
            <p:cNvPr id="4" name="Object 3"/>
            <p:cNvGraphicFramePr>
              <a:graphicFrameLocks noChangeAspect="1"/>
            </p:cNvGraphicFramePr>
            <p:nvPr/>
          </p:nvGraphicFramePr>
          <p:xfrm>
            <a:off x="2790600" y="6105296"/>
            <a:ext cx="349691" cy="484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5" imgW="164880" imgH="228600" progId="Equation.DSMT4">
                    <p:embed/>
                  </p:oleObj>
                </mc:Choice>
                <mc:Fallback>
                  <p:oleObj name="Equation" r:id="rId45" imgW="164880" imgH="228600" progId="Equation.DSMT4">
                    <p:embed/>
                    <p:pic>
                      <p:nvPicPr>
                        <p:cNvPr id="4" name="Object 3"/>
                        <p:cNvPicPr/>
                        <p:nvPr/>
                      </p:nvPicPr>
                      <p:blipFill>
                        <a:blip r:embed="rId46"/>
                        <a:stretch>
                          <a:fillRect/>
                        </a:stretch>
                      </p:blipFill>
                      <p:spPr>
                        <a:xfrm>
                          <a:off x="2790600" y="6105296"/>
                          <a:ext cx="349691" cy="4841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Object 49"/>
            <p:cNvGraphicFramePr>
              <a:graphicFrameLocks noChangeAspect="1"/>
            </p:cNvGraphicFramePr>
            <p:nvPr/>
          </p:nvGraphicFramePr>
          <p:xfrm>
            <a:off x="2756323" y="5730647"/>
            <a:ext cx="498060" cy="555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7" imgW="330120" imgH="368280" progId="Equation.DSMT4">
                    <p:embed/>
                  </p:oleObj>
                </mc:Choice>
                <mc:Fallback>
                  <p:oleObj name="Equation" r:id="rId47" imgW="330120" imgH="368280" progId="Equation.DSMT4">
                    <p:embed/>
                    <p:pic>
                      <p:nvPicPr>
                        <p:cNvPr id="50" name="Object 49"/>
                        <p:cNvPicPr/>
                        <p:nvPr/>
                      </p:nvPicPr>
                      <p:blipFill>
                        <a:blip r:embed="rId48"/>
                        <a:stretch>
                          <a:fillRect/>
                        </a:stretch>
                      </p:blipFill>
                      <p:spPr>
                        <a:xfrm>
                          <a:off x="2756323" y="5730647"/>
                          <a:ext cx="498060" cy="55552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" name="Group 54"/>
          <p:cNvGrpSpPr/>
          <p:nvPr/>
        </p:nvGrpSpPr>
        <p:grpSpPr>
          <a:xfrm>
            <a:off x="4828040" y="5741306"/>
            <a:ext cx="2090737" cy="870858"/>
            <a:chOff x="3304039" y="5726792"/>
            <a:chExt cx="2090737" cy="870858"/>
          </a:xfrm>
        </p:grpSpPr>
        <p:graphicFrame>
          <p:nvGraphicFramePr>
            <p:cNvPr id="49" name="Object 48"/>
            <p:cNvGraphicFramePr>
              <a:graphicFrameLocks noChangeAspect="1"/>
            </p:cNvGraphicFramePr>
            <p:nvPr/>
          </p:nvGraphicFramePr>
          <p:xfrm>
            <a:off x="4189413" y="6113463"/>
            <a:ext cx="295275" cy="484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9" imgW="139680" imgH="228600" progId="Equation.DSMT4">
                    <p:embed/>
                  </p:oleObj>
                </mc:Choice>
                <mc:Fallback>
                  <p:oleObj name="Equation" r:id="rId49" imgW="139680" imgH="228600" progId="Equation.DSMT4">
                    <p:embed/>
                    <p:pic>
                      <p:nvPicPr>
                        <p:cNvPr id="49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9413" y="6113463"/>
                          <a:ext cx="295275" cy="484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Object 50"/>
            <p:cNvGraphicFramePr>
              <a:graphicFrameLocks noChangeAspect="1"/>
            </p:cNvGraphicFramePr>
            <p:nvPr/>
          </p:nvGraphicFramePr>
          <p:xfrm>
            <a:off x="3304039" y="5726792"/>
            <a:ext cx="2090737" cy="574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1" imgW="1384200" imgH="380880" progId="Equation.DSMT4">
                    <p:embed/>
                  </p:oleObj>
                </mc:Choice>
                <mc:Fallback>
                  <p:oleObj name="Equation" r:id="rId51" imgW="1384200" imgH="380880" progId="Equation.DSMT4">
                    <p:embed/>
                    <p:pic>
                      <p:nvPicPr>
                        <p:cNvPr id="51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4039" y="5726792"/>
                          <a:ext cx="2090737" cy="574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6" name="Object 55"/>
          <p:cNvGraphicFramePr>
            <a:graphicFrameLocks noChangeAspect="1"/>
          </p:cNvGraphicFramePr>
          <p:nvPr/>
        </p:nvGraphicFramePr>
        <p:xfrm>
          <a:off x="6096680" y="3156403"/>
          <a:ext cx="914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3" imgW="609480" imgH="203040" progId="Equation.DSMT4">
                  <p:embed/>
                </p:oleObj>
              </mc:Choice>
              <mc:Fallback>
                <p:oleObj name="Equation" r:id="rId53" imgW="609480" imgH="203040" progId="Equation.DSMT4">
                  <p:embed/>
                  <p:pic>
                    <p:nvPicPr>
                      <p:cNvPr id="56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680" y="3156403"/>
                        <a:ext cx="914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0" name="Group 109"/>
          <p:cNvGrpSpPr/>
          <p:nvPr/>
        </p:nvGrpSpPr>
        <p:grpSpPr>
          <a:xfrm>
            <a:off x="3333094" y="2894819"/>
            <a:ext cx="701675" cy="1707546"/>
            <a:chOff x="1780065" y="2880305"/>
            <a:chExt cx="701675" cy="1707546"/>
          </a:xfrm>
        </p:grpSpPr>
        <p:pic>
          <p:nvPicPr>
            <p:cNvPr id="111" name="Picture 32"/>
            <p:cNvPicPr>
              <a:picLocks noChangeAspect="1" noChangeArrowheads="1"/>
            </p:cNvPicPr>
            <p:nvPr/>
          </p:nvPicPr>
          <p:blipFill>
            <a:blip r:embed="rId5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3115">
              <a:off x="1841638" y="2880305"/>
              <a:ext cx="571500" cy="449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2" name="Picture 30"/>
            <p:cNvPicPr>
              <a:picLocks noChangeAspect="1" noChangeArrowheads="1"/>
            </p:cNvPicPr>
            <p:nvPr/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0065" y="3453496"/>
              <a:ext cx="70167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3" name="Picture 32"/>
            <p:cNvPicPr>
              <a:picLocks noChangeAspect="1" noChangeArrowheads="1"/>
            </p:cNvPicPr>
            <p:nvPr/>
          </p:nvPicPr>
          <p:blipFill>
            <a:blip r:embed="rId5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4351994">
              <a:off x="1821369" y="4009292"/>
              <a:ext cx="647843" cy="509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47" name="Straight Arrow Connector 46"/>
          <p:cNvCxnSpPr/>
          <p:nvPr/>
        </p:nvCxnSpPr>
        <p:spPr bwMode="auto">
          <a:xfrm flipV="1">
            <a:off x="2911677" y="2884143"/>
            <a:ext cx="1449714" cy="847734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48" name="Straight Arrow Connector 47"/>
          <p:cNvCxnSpPr>
            <a:stCxn id="45" idx="5"/>
            <a:endCxn id="7" idx="2"/>
          </p:cNvCxnSpPr>
          <p:nvPr/>
        </p:nvCxnSpPr>
        <p:spPr bwMode="auto">
          <a:xfrm>
            <a:off x="2911678" y="3920464"/>
            <a:ext cx="1406847" cy="96869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pic>
        <p:nvPicPr>
          <p:cNvPr id="115" name="Picture 30"/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367155" y="3159496"/>
            <a:ext cx="58756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6" name="Picture 30"/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1584" y="3462564"/>
            <a:ext cx="7016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7" name="Picture 30"/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394285" y="4215914"/>
            <a:ext cx="583512" cy="350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1094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4" name="Object 83"/>
              <p:cNvSpPr txBox="1"/>
              <p:nvPr/>
            </p:nvSpPr>
            <p:spPr bwMode="auto">
              <a:xfrm>
                <a:off x="1964550" y="5695064"/>
                <a:ext cx="1447800" cy="552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4" name="Object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64550" y="5695064"/>
                <a:ext cx="1447800" cy="5524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6360" indent="0">
              <a:buNone/>
            </a:pPr>
            <a:r>
              <a:rPr lang="en-US" dirty="0"/>
              <a:t>Variant of problem in </a:t>
            </a:r>
            <a:r>
              <a:rPr lang="en-US" dirty="0" err="1"/>
              <a:t>Puterman</a:t>
            </a:r>
            <a:r>
              <a:rPr lang="en-US" dirty="0"/>
              <a:t> (2005):</a:t>
            </a:r>
          </a:p>
          <a:p>
            <a:pPr lvl="1"/>
            <a:r>
              <a:rPr lang="en-US" dirty="0"/>
              <a:t>Find best path from 1 to 14 that minimizes the </a:t>
            </a:r>
            <a:r>
              <a:rPr lang="en-US" i="1" dirty="0"/>
              <a:t>second highest arc cost </a:t>
            </a:r>
            <a:r>
              <a:rPr lang="en-US" dirty="0"/>
              <a:t>along the path: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1"/>
            <a:r>
              <a:rPr lang="en-US" dirty="0"/>
              <a:t>If the traveler is at node 9, what is her state?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variables: Network problem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CCA86A1-78B9-15BA-F981-DA132F5CCBE5}"/>
              </a:ext>
            </a:extLst>
          </p:cNvPr>
          <p:cNvGrpSpPr/>
          <p:nvPr/>
        </p:nvGrpSpPr>
        <p:grpSpPr>
          <a:xfrm>
            <a:off x="2255521" y="3678901"/>
            <a:ext cx="329184" cy="338554"/>
            <a:chOff x="1417320" y="3008376"/>
            <a:chExt cx="329184" cy="338554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E7F8C668-2911-8C32-420C-8CF6438BD0C0}"/>
                </a:ext>
              </a:extLst>
            </p:cNvPr>
            <p:cNvSpPr/>
            <p:nvPr/>
          </p:nvSpPr>
          <p:spPr bwMode="auto">
            <a:xfrm>
              <a:off x="1417320" y="3026664"/>
              <a:ext cx="329184" cy="310896"/>
            </a:xfrm>
            <a:prstGeom prst="ellips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dirty="0">
                <a:solidFill>
                  <a:schemeClr val="tx1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70545AB-1DC4-297F-B812-6AF1936CAE82}"/>
                </a:ext>
              </a:extLst>
            </p:cNvPr>
            <p:cNvSpPr txBox="1"/>
            <p:nvPr/>
          </p:nvSpPr>
          <p:spPr>
            <a:xfrm>
              <a:off x="1426464" y="3008376"/>
              <a:ext cx="2580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E72359A-248A-BAE8-D969-2694272981E5}"/>
              </a:ext>
            </a:extLst>
          </p:cNvPr>
          <p:cNvGrpSpPr/>
          <p:nvPr/>
        </p:nvGrpSpPr>
        <p:grpSpPr>
          <a:xfrm>
            <a:off x="3496057" y="3666709"/>
            <a:ext cx="329184" cy="338554"/>
            <a:chOff x="1417320" y="3008376"/>
            <a:chExt cx="329184" cy="338554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3692C1DB-34F7-F06A-40C1-9989366DB570}"/>
                </a:ext>
              </a:extLst>
            </p:cNvPr>
            <p:cNvSpPr/>
            <p:nvPr/>
          </p:nvSpPr>
          <p:spPr bwMode="auto">
            <a:xfrm>
              <a:off x="1417320" y="3026664"/>
              <a:ext cx="329184" cy="310896"/>
            </a:xfrm>
            <a:prstGeom prst="ellips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dirty="0">
                <a:solidFill>
                  <a:schemeClr val="tx1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8B209CD-9372-F699-7C1D-C6418A9376BE}"/>
                </a:ext>
              </a:extLst>
            </p:cNvPr>
            <p:cNvSpPr txBox="1"/>
            <p:nvPr/>
          </p:nvSpPr>
          <p:spPr>
            <a:xfrm>
              <a:off x="1426464" y="3008376"/>
              <a:ext cx="2580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3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2BFDE0E-6954-04D8-0B29-66F7B7F80679}"/>
              </a:ext>
            </a:extLst>
          </p:cNvPr>
          <p:cNvGrpSpPr/>
          <p:nvPr/>
        </p:nvGrpSpPr>
        <p:grpSpPr>
          <a:xfrm>
            <a:off x="3502153" y="2712685"/>
            <a:ext cx="329184" cy="338554"/>
            <a:chOff x="1417320" y="3008376"/>
            <a:chExt cx="329184" cy="338554"/>
          </a:xfrm>
        </p:grpSpPr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63AB1B78-F249-E96E-C394-5DEAE5ED60EA}"/>
                </a:ext>
              </a:extLst>
            </p:cNvPr>
            <p:cNvSpPr/>
            <p:nvPr/>
          </p:nvSpPr>
          <p:spPr bwMode="auto">
            <a:xfrm>
              <a:off x="1417320" y="3026664"/>
              <a:ext cx="329184" cy="310896"/>
            </a:xfrm>
            <a:prstGeom prst="ellips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dirty="0">
                <a:solidFill>
                  <a:schemeClr val="tx1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65E2EA04-E3C3-8515-65F5-ECD4B919FBC6}"/>
                </a:ext>
              </a:extLst>
            </p:cNvPr>
            <p:cNvSpPr txBox="1"/>
            <p:nvPr/>
          </p:nvSpPr>
          <p:spPr>
            <a:xfrm>
              <a:off x="1426464" y="3008376"/>
              <a:ext cx="2580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2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4E001D0B-8FE6-3E00-A7FF-F56015F4EA7D}"/>
              </a:ext>
            </a:extLst>
          </p:cNvPr>
          <p:cNvGrpSpPr/>
          <p:nvPr/>
        </p:nvGrpSpPr>
        <p:grpSpPr>
          <a:xfrm>
            <a:off x="3493009" y="4651213"/>
            <a:ext cx="329184" cy="338554"/>
            <a:chOff x="1417320" y="3008376"/>
            <a:chExt cx="329184" cy="338554"/>
          </a:xfrm>
        </p:grpSpPr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544DD6F9-E058-1679-972F-31BC22EE2BB7}"/>
                </a:ext>
              </a:extLst>
            </p:cNvPr>
            <p:cNvSpPr/>
            <p:nvPr/>
          </p:nvSpPr>
          <p:spPr bwMode="auto">
            <a:xfrm>
              <a:off x="1417320" y="3026664"/>
              <a:ext cx="329184" cy="310896"/>
            </a:xfrm>
            <a:prstGeom prst="ellips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dirty="0">
                <a:solidFill>
                  <a:schemeClr val="tx1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DA475095-37EF-299E-8848-6B99011B2501}"/>
                </a:ext>
              </a:extLst>
            </p:cNvPr>
            <p:cNvSpPr txBox="1"/>
            <p:nvPr/>
          </p:nvSpPr>
          <p:spPr>
            <a:xfrm>
              <a:off x="1426464" y="3008376"/>
              <a:ext cx="2580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4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07C427D9-0182-A449-2904-67E8ED7F0160}"/>
              </a:ext>
            </a:extLst>
          </p:cNvPr>
          <p:cNvGrpSpPr/>
          <p:nvPr/>
        </p:nvGrpSpPr>
        <p:grpSpPr>
          <a:xfrm>
            <a:off x="4983481" y="3663661"/>
            <a:ext cx="329184" cy="338554"/>
            <a:chOff x="1417320" y="3008376"/>
            <a:chExt cx="329184" cy="338554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F24C5DF1-9083-BD6B-2E42-C69F9953F301}"/>
                </a:ext>
              </a:extLst>
            </p:cNvPr>
            <p:cNvSpPr/>
            <p:nvPr/>
          </p:nvSpPr>
          <p:spPr bwMode="auto">
            <a:xfrm>
              <a:off x="1417320" y="3026664"/>
              <a:ext cx="329184" cy="310896"/>
            </a:xfrm>
            <a:prstGeom prst="ellips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dirty="0">
                <a:solidFill>
                  <a:schemeClr val="tx1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9688F9C1-800C-7863-E47E-0677D08B853F}"/>
                </a:ext>
              </a:extLst>
            </p:cNvPr>
            <p:cNvSpPr txBox="1"/>
            <p:nvPr/>
          </p:nvSpPr>
          <p:spPr>
            <a:xfrm>
              <a:off x="1426464" y="3008376"/>
              <a:ext cx="2580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6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87C77FB-E364-4E33-D524-B001C9E0D4BE}"/>
              </a:ext>
            </a:extLst>
          </p:cNvPr>
          <p:cNvGrpSpPr/>
          <p:nvPr/>
        </p:nvGrpSpPr>
        <p:grpSpPr>
          <a:xfrm>
            <a:off x="4989577" y="2709637"/>
            <a:ext cx="329184" cy="338554"/>
            <a:chOff x="1417320" y="3008376"/>
            <a:chExt cx="329184" cy="338554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A7374394-A119-CE67-01E8-5D1CA55D761B}"/>
                </a:ext>
              </a:extLst>
            </p:cNvPr>
            <p:cNvSpPr/>
            <p:nvPr/>
          </p:nvSpPr>
          <p:spPr bwMode="auto">
            <a:xfrm>
              <a:off x="1417320" y="3026664"/>
              <a:ext cx="329184" cy="310896"/>
            </a:xfrm>
            <a:prstGeom prst="ellips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dirty="0">
                <a:solidFill>
                  <a:schemeClr val="tx1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9F3BA328-897D-EBE1-401A-B393E79AE880}"/>
                </a:ext>
              </a:extLst>
            </p:cNvPr>
            <p:cNvSpPr txBox="1"/>
            <p:nvPr/>
          </p:nvSpPr>
          <p:spPr>
            <a:xfrm>
              <a:off x="1426464" y="3008376"/>
              <a:ext cx="2580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5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998A21BE-CBF5-FB2A-A38C-A80C997515AE}"/>
              </a:ext>
            </a:extLst>
          </p:cNvPr>
          <p:cNvGrpSpPr/>
          <p:nvPr/>
        </p:nvGrpSpPr>
        <p:grpSpPr>
          <a:xfrm>
            <a:off x="4980433" y="4648165"/>
            <a:ext cx="329184" cy="338554"/>
            <a:chOff x="1417320" y="3008376"/>
            <a:chExt cx="329184" cy="338554"/>
          </a:xfrm>
        </p:grpSpPr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6DAB0784-9BD3-0A47-195D-D165F138A61E}"/>
                </a:ext>
              </a:extLst>
            </p:cNvPr>
            <p:cNvSpPr/>
            <p:nvPr/>
          </p:nvSpPr>
          <p:spPr bwMode="auto">
            <a:xfrm>
              <a:off x="1417320" y="3026664"/>
              <a:ext cx="329184" cy="310896"/>
            </a:xfrm>
            <a:prstGeom prst="ellips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dirty="0">
                <a:solidFill>
                  <a:schemeClr val="tx1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CA83D6F0-8428-EAA5-523B-27D3995EDDB2}"/>
                </a:ext>
              </a:extLst>
            </p:cNvPr>
            <p:cNvSpPr txBox="1"/>
            <p:nvPr/>
          </p:nvSpPr>
          <p:spPr>
            <a:xfrm>
              <a:off x="1426464" y="3008376"/>
              <a:ext cx="2580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7</a:t>
              </a:r>
            </a:p>
          </p:txBody>
        </p:sp>
      </p:grp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E8AEDC3C-2518-6411-4079-CAA09D1A4481}"/>
              </a:ext>
            </a:extLst>
          </p:cNvPr>
          <p:cNvCxnSpPr>
            <a:stCxn id="80" idx="6"/>
            <a:endCxn id="90" idx="1"/>
          </p:cNvCxnSpPr>
          <p:nvPr/>
        </p:nvCxnSpPr>
        <p:spPr bwMode="auto">
          <a:xfrm flipV="1">
            <a:off x="2584705" y="2881962"/>
            <a:ext cx="926592" cy="97067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3A042BA1-F719-9DDD-B120-908736CBC1ED}"/>
              </a:ext>
            </a:extLst>
          </p:cNvPr>
          <p:cNvCxnSpPr>
            <a:stCxn id="80" idx="6"/>
            <a:endCxn id="86" idx="2"/>
          </p:cNvCxnSpPr>
          <p:nvPr/>
        </p:nvCxnSpPr>
        <p:spPr bwMode="auto">
          <a:xfrm flipV="1">
            <a:off x="2584705" y="3840445"/>
            <a:ext cx="911352" cy="1219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24800306-D4DC-1BEF-E9F0-2168067CD3CB}"/>
              </a:ext>
            </a:extLst>
          </p:cNvPr>
          <p:cNvCxnSpPr>
            <a:stCxn id="80" idx="6"/>
            <a:endCxn id="93" idx="1"/>
          </p:cNvCxnSpPr>
          <p:nvPr/>
        </p:nvCxnSpPr>
        <p:spPr bwMode="auto">
          <a:xfrm>
            <a:off x="2584705" y="3852637"/>
            <a:ext cx="917448" cy="96785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55553493-1928-74CF-9BAC-D49F4A505E35}"/>
              </a:ext>
            </a:extLst>
          </p:cNvPr>
          <p:cNvCxnSpPr>
            <a:stCxn id="89" idx="6"/>
            <a:endCxn id="99" idx="1"/>
          </p:cNvCxnSpPr>
          <p:nvPr/>
        </p:nvCxnSpPr>
        <p:spPr bwMode="auto">
          <a:xfrm flipV="1">
            <a:off x="3831337" y="2878914"/>
            <a:ext cx="1167384" cy="750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B9F14CE7-0FD9-0912-33EC-82ADE7CF8251}"/>
              </a:ext>
            </a:extLst>
          </p:cNvPr>
          <p:cNvCxnSpPr>
            <a:stCxn id="89" idx="6"/>
            <a:endCxn id="96" idx="1"/>
          </p:cNvCxnSpPr>
          <p:nvPr/>
        </p:nvCxnSpPr>
        <p:spPr bwMode="auto">
          <a:xfrm>
            <a:off x="3831337" y="2886421"/>
            <a:ext cx="1161288" cy="94651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9E71B235-D8B1-EE71-8932-B1A937C9AC8C}"/>
              </a:ext>
            </a:extLst>
          </p:cNvPr>
          <p:cNvCxnSpPr>
            <a:stCxn id="86" idx="6"/>
            <a:endCxn id="102" idx="1"/>
          </p:cNvCxnSpPr>
          <p:nvPr/>
        </p:nvCxnSpPr>
        <p:spPr bwMode="auto">
          <a:xfrm>
            <a:off x="3825241" y="3840445"/>
            <a:ext cx="1164336" cy="97699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BB238F83-AAB2-3067-0FED-6DD65E37FF44}"/>
              </a:ext>
            </a:extLst>
          </p:cNvPr>
          <p:cNvCxnSpPr>
            <a:stCxn id="92" idx="6"/>
            <a:endCxn id="101" idx="2"/>
          </p:cNvCxnSpPr>
          <p:nvPr/>
        </p:nvCxnSpPr>
        <p:spPr bwMode="auto">
          <a:xfrm flipV="1">
            <a:off x="3822193" y="4821901"/>
            <a:ext cx="1158240" cy="304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BC93706C-12EE-ACCD-2342-7330810B93D7}"/>
              </a:ext>
            </a:extLst>
          </p:cNvPr>
          <p:cNvCxnSpPr>
            <a:stCxn id="86" idx="6"/>
            <a:endCxn id="99" idx="1"/>
          </p:cNvCxnSpPr>
          <p:nvPr/>
        </p:nvCxnSpPr>
        <p:spPr bwMode="auto">
          <a:xfrm flipV="1">
            <a:off x="3825241" y="2878914"/>
            <a:ext cx="1173480" cy="96153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D88AB1AA-03AB-5742-EEF4-D6BBFCA72BA4}"/>
              </a:ext>
            </a:extLst>
          </p:cNvPr>
          <p:cNvSpPr txBox="1"/>
          <p:nvPr/>
        </p:nvSpPr>
        <p:spPr>
          <a:xfrm>
            <a:off x="4191001" y="2949018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95AC994-2BFC-0B50-8D6D-F204413CF462}"/>
              </a:ext>
            </a:extLst>
          </p:cNvPr>
          <p:cNvSpPr txBox="1"/>
          <p:nvPr/>
        </p:nvSpPr>
        <p:spPr>
          <a:xfrm>
            <a:off x="3008377" y="3535645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B676816-CE76-9872-25C3-887CFF6E140C}"/>
              </a:ext>
            </a:extLst>
          </p:cNvPr>
          <p:cNvSpPr txBox="1"/>
          <p:nvPr/>
        </p:nvSpPr>
        <p:spPr>
          <a:xfrm>
            <a:off x="2795017" y="3020533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12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1073B00-61F8-A3C3-4B3F-D5FE1C7D1029}"/>
              </a:ext>
            </a:extLst>
          </p:cNvPr>
          <p:cNvSpPr txBox="1"/>
          <p:nvPr/>
        </p:nvSpPr>
        <p:spPr>
          <a:xfrm>
            <a:off x="3953257" y="3227797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12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4F87BFB-4EAF-D7B3-5679-90AC496FDCE3}"/>
              </a:ext>
            </a:extLst>
          </p:cNvPr>
          <p:cNvSpPr txBox="1"/>
          <p:nvPr/>
        </p:nvSpPr>
        <p:spPr>
          <a:xfrm>
            <a:off x="4224529" y="2575525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14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D299EE9-7139-FADD-A562-8EE2F3DD2384}"/>
              </a:ext>
            </a:extLst>
          </p:cNvPr>
          <p:cNvSpPr txBox="1"/>
          <p:nvPr/>
        </p:nvSpPr>
        <p:spPr>
          <a:xfrm>
            <a:off x="3905201" y="4291436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84E7C60-1133-3851-6CFC-D0EE8E2A5A00}"/>
              </a:ext>
            </a:extLst>
          </p:cNvPr>
          <p:cNvSpPr txBox="1"/>
          <p:nvPr/>
        </p:nvSpPr>
        <p:spPr>
          <a:xfrm>
            <a:off x="4117849" y="4489669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7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F30AEF2-BADF-D239-7598-CFF5079A9D58}"/>
              </a:ext>
            </a:extLst>
          </p:cNvPr>
          <p:cNvSpPr txBox="1"/>
          <p:nvPr/>
        </p:nvSpPr>
        <p:spPr>
          <a:xfrm>
            <a:off x="3081529" y="4102573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BD3B8327-AF46-BB39-75CE-1EEF31DED3F4}"/>
              </a:ext>
            </a:extLst>
          </p:cNvPr>
          <p:cNvGrpSpPr/>
          <p:nvPr/>
        </p:nvGrpSpPr>
        <p:grpSpPr>
          <a:xfrm>
            <a:off x="9176876" y="3669757"/>
            <a:ext cx="453928" cy="338554"/>
            <a:chOff x="1365994" y="3008376"/>
            <a:chExt cx="453928" cy="338554"/>
          </a:xfrm>
        </p:grpSpPr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820E6B93-3D37-EEFB-4313-16729543C064}"/>
                </a:ext>
              </a:extLst>
            </p:cNvPr>
            <p:cNvSpPr/>
            <p:nvPr/>
          </p:nvSpPr>
          <p:spPr bwMode="auto">
            <a:xfrm>
              <a:off x="1417320" y="3026664"/>
              <a:ext cx="329184" cy="310896"/>
            </a:xfrm>
            <a:prstGeom prst="ellips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dirty="0">
                <a:solidFill>
                  <a:schemeClr val="tx1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E266FA07-97D9-08A1-84EE-6DA45A62C8C6}"/>
                </a:ext>
              </a:extLst>
            </p:cNvPr>
            <p:cNvSpPr txBox="1"/>
            <p:nvPr/>
          </p:nvSpPr>
          <p:spPr>
            <a:xfrm>
              <a:off x="1365994" y="3008376"/>
              <a:ext cx="4539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14 </a:t>
              </a:r>
            </a:p>
          </p:txBody>
        </p:sp>
      </p:grp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97CF375B-94A1-736C-D883-E2687FEC9BEC}"/>
              </a:ext>
            </a:extLst>
          </p:cNvPr>
          <p:cNvCxnSpPr>
            <a:cxnSpLocks/>
          </p:cNvCxnSpPr>
          <p:nvPr/>
        </p:nvCxnSpPr>
        <p:spPr bwMode="auto">
          <a:xfrm>
            <a:off x="8282756" y="2889469"/>
            <a:ext cx="922401" cy="94956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E2EEBBBA-7DB5-E1A6-1E75-3766D47425D8}"/>
              </a:ext>
            </a:extLst>
          </p:cNvPr>
          <p:cNvCxnSpPr>
            <a:endCxn id="121" idx="1"/>
          </p:cNvCxnSpPr>
          <p:nvPr/>
        </p:nvCxnSpPr>
        <p:spPr bwMode="auto">
          <a:xfrm>
            <a:off x="8283812" y="3837397"/>
            <a:ext cx="893064" cy="163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81850357-88FD-FB24-3D23-539A38600229}"/>
              </a:ext>
            </a:extLst>
          </p:cNvPr>
          <p:cNvCxnSpPr/>
          <p:nvPr/>
        </p:nvCxnSpPr>
        <p:spPr bwMode="auto">
          <a:xfrm flipV="1">
            <a:off x="8300711" y="3839034"/>
            <a:ext cx="895019" cy="98450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519043F7-F77E-8058-7A5B-16B49AAF44EE}"/>
              </a:ext>
            </a:extLst>
          </p:cNvPr>
          <p:cNvSpPr txBox="1"/>
          <p:nvPr/>
        </p:nvSpPr>
        <p:spPr>
          <a:xfrm>
            <a:off x="8475346" y="3520405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18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684C7E89-F625-C2DF-0424-F3073152807D}"/>
              </a:ext>
            </a:extLst>
          </p:cNvPr>
          <p:cNvSpPr txBox="1"/>
          <p:nvPr/>
        </p:nvSpPr>
        <p:spPr>
          <a:xfrm>
            <a:off x="8460106" y="4145245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11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9D1048A-5661-489C-755E-C8D281C6B47A}"/>
              </a:ext>
            </a:extLst>
          </p:cNvPr>
          <p:cNvSpPr txBox="1"/>
          <p:nvPr/>
        </p:nvSpPr>
        <p:spPr>
          <a:xfrm>
            <a:off x="8630794" y="2953477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7FE0C109-9D93-BF75-5B09-CC3846AE8D5B}"/>
              </a:ext>
            </a:extLst>
          </p:cNvPr>
          <p:cNvGrpSpPr/>
          <p:nvPr/>
        </p:nvGrpSpPr>
        <p:grpSpPr>
          <a:xfrm>
            <a:off x="6470905" y="3667097"/>
            <a:ext cx="329184" cy="338554"/>
            <a:chOff x="1417320" y="3005716"/>
            <a:chExt cx="329184" cy="338554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871D8E12-6945-F7F7-EB2F-F21125D89716}"/>
                </a:ext>
              </a:extLst>
            </p:cNvPr>
            <p:cNvSpPr/>
            <p:nvPr/>
          </p:nvSpPr>
          <p:spPr bwMode="auto">
            <a:xfrm>
              <a:off x="1417320" y="3026664"/>
              <a:ext cx="329184" cy="310896"/>
            </a:xfrm>
            <a:prstGeom prst="ellips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dirty="0">
                <a:solidFill>
                  <a:schemeClr val="tx1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FD005894-2B1B-33BF-ABD9-D989FF6313E8}"/>
                </a:ext>
              </a:extLst>
            </p:cNvPr>
            <p:cNvSpPr txBox="1"/>
            <p:nvPr/>
          </p:nvSpPr>
          <p:spPr>
            <a:xfrm>
              <a:off x="1444953" y="3005716"/>
              <a:ext cx="2580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9</a:t>
              </a: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C615F85-0692-EC49-F58F-E95C54D0C1BE}"/>
              </a:ext>
            </a:extLst>
          </p:cNvPr>
          <p:cNvGrpSpPr/>
          <p:nvPr/>
        </p:nvGrpSpPr>
        <p:grpSpPr>
          <a:xfrm>
            <a:off x="6477001" y="2715733"/>
            <a:ext cx="329184" cy="338554"/>
            <a:chOff x="1417320" y="3008376"/>
            <a:chExt cx="329184" cy="338554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FEA74C44-F0F6-84B9-99AB-B6F4A4EB5DDC}"/>
                </a:ext>
              </a:extLst>
            </p:cNvPr>
            <p:cNvSpPr/>
            <p:nvPr/>
          </p:nvSpPr>
          <p:spPr bwMode="auto">
            <a:xfrm>
              <a:off x="1417320" y="3026664"/>
              <a:ext cx="329184" cy="310896"/>
            </a:xfrm>
            <a:prstGeom prst="ellips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dirty="0">
                <a:solidFill>
                  <a:schemeClr val="tx1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AA269239-6BC6-87F7-00D8-556B2449E23E}"/>
                </a:ext>
              </a:extLst>
            </p:cNvPr>
            <p:cNvSpPr txBox="1"/>
            <p:nvPr/>
          </p:nvSpPr>
          <p:spPr>
            <a:xfrm>
              <a:off x="1426464" y="3008376"/>
              <a:ext cx="2580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8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4FA4BF61-C42F-7101-0169-40914E424B6A}"/>
              </a:ext>
            </a:extLst>
          </p:cNvPr>
          <p:cNvGrpSpPr/>
          <p:nvPr/>
        </p:nvGrpSpPr>
        <p:grpSpPr>
          <a:xfrm>
            <a:off x="6418327" y="4654261"/>
            <a:ext cx="453340" cy="338554"/>
            <a:chOff x="1367790" y="3008376"/>
            <a:chExt cx="453340" cy="338554"/>
          </a:xfrm>
        </p:grpSpPr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64977AA9-6A7D-5C60-EA33-8F41E013DE09}"/>
                </a:ext>
              </a:extLst>
            </p:cNvPr>
            <p:cNvSpPr/>
            <p:nvPr/>
          </p:nvSpPr>
          <p:spPr bwMode="auto">
            <a:xfrm>
              <a:off x="1417320" y="3026664"/>
              <a:ext cx="329184" cy="310896"/>
            </a:xfrm>
            <a:prstGeom prst="ellips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dirty="0">
                <a:solidFill>
                  <a:schemeClr val="tx1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A3A2560E-F813-D29F-9E1F-0727831A89CF}"/>
                </a:ext>
              </a:extLst>
            </p:cNvPr>
            <p:cNvSpPr txBox="1"/>
            <p:nvPr/>
          </p:nvSpPr>
          <p:spPr>
            <a:xfrm>
              <a:off x="1367790" y="3008376"/>
              <a:ext cx="4533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10</a:t>
              </a:r>
            </a:p>
          </p:txBody>
        </p:sp>
      </p:grp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5C780A89-8946-432C-265B-FB012290A42A}"/>
              </a:ext>
            </a:extLst>
          </p:cNvPr>
          <p:cNvCxnSpPr>
            <a:endCxn id="133" idx="1"/>
          </p:cNvCxnSpPr>
          <p:nvPr/>
        </p:nvCxnSpPr>
        <p:spPr bwMode="auto">
          <a:xfrm flipV="1">
            <a:off x="5318761" y="2885010"/>
            <a:ext cx="1167384" cy="750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2675F16B-C2D5-5B6C-6D80-258DF75C2DA3}"/>
              </a:ext>
            </a:extLst>
          </p:cNvPr>
          <p:cNvCxnSpPr>
            <a:endCxn id="130" idx="1"/>
          </p:cNvCxnSpPr>
          <p:nvPr/>
        </p:nvCxnSpPr>
        <p:spPr bwMode="auto">
          <a:xfrm>
            <a:off x="5318761" y="2892517"/>
            <a:ext cx="1161288" cy="94651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2BC21A53-972E-BEDF-6D9F-80AA63FEDDC9}"/>
              </a:ext>
            </a:extLst>
          </p:cNvPr>
          <p:cNvCxnSpPr>
            <a:stCxn id="95" idx="6"/>
            <a:endCxn id="136" idx="1"/>
          </p:cNvCxnSpPr>
          <p:nvPr/>
        </p:nvCxnSpPr>
        <p:spPr bwMode="auto">
          <a:xfrm>
            <a:off x="5312665" y="3837397"/>
            <a:ext cx="1105662" cy="98614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A9FF44B2-A8C8-FD57-A136-C49140D6D617}"/>
              </a:ext>
            </a:extLst>
          </p:cNvPr>
          <p:cNvCxnSpPr>
            <a:endCxn id="135" idx="2"/>
          </p:cNvCxnSpPr>
          <p:nvPr/>
        </p:nvCxnSpPr>
        <p:spPr bwMode="auto">
          <a:xfrm flipV="1">
            <a:off x="5309617" y="4827997"/>
            <a:ext cx="1158240" cy="304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DD9C8244-34D3-6B56-7FA9-4F88CA245595}"/>
              </a:ext>
            </a:extLst>
          </p:cNvPr>
          <p:cNvCxnSpPr>
            <a:endCxn id="133" idx="1"/>
          </p:cNvCxnSpPr>
          <p:nvPr/>
        </p:nvCxnSpPr>
        <p:spPr bwMode="auto">
          <a:xfrm flipV="1">
            <a:off x="5312665" y="2885010"/>
            <a:ext cx="1173480" cy="96153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1CC4E789-BEC3-181E-5292-0555E37FC28C}"/>
              </a:ext>
            </a:extLst>
          </p:cNvPr>
          <p:cNvSpPr txBox="1"/>
          <p:nvPr/>
        </p:nvSpPr>
        <p:spPr>
          <a:xfrm>
            <a:off x="5678425" y="2955114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8A85795-873B-0049-8BE9-3B97264229C2}"/>
              </a:ext>
            </a:extLst>
          </p:cNvPr>
          <p:cNvSpPr txBox="1"/>
          <p:nvPr/>
        </p:nvSpPr>
        <p:spPr>
          <a:xfrm>
            <a:off x="5440681" y="3233893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12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B2631E6-D4B9-DF09-E0D2-A63847DC8C7D}"/>
              </a:ext>
            </a:extLst>
          </p:cNvPr>
          <p:cNvSpPr txBox="1"/>
          <p:nvPr/>
        </p:nvSpPr>
        <p:spPr>
          <a:xfrm>
            <a:off x="5711953" y="2581621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0404512-C663-05C6-3753-BBCE7445C933}"/>
              </a:ext>
            </a:extLst>
          </p:cNvPr>
          <p:cNvSpPr txBox="1"/>
          <p:nvPr/>
        </p:nvSpPr>
        <p:spPr>
          <a:xfrm>
            <a:off x="5343145" y="4306789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5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1D8A54E-E1BF-77DD-5005-4E4C7366E109}"/>
              </a:ext>
            </a:extLst>
          </p:cNvPr>
          <p:cNvSpPr txBox="1"/>
          <p:nvPr/>
        </p:nvSpPr>
        <p:spPr>
          <a:xfrm>
            <a:off x="5605273" y="4495765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10</a:t>
            </a: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F38E6204-C323-1739-96D9-34F6D19B4219}"/>
              </a:ext>
            </a:extLst>
          </p:cNvPr>
          <p:cNvCxnSpPr>
            <a:endCxn id="130" idx="1"/>
          </p:cNvCxnSpPr>
          <p:nvPr/>
        </p:nvCxnSpPr>
        <p:spPr bwMode="auto">
          <a:xfrm flipV="1">
            <a:off x="5324857" y="3839034"/>
            <a:ext cx="1155192" cy="1969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EEC6842D-CCC4-5336-2665-E4B1A3F23283}"/>
              </a:ext>
            </a:extLst>
          </p:cNvPr>
          <p:cNvSpPr txBox="1"/>
          <p:nvPr/>
        </p:nvSpPr>
        <p:spPr>
          <a:xfrm>
            <a:off x="5702843" y="3541741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15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1F55FD3A-4D59-923E-E21E-739CA12534EA}"/>
              </a:ext>
            </a:extLst>
          </p:cNvPr>
          <p:cNvCxnSpPr>
            <a:stCxn id="101" idx="6"/>
            <a:endCxn id="129" idx="2"/>
          </p:cNvCxnSpPr>
          <p:nvPr/>
        </p:nvCxnSpPr>
        <p:spPr bwMode="auto">
          <a:xfrm flipV="1">
            <a:off x="5309617" y="3843493"/>
            <a:ext cx="1161288" cy="97840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80040941-1D12-5DF7-C6F9-53B7B58186CD}"/>
              </a:ext>
            </a:extLst>
          </p:cNvPr>
          <p:cNvCxnSpPr>
            <a:stCxn id="92" idx="6"/>
            <a:endCxn id="95" idx="2"/>
          </p:cNvCxnSpPr>
          <p:nvPr/>
        </p:nvCxnSpPr>
        <p:spPr bwMode="auto">
          <a:xfrm flipV="1">
            <a:off x="3822193" y="3837397"/>
            <a:ext cx="1161288" cy="98755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FE9E6206-1D64-060F-DCEB-855F5895991A}"/>
              </a:ext>
            </a:extLst>
          </p:cNvPr>
          <p:cNvSpPr txBox="1"/>
          <p:nvPr/>
        </p:nvSpPr>
        <p:spPr>
          <a:xfrm>
            <a:off x="5626609" y="3931885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3B49946C-BD83-49C2-0F73-26CBA2D0BF9D}"/>
              </a:ext>
            </a:extLst>
          </p:cNvPr>
          <p:cNvSpPr txBox="1"/>
          <p:nvPr/>
        </p:nvSpPr>
        <p:spPr>
          <a:xfrm>
            <a:off x="3995929" y="3782533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15</a:t>
            </a:r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26C874C3-B719-10C3-2217-E82E60AEE892}"/>
              </a:ext>
            </a:extLst>
          </p:cNvPr>
          <p:cNvCxnSpPr/>
          <p:nvPr/>
        </p:nvCxnSpPr>
        <p:spPr bwMode="auto">
          <a:xfrm flipV="1">
            <a:off x="2606480" y="2863543"/>
            <a:ext cx="926592" cy="970675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2FC98856-8EB6-D33F-9DE8-1D6775C5BBFF}"/>
              </a:ext>
            </a:extLst>
          </p:cNvPr>
          <p:cNvCxnSpPr/>
          <p:nvPr/>
        </p:nvCxnSpPr>
        <p:spPr bwMode="auto">
          <a:xfrm>
            <a:off x="3863155" y="2908198"/>
            <a:ext cx="1161288" cy="946517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34051681-E01F-3DA7-4CFC-B8C2731E76DE}"/>
              </a:ext>
            </a:extLst>
          </p:cNvPr>
          <p:cNvCxnSpPr/>
          <p:nvPr/>
        </p:nvCxnSpPr>
        <p:spPr bwMode="auto">
          <a:xfrm flipV="1">
            <a:off x="5326533" y="3840714"/>
            <a:ext cx="1155192" cy="19699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6" name="Oval 155">
            <a:extLst>
              <a:ext uri="{FF2B5EF4-FFF2-40B4-BE49-F238E27FC236}">
                <a16:creationId xmlns:a16="http://schemas.microsoft.com/office/drawing/2014/main" id="{F71732E2-5BC2-5D61-C7E7-30CDEA531161}"/>
              </a:ext>
            </a:extLst>
          </p:cNvPr>
          <p:cNvSpPr/>
          <p:nvPr/>
        </p:nvSpPr>
        <p:spPr bwMode="auto">
          <a:xfrm>
            <a:off x="6470904" y="3684235"/>
            <a:ext cx="329184" cy="310896"/>
          </a:xfrm>
          <a:prstGeom prst="ellipse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</a:pPr>
            <a:endParaRPr lang="en-US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B9572168-919B-DD0F-DD68-FB4E78157DF3}"/>
              </a:ext>
            </a:extLst>
          </p:cNvPr>
          <p:cNvGrpSpPr/>
          <p:nvPr/>
        </p:nvGrpSpPr>
        <p:grpSpPr>
          <a:xfrm>
            <a:off x="7918546" y="3667097"/>
            <a:ext cx="412291" cy="338554"/>
            <a:chOff x="1369536" y="3005716"/>
            <a:chExt cx="412291" cy="338554"/>
          </a:xfrm>
        </p:grpSpPr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C045C716-430F-AD38-E1B8-13F574992DB7}"/>
                </a:ext>
              </a:extLst>
            </p:cNvPr>
            <p:cNvSpPr/>
            <p:nvPr/>
          </p:nvSpPr>
          <p:spPr bwMode="auto">
            <a:xfrm>
              <a:off x="1417320" y="3026664"/>
              <a:ext cx="329184" cy="310896"/>
            </a:xfrm>
            <a:prstGeom prst="ellips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dirty="0">
                <a:solidFill>
                  <a:schemeClr val="tx1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89E0E596-CC69-4DD4-59B8-C58B64EA95D9}"/>
                </a:ext>
              </a:extLst>
            </p:cNvPr>
            <p:cNvSpPr txBox="1"/>
            <p:nvPr/>
          </p:nvSpPr>
          <p:spPr>
            <a:xfrm>
              <a:off x="1369536" y="3005716"/>
              <a:ext cx="4122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12</a:t>
              </a:r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44B8364B-12FD-8C87-7F98-16136E3017D9}"/>
              </a:ext>
            </a:extLst>
          </p:cNvPr>
          <p:cNvGrpSpPr/>
          <p:nvPr/>
        </p:nvGrpSpPr>
        <p:grpSpPr>
          <a:xfrm>
            <a:off x="7934435" y="2715733"/>
            <a:ext cx="478536" cy="338554"/>
            <a:chOff x="1379329" y="3008376"/>
            <a:chExt cx="478536" cy="338554"/>
          </a:xfrm>
        </p:grpSpPr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2F46C4F8-BA68-02C5-0FF7-5EF61C2A6DAC}"/>
                </a:ext>
              </a:extLst>
            </p:cNvPr>
            <p:cNvSpPr/>
            <p:nvPr/>
          </p:nvSpPr>
          <p:spPr bwMode="auto">
            <a:xfrm>
              <a:off x="1417320" y="3026664"/>
              <a:ext cx="329184" cy="310896"/>
            </a:xfrm>
            <a:prstGeom prst="ellips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dirty="0">
                <a:solidFill>
                  <a:schemeClr val="tx1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B72649F9-86EF-BEA2-31DF-59E95BF12BE3}"/>
                </a:ext>
              </a:extLst>
            </p:cNvPr>
            <p:cNvSpPr txBox="1"/>
            <p:nvPr/>
          </p:nvSpPr>
          <p:spPr>
            <a:xfrm>
              <a:off x="1379329" y="3008376"/>
              <a:ext cx="4785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11</a:t>
              </a: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EADD0ABA-1512-D272-8FC5-4FCF792D1345}"/>
              </a:ext>
            </a:extLst>
          </p:cNvPr>
          <p:cNvGrpSpPr/>
          <p:nvPr/>
        </p:nvGrpSpPr>
        <p:grpSpPr>
          <a:xfrm>
            <a:off x="7913752" y="4635211"/>
            <a:ext cx="453340" cy="338554"/>
            <a:chOff x="1367790" y="3008376"/>
            <a:chExt cx="453340" cy="338554"/>
          </a:xfrm>
        </p:grpSpPr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19C65A69-500A-1D50-5AD3-6EFD0A52BD32}"/>
                </a:ext>
              </a:extLst>
            </p:cNvPr>
            <p:cNvSpPr/>
            <p:nvPr/>
          </p:nvSpPr>
          <p:spPr bwMode="auto">
            <a:xfrm>
              <a:off x="1417320" y="3026664"/>
              <a:ext cx="329184" cy="310896"/>
            </a:xfrm>
            <a:prstGeom prst="ellips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dirty="0">
                <a:solidFill>
                  <a:schemeClr val="tx1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508DFC83-1852-C821-CF47-F14B883B19C4}"/>
                </a:ext>
              </a:extLst>
            </p:cNvPr>
            <p:cNvSpPr txBox="1"/>
            <p:nvPr/>
          </p:nvSpPr>
          <p:spPr>
            <a:xfrm>
              <a:off x="1367790" y="3008376"/>
              <a:ext cx="4533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13</a:t>
              </a:r>
            </a:p>
          </p:txBody>
        </p:sp>
      </p:grp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4A7C6339-D688-12BA-AC6E-69FD351187F2}"/>
              </a:ext>
            </a:extLst>
          </p:cNvPr>
          <p:cNvCxnSpPr>
            <a:cxnSpLocks/>
            <a:endCxn id="162" idx="1"/>
          </p:cNvCxnSpPr>
          <p:nvPr/>
        </p:nvCxnSpPr>
        <p:spPr bwMode="auto">
          <a:xfrm flipV="1">
            <a:off x="6767051" y="2885010"/>
            <a:ext cx="1167384" cy="750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81465F7A-86AA-3BDF-AFFC-EA35374FFB9B}"/>
              </a:ext>
            </a:extLst>
          </p:cNvPr>
          <p:cNvCxnSpPr>
            <a:cxnSpLocks/>
          </p:cNvCxnSpPr>
          <p:nvPr/>
        </p:nvCxnSpPr>
        <p:spPr bwMode="auto">
          <a:xfrm>
            <a:off x="6776478" y="2892517"/>
            <a:ext cx="1179776" cy="94385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72C0AEFE-B7D3-D0D0-61E8-D5076EDC83D1}"/>
              </a:ext>
            </a:extLst>
          </p:cNvPr>
          <p:cNvCxnSpPr>
            <a:stCxn id="156" idx="6"/>
            <a:endCxn id="165" idx="1"/>
          </p:cNvCxnSpPr>
          <p:nvPr/>
        </p:nvCxnSpPr>
        <p:spPr bwMode="auto">
          <a:xfrm>
            <a:off x="6800088" y="3839683"/>
            <a:ext cx="1113664" cy="96480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36971142-3CB8-B612-1BD1-308C841EED82}"/>
              </a:ext>
            </a:extLst>
          </p:cNvPr>
          <p:cNvCxnSpPr/>
          <p:nvPr/>
        </p:nvCxnSpPr>
        <p:spPr bwMode="auto">
          <a:xfrm flipV="1">
            <a:off x="6805042" y="4827997"/>
            <a:ext cx="1158240" cy="304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97C3E978-6BBF-7688-5E0C-21B8A207A552}"/>
              </a:ext>
            </a:extLst>
          </p:cNvPr>
          <p:cNvCxnSpPr>
            <a:cxnSpLocks/>
          </p:cNvCxnSpPr>
          <p:nvPr/>
        </p:nvCxnSpPr>
        <p:spPr bwMode="auto">
          <a:xfrm flipV="1">
            <a:off x="6789236" y="2885010"/>
            <a:ext cx="1173480" cy="96153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5A6BDAA2-78ED-A914-CB43-2C9655F64A9F}"/>
              </a:ext>
            </a:extLst>
          </p:cNvPr>
          <p:cNvSpPr txBox="1"/>
          <p:nvPr/>
        </p:nvSpPr>
        <p:spPr>
          <a:xfrm>
            <a:off x="7173850" y="2955114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744195A-7F26-C4D5-DB9D-33BE117BE9D3}"/>
              </a:ext>
            </a:extLst>
          </p:cNvPr>
          <p:cNvSpPr txBox="1"/>
          <p:nvPr/>
        </p:nvSpPr>
        <p:spPr>
          <a:xfrm>
            <a:off x="6936106" y="3233893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10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5D940D02-FD44-4590-AFC8-CB9170ABD197}"/>
              </a:ext>
            </a:extLst>
          </p:cNvPr>
          <p:cNvSpPr txBox="1"/>
          <p:nvPr/>
        </p:nvSpPr>
        <p:spPr>
          <a:xfrm>
            <a:off x="7207378" y="2581621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9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F3D247BB-5FF5-B316-82F4-C5DF6C03F09F}"/>
              </a:ext>
            </a:extLst>
          </p:cNvPr>
          <p:cNvSpPr txBox="1"/>
          <p:nvPr/>
        </p:nvSpPr>
        <p:spPr>
          <a:xfrm>
            <a:off x="6838570" y="4306789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5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0B55287C-2D53-CAE2-629A-0A5225E4FE55}"/>
              </a:ext>
            </a:extLst>
          </p:cNvPr>
          <p:cNvSpPr txBox="1"/>
          <p:nvPr/>
        </p:nvSpPr>
        <p:spPr>
          <a:xfrm>
            <a:off x="7205473" y="4495765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8559FD51-33EF-ACCB-E2AB-740BD0DC3153}"/>
              </a:ext>
            </a:extLst>
          </p:cNvPr>
          <p:cNvCxnSpPr>
            <a:cxnSpLocks/>
            <a:endCxn id="159" idx="1"/>
          </p:cNvCxnSpPr>
          <p:nvPr/>
        </p:nvCxnSpPr>
        <p:spPr bwMode="auto">
          <a:xfrm flipV="1">
            <a:off x="6744866" y="3836374"/>
            <a:ext cx="1173680" cy="2235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D130C50B-973A-D1CA-1227-EF0F74AD6AE9}"/>
              </a:ext>
            </a:extLst>
          </p:cNvPr>
          <p:cNvSpPr txBox="1"/>
          <p:nvPr/>
        </p:nvSpPr>
        <p:spPr>
          <a:xfrm>
            <a:off x="7198268" y="3541741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7</a:t>
            </a:r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627B8C3C-6679-CABE-E8C9-2011C805CEE1}"/>
              </a:ext>
            </a:extLst>
          </p:cNvPr>
          <p:cNvCxnSpPr>
            <a:endCxn id="158" idx="2"/>
          </p:cNvCxnSpPr>
          <p:nvPr/>
        </p:nvCxnSpPr>
        <p:spPr bwMode="auto">
          <a:xfrm flipV="1">
            <a:off x="6805042" y="3843493"/>
            <a:ext cx="1161288" cy="97840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37577CAB-4526-65E2-7E82-B7924EF9B4A8}"/>
              </a:ext>
            </a:extLst>
          </p:cNvPr>
          <p:cNvSpPr txBox="1"/>
          <p:nvPr/>
        </p:nvSpPr>
        <p:spPr>
          <a:xfrm>
            <a:off x="7122034" y="3931885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82"/>
              <p:cNvSpPr txBox="1"/>
              <p:nvPr/>
            </p:nvSpPr>
            <p:spPr bwMode="auto">
              <a:xfrm>
                <a:off x="1960563" y="5702300"/>
                <a:ext cx="8021637" cy="552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2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highest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second highest</m:t>
                      </m:r>
                      <m:r>
                        <m:rPr>
                          <m:nor/>
                        </m:rPr>
                        <a:rPr lang="en-US" sz="2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)=(9,(15,12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Object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60563" y="5702300"/>
                <a:ext cx="8021637" cy="5524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A8AB1808-4D79-941A-DFEF-46B4C2B719D9}"/>
              </a:ext>
            </a:extLst>
          </p:cNvPr>
          <p:cNvGrpSpPr/>
          <p:nvPr/>
        </p:nvGrpSpPr>
        <p:grpSpPr>
          <a:xfrm>
            <a:off x="7863751" y="5884712"/>
            <a:ext cx="572914" cy="838351"/>
            <a:chOff x="7863751" y="5884712"/>
            <a:chExt cx="572914" cy="838351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4" name="Object 3">
                  <a:extLst>
                    <a:ext uri="{FF2B5EF4-FFF2-40B4-BE49-F238E27FC236}">
                      <a16:creationId xmlns:a16="http://schemas.microsoft.com/office/drawing/2014/main" id="{C5DFA9D5-7D9B-88DA-99D6-1E87995CB1C0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839204304"/>
                    </p:ext>
                  </p:extLst>
                </p:nvPr>
              </p:nvGraphicFramePr>
              <p:xfrm>
                <a:off x="7977188" y="6238875"/>
                <a:ext cx="349250" cy="48418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4" imgW="165028" imgH="228501" progId="Equation.DSMT4">
                        <p:embed/>
                      </p:oleObj>
                    </mc:Choice>
                    <mc:Fallback>
                      <p:oleObj name="Equation" r:id="rId4" imgW="165028" imgH="228501" progId="Equation.DSMT4">
                        <p:embed/>
                        <p:pic>
                          <p:nvPicPr>
                            <p:cNvPr id="50" name="Object 4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977188" y="6238875"/>
                              <a:ext cx="349250" cy="48418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4" name="Object 3">
                  <a:extLst>
                    <a:ext uri="{FF2B5EF4-FFF2-40B4-BE49-F238E27FC236}">
                      <a16:creationId xmlns:a16="http://schemas.microsoft.com/office/drawing/2014/main" id="{C5DFA9D5-7D9B-88DA-99D6-1E87995CB1C0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839204304"/>
                    </p:ext>
                  </p:extLst>
                </p:nvPr>
              </p:nvGraphicFramePr>
              <p:xfrm>
                <a:off x="7977188" y="6238875"/>
                <a:ext cx="349250" cy="48418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6" imgW="165028" imgH="228501" progId="Equation.DSMT4">
                        <p:embed/>
                      </p:oleObj>
                    </mc:Choice>
                    <mc:Fallback>
                      <p:oleObj name="Equation" r:id="rId6" imgW="165028" imgH="228501" progId="Equation.DSMT4">
                        <p:embed/>
                        <p:pic>
                          <p:nvPicPr>
                            <p:cNvPr id="50" name="Object 4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977188" y="6238875"/>
                              <a:ext cx="349250" cy="48418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2A99FBF-396B-EEC5-74ED-58DD8F0B09BF}"/>
                    </a:ext>
                  </a:extLst>
                </p:cNvPr>
                <p:cNvSpPr txBox="1"/>
                <p:nvPr/>
              </p:nvSpPr>
              <p:spPr>
                <a:xfrm rot="16200000">
                  <a:off x="7905750" y="5842713"/>
                  <a:ext cx="488916" cy="57291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{"/>
                            <m:endChr m:val="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/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2A99FBF-396B-EEC5-74ED-58DD8F0B09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905750" y="5842713"/>
                  <a:ext cx="488916" cy="572914"/>
                </a:xfrm>
                <a:prstGeom prst="rect">
                  <a:avLst/>
                </a:prstGeom>
                <a:blipFill>
                  <a:blip r:embed="rId8"/>
                  <a:stretch>
                    <a:fillRect l="-179787" t="-166667" r="-264894" b="-1567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6F43F47-3438-AA32-B962-8446C7A1B6E1}"/>
              </a:ext>
            </a:extLst>
          </p:cNvPr>
          <p:cNvGrpSpPr/>
          <p:nvPr/>
        </p:nvGrpSpPr>
        <p:grpSpPr>
          <a:xfrm>
            <a:off x="8468179" y="5867977"/>
            <a:ext cx="907108" cy="863024"/>
            <a:chOff x="8468179" y="5867977"/>
            <a:chExt cx="907108" cy="863024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6" name="Object 5">
                  <a:extLst>
                    <a:ext uri="{FF2B5EF4-FFF2-40B4-BE49-F238E27FC236}">
                      <a16:creationId xmlns:a16="http://schemas.microsoft.com/office/drawing/2014/main" id="{E1E3A53D-9753-E3CF-E588-E9D23C51FF2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410584146"/>
                    </p:ext>
                  </p:extLst>
                </p:nvPr>
              </p:nvGraphicFramePr>
              <p:xfrm>
                <a:off x="8805864" y="6246814"/>
                <a:ext cx="295275" cy="48418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9" imgW="139700" imgH="228600" progId="Equation.DSMT4">
                        <p:embed/>
                      </p:oleObj>
                    </mc:Choice>
                    <mc:Fallback>
                      <p:oleObj name="Equation" r:id="rId9" imgW="139700" imgH="228600" progId="Equation.DSMT4">
                        <p:embed/>
                        <p:pic>
                          <p:nvPicPr>
                            <p:cNvPr id="54" name="Object 5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805864" y="6246814"/>
                              <a:ext cx="295275" cy="48418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6" name="Object 5">
                  <a:extLst>
                    <a:ext uri="{FF2B5EF4-FFF2-40B4-BE49-F238E27FC236}">
                      <a16:creationId xmlns:a16="http://schemas.microsoft.com/office/drawing/2014/main" id="{E1E3A53D-9753-E3CF-E588-E9D23C51FF2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410584146"/>
                    </p:ext>
                  </p:extLst>
                </p:nvPr>
              </p:nvGraphicFramePr>
              <p:xfrm>
                <a:off x="8805864" y="6246814"/>
                <a:ext cx="295275" cy="48418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1" imgW="139700" imgH="228600" progId="Equation.DSMT4">
                        <p:embed/>
                      </p:oleObj>
                    </mc:Choice>
                    <mc:Fallback>
                      <p:oleObj name="Equation" r:id="rId11" imgW="139700" imgH="228600" progId="Equation.DSMT4">
                        <p:embed/>
                        <p:pic>
                          <p:nvPicPr>
                            <p:cNvPr id="54" name="Object 5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805864" y="6246814"/>
                              <a:ext cx="295275" cy="48418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02E63FF-29A0-8FB5-BE98-5600CE8A6FD2}"/>
                    </a:ext>
                  </a:extLst>
                </p:cNvPr>
                <p:cNvSpPr txBox="1"/>
                <p:nvPr/>
              </p:nvSpPr>
              <p:spPr>
                <a:xfrm rot="16200000">
                  <a:off x="8660540" y="5675616"/>
                  <a:ext cx="522386" cy="9071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{"/>
                            <m:endChr m:val="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/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/>
                                          </m:mr>
                                          <m:mr>
                                            <m:e/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02E63FF-29A0-8FB5-BE98-5600CE8A6F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8660540" y="5675616"/>
                  <a:ext cx="522386" cy="90710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76173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animBg="1"/>
      <p:bldP spid="17" grpId="0" animBg="1"/>
    </p:bld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variables: Network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6360" indent="0">
              <a:buNone/>
            </a:pPr>
            <a:r>
              <a:rPr lang="en-US" dirty="0"/>
              <a:t>Illustrating state variables</a:t>
            </a:r>
          </a:p>
          <a:p>
            <a:pPr lvl="1"/>
            <a:r>
              <a:rPr lang="en-US" dirty="0"/>
              <a:t>A stochastic graph with generalized learning</a:t>
            </a:r>
          </a:p>
        </p:txBody>
      </p:sp>
      <p:sp>
        <p:nvSpPr>
          <p:cNvPr id="5" name="Oval 4"/>
          <p:cNvSpPr/>
          <p:nvPr/>
        </p:nvSpPr>
        <p:spPr>
          <a:xfrm>
            <a:off x="4322334" y="265650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326144" y="370044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4318524" y="475581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4592845" y="3833578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4592845" y="279181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>
            <a:off x="4573410" y="488916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4"/>
          </p:cNvCxnSpPr>
          <p:nvPr/>
        </p:nvCxnSpPr>
        <p:spPr bwMode="auto">
          <a:xfrm flipH="1">
            <a:off x="4448626" y="292320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/>
          <p:nvPr/>
        </p:nvCxnSpPr>
        <p:spPr bwMode="auto">
          <a:xfrm flipH="1">
            <a:off x="4441568" y="397857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4" name="Oval 13"/>
          <p:cNvSpPr/>
          <p:nvPr/>
        </p:nvSpPr>
        <p:spPr>
          <a:xfrm>
            <a:off x="5953014" y="369282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19" name="Straight Arrow Connector 18"/>
          <p:cNvCxnSpPr>
            <a:stCxn id="13" idx="4"/>
          </p:cNvCxnSpPr>
          <p:nvPr/>
        </p:nvCxnSpPr>
        <p:spPr bwMode="auto">
          <a:xfrm flipH="1">
            <a:off x="6075496" y="291558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4" name="Straight Arrow Connector 23"/>
          <p:cNvCxnSpPr>
            <a:stCxn id="21" idx="4"/>
          </p:cNvCxnSpPr>
          <p:nvPr/>
        </p:nvCxnSpPr>
        <p:spPr bwMode="auto">
          <a:xfrm flipH="1">
            <a:off x="7690936" y="291939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45" name="Oval 44"/>
          <p:cNvSpPr/>
          <p:nvPr/>
        </p:nvSpPr>
        <p:spPr>
          <a:xfrm>
            <a:off x="2684034" y="369282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46" name="Straight Arrow Connector 45"/>
          <p:cNvCxnSpPr/>
          <p:nvPr/>
        </p:nvCxnSpPr>
        <p:spPr bwMode="auto">
          <a:xfrm>
            <a:off x="2944771" y="383379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graphicFrame>
        <p:nvGraphicFramePr>
          <p:cNvPr id="28" name="Object 27"/>
          <p:cNvGraphicFramePr>
            <a:graphicFrameLocks noChangeAspect="1"/>
          </p:cNvGraphicFramePr>
          <p:nvPr/>
        </p:nvGraphicFramePr>
        <p:xfrm>
          <a:off x="2750709" y="3692820"/>
          <a:ext cx="13335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560" imgH="164880" progId="Equation.DSMT4">
                  <p:embed/>
                </p:oleObj>
              </mc:Choice>
              <mc:Fallback>
                <p:oleObj name="Equation" r:id="rId2" imgW="88560" imgH="164880" progId="Equation.DSMT4">
                  <p:embed/>
                  <p:pic>
                    <p:nvPicPr>
                      <p:cNvPr id="2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0709" y="3692820"/>
                        <a:ext cx="133350" cy="24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oup 28"/>
          <p:cNvGrpSpPr/>
          <p:nvPr/>
        </p:nvGrpSpPr>
        <p:grpSpPr>
          <a:xfrm>
            <a:off x="4348828" y="2644804"/>
            <a:ext cx="209550" cy="2359025"/>
            <a:chOff x="2070100" y="4067175"/>
            <a:chExt cx="209550" cy="2359025"/>
          </a:xfrm>
        </p:grpSpPr>
        <p:graphicFrame>
          <p:nvGraphicFramePr>
            <p:cNvPr id="38" name="Object 37"/>
            <p:cNvGraphicFramePr>
              <a:graphicFrameLocks noChangeAspect="1"/>
            </p:cNvGraphicFramePr>
            <p:nvPr/>
          </p:nvGraphicFramePr>
          <p:xfrm>
            <a:off x="2070100" y="4067175"/>
            <a:ext cx="190500" cy="24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720" imgH="164880" progId="Equation.DSMT4">
                    <p:embed/>
                  </p:oleObj>
                </mc:Choice>
                <mc:Fallback>
                  <p:oleObj name="Equation" r:id="rId4" imgW="126720" imgH="164880" progId="Equation.DSMT4">
                    <p:embed/>
                    <p:pic>
                      <p:nvPicPr>
                        <p:cNvPr id="38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0100" y="4067175"/>
                          <a:ext cx="190500" cy="247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38"/>
            <p:cNvGraphicFramePr>
              <a:graphicFrameLocks noChangeAspect="1"/>
            </p:cNvGraphicFramePr>
            <p:nvPr/>
          </p:nvGraphicFramePr>
          <p:xfrm>
            <a:off x="2095500" y="5124450"/>
            <a:ext cx="17145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4120" imgH="177480" progId="Equation.DSMT4">
                    <p:embed/>
                  </p:oleObj>
                </mc:Choice>
                <mc:Fallback>
                  <p:oleObj name="Equation" r:id="rId6" imgW="114120" imgH="177480" progId="Equation.DSMT4">
                    <p:embed/>
                    <p:pic>
                      <p:nvPicPr>
                        <p:cNvPr id="39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5500" y="5124450"/>
                          <a:ext cx="17145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39"/>
            <p:cNvGraphicFramePr>
              <a:graphicFrameLocks noChangeAspect="1"/>
            </p:cNvGraphicFramePr>
            <p:nvPr/>
          </p:nvGraphicFramePr>
          <p:xfrm>
            <a:off x="2089150" y="6178550"/>
            <a:ext cx="190500" cy="24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6720" imgH="164880" progId="Equation.DSMT4">
                    <p:embed/>
                  </p:oleObj>
                </mc:Choice>
                <mc:Fallback>
                  <p:oleObj name="Equation" r:id="rId8" imgW="126720" imgH="164880" progId="Equation.DSMT4">
                    <p:embed/>
                    <p:pic>
                      <p:nvPicPr>
                        <p:cNvPr id="4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9150" y="6178550"/>
                          <a:ext cx="190500" cy="247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" name="Object 30"/>
          <p:cNvGraphicFramePr>
            <a:graphicFrameLocks noChangeAspect="1"/>
          </p:cNvGraphicFramePr>
          <p:nvPr/>
        </p:nvGraphicFramePr>
        <p:xfrm>
          <a:off x="7612093" y="2643533"/>
          <a:ext cx="1714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120" imgH="177480" progId="Equation.DSMT4">
                  <p:embed/>
                </p:oleObj>
              </mc:Choice>
              <mc:Fallback>
                <p:oleObj name="Equation" r:id="rId10" imgW="114120" imgH="177480" progId="Equation.DSMT4">
                  <p:embed/>
                  <p:pic>
                    <p:nvPicPr>
                      <p:cNvPr id="31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2093" y="2643533"/>
                        <a:ext cx="1714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/>
          <p:cNvGraphicFramePr>
            <a:graphicFrameLocks noChangeAspect="1"/>
          </p:cNvGraphicFramePr>
          <p:nvPr/>
        </p:nvGraphicFramePr>
        <p:xfrm>
          <a:off x="7628603" y="3710016"/>
          <a:ext cx="1714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120" imgH="177480" progId="Equation.DSMT4">
                  <p:embed/>
                </p:oleObj>
              </mc:Choice>
              <mc:Fallback>
                <p:oleObj name="Equation" r:id="rId12" imgW="114120" imgH="177480" progId="Equation.DSMT4">
                  <p:embed/>
                  <p:pic>
                    <p:nvPicPr>
                      <p:cNvPr id="32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8603" y="3710016"/>
                        <a:ext cx="1714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3"/>
          <p:cNvGraphicFramePr>
            <a:graphicFrameLocks noChangeAspect="1"/>
          </p:cNvGraphicFramePr>
          <p:nvPr/>
        </p:nvGraphicFramePr>
        <p:xfrm>
          <a:off x="9224041" y="3685251"/>
          <a:ext cx="24765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4880" imgH="164880" progId="Equation.DSMT4">
                  <p:embed/>
                </p:oleObj>
              </mc:Choice>
              <mc:Fallback>
                <p:oleObj name="Equation" r:id="rId14" imgW="164880" imgH="164880" progId="Equation.DSMT4">
                  <p:embed/>
                  <p:pic>
                    <p:nvPicPr>
                      <p:cNvPr id="34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4041" y="3685251"/>
                        <a:ext cx="247650" cy="24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51"/>
          <p:cNvGraphicFramePr>
            <a:graphicFrameLocks noChangeAspect="1"/>
          </p:cNvGraphicFramePr>
          <p:nvPr/>
        </p:nvGraphicFramePr>
        <p:xfrm>
          <a:off x="4509024" y="4226220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28600" imgH="177480" progId="Equation.DSMT4">
                  <p:embed/>
                </p:oleObj>
              </mc:Choice>
              <mc:Fallback>
                <p:oleObj name="Equation" r:id="rId16" imgW="228600" imgH="177480" progId="Equation.DSMT4">
                  <p:embed/>
                  <p:pic>
                    <p:nvPicPr>
                      <p:cNvPr id="52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9024" y="4226220"/>
                        <a:ext cx="342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52"/>
          <p:cNvGraphicFramePr>
            <a:graphicFrameLocks noChangeAspect="1"/>
          </p:cNvGraphicFramePr>
          <p:nvPr/>
        </p:nvGraphicFramePr>
        <p:xfrm>
          <a:off x="4521866" y="3143278"/>
          <a:ext cx="3238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15640" imgH="177480" progId="Equation.DSMT4">
                  <p:embed/>
                </p:oleObj>
              </mc:Choice>
              <mc:Fallback>
                <p:oleObj name="Equation" r:id="rId18" imgW="215640" imgH="177480" progId="Equation.DSMT4">
                  <p:embed/>
                  <p:pic>
                    <p:nvPicPr>
                      <p:cNvPr id="53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866" y="3143278"/>
                        <a:ext cx="3238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57"/>
          <p:cNvGraphicFramePr>
            <a:graphicFrameLocks noChangeAspect="1"/>
          </p:cNvGraphicFramePr>
          <p:nvPr/>
        </p:nvGraphicFramePr>
        <p:xfrm>
          <a:off x="6099841" y="4229128"/>
          <a:ext cx="4381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91960" imgH="177480" progId="Equation.DSMT4">
                  <p:embed/>
                </p:oleObj>
              </mc:Choice>
              <mc:Fallback>
                <p:oleObj name="Equation" r:id="rId20" imgW="291960" imgH="177480" progId="Equation.DSMT4">
                  <p:embed/>
                  <p:pic>
                    <p:nvPicPr>
                      <p:cNvPr id="58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9841" y="4229128"/>
                        <a:ext cx="4381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58"/>
          <p:cNvGraphicFramePr>
            <a:graphicFrameLocks noChangeAspect="1"/>
          </p:cNvGraphicFramePr>
          <p:nvPr/>
        </p:nvGraphicFramePr>
        <p:xfrm>
          <a:off x="6650703" y="3565553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28600" imgH="177480" progId="Equation.DSMT4">
                  <p:embed/>
                </p:oleObj>
              </mc:Choice>
              <mc:Fallback>
                <p:oleObj name="Equation" r:id="rId22" imgW="228600" imgH="177480" progId="Equation.DSMT4">
                  <p:embed/>
                  <p:pic>
                    <p:nvPicPr>
                      <p:cNvPr id="59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0703" y="3565553"/>
                        <a:ext cx="342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59"/>
          <p:cNvGraphicFramePr>
            <a:graphicFrameLocks noChangeAspect="1"/>
          </p:cNvGraphicFramePr>
          <p:nvPr/>
        </p:nvGraphicFramePr>
        <p:xfrm>
          <a:off x="6093491" y="3146453"/>
          <a:ext cx="4572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04560" imgH="177480" progId="Equation.DSMT4">
                  <p:embed/>
                </p:oleObj>
              </mc:Choice>
              <mc:Fallback>
                <p:oleObj name="Equation" r:id="rId24" imgW="304560" imgH="177480" progId="Equation.DSMT4">
                  <p:embed/>
                  <p:pic>
                    <p:nvPicPr>
                      <p:cNvPr id="6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3491" y="3146453"/>
                        <a:ext cx="4572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7" name="Straight Arrow Connector 66"/>
          <p:cNvCxnSpPr/>
          <p:nvPr/>
        </p:nvCxnSpPr>
        <p:spPr bwMode="auto">
          <a:xfrm>
            <a:off x="2952031" y="3826536"/>
            <a:ext cx="1369831" cy="0"/>
          </a:xfrm>
          <a:prstGeom prst="straightConnector1">
            <a:avLst/>
          </a:prstGeom>
          <a:noFill/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69" name="Oval 68"/>
          <p:cNvSpPr/>
          <p:nvPr/>
        </p:nvSpPr>
        <p:spPr>
          <a:xfrm>
            <a:off x="2691294" y="3685566"/>
            <a:ext cx="266700" cy="266700"/>
          </a:xfrm>
          <a:prstGeom prst="ellipse">
            <a:avLst/>
          </a:prstGeom>
          <a:ln w="571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4324122" y="3692826"/>
            <a:ext cx="266700" cy="266700"/>
          </a:xfrm>
          <a:prstGeom prst="ellipse">
            <a:avLst/>
          </a:prstGeom>
          <a:ln w="571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grpSp>
        <p:nvGrpSpPr>
          <p:cNvPr id="91" name="Group 90"/>
          <p:cNvGrpSpPr/>
          <p:nvPr/>
        </p:nvGrpSpPr>
        <p:grpSpPr>
          <a:xfrm>
            <a:off x="8119848" y="3484344"/>
            <a:ext cx="695325" cy="257175"/>
            <a:chOff x="7081838" y="2527956"/>
            <a:chExt cx="1766887" cy="439082"/>
          </a:xfrm>
        </p:grpSpPr>
        <p:cxnSp>
          <p:nvCxnSpPr>
            <p:cNvPr id="92" name="Straight Connector 91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3" name="Freeform 92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94" name="Freeform 93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4861168" y="2451415"/>
            <a:ext cx="695325" cy="257175"/>
            <a:chOff x="7081838" y="2527956"/>
            <a:chExt cx="1766887" cy="439082"/>
          </a:xfrm>
        </p:grpSpPr>
        <p:cxnSp>
          <p:nvCxnSpPr>
            <p:cNvPr id="100" name="Straight Connector 99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1" name="Freeform 100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102" name="Freeform 101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4911970" y="4548691"/>
            <a:ext cx="695325" cy="257175"/>
            <a:chOff x="7081838" y="2527956"/>
            <a:chExt cx="1766887" cy="439082"/>
          </a:xfrm>
        </p:grpSpPr>
        <p:cxnSp>
          <p:nvCxnSpPr>
            <p:cNvPr id="104" name="Straight Connector 103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5" name="Freeform 104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106" name="Freeform 105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aphicFrame>
        <p:nvGraphicFramePr>
          <p:cNvPr id="82" name="Object 81"/>
          <p:cNvGraphicFramePr>
            <a:graphicFrameLocks noChangeAspect="1"/>
          </p:cNvGraphicFramePr>
          <p:nvPr/>
        </p:nvGraphicFramePr>
        <p:xfrm>
          <a:off x="3368675" y="2900363"/>
          <a:ext cx="4381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91960" imgH="177480" progId="Equation.DSMT4">
                  <p:embed/>
                </p:oleObj>
              </mc:Choice>
              <mc:Fallback>
                <p:oleObj name="Equation" r:id="rId26" imgW="291960" imgH="177480" progId="Equation.DSMT4">
                  <p:embed/>
                  <p:pic>
                    <p:nvPicPr>
                      <p:cNvPr id="82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8675" y="2900363"/>
                        <a:ext cx="4381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106"/>
          <p:cNvGraphicFramePr>
            <a:graphicFrameLocks noChangeAspect="1"/>
          </p:cNvGraphicFramePr>
          <p:nvPr/>
        </p:nvGraphicFramePr>
        <p:xfrm>
          <a:off x="3451225" y="3525838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28600" imgH="177480" progId="Equation.DSMT4">
                  <p:embed/>
                </p:oleObj>
              </mc:Choice>
              <mc:Fallback>
                <p:oleObj name="Equation" r:id="rId28" imgW="228600" imgH="177480" progId="Equation.DSMT4">
                  <p:embed/>
                  <p:pic>
                    <p:nvPicPr>
                      <p:cNvPr id="107" name="Object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1225" y="3525838"/>
                        <a:ext cx="342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ct 107"/>
          <p:cNvGraphicFramePr>
            <a:graphicFrameLocks noChangeAspect="1"/>
          </p:cNvGraphicFramePr>
          <p:nvPr/>
        </p:nvGraphicFramePr>
        <p:xfrm>
          <a:off x="3590925" y="4084638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28600" imgH="177480" progId="Equation.DSMT4">
                  <p:embed/>
                </p:oleObj>
              </mc:Choice>
              <mc:Fallback>
                <p:oleObj name="Equation" r:id="rId30" imgW="228600" imgH="177480" progId="Equation.DSMT4">
                  <p:embed/>
                  <p:pic>
                    <p:nvPicPr>
                      <p:cNvPr id="108" name="Object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0925" y="4084638"/>
                        <a:ext cx="342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8" name="Picture 30"/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367155" y="3159496"/>
            <a:ext cx="58756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09" name="Object 108"/>
          <p:cNvGraphicFramePr>
            <a:graphicFrameLocks noChangeAspect="1"/>
          </p:cNvGraphicFramePr>
          <p:nvPr/>
        </p:nvGraphicFramePr>
        <p:xfrm>
          <a:off x="4964113" y="3505200"/>
          <a:ext cx="4381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291960" imgH="177480" progId="Equation.DSMT4">
                  <p:embed/>
                </p:oleObj>
              </mc:Choice>
              <mc:Fallback>
                <p:oleObj name="Equation" r:id="rId33" imgW="291960" imgH="177480" progId="Equation.DSMT4">
                  <p:embed/>
                  <p:pic>
                    <p:nvPicPr>
                      <p:cNvPr id="109" name="Object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4113" y="3505200"/>
                        <a:ext cx="4381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7" name="Picture 30"/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1584" y="3462564"/>
            <a:ext cx="7016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05568" name="Picture 32"/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3115">
            <a:off x="3387406" y="2902073"/>
            <a:ext cx="571500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6" name="Picture 30"/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394285" y="4215914"/>
            <a:ext cx="583512" cy="350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7" name="Picture 30"/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089051" y="3069550"/>
            <a:ext cx="587560" cy="467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8" name="Picture 30"/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078375" y="4163774"/>
            <a:ext cx="583512" cy="467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9" name="Picture 30"/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594062" y="3147944"/>
            <a:ext cx="58756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0" name="Picture 30"/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583386" y="4242168"/>
            <a:ext cx="58351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1" name="Picture 30"/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5834" y="3475264"/>
            <a:ext cx="7016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7" name="Straight Arrow Connector 46"/>
          <p:cNvCxnSpPr/>
          <p:nvPr/>
        </p:nvCxnSpPr>
        <p:spPr bwMode="auto">
          <a:xfrm flipV="1">
            <a:off x="2911677" y="2884143"/>
            <a:ext cx="1449714" cy="847734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pic>
        <p:nvPicPr>
          <p:cNvPr id="132" name="Picture 32"/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351994">
            <a:off x="3367138" y="4031060"/>
            <a:ext cx="647843" cy="509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8" name="Straight Arrow Connector 47"/>
          <p:cNvCxnSpPr>
            <a:stCxn id="45" idx="5"/>
            <a:endCxn id="7" idx="2"/>
          </p:cNvCxnSpPr>
          <p:nvPr/>
        </p:nvCxnSpPr>
        <p:spPr bwMode="auto">
          <a:xfrm>
            <a:off x="2911678" y="3920464"/>
            <a:ext cx="1406847" cy="96869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graphicFrame>
        <p:nvGraphicFramePr>
          <p:cNvPr id="114" name="Object 113"/>
          <p:cNvGraphicFramePr>
            <a:graphicFrameLocks noChangeAspect="1"/>
          </p:cNvGraphicFramePr>
          <p:nvPr/>
        </p:nvGraphicFramePr>
        <p:xfrm>
          <a:off x="3413823" y="5365073"/>
          <a:ext cx="95091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393480" imgH="228600" progId="Equation.DSMT4">
                  <p:embed/>
                </p:oleObj>
              </mc:Choice>
              <mc:Fallback>
                <p:oleObj name="Equation" r:id="rId36" imgW="393480" imgH="228600" progId="Equation.DSMT4">
                  <p:embed/>
                  <p:pic>
                    <p:nvPicPr>
                      <p:cNvPr id="114" name="Object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3823" y="5365073"/>
                        <a:ext cx="950912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Oval 12"/>
          <p:cNvSpPr/>
          <p:nvPr/>
        </p:nvSpPr>
        <p:spPr>
          <a:xfrm>
            <a:off x="5949204" y="264888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17" name="Straight Arrow Connector 16"/>
          <p:cNvCxnSpPr/>
          <p:nvPr/>
        </p:nvCxnSpPr>
        <p:spPr bwMode="auto">
          <a:xfrm>
            <a:off x="6208285" y="278419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grpSp>
        <p:nvGrpSpPr>
          <p:cNvPr id="81" name="Group 80"/>
          <p:cNvGrpSpPr/>
          <p:nvPr/>
        </p:nvGrpSpPr>
        <p:grpSpPr>
          <a:xfrm>
            <a:off x="6537532" y="2458669"/>
            <a:ext cx="695325" cy="257175"/>
            <a:chOff x="7081838" y="2527956"/>
            <a:chExt cx="1766887" cy="439082"/>
          </a:xfrm>
        </p:grpSpPr>
        <p:cxnSp>
          <p:nvCxnSpPr>
            <p:cNvPr id="26" name="Straight Connector 25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8" name="Freeform 77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80" name="Freeform 79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pic>
        <p:nvPicPr>
          <p:cNvPr id="705566" name="Picture 30"/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78" y="3498846"/>
            <a:ext cx="7016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6" name="Straight Arrow Connector 15"/>
          <p:cNvCxnSpPr/>
          <p:nvPr/>
        </p:nvCxnSpPr>
        <p:spPr bwMode="auto">
          <a:xfrm>
            <a:off x="6219715" y="3825958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grpSp>
        <p:nvGrpSpPr>
          <p:cNvPr id="95" name="Group 94"/>
          <p:cNvGrpSpPr/>
          <p:nvPr/>
        </p:nvGrpSpPr>
        <p:grpSpPr>
          <a:xfrm>
            <a:off x="6588334" y="4555945"/>
            <a:ext cx="695325" cy="257175"/>
            <a:chOff x="7081838" y="2527956"/>
            <a:chExt cx="1766887" cy="439082"/>
          </a:xfrm>
        </p:grpSpPr>
        <p:cxnSp>
          <p:nvCxnSpPr>
            <p:cNvPr id="96" name="Straight Connector 95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7" name="Freeform 96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98" name="Freeform 97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sp>
        <p:nvSpPr>
          <p:cNvPr id="15" name="Oval 14"/>
          <p:cNvSpPr/>
          <p:nvPr/>
        </p:nvSpPr>
        <p:spPr>
          <a:xfrm>
            <a:off x="5945394" y="474819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 bwMode="auto">
          <a:xfrm flipH="1">
            <a:off x="6068438" y="397095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6200280" y="488154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grpSp>
        <p:nvGrpSpPr>
          <p:cNvPr id="27" name="Group 26"/>
          <p:cNvGrpSpPr/>
          <p:nvPr/>
        </p:nvGrpSpPr>
        <p:grpSpPr>
          <a:xfrm flipH="1">
            <a:off x="7794974" y="2876524"/>
            <a:ext cx="1677357" cy="2005017"/>
            <a:chOff x="851076" y="4306515"/>
            <a:chExt cx="1677357" cy="2005017"/>
          </a:xfrm>
        </p:grpSpPr>
        <p:sp>
          <p:nvSpPr>
            <p:cNvPr id="41" name="Oval 40"/>
            <p:cNvSpPr/>
            <p:nvPr/>
          </p:nvSpPr>
          <p:spPr>
            <a:xfrm>
              <a:off x="851076" y="5115192"/>
              <a:ext cx="266700" cy="266700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cxnSp>
          <p:nvCxnSpPr>
            <p:cNvPr id="42" name="Straight Arrow Connector 41"/>
            <p:cNvCxnSpPr/>
            <p:nvPr/>
          </p:nvCxnSpPr>
          <p:spPr bwMode="auto">
            <a:xfrm>
              <a:off x="1111812" y="5256162"/>
              <a:ext cx="1369831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</p:spPr>
        </p:cxnSp>
        <p:cxnSp>
          <p:nvCxnSpPr>
            <p:cNvPr id="44" name="Straight Arrow Connector 43"/>
            <p:cNvCxnSpPr>
              <a:stCxn id="41" idx="5"/>
            </p:cNvCxnSpPr>
            <p:nvPr/>
          </p:nvCxnSpPr>
          <p:spPr bwMode="auto">
            <a:xfrm>
              <a:off x="1078719" y="5342835"/>
              <a:ext cx="1406847" cy="968697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</p:spPr>
        </p:cxnSp>
        <p:cxnSp>
          <p:nvCxnSpPr>
            <p:cNvPr id="43" name="Straight Arrow Connector 42"/>
            <p:cNvCxnSpPr>
              <a:stCxn id="41" idx="7"/>
            </p:cNvCxnSpPr>
            <p:nvPr/>
          </p:nvCxnSpPr>
          <p:spPr bwMode="auto">
            <a:xfrm flipV="1">
              <a:off x="1078719" y="4306515"/>
              <a:ext cx="1449714" cy="847734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</p:spPr>
        </p:cxnSp>
      </p:grpSp>
      <p:sp>
        <p:nvSpPr>
          <p:cNvPr id="22" name="Oval 21"/>
          <p:cNvSpPr/>
          <p:nvPr/>
        </p:nvSpPr>
        <p:spPr>
          <a:xfrm>
            <a:off x="7568454" y="369663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564644" y="265269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graphicFrame>
        <p:nvGraphicFramePr>
          <p:cNvPr id="33" name="Object 32"/>
          <p:cNvGraphicFramePr>
            <a:graphicFrameLocks noChangeAspect="1"/>
          </p:cNvGraphicFramePr>
          <p:nvPr/>
        </p:nvGraphicFramePr>
        <p:xfrm>
          <a:off x="7549863" y="4754591"/>
          <a:ext cx="2667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77480" imgH="177480" progId="Equation.DSMT4">
                  <p:embed/>
                </p:oleObj>
              </mc:Choice>
              <mc:Fallback>
                <p:oleObj name="Equation" r:id="rId38" imgW="177480" imgH="177480" progId="Equation.DSMT4">
                  <p:embed/>
                  <p:pic>
                    <p:nvPicPr>
                      <p:cNvPr id="33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9863" y="4754591"/>
                        <a:ext cx="2667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Oval 22"/>
          <p:cNvSpPr/>
          <p:nvPr/>
        </p:nvSpPr>
        <p:spPr>
          <a:xfrm>
            <a:off x="7560834" y="475200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 bwMode="auto">
          <a:xfrm flipH="1">
            <a:off x="7683878" y="397476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grpSp>
        <p:nvGrpSpPr>
          <p:cNvPr id="87" name="Group 86"/>
          <p:cNvGrpSpPr/>
          <p:nvPr/>
        </p:nvGrpSpPr>
        <p:grpSpPr>
          <a:xfrm rot="19396710">
            <a:off x="8090538" y="4107252"/>
            <a:ext cx="695325" cy="257175"/>
            <a:chOff x="7081838" y="2527956"/>
            <a:chExt cx="1766887" cy="439082"/>
          </a:xfrm>
        </p:grpSpPr>
        <p:cxnSp>
          <p:nvCxnSpPr>
            <p:cNvPr id="88" name="Straight Connector 87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9" name="Freeform 88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90" name="Freeform 89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83" name="Group 82"/>
          <p:cNvGrpSpPr/>
          <p:nvPr/>
        </p:nvGrpSpPr>
        <p:grpSpPr>
          <a:xfrm rot="1714784">
            <a:off x="8235645" y="2946893"/>
            <a:ext cx="695325" cy="257175"/>
            <a:chOff x="7081838" y="2527956"/>
            <a:chExt cx="1766887" cy="439082"/>
          </a:xfrm>
        </p:grpSpPr>
        <p:cxnSp>
          <p:nvCxnSpPr>
            <p:cNvPr id="84" name="Straight Connector 83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5" name="Freeform 84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86" name="Freeform 85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991574" y="2651154"/>
            <a:ext cx="205105" cy="2378075"/>
            <a:chOff x="3712845" y="4073525"/>
            <a:chExt cx="205105" cy="2378075"/>
          </a:xfrm>
        </p:grpSpPr>
        <p:graphicFrame>
          <p:nvGraphicFramePr>
            <p:cNvPr id="35" name="Object 34"/>
            <p:cNvGraphicFramePr>
              <a:graphicFrameLocks noChangeAspect="1"/>
            </p:cNvGraphicFramePr>
            <p:nvPr/>
          </p:nvGraphicFramePr>
          <p:xfrm>
            <a:off x="3717925" y="4073525"/>
            <a:ext cx="17145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114120" imgH="177480" progId="Equation.DSMT4">
                    <p:embed/>
                  </p:oleObj>
                </mc:Choice>
                <mc:Fallback>
                  <p:oleObj name="Equation" r:id="rId40" imgW="114120" imgH="177480" progId="Equation.DSMT4">
                    <p:embed/>
                    <p:pic>
                      <p:nvPicPr>
                        <p:cNvPr id="35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7925" y="4073525"/>
                          <a:ext cx="17145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35"/>
            <p:cNvGraphicFramePr>
              <a:graphicFrameLocks noChangeAspect="1"/>
            </p:cNvGraphicFramePr>
            <p:nvPr/>
          </p:nvGraphicFramePr>
          <p:xfrm>
            <a:off x="3712845" y="5128895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2" imgW="126720" imgH="177480" progId="Equation.DSMT4">
                    <p:embed/>
                  </p:oleObj>
                </mc:Choice>
                <mc:Fallback>
                  <p:oleObj name="Equation" r:id="rId42" imgW="126720" imgH="177480" progId="Equation.DSMT4">
                    <p:embed/>
                    <p:pic>
                      <p:nvPicPr>
                        <p:cNvPr id="36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2845" y="5128895"/>
                          <a:ext cx="1905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36"/>
            <p:cNvGraphicFramePr>
              <a:graphicFrameLocks noChangeAspect="1"/>
            </p:cNvGraphicFramePr>
            <p:nvPr/>
          </p:nvGraphicFramePr>
          <p:xfrm>
            <a:off x="3727450" y="6184900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4" imgW="126720" imgH="177480" progId="Equation.DSMT4">
                    <p:embed/>
                  </p:oleObj>
                </mc:Choice>
                <mc:Fallback>
                  <p:oleObj name="Equation" r:id="rId44" imgW="126720" imgH="177480" progId="Equation.DSMT4">
                    <p:embed/>
                    <p:pic>
                      <p:nvPicPr>
                        <p:cNvPr id="37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7450" y="6184900"/>
                          <a:ext cx="1905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28030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7055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5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0" grpId="0" animBg="1"/>
    </p:bld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variables: Network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6360" indent="0">
              <a:buNone/>
            </a:pPr>
            <a:r>
              <a:rPr lang="en-US" dirty="0"/>
              <a:t>Illustrating state variables</a:t>
            </a:r>
          </a:p>
          <a:p>
            <a:pPr lvl="1"/>
            <a:r>
              <a:rPr lang="en-US" dirty="0"/>
              <a:t>A stochastic graph with generalized learning</a:t>
            </a:r>
          </a:p>
        </p:txBody>
      </p:sp>
      <p:sp>
        <p:nvSpPr>
          <p:cNvPr id="5" name="Oval 4"/>
          <p:cNvSpPr/>
          <p:nvPr/>
        </p:nvSpPr>
        <p:spPr>
          <a:xfrm>
            <a:off x="4322334" y="265650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326144" y="370044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4318524" y="475581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4592845" y="3833578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4592845" y="279181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>
            <a:off x="4573410" y="488916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4"/>
          </p:cNvCxnSpPr>
          <p:nvPr/>
        </p:nvCxnSpPr>
        <p:spPr bwMode="auto">
          <a:xfrm flipH="1">
            <a:off x="4448626" y="292320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/>
          <p:nvPr/>
        </p:nvCxnSpPr>
        <p:spPr bwMode="auto">
          <a:xfrm flipH="1">
            <a:off x="4441568" y="397857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4" name="Oval 13"/>
          <p:cNvSpPr/>
          <p:nvPr/>
        </p:nvSpPr>
        <p:spPr>
          <a:xfrm>
            <a:off x="5953014" y="369282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19" name="Straight Arrow Connector 18"/>
          <p:cNvCxnSpPr>
            <a:stCxn id="13" idx="4"/>
          </p:cNvCxnSpPr>
          <p:nvPr/>
        </p:nvCxnSpPr>
        <p:spPr bwMode="auto">
          <a:xfrm flipH="1">
            <a:off x="6075496" y="291558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4" name="Straight Arrow Connector 23"/>
          <p:cNvCxnSpPr>
            <a:stCxn id="21" idx="4"/>
          </p:cNvCxnSpPr>
          <p:nvPr/>
        </p:nvCxnSpPr>
        <p:spPr bwMode="auto">
          <a:xfrm flipH="1">
            <a:off x="7690936" y="291939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45" name="Oval 44"/>
          <p:cNvSpPr/>
          <p:nvPr/>
        </p:nvSpPr>
        <p:spPr>
          <a:xfrm>
            <a:off x="2684034" y="369282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46" name="Straight Arrow Connector 45"/>
          <p:cNvCxnSpPr/>
          <p:nvPr/>
        </p:nvCxnSpPr>
        <p:spPr bwMode="auto">
          <a:xfrm>
            <a:off x="2944771" y="383379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graphicFrame>
        <p:nvGraphicFramePr>
          <p:cNvPr id="28" name="Object 27"/>
          <p:cNvGraphicFramePr>
            <a:graphicFrameLocks noChangeAspect="1"/>
          </p:cNvGraphicFramePr>
          <p:nvPr/>
        </p:nvGraphicFramePr>
        <p:xfrm>
          <a:off x="2750709" y="3692820"/>
          <a:ext cx="13335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560" imgH="164880" progId="Equation.DSMT4">
                  <p:embed/>
                </p:oleObj>
              </mc:Choice>
              <mc:Fallback>
                <p:oleObj name="Equation" r:id="rId2" imgW="88560" imgH="164880" progId="Equation.DSMT4">
                  <p:embed/>
                  <p:pic>
                    <p:nvPicPr>
                      <p:cNvPr id="2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0709" y="3692820"/>
                        <a:ext cx="133350" cy="24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oup 28"/>
          <p:cNvGrpSpPr/>
          <p:nvPr/>
        </p:nvGrpSpPr>
        <p:grpSpPr>
          <a:xfrm>
            <a:off x="4348828" y="2644804"/>
            <a:ext cx="209550" cy="2359025"/>
            <a:chOff x="2070100" y="4067175"/>
            <a:chExt cx="209550" cy="2359025"/>
          </a:xfrm>
        </p:grpSpPr>
        <p:graphicFrame>
          <p:nvGraphicFramePr>
            <p:cNvPr id="38" name="Object 37"/>
            <p:cNvGraphicFramePr>
              <a:graphicFrameLocks noChangeAspect="1"/>
            </p:cNvGraphicFramePr>
            <p:nvPr/>
          </p:nvGraphicFramePr>
          <p:xfrm>
            <a:off x="2070100" y="4067175"/>
            <a:ext cx="190500" cy="24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720" imgH="164880" progId="Equation.DSMT4">
                    <p:embed/>
                  </p:oleObj>
                </mc:Choice>
                <mc:Fallback>
                  <p:oleObj name="Equation" r:id="rId4" imgW="126720" imgH="164880" progId="Equation.DSMT4">
                    <p:embed/>
                    <p:pic>
                      <p:nvPicPr>
                        <p:cNvPr id="38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0100" y="4067175"/>
                          <a:ext cx="190500" cy="247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38"/>
            <p:cNvGraphicFramePr>
              <a:graphicFrameLocks noChangeAspect="1"/>
            </p:cNvGraphicFramePr>
            <p:nvPr/>
          </p:nvGraphicFramePr>
          <p:xfrm>
            <a:off x="2095500" y="5124450"/>
            <a:ext cx="17145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4120" imgH="177480" progId="Equation.DSMT4">
                    <p:embed/>
                  </p:oleObj>
                </mc:Choice>
                <mc:Fallback>
                  <p:oleObj name="Equation" r:id="rId6" imgW="114120" imgH="177480" progId="Equation.DSMT4">
                    <p:embed/>
                    <p:pic>
                      <p:nvPicPr>
                        <p:cNvPr id="39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5500" y="5124450"/>
                          <a:ext cx="17145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39"/>
            <p:cNvGraphicFramePr>
              <a:graphicFrameLocks noChangeAspect="1"/>
            </p:cNvGraphicFramePr>
            <p:nvPr/>
          </p:nvGraphicFramePr>
          <p:xfrm>
            <a:off x="2089150" y="6178550"/>
            <a:ext cx="190500" cy="247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6720" imgH="164880" progId="Equation.DSMT4">
                    <p:embed/>
                  </p:oleObj>
                </mc:Choice>
                <mc:Fallback>
                  <p:oleObj name="Equation" r:id="rId8" imgW="126720" imgH="164880" progId="Equation.DSMT4">
                    <p:embed/>
                    <p:pic>
                      <p:nvPicPr>
                        <p:cNvPr id="4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9150" y="6178550"/>
                          <a:ext cx="190500" cy="247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" name="Object 30"/>
          <p:cNvGraphicFramePr>
            <a:graphicFrameLocks noChangeAspect="1"/>
          </p:cNvGraphicFramePr>
          <p:nvPr/>
        </p:nvGraphicFramePr>
        <p:xfrm>
          <a:off x="7612093" y="2643533"/>
          <a:ext cx="1714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120" imgH="177480" progId="Equation.DSMT4">
                  <p:embed/>
                </p:oleObj>
              </mc:Choice>
              <mc:Fallback>
                <p:oleObj name="Equation" r:id="rId10" imgW="114120" imgH="177480" progId="Equation.DSMT4">
                  <p:embed/>
                  <p:pic>
                    <p:nvPicPr>
                      <p:cNvPr id="31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2093" y="2643533"/>
                        <a:ext cx="1714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/>
          <p:cNvGraphicFramePr>
            <a:graphicFrameLocks noChangeAspect="1"/>
          </p:cNvGraphicFramePr>
          <p:nvPr/>
        </p:nvGraphicFramePr>
        <p:xfrm>
          <a:off x="7628603" y="3710016"/>
          <a:ext cx="1714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120" imgH="177480" progId="Equation.DSMT4">
                  <p:embed/>
                </p:oleObj>
              </mc:Choice>
              <mc:Fallback>
                <p:oleObj name="Equation" r:id="rId12" imgW="114120" imgH="177480" progId="Equation.DSMT4">
                  <p:embed/>
                  <p:pic>
                    <p:nvPicPr>
                      <p:cNvPr id="32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8603" y="3710016"/>
                        <a:ext cx="1714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3"/>
          <p:cNvGraphicFramePr>
            <a:graphicFrameLocks noChangeAspect="1"/>
          </p:cNvGraphicFramePr>
          <p:nvPr/>
        </p:nvGraphicFramePr>
        <p:xfrm>
          <a:off x="9224041" y="3685251"/>
          <a:ext cx="24765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4880" imgH="164880" progId="Equation.DSMT4">
                  <p:embed/>
                </p:oleObj>
              </mc:Choice>
              <mc:Fallback>
                <p:oleObj name="Equation" r:id="rId14" imgW="164880" imgH="164880" progId="Equation.DSMT4">
                  <p:embed/>
                  <p:pic>
                    <p:nvPicPr>
                      <p:cNvPr id="34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4041" y="3685251"/>
                        <a:ext cx="247650" cy="24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51"/>
          <p:cNvGraphicFramePr>
            <a:graphicFrameLocks noChangeAspect="1"/>
          </p:cNvGraphicFramePr>
          <p:nvPr/>
        </p:nvGraphicFramePr>
        <p:xfrm>
          <a:off x="4509024" y="4226220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28600" imgH="177480" progId="Equation.DSMT4">
                  <p:embed/>
                </p:oleObj>
              </mc:Choice>
              <mc:Fallback>
                <p:oleObj name="Equation" r:id="rId16" imgW="228600" imgH="177480" progId="Equation.DSMT4">
                  <p:embed/>
                  <p:pic>
                    <p:nvPicPr>
                      <p:cNvPr id="52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9024" y="4226220"/>
                        <a:ext cx="342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52"/>
          <p:cNvGraphicFramePr>
            <a:graphicFrameLocks noChangeAspect="1"/>
          </p:cNvGraphicFramePr>
          <p:nvPr/>
        </p:nvGraphicFramePr>
        <p:xfrm>
          <a:off x="4521866" y="3143278"/>
          <a:ext cx="3238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15640" imgH="177480" progId="Equation.DSMT4">
                  <p:embed/>
                </p:oleObj>
              </mc:Choice>
              <mc:Fallback>
                <p:oleObj name="Equation" r:id="rId18" imgW="215640" imgH="177480" progId="Equation.DSMT4">
                  <p:embed/>
                  <p:pic>
                    <p:nvPicPr>
                      <p:cNvPr id="53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866" y="3143278"/>
                        <a:ext cx="3238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57"/>
          <p:cNvGraphicFramePr>
            <a:graphicFrameLocks noChangeAspect="1"/>
          </p:cNvGraphicFramePr>
          <p:nvPr/>
        </p:nvGraphicFramePr>
        <p:xfrm>
          <a:off x="6099841" y="4229128"/>
          <a:ext cx="4381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91960" imgH="177480" progId="Equation.DSMT4">
                  <p:embed/>
                </p:oleObj>
              </mc:Choice>
              <mc:Fallback>
                <p:oleObj name="Equation" r:id="rId20" imgW="291960" imgH="177480" progId="Equation.DSMT4">
                  <p:embed/>
                  <p:pic>
                    <p:nvPicPr>
                      <p:cNvPr id="58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9841" y="4229128"/>
                        <a:ext cx="4381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58"/>
          <p:cNvGraphicFramePr>
            <a:graphicFrameLocks noChangeAspect="1"/>
          </p:cNvGraphicFramePr>
          <p:nvPr/>
        </p:nvGraphicFramePr>
        <p:xfrm>
          <a:off x="6650703" y="3565553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28600" imgH="177480" progId="Equation.DSMT4">
                  <p:embed/>
                </p:oleObj>
              </mc:Choice>
              <mc:Fallback>
                <p:oleObj name="Equation" r:id="rId22" imgW="228600" imgH="177480" progId="Equation.DSMT4">
                  <p:embed/>
                  <p:pic>
                    <p:nvPicPr>
                      <p:cNvPr id="59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0703" y="3565553"/>
                        <a:ext cx="342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59"/>
          <p:cNvGraphicFramePr>
            <a:graphicFrameLocks noChangeAspect="1"/>
          </p:cNvGraphicFramePr>
          <p:nvPr/>
        </p:nvGraphicFramePr>
        <p:xfrm>
          <a:off x="6093491" y="3146453"/>
          <a:ext cx="4572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04560" imgH="177480" progId="Equation.DSMT4">
                  <p:embed/>
                </p:oleObj>
              </mc:Choice>
              <mc:Fallback>
                <p:oleObj name="Equation" r:id="rId24" imgW="304560" imgH="177480" progId="Equation.DSMT4">
                  <p:embed/>
                  <p:pic>
                    <p:nvPicPr>
                      <p:cNvPr id="6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3491" y="3146453"/>
                        <a:ext cx="4572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Oval 68"/>
          <p:cNvSpPr/>
          <p:nvPr/>
        </p:nvSpPr>
        <p:spPr>
          <a:xfrm>
            <a:off x="2691294" y="3685566"/>
            <a:ext cx="266700" cy="266700"/>
          </a:xfrm>
          <a:prstGeom prst="ellipse">
            <a:avLst/>
          </a:prstGeom>
          <a:ln w="571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4324122" y="3692826"/>
            <a:ext cx="266700" cy="266700"/>
          </a:xfrm>
          <a:prstGeom prst="ellipse">
            <a:avLst/>
          </a:prstGeom>
          <a:ln w="571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grpSp>
        <p:nvGrpSpPr>
          <p:cNvPr id="91" name="Group 90"/>
          <p:cNvGrpSpPr/>
          <p:nvPr/>
        </p:nvGrpSpPr>
        <p:grpSpPr>
          <a:xfrm>
            <a:off x="8119848" y="3484344"/>
            <a:ext cx="695325" cy="257175"/>
            <a:chOff x="7081838" y="2527956"/>
            <a:chExt cx="1766887" cy="439082"/>
          </a:xfrm>
        </p:grpSpPr>
        <p:cxnSp>
          <p:nvCxnSpPr>
            <p:cNvPr id="92" name="Straight Connector 91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3" name="Freeform 92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94" name="Freeform 93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4861168" y="2451415"/>
            <a:ext cx="695325" cy="257175"/>
            <a:chOff x="7081838" y="2527956"/>
            <a:chExt cx="1766887" cy="439082"/>
          </a:xfrm>
        </p:grpSpPr>
        <p:cxnSp>
          <p:nvCxnSpPr>
            <p:cNvPr id="100" name="Straight Connector 99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1" name="Freeform 100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102" name="Freeform 101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4911970" y="4548691"/>
            <a:ext cx="695325" cy="257175"/>
            <a:chOff x="7081838" y="2527956"/>
            <a:chExt cx="1766887" cy="439082"/>
          </a:xfrm>
        </p:grpSpPr>
        <p:cxnSp>
          <p:nvCxnSpPr>
            <p:cNvPr id="104" name="Straight Connector 103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5" name="Freeform 104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106" name="Freeform 105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aphicFrame>
        <p:nvGraphicFramePr>
          <p:cNvPr id="82" name="Object 81"/>
          <p:cNvGraphicFramePr>
            <a:graphicFrameLocks noChangeAspect="1"/>
          </p:cNvGraphicFramePr>
          <p:nvPr/>
        </p:nvGraphicFramePr>
        <p:xfrm>
          <a:off x="3368675" y="2900363"/>
          <a:ext cx="4381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91960" imgH="177480" progId="Equation.DSMT4">
                  <p:embed/>
                </p:oleObj>
              </mc:Choice>
              <mc:Fallback>
                <p:oleObj name="Equation" r:id="rId26" imgW="291960" imgH="177480" progId="Equation.DSMT4">
                  <p:embed/>
                  <p:pic>
                    <p:nvPicPr>
                      <p:cNvPr id="82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8675" y="2900363"/>
                        <a:ext cx="4381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106"/>
          <p:cNvGraphicFramePr>
            <a:graphicFrameLocks noChangeAspect="1"/>
          </p:cNvGraphicFramePr>
          <p:nvPr/>
        </p:nvGraphicFramePr>
        <p:xfrm>
          <a:off x="3451225" y="3525838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28600" imgH="177480" progId="Equation.DSMT4">
                  <p:embed/>
                </p:oleObj>
              </mc:Choice>
              <mc:Fallback>
                <p:oleObj name="Equation" r:id="rId28" imgW="228600" imgH="177480" progId="Equation.DSMT4">
                  <p:embed/>
                  <p:pic>
                    <p:nvPicPr>
                      <p:cNvPr id="107" name="Object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1225" y="3525838"/>
                        <a:ext cx="342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ct 107"/>
          <p:cNvGraphicFramePr>
            <a:graphicFrameLocks noChangeAspect="1"/>
          </p:cNvGraphicFramePr>
          <p:nvPr/>
        </p:nvGraphicFramePr>
        <p:xfrm>
          <a:off x="3590925" y="4084638"/>
          <a:ext cx="342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28600" imgH="177480" progId="Equation.DSMT4">
                  <p:embed/>
                </p:oleObj>
              </mc:Choice>
              <mc:Fallback>
                <p:oleObj name="Equation" r:id="rId30" imgW="228600" imgH="177480" progId="Equation.DSMT4">
                  <p:embed/>
                  <p:pic>
                    <p:nvPicPr>
                      <p:cNvPr id="108" name="Object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0925" y="4084638"/>
                        <a:ext cx="342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8" name="Picture 30"/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367155" y="3159496"/>
            <a:ext cx="58756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09" name="Object 108"/>
          <p:cNvGraphicFramePr>
            <a:graphicFrameLocks noChangeAspect="1"/>
          </p:cNvGraphicFramePr>
          <p:nvPr/>
        </p:nvGraphicFramePr>
        <p:xfrm>
          <a:off x="4964113" y="3505200"/>
          <a:ext cx="4381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291960" imgH="177480" progId="Equation.DSMT4">
                  <p:embed/>
                </p:oleObj>
              </mc:Choice>
              <mc:Fallback>
                <p:oleObj name="Equation" r:id="rId33" imgW="291960" imgH="177480" progId="Equation.DSMT4">
                  <p:embed/>
                  <p:pic>
                    <p:nvPicPr>
                      <p:cNvPr id="109" name="Object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4113" y="3505200"/>
                        <a:ext cx="43815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7" name="Picture 30"/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1584" y="3462564"/>
            <a:ext cx="7016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6" name="Picture 30"/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394285" y="4215914"/>
            <a:ext cx="583512" cy="350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7" name="Picture 30"/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089051" y="3069550"/>
            <a:ext cx="587560" cy="467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8" name="Picture 30"/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078375" y="4163774"/>
            <a:ext cx="583512" cy="467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9" name="Picture 30"/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594062" y="3147944"/>
            <a:ext cx="58756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0" name="Picture 30"/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583386" y="4242168"/>
            <a:ext cx="58351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8" name="Straight Arrow Connector 47"/>
          <p:cNvCxnSpPr>
            <a:stCxn id="45" idx="5"/>
            <a:endCxn id="7" idx="2"/>
          </p:cNvCxnSpPr>
          <p:nvPr/>
        </p:nvCxnSpPr>
        <p:spPr bwMode="auto">
          <a:xfrm>
            <a:off x="2911678" y="3920464"/>
            <a:ext cx="1406847" cy="96869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graphicFrame>
        <p:nvGraphicFramePr>
          <p:cNvPr id="114" name="Object 113"/>
          <p:cNvGraphicFramePr>
            <a:graphicFrameLocks noChangeAspect="1"/>
          </p:cNvGraphicFramePr>
          <p:nvPr/>
        </p:nvGraphicFramePr>
        <p:xfrm>
          <a:off x="3413823" y="5365073"/>
          <a:ext cx="95091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393480" imgH="228600" progId="Equation.DSMT4">
                  <p:embed/>
                </p:oleObj>
              </mc:Choice>
              <mc:Fallback>
                <p:oleObj name="Equation" r:id="rId35" imgW="393480" imgH="228600" progId="Equation.DSMT4">
                  <p:embed/>
                  <p:pic>
                    <p:nvPicPr>
                      <p:cNvPr id="114" name="Object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3823" y="5365073"/>
                        <a:ext cx="950912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25017" name="Picture 25"/>
          <p:cNvPicPr>
            <a:picLocks noChangeAspect="1" noChangeArrowheads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075744" y="2840347"/>
            <a:ext cx="884804" cy="793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Oval 12"/>
          <p:cNvSpPr/>
          <p:nvPr/>
        </p:nvSpPr>
        <p:spPr>
          <a:xfrm>
            <a:off x="5949204" y="264888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17" name="Straight Arrow Connector 16"/>
          <p:cNvCxnSpPr/>
          <p:nvPr/>
        </p:nvCxnSpPr>
        <p:spPr bwMode="auto">
          <a:xfrm>
            <a:off x="6208285" y="278419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grpSp>
        <p:nvGrpSpPr>
          <p:cNvPr id="81" name="Group 80"/>
          <p:cNvGrpSpPr/>
          <p:nvPr/>
        </p:nvGrpSpPr>
        <p:grpSpPr>
          <a:xfrm>
            <a:off x="6537532" y="2458669"/>
            <a:ext cx="695325" cy="257175"/>
            <a:chOff x="7081838" y="2527956"/>
            <a:chExt cx="1766887" cy="439082"/>
          </a:xfrm>
        </p:grpSpPr>
        <p:cxnSp>
          <p:nvCxnSpPr>
            <p:cNvPr id="26" name="Straight Connector 25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8" name="Freeform 77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80" name="Freeform 79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pic>
        <p:nvPicPr>
          <p:cNvPr id="705566" name="Picture 30"/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378" y="3498846"/>
            <a:ext cx="7016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3" name="Picture 25"/>
          <p:cNvPicPr>
            <a:picLocks noChangeAspect="1" noChangeArrowheads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069394" y="4123047"/>
            <a:ext cx="884804" cy="793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6" name="Straight Arrow Connector 15"/>
          <p:cNvCxnSpPr/>
          <p:nvPr/>
        </p:nvCxnSpPr>
        <p:spPr bwMode="auto">
          <a:xfrm>
            <a:off x="6219715" y="3825958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grpSp>
        <p:nvGrpSpPr>
          <p:cNvPr id="95" name="Group 94"/>
          <p:cNvGrpSpPr/>
          <p:nvPr/>
        </p:nvGrpSpPr>
        <p:grpSpPr>
          <a:xfrm>
            <a:off x="6588334" y="4555945"/>
            <a:ext cx="695325" cy="257175"/>
            <a:chOff x="7081838" y="2527956"/>
            <a:chExt cx="1766887" cy="439082"/>
          </a:xfrm>
        </p:grpSpPr>
        <p:cxnSp>
          <p:nvCxnSpPr>
            <p:cNvPr id="96" name="Straight Connector 95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7" name="Freeform 96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98" name="Freeform 97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sp>
        <p:nvSpPr>
          <p:cNvPr id="15" name="Oval 14"/>
          <p:cNvSpPr/>
          <p:nvPr/>
        </p:nvSpPr>
        <p:spPr>
          <a:xfrm>
            <a:off x="5945394" y="474819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 bwMode="auto">
          <a:xfrm flipH="1">
            <a:off x="6068438" y="397095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6200280" y="4881540"/>
            <a:ext cx="1369831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pic>
        <p:nvPicPr>
          <p:cNvPr id="725018" name="Picture 26"/>
          <p:cNvPicPr>
            <a:picLocks noChangeAspect="1" noChangeArrowheads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531" y="3365435"/>
            <a:ext cx="649520" cy="404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5" name="Picture 25"/>
          <p:cNvPicPr>
            <a:picLocks noChangeAspect="1" noChangeArrowheads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699440" y="2875508"/>
            <a:ext cx="884804" cy="793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6" name="Picture 25"/>
          <p:cNvPicPr>
            <a:picLocks noChangeAspect="1" noChangeArrowheads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677445" y="4058827"/>
            <a:ext cx="884804" cy="793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7" name="Picture 26"/>
          <p:cNvPicPr>
            <a:picLocks noChangeAspect="1" noChangeArrowheads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961" y="3345822"/>
            <a:ext cx="731417" cy="404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7" name="Group 26"/>
          <p:cNvGrpSpPr/>
          <p:nvPr/>
        </p:nvGrpSpPr>
        <p:grpSpPr>
          <a:xfrm flipH="1">
            <a:off x="7794974" y="2876524"/>
            <a:ext cx="1677357" cy="2005017"/>
            <a:chOff x="851076" y="4306515"/>
            <a:chExt cx="1677357" cy="2005017"/>
          </a:xfrm>
        </p:grpSpPr>
        <p:sp>
          <p:nvSpPr>
            <p:cNvPr id="41" name="Oval 40"/>
            <p:cNvSpPr/>
            <p:nvPr/>
          </p:nvSpPr>
          <p:spPr>
            <a:xfrm>
              <a:off x="851076" y="5115192"/>
              <a:ext cx="266700" cy="266700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cxnSp>
          <p:nvCxnSpPr>
            <p:cNvPr id="42" name="Straight Arrow Connector 41"/>
            <p:cNvCxnSpPr/>
            <p:nvPr/>
          </p:nvCxnSpPr>
          <p:spPr bwMode="auto">
            <a:xfrm>
              <a:off x="1111812" y="5256162"/>
              <a:ext cx="1369831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</p:spPr>
        </p:cxnSp>
        <p:cxnSp>
          <p:nvCxnSpPr>
            <p:cNvPr id="44" name="Straight Arrow Connector 43"/>
            <p:cNvCxnSpPr>
              <a:stCxn id="41" idx="5"/>
            </p:cNvCxnSpPr>
            <p:nvPr/>
          </p:nvCxnSpPr>
          <p:spPr bwMode="auto">
            <a:xfrm>
              <a:off x="1078719" y="5342835"/>
              <a:ext cx="1406847" cy="968697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</p:spPr>
        </p:cxnSp>
        <p:cxnSp>
          <p:nvCxnSpPr>
            <p:cNvPr id="43" name="Straight Arrow Connector 42"/>
            <p:cNvCxnSpPr>
              <a:stCxn id="41" idx="7"/>
            </p:cNvCxnSpPr>
            <p:nvPr/>
          </p:nvCxnSpPr>
          <p:spPr bwMode="auto">
            <a:xfrm flipV="1">
              <a:off x="1078719" y="4306515"/>
              <a:ext cx="1449714" cy="847734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</p:spPr>
        </p:cxnSp>
      </p:grpSp>
      <p:sp>
        <p:nvSpPr>
          <p:cNvPr id="22" name="Oval 21"/>
          <p:cNvSpPr/>
          <p:nvPr/>
        </p:nvSpPr>
        <p:spPr>
          <a:xfrm>
            <a:off x="7568454" y="369663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564644" y="265269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graphicFrame>
        <p:nvGraphicFramePr>
          <p:cNvPr id="33" name="Object 32"/>
          <p:cNvGraphicFramePr>
            <a:graphicFrameLocks noChangeAspect="1"/>
          </p:cNvGraphicFramePr>
          <p:nvPr/>
        </p:nvGraphicFramePr>
        <p:xfrm>
          <a:off x="7549863" y="4754591"/>
          <a:ext cx="2667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77480" imgH="177480" progId="Equation.DSMT4">
                  <p:embed/>
                </p:oleObj>
              </mc:Choice>
              <mc:Fallback>
                <p:oleObj name="Equation" r:id="rId39" imgW="177480" imgH="177480" progId="Equation.DSMT4">
                  <p:embed/>
                  <p:pic>
                    <p:nvPicPr>
                      <p:cNvPr id="33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9863" y="4754591"/>
                        <a:ext cx="2667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Oval 22"/>
          <p:cNvSpPr/>
          <p:nvPr/>
        </p:nvSpPr>
        <p:spPr>
          <a:xfrm>
            <a:off x="7560834" y="4752000"/>
            <a:ext cx="266700" cy="266700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 bwMode="auto">
          <a:xfrm flipH="1">
            <a:off x="7683878" y="3974760"/>
            <a:ext cx="7058" cy="77724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grpSp>
        <p:nvGrpSpPr>
          <p:cNvPr id="87" name="Group 86"/>
          <p:cNvGrpSpPr/>
          <p:nvPr/>
        </p:nvGrpSpPr>
        <p:grpSpPr>
          <a:xfrm rot="19396710">
            <a:off x="8090538" y="4107252"/>
            <a:ext cx="695325" cy="257175"/>
            <a:chOff x="7081838" y="2527956"/>
            <a:chExt cx="1766887" cy="439082"/>
          </a:xfrm>
        </p:grpSpPr>
        <p:cxnSp>
          <p:nvCxnSpPr>
            <p:cNvPr id="88" name="Straight Connector 87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9" name="Freeform 88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90" name="Freeform 89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83" name="Group 82"/>
          <p:cNvGrpSpPr/>
          <p:nvPr/>
        </p:nvGrpSpPr>
        <p:grpSpPr>
          <a:xfrm rot="1714784">
            <a:off x="8235645" y="2946893"/>
            <a:ext cx="695325" cy="257175"/>
            <a:chOff x="7081838" y="2527956"/>
            <a:chExt cx="1766887" cy="439082"/>
          </a:xfrm>
        </p:grpSpPr>
        <p:cxnSp>
          <p:nvCxnSpPr>
            <p:cNvPr id="84" name="Straight Connector 83"/>
            <p:cNvCxnSpPr/>
            <p:nvPr/>
          </p:nvCxnSpPr>
          <p:spPr bwMode="auto">
            <a:xfrm>
              <a:off x="7081838" y="2967038"/>
              <a:ext cx="176688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5" name="Freeform 84"/>
            <p:cNvSpPr/>
            <p:nvPr/>
          </p:nvSpPr>
          <p:spPr>
            <a:xfrm>
              <a:off x="7153275" y="2527972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86" name="Freeform 85"/>
            <p:cNvSpPr/>
            <p:nvPr/>
          </p:nvSpPr>
          <p:spPr>
            <a:xfrm flipH="1">
              <a:off x="7967732" y="2527956"/>
              <a:ext cx="810342" cy="434303"/>
            </a:xfrm>
            <a:custGeom>
              <a:avLst/>
              <a:gdLst>
                <a:gd name="connsiteX0" fmla="*/ 0 w 810342"/>
                <a:gd name="connsiteY0" fmla="*/ 434303 h 434303"/>
                <a:gd name="connsiteX1" fmla="*/ 161925 w 810342"/>
                <a:gd name="connsiteY1" fmla="*/ 415253 h 434303"/>
                <a:gd name="connsiteX2" fmla="*/ 295275 w 810342"/>
                <a:gd name="connsiteY2" fmla="*/ 372391 h 434303"/>
                <a:gd name="connsiteX3" fmla="*/ 457200 w 810342"/>
                <a:gd name="connsiteY3" fmla="*/ 267616 h 434303"/>
                <a:gd name="connsiteX4" fmla="*/ 552450 w 810342"/>
                <a:gd name="connsiteY4" fmla="*/ 143791 h 434303"/>
                <a:gd name="connsiteX5" fmla="*/ 642938 w 810342"/>
                <a:gd name="connsiteY5" fmla="*/ 58066 h 434303"/>
                <a:gd name="connsiteX6" fmla="*/ 738188 w 810342"/>
                <a:gd name="connsiteY6" fmla="*/ 10441 h 434303"/>
                <a:gd name="connsiteX7" fmla="*/ 800100 w 810342"/>
                <a:gd name="connsiteY7" fmla="*/ 916 h 434303"/>
                <a:gd name="connsiteX8" fmla="*/ 809625 w 810342"/>
                <a:gd name="connsiteY8" fmla="*/ 916 h 43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342" h="434303">
                  <a:moveTo>
                    <a:pt x="0" y="434303"/>
                  </a:moveTo>
                  <a:cubicBezTo>
                    <a:pt x="56356" y="429937"/>
                    <a:pt x="112712" y="425572"/>
                    <a:pt x="161925" y="415253"/>
                  </a:cubicBezTo>
                  <a:cubicBezTo>
                    <a:pt x="211138" y="404934"/>
                    <a:pt x="246063" y="396997"/>
                    <a:pt x="295275" y="372391"/>
                  </a:cubicBezTo>
                  <a:cubicBezTo>
                    <a:pt x="344487" y="347785"/>
                    <a:pt x="414338" y="305716"/>
                    <a:pt x="457200" y="267616"/>
                  </a:cubicBezTo>
                  <a:cubicBezTo>
                    <a:pt x="500062" y="229516"/>
                    <a:pt x="521494" y="178716"/>
                    <a:pt x="552450" y="143791"/>
                  </a:cubicBezTo>
                  <a:cubicBezTo>
                    <a:pt x="583406" y="108866"/>
                    <a:pt x="611982" y="80291"/>
                    <a:pt x="642938" y="58066"/>
                  </a:cubicBezTo>
                  <a:cubicBezTo>
                    <a:pt x="673894" y="35841"/>
                    <a:pt x="711995" y="19966"/>
                    <a:pt x="738188" y="10441"/>
                  </a:cubicBezTo>
                  <a:cubicBezTo>
                    <a:pt x="764381" y="916"/>
                    <a:pt x="788194" y="2503"/>
                    <a:pt x="800100" y="916"/>
                  </a:cubicBezTo>
                  <a:cubicBezTo>
                    <a:pt x="812006" y="-671"/>
                    <a:pt x="810815" y="122"/>
                    <a:pt x="809625" y="91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991574" y="2651154"/>
            <a:ext cx="205105" cy="2378075"/>
            <a:chOff x="3712845" y="4073525"/>
            <a:chExt cx="205105" cy="2378075"/>
          </a:xfrm>
        </p:grpSpPr>
        <p:graphicFrame>
          <p:nvGraphicFramePr>
            <p:cNvPr id="35" name="Object 34"/>
            <p:cNvGraphicFramePr>
              <a:graphicFrameLocks noChangeAspect="1"/>
            </p:cNvGraphicFramePr>
            <p:nvPr/>
          </p:nvGraphicFramePr>
          <p:xfrm>
            <a:off x="3717925" y="4073525"/>
            <a:ext cx="17145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1" imgW="114120" imgH="177480" progId="Equation.DSMT4">
                    <p:embed/>
                  </p:oleObj>
                </mc:Choice>
                <mc:Fallback>
                  <p:oleObj name="Equation" r:id="rId41" imgW="114120" imgH="177480" progId="Equation.DSMT4">
                    <p:embed/>
                    <p:pic>
                      <p:nvPicPr>
                        <p:cNvPr id="35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7925" y="4073525"/>
                          <a:ext cx="17145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35"/>
            <p:cNvGraphicFramePr>
              <a:graphicFrameLocks noChangeAspect="1"/>
            </p:cNvGraphicFramePr>
            <p:nvPr/>
          </p:nvGraphicFramePr>
          <p:xfrm>
            <a:off x="3712845" y="5128895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3" imgW="126720" imgH="177480" progId="Equation.DSMT4">
                    <p:embed/>
                  </p:oleObj>
                </mc:Choice>
                <mc:Fallback>
                  <p:oleObj name="Equation" r:id="rId43" imgW="126720" imgH="177480" progId="Equation.DSMT4">
                    <p:embed/>
                    <p:pic>
                      <p:nvPicPr>
                        <p:cNvPr id="36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2845" y="5128895"/>
                          <a:ext cx="1905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36"/>
            <p:cNvGraphicFramePr>
              <a:graphicFrameLocks noChangeAspect="1"/>
            </p:cNvGraphicFramePr>
            <p:nvPr/>
          </p:nvGraphicFramePr>
          <p:xfrm>
            <a:off x="3727450" y="6184900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5" imgW="126720" imgH="177480" progId="Equation.DSMT4">
                    <p:embed/>
                  </p:oleObj>
                </mc:Choice>
                <mc:Fallback>
                  <p:oleObj name="Equation" r:id="rId45" imgW="126720" imgH="177480" progId="Equation.DSMT4">
                    <p:embed/>
                    <p:pic>
                      <p:nvPicPr>
                        <p:cNvPr id="37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7450" y="6184900"/>
                          <a:ext cx="1905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" name="Group 56"/>
          <p:cNvGrpSpPr/>
          <p:nvPr/>
        </p:nvGrpSpPr>
        <p:grpSpPr>
          <a:xfrm>
            <a:off x="4236359" y="5730875"/>
            <a:ext cx="498475" cy="858838"/>
            <a:chOff x="1986658" y="5730875"/>
            <a:chExt cx="498475" cy="858838"/>
          </a:xfrm>
        </p:grpSpPr>
        <p:graphicFrame>
          <p:nvGraphicFramePr>
            <p:cNvPr id="49" name="Object 48"/>
            <p:cNvGraphicFramePr>
              <a:graphicFrameLocks noChangeAspect="1"/>
            </p:cNvGraphicFramePr>
            <p:nvPr/>
          </p:nvGraphicFramePr>
          <p:xfrm>
            <a:off x="2021583" y="6105525"/>
            <a:ext cx="349250" cy="484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7" imgW="164880" imgH="228600" progId="Equation.DSMT4">
                    <p:embed/>
                  </p:oleObj>
                </mc:Choice>
                <mc:Fallback>
                  <p:oleObj name="Equation" r:id="rId47" imgW="164880" imgH="228600" progId="Equation.DSMT4">
                    <p:embed/>
                    <p:pic>
                      <p:nvPicPr>
                        <p:cNvPr id="49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1583" y="6105525"/>
                          <a:ext cx="349250" cy="484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Object 49"/>
            <p:cNvGraphicFramePr>
              <a:graphicFrameLocks noChangeAspect="1"/>
            </p:cNvGraphicFramePr>
            <p:nvPr/>
          </p:nvGraphicFramePr>
          <p:xfrm>
            <a:off x="1986658" y="5730875"/>
            <a:ext cx="498475" cy="555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9" imgW="330120" imgH="368280" progId="Equation.DSMT4">
                    <p:embed/>
                  </p:oleObj>
                </mc:Choice>
                <mc:Fallback>
                  <p:oleObj name="Equation" r:id="rId49" imgW="330120" imgH="368280" progId="Equation.DSMT4">
                    <p:embed/>
                    <p:pic>
                      <p:nvPicPr>
                        <p:cNvPr id="5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6658" y="5730875"/>
                          <a:ext cx="498475" cy="555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" name="Group 60"/>
          <p:cNvGrpSpPr/>
          <p:nvPr/>
        </p:nvGrpSpPr>
        <p:grpSpPr>
          <a:xfrm>
            <a:off x="4779280" y="5726114"/>
            <a:ext cx="1133475" cy="871537"/>
            <a:chOff x="3255279" y="5726113"/>
            <a:chExt cx="1133475" cy="871537"/>
          </a:xfrm>
        </p:grpSpPr>
        <p:graphicFrame>
          <p:nvGraphicFramePr>
            <p:cNvPr id="51" name="Object 50"/>
            <p:cNvGraphicFramePr>
              <a:graphicFrameLocks noChangeAspect="1"/>
            </p:cNvGraphicFramePr>
            <p:nvPr/>
          </p:nvGraphicFramePr>
          <p:xfrm>
            <a:off x="3652395" y="6113463"/>
            <a:ext cx="295275" cy="484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1" imgW="139680" imgH="228600" progId="Equation.DSMT4">
                    <p:embed/>
                  </p:oleObj>
                </mc:Choice>
                <mc:Fallback>
                  <p:oleObj name="Equation" r:id="rId51" imgW="139680" imgH="228600" progId="Equation.DSMT4">
                    <p:embed/>
                    <p:pic>
                      <p:nvPicPr>
                        <p:cNvPr id="51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2395" y="6113463"/>
                          <a:ext cx="295275" cy="484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" name="Object 53"/>
            <p:cNvGraphicFramePr>
              <a:graphicFrameLocks noChangeAspect="1"/>
            </p:cNvGraphicFramePr>
            <p:nvPr/>
          </p:nvGraphicFramePr>
          <p:xfrm>
            <a:off x="3255279" y="5726113"/>
            <a:ext cx="1133475" cy="574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3" imgW="749160" imgH="380880" progId="Equation.DSMT4">
                    <p:embed/>
                  </p:oleObj>
                </mc:Choice>
                <mc:Fallback>
                  <p:oleObj name="Equation" r:id="rId53" imgW="749160" imgH="380880" progId="Equation.DSMT4">
                    <p:embed/>
                    <p:pic>
                      <p:nvPicPr>
                        <p:cNvPr id="54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5279" y="5726113"/>
                          <a:ext cx="1133475" cy="574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2" name="Group 61"/>
          <p:cNvGrpSpPr/>
          <p:nvPr/>
        </p:nvGrpSpPr>
        <p:grpSpPr>
          <a:xfrm>
            <a:off x="5998272" y="5718175"/>
            <a:ext cx="1766887" cy="871538"/>
            <a:chOff x="4474271" y="5718175"/>
            <a:chExt cx="1766887" cy="871538"/>
          </a:xfrm>
        </p:grpSpPr>
        <p:graphicFrame>
          <p:nvGraphicFramePr>
            <p:cNvPr id="55" name="Object 54"/>
            <p:cNvGraphicFramePr>
              <a:graphicFrameLocks noChangeAspect="1"/>
            </p:cNvGraphicFramePr>
            <p:nvPr/>
          </p:nvGraphicFramePr>
          <p:xfrm>
            <a:off x="4474271" y="5718175"/>
            <a:ext cx="1766887" cy="574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5" imgW="1168200" imgH="380880" progId="Equation.DSMT4">
                    <p:embed/>
                  </p:oleObj>
                </mc:Choice>
                <mc:Fallback>
                  <p:oleObj name="Equation" r:id="rId55" imgW="1168200" imgH="380880" progId="Equation.DSMT4">
                    <p:embed/>
                    <p:pic>
                      <p:nvPicPr>
                        <p:cNvPr id="55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4271" y="5718175"/>
                          <a:ext cx="1766887" cy="574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" name="Object 55"/>
            <p:cNvGraphicFramePr>
              <a:graphicFrameLocks noChangeAspect="1"/>
            </p:cNvGraphicFramePr>
            <p:nvPr/>
          </p:nvGraphicFramePr>
          <p:xfrm>
            <a:off x="5229225" y="6105525"/>
            <a:ext cx="349250" cy="484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7" imgW="164880" imgH="228600" progId="Equation.DSMT4">
                    <p:embed/>
                  </p:oleObj>
                </mc:Choice>
                <mc:Fallback>
                  <p:oleObj name="Equation" r:id="rId57" imgW="164880" imgH="228600" progId="Equation.DSMT4">
                    <p:embed/>
                    <p:pic>
                      <p:nvPicPr>
                        <p:cNvPr id="56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9225" y="6105525"/>
                          <a:ext cx="349250" cy="484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3"/>
          <p:cNvGrpSpPr/>
          <p:nvPr/>
        </p:nvGrpSpPr>
        <p:grpSpPr>
          <a:xfrm>
            <a:off x="3038553" y="2458669"/>
            <a:ext cx="1196784" cy="1919635"/>
            <a:chOff x="1526171" y="2457621"/>
            <a:chExt cx="1196784" cy="1919635"/>
          </a:xfrm>
        </p:grpSpPr>
        <p:pic>
          <p:nvPicPr>
            <p:cNvPr id="133" name="Picture 25"/>
            <p:cNvPicPr>
              <a:picLocks noChangeAspect="1" noChangeArrowheads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565115">
              <a:off x="1526171" y="2457621"/>
              <a:ext cx="884804" cy="7934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54" name="Picture 25"/>
            <p:cNvPicPr>
              <a:picLocks noChangeAspect="1" noChangeArrowheads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246261">
              <a:off x="1838151" y="3891629"/>
              <a:ext cx="884804" cy="4856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4" name="Picture 26"/>
            <p:cNvPicPr>
              <a:picLocks noChangeAspect="1" noChangeArrowheads="1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0925" y="3430458"/>
              <a:ext cx="649520" cy="328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67" name="Straight Arrow Connector 66"/>
          <p:cNvCxnSpPr/>
          <p:nvPr/>
        </p:nvCxnSpPr>
        <p:spPr bwMode="auto">
          <a:xfrm>
            <a:off x="2952031" y="3826536"/>
            <a:ext cx="1369831" cy="0"/>
          </a:xfrm>
          <a:prstGeom prst="straightConnector1">
            <a:avLst/>
          </a:prstGeom>
          <a:noFill/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7" name="Straight Arrow Connector 46"/>
          <p:cNvCxnSpPr/>
          <p:nvPr/>
        </p:nvCxnSpPr>
        <p:spPr bwMode="auto">
          <a:xfrm flipV="1">
            <a:off x="2911677" y="2884143"/>
            <a:ext cx="1449714" cy="847734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grpSp>
        <p:nvGrpSpPr>
          <p:cNvPr id="63" name="Group 62"/>
          <p:cNvGrpSpPr/>
          <p:nvPr/>
        </p:nvGrpSpPr>
        <p:grpSpPr>
          <a:xfrm>
            <a:off x="3413821" y="5211764"/>
            <a:ext cx="4540250" cy="858837"/>
            <a:chOff x="1842196" y="5221288"/>
            <a:chExt cx="4540250" cy="858837"/>
          </a:xfrm>
        </p:grpSpPr>
        <p:graphicFrame>
          <p:nvGraphicFramePr>
            <p:cNvPr id="120" name="Object 119"/>
            <p:cNvGraphicFramePr>
              <a:graphicFrameLocks noChangeAspect="1"/>
            </p:cNvGraphicFramePr>
            <p:nvPr/>
          </p:nvGraphicFramePr>
          <p:xfrm>
            <a:off x="1842196" y="5221288"/>
            <a:ext cx="4540250" cy="858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9" imgW="1879560" imgH="355320" progId="Equation.DSMT4">
                    <p:embed/>
                  </p:oleObj>
                </mc:Choice>
                <mc:Fallback>
                  <p:oleObj name="Equation" r:id="rId59" imgW="1879560" imgH="355320" progId="Equation.DSMT4">
                    <p:embed/>
                    <p:pic>
                      <p:nvPicPr>
                        <p:cNvPr id="120" name="Object 1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2196" y="5221288"/>
                          <a:ext cx="4540250" cy="85883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8" name="Group 137"/>
            <p:cNvGrpSpPr/>
            <p:nvPr/>
          </p:nvGrpSpPr>
          <p:grpSpPr>
            <a:xfrm>
              <a:off x="4621651" y="5312228"/>
              <a:ext cx="695325" cy="495161"/>
              <a:chOff x="7081838" y="2527956"/>
              <a:chExt cx="1766887" cy="439082"/>
            </a:xfrm>
          </p:grpSpPr>
          <p:cxnSp>
            <p:nvCxnSpPr>
              <p:cNvPr id="139" name="Straight Connector 138"/>
              <p:cNvCxnSpPr/>
              <p:nvPr/>
            </p:nvCxnSpPr>
            <p:spPr bwMode="auto">
              <a:xfrm>
                <a:off x="7081838" y="2967038"/>
                <a:ext cx="1766887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40" name="Freeform 139"/>
              <p:cNvSpPr/>
              <p:nvPr/>
            </p:nvSpPr>
            <p:spPr>
              <a:xfrm>
                <a:off x="7153275" y="2527972"/>
                <a:ext cx="810342" cy="434303"/>
              </a:xfrm>
              <a:custGeom>
                <a:avLst/>
                <a:gdLst>
                  <a:gd name="connsiteX0" fmla="*/ 0 w 810342"/>
                  <a:gd name="connsiteY0" fmla="*/ 434303 h 434303"/>
                  <a:gd name="connsiteX1" fmla="*/ 161925 w 810342"/>
                  <a:gd name="connsiteY1" fmla="*/ 415253 h 434303"/>
                  <a:gd name="connsiteX2" fmla="*/ 295275 w 810342"/>
                  <a:gd name="connsiteY2" fmla="*/ 372391 h 434303"/>
                  <a:gd name="connsiteX3" fmla="*/ 457200 w 810342"/>
                  <a:gd name="connsiteY3" fmla="*/ 267616 h 434303"/>
                  <a:gd name="connsiteX4" fmla="*/ 552450 w 810342"/>
                  <a:gd name="connsiteY4" fmla="*/ 143791 h 434303"/>
                  <a:gd name="connsiteX5" fmla="*/ 642938 w 810342"/>
                  <a:gd name="connsiteY5" fmla="*/ 58066 h 434303"/>
                  <a:gd name="connsiteX6" fmla="*/ 738188 w 810342"/>
                  <a:gd name="connsiteY6" fmla="*/ 10441 h 434303"/>
                  <a:gd name="connsiteX7" fmla="*/ 800100 w 810342"/>
                  <a:gd name="connsiteY7" fmla="*/ 916 h 434303"/>
                  <a:gd name="connsiteX8" fmla="*/ 809625 w 810342"/>
                  <a:gd name="connsiteY8" fmla="*/ 916 h 43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0342" h="434303">
                    <a:moveTo>
                      <a:pt x="0" y="434303"/>
                    </a:moveTo>
                    <a:cubicBezTo>
                      <a:pt x="56356" y="429937"/>
                      <a:pt x="112712" y="425572"/>
                      <a:pt x="161925" y="415253"/>
                    </a:cubicBezTo>
                    <a:cubicBezTo>
                      <a:pt x="211138" y="404934"/>
                      <a:pt x="246063" y="396997"/>
                      <a:pt x="295275" y="372391"/>
                    </a:cubicBezTo>
                    <a:cubicBezTo>
                      <a:pt x="344487" y="347785"/>
                      <a:pt x="414338" y="305716"/>
                      <a:pt x="457200" y="267616"/>
                    </a:cubicBezTo>
                    <a:cubicBezTo>
                      <a:pt x="500062" y="229516"/>
                      <a:pt x="521494" y="178716"/>
                      <a:pt x="552450" y="143791"/>
                    </a:cubicBezTo>
                    <a:cubicBezTo>
                      <a:pt x="583406" y="108866"/>
                      <a:pt x="611982" y="80291"/>
                      <a:pt x="642938" y="58066"/>
                    </a:cubicBezTo>
                    <a:cubicBezTo>
                      <a:pt x="673894" y="35841"/>
                      <a:pt x="711995" y="19966"/>
                      <a:pt x="738188" y="10441"/>
                    </a:cubicBezTo>
                    <a:cubicBezTo>
                      <a:pt x="764381" y="916"/>
                      <a:pt x="788194" y="2503"/>
                      <a:pt x="800100" y="916"/>
                    </a:cubicBezTo>
                    <a:cubicBezTo>
                      <a:pt x="812006" y="-671"/>
                      <a:pt x="810815" y="122"/>
                      <a:pt x="809625" y="916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sz="1800" i="1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41" name="Freeform 140"/>
              <p:cNvSpPr/>
              <p:nvPr/>
            </p:nvSpPr>
            <p:spPr>
              <a:xfrm flipH="1">
                <a:off x="7967732" y="2527956"/>
                <a:ext cx="810342" cy="434303"/>
              </a:xfrm>
              <a:custGeom>
                <a:avLst/>
                <a:gdLst>
                  <a:gd name="connsiteX0" fmla="*/ 0 w 810342"/>
                  <a:gd name="connsiteY0" fmla="*/ 434303 h 434303"/>
                  <a:gd name="connsiteX1" fmla="*/ 161925 w 810342"/>
                  <a:gd name="connsiteY1" fmla="*/ 415253 h 434303"/>
                  <a:gd name="connsiteX2" fmla="*/ 295275 w 810342"/>
                  <a:gd name="connsiteY2" fmla="*/ 372391 h 434303"/>
                  <a:gd name="connsiteX3" fmla="*/ 457200 w 810342"/>
                  <a:gd name="connsiteY3" fmla="*/ 267616 h 434303"/>
                  <a:gd name="connsiteX4" fmla="*/ 552450 w 810342"/>
                  <a:gd name="connsiteY4" fmla="*/ 143791 h 434303"/>
                  <a:gd name="connsiteX5" fmla="*/ 642938 w 810342"/>
                  <a:gd name="connsiteY5" fmla="*/ 58066 h 434303"/>
                  <a:gd name="connsiteX6" fmla="*/ 738188 w 810342"/>
                  <a:gd name="connsiteY6" fmla="*/ 10441 h 434303"/>
                  <a:gd name="connsiteX7" fmla="*/ 800100 w 810342"/>
                  <a:gd name="connsiteY7" fmla="*/ 916 h 434303"/>
                  <a:gd name="connsiteX8" fmla="*/ 809625 w 810342"/>
                  <a:gd name="connsiteY8" fmla="*/ 916 h 43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0342" h="434303">
                    <a:moveTo>
                      <a:pt x="0" y="434303"/>
                    </a:moveTo>
                    <a:cubicBezTo>
                      <a:pt x="56356" y="429937"/>
                      <a:pt x="112712" y="425572"/>
                      <a:pt x="161925" y="415253"/>
                    </a:cubicBezTo>
                    <a:cubicBezTo>
                      <a:pt x="211138" y="404934"/>
                      <a:pt x="246063" y="396997"/>
                      <a:pt x="295275" y="372391"/>
                    </a:cubicBezTo>
                    <a:cubicBezTo>
                      <a:pt x="344487" y="347785"/>
                      <a:pt x="414338" y="305716"/>
                      <a:pt x="457200" y="267616"/>
                    </a:cubicBezTo>
                    <a:cubicBezTo>
                      <a:pt x="500062" y="229516"/>
                      <a:pt x="521494" y="178716"/>
                      <a:pt x="552450" y="143791"/>
                    </a:cubicBezTo>
                    <a:cubicBezTo>
                      <a:pt x="583406" y="108866"/>
                      <a:pt x="611982" y="80291"/>
                      <a:pt x="642938" y="58066"/>
                    </a:cubicBezTo>
                    <a:cubicBezTo>
                      <a:pt x="673894" y="35841"/>
                      <a:pt x="711995" y="19966"/>
                      <a:pt x="738188" y="10441"/>
                    </a:cubicBezTo>
                    <a:cubicBezTo>
                      <a:pt x="764381" y="916"/>
                      <a:pt x="788194" y="2503"/>
                      <a:pt x="800100" y="916"/>
                    </a:cubicBezTo>
                    <a:cubicBezTo>
                      <a:pt x="812006" y="-671"/>
                      <a:pt x="810815" y="122"/>
                      <a:pt x="809625" y="916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sz="1800" i="1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</p:grpSp>
        <p:grpSp>
          <p:nvGrpSpPr>
            <p:cNvPr id="142" name="Group 141"/>
            <p:cNvGrpSpPr/>
            <p:nvPr/>
          </p:nvGrpSpPr>
          <p:grpSpPr>
            <a:xfrm>
              <a:off x="4774051" y="5304974"/>
              <a:ext cx="695325" cy="495161"/>
              <a:chOff x="7081838" y="2527956"/>
              <a:chExt cx="1766887" cy="439082"/>
            </a:xfrm>
          </p:grpSpPr>
          <p:cxnSp>
            <p:nvCxnSpPr>
              <p:cNvPr id="143" name="Straight Connector 142"/>
              <p:cNvCxnSpPr/>
              <p:nvPr/>
            </p:nvCxnSpPr>
            <p:spPr bwMode="auto">
              <a:xfrm>
                <a:off x="7081838" y="2967038"/>
                <a:ext cx="1766887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44" name="Freeform 143"/>
              <p:cNvSpPr/>
              <p:nvPr/>
            </p:nvSpPr>
            <p:spPr>
              <a:xfrm>
                <a:off x="7153275" y="2527972"/>
                <a:ext cx="810342" cy="434303"/>
              </a:xfrm>
              <a:custGeom>
                <a:avLst/>
                <a:gdLst>
                  <a:gd name="connsiteX0" fmla="*/ 0 w 810342"/>
                  <a:gd name="connsiteY0" fmla="*/ 434303 h 434303"/>
                  <a:gd name="connsiteX1" fmla="*/ 161925 w 810342"/>
                  <a:gd name="connsiteY1" fmla="*/ 415253 h 434303"/>
                  <a:gd name="connsiteX2" fmla="*/ 295275 w 810342"/>
                  <a:gd name="connsiteY2" fmla="*/ 372391 h 434303"/>
                  <a:gd name="connsiteX3" fmla="*/ 457200 w 810342"/>
                  <a:gd name="connsiteY3" fmla="*/ 267616 h 434303"/>
                  <a:gd name="connsiteX4" fmla="*/ 552450 w 810342"/>
                  <a:gd name="connsiteY4" fmla="*/ 143791 h 434303"/>
                  <a:gd name="connsiteX5" fmla="*/ 642938 w 810342"/>
                  <a:gd name="connsiteY5" fmla="*/ 58066 h 434303"/>
                  <a:gd name="connsiteX6" fmla="*/ 738188 w 810342"/>
                  <a:gd name="connsiteY6" fmla="*/ 10441 h 434303"/>
                  <a:gd name="connsiteX7" fmla="*/ 800100 w 810342"/>
                  <a:gd name="connsiteY7" fmla="*/ 916 h 434303"/>
                  <a:gd name="connsiteX8" fmla="*/ 809625 w 810342"/>
                  <a:gd name="connsiteY8" fmla="*/ 916 h 43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0342" h="434303">
                    <a:moveTo>
                      <a:pt x="0" y="434303"/>
                    </a:moveTo>
                    <a:cubicBezTo>
                      <a:pt x="56356" y="429937"/>
                      <a:pt x="112712" y="425572"/>
                      <a:pt x="161925" y="415253"/>
                    </a:cubicBezTo>
                    <a:cubicBezTo>
                      <a:pt x="211138" y="404934"/>
                      <a:pt x="246063" y="396997"/>
                      <a:pt x="295275" y="372391"/>
                    </a:cubicBezTo>
                    <a:cubicBezTo>
                      <a:pt x="344487" y="347785"/>
                      <a:pt x="414338" y="305716"/>
                      <a:pt x="457200" y="267616"/>
                    </a:cubicBezTo>
                    <a:cubicBezTo>
                      <a:pt x="500062" y="229516"/>
                      <a:pt x="521494" y="178716"/>
                      <a:pt x="552450" y="143791"/>
                    </a:cubicBezTo>
                    <a:cubicBezTo>
                      <a:pt x="583406" y="108866"/>
                      <a:pt x="611982" y="80291"/>
                      <a:pt x="642938" y="58066"/>
                    </a:cubicBezTo>
                    <a:cubicBezTo>
                      <a:pt x="673894" y="35841"/>
                      <a:pt x="711995" y="19966"/>
                      <a:pt x="738188" y="10441"/>
                    </a:cubicBezTo>
                    <a:cubicBezTo>
                      <a:pt x="764381" y="916"/>
                      <a:pt x="788194" y="2503"/>
                      <a:pt x="800100" y="916"/>
                    </a:cubicBezTo>
                    <a:cubicBezTo>
                      <a:pt x="812006" y="-671"/>
                      <a:pt x="810815" y="122"/>
                      <a:pt x="809625" y="916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sz="1800" i="1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45" name="Freeform 144"/>
              <p:cNvSpPr/>
              <p:nvPr/>
            </p:nvSpPr>
            <p:spPr>
              <a:xfrm flipH="1">
                <a:off x="7967732" y="2527956"/>
                <a:ext cx="810342" cy="434303"/>
              </a:xfrm>
              <a:custGeom>
                <a:avLst/>
                <a:gdLst>
                  <a:gd name="connsiteX0" fmla="*/ 0 w 810342"/>
                  <a:gd name="connsiteY0" fmla="*/ 434303 h 434303"/>
                  <a:gd name="connsiteX1" fmla="*/ 161925 w 810342"/>
                  <a:gd name="connsiteY1" fmla="*/ 415253 h 434303"/>
                  <a:gd name="connsiteX2" fmla="*/ 295275 w 810342"/>
                  <a:gd name="connsiteY2" fmla="*/ 372391 h 434303"/>
                  <a:gd name="connsiteX3" fmla="*/ 457200 w 810342"/>
                  <a:gd name="connsiteY3" fmla="*/ 267616 h 434303"/>
                  <a:gd name="connsiteX4" fmla="*/ 552450 w 810342"/>
                  <a:gd name="connsiteY4" fmla="*/ 143791 h 434303"/>
                  <a:gd name="connsiteX5" fmla="*/ 642938 w 810342"/>
                  <a:gd name="connsiteY5" fmla="*/ 58066 h 434303"/>
                  <a:gd name="connsiteX6" fmla="*/ 738188 w 810342"/>
                  <a:gd name="connsiteY6" fmla="*/ 10441 h 434303"/>
                  <a:gd name="connsiteX7" fmla="*/ 800100 w 810342"/>
                  <a:gd name="connsiteY7" fmla="*/ 916 h 434303"/>
                  <a:gd name="connsiteX8" fmla="*/ 809625 w 810342"/>
                  <a:gd name="connsiteY8" fmla="*/ 916 h 43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0342" h="434303">
                    <a:moveTo>
                      <a:pt x="0" y="434303"/>
                    </a:moveTo>
                    <a:cubicBezTo>
                      <a:pt x="56356" y="429937"/>
                      <a:pt x="112712" y="425572"/>
                      <a:pt x="161925" y="415253"/>
                    </a:cubicBezTo>
                    <a:cubicBezTo>
                      <a:pt x="211138" y="404934"/>
                      <a:pt x="246063" y="396997"/>
                      <a:pt x="295275" y="372391"/>
                    </a:cubicBezTo>
                    <a:cubicBezTo>
                      <a:pt x="344487" y="347785"/>
                      <a:pt x="414338" y="305716"/>
                      <a:pt x="457200" y="267616"/>
                    </a:cubicBezTo>
                    <a:cubicBezTo>
                      <a:pt x="500062" y="229516"/>
                      <a:pt x="521494" y="178716"/>
                      <a:pt x="552450" y="143791"/>
                    </a:cubicBezTo>
                    <a:cubicBezTo>
                      <a:pt x="583406" y="108866"/>
                      <a:pt x="611982" y="80291"/>
                      <a:pt x="642938" y="58066"/>
                    </a:cubicBezTo>
                    <a:cubicBezTo>
                      <a:pt x="673894" y="35841"/>
                      <a:pt x="711995" y="19966"/>
                      <a:pt x="738188" y="10441"/>
                    </a:cubicBezTo>
                    <a:cubicBezTo>
                      <a:pt x="764381" y="916"/>
                      <a:pt x="788194" y="2503"/>
                      <a:pt x="800100" y="916"/>
                    </a:cubicBezTo>
                    <a:cubicBezTo>
                      <a:pt x="812006" y="-671"/>
                      <a:pt x="810815" y="122"/>
                      <a:pt x="809625" y="916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sz="1800" i="1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</p:grpSp>
        <p:grpSp>
          <p:nvGrpSpPr>
            <p:cNvPr id="146" name="Group 145"/>
            <p:cNvGrpSpPr/>
            <p:nvPr/>
          </p:nvGrpSpPr>
          <p:grpSpPr>
            <a:xfrm>
              <a:off x="4926451" y="5312234"/>
              <a:ext cx="695325" cy="495161"/>
              <a:chOff x="7081838" y="2527956"/>
              <a:chExt cx="1766887" cy="439082"/>
            </a:xfrm>
          </p:grpSpPr>
          <p:cxnSp>
            <p:nvCxnSpPr>
              <p:cNvPr id="147" name="Straight Connector 146"/>
              <p:cNvCxnSpPr/>
              <p:nvPr/>
            </p:nvCxnSpPr>
            <p:spPr bwMode="auto">
              <a:xfrm>
                <a:off x="7081838" y="2967038"/>
                <a:ext cx="1766887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48" name="Freeform 147"/>
              <p:cNvSpPr/>
              <p:nvPr/>
            </p:nvSpPr>
            <p:spPr>
              <a:xfrm>
                <a:off x="7153275" y="2527972"/>
                <a:ext cx="810342" cy="434303"/>
              </a:xfrm>
              <a:custGeom>
                <a:avLst/>
                <a:gdLst>
                  <a:gd name="connsiteX0" fmla="*/ 0 w 810342"/>
                  <a:gd name="connsiteY0" fmla="*/ 434303 h 434303"/>
                  <a:gd name="connsiteX1" fmla="*/ 161925 w 810342"/>
                  <a:gd name="connsiteY1" fmla="*/ 415253 h 434303"/>
                  <a:gd name="connsiteX2" fmla="*/ 295275 w 810342"/>
                  <a:gd name="connsiteY2" fmla="*/ 372391 h 434303"/>
                  <a:gd name="connsiteX3" fmla="*/ 457200 w 810342"/>
                  <a:gd name="connsiteY3" fmla="*/ 267616 h 434303"/>
                  <a:gd name="connsiteX4" fmla="*/ 552450 w 810342"/>
                  <a:gd name="connsiteY4" fmla="*/ 143791 h 434303"/>
                  <a:gd name="connsiteX5" fmla="*/ 642938 w 810342"/>
                  <a:gd name="connsiteY5" fmla="*/ 58066 h 434303"/>
                  <a:gd name="connsiteX6" fmla="*/ 738188 w 810342"/>
                  <a:gd name="connsiteY6" fmla="*/ 10441 h 434303"/>
                  <a:gd name="connsiteX7" fmla="*/ 800100 w 810342"/>
                  <a:gd name="connsiteY7" fmla="*/ 916 h 434303"/>
                  <a:gd name="connsiteX8" fmla="*/ 809625 w 810342"/>
                  <a:gd name="connsiteY8" fmla="*/ 916 h 43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0342" h="434303">
                    <a:moveTo>
                      <a:pt x="0" y="434303"/>
                    </a:moveTo>
                    <a:cubicBezTo>
                      <a:pt x="56356" y="429937"/>
                      <a:pt x="112712" y="425572"/>
                      <a:pt x="161925" y="415253"/>
                    </a:cubicBezTo>
                    <a:cubicBezTo>
                      <a:pt x="211138" y="404934"/>
                      <a:pt x="246063" y="396997"/>
                      <a:pt x="295275" y="372391"/>
                    </a:cubicBezTo>
                    <a:cubicBezTo>
                      <a:pt x="344487" y="347785"/>
                      <a:pt x="414338" y="305716"/>
                      <a:pt x="457200" y="267616"/>
                    </a:cubicBezTo>
                    <a:cubicBezTo>
                      <a:pt x="500062" y="229516"/>
                      <a:pt x="521494" y="178716"/>
                      <a:pt x="552450" y="143791"/>
                    </a:cubicBezTo>
                    <a:cubicBezTo>
                      <a:pt x="583406" y="108866"/>
                      <a:pt x="611982" y="80291"/>
                      <a:pt x="642938" y="58066"/>
                    </a:cubicBezTo>
                    <a:cubicBezTo>
                      <a:pt x="673894" y="35841"/>
                      <a:pt x="711995" y="19966"/>
                      <a:pt x="738188" y="10441"/>
                    </a:cubicBezTo>
                    <a:cubicBezTo>
                      <a:pt x="764381" y="916"/>
                      <a:pt x="788194" y="2503"/>
                      <a:pt x="800100" y="916"/>
                    </a:cubicBezTo>
                    <a:cubicBezTo>
                      <a:pt x="812006" y="-671"/>
                      <a:pt x="810815" y="122"/>
                      <a:pt x="809625" y="916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sz="1800" i="1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49" name="Freeform 148"/>
              <p:cNvSpPr/>
              <p:nvPr/>
            </p:nvSpPr>
            <p:spPr>
              <a:xfrm flipH="1">
                <a:off x="7967732" y="2527956"/>
                <a:ext cx="810342" cy="434303"/>
              </a:xfrm>
              <a:custGeom>
                <a:avLst/>
                <a:gdLst>
                  <a:gd name="connsiteX0" fmla="*/ 0 w 810342"/>
                  <a:gd name="connsiteY0" fmla="*/ 434303 h 434303"/>
                  <a:gd name="connsiteX1" fmla="*/ 161925 w 810342"/>
                  <a:gd name="connsiteY1" fmla="*/ 415253 h 434303"/>
                  <a:gd name="connsiteX2" fmla="*/ 295275 w 810342"/>
                  <a:gd name="connsiteY2" fmla="*/ 372391 h 434303"/>
                  <a:gd name="connsiteX3" fmla="*/ 457200 w 810342"/>
                  <a:gd name="connsiteY3" fmla="*/ 267616 h 434303"/>
                  <a:gd name="connsiteX4" fmla="*/ 552450 w 810342"/>
                  <a:gd name="connsiteY4" fmla="*/ 143791 h 434303"/>
                  <a:gd name="connsiteX5" fmla="*/ 642938 w 810342"/>
                  <a:gd name="connsiteY5" fmla="*/ 58066 h 434303"/>
                  <a:gd name="connsiteX6" fmla="*/ 738188 w 810342"/>
                  <a:gd name="connsiteY6" fmla="*/ 10441 h 434303"/>
                  <a:gd name="connsiteX7" fmla="*/ 800100 w 810342"/>
                  <a:gd name="connsiteY7" fmla="*/ 916 h 434303"/>
                  <a:gd name="connsiteX8" fmla="*/ 809625 w 810342"/>
                  <a:gd name="connsiteY8" fmla="*/ 916 h 43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0342" h="434303">
                    <a:moveTo>
                      <a:pt x="0" y="434303"/>
                    </a:moveTo>
                    <a:cubicBezTo>
                      <a:pt x="56356" y="429937"/>
                      <a:pt x="112712" y="425572"/>
                      <a:pt x="161925" y="415253"/>
                    </a:cubicBezTo>
                    <a:cubicBezTo>
                      <a:pt x="211138" y="404934"/>
                      <a:pt x="246063" y="396997"/>
                      <a:pt x="295275" y="372391"/>
                    </a:cubicBezTo>
                    <a:cubicBezTo>
                      <a:pt x="344487" y="347785"/>
                      <a:pt x="414338" y="305716"/>
                      <a:pt x="457200" y="267616"/>
                    </a:cubicBezTo>
                    <a:cubicBezTo>
                      <a:pt x="500062" y="229516"/>
                      <a:pt x="521494" y="178716"/>
                      <a:pt x="552450" y="143791"/>
                    </a:cubicBezTo>
                    <a:cubicBezTo>
                      <a:pt x="583406" y="108866"/>
                      <a:pt x="611982" y="80291"/>
                      <a:pt x="642938" y="58066"/>
                    </a:cubicBezTo>
                    <a:cubicBezTo>
                      <a:pt x="673894" y="35841"/>
                      <a:pt x="711995" y="19966"/>
                      <a:pt x="738188" y="10441"/>
                    </a:cubicBezTo>
                    <a:cubicBezTo>
                      <a:pt x="764381" y="916"/>
                      <a:pt x="788194" y="2503"/>
                      <a:pt x="800100" y="916"/>
                    </a:cubicBezTo>
                    <a:cubicBezTo>
                      <a:pt x="812006" y="-671"/>
                      <a:pt x="810815" y="122"/>
                      <a:pt x="809625" y="916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sz="1800" i="1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</p:grpSp>
        <p:grpSp>
          <p:nvGrpSpPr>
            <p:cNvPr id="150" name="Group 149"/>
            <p:cNvGrpSpPr/>
            <p:nvPr/>
          </p:nvGrpSpPr>
          <p:grpSpPr>
            <a:xfrm>
              <a:off x="5441701" y="5304980"/>
              <a:ext cx="695325" cy="495161"/>
              <a:chOff x="7081838" y="2527956"/>
              <a:chExt cx="1766887" cy="439082"/>
            </a:xfrm>
          </p:grpSpPr>
          <p:cxnSp>
            <p:nvCxnSpPr>
              <p:cNvPr id="151" name="Straight Connector 150"/>
              <p:cNvCxnSpPr/>
              <p:nvPr/>
            </p:nvCxnSpPr>
            <p:spPr bwMode="auto">
              <a:xfrm>
                <a:off x="7081838" y="2967038"/>
                <a:ext cx="1766887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52" name="Freeform 151"/>
              <p:cNvSpPr/>
              <p:nvPr/>
            </p:nvSpPr>
            <p:spPr>
              <a:xfrm>
                <a:off x="7153275" y="2527972"/>
                <a:ext cx="810342" cy="434303"/>
              </a:xfrm>
              <a:custGeom>
                <a:avLst/>
                <a:gdLst>
                  <a:gd name="connsiteX0" fmla="*/ 0 w 810342"/>
                  <a:gd name="connsiteY0" fmla="*/ 434303 h 434303"/>
                  <a:gd name="connsiteX1" fmla="*/ 161925 w 810342"/>
                  <a:gd name="connsiteY1" fmla="*/ 415253 h 434303"/>
                  <a:gd name="connsiteX2" fmla="*/ 295275 w 810342"/>
                  <a:gd name="connsiteY2" fmla="*/ 372391 h 434303"/>
                  <a:gd name="connsiteX3" fmla="*/ 457200 w 810342"/>
                  <a:gd name="connsiteY3" fmla="*/ 267616 h 434303"/>
                  <a:gd name="connsiteX4" fmla="*/ 552450 w 810342"/>
                  <a:gd name="connsiteY4" fmla="*/ 143791 h 434303"/>
                  <a:gd name="connsiteX5" fmla="*/ 642938 w 810342"/>
                  <a:gd name="connsiteY5" fmla="*/ 58066 h 434303"/>
                  <a:gd name="connsiteX6" fmla="*/ 738188 w 810342"/>
                  <a:gd name="connsiteY6" fmla="*/ 10441 h 434303"/>
                  <a:gd name="connsiteX7" fmla="*/ 800100 w 810342"/>
                  <a:gd name="connsiteY7" fmla="*/ 916 h 434303"/>
                  <a:gd name="connsiteX8" fmla="*/ 809625 w 810342"/>
                  <a:gd name="connsiteY8" fmla="*/ 916 h 43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0342" h="434303">
                    <a:moveTo>
                      <a:pt x="0" y="434303"/>
                    </a:moveTo>
                    <a:cubicBezTo>
                      <a:pt x="56356" y="429937"/>
                      <a:pt x="112712" y="425572"/>
                      <a:pt x="161925" y="415253"/>
                    </a:cubicBezTo>
                    <a:cubicBezTo>
                      <a:pt x="211138" y="404934"/>
                      <a:pt x="246063" y="396997"/>
                      <a:pt x="295275" y="372391"/>
                    </a:cubicBezTo>
                    <a:cubicBezTo>
                      <a:pt x="344487" y="347785"/>
                      <a:pt x="414338" y="305716"/>
                      <a:pt x="457200" y="267616"/>
                    </a:cubicBezTo>
                    <a:cubicBezTo>
                      <a:pt x="500062" y="229516"/>
                      <a:pt x="521494" y="178716"/>
                      <a:pt x="552450" y="143791"/>
                    </a:cubicBezTo>
                    <a:cubicBezTo>
                      <a:pt x="583406" y="108866"/>
                      <a:pt x="611982" y="80291"/>
                      <a:pt x="642938" y="58066"/>
                    </a:cubicBezTo>
                    <a:cubicBezTo>
                      <a:pt x="673894" y="35841"/>
                      <a:pt x="711995" y="19966"/>
                      <a:pt x="738188" y="10441"/>
                    </a:cubicBezTo>
                    <a:cubicBezTo>
                      <a:pt x="764381" y="916"/>
                      <a:pt x="788194" y="2503"/>
                      <a:pt x="800100" y="916"/>
                    </a:cubicBezTo>
                    <a:cubicBezTo>
                      <a:pt x="812006" y="-671"/>
                      <a:pt x="810815" y="122"/>
                      <a:pt x="809625" y="916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sz="1800" i="1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53" name="Freeform 152"/>
              <p:cNvSpPr/>
              <p:nvPr/>
            </p:nvSpPr>
            <p:spPr>
              <a:xfrm flipH="1">
                <a:off x="7967732" y="2527956"/>
                <a:ext cx="810342" cy="434303"/>
              </a:xfrm>
              <a:custGeom>
                <a:avLst/>
                <a:gdLst>
                  <a:gd name="connsiteX0" fmla="*/ 0 w 810342"/>
                  <a:gd name="connsiteY0" fmla="*/ 434303 h 434303"/>
                  <a:gd name="connsiteX1" fmla="*/ 161925 w 810342"/>
                  <a:gd name="connsiteY1" fmla="*/ 415253 h 434303"/>
                  <a:gd name="connsiteX2" fmla="*/ 295275 w 810342"/>
                  <a:gd name="connsiteY2" fmla="*/ 372391 h 434303"/>
                  <a:gd name="connsiteX3" fmla="*/ 457200 w 810342"/>
                  <a:gd name="connsiteY3" fmla="*/ 267616 h 434303"/>
                  <a:gd name="connsiteX4" fmla="*/ 552450 w 810342"/>
                  <a:gd name="connsiteY4" fmla="*/ 143791 h 434303"/>
                  <a:gd name="connsiteX5" fmla="*/ 642938 w 810342"/>
                  <a:gd name="connsiteY5" fmla="*/ 58066 h 434303"/>
                  <a:gd name="connsiteX6" fmla="*/ 738188 w 810342"/>
                  <a:gd name="connsiteY6" fmla="*/ 10441 h 434303"/>
                  <a:gd name="connsiteX7" fmla="*/ 800100 w 810342"/>
                  <a:gd name="connsiteY7" fmla="*/ 916 h 434303"/>
                  <a:gd name="connsiteX8" fmla="*/ 809625 w 810342"/>
                  <a:gd name="connsiteY8" fmla="*/ 916 h 43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0342" h="434303">
                    <a:moveTo>
                      <a:pt x="0" y="434303"/>
                    </a:moveTo>
                    <a:cubicBezTo>
                      <a:pt x="56356" y="429937"/>
                      <a:pt x="112712" y="425572"/>
                      <a:pt x="161925" y="415253"/>
                    </a:cubicBezTo>
                    <a:cubicBezTo>
                      <a:pt x="211138" y="404934"/>
                      <a:pt x="246063" y="396997"/>
                      <a:pt x="295275" y="372391"/>
                    </a:cubicBezTo>
                    <a:cubicBezTo>
                      <a:pt x="344487" y="347785"/>
                      <a:pt x="414338" y="305716"/>
                      <a:pt x="457200" y="267616"/>
                    </a:cubicBezTo>
                    <a:cubicBezTo>
                      <a:pt x="500062" y="229516"/>
                      <a:pt x="521494" y="178716"/>
                      <a:pt x="552450" y="143791"/>
                    </a:cubicBezTo>
                    <a:cubicBezTo>
                      <a:pt x="583406" y="108866"/>
                      <a:pt x="611982" y="80291"/>
                      <a:pt x="642938" y="58066"/>
                    </a:cubicBezTo>
                    <a:cubicBezTo>
                      <a:pt x="673894" y="35841"/>
                      <a:pt x="711995" y="19966"/>
                      <a:pt x="738188" y="10441"/>
                    </a:cubicBezTo>
                    <a:cubicBezTo>
                      <a:pt x="764381" y="916"/>
                      <a:pt x="788194" y="2503"/>
                      <a:pt x="800100" y="916"/>
                    </a:cubicBezTo>
                    <a:cubicBezTo>
                      <a:pt x="812006" y="-671"/>
                      <a:pt x="810815" y="122"/>
                      <a:pt x="809625" y="916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sz="1800" i="1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75007711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25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25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7055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A7D9C9B-6110-E3BC-F807-DDF24F33E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611F43-05E6-292C-1763-F8C1F0C48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3B9433FF-1D86-2ACE-B90C-09B58A7D58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8E0BD2D3-E9EA-D225-7B98-37424A0C63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State variables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State variables defined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 network routing problem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Belief state variables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Pre- and post- decision state variables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 sample of state variables</a:t>
            </a:r>
          </a:p>
        </p:txBody>
      </p:sp>
    </p:spTree>
    <p:extLst>
      <p:ext uri="{BB962C8B-B14F-4D97-AF65-F5344CB8AC3E}">
        <p14:creationId xmlns:p14="http://schemas.microsoft.com/office/powerpoint/2010/main" val="5595722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variables: Belief states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93776" y="1143000"/>
                <a:ext cx="7008992" cy="49530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Belief states:</a:t>
                </a:r>
              </a:p>
              <a:p>
                <a:pPr lvl="1"/>
                <a:r>
                  <a:rPr lang="en-US" dirty="0"/>
                  <a:t>Look up tables, Bayesian belief, independent beliefs:</a:t>
                </a:r>
              </a:p>
              <a:p>
                <a:pPr lvl="2"/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bSup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3"/>
                <a:endParaRPr lang="en-US" sz="1600" dirty="0"/>
              </a:p>
              <a:p>
                <a:pPr lvl="1"/>
                <a:r>
                  <a:rPr lang="en-US" dirty="0"/>
                  <a:t>Correlated beliefs</a:t>
                </a:r>
              </a:p>
              <a:p>
                <a:pPr lvl="2"/>
                <a:endParaRPr lang="en-US" sz="140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acc>
                          </m:e>
                          <m:sub/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 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𝐶𝑜𝑣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lvl="2"/>
                <a:endParaRPr lang="en-US" sz="1600" dirty="0"/>
              </a:p>
              <a:p>
                <a:pPr lvl="1"/>
                <a:r>
                  <a:rPr lang="en-US" dirty="0"/>
                  <a:t>Sampled beliefs, nonlinear model </a:t>
                </a:r>
              </a:p>
              <a:p>
                <a:pPr lvl="2"/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bSup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𝑃𝑟𝑜𝑏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3776" y="1143000"/>
                <a:ext cx="7008992" cy="4953000"/>
              </a:xfrm>
              <a:blipFill>
                <a:blip r:embed="rId2"/>
                <a:stretch>
                  <a:fillRect l="-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350" y="1050546"/>
            <a:ext cx="2783277" cy="173954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2754" y="2813541"/>
            <a:ext cx="2720785" cy="17808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1723" y="4893343"/>
            <a:ext cx="2632862" cy="156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55847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D7599-EA16-C09F-0F13-A09CA8ECA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Slide Number Placeholder 5">
            <a:extLst>
              <a:ext uri="{FF2B5EF4-FFF2-40B4-BE49-F238E27FC236}">
                <a16:creationId xmlns:a16="http://schemas.microsoft.com/office/drawing/2014/main" id="{CF89F5E9-226B-ABE5-CD79-C549B7AA0E3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C4D36059-6355-4776-B287-ABB72C303CC4}" type="slidenum">
              <a:rPr lang="en-US" sz="1400"/>
              <a:pPr/>
              <a:t>229</a:t>
            </a:fld>
            <a:endParaRPr lang="en-US" sz="1400"/>
          </a:p>
        </p:txBody>
      </p:sp>
      <p:sp>
        <p:nvSpPr>
          <p:cNvPr id="79876" name="Rectangle 2">
            <a:extLst>
              <a:ext uri="{FF2B5EF4-FFF2-40B4-BE49-F238E27FC236}">
                <a16:creationId xmlns:a16="http://schemas.microsoft.com/office/drawing/2014/main" id="{417C7364-BC50-18DD-8E70-4E2848A9E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variables: Belief states</a:t>
            </a:r>
          </a:p>
        </p:txBody>
      </p:sp>
      <p:sp>
        <p:nvSpPr>
          <p:cNvPr id="79877" name="Rectangle 3">
            <a:extLst>
              <a:ext uri="{FF2B5EF4-FFF2-40B4-BE49-F238E27FC236}">
                <a16:creationId xmlns:a16="http://schemas.microsoft.com/office/drawing/2014/main" id="{195025D1-D263-313B-B772-47D911E05B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1303" y="1552868"/>
            <a:ext cx="6834853" cy="4401600"/>
          </a:xfrm>
        </p:spPr>
        <p:txBody>
          <a:bodyPr/>
          <a:lstStyle/>
          <a:p>
            <a:pPr marL="86360" indent="0">
              <a:buNone/>
            </a:pPr>
            <a:r>
              <a:rPr lang="en-US" sz="2400" dirty="0"/>
              <a:t>Lookup tables</a:t>
            </a:r>
          </a:p>
          <a:p>
            <a:pPr lvl="1"/>
            <a:r>
              <a:rPr lang="en-US" dirty="0"/>
              <a:t>Batch estimation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Recursive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BA3F73D-F05F-1D5A-53D2-044E7962EC45}"/>
                  </a:ext>
                </a:extLst>
              </p:cNvPr>
              <p:cNvSpPr txBox="1"/>
              <p:nvPr/>
            </p:nvSpPr>
            <p:spPr>
              <a:xfrm>
                <a:off x="1258128" y="2511143"/>
                <a:ext cx="3137718" cy="16046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e>
                      </m:nary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                    </m:t>
                      </m:r>
                    </m:oMath>
                  </m:oMathPara>
                </a14:m>
                <a:endParaRPr lang="en-US" sz="1800" dirty="0"/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</m:s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48CC6F4-6C70-2421-B181-E1FBCFE1A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128" y="2511143"/>
                <a:ext cx="3137718" cy="16046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42ACC07-9F65-B5E1-5F45-FC628D34F648}"/>
                  </a:ext>
                </a:extLst>
              </p:cNvPr>
              <p:cNvSpPr txBox="1"/>
              <p:nvPr/>
            </p:nvSpPr>
            <p:spPr>
              <a:xfrm>
                <a:off x="1201569" y="4765133"/>
                <a:ext cx="5051832" cy="17554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80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𝑊</m:t>
                                            </m:r>
                                          </m:e>
                                          <m:sup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p>
                                        </m:sSup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𝜇</m:t>
                                                </m:r>
                                              </m:e>
                                            </m:acc>
                                          </m:e>
                                          <m:sup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</m:t>
                                </m:r>
                              </m:e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num>
                                  <m:den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𝑊</m:t>
                                            </m:r>
                                          </m:e>
                                          <m:sup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p>
                                        </m:sSup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𝜇</m:t>
                                                </m:r>
                                              </m:e>
                                            </m:acc>
                                          </m:e>
                                          <m:sup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&gt;2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F41364-DFF6-459B-2116-B9E118443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569" y="4765133"/>
                <a:ext cx="5051832" cy="17554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F1E3904-DFBD-8AC4-BC74-B0C3E281BC3D}"/>
              </a:ext>
            </a:extLst>
          </p:cNvPr>
          <p:cNvSpPr txBox="1">
            <a:spLocks/>
          </p:cNvSpPr>
          <p:nvPr/>
        </p:nvSpPr>
        <p:spPr>
          <a:xfrm>
            <a:off x="6389868" y="1543440"/>
            <a:ext cx="5681939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 sz="2400" dirty="0"/>
              <a:t>Linear models</a:t>
            </a:r>
          </a:p>
          <a:p>
            <a:pPr lvl="1"/>
            <a:r>
              <a:rPr lang="en-US" dirty="0"/>
              <a:t>Batch (normal equations)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r>
              <a:rPr lang="en-US" dirty="0"/>
              <a:t>Recursive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67BBC7-32EE-462F-5530-E2E1E46BA164}"/>
                  </a:ext>
                </a:extLst>
              </p:cNvPr>
              <p:cNvSpPr txBox="1"/>
              <p:nvPr/>
            </p:nvSpPr>
            <p:spPr>
              <a:xfrm>
                <a:off x="7277490" y="3421929"/>
                <a:ext cx="4154919" cy="26083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800" dirty="0"/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=1+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67BBC7-32EE-462F-5530-E2E1E46BA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490" y="3421929"/>
                <a:ext cx="4154919" cy="2608343"/>
              </a:xfrm>
              <a:prstGeom prst="rect">
                <a:avLst/>
              </a:prstGeom>
              <a:blipFill>
                <a:blip r:embed="rId5"/>
                <a:stretch>
                  <a:fillRect b="-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60C7DB-004A-C991-34B5-0FCFE4BFC3CA}"/>
                  </a:ext>
                </a:extLst>
              </p:cNvPr>
              <p:cNvSpPr txBox="1"/>
              <p:nvPr/>
            </p:nvSpPr>
            <p:spPr>
              <a:xfrm>
                <a:off x="7711122" y="2620652"/>
                <a:ext cx="3130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CD52EB2-B104-2631-6B57-EC70DE5F6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1122" y="2620652"/>
                <a:ext cx="313098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9B1F50D-77C7-98E0-97FA-C0923EFA16FB}"/>
              </a:ext>
            </a:extLst>
          </p:cNvPr>
          <p:cNvSpPr txBox="1"/>
          <p:nvPr/>
        </p:nvSpPr>
        <p:spPr>
          <a:xfrm>
            <a:off x="2755879" y="1094969"/>
            <a:ext cx="66880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Raleway" pitchFamily="2" charset="0"/>
              </a:rPr>
              <a:t>Batch vs. recursive learning: frequentist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56765FD-DB0F-0711-0B50-0B90A94876F4}"/>
              </a:ext>
            </a:extLst>
          </p:cNvPr>
          <p:cNvGrpSpPr/>
          <p:nvPr/>
        </p:nvGrpSpPr>
        <p:grpSpPr>
          <a:xfrm>
            <a:off x="2579914" y="4402935"/>
            <a:ext cx="4833725" cy="1986982"/>
            <a:chOff x="2579914" y="4402935"/>
            <a:chExt cx="4833725" cy="1986982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98BC57B-D6E1-21B5-2988-C90BC79F799B}"/>
                </a:ext>
              </a:extLst>
            </p:cNvPr>
            <p:cNvSpPr/>
            <p:nvPr/>
          </p:nvSpPr>
          <p:spPr>
            <a:xfrm>
              <a:off x="2579914" y="4743361"/>
              <a:ext cx="587829" cy="51444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7B83D12-C097-47D7-ACEF-8EF259E9204A}"/>
                </a:ext>
              </a:extLst>
            </p:cNvPr>
            <p:cNvSpPr/>
            <p:nvPr/>
          </p:nvSpPr>
          <p:spPr>
            <a:xfrm>
              <a:off x="2732314" y="5875477"/>
              <a:ext cx="707572" cy="514440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338E0A2-2FFE-EE02-1ADC-4E922326F78F}"/>
                    </a:ext>
                  </a:extLst>
                </p:cNvPr>
                <p:cNvSpPr txBox="1"/>
                <p:nvPr/>
              </p:nvSpPr>
              <p:spPr>
                <a:xfrm>
                  <a:off x="4245336" y="4402935"/>
                  <a:ext cx="316830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=(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338E0A2-2FFE-EE02-1ADC-4E922326F7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5336" y="4402935"/>
                  <a:ext cx="3168303" cy="461665"/>
                </a:xfrm>
                <a:prstGeom prst="rect">
                  <a:avLst/>
                </a:prstGeom>
                <a:blipFill>
                  <a:blip r:embed="rId7"/>
                  <a:stretch>
                    <a:fillRect t="-1316" b="-197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2BDA4D2-3008-380D-DBE1-917212628645}"/>
              </a:ext>
            </a:extLst>
          </p:cNvPr>
          <p:cNvGrpSpPr/>
          <p:nvPr/>
        </p:nvGrpSpPr>
        <p:grpSpPr>
          <a:xfrm>
            <a:off x="4614332" y="3566877"/>
            <a:ext cx="5635928" cy="1496389"/>
            <a:chOff x="4614332" y="3566877"/>
            <a:chExt cx="5635928" cy="1496389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AA9FD76-8C1B-9420-F0F2-8201376E123A}"/>
                </a:ext>
              </a:extLst>
            </p:cNvPr>
            <p:cNvSpPr/>
            <p:nvPr/>
          </p:nvSpPr>
          <p:spPr>
            <a:xfrm>
              <a:off x="8528949" y="4667160"/>
              <a:ext cx="587829" cy="393384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0DB0E1A-1639-3FFC-5192-898C331AF66C}"/>
                </a:ext>
              </a:extLst>
            </p:cNvPr>
            <p:cNvSpPr/>
            <p:nvPr/>
          </p:nvSpPr>
          <p:spPr>
            <a:xfrm>
              <a:off x="9575337" y="4669882"/>
              <a:ext cx="674923" cy="393384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24EC7CD-C6AD-2EED-89A9-EE9F9AA12062}"/>
                    </a:ext>
                  </a:extLst>
                </p:cNvPr>
                <p:cNvSpPr txBox="1"/>
                <p:nvPr/>
              </p:nvSpPr>
              <p:spPr>
                <a:xfrm>
                  <a:off x="4614332" y="3566877"/>
                  <a:ext cx="307481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=(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24EC7CD-C6AD-2EED-89A9-EE9F9AA120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4332" y="3566877"/>
                  <a:ext cx="3074816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197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86434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B0796738-9B31-EEC6-7FAB-93D04A835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D39BF2-2634-0084-58FB-1746C9A84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9727DD1D-D224-B4B9-9885-DC84A1F4FD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C78D3523-6E22-F962-E575-78A5BB7BE2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State variables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State variables defined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 network routing problem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Belief state variables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Pre- and post- decision state variables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 sample of state variables</a:t>
            </a:r>
          </a:p>
        </p:txBody>
      </p:sp>
    </p:spTree>
    <p:extLst>
      <p:ext uri="{BB962C8B-B14F-4D97-AF65-F5344CB8AC3E}">
        <p14:creationId xmlns:p14="http://schemas.microsoft.com/office/powerpoint/2010/main" val="2798521747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State variables: Pre- and post-decision states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94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74644" y="1087465"/>
                <a:ext cx="10363200" cy="4401600"/>
              </a:xfrm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lang="en-US" dirty="0"/>
                  <a:t>Pre- and post-decision states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The “pre-decision” state variable:</a:t>
                </a:r>
              </a:p>
              <a:p>
                <a:pPr marL="1028700" lvl="2" indent="0">
                  <a:lnSpc>
                    <a:spcPct val="130000"/>
                  </a:lnSpc>
                  <a:buNone/>
                </a:pPr>
                <a:r>
                  <a:rPr lang="en-US" dirty="0"/>
                  <a:t>    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The “post-decision” state variable (due to Ben van Roy):</a:t>
                </a:r>
              </a:p>
              <a:p>
                <a:pPr marL="1028700" lvl="2" indent="0">
                  <a:lnSpc>
                    <a:spcPct val="130000"/>
                  </a:lnSpc>
                  <a:buNone/>
                </a:pPr>
                <a:r>
                  <a:rPr lang="en-US" dirty="0"/>
                  <a:t>   </a:t>
                </a:r>
              </a:p>
              <a:p>
                <a:pPr lvl="2">
                  <a:lnSpc>
                    <a:spcPct val="130000"/>
                  </a:lnSpc>
                </a:pPr>
                <a:endParaRPr lang="en-US" dirty="0"/>
              </a:p>
              <a:p>
                <a:pPr lvl="2">
                  <a:lnSpc>
                    <a:spcPct val="130000"/>
                  </a:lnSpc>
                </a:pPr>
                <a:r>
                  <a:rPr lang="en-US" dirty="0"/>
                  <a:t>Also known as “</a:t>
                </a:r>
                <a:r>
                  <a:rPr lang="en-US" dirty="0" err="1"/>
                  <a:t>afterstate</a:t>
                </a:r>
                <a:r>
                  <a:rPr lang="en-US" dirty="0"/>
                  <a:t>” (Sutton and Barto).</a:t>
                </a:r>
              </a:p>
              <a:p>
                <a:pPr lvl="2">
                  <a:lnSpc>
                    <a:spcPct val="130000"/>
                  </a:lnSpc>
                </a:pPr>
                <a:r>
                  <a:rPr lang="en-US" dirty="0"/>
                  <a:t>Same as an “outcome node” in a decision tree, which is equivalent to a state-action pair, as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The information and decision sequence</a:t>
                </a:r>
              </a:p>
              <a:p>
                <a:pPr lvl="2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994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74644" y="1087465"/>
                <a:ext cx="10363200" cy="4401600"/>
              </a:xfrm>
              <a:blipFill>
                <a:blip r:embed="rId3"/>
                <a:stretch>
                  <a:fillRect b="-16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941" name="Object 4"/>
              <p:cNvSpPr txBox="1"/>
              <p:nvPr/>
            </p:nvSpPr>
            <p:spPr bwMode="auto">
              <a:xfrm>
                <a:off x="2216150" y="2317750"/>
                <a:ext cx="6507226" cy="4016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The information required to make a decision 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39941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6150" y="2317750"/>
                <a:ext cx="6507226" cy="401638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942" name="Object 5"/>
              <p:cNvSpPr txBox="1"/>
              <p:nvPr/>
            </p:nvSpPr>
            <p:spPr bwMode="auto">
              <a:xfrm>
                <a:off x="2141538" y="3226626"/>
                <a:ext cx="7368222" cy="7159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bSup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The state of what we know immediately after we</m:t>
                      </m:r>
                    </m:oMath>
                    <m:oMath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         make a decision.</m:t>
                      </m:r>
                    </m:oMath>
                  </m:oMathPara>
                </a14:m>
                <a:endParaRPr lang="en-US" sz="2000" dirty="0"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39942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1538" y="3226626"/>
                <a:ext cx="7368222" cy="7159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0283538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4792" y="1060414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State variables in decision trees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State variables: Pre- and post-decision states</a:t>
            </a:r>
          </a:p>
        </p:txBody>
      </p:sp>
      <p:sp>
        <p:nvSpPr>
          <p:cNvPr id="3" name="Oval 2"/>
          <p:cNvSpPr/>
          <p:nvPr/>
        </p:nvSpPr>
        <p:spPr>
          <a:xfrm>
            <a:off x="4951216" y="3437636"/>
            <a:ext cx="235668" cy="235668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966641" y="4696201"/>
            <a:ext cx="235668" cy="235668"/>
          </a:xfrm>
          <a:prstGeom prst="ellipse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704284" y="2946449"/>
            <a:ext cx="264287" cy="264287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697065" y="3783847"/>
            <a:ext cx="264287" cy="264287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5" name="Straight Connector 4"/>
          <p:cNvCxnSpPr>
            <a:stCxn id="37" idx="3"/>
            <a:endCxn id="3" idx="2"/>
          </p:cNvCxnSpPr>
          <p:nvPr/>
        </p:nvCxnSpPr>
        <p:spPr bwMode="auto">
          <a:xfrm flipV="1">
            <a:off x="3543109" y="3555470"/>
            <a:ext cx="1408107" cy="575497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7" name="Straight Connector 6"/>
          <p:cNvCxnSpPr>
            <a:stCxn id="37" idx="3"/>
            <a:endCxn id="12" idx="2"/>
          </p:cNvCxnSpPr>
          <p:nvPr/>
        </p:nvCxnSpPr>
        <p:spPr bwMode="auto">
          <a:xfrm>
            <a:off x="3543109" y="4130967"/>
            <a:ext cx="1423532" cy="683068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10" name="Straight Arrow Connector 9"/>
          <p:cNvCxnSpPr>
            <a:cxnSpLocks/>
            <a:endCxn id="13" idx="1"/>
          </p:cNvCxnSpPr>
          <p:nvPr/>
        </p:nvCxnSpPr>
        <p:spPr bwMode="auto">
          <a:xfrm flipV="1">
            <a:off x="5213379" y="3078593"/>
            <a:ext cx="1490905" cy="438912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21" name="Straight Arrow Connector 20"/>
          <p:cNvCxnSpPr>
            <a:cxnSpLocks/>
            <a:endCxn id="17" idx="1"/>
          </p:cNvCxnSpPr>
          <p:nvPr/>
        </p:nvCxnSpPr>
        <p:spPr bwMode="auto">
          <a:xfrm>
            <a:off x="5185947" y="3576731"/>
            <a:ext cx="1511118" cy="33926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37" name="Rectangle 36"/>
          <p:cNvSpPr/>
          <p:nvPr/>
        </p:nvSpPr>
        <p:spPr>
          <a:xfrm>
            <a:off x="3278822" y="3998823"/>
            <a:ext cx="264287" cy="264287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graphicFrame>
        <p:nvGraphicFramePr>
          <p:cNvPr id="35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490549"/>
              </p:ext>
            </p:extLst>
          </p:nvPr>
        </p:nvGraphicFramePr>
        <p:xfrm>
          <a:off x="3258850" y="3417931"/>
          <a:ext cx="348125" cy="474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80" imgH="190440" progId="Equation.DSMT4">
                  <p:embed/>
                </p:oleObj>
              </mc:Choice>
              <mc:Fallback>
                <p:oleObj name="Equation" r:id="rId3" imgW="139680" imgH="190440" progId="Equation.DSMT4">
                  <p:embed/>
                  <p:pic>
                    <p:nvPicPr>
                      <p:cNvPr id="35" name="Object 3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58850" y="3417931"/>
                        <a:ext cx="348125" cy="4747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321254"/>
              </p:ext>
            </p:extLst>
          </p:nvPr>
        </p:nvGraphicFramePr>
        <p:xfrm>
          <a:off x="4856995" y="2922659"/>
          <a:ext cx="411162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4880" imgH="203040" progId="Equation.DSMT4">
                  <p:embed/>
                </p:oleObj>
              </mc:Choice>
              <mc:Fallback>
                <p:oleObj name="Equation" r:id="rId5" imgW="164880" imgH="203040" progId="Equation.DSMT4">
                  <p:embed/>
                  <p:pic>
                    <p:nvPicPr>
                      <p:cNvPr id="36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6995" y="2922659"/>
                        <a:ext cx="411162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38152"/>
              </p:ext>
            </p:extLst>
          </p:nvPr>
        </p:nvGraphicFramePr>
        <p:xfrm>
          <a:off x="6620880" y="2242212"/>
          <a:ext cx="536575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5640" imgH="190440" progId="Equation.DSMT4">
                  <p:embed/>
                </p:oleObj>
              </mc:Choice>
              <mc:Fallback>
                <p:oleObj name="Equation" r:id="rId7" imgW="215640" imgH="190440" progId="Equation.DSMT4">
                  <p:embed/>
                  <p:pic>
                    <p:nvPicPr>
                      <p:cNvPr id="4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0880" y="2242212"/>
                        <a:ext cx="536575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" name="Group 41"/>
          <p:cNvGrpSpPr/>
          <p:nvPr/>
        </p:nvGrpSpPr>
        <p:grpSpPr>
          <a:xfrm>
            <a:off x="3584046" y="3555470"/>
            <a:ext cx="1382603" cy="1258565"/>
            <a:chOff x="5761324" y="2727221"/>
            <a:chExt cx="861144" cy="1258565"/>
          </a:xfrm>
        </p:grpSpPr>
        <p:cxnSp>
          <p:nvCxnSpPr>
            <p:cNvPr id="49" name="Straight Connector 48"/>
            <p:cNvCxnSpPr>
              <a:cxnSpLocks/>
              <a:endCxn id="3" idx="2"/>
            </p:cNvCxnSpPr>
            <p:nvPr/>
          </p:nvCxnSpPr>
          <p:spPr bwMode="auto">
            <a:xfrm flipV="1">
              <a:off x="5761324" y="2727221"/>
              <a:ext cx="851538" cy="577422"/>
            </a:xfrm>
            <a:prstGeom prst="line">
              <a:avLst/>
            </a:prstGeom>
            <a:noFill/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</p:cxnSp>
        <p:cxnSp>
          <p:nvCxnSpPr>
            <p:cNvPr id="50" name="Straight Connector 49"/>
            <p:cNvCxnSpPr>
              <a:cxnSpLocks/>
              <a:endCxn id="12" idx="2"/>
            </p:cNvCxnSpPr>
            <p:nvPr/>
          </p:nvCxnSpPr>
          <p:spPr bwMode="auto">
            <a:xfrm>
              <a:off x="5761325" y="3304643"/>
              <a:ext cx="861143" cy="681143"/>
            </a:xfrm>
            <a:prstGeom prst="line">
              <a:avLst/>
            </a:prstGeom>
            <a:noFill/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</p:cxnSp>
      </p:grpSp>
      <p:grpSp>
        <p:nvGrpSpPr>
          <p:cNvPr id="43" name="Group 42"/>
          <p:cNvGrpSpPr/>
          <p:nvPr/>
        </p:nvGrpSpPr>
        <p:grpSpPr>
          <a:xfrm>
            <a:off x="4953142" y="3437131"/>
            <a:ext cx="260237" cy="1485089"/>
            <a:chOff x="6090209" y="2213846"/>
            <a:chExt cx="260237" cy="1485089"/>
          </a:xfrm>
        </p:grpSpPr>
        <p:sp>
          <p:nvSpPr>
            <p:cNvPr id="52" name="Oval 51"/>
            <p:cNvSpPr/>
            <p:nvPr/>
          </p:nvSpPr>
          <p:spPr>
            <a:xfrm>
              <a:off x="6090209" y="2213846"/>
              <a:ext cx="235668" cy="235668"/>
            </a:xfrm>
            <a:prstGeom prst="ellipse">
              <a:avLst/>
            </a:prstGeom>
            <a:ln w="5715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53" name="Oval 52"/>
            <p:cNvSpPr/>
            <p:nvPr/>
          </p:nvSpPr>
          <p:spPr>
            <a:xfrm>
              <a:off x="6114778" y="3463267"/>
              <a:ext cx="235668" cy="235668"/>
            </a:xfrm>
            <a:prstGeom prst="ellipse">
              <a:avLst/>
            </a:prstGeom>
            <a:ln w="5715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173536" y="3096339"/>
            <a:ext cx="1552286" cy="2115433"/>
            <a:chOff x="3040589" y="1848684"/>
            <a:chExt cx="1552286" cy="2115433"/>
          </a:xfrm>
        </p:grpSpPr>
        <p:cxnSp>
          <p:nvCxnSpPr>
            <p:cNvPr id="55" name="Straight Arrow Connector 54"/>
            <p:cNvCxnSpPr>
              <a:cxnSpLocks/>
            </p:cNvCxnSpPr>
            <p:nvPr/>
          </p:nvCxnSpPr>
          <p:spPr bwMode="auto">
            <a:xfrm flipV="1">
              <a:off x="3040589" y="1848684"/>
              <a:ext cx="1552286" cy="446233"/>
            </a:xfrm>
            <a:prstGeom prst="straightConnector1">
              <a:avLst/>
            </a:prstGeom>
            <a:noFill/>
            <a:ln w="5715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56" name="Straight Arrow Connector 55"/>
            <p:cNvCxnSpPr>
              <a:cxnSpLocks/>
            </p:cNvCxnSpPr>
            <p:nvPr/>
          </p:nvCxnSpPr>
          <p:spPr bwMode="auto">
            <a:xfrm>
              <a:off x="3126035" y="2365378"/>
              <a:ext cx="1466840" cy="321469"/>
            </a:xfrm>
            <a:prstGeom prst="straightConnector1">
              <a:avLst/>
            </a:prstGeom>
            <a:noFill/>
            <a:ln w="5715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57" name="Straight Arrow Connector 56"/>
            <p:cNvCxnSpPr>
              <a:cxnSpLocks/>
              <a:stCxn id="53" idx="6"/>
              <a:endCxn id="62" idx="1"/>
            </p:cNvCxnSpPr>
            <p:nvPr/>
          </p:nvCxnSpPr>
          <p:spPr bwMode="auto">
            <a:xfrm flipV="1">
              <a:off x="3080432" y="3166264"/>
              <a:ext cx="1512258" cy="390467"/>
            </a:xfrm>
            <a:prstGeom prst="straightConnector1">
              <a:avLst/>
            </a:prstGeom>
            <a:noFill/>
            <a:ln w="5715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58" name="Straight Arrow Connector 57"/>
            <p:cNvCxnSpPr>
              <a:cxnSpLocks/>
            </p:cNvCxnSpPr>
            <p:nvPr/>
          </p:nvCxnSpPr>
          <p:spPr bwMode="auto">
            <a:xfrm>
              <a:off x="3045919" y="3649577"/>
              <a:ext cx="1524295" cy="314540"/>
            </a:xfrm>
            <a:prstGeom prst="straightConnector1">
              <a:avLst/>
            </a:prstGeom>
            <a:noFill/>
            <a:ln w="5715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45" name="Group 44"/>
          <p:cNvGrpSpPr/>
          <p:nvPr/>
        </p:nvGrpSpPr>
        <p:grpSpPr>
          <a:xfrm>
            <a:off x="6712322" y="2947195"/>
            <a:ext cx="279342" cy="2394827"/>
            <a:chOff x="7354257" y="2137186"/>
            <a:chExt cx="279342" cy="2394827"/>
          </a:xfrm>
        </p:grpSpPr>
        <p:sp>
          <p:nvSpPr>
            <p:cNvPr id="60" name="Rectangle 59"/>
            <p:cNvSpPr/>
            <p:nvPr/>
          </p:nvSpPr>
          <p:spPr>
            <a:xfrm>
              <a:off x="7369312" y="2137186"/>
              <a:ext cx="264287" cy="264287"/>
            </a:xfrm>
            <a:prstGeom prst="rect">
              <a:avLst/>
            </a:prstGeom>
            <a:ln w="5715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7355997" y="2971536"/>
              <a:ext cx="264287" cy="264287"/>
            </a:xfrm>
            <a:prstGeom prst="rect">
              <a:avLst/>
            </a:prstGeom>
            <a:ln w="5715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7367572" y="3471766"/>
              <a:ext cx="264287" cy="264287"/>
            </a:xfrm>
            <a:prstGeom prst="rect">
              <a:avLst/>
            </a:prstGeom>
            <a:ln w="5715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7354257" y="4267726"/>
              <a:ext cx="264287" cy="264287"/>
            </a:xfrm>
            <a:prstGeom prst="rect">
              <a:avLst/>
            </a:prstGeom>
            <a:ln w="5715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US" sz="1800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sp>
        <p:nvSpPr>
          <p:cNvPr id="65" name="Rectangle 64"/>
          <p:cNvSpPr/>
          <p:nvPr/>
        </p:nvSpPr>
        <p:spPr>
          <a:xfrm>
            <a:off x="3280747" y="4000748"/>
            <a:ext cx="264287" cy="264287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3370A97-F887-FB8C-412E-FD7A12813398}"/>
                  </a:ext>
                </a:extLst>
              </p:cNvPr>
              <p:cNvSpPr txBox="1"/>
              <p:nvPr/>
            </p:nvSpPr>
            <p:spPr>
              <a:xfrm>
                <a:off x="3558896" y="1782217"/>
                <a:ext cx="131318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0" dirty="0">
                    <a:latin typeface="Cambria Math" panose="02040503050406030204" pitchFamily="18" charset="0"/>
                  </a:rPr>
                  <a:t>Decision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3370A97-F887-FB8C-412E-FD7A12813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8896" y="1782217"/>
                <a:ext cx="1313180" cy="830997"/>
              </a:xfrm>
              <a:prstGeom prst="rect">
                <a:avLst/>
              </a:prstGeom>
              <a:blipFill>
                <a:blip r:embed="rId9"/>
                <a:stretch>
                  <a:fillRect l="-7442" t="-5839" r="-6047" b="-1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DB01EB-FA64-39BB-E69D-8343724E2FB1}"/>
                  </a:ext>
                </a:extLst>
              </p:cNvPr>
              <p:cNvSpPr txBox="1"/>
              <p:nvPr/>
            </p:nvSpPr>
            <p:spPr>
              <a:xfrm>
                <a:off x="5027024" y="1795035"/>
                <a:ext cx="177003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0" dirty="0">
                    <a:latin typeface="Cambria Math" panose="02040503050406030204" pitchFamily="18" charset="0"/>
                  </a:rPr>
                  <a:t>Information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DB01EB-FA64-39BB-E69D-8343724E2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024" y="1795035"/>
                <a:ext cx="1770036" cy="830997"/>
              </a:xfrm>
              <a:prstGeom prst="rect">
                <a:avLst/>
              </a:prstGeom>
              <a:blipFill>
                <a:blip r:embed="rId10"/>
                <a:stretch>
                  <a:fillRect l="-5517" t="-5839" r="-4828" b="-2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8BFF6CEF-C623-94D6-97A9-9F3B7F4146F3}"/>
              </a:ext>
            </a:extLst>
          </p:cNvPr>
          <p:cNvSpPr/>
          <p:nvPr/>
        </p:nvSpPr>
        <p:spPr>
          <a:xfrm>
            <a:off x="6719524" y="4296713"/>
            <a:ext cx="264287" cy="264287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41B68B-C5A7-FA2E-4BDE-5D6A7BBE8FB2}"/>
              </a:ext>
            </a:extLst>
          </p:cNvPr>
          <p:cNvSpPr/>
          <p:nvPr/>
        </p:nvSpPr>
        <p:spPr>
          <a:xfrm>
            <a:off x="6703161" y="5070103"/>
            <a:ext cx="264287" cy="264287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957C38D-DFC2-56AD-3FA5-618E24CC4557}"/>
              </a:ext>
            </a:extLst>
          </p:cNvPr>
          <p:cNvCxnSpPr>
            <a:cxnSpLocks/>
          </p:cNvCxnSpPr>
          <p:nvPr/>
        </p:nvCxnSpPr>
        <p:spPr bwMode="auto">
          <a:xfrm flipV="1">
            <a:off x="5243859" y="4370183"/>
            <a:ext cx="1490905" cy="438912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6FED9F8-993A-5A9B-1974-F6B6F75FA717}"/>
              </a:ext>
            </a:extLst>
          </p:cNvPr>
          <p:cNvCxnSpPr>
            <a:cxnSpLocks/>
          </p:cNvCxnSpPr>
          <p:nvPr/>
        </p:nvCxnSpPr>
        <p:spPr bwMode="auto">
          <a:xfrm>
            <a:off x="5216427" y="4887371"/>
            <a:ext cx="1511118" cy="33926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19C9A09-22EF-E34A-ECE1-22ADE9342CF9}"/>
              </a:ext>
            </a:extLst>
          </p:cNvPr>
          <p:cNvGrpSpPr/>
          <p:nvPr/>
        </p:nvGrpSpPr>
        <p:grpSpPr>
          <a:xfrm>
            <a:off x="2764843" y="2740071"/>
            <a:ext cx="1277914" cy="3323570"/>
            <a:chOff x="3205921" y="2740071"/>
            <a:chExt cx="1277914" cy="3323570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C88AC6E-BDA5-B88A-387B-9F8D9CF649FB}"/>
                </a:ext>
              </a:extLst>
            </p:cNvPr>
            <p:cNvSpPr/>
            <p:nvPr/>
          </p:nvSpPr>
          <p:spPr>
            <a:xfrm>
              <a:off x="3539296" y="2740071"/>
              <a:ext cx="645065" cy="2601951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62D31EC-9056-9124-E4F3-891846BF4D12}"/>
                </a:ext>
              </a:extLst>
            </p:cNvPr>
            <p:cNvSpPr txBox="1"/>
            <p:nvPr/>
          </p:nvSpPr>
          <p:spPr>
            <a:xfrm>
              <a:off x="3205921" y="5540421"/>
              <a:ext cx="12779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aleway" pitchFamily="2" charset="0"/>
                </a:rPr>
                <a:t>Pre-decision 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Raleway" pitchFamily="2" charset="0"/>
                </a:rPr>
                <a:t>state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43CB919-F06F-8FEA-18AA-09E64CE91C87}"/>
              </a:ext>
            </a:extLst>
          </p:cNvPr>
          <p:cNvGrpSpPr/>
          <p:nvPr/>
        </p:nvGrpSpPr>
        <p:grpSpPr>
          <a:xfrm>
            <a:off x="4397962" y="2768646"/>
            <a:ext cx="1364477" cy="3304520"/>
            <a:chOff x="4839040" y="2768646"/>
            <a:chExt cx="1364477" cy="330452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9493B94-E2D4-B5DE-9A0A-C38D84239E6B}"/>
                </a:ext>
              </a:extLst>
            </p:cNvPr>
            <p:cNvSpPr/>
            <p:nvPr/>
          </p:nvSpPr>
          <p:spPr>
            <a:xfrm>
              <a:off x="5187121" y="2768646"/>
              <a:ext cx="645065" cy="2601951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03AB815-02B4-E7AF-21A3-510B1FBD0EC2}"/>
                </a:ext>
              </a:extLst>
            </p:cNvPr>
            <p:cNvSpPr txBox="1"/>
            <p:nvPr/>
          </p:nvSpPr>
          <p:spPr>
            <a:xfrm>
              <a:off x="4839040" y="5549946"/>
              <a:ext cx="136447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aleway" pitchFamily="2" charset="0"/>
                </a:rPr>
                <a:t>Post-decision 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Raleway" pitchFamily="2" charset="0"/>
                </a:rPr>
                <a:t>state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87715EB-7AF7-0E9B-F15F-06A44FD8FABE}"/>
              </a:ext>
            </a:extLst>
          </p:cNvPr>
          <p:cNvGrpSpPr/>
          <p:nvPr/>
        </p:nvGrpSpPr>
        <p:grpSpPr>
          <a:xfrm>
            <a:off x="6187568" y="2720348"/>
            <a:ext cx="1277914" cy="3355844"/>
            <a:chOff x="3216679" y="2740071"/>
            <a:chExt cx="1277914" cy="335584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F9AD2CA-232A-0A6E-FCBE-96F04736688A}"/>
                </a:ext>
              </a:extLst>
            </p:cNvPr>
            <p:cNvSpPr/>
            <p:nvPr/>
          </p:nvSpPr>
          <p:spPr>
            <a:xfrm>
              <a:off x="3539296" y="2740071"/>
              <a:ext cx="645065" cy="2820073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570F7D4-5CE2-5877-FD42-B1268DC1531F}"/>
                </a:ext>
              </a:extLst>
            </p:cNvPr>
            <p:cNvSpPr txBox="1"/>
            <p:nvPr/>
          </p:nvSpPr>
          <p:spPr>
            <a:xfrm>
              <a:off x="3216679" y="5572695"/>
              <a:ext cx="12779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aleway" pitchFamily="2" charset="0"/>
                </a:rPr>
                <a:t>Pre-decision 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Raleway" pitchFamily="2" charset="0"/>
                </a:rPr>
                <a:t>state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C2F56A8-153F-36D1-24F1-79F2F31EBBB5}"/>
              </a:ext>
            </a:extLst>
          </p:cNvPr>
          <p:cNvSpPr txBox="1"/>
          <p:nvPr/>
        </p:nvSpPr>
        <p:spPr>
          <a:xfrm>
            <a:off x="7718118" y="3549171"/>
            <a:ext cx="38811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aleway" pitchFamily="2" charset="0"/>
              </a:rPr>
              <a:t>Post-decision state are particularly important when using approximate dynamic programming.</a:t>
            </a:r>
          </a:p>
        </p:txBody>
      </p:sp>
    </p:spTree>
    <p:extLst>
      <p:ext uri="{BB962C8B-B14F-4D97-AF65-F5344CB8AC3E}">
        <p14:creationId xmlns:p14="http://schemas.microsoft.com/office/powerpoint/2010/main" val="2122450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</p:bld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variables: Pre- and post-decision states</a:t>
            </a:r>
          </a:p>
        </p:txBody>
      </p:sp>
      <p:sp>
        <p:nvSpPr>
          <p:cNvPr id="993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0144" y="1115568"/>
            <a:ext cx="7772400" cy="3644900"/>
          </a:xfrm>
        </p:spPr>
        <p:txBody>
          <a:bodyPr/>
          <a:lstStyle/>
          <a:p>
            <a:pPr marL="86360" indent="0">
              <a:buNone/>
              <a:defRPr/>
            </a:pPr>
            <a:r>
              <a:rPr lang="en-US" dirty="0"/>
              <a:t>A scalar resource variable:</a:t>
            </a:r>
          </a:p>
          <a:p>
            <a:pPr lvl="1">
              <a:defRPr/>
            </a:pPr>
            <a:r>
              <a:rPr lang="en-US" dirty="0"/>
              <a:t>Our basic inventory equation (water, money, …)</a:t>
            </a:r>
          </a:p>
          <a:p>
            <a:pPr lvl="2">
              <a:defRPr/>
            </a:pPr>
            <a:endParaRPr lang="en-US" dirty="0"/>
          </a:p>
          <a:p>
            <a:pPr lvl="2">
              <a:defRPr/>
            </a:pPr>
            <a:endParaRPr lang="en-US" dirty="0"/>
          </a:p>
          <a:p>
            <a:pPr lvl="1">
              <a:defRPr/>
            </a:pPr>
            <a:r>
              <a:rPr lang="en-US" dirty="0"/>
              <a:t>where</a:t>
            </a:r>
          </a:p>
          <a:p>
            <a:pPr lvl="1">
              <a:defRPr/>
            </a:pPr>
            <a:endParaRPr lang="en-US" dirty="0"/>
          </a:p>
          <a:p>
            <a:pPr lvl="1">
              <a:defRPr/>
            </a:pPr>
            <a:endParaRPr lang="en-US" dirty="0"/>
          </a:p>
          <a:p>
            <a:pPr lvl="1">
              <a:defRPr/>
            </a:pPr>
            <a:endParaRPr lang="en-US" dirty="0"/>
          </a:p>
          <a:p>
            <a:pPr marL="457200" lvl="1" indent="0">
              <a:buNone/>
              <a:defRPr/>
            </a:pPr>
            <a:endParaRPr lang="en-US" dirty="0"/>
          </a:p>
          <a:p>
            <a:pPr lvl="1">
              <a:defRPr/>
            </a:pPr>
            <a:r>
              <a:rPr lang="en-US" dirty="0"/>
              <a:t>Using pre- and post-decision states: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89" name="Object 1"/>
              <p:cNvSpPr txBox="1"/>
              <p:nvPr/>
            </p:nvSpPr>
            <p:spPr bwMode="auto">
              <a:xfrm>
                <a:off x="1847279" y="2214944"/>
                <a:ext cx="3556000" cy="649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989" name="Objec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47279" y="2214944"/>
                <a:ext cx="3556000" cy="649287"/>
              </a:xfrm>
              <a:prstGeom prst="rect">
                <a:avLst/>
              </a:prstGeom>
              <a:blipFill>
                <a:blip r:embed="rId3"/>
                <a:stretch>
                  <a:fillRect t="-37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90" name="Object 2"/>
              <p:cNvSpPr txBox="1"/>
              <p:nvPr/>
            </p:nvSpPr>
            <p:spPr bwMode="auto">
              <a:xfrm>
                <a:off x="1808798" y="3367151"/>
                <a:ext cx="4421187" cy="10162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Inventory on hand at time 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  <m:oMath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Amount ordered</m:t>
                      </m:r>
                    </m:oMath>
                    <m:oMath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Demand in next time period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1990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08798" y="3367151"/>
                <a:ext cx="4421187" cy="1016254"/>
              </a:xfrm>
              <a:prstGeom prst="rect">
                <a:avLst/>
              </a:prstGeom>
              <a:blipFill>
                <a:blip r:embed="rId4"/>
                <a:stretch>
                  <a:fillRect b="-65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91" name="Object 3"/>
              <p:cNvSpPr txBox="1"/>
              <p:nvPr/>
            </p:nvSpPr>
            <p:spPr bwMode="auto">
              <a:xfrm>
                <a:off x="1636014" y="5363972"/>
                <a:ext cx="7060311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Pre− to post−</m:t>
                      </m:r>
                    </m:oMath>
                    <m:oMath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m:rPr>
                          <m:aln/>
                        </m:rP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b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Post− to pre−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199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6014" y="5363972"/>
                <a:ext cx="7060311" cy="1143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7049457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FAA20-C1FE-72A1-36FF-67ECD2303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4DDD6-6844-7BC5-BDE9-7593B000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State variables: Pre- and post-decision states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BCD37-F8AC-253E-F36F-CBC4866048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Time-dependent version of Bellman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Pre- to post-decision step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Post- to pre-decision step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1">
                <a:extLst>
                  <a:ext uri="{FF2B5EF4-FFF2-40B4-BE49-F238E27FC236}">
                    <a16:creationId xmlns:a16="http://schemas.microsoft.com/office/drawing/2014/main" id="{F9AF3D4F-5EE7-0B71-71CA-BD5C5204D1F7}"/>
                  </a:ext>
                </a:extLst>
              </p:cNvPr>
              <p:cNvSpPr txBox="1"/>
              <p:nvPr/>
            </p:nvSpPr>
            <p:spPr bwMode="auto">
              <a:xfrm>
                <a:off x="1587501" y="2179034"/>
                <a:ext cx="7261224" cy="6139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)|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Object 11">
                <a:extLst>
                  <a:ext uri="{FF2B5EF4-FFF2-40B4-BE49-F238E27FC236}">
                    <a16:creationId xmlns:a16="http://schemas.microsoft.com/office/drawing/2014/main" id="{F9AF3D4F-5EE7-0B71-71CA-BD5C5204D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7501" y="2179034"/>
                <a:ext cx="7261224" cy="6139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1">
                <a:extLst>
                  <a:ext uri="{FF2B5EF4-FFF2-40B4-BE49-F238E27FC236}">
                    <a16:creationId xmlns:a16="http://schemas.microsoft.com/office/drawing/2014/main" id="{2C0DEA4A-BB33-7529-205D-684B473D62D5}"/>
                  </a:ext>
                </a:extLst>
              </p:cNvPr>
              <p:cNvSpPr txBox="1"/>
              <p:nvPr/>
            </p:nvSpPr>
            <p:spPr bwMode="auto">
              <a:xfrm>
                <a:off x="1739900" y="3623070"/>
                <a:ext cx="10028966" cy="6139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0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000" dirty="0"/>
                  <a:t>            </a:t>
                </a:r>
                <a:r>
                  <a:rPr lang="en-US" sz="2000" dirty="0">
                    <a:latin typeface="Raleway" pitchFamily="2" charset="0"/>
                  </a:rPr>
                  <a:t>Deterministic optimization problem!</a:t>
                </a:r>
              </a:p>
            </p:txBody>
          </p:sp>
        </mc:Choice>
        <mc:Fallback xmlns="">
          <p:sp>
            <p:nvSpPr>
              <p:cNvPr id="6" name="Object 11">
                <a:extLst>
                  <a:ext uri="{FF2B5EF4-FFF2-40B4-BE49-F238E27FC236}">
                    <a16:creationId xmlns:a16="http://schemas.microsoft.com/office/drawing/2014/main" id="{2C0DEA4A-BB33-7529-205D-684B473D6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39900" y="3623070"/>
                <a:ext cx="10028966" cy="613982"/>
              </a:xfrm>
              <a:prstGeom prst="rect">
                <a:avLst/>
              </a:prstGeom>
              <a:blipFill>
                <a:blip r:embed="rId3"/>
                <a:stretch>
                  <a:fillRect t="-49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1">
                <a:extLst>
                  <a:ext uri="{FF2B5EF4-FFF2-40B4-BE49-F238E27FC236}">
                    <a16:creationId xmlns:a16="http://schemas.microsoft.com/office/drawing/2014/main" id="{B1A062FC-7A72-D7C5-1E26-47C3C910040E}"/>
                  </a:ext>
                </a:extLst>
              </p:cNvPr>
              <p:cNvSpPr txBox="1"/>
              <p:nvPr/>
            </p:nvSpPr>
            <p:spPr bwMode="auto">
              <a:xfrm>
                <a:off x="1282700" y="5070870"/>
                <a:ext cx="4632325" cy="6139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b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/>
                          </m:sSub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/>
                          </m:sSub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d>
                    </m:oMath>
                  </m:oMathPara>
                </a14:m>
                <a:endParaRPr lang="en-US" sz="2000" dirty="0"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7" name="Object 11">
                <a:extLst>
                  <a:ext uri="{FF2B5EF4-FFF2-40B4-BE49-F238E27FC236}">
                    <a16:creationId xmlns:a16="http://schemas.microsoft.com/office/drawing/2014/main" id="{B1A062FC-7A72-D7C5-1E26-47C3C9100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82700" y="5070870"/>
                <a:ext cx="4632325" cy="6139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35ACA78-702F-E65A-3374-7B09B4AA304D}"/>
              </a:ext>
            </a:extLst>
          </p:cNvPr>
          <p:cNvSpPr txBox="1"/>
          <p:nvPr/>
        </p:nvSpPr>
        <p:spPr>
          <a:xfrm>
            <a:off x="6479448" y="5136596"/>
            <a:ext cx="5555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Raleway" pitchFamily="2" charset="0"/>
              </a:rPr>
              <a:t>Pure expectation - approximate with  Monte-Carlo simulation</a:t>
            </a:r>
            <a:endParaRPr lang="en-US" sz="20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BE3647A-5862-CBD4-6B5E-01FCB618785F}"/>
              </a:ext>
            </a:extLst>
          </p:cNvPr>
          <p:cNvGrpSpPr/>
          <p:nvPr/>
        </p:nvGrpSpPr>
        <p:grpSpPr>
          <a:xfrm>
            <a:off x="4572000" y="2015641"/>
            <a:ext cx="7081254" cy="808219"/>
            <a:chOff x="4572000" y="2015641"/>
            <a:chExt cx="7081254" cy="808219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D09357B-90E1-19B0-2F6E-F460EF2C9850}"/>
                </a:ext>
              </a:extLst>
            </p:cNvPr>
            <p:cNvSpPr/>
            <p:nvPr/>
          </p:nvSpPr>
          <p:spPr>
            <a:xfrm>
              <a:off x="4572000" y="2015641"/>
              <a:ext cx="322729" cy="773612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4070309-C839-DD70-1907-80A79CCFE33B}"/>
                </a:ext>
              </a:extLst>
            </p:cNvPr>
            <p:cNvSpPr txBox="1"/>
            <p:nvPr/>
          </p:nvSpPr>
          <p:spPr>
            <a:xfrm>
              <a:off x="7436256" y="2115974"/>
              <a:ext cx="421699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rPr>
                <a:t>Expectations are a computational nightmare inside an expectation.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5550662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204D44A-C28C-48FB-F433-2E004065F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BBC205-C23D-A84E-4790-9307921B7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7F44E6F1-1230-0325-3720-4365DEFC9C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CA342B4F-A720-BAD7-3324-10A23BB456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State variables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State variables defined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 network routing problem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Belief state variables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Pre- and post- decision state variables</a:t>
            </a:r>
          </a:p>
          <a:p>
            <a:pPr marL="800100" lvl="1">
              <a:buClr>
                <a:schemeClr val="l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 sample of state variables</a:t>
            </a:r>
          </a:p>
        </p:txBody>
      </p:sp>
    </p:spTree>
    <p:extLst>
      <p:ext uri="{BB962C8B-B14F-4D97-AF65-F5344CB8AC3E}">
        <p14:creationId xmlns:p14="http://schemas.microsoft.com/office/powerpoint/2010/main" val="2531485180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B2238-6E29-26DC-43CF-E44D3B60F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swald" panose="00000500000000000000" pitchFamily="2" charset="0"/>
              </a:rPr>
              <a:t>State variables: 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3BDD2-7465-370E-F04A-4A0DA31CA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092" y="1279489"/>
            <a:ext cx="10165174" cy="4401600"/>
          </a:xfrm>
        </p:spPr>
        <p:txBody>
          <a:bodyPr/>
          <a:lstStyle/>
          <a:p>
            <a:r>
              <a:rPr lang="en-US" sz="2000" dirty="0"/>
              <a:t>Basic inventory, zero lead time (single product)</a:t>
            </a:r>
          </a:p>
          <a:p>
            <a:endParaRPr lang="en-US" sz="2000" dirty="0"/>
          </a:p>
          <a:p>
            <a:pPr marL="86360" indent="0">
              <a:buNone/>
            </a:pPr>
            <a:endParaRPr lang="en-US" sz="2000" dirty="0"/>
          </a:p>
          <a:p>
            <a:r>
              <a:rPr lang="en-US" sz="2000" dirty="0"/>
              <a:t>Inventory with lead times (single product)</a:t>
            </a:r>
          </a:p>
          <a:p>
            <a:endParaRPr lang="en-US" sz="2000" dirty="0"/>
          </a:p>
          <a:p>
            <a:pPr marL="86360" indent="0">
              <a:buNone/>
            </a:pPr>
            <a:endParaRPr lang="en-US" sz="2000" dirty="0"/>
          </a:p>
          <a:p>
            <a:r>
              <a:rPr lang="en-US" sz="2000" dirty="0"/>
              <a:t>Inventory with lead times, dynamic costs and rolling forecasts (single product)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Inventory with lead times, dynamic costs and rolling forecasts (multiple product)</a:t>
            </a:r>
          </a:p>
          <a:p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9A1340E-AD98-F45D-BF2E-47F9DCD6E9D8}"/>
                  </a:ext>
                </a:extLst>
              </p:cNvPr>
              <p:cNvSpPr txBox="1"/>
              <p:nvPr/>
            </p:nvSpPr>
            <p:spPr>
              <a:xfrm>
                <a:off x="1498858" y="1914392"/>
                <a:ext cx="5505254" cy="414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𝑖𝑛𝑣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latin typeface="Raleway" pitchFamily="2" charset="0"/>
                  </a:rPr>
                  <a:t>Inventory on hand at time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000" dirty="0"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9A1340E-AD98-F45D-BF2E-47F9DCD6E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858" y="1914392"/>
                <a:ext cx="5505254" cy="414729"/>
              </a:xfrm>
              <a:prstGeom prst="rect">
                <a:avLst/>
              </a:prstGeom>
              <a:blipFill>
                <a:blip r:embed="rId2"/>
                <a:stretch>
                  <a:fillRect t="-2941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036BCEB-5791-0688-DBDD-E6D9E7DA3795}"/>
                  </a:ext>
                </a:extLst>
              </p:cNvPr>
              <p:cNvSpPr txBox="1"/>
              <p:nvPr/>
            </p:nvSpPr>
            <p:spPr>
              <a:xfrm>
                <a:off x="1434442" y="3029786"/>
                <a:ext cx="8529687" cy="4382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𝑖𝑛𝑣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latin typeface="Raleway" pitchFamily="2" charset="0"/>
                  </a:rPr>
                  <a:t>Inventory that will be available at time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+1, 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036BCEB-5791-0688-DBDD-E6D9E7DA3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442" y="3029786"/>
                <a:ext cx="8529687" cy="438262"/>
              </a:xfrm>
              <a:prstGeom prst="rect">
                <a:avLst/>
              </a:prstGeom>
              <a:blipFill>
                <a:blip r:embed="rId3"/>
                <a:stretch>
                  <a:fillRect t="-2778" b="-19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491484-4995-611D-013C-283A3EE73068}"/>
                  </a:ext>
                </a:extLst>
              </p:cNvPr>
              <p:cNvSpPr txBox="1"/>
              <p:nvPr/>
            </p:nvSpPr>
            <p:spPr>
              <a:xfrm>
                <a:off x="1396734" y="4170541"/>
                <a:ext cx="8529686" cy="472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𝑖𝑛𝑣</m:t>
                            </m:r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,(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2000" dirty="0">
                    <a:latin typeface="Raleway" pitchFamily="2" charset="0"/>
                  </a:rPr>
                  <a:t> for time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+1, 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2000" dirty="0"/>
                  <a:t> </a:t>
                </a:r>
                <a:endParaRPr lang="en-US" sz="2000" dirty="0"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491484-4995-611D-013C-283A3EE73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734" y="4170541"/>
                <a:ext cx="8529686" cy="472565"/>
              </a:xfrm>
              <a:prstGeom prst="rect">
                <a:avLst/>
              </a:prstGeom>
              <a:blipFill>
                <a:blip r:embed="rId4"/>
                <a:stretch>
                  <a:fillRect t="-1282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A1623EB-D886-FA3D-23B1-0BE72FC17C8C}"/>
                  </a:ext>
                </a:extLst>
              </p:cNvPr>
              <p:cNvSpPr txBox="1"/>
              <p:nvPr/>
            </p:nvSpPr>
            <p:spPr>
              <a:xfrm>
                <a:off x="1406259" y="5342116"/>
                <a:ext cx="8529686" cy="484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𝑖𝑛𝑣</m:t>
                            </m:r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,(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2000" dirty="0">
                    <a:latin typeface="Raleway" pitchFamily="2" charset="0"/>
                  </a:rPr>
                  <a:t> for product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𝒦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Raleway" pitchFamily="2" charset="0"/>
                  </a:rPr>
                  <a:t> time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+1, 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2000" dirty="0"/>
                  <a:t> </a:t>
                </a:r>
                <a:endParaRPr lang="en-US" sz="2000" dirty="0"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A1623EB-D886-FA3D-23B1-0BE72FC17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259" y="5342116"/>
                <a:ext cx="8529686" cy="484941"/>
              </a:xfrm>
              <a:prstGeom prst="rect">
                <a:avLst/>
              </a:prstGeom>
              <a:blipFill>
                <a:blip r:embed="rId5"/>
                <a:stretch>
                  <a:fillRect b="-1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6003421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swald" panose="00000500000000000000" pitchFamily="2" charset="0"/>
              </a:rPr>
              <a:t>State variables: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37861" y="1024965"/>
                <a:ext cx="10363200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An energy storage problem: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r>
                  <a:rPr lang="en-US" dirty="0"/>
                  <a:t>As we present the model of the problem, the information needed 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will be highlighted as we proceed.  This information will make up the state variable.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2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7861" y="1024965"/>
                <a:ext cx="10363200" cy="4401600"/>
              </a:xfrm>
              <a:blipFill>
                <a:blip r:embed="rId2"/>
                <a:stretch>
                  <a:fillRect l="-353" r="-824" b="-11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922" y="1681274"/>
            <a:ext cx="6497698" cy="2490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227096" y="2019632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36378" y="3316976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50962" y="2125606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90256" y="1671847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43749" y="4991562"/>
            <a:ext cx="1688126" cy="42937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399497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21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333" y="4890334"/>
            <a:ext cx="3506994" cy="1262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swald" panose="00000500000000000000" pitchFamily="2" charset="0"/>
              </a:rPr>
              <a:t>State variables: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496" y="987258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Decision variables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Constraints;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922" y="1671847"/>
            <a:ext cx="6497698" cy="2490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227096" y="2019632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36378" y="3316976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50962" y="2125606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90256" y="1671847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L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612675"/>
              </p:ext>
            </p:extLst>
          </p:nvPr>
        </p:nvGraphicFramePr>
        <p:xfrm>
          <a:off x="3273128" y="4223361"/>
          <a:ext cx="3382398" cy="543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39880" imgH="279360" progId="Equation.DSMT4">
                  <p:embed/>
                </p:oleObj>
              </mc:Choice>
              <mc:Fallback>
                <p:oleObj name="Equation" r:id="rId4" imgW="1739880" imgH="27936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73128" y="4223361"/>
                        <a:ext cx="3382398" cy="5431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/>
          <p:nvPr/>
        </p:nvSpPr>
        <p:spPr>
          <a:xfrm>
            <a:off x="6173784" y="4947108"/>
            <a:ext cx="564543" cy="1198979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021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swald" panose="00000500000000000000" pitchFamily="2" charset="0"/>
              </a:rPr>
              <a:t>State variables: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007" y="1075008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Transition function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922" y="1671847"/>
            <a:ext cx="6497698" cy="2490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227096" y="2019632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36378" y="3316976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90256" y="1671847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L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2687639" y="4025900"/>
          <a:ext cx="4448175" cy="259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54000" imgH="1079280" progId="Equation.DSMT4">
                  <p:embed/>
                </p:oleObj>
              </mc:Choice>
              <mc:Fallback>
                <p:oleObj name="Equation" r:id="rId3" imgW="1854000" imgH="1079280" progId="Equation.DSMT4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639" y="4025900"/>
                        <a:ext cx="4448175" cy="2592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3"/>
          <p:cNvSpPr/>
          <p:nvPr/>
        </p:nvSpPr>
        <p:spPr>
          <a:xfrm>
            <a:off x="3742415" y="4094922"/>
            <a:ext cx="434675" cy="42937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014088" y="4613068"/>
            <a:ext cx="357809" cy="42937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742413" y="5155067"/>
            <a:ext cx="629483" cy="42937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742414" y="6150273"/>
            <a:ext cx="842839" cy="42937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866175" y="4614399"/>
            <a:ext cx="466500" cy="42937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861382" y="4615730"/>
            <a:ext cx="504963" cy="42937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0AD4F8-94DE-0EC0-A248-D89814264264}"/>
              </a:ext>
            </a:extLst>
          </p:cNvPr>
          <p:cNvSpPr txBox="1"/>
          <p:nvPr/>
        </p:nvSpPr>
        <p:spPr>
          <a:xfrm>
            <a:off x="5950962" y="2125606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760023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swald" panose="00000500000000000000" pitchFamily="2" charset="0"/>
              </a:rPr>
              <a:t>State variables: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1874" y="998248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Objective function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922" y="1671847"/>
            <a:ext cx="6497698" cy="2490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227096" y="2019632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36378" y="3316976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90256" y="1671847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L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3757507" y="4479303"/>
          <a:ext cx="3159661" cy="56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49080" imgH="279360" progId="Equation.DSMT4">
                  <p:embed/>
                </p:oleObj>
              </mc:Choice>
              <mc:Fallback>
                <p:oleObj name="Equation" r:id="rId3" imgW="1549080" imgH="27936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57507" y="4479303"/>
                        <a:ext cx="3159661" cy="569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3562214" y="5367339"/>
          <a:ext cx="419417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57400" imgH="457200" progId="Equation.DSMT4">
                  <p:embed/>
                </p:oleObj>
              </mc:Choice>
              <mc:Fallback>
                <p:oleObj name="Equation" r:id="rId5" imgW="2057400" imgH="457200" progId="Equation.DSMT4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2214" y="5367339"/>
                        <a:ext cx="4194175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0"/>
          <p:cNvSpPr/>
          <p:nvPr/>
        </p:nvSpPr>
        <p:spPr>
          <a:xfrm>
            <a:off x="5094136" y="4574644"/>
            <a:ext cx="431987" cy="42937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F3462C-B4D5-B096-434E-C9D57679733B}"/>
              </a:ext>
            </a:extLst>
          </p:cNvPr>
          <p:cNvSpPr txBox="1"/>
          <p:nvPr/>
        </p:nvSpPr>
        <p:spPr>
          <a:xfrm>
            <a:off x="5950962" y="2125606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4196311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swald" panose="00000500000000000000" pitchFamily="2" charset="0"/>
              </a:rPr>
              <a:t>State variables: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092" y="1100379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State variables</a:t>
            </a:r>
          </a:p>
          <a:p>
            <a:pPr lvl="1"/>
            <a:r>
              <a:rPr lang="en-US" dirty="0"/>
              <a:t>Cost function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Decision function</a:t>
            </a:r>
          </a:p>
          <a:p>
            <a:pPr marL="914400" lvl="2" indent="0">
              <a:buNone/>
            </a:pPr>
            <a:r>
              <a:rPr lang="en-US" sz="2400" dirty="0"/>
              <a:t>Constraints: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Transition function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7173317"/>
              </p:ext>
            </p:extLst>
          </p:nvPr>
        </p:nvGraphicFramePr>
        <p:xfrm>
          <a:off x="3299870" y="2056843"/>
          <a:ext cx="2719876" cy="426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60160" imgH="228600" progId="Equation.DSMT4">
                  <p:embed/>
                </p:oleObj>
              </mc:Choice>
              <mc:Fallback>
                <p:oleObj name="Equation" r:id="rId2" imgW="1460160" imgH="22860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99870" y="2056843"/>
                        <a:ext cx="2719876" cy="4269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9"/>
              <p:cNvSpPr txBox="1"/>
              <p:nvPr/>
            </p:nvSpPr>
            <p:spPr bwMode="auto">
              <a:xfrm>
                <a:off x="3181349" y="4692454"/>
                <a:ext cx="5783541" cy="5228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bSup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Needed 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in the lookahead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 policy</m:t>
                      </m:r>
                    </m:oMath>
                  </m:oMathPara>
                </a14:m>
                <a:endParaRPr lang="en-US" sz="2000" dirty="0"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10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1349" y="4692454"/>
                <a:ext cx="5783541" cy="522874"/>
              </a:xfrm>
              <a:prstGeom prst="rect">
                <a:avLst/>
              </a:prstGeom>
              <a:blipFill>
                <a:blip r:embed="rId4"/>
                <a:stretch>
                  <a:fillRect l="-5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3522665"/>
              </p:ext>
            </p:extLst>
          </p:nvPr>
        </p:nvGraphicFramePr>
        <p:xfrm>
          <a:off x="3100811" y="5789844"/>
          <a:ext cx="4113213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14320" imgH="203040" progId="Equation.DSMT4">
                  <p:embed/>
                </p:oleObj>
              </mc:Choice>
              <mc:Fallback>
                <p:oleObj name="Equation" r:id="rId5" imgW="1714320" imgH="203040" progId="Equation.DSMT4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811" y="5789844"/>
                        <a:ext cx="4113213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5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71"/>
          <a:stretch/>
        </p:blipFill>
        <p:spPr bwMode="auto">
          <a:xfrm>
            <a:off x="3221113" y="3057145"/>
            <a:ext cx="3662067" cy="1376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6445836" y="3144613"/>
            <a:ext cx="564543" cy="1313055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21113" y="2090981"/>
            <a:ext cx="431987" cy="42937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995578" y="5859899"/>
            <a:ext cx="504074" cy="42937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982833" y="5853279"/>
            <a:ext cx="504074" cy="42937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177956" y="5853279"/>
            <a:ext cx="335734" cy="42937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112522" y="4716286"/>
            <a:ext cx="504074" cy="42937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cxnSp>
        <p:nvCxnSpPr>
          <p:cNvPr id="6" name="Straight Arrow Connector 5"/>
          <p:cNvCxnSpPr>
            <a:cxnSpLocks/>
            <a:stCxn id="15" idx="3"/>
          </p:cNvCxnSpPr>
          <p:nvPr/>
        </p:nvCxnSpPr>
        <p:spPr bwMode="auto">
          <a:xfrm flipV="1">
            <a:off x="3653100" y="1533676"/>
            <a:ext cx="4638069" cy="771990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1" name="Straight Arrow Connector 20"/>
          <p:cNvCxnSpPr>
            <a:cxnSpLocks/>
            <a:stCxn id="14" idx="0"/>
          </p:cNvCxnSpPr>
          <p:nvPr/>
        </p:nvCxnSpPr>
        <p:spPr bwMode="auto">
          <a:xfrm flipV="1">
            <a:off x="6728108" y="1557802"/>
            <a:ext cx="760970" cy="1586811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2" name="Straight Arrow Connector 21"/>
          <p:cNvCxnSpPr>
            <a:cxnSpLocks/>
            <a:stCxn id="20" idx="0"/>
          </p:cNvCxnSpPr>
          <p:nvPr/>
        </p:nvCxnSpPr>
        <p:spPr bwMode="auto">
          <a:xfrm flipV="1">
            <a:off x="3364559" y="1557801"/>
            <a:ext cx="6672820" cy="3158485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Straight Arrow Connector 22"/>
          <p:cNvCxnSpPr>
            <a:cxnSpLocks/>
          </p:cNvCxnSpPr>
          <p:nvPr/>
        </p:nvCxnSpPr>
        <p:spPr bwMode="auto">
          <a:xfrm flipV="1">
            <a:off x="4345823" y="1545739"/>
            <a:ext cx="3945346" cy="4314161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5" name="Straight Arrow Connector 24"/>
          <p:cNvCxnSpPr>
            <a:cxnSpLocks/>
            <a:stCxn id="17" idx="0"/>
          </p:cNvCxnSpPr>
          <p:nvPr/>
        </p:nvCxnSpPr>
        <p:spPr bwMode="auto">
          <a:xfrm flipV="1">
            <a:off x="5247615" y="1552359"/>
            <a:ext cx="3497875" cy="4307540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Straight Arrow Connector 26"/>
          <p:cNvCxnSpPr>
            <a:cxnSpLocks/>
            <a:stCxn id="18" idx="0"/>
          </p:cNvCxnSpPr>
          <p:nvPr/>
        </p:nvCxnSpPr>
        <p:spPr bwMode="auto">
          <a:xfrm flipV="1">
            <a:off x="6234870" y="1533676"/>
            <a:ext cx="3018816" cy="4319603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1E7D0BA-C2BA-11E7-66B1-7A704B178C73}"/>
                  </a:ext>
                </a:extLst>
              </p:cNvPr>
              <p:cNvSpPr txBox="1"/>
              <p:nvPr/>
            </p:nvSpPr>
            <p:spPr>
              <a:xfrm>
                <a:off x="6240332" y="1065872"/>
                <a:ext cx="4727768" cy="4919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1E7D0BA-C2BA-11E7-66B1-7A704B178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332" y="1065872"/>
                <a:ext cx="4727768" cy="491930"/>
              </a:xfrm>
              <a:prstGeom prst="rect">
                <a:avLst/>
              </a:prstGeom>
              <a:blipFill>
                <a:blip r:embed="rId9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568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9"/>
              <p:cNvSpPr txBox="1"/>
              <p:nvPr/>
            </p:nvSpPr>
            <p:spPr bwMode="auto">
              <a:xfrm>
                <a:off x="1110366" y="1718089"/>
                <a:ext cx="7892232" cy="12607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</m:oMath>
                  </m:oMathPara>
                </a14:m>
                <a:endParaRPr lang="en-US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2400" dirty="0">
                    <a:solidFill>
                      <a:srgbClr val="000000"/>
                    </a:solidFill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̄"/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p>
                      <m:sSup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̄"/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0366" y="1718089"/>
                <a:ext cx="7892232" cy="12607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/>
          <p:cNvSpPr/>
          <p:nvPr/>
        </p:nvSpPr>
        <p:spPr>
          <a:xfrm>
            <a:off x="6873165" y="4741312"/>
            <a:ext cx="505856" cy="519979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2">
                <a:extLst>
                  <a:ext uri="{FF2B5EF4-FFF2-40B4-BE49-F238E27FC236}">
                    <a16:creationId xmlns:a16="http://schemas.microsoft.com/office/drawing/2014/main" id="{79876473-C594-A17B-A415-A468506C3D4E}"/>
                  </a:ext>
                </a:extLst>
              </p:cNvPr>
              <p:cNvSpPr txBox="1"/>
              <p:nvPr/>
            </p:nvSpPr>
            <p:spPr>
              <a:xfrm>
                <a:off x="1082871" y="3760691"/>
                <a:ext cx="3983038" cy="247042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m:rPr>
                        <m:aln/>
                      </m:rP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̄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̄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  <m:oMath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  <m:oMath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1−(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Object 12">
                <a:extLst>
                  <a:ext uri="{FF2B5EF4-FFF2-40B4-BE49-F238E27FC236}">
                    <a16:creationId xmlns:a16="http://schemas.microsoft.com/office/drawing/2014/main" id="{79876473-C594-A17B-A415-A468506C3D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871" y="3760691"/>
                <a:ext cx="3983038" cy="24704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0"/>
              <p:cNvSpPr txBox="1"/>
              <p:nvPr/>
            </p:nvSpPr>
            <p:spPr>
              <a:xfrm>
                <a:off x="6923732" y="4409467"/>
                <a:ext cx="4868240" cy="114162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̄"/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Raleway" pitchFamily="2" charset="0"/>
                  </a:rPr>
                  <a:t>Price state variable</a:t>
                </a:r>
              </a:p>
            </p:txBody>
          </p:sp>
        </mc:Choice>
        <mc:Fallback xmlns="">
          <p:sp>
            <p:nvSpPr>
              <p:cNvPr id="11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732" y="4409467"/>
                <a:ext cx="4868240" cy="1141620"/>
              </a:xfrm>
              <a:prstGeom prst="rect">
                <a:avLst/>
              </a:prstGeom>
              <a:blipFill>
                <a:blip r:embed="rId4"/>
                <a:stretch>
                  <a:fillRect r="-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swald" panose="00000500000000000000" pitchFamily="2" charset="0"/>
              </a:rPr>
              <a:t>State variables: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982" y="1034391"/>
            <a:ext cx="6329741" cy="2844739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Time series modeling</a:t>
            </a:r>
          </a:p>
          <a:p>
            <a:pPr marL="86360" indent="0">
              <a:buNone/>
            </a:pPr>
            <a:endParaRPr lang="en-US" dirty="0"/>
          </a:p>
          <a:p>
            <a:pPr marL="86360" indent="0">
              <a:buNone/>
            </a:pPr>
            <a:endParaRPr lang="en-US" dirty="0"/>
          </a:p>
          <a:p>
            <a:pPr marL="86360" indent="0">
              <a:buNone/>
            </a:pPr>
            <a:endParaRPr lang="en-US" dirty="0"/>
          </a:p>
          <a:p>
            <a:pPr marL="86360" indent="0">
              <a:buNone/>
            </a:pPr>
            <a:r>
              <a:rPr lang="en-US" dirty="0"/>
              <a:t>Recursive estimation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2112873" y="4363934"/>
            <a:ext cx="466500" cy="42937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611120-87B6-C8DB-BEFF-4006C7984E83}"/>
              </a:ext>
            </a:extLst>
          </p:cNvPr>
          <p:cNvSpPr/>
          <p:nvPr/>
        </p:nvSpPr>
        <p:spPr>
          <a:xfrm>
            <a:off x="3075980" y="4365503"/>
            <a:ext cx="466500" cy="42937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E68197-7802-42AA-B673-845226724DCC}"/>
              </a:ext>
            </a:extLst>
          </p:cNvPr>
          <p:cNvSpPr txBox="1"/>
          <p:nvPr/>
        </p:nvSpPr>
        <p:spPr>
          <a:xfrm>
            <a:off x="6801386" y="3117467"/>
            <a:ext cx="3405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Raleway" pitchFamily="2" charset="0"/>
              </a:rPr>
              <a:t>Price state variable: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E048639-D5E5-2E92-00A0-3D02E3362158}"/>
              </a:ext>
            </a:extLst>
          </p:cNvPr>
          <p:cNvGrpSpPr/>
          <p:nvPr/>
        </p:nvGrpSpPr>
        <p:grpSpPr>
          <a:xfrm>
            <a:off x="6785620" y="1083722"/>
            <a:ext cx="3815468" cy="1293647"/>
            <a:chOff x="7321645" y="1083722"/>
            <a:chExt cx="3815468" cy="12936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CC586B4-6F0F-C0A6-6CA2-077147B19807}"/>
                    </a:ext>
                  </a:extLst>
                </p:cNvPr>
                <p:cNvSpPr txBox="1"/>
                <p:nvPr/>
              </p:nvSpPr>
              <p:spPr>
                <a:xfrm>
                  <a:off x="7845924" y="1910318"/>
                  <a:ext cx="2599366" cy="46705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=(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̄"/>
                                <m:ctrlP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̄"/>
                                    <m:ctrlP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CC586B4-6F0F-C0A6-6CA2-077147B198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5924" y="1910318"/>
                  <a:ext cx="2599366" cy="467051"/>
                </a:xfrm>
                <a:prstGeom prst="rect">
                  <a:avLst/>
                </a:prstGeom>
                <a:blipFill>
                  <a:blip r:embed="rId5"/>
                  <a:stretch>
                    <a:fillRect b="-194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76A79C0-ACFD-7AA9-E584-46A9BD2E4E9E}"/>
                </a:ext>
              </a:extLst>
            </p:cNvPr>
            <p:cNvSpPr txBox="1"/>
            <p:nvPr/>
          </p:nvSpPr>
          <p:spPr>
            <a:xfrm>
              <a:off x="7321645" y="1083722"/>
              <a:ext cx="3815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  <a:latin typeface="Raleway" pitchFamily="2" charset="0"/>
                </a:rPr>
                <a:t>System state variable:</a:t>
              </a:r>
            </a:p>
          </p:txBody>
        </p:sp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C37F4D2-AB4D-CEAA-6BF1-2C4A7C31B84A}"/>
              </a:ext>
            </a:extLst>
          </p:cNvPr>
          <p:cNvCxnSpPr>
            <a:cxnSpLocks/>
          </p:cNvCxnSpPr>
          <p:nvPr/>
        </p:nvCxnSpPr>
        <p:spPr>
          <a:xfrm flipV="1">
            <a:off x="7126093" y="2387193"/>
            <a:ext cx="1187590" cy="2354119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DA7F858-2DEE-898C-9B16-1EC97FA127ED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2346123" y="2387193"/>
            <a:ext cx="6535118" cy="1976741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2766799-E82A-4E60-C783-E31B655E94B3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3309230" y="2387193"/>
            <a:ext cx="6013446" cy="1978310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343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8" grpId="0" animBg="1"/>
      <p:bldP spid="16" grpId="0" animBg="1"/>
    </p:bld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93077-CAB3-ACA9-974A-D51BA10DB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EEAEE8E-E02A-2B40-7388-CBD2DAE6E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11" y="0"/>
            <a:ext cx="1225149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FAAE6F-701C-727E-DE0E-83FBE46EE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270" y="353850"/>
            <a:ext cx="4838905" cy="550500"/>
          </a:xfrm>
        </p:spPr>
        <p:txBody>
          <a:bodyPr/>
          <a:lstStyle/>
          <a:p>
            <a:r>
              <a:rPr lang="en-US" i="1" dirty="0">
                <a:solidFill>
                  <a:schemeClr val="tx1"/>
                </a:solidFill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907302-A4C4-97A5-A5B0-5C6793DBB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137" y="797340"/>
            <a:ext cx="2316681" cy="2591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138412-8B3C-91E5-E9FE-B795FD715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757" y="770669"/>
            <a:ext cx="2286198" cy="264436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8DF0C-3AA5-DD20-8ECC-45A1ADE20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5426" y="807631"/>
            <a:ext cx="5352185" cy="4401600"/>
          </a:xfrm>
        </p:spPr>
        <p:txBody>
          <a:bodyPr/>
          <a:lstStyle/>
          <a:p>
            <a:pPr marL="0" lvl="2" indent="0" algn="ctr"/>
            <a:endParaRPr lang="en-US" dirty="0">
              <a:solidFill>
                <a:schemeClr val="tx1"/>
              </a:solidFill>
            </a:endParaRPr>
          </a:p>
          <a:p>
            <a:pPr marL="0" lvl="1" indent="0" algn="ctr">
              <a:buNone/>
            </a:pPr>
            <a:r>
              <a:rPr lang="en-US" dirty="0">
                <a:solidFill>
                  <a:schemeClr val="tx1"/>
                </a:solidFill>
              </a:rPr>
              <a:t>For more information see the </a:t>
            </a:r>
            <a:r>
              <a:rPr lang="en-US" i="1" dirty="0">
                <a:solidFill>
                  <a:schemeClr val="tx1"/>
                </a:solidFill>
              </a:rPr>
              <a:t>Sequential Decision Analytics </a:t>
            </a:r>
            <a:r>
              <a:rPr lang="en-US" dirty="0">
                <a:solidFill>
                  <a:schemeClr val="tx1"/>
                </a:solidFill>
              </a:rPr>
              <a:t>website at</a:t>
            </a:r>
          </a:p>
          <a:p>
            <a:pPr marL="0" lvl="2" indent="0" algn="ctr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 algn="ctr">
              <a:buNone/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warrenpowell.org</a:t>
            </a:r>
          </a:p>
          <a:p>
            <a:pPr marL="0" lvl="2" indent="0" algn="ctr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lvl="1" indent="0" algn="ctr"/>
            <a:endParaRPr lang="en-US" sz="1400" dirty="0">
              <a:solidFill>
                <a:schemeClr val="tx1"/>
              </a:solidFill>
            </a:endParaRPr>
          </a:p>
          <a:p>
            <a:pPr marL="0" lvl="1" indent="0"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D80DF93-D0A5-48E8-2301-79E3FA1590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00" y="629100"/>
            <a:ext cx="2270957" cy="56164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7B856C3-D6B5-9A11-85DE-3617D5B583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4573" y="5523402"/>
            <a:ext cx="7552074" cy="5639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B554A1-2EFF-F99F-2383-25EF884A7523}"/>
              </a:ext>
            </a:extLst>
          </p:cNvPr>
          <p:cNvSpPr txBox="1"/>
          <p:nvPr/>
        </p:nvSpPr>
        <p:spPr>
          <a:xfrm>
            <a:off x="3854573" y="3563240"/>
            <a:ext cx="80631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For more on state variables go to: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r>
              <a:rPr lang="en-US" sz="1800" dirty="0">
                <a:solidFill>
                  <a:schemeClr val="tx1"/>
                </a:solidFill>
              </a:rPr>
              <a:t>warrenpowell.org → Modeling → State variables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57379413"/>
      </p:ext>
    </p:extLst>
  </p:cSld>
  <p:clrMapOvr>
    <a:masterClrMapping/>
  </p:clrMapOvr>
</p:sld>
</file>

<file path=ppt/theme/theme1.xml><?xml version="1.0" encoding="utf-8"?>
<a:theme xmlns:a="http://schemas.openxmlformats.org/drawingml/2006/main" name="CIV 411 11 Intro and overview">
  <a:themeElements>
    <a:clrScheme name="CIV 411 11 Intro and overview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A48227E3DE37419A418C60F2D64C15" ma:contentTypeVersion="4" ma:contentTypeDescription="Create a new document." ma:contentTypeScope="" ma:versionID="5a821b418db10c4a560eab9e32ac3723">
  <xsd:schema xmlns:xsd="http://www.w3.org/2001/XMLSchema" xmlns:xs="http://www.w3.org/2001/XMLSchema" xmlns:p="http://schemas.microsoft.com/office/2006/metadata/properties" xmlns:ns3="b9a67f89-7d7d-48be-9399-9713d9f7587c" targetNamespace="http://schemas.microsoft.com/office/2006/metadata/properties" ma:root="true" ma:fieldsID="42462b3b3e84324c9aaf61227d41f6c0" ns3:_="">
    <xsd:import namespace="b9a67f89-7d7d-48be-9399-9713d9f758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a67f89-7d7d-48be-9399-9713d9f758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0C8D23-C824-4069-9D96-A056B9C750B2}">
  <ds:schemaRefs>
    <ds:schemaRef ds:uri="http://purl.org/dc/elements/1.1/"/>
    <ds:schemaRef ds:uri="http://purl.org/dc/terms/"/>
    <ds:schemaRef ds:uri="b9a67f89-7d7d-48be-9399-9713d9f7587c"/>
    <ds:schemaRef ds:uri="http://www.w3.org/XML/1998/namespace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9AAD22F-0715-4457-A130-80773E09E4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a67f89-7d7d-48be-9399-9713d9f758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99611F8-1974-4A8A-AF09-CB23287D66B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463730</TotalTime>
  <Words>19706</Words>
  <Application>Microsoft Office PowerPoint</Application>
  <PresentationFormat>Widescreen</PresentationFormat>
  <Paragraphs>4554</Paragraphs>
  <Slides>325</Slides>
  <Notes>107</Notes>
  <HiddenSlides>0</HiddenSlides>
  <MMClips>3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325</vt:i4>
      </vt:variant>
    </vt:vector>
  </HeadingPairs>
  <TitlesOfParts>
    <vt:vector size="338" baseType="lpstr">
      <vt:lpstr>Oswald Regular</vt:lpstr>
      <vt:lpstr>Wingdings</vt:lpstr>
      <vt:lpstr>Cambria Math</vt:lpstr>
      <vt:lpstr>Oswald</vt:lpstr>
      <vt:lpstr>Courier New</vt:lpstr>
      <vt:lpstr>Raleway</vt:lpstr>
      <vt:lpstr>Symbol</vt:lpstr>
      <vt:lpstr>Raleway Thin</vt:lpstr>
      <vt:lpstr>Playfair Display</vt:lpstr>
      <vt:lpstr>Times New Roman</vt:lpstr>
      <vt:lpstr>Arial</vt:lpstr>
      <vt:lpstr>CIV 411 11 Intro and overview</vt:lpstr>
      <vt:lpstr>Equation</vt:lpstr>
      <vt:lpstr>PowerPoint Presentation</vt:lpstr>
      <vt:lpstr>PowerPoint Presentation</vt:lpstr>
      <vt:lpstr>CASTLE Laboratory</vt:lpstr>
      <vt:lpstr>PowerPoint Presentation</vt:lpstr>
      <vt:lpstr>CASTLE Lab March, 2019</vt:lpstr>
      <vt:lpstr>Human processes</vt:lpstr>
      <vt:lpstr>Performance metrics</vt:lpstr>
      <vt:lpstr>Framing the problem</vt:lpstr>
      <vt:lpstr>Framing the problem</vt:lpstr>
      <vt:lpstr>Application domains</vt:lpstr>
      <vt:lpstr>PowerPoint Presentation</vt:lpstr>
      <vt:lpstr>PowerPoint Presentation</vt:lpstr>
      <vt:lpstr>Relevant courses I taught at Princeton</vt:lpstr>
      <vt:lpstr>Teaching materials</vt:lpstr>
      <vt:lpstr>Teaching materials</vt:lpstr>
      <vt:lpstr>Teaching materials</vt:lpstr>
      <vt:lpstr>Teaching materials</vt:lpstr>
      <vt:lpstr>Teaching materials</vt:lpstr>
      <vt:lpstr>Thank you!</vt:lpstr>
      <vt:lpstr>PowerPoint Presentation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PowerPoint Presentation</vt:lpstr>
      <vt:lpstr>PowerPoint Presentation</vt:lpstr>
      <vt:lpstr>Brief history of sequential decision problems</vt:lpstr>
      <vt:lpstr>PowerPoint Presentation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PowerPoint Presentation</vt:lpstr>
      <vt:lpstr>Decisions</vt:lpstr>
      <vt:lpstr>Brief history of seq. decision problems</vt:lpstr>
      <vt:lpstr>PowerPoint Presentation</vt:lpstr>
      <vt:lpstr>Thank you!</vt:lpstr>
      <vt:lpstr>PowerPoint Presentation</vt:lpstr>
      <vt:lpstr>PowerPoint Presentation</vt:lpstr>
      <vt:lpstr>Decisions</vt:lpstr>
      <vt:lpstr>Information</vt:lpstr>
      <vt:lpstr>Sequential decision problems</vt:lpstr>
      <vt:lpstr>Sequential decision problems</vt:lpstr>
      <vt:lpstr>Sequential decision problems</vt:lpstr>
      <vt:lpstr>Sequential decision problems</vt:lpstr>
      <vt:lpstr>Sequential decision problems</vt:lpstr>
      <vt:lpstr>PowerPoint Presentation</vt:lpstr>
      <vt:lpstr>Sequential decision problems</vt:lpstr>
      <vt:lpstr>Sequential decision problems</vt:lpstr>
      <vt:lpstr>Sequential decision problems</vt:lpstr>
      <vt:lpstr>Sequential decision problems</vt:lpstr>
      <vt:lpstr>Sequential decision problems</vt:lpstr>
      <vt:lpstr>Teaching materials</vt:lpstr>
      <vt:lpstr>PowerPoint Presentation</vt:lpstr>
      <vt:lpstr>PowerPoint Presentation</vt:lpstr>
      <vt:lpstr>Sequential decision problems</vt:lpstr>
      <vt:lpstr>Sequential decision problems</vt:lpstr>
      <vt:lpstr>Thank you!</vt:lpstr>
      <vt:lpstr>PowerPoint Presentation</vt:lpstr>
      <vt:lpstr>OUTLINE</vt:lpstr>
      <vt:lpstr>OUTLINE</vt:lpstr>
      <vt:lpstr>Framing the problem</vt:lpstr>
      <vt:lpstr>Framing the problem</vt:lpstr>
      <vt:lpstr>PowerPoint Presentation</vt:lpstr>
      <vt:lpstr>Framing the problem</vt:lpstr>
      <vt:lpstr>Framing the problem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Framing: Metrics</vt:lpstr>
      <vt:lpstr>Framing: Metrics</vt:lpstr>
      <vt:lpstr>OUTLINE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OUTLINE</vt:lpstr>
      <vt:lpstr>Framing: Uncertainties</vt:lpstr>
      <vt:lpstr>Framing: Uncertainties</vt:lpstr>
      <vt:lpstr>Framing: Uncertainties</vt:lpstr>
      <vt:lpstr>Framing: Uncertainties</vt:lpstr>
      <vt:lpstr>Framing: Uncertainties</vt:lpstr>
      <vt:lpstr>Framing: Uncertainties</vt:lpstr>
      <vt:lpstr>Framing: Uncertainties</vt:lpstr>
      <vt:lpstr>Framing: Uncertainties</vt:lpstr>
      <vt:lpstr>OUTLINE</vt:lpstr>
      <vt:lpstr>PowerPoint Presentation</vt:lpstr>
      <vt:lpstr>PowerPoint Presentation</vt:lpstr>
      <vt:lpstr>PowerPoint Presentation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Thank you!</vt:lpstr>
      <vt:lpstr>PowerPoint Presentation</vt:lpstr>
      <vt:lpstr>The universal modeling framework</vt:lpstr>
      <vt:lpstr>The universal modeling framework</vt:lpstr>
      <vt:lpstr>The universal modeling framework</vt:lpstr>
      <vt:lpstr>The universal modeling framework</vt:lpstr>
      <vt:lpstr>The Universal Modeling Framework</vt:lpstr>
      <vt:lpstr>Teaching materials</vt:lpstr>
      <vt:lpstr>The universal modeling framework</vt:lpstr>
      <vt:lpstr>The universal modeling framework</vt:lpstr>
      <vt:lpstr>The universal modeling framework</vt:lpstr>
      <vt:lpstr>The universal modeling framework</vt:lpstr>
      <vt:lpstr>Thank you!</vt:lpstr>
      <vt:lpstr>PowerPoint Presentation</vt:lpstr>
      <vt:lpstr>OUTLINE</vt:lpstr>
      <vt:lpstr>OUTLINE</vt:lpstr>
      <vt:lpstr>Estimation: Learning problems</vt:lpstr>
      <vt:lpstr>OUTLINE</vt:lpstr>
      <vt:lpstr>Estimation: Approximation strategies</vt:lpstr>
      <vt:lpstr>Estimation: Approximation strategies</vt:lpstr>
      <vt:lpstr>Estimation: Approximation strategies</vt:lpstr>
      <vt:lpstr>Estimation: Approximation strategies</vt:lpstr>
      <vt:lpstr>Estimation: Neural networks</vt:lpstr>
      <vt:lpstr>Estimation: Neural networks</vt:lpstr>
      <vt:lpstr>Estimation: Neural networks</vt:lpstr>
      <vt:lpstr>OUTLINE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PowerPoint Presentation</vt:lpstr>
      <vt:lpstr>PowerPoint Presentation</vt:lpstr>
      <vt:lpstr>OUTLINE</vt:lpstr>
      <vt:lpstr>Estimation: Batch vs. recursive learning</vt:lpstr>
      <vt:lpstr>Estimation: Batch vs. recursive learning</vt:lpstr>
      <vt:lpstr>Estimation: Batch vs. recursive learning</vt:lpstr>
      <vt:lpstr>Thank you!</vt:lpstr>
      <vt:lpstr>PowerPoint Presentation</vt:lpstr>
      <vt:lpstr>OUTLINE</vt:lpstr>
      <vt:lpstr>OUTLINE</vt:lpstr>
      <vt:lpstr>Modeling – Textbook modeling styles</vt:lpstr>
      <vt:lpstr>Modeling – Textbook modeling styles</vt:lpstr>
      <vt:lpstr>Modeling – Textbook modeling styles</vt:lpstr>
      <vt:lpstr>Modeling – Textbook modeling styles</vt:lpstr>
      <vt:lpstr>Modeling – Textbook modeling styles</vt:lpstr>
      <vt:lpstr>OUTLINE</vt:lpstr>
      <vt:lpstr>Time scales in energy</vt:lpstr>
      <vt:lpstr>Modeling: Time</vt:lpstr>
      <vt:lpstr>Modeling: Time</vt:lpstr>
      <vt:lpstr>OUTLINE</vt:lpstr>
      <vt:lpstr>Modeling: State variables</vt:lpstr>
      <vt:lpstr>Modeling: State variables</vt:lpstr>
      <vt:lpstr>OUTLINE</vt:lpstr>
      <vt:lpstr>Modeling: Decisions</vt:lpstr>
      <vt:lpstr>Modeling: Decisions</vt:lpstr>
      <vt:lpstr>OUTLINE</vt:lpstr>
      <vt:lpstr>Modeling: Exogenous information</vt:lpstr>
      <vt:lpstr>Modeling: Exogenous information</vt:lpstr>
      <vt:lpstr>Modeling: Exogenous information</vt:lpstr>
      <vt:lpstr>Modeling: Exogenous information</vt:lpstr>
      <vt:lpstr>OUTLINE</vt:lpstr>
      <vt:lpstr>Modeling: Transition function</vt:lpstr>
      <vt:lpstr>Modeling: Transition function</vt:lpstr>
      <vt:lpstr>OUTLINE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Thank you!</vt:lpstr>
      <vt:lpstr>PowerPoint Presentation</vt:lpstr>
      <vt:lpstr>OUTLINE</vt:lpstr>
      <vt:lpstr>OUTLINE</vt:lpstr>
      <vt:lpstr>State variables</vt:lpstr>
      <vt:lpstr>PowerPoint Presentation</vt:lpstr>
      <vt:lpstr>State variables: Definition</vt:lpstr>
      <vt:lpstr>State variables: Definition</vt:lpstr>
      <vt:lpstr>State variables: Definition</vt:lpstr>
      <vt:lpstr>State variables: Definition</vt:lpstr>
      <vt:lpstr>State variables: Definition</vt:lpstr>
      <vt:lpstr>State variables: Definition</vt:lpstr>
      <vt:lpstr>OUTLINE</vt:lpstr>
      <vt:lpstr>State variables: Network problem</vt:lpstr>
      <vt:lpstr>State variables: Network problem</vt:lpstr>
      <vt:lpstr>State variables: Network problem</vt:lpstr>
      <vt:lpstr>State variables: Network problem</vt:lpstr>
      <vt:lpstr>State variables: Network problem</vt:lpstr>
      <vt:lpstr>State variables: Network problem</vt:lpstr>
      <vt:lpstr>State variables: Network problem</vt:lpstr>
      <vt:lpstr>State variables: Network problem</vt:lpstr>
      <vt:lpstr>OUTLINE</vt:lpstr>
      <vt:lpstr>State variables: Belief states</vt:lpstr>
      <vt:lpstr>State variables: Belief states</vt:lpstr>
      <vt:lpstr>OUTLINE</vt:lpstr>
      <vt:lpstr>State variables: Pre- and post-decision states</vt:lpstr>
      <vt:lpstr>State variables: Pre- and post-decision states</vt:lpstr>
      <vt:lpstr>State variables: Pre- and post-decision states</vt:lpstr>
      <vt:lpstr>State variables: Pre- and post-decision states</vt:lpstr>
      <vt:lpstr>OUTLINE</vt:lpstr>
      <vt:lpstr>State variables: Examples</vt:lpstr>
      <vt:lpstr>State variables: Examples</vt:lpstr>
      <vt:lpstr>State variables: Examples</vt:lpstr>
      <vt:lpstr>State variables: Examples</vt:lpstr>
      <vt:lpstr>State variables: Examples</vt:lpstr>
      <vt:lpstr>State variables: Examples</vt:lpstr>
      <vt:lpstr>State variables: Examples</vt:lpstr>
      <vt:lpstr>Thank you!</vt:lpstr>
      <vt:lpstr>PowerPoint Presentation</vt:lpstr>
      <vt:lpstr>OUTLINE</vt:lpstr>
      <vt:lpstr>OUTLINE</vt:lpstr>
      <vt:lpstr>Modeling exogenous information</vt:lpstr>
      <vt:lpstr>Modeling exogenous information</vt:lpstr>
      <vt:lpstr>Modeling exogenous information</vt:lpstr>
      <vt:lpstr>Modeling exogenous information</vt:lpstr>
      <vt:lpstr>Modeling exogenous information</vt:lpstr>
      <vt:lpstr>Modeling exogenous information</vt:lpstr>
      <vt:lpstr>OUTLINE</vt:lpstr>
      <vt:lpstr>The 12 categories of uncertainty</vt:lpstr>
      <vt:lpstr>The 12 categories of uncertainty</vt:lpstr>
      <vt:lpstr>The 12 categories of uncertainty</vt:lpstr>
      <vt:lpstr>The 12 categories of uncertainty</vt:lpstr>
      <vt:lpstr>The 12 categories of uncertainty</vt:lpstr>
      <vt:lpstr>The 12 categories of uncertainty</vt:lpstr>
      <vt:lpstr>OUTLINE</vt:lpstr>
      <vt:lpstr>Different flavors of uncertainty</vt:lpstr>
      <vt:lpstr>Different flavors of uncertainty</vt:lpstr>
      <vt:lpstr>Different flavors of uncertainty</vt:lpstr>
      <vt:lpstr>Different flavors of uncertainty</vt:lpstr>
      <vt:lpstr>OUTLINE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Thank you!</vt:lpstr>
      <vt:lpstr>PowerPoint Presentation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VFA policies</vt:lpstr>
      <vt:lpstr>PowerPoint Presentation</vt:lpstr>
      <vt:lpstr>PowerPoint Presentation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PowerPoint Presentation</vt:lpstr>
      <vt:lpstr>Designing policies I - Overview</vt:lpstr>
      <vt:lpstr>Modeling: Objective function</vt:lpstr>
      <vt:lpstr>Modeling: Objective function</vt:lpstr>
      <vt:lpstr>Modeling: Objective function</vt:lpstr>
      <vt:lpstr>Designing policies I - Overview</vt:lpstr>
      <vt:lpstr>Designing policies I - Overview</vt:lpstr>
      <vt:lpstr>Designing policies I - Overview</vt:lpstr>
      <vt:lpstr>Thank you!</vt:lpstr>
      <vt:lpstr>PowerPoint Presentation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Warren B. Powell</dc:creator>
  <cp:lastModifiedBy>Warren Powell</cp:lastModifiedBy>
  <cp:revision>795</cp:revision>
  <cp:lastPrinted>2025-05-20T14:08:40Z</cp:lastPrinted>
  <dcterms:modified xsi:type="dcterms:W3CDTF">2026-09-07T19:33:09Z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0x0101000CA48227E3DE37419A418C60F2D64C15</vt:lpwstr>
  </property>
</Properties>
</file>