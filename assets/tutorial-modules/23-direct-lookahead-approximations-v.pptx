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4"/>
  </p:sldMasterIdLst>
  <p:notesMasterIdLst>
    <p:notesMasterId r:id="rId391"/>
  </p:notesMasterIdLst>
  <p:sldIdLst>
    <p:sldId id="10778" r:id="rId338"/>
    <p:sldId id="11021" r:id="rId339"/>
    <p:sldId id="10898" r:id="rId340"/>
    <p:sldId id="3357" r:id="rId341"/>
    <p:sldId id="8232" r:id="rId342"/>
    <p:sldId id="8233" r:id="rId343"/>
    <p:sldId id="8234" r:id="rId344"/>
    <p:sldId id="3361" r:id="rId345"/>
    <p:sldId id="3972" r:id="rId346"/>
    <p:sldId id="6467" r:id="rId347"/>
    <p:sldId id="6468" r:id="rId348"/>
    <p:sldId id="6472" r:id="rId349"/>
    <p:sldId id="6469" r:id="rId350"/>
    <p:sldId id="6470" r:id="rId351"/>
    <p:sldId id="6471" r:id="rId352"/>
    <p:sldId id="6473" r:id="rId353"/>
    <p:sldId id="6661" r:id="rId354"/>
    <p:sldId id="6474" r:id="rId355"/>
    <p:sldId id="6475" r:id="rId356"/>
    <p:sldId id="6476" r:id="rId357"/>
    <p:sldId id="6479" r:id="rId358"/>
    <p:sldId id="10899" r:id="rId359"/>
    <p:sldId id="11061" r:id="rId360"/>
    <p:sldId id="10931" r:id="rId361"/>
    <p:sldId id="11027" r:id="rId362"/>
  </p:sldIdLst>
  <p:sldSz cx="12192000" cy="6858000"/>
  <p:notesSz cx="7102475" cy="9388475"/>
  <p:embeddedFontLst>
    <p:embeddedFont>
      <p:font typeface="Cambria Math" panose="02040503050406030204" pitchFamily="18" charset="0"/>
      <p:regular r:id="rId392"/>
    </p:embeddedFont>
    <p:embeddedFont>
      <p:font typeface="Oswald" panose="00000500000000000000" pitchFamily="2" charset="0"/>
      <p:regular r:id="rId393"/>
      <p:bold r:id="rId394"/>
    </p:embeddedFont>
    <p:embeddedFont>
      <p:font typeface="Oswald Regular" panose="00000500000000000000" charset="0"/>
      <p:regular r:id="rId395"/>
      <p:bold r:id="rId396"/>
    </p:embeddedFont>
    <p:embeddedFont>
      <p:font typeface="Playfair Display" panose="00000500000000000000" pitchFamily="2" charset="0"/>
      <p:regular r:id="rId397"/>
      <p:bold r:id="rId398"/>
      <p:italic r:id="rId399"/>
      <p:boldItalic r:id="rId400"/>
    </p:embeddedFont>
    <p:embeddedFont>
      <p:font typeface="Raleway" pitchFamily="2" charset="0"/>
      <p:regular r:id="rId401"/>
      <p:bold r:id="rId402"/>
      <p:italic r:id="rId403"/>
      <p:boldItalic r:id="rId404"/>
    </p:embeddedFont>
    <p:embeddedFont>
      <p:font typeface="Raleway Thin" pitchFamily="2" charset="0"/>
      <p:regular r:id="rId405"/>
      <p:bold r:id="rId406"/>
      <p:italic r:id="rId407"/>
      <p:boldItalic r:id="rId40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594221A-EA1A-49CA-A6F5-055A24DBA16E}">
          <p14:sldIdLst/>
        </p14:section>
        <p14:section name="Policy function approximations" id="{2968945F-A103-4460-96A7-EAC23413810B}">
          <p14:sldIdLst>
            <p14:sldId id="10760"/>
            <p14:sldId id="10588"/>
            <p14:sldId id="10374"/>
            <p14:sldId id="10378"/>
            <p14:sldId id="10535"/>
            <p14:sldId id="11054"/>
            <p14:sldId id="4656"/>
            <p14:sldId id="4658"/>
            <p14:sldId id="10375"/>
            <p14:sldId id="10376"/>
            <p14:sldId id="10377"/>
            <p14:sldId id="11051"/>
            <p14:sldId id="11050"/>
            <p14:sldId id="11052"/>
            <p14:sldId id="10543"/>
            <p14:sldId id="10664"/>
            <p14:sldId id="11041"/>
          </p14:sldIdLst>
        </p14:section>
        <p14:section name="Cost function approximations" id="{646EA107-656E-4B76-B592-826797412CA6}">
          <p14:sldIdLst>
            <p14:sldId id="10765"/>
            <p14:sldId id="9933"/>
            <p14:sldId id="10270"/>
            <p14:sldId id="10214"/>
            <p14:sldId id="9796"/>
            <p14:sldId id="10207"/>
            <p14:sldId id="10208"/>
            <p14:sldId id="10209"/>
            <p14:sldId id="10210"/>
            <p14:sldId id="10211"/>
            <p14:sldId id="10272"/>
            <p14:sldId id="10891"/>
            <p14:sldId id="10643"/>
            <p14:sldId id="10215"/>
            <p14:sldId id="10589"/>
            <p14:sldId id="9061"/>
            <p14:sldId id="9108"/>
            <p14:sldId id="8939"/>
            <p14:sldId id="9082"/>
            <p14:sldId id="10974"/>
          </p14:sldIdLst>
        </p14:section>
        <p14:section name="Value function approximations (5 parts)" id="{CF00BF4F-5584-4580-9D7B-9D8880ECA957}">
          <p14:sldIdLst>
            <p14:sldId id="10737"/>
            <p14:sldId id="10761"/>
            <p14:sldId id="10975"/>
            <p14:sldId id="11006"/>
            <p14:sldId id="10783"/>
            <p14:sldId id="10699"/>
            <p14:sldId id="10592"/>
            <p14:sldId id="5586"/>
            <p14:sldId id="5576"/>
            <p14:sldId id="10384"/>
            <p14:sldId id="11031"/>
            <p14:sldId id="10985"/>
            <p14:sldId id="6555"/>
            <p14:sldId id="6556"/>
            <p14:sldId id="6557"/>
            <p14:sldId id="6558"/>
            <p14:sldId id="11034"/>
            <p14:sldId id="10423"/>
            <p14:sldId id="11035"/>
            <p14:sldId id="5599"/>
            <p14:sldId id="11056"/>
            <p14:sldId id="10991"/>
            <p14:sldId id="10769"/>
            <p14:sldId id="11007"/>
            <p14:sldId id="10986"/>
            <p14:sldId id="10264"/>
            <p14:sldId id="10265"/>
            <p14:sldId id="10266"/>
            <p14:sldId id="9555"/>
            <p14:sldId id="10688"/>
            <p14:sldId id="10988"/>
            <p14:sldId id="10316"/>
            <p14:sldId id="3309"/>
            <p14:sldId id="10318"/>
            <p14:sldId id="10319"/>
            <p14:sldId id="3311"/>
            <p14:sldId id="3312"/>
            <p14:sldId id="3313"/>
            <p14:sldId id="3314"/>
            <p14:sldId id="10321"/>
            <p14:sldId id="3315"/>
            <p14:sldId id="10322"/>
            <p14:sldId id="3316"/>
            <p14:sldId id="10323"/>
            <p14:sldId id="10595"/>
            <p14:sldId id="11036"/>
            <p14:sldId id="10989"/>
            <p14:sldId id="10717"/>
            <p14:sldId id="6103"/>
            <p14:sldId id="6104"/>
            <p14:sldId id="10528"/>
            <p14:sldId id="6105"/>
            <p14:sldId id="10733"/>
            <p14:sldId id="10326"/>
            <p14:sldId id="10990"/>
            <p14:sldId id="6255"/>
            <p14:sldId id="6256"/>
            <p14:sldId id="6257"/>
            <p14:sldId id="6258"/>
            <p14:sldId id="10992"/>
            <p14:sldId id="10770"/>
            <p14:sldId id="11008"/>
            <p14:sldId id="10996"/>
            <p14:sldId id="6387"/>
            <p14:sldId id="6388"/>
            <p14:sldId id="6389"/>
            <p14:sldId id="10997"/>
            <p14:sldId id="5774"/>
            <p14:sldId id="5777"/>
            <p14:sldId id="5782"/>
            <p14:sldId id="5783"/>
            <p14:sldId id="10593"/>
            <p14:sldId id="5780"/>
            <p14:sldId id="10998"/>
            <p14:sldId id="10641"/>
            <p14:sldId id="9560"/>
            <p14:sldId id="10993"/>
            <p14:sldId id="10772"/>
            <p14:sldId id="11009"/>
            <p14:sldId id="10999"/>
            <p14:sldId id="11101"/>
            <p14:sldId id="10667"/>
            <p14:sldId id="11088"/>
            <p14:sldId id="10958"/>
            <p14:sldId id="11089"/>
            <p14:sldId id="11090"/>
            <p14:sldId id="10956"/>
            <p14:sldId id="5810"/>
            <p14:sldId id="5813"/>
            <p14:sldId id="11091"/>
            <p14:sldId id="11000"/>
            <p14:sldId id="6414"/>
            <p14:sldId id="10959"/>
            <p14:sldId id="10960"/>
            <p14:sldId id="6415"/>
            <p14:sldId id="6416"/>
            <p14:sldId id="6417"/>
            <p14:sldId id="6418"/>
            <p14:sldId id="6419"/>
            <p14:sldId id="11001"/>
            <p14:sldId id="9081"/>
            <p14:sldId id="9088"/>
            <p14:sldId id="9119"/>
            <p14:sldId id="9089"/>
            <p14:sldId id="10947"/>
            <p14:sldId id="10951"/>
            <p14:sldId id="10950"/>
            <p14:sldId id="10949"/>
            <p14:sldId id="10948"/>
            <p14:sldId id="10952"/>
            <p14:sldId id="10476"/>
            <p14:sldId id="10475"/>
            <p14:sldId id="10676"/>
            <p14:sldId id="10677"/>
            <p14:sldId id="10684"/>
            <p14:sldId id="10994"/>
            <p14:sldId id="10771"/>
            <p14:sldId id="11010"/>
            <p14:sldId id="11096"/>
            <p14:sldId id="11097"/>
            <p14:sldId id="413"/>
            <p14:sldId id="414"/>
            <p14:sldId id="416"/>
            <p14:sldId id="11093"/>
            <p14:sldId id="5736"/>
            <p14:sldId id="5737"/>
            <p14:sldId id="5738"/>
            <p14:sldId id="5739"/>
            <p14:sldId id="5740"/>
            <p14:sldId id="5741"/>
            <p14:sldId id="5742"/>
            <p14:sldId id="5743"/>
            <p14:sldId id="5744"/>
            <p14:sldId id="5745"/>
            <p14:sldId id="6099"/>
            <p14:sldId id="5746"/>
            <p14:sldId id="5751"/>
            <p14:sldId id="5752"/>
            <p14:sldId id="5753"/>
            <p14:sldId id="5754"/>
            <p14:sldId id="11098"/>
            <p14:sldId id="5757"/>
            <p14:sldId id="5758"/>
            <p14:sldId id="5759"/>
            <p14:sldId id="5760"/>
            <p14:sldId id="5761"/>
            <p14:sldId id="5762"/>
            <p14:sldId id="10954"/>
            <p14:sldId id="5764"/>
            <p14:sldId id="5765"/>
            <p14:sldId id="5766"/>
            <p14:sldId id="11099"/>
            <p14:sldId id="9936"/>
            <p14:sldId id="9937"/>
            <p14:sldId id="9938"/>
            <p14:sldId id="9939"/>
            <p14:sldId id="9494"/>
            <p14:sldId id="9940"/>
            <p14:sldId id="10730"/>
            <p14:sldId id="9941"/>
            <p14:sldId id="9942"/>
            <p14:sldId id="7912"/>
            <p14:sldId id="9944"/>
            <p14:sldId id="6405"/>
            <p14:sldId id="6407"/>
            <p14:sldId id="6408"/>
            <p14:sldId id="6409"/>
            <p14:sldId id="6410"/>
            <p14:sldId id="6411"/>
            <p14:sldId id="6412"/>
            <p14:sldId id="11100"/>
            <p14:sldId id="11094"/>
            <p14:sldId id="4685"/>
            <p14:sldId id="4686"/>
            <p14:sldId id="4687"/>
            <p14:sldId id="4688"/>
            <p14:sldId id="5909"/>
            <p14:sldId id="5910"/>
            <p14:sldId id="5911"/>
            <p14:sldId id="5912"/>
            <p14:sldId id="5913"/>
            <p14:sldId id="5914"/>
            <p14:sldId id="5915"/>
            <p14:sldId id="5916"/>
            <p14:sldId id="5917"/>
            <p14:sldId id="751"/>
            <p14:sldId id="752"/>
            <p14:sldId id="818"/>
            <p14:sldId id="5923"/>
            <p14:sldId id="817"/>
            <p14:sldId id="5924"/>
            <p14:sldId id="5925"/>
            <p14:sldId id="11095"/>
            <p14:sldId id="10995"/>
          </p14:sldIdLst>
        </p14:section>
        <p14:section name="Direct lookahead approximations (5 parts)" id="{E7718E6B-CD32-432C-BFF1-A2CA0E065725}">
          <p14:sldIdLst>
            <p14:sldId id="10803"/>
            <p14:sldId id="10774"/>
            <p14:sldId id="11012"/>
            <p14:sldId id="11014"/>
            <p14:sldId id="11011"/>
            <p14:sldId id="8804"/>
            <p14:sldId id="8805"/>
            <p14:sldId id="10710"/>
            <p14:sldId id="8809"/>
            <p14:sldId id="8590"/>
            <p14:sldId id="7852"/>
            <p14:sldId id="7853"/>
            <p14:sldId id="7854"/>
            <p14:sldId id="9026"/>
            <p14:sldId id="10644"/>
            <p14:sldId id="11013"/>
            <p14:sldId id="9104"/>
            <p14:sldId id="9105"/>
            <p14:sldId id="9106"/>
            <p14:sldId id="11023"/>
            <p14:sldId id="10773"/>
            <p14:sldId id="11015"/>
            <p14:sldId id="10452"/>
            <p14:sldId id="10453"/>
            <p14:sldId id="10454"/>
            <p14:sldId id="10455"/>
            <p14:sldId id="10456"/>
            <p14:sldId id="10457"/>
            <p14:sldId id="10458"/>
            <p14:sldId id="10459"/>
            <p14:sldId id="10460"/>
            <p14:sldId id="10461"/>
            <p14:sldId id="10462"/>
            <p14:sldId id="10463"/>
            <p14:sldId id="10590"/>
            <p14:sldId id="10601"/>
            <p14:sldId id="10602"/>
            <p14:sldId id="11024"/>
            <p14:sldId id="10775"/>
            <p14:sldId id="11016"/>
            <p14:sldId id="11017"/>
            <p14:sldId id="10277"/>
            <p14:sldId id="8943"/>
            <p14:sldId id="8849"/>
            <p14:sldId id="9059"/>
            <p14:sldId id="933"/>
            <p14:sldId id="934"/>
            <p14:sldId id="944"/>
            <p14:sldId id="7152"/>
            <p14:sldId id="7315"/>
            <p14:sldId id="7310"/>
            <p14:sldId id="9110"/>
            <p14:sldId id="10278"/>
            <p14:sldId id="11018"/>
            <p14:sldId id="10281"/>
            <p14:sldId id="8810"/>
            <p14:sldId id="8811"/>
            <p14:sldId id="8812"/>
            <p14:sldId id="9041"/>
            <p14:sldId id="9042"/>
            <p14:sldId id="10282"/>
            <p14:sldId id="9115"/>
            <p14:sldId id="9085"/>
            <p14:sldId id="8816"/>
            <p14:sldId id="11019"/>
            <p14:sldId id="7561"/>
            <p14:sldId id="10611"/>
            <p14:sldId id="10665"/>
            <p14:sldId id="10612"/>
            <p14:sldId id="7563"/>
            <p14:sldId id="7564"/>
            <p14:sldId id="9116"/>
            <p14:sldId id="10296"/>
            <p14:sldId id="10297"/>
            <p14:sldId id="7568"/>
            <p14:sldId id="11025"/>
            <p14:sldId id="10776"/>
            <p14:sldId id="11020"/>
            <p14:sldId id="10894"/>
            <p14:sldId id="11057"/>
            <p14:sldId id="10897"/>
            <p14:sldId id="3061"/>
            <p14:sldId id="6236"/>
            <p14:sldId id="3038"/>
            <p14:sldId id="11059"/>
            <p14:sldId id="11058"/>
            <p14:sldId id="6238"/>
            <p14:sldId id="6239"/>
            <p14:sldId id="6240"/>
            <p14:sldId id="6241"/>
            <p14:sldId id="10895"/>
            <p14:sldId id="10719"/>
            <p14:sldId id="6671"/>
            <p14:sldId id="6674"/>
            <p14:sldId id="6673"/>
            <p14:sldId id="4634"/>
            <p14:sldId id="6672"/>
            <p14:sldId id="9078"/>
            <p14:sldId id="9079"/>
            <p14:sldId id="9080"/>
            <p14:sldId id="6682"/>
            <p14:sldId id="11026"/>
            <p14:sldId id="10778"/>
            <p14:sldId id="11021"/>
            <p14:sldId id="10898"/>
            <p14:sldId id="3357"/>
            <p14:sldId id="8232"/>
            <p14:sldId id="8233"/>
            <p14:sldId id="8234"/>
            <p14:sldId id="3361"/>
            <p14:sldId id="3972"/>
            <p14:sldId id="6467"/>
            <p14:sldId id="6468"/>
            <p14:sldId id="6472"/>
            <p14:sldId id="6469"/>
            <p14:sldId id="6470"/>
            <p14:sldId id="6471"/>
            <p14:sldId id="6473"/>
            <p14:sldId id="6661"/>
            <p14:sldId id="6474"/>
            <p14:sldId id="6475"/>
            <p14:sldId id="6476"/>
            <p14:sldId id="6479"/>
            <p14:sldId id="10899"/>
            <p14:sldId id="11061"/>
            <p14:sldId id="10931"/>
            <p14:sldId id="11027"/>
          </p14:sldIdLst>
        </p14:section>
        <p14:section name="Policy search" id="{D65F9DCC-2D85-4849-95C7-F79CE871E060}">
          <p14:sldIdLst>
            <p14:sldId id="11038"/>
            <p14:sldId id="11067"/>
            <p14:sldId id="11081"/>
            <p14:sldId id="10407"/>
            <p14:sldId id="10380"/>
            <p14:sldId id="10546"/>
            <p14:sldId id="10381"/>
            <p14:sldId id="11082"/>
            <p14:sldId id="5581"/>
            <p14:sldId id="10568"/>
            <p14:sldId id="11062"/>
            <p14:sldId id="11063"/>
            <p14:sldId id="11064"/>
            <p14:sldId id="10382"/>
            <p14:sldId id="11083"/>
            <p14:sldId id="10642"/>
            <p14:sldId id="10732"/>
            <p14:sldId id="11065"/>
            <p14:sldId id="11084"/>
            <p14:sldId id="11044"/>
            <p14:sldId id="10252"/>
            <p14:sldId id="10548"/>
            <p14:sldId id="11085"/>
            <p14:sldId id="11075"/>
            <p14:sldId id="11077"/>
            <p14:sldId id="11080"/>
            <p14:sldId id="11066"/>
            <p14:sldId id="10973"/>
          </p14:sldIdLst>
        </p14:section>
        <p14:section name="Ending slide" id="{A38FE40B-7866-452A-AB51-D7C6AA82D48C}">
          <p14:sldIdLst/>
        </p14:section>
        <p14:section name="Untitled Section" id="{1B10CAED-9D60-4577-9174-6652579FD55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6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DAF6"/>
    <a:srgbClr val="92551A"/>
    <a:srgbClr val="4F1F14"/>
    <a:srgbClr val="3D2914"/>
    <a:srgbClr val="F5ECD6"/>
    <a:srgbClr val="EFF2FB"/>
    <a:srgbClr val="F2F2FC"/>
    <a:srgbClr val="800000"/>
    <a:srgbClr val="FFFFFF"/>
    <a:srgbClr val="00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1" autoAdjust="0"/>
    <p:restoredTop sz="94699" autoAdjust="0"/>
  </p:normalViewPr>
  <p:slideViewPr>
    <p:cSldViewPr snapToGrid="0">
      <p:cViewPr varScale="1">
        <p:scale>
          <a:sx n="73" d="100"/>
          <a:sy n="73" d="100"/>
        </p:scale>
        <p:origin x="883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40061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56"/>
        <p:guide pos="2237"/>
      </p:guideLst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402" Type="http://schemas.openxmlformats.org/officeDocument/2006/relationships/font" Target="fonts/font11.fntdata"/><Relationship Id="rId346" Type="http://schemas.openxmlformats.org/officeDocument/2006/relationships/slide" Target="slides/slide342.xml"/><Relationship Id="rId357" Type="http://schemas.openxmlformats.org/officeDocument/2006/relationships/slide" Target="slides/slide353.xml"/><Relationship Id="rId399" Type="http://schemas.openxmlformats.org/officeDocument/2006/relationships/font" Target="fonts/font8.fntdata"/><Relationship Id="rId404" Type="http://schemas.openxmlformats.org/officeDocument/2006/relationships/font" Target="fonts/font13.fntdata"/><Relationship Id="rId348" Type="http://schemas.openxmlformats.org/officeDocument/2006/relationships/slide" Target="slides/slide344.xml"/><Relationship Id="rId359" Type="http://schemas.openxmlformats.org/officeDocument/2006/relationships/slide" Target="slides/slide355.xml"/><Relationship Id="rId339" Type="http://schemas.openxmlformats.org/officeDocument/2006/relationships/slide" Target="slides/slide335.xml"/><Relationship Id="rId350" Type="http://schemas.openxmlformats.org/officeDocument/2006/relationships/slide" Target="slides/slide346.xml"/><Relationship Id="rId406" Type="http://schemas.openxmlformats.org/officeDocument/2006/relationships/font" Target="fonts/font15.fntdata"/><Relationship Id="rId392" Type="http://schemas.openxmlformats.org/officeDocument/2006/relationships/font" Target="fonts/font1.fntdata"/><Relationship Id="rId361" Type="http://schemas.openxmlformats.org/officeDocument/2006/relationships/slide" Target="slides/slide357.xml"/><Relationship Id="rId341" Type="http://schemas.openxmlformats.org/officeDocument/2006/relationships/slide" Target="slides/slide337.xml"/><Relationship Id="rId362" Type="http://schemas.openxmlformats.org/officeDocument/2006/relationships/slide" Target="slides/slide358.xml"/><Relationship Id="rId352" Type="http://schemas.openxmlformats.org/officeDocument/2006/relationships/slide" Target="slides/slide348.xml"/><Relationship Id="rId394" Type="http://schemas.openxmlformats.org/officeDocument/2006/relationships/font" Target="fonts/font3.fntdata"/><Relationship Id="rId408" Type="http://schemas.openxmlformats.org/officeDocument/2006/relationships/font" Target="fonts/font17.fntdata"/><Relationship Id="rId1" Type="http://schemas.openxmlformats.org/officeDocument/2006/relationships/customXml" Target="../customXml/item1.xml"/><Relationship Id="rId342" Type="http://schemas.openxmlformats.org/officeDocument/2006/relationships/slide" Target="slides/slide338.xml"/><Relationship Id="rId353" Type="http://schemas.openxmlformats.org/officeDocument/2006/relationships/slide" Target="slides/slide349.xml"/><Relationship Id="rId395" Type="http://schemas.openxmlformats.org/officeDocument/2006/relationships/font" Target="fonts/font4.fntdata"/><Relationship Id="rId409" Type="http://schemas.openxmlformats.org/officeDocument/2006/relationships/presProps" Target="presProps.xml"/><Relationship Id="rId2" Type="http://schemas.openxmlformats.org/officeDocument/2006/relationships/customXml" Target="../customXml/item2.xml"/><Relationship Id="rId343" Type="http://schemas.openxmlformats.org/officeDocument/2006/relationships/slide" Target="slides/slide339.xml"/><Relationship Id="rId410" Type="http://schemas.openxmlformats.org/officeDocument/2006/relationships/viewProps" Target="viewProps.xml"/><Relationship Id="rId354" Type="http://schemas.openxmlformats.org/officeDocument/2006/relationships/slide" Target="slides/slide350.xml"/><Relationship Id="rId396" Type="http://schemas.openxmlformats.org/officeDocument/2006/relationships/font" Target="fonts/font5.fntdata"/><Relationship Id="rId3" Type="http://schemas.openxmlformats.org/officeDocument/2006/relationships/customXml" Target="../customXml/item3.xml"/><Relationship Id="rId400" Type="http://schemas.openxmlformats.org/officeDocument/2006/relationships/font" Target="fonts/font9.fntdata"/><Relationship Id="rId344" Type="http://schemas.openxmlformats.org/officeDocument/2006/relationships/slide" Target="slides/slide340.xml"/><Relationship Id="rId411" Type="http://schemas.openxmlformats.org/officeDocument/2006/relationships/theme" Target="theme/theme1.xml"/><Relationship Id="rId355" Type="http://schemas.openxmlformats.org/officeDocument/2006/relationships/slide" Target="slides/slide351.xml"/><Relationship Id="rId397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401" Type="http://schemas.openxmlformats.org/officeDocument/2006/relationships/font" Target="fonts/font10.fntdata"/><Relationship Id="rId345" Type="http://schemas.openxmlformats.org/officeDocument/2006/relationships/slide" Target="slides/slide341.xml"/><Relationship Id="rId412" Type="http://schemas.openxmlformats.org/officeDocument/2006/relationships/tableStyles" Target="tableStyles.xml"/><Relationship Id="rId356" Type="http://schemas.openxmlformats.org/officeDocument/2006/relationships/slide" Target="slides/slide352.xml"/><Relationship Id="rId398" Type="http://schemas.openxmlformats.org/officeDocument/2006/relationships/font" Target="fonts/font7.fntdata"/><Relationship Id="rId403" Type="http://schemas.openxmlformats.org/officeDocument/2006/relationships/font" Target="fonts/font12.fntdata"/><Relationship Id="rId347" Type="http://schemas.openxmlformats.org/officeDocument/2006/relationships/slide" Target="slides/slide343.xml"/><Relationship Id="rId358" Type="http://schemas.openxmlformats.org/officeDocument/2006/relationships/slide" Target="slides/slide354.xml"/><Relationship Id="rId338" Type="http://schemas.openxmlformats.org/officeDocument/2006/relationships/slide" Target="slides/slide334.xml"/><Relationship Id="rId391" Type="http://schemas.openxmlformats.org/officeDocument/2006/relationships/notesMaster" Target="notesMasters/notesMaster1.xml"/><Relationship Id="rId405" Type="http://schemas.openxmlformats.org/officeDocument/2006/relationships/font" Target="fonts/font14.fntdata"/><Relationship Id="rId349" Type="http://schemas.openxmlformats.org/officeDocument/2006/relationships/slide" Target="slides/slide345.xml"/><Relationship Id="rId360" Type="http://schemas.openxmlformats.org/officeDocument/2006/relationships/slide" Target="slides/slide356.xml"/><Relationship Id="rId340" Type="http://schemas.openxmlformats.org/officeDocument/2006/relationships/slide" Target="slides/slide336.xml"/><Relationship Id="rId351" Type="http://schemas.openxmlformats.org/officeDocument/2006/relationships/slide" Target="slides/slide347.xml"/><Relationship Id="rId393" Type="http://schemas.openxmlformats.org/officeDocument/2006/relationships/font" Target="fonts/font2.fntdata"/><Relationship Id="rId407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2"/>
            <a:ext cx="3088836" cy="49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85895" y="2"/>
            <a:ext cx="3088836" cy="49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85895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/>
          <a:p>
            <a:pPr algn="r"/>
            <a:fld id="{00000000-1234-1234-1234-123412341234}" type="slidenum">
              <a:rPr lang="en-US" sz="130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/>
              <a:t>‹#›</a:t>
            </a:fld>
            <a:endParaRPr lang="en-US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5.xml"/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6.xml"/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7.xml"/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8.xml"/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9.xml"/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0.xml"/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1.xml"/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2.xml"/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9.xml"/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1.xml"/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2.xml"/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3.xml"/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5.xml"/><Relationship Id="rId1" Type="http://schemas.openxmlformats.org/officeDocument/2006/relationships/notesMaster" Target="../notesMasters/notesMaster1.xml"/></Relationship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14925370-BCE9-4972-9CA2-EDBC369D3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BC9BBE04-994A-B24F-5297-479AC3F54E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962A2990-4E75-C39C-E50E-0ABAF812AC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17182412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7980FE2F-DDA8-401E-453B-6A26C9F93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E2E55C00-5DF8-A475-3659-BE0FC96F3B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EC385CA7-497D-A561-0BCA-83851B8BC7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8358068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8163" y="758825"/>
            <a:ext cx="6299200" cy="3544888"/>
          </a:xfrm>
          <a:ln/>
        </p:spPr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lg" len="lg"/>
                <a:tailEnd type="none" w="med" len="lg"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855980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8163" y="758825"/>
            <a:ext cx="6299200" cy="3544888"/>
          </a:xfrm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lg" len="lg"/>
                <a:tailEnd type="none" w="med" len="lg"/>
              </a14:hiddenLine>
            </a:ext>
          </a:extLst>
        </p:spPr>
        <p:txBody>
          <a:bodyPr/>
          <a:lstStyle/>
          <a:p>
            <a:r>
              <a:rPr lang="en-US" baseline="0" dirty="0"/>
              <a:t>SMART-ISO is composed by three nested subsystems: a day-ahead planning model (which schedules primarily the steam generation, or the so-called “slow” generators), an intermediate-term planning model (which schedules primarily the gas turbines, or the “fast” generators), and a real-time simulation model (which corresponds to the economic dispatch).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663066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8163" y="758825"/>
            <a:ext cx="6299200" cy="35448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day-ahead model</a:t>
            </a:r>
            <a:r>
              <a:rPr lang="en-US" baseline="0" dirty="0"/>
              <a:t> runs</a:t>
            </a:r>
            <a:r>
              <a:rPr lang="en-US" dirty="0"/>
              <a:t> at, say, noon of every day, aiming to schedule generation for the following day (midnight to midnight).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D0A9F78-39CE-4DDC-A26E-05BD6400C5DB}" type="slidenum">
              <a:rPr lang="en-US" smtClean="0"/>
              <a:pPr>
                <a:defRPr/>
              </a:pPr>
              <a:t>339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29845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8163" y="758825"/>
            <a:ext cx="6299200" cy="35448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D0A9F78-39CE-4DDC-A26E-05BD6400C5DB}" type="slidenum">
              <a:rPr lang="en-US" smtClean="0"/>
              <a:pPr>
                <a:defRPr/>
              </a:pPr>
              <a:t>340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95666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8163" y="758825"/>
            <a:ext cx="6299200" cy="35448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D0A9F78-39CE-4DDC-A26E-05BD6400C5DB}" type="slidenum">
              <a:rPr lang="en-US" smtClean="0"/>
              <a:pPr>
                <a:defRPr/>
              </a:pPr>
              <a:t>341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95666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8163" y="758825"/>
            <a:ext cx="6299200" cy="3544888"/>
          </a:xfrm>
          <a:ln/>
        </p:spPr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lg" len="lg"/>
                <a:tailEnd type="none" w="med" len="lg"/>
              </a14:hiddenLine>
            </a:ext>
          </a:extLst>
        </p:spPr>
        <p:txBody>
          <a:bodyPr/>
          <a:lstStyle/>
          <a:p>
            <a:r>
              <a:rPr lang="en-US" dirty="0"/>
              <a:t>… we are trying to find a robust set of schedules</a:t>
            </a:r>
            <a:r>
              <a:rPr lang="en-US" baseline="0" dirty="0"/>
              <a:t> for the steam (or slow) generators.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702338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D0A9F78-39CE-4DDC-A26E-05BD6400C5DB}" type="slidenum">
              <a:rPr lang="en-US" smtClean="0"/>
              <a:pPr>
                <a:defRPr/>
              </a:pPr>
              <a:t>349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596780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D0A9F78-39CE-4DDC-A26E-05BD6400C5DB}" type="slidenum">
              <a:rPr lang="en-US" smtClean="0"/>
              <a:pPr>
                <a:defRPr/>
              </a:pPr>
              <a:t>351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53077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D0A9F78-39CE-4DDC-A26E-05BD6400C5DB}" type="slidenum">
              <a:rPr lang="en-US" smtClean="0"/>
              <a:pPr>
                <a:defRPr/>
              </a:pPr>
              <a:t>352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230728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D0A9F78-39CE-4DDC-A26E-05BD6400C5DB}" type="slidenum">
              <a:rPr lang="en-US" smtClean="0"/>
              <a:pPr>
                <a:defRPr/>
              </a:pPr>
              <a:t>353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412958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C852E4B3-8B08-4802-D8DB-D1D22B52D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CBC10541-E90C-CB24-3BFC-8D3417A43B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985918F6-840F-8069-15C3-31F9A1C873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7335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FFFFFF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  <a:defRPr/>
            </a:lvl1pPr>
            <a:lvl2pPr lvl="1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Font typeface="Oswald"/>
              <a:buNone/>
              <a:defRPr sz="3300">
                <a:latin typeface="Oswald"/>
                <a:ea typeface="Oswald"/>
                <a:cs typeface="Oswald"/>
                <a:sym typeface="Oswa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630092" y="1279489"/>
            <a:ext cx="10363200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084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bg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" name="Google Shape;22;p3">
            <a:extLst>
              <a:ext uri="{FF2B5EF4-FFF2-40B4-BE49-F238E27FC236}">
                <a16:creationId xmlns:a16="http://schemas.microsoft.com/office/drawing/2014/main" id="{58B34863-E096-4468-B3E2-0513B8E89889}"/>
              </a:ext>
            </a:extLst>
          </p:cNvPr>
          <p:cNvSpPr/>
          <p:nvPr userDrawn="1"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bg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bg>
      <p:bgPr>
        <a:solidFill>
          <a:schemeClr val="bg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bg>
      <p:bgPr>
        <a:solidFill>
          <a:schemeClr val="bg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116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Times New Roman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»"/>
              <a:defRPr sz="2800"/>
            </a:lvl2pPr>
            <a:lvl3pPr marL="1371600" lvl="2" indent="-381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marL="1828800" lvl="3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marL="2286000" lvl="4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marL="2743200" lvl="5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6pPr>
            <a:lvl7pPr marL="3200400" lvl="6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7pPr>
            <a:lvl8pPr marL="3657600" lvl="7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8pPr>
            <a:lvl9pPr marL="4114800" lvl="8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bg>
      <p:bgPr>
        <a:solidFill>
          <a:schemeClr val="bg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Times New Roman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bg>
      <p:bgPr>
        <a:solidFill>
          <a:schemeClr val="bg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body" idx="1"/>
          </p:nvPr>
        </p:nvSpPr>
        <p:spPr>
          <a:xfrm rot="5400000">
            <a:off x="3619500" y="-1562100"/>
            <a:ext cx="4953000" cy="10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bg>
      <p:bgPr>
        <a:solidFill>
          <a:schemeClr val="bg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title"/>
          </p:nvPr>
        </p:nvSpPr>
        <p:spPr>
          <a:xfrm rot="5400000">
            <a:off x="7086600" y="1905000"/>
            <a:ext cx="5791200" cy="25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body" idx="1"/>
          </p:nvPr>
        </p:nvSpPr>
        <p:spPr>
          <a:xfrm rot="5400000">
            <a:off x="1803400" y="-584200"/>
            <a:ext cx="5791200" cy="75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 type="tbl">
  <p:cSld name="TABLE">
    <p:bg>
      <p:bgPr>
        <a:solidFill>
          <a:schemeClr val="bg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4 Content" type="fourObj">
  <p:cSld name="FOUR_OBJECTS">
    <p:bg>
      <p:bgPr>
        <a:solidFill>
          <a:schemeClr val="bg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2"/>
          </p:nvPr>
        </p:nvSpPr>
        <p:spPr>
          <a:xfrm>
            <a:off x="61976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body" idx="3"/>
          </p:nvPr>
        </p:nvSpPr>
        <p:spPr>
          <a:xfrm>
            <a:off x="9144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body" idx="4"/>
          </p:nvPr>
        </p:nvSpPr>
        <p:spPr>
          <a:xfrm>
            <a:off x="61976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2 Content" type="txAndTwoObj">
  <p:cSld name="TEXT_AND_TWO_OBJECTS">
    <p:bg>
      <p:bgPr>
        <a:solidFill>
          <a:schemeClr val="bg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5080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body" idx="2"/>
          </p:nvPr>
        </p:nvSpPr>
        <p:spPr>
          <a:xfrm>
            <a:off x="61976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body" idx="3"/>
          </p:nvPr>
        </p:nvSpPr>
        <p:spPr>
          <a:xfrm>
            <a:off x="61976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 type="objOnly">
  <p:cSld name="OBJECT_ONLY">
    <p:bg>
      <p:bgPr>
        <a:solidFill>
          <a:schemeClr val="bg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>
            <a:spLocks noGrp="1"/>
          </p:cNvSpPr>
          <p:nvPr>
            <p:ph type="body" idx="1"/>
          </p:nvPr>
        </p:nvSpPr>
        <p:spPr>
          <a:xfrm>
            <a:off x="914400" y="304800"/>
            <a:ext cx="10363200" cy="5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914400" y="304800"/>
            <a:ext cx="10363200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2019 W.B. Powell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628028B9-87C7-4915-BF62-49E2F38484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164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103632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084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8DAADDE6-9D87-4A94-9A5F-2FE2DE75B0D7}"/>
              </a:ext>
            </a:extLst>
          </p:cNvPr>
          <p:cNvSpPr/>
          <p:nvPr userDrawn="1"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5" name="Google Shape;129;p18">
            <a:extLst>
              <a:ext uri="{FF2B5EF4-FFF2-40B4-BE49-F238E27FC236}">
                <a16:creationId xmlns:a16="http://schemas.microsoft.com/office/drawing/2014/main" id="{2199409B-45F8-4A01-AB9C-7EA2B2CCD078}"/>
              </a:ext>
            </a:extLst>
          </p:cNvPr>
          <p:cNvPicPr preferRelativeResize="0"/>
          <p:nvPr userDrawn="1"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56373" y="6533883"/>
            <a:ext cx="2041301" cy="2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3;p3">
            <a:extLst>
              <a:ext uri="{FF2B5EF4-FFF2-40B4-BE49-F238E27FC236}">
                <a16:creationId xmlns:a16="http://schemas.microsoft.com/office/drawing/2014/main" id="{1D1BDBDF-7EA2-8C6E-6985-BFD39B103D2C}"/>
              </a:ext>
            </a:extLst>
          </p:cNvPr>
          <p:cNvSpPr/>
          <p:nvPr userDrawn="1"/>
        </p:nvSpPr>
        <p:spPr>
          <a:xfrm>
            <a:off x="4885608" y="6521551"/>
            <a:ext cx="1837408" cy="303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Playfair Display"/>
              <a:buNone/>
            </a:pPr>
            <a:r>
              <a:rPr lang="en-US" sz="900" b="0" dirty="0">
                <a:solidFill>
                  <a:schemeClr val="tx1"/>
                </a:solidFill>
                <a:latin typeface="Raleway" pitchFamily="2" charset="0"/>
                <a:ea typeface="Raleway Thin"/>
                <a:cs typeface="Raleway Thin"/>
                <a:sym typeface="Raleway Thin"/>
              </a:rPr>
              <a:t>© WARREN POWELL 2026</a:t>
            </a:r>
            <a:endParaRPr sz="900" b="0" dirty="0">
              <a:solidFill>
                <a:schemeClr val="tx1"/>
              </a:solidFill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ED04E7B-9405-B242-E92F-713BCFDEE4BD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5495" b="97253" l="4706" r="97059">
                        <a14:foregroundMark x1="45294" y1="24725" x2="45294" y2="24725"/>
                        <a14:foregroundMark x1="56471" y1="23626" x2="56471" y2="23626"/>
                        <a14:foregroundMark x1="41765" y1="20879" x2="41765" y2="20879"/>
                        <a14:foregroundMark x1="10000" y1="72527" x2="10000" y2="72527"/>
                        <a14:foregroundMark x1="10588" y1="79121" x2="10588" y2="79121"/>
                        <a14:foregroundMark x1="11765" y1="68681" x2="11765" y2="68681"/>
                        <a14:foregroundMark x1="6471" y1="68681" x2="6471" y2="68681"/>
                        <a14:foregroundMark x1="40000" y1="30220" x2="40000" y2="30220"/>
                        <a14:foregroundMark x1="54706" y1="20879" x2="54706" y2="20879"/>
                        <a14:foregroundMark x1="54706" y1="30220" x2="54706" y2="30220"/>
                        <a14:foregroundMark x1="54706" y1="30220" x2="54706" y2="30220"/>
                        <a14:foregroundMark x1="51765" y1="24176" x2="51765" y2="24176"/>
                        <a14:foregroundMark x1="53529" y1="30769" x2="53529" y2="30769"/>
                        <a14:foregroundMark x1="45882" y1="29670" x2="45882" y2="29670"/>
                        <a14:foregroundMark x1="8824" y1="87363" x2="8824" y2="87363"/>
                        <a14:foregroundMark x1="19412" y1="89011" x2="19412" y2="89011"/>
                        <a14:foregroundMark x1="31176" y1="93407" x2="31176" y2="93407"/>
                        <a14:foregroundMark x1="24118" y1="95604" x2="24118" y2="96154"/>
                        <a14:foregroundMark x1="24118" y1="87912" x2="24118" y2="95604"/>
                        <a14:foregroundMark x1="5882" y1="65385" x2="5882" y2="65385"/>
                        <a14:foregroundMark x1="9413" y1="62088" x2="8235" y2="61538"/>
                        <a14:foregroundMark x1="10588" y1="62637" x2="9413" y2="62088"/>
                        <a14:foregroundMark x1="16471" y1="65385" x2="10588" y2="62637"/>
                        <a14:foregroundMark x1="28235" y1="89560" x2="28235" y2="89560"/>
                        <a14:foregroundMark x1="31765" y1="96703" x2="31765" y2="96703"/>
                        <a14:foregroundMark x1="38235" y1="95604" x2="38235" y2="95604"/>
                        <a14:foregroundMark x1="35882" y1="92857" x2="35882" y2="92857"/>
                        <a14:foregroundMark x1="34118" y1="90110" x2="34118" y2="90110"/>
                        <a14:foregroundMark x1="41765" y1="90659" x2="41765" y2="90659"/>
                        <a14:foregroundMark x1="41765" y1="93956" x2="41765" y2="93956"/>
                        <a14:foregroundMark x1="45882" y1="97253" x2="45882" y2="97253"/>
                        <a14:foregroundMark x1="50000" y1="97802" x2="50000" y2="97802"/>
                        <a14:foregroundMark x1="52941" y1="97802" x2="52941" y2="97802"/>
                        <a14:foregroundMark x1="58235" y1="97253" x2="58235" y2="97253"/>
                        <a14:foregroundMark x1="61176" y1="97802" x2="61176" y2="97802"/>
                        <a14:foregroundMark x1="60000" y1="90110" x2="60000" y2="90110"/>
                        <a14:foregroundMark x1="64118" y1="90659" x2="64118" y2="90659"/>
                        <a14:foregroundMark x1="70000" y1="86813" x2="70000" y2="86813"/>
                        <a14:foregroundMark x1="74118" y1="85165" x2="74118" y2="85165"/>
                        <a14:foregroundMark x1="75882" y1="91758" x2="75882" y2="91758"/>
                        <a14:foregroundMark x1="87647" y1="75275" x2="87647" y2="75275"/>
                        <a14:foregroundMark x1="87647" y1="75275" x2="87647" y2="75275"/>
                        <a14:foregroundMark x1="87647" y1="72527" x2="87647" y2="72527"/>
                        <a14:foregroundMark x1="84706" y1="80769" x2="84706" y2="80769"/>
                        <a14:foregroundMark x1="92941" y1="82418" x2="92941" y2="82418"/>
                        <a14:foregroundMark x1="97059" y1="65934" x2="97059" y2="65934"/>
                        <a14:foregroundMark x1="88235" y1="65934" x2="88235" y2="65934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50000" y1="5495" x2="50000" y2="5495"/>
                        <a14:foregroundMark x1="9412" y1="62637" x2="9412" y2="62637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backgroundMark x1="9412" y1="61538" x2="9412" y2="61538"/>
                        <a14:backgroundMark x1="8235" y1="60989" x2="8235" y2="60989"/>
                        <a14:backgroundMark x1="11765" y1="62637" x2="11765" y2="62637"/>
                        <a14:backgroundMark x1="10588" y1="62088" x2="10588" y2="62088"/>
                        <a14:backgroundMark x1="24706" y1="96154" x2="24706" y2="96154"/>
                        <a14:backgroundMark x1="24118" y1="95604" x2="24118" y2="95604"/>
                        <a14:backgroundMark x1="23529" y1="97253" x2="23529" y2="97253"/>
                        <a14:backgroundMark x1="24118" y1="97253" x2="24118" y2="97253"/>
                        <a14:backgroundMark x1="24118" y1="97253" x2="24118" y2="97253"/>
                        <a14:backgroundMark x1="23529" y1="97802" x2="23529" y2="97802"/>
                        <a14:backgroundMark x1="23529" y1="96703" x2="23529" y2="96703"/>
                        <a14:backgroundMark x1="23529" y1="96703" x2="23529" y2="96154"/>
                        <a14:backgroundMark x1="7647" y1="62088" x2="7647" y2="62088"/>
                        <a14:backgroundMark x1="8824" y1="62637" x2="8824" y2="626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649805" y="6324600"/>
            <a:ext cx="498231" cy="5334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2" r:id="rId12"/>
    <p:sldLayoutId id="2147483663" r:id="rId13"/>
    <p:sldLayoutId id="2147483670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7.xml"/><Relationship Id="rId1" Type="http://schemas.openxmlformats.org/officeDocument/2006/relationships/slideLayout" Target="../slideLayouts/slideLayout2.xml"/></Relationships>
</file>

<file path=ppt/slides/_rels/slide3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8.xml"/><Relationship Id="rId1" Type="http://schemas.openxmlformats.org/officeDocument/2006/relationships/slideLayout" Target="../slideLayouts/slideLayout2.xml"/></Relationships>
</file>

<file path=ppt/slides/_rels/slide3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jpeg"/><Relationship Id="rId13" Type="http://schemas.openxmlformats.org/officeDocument/2006/relationships/image" Target="../media/image214.png"/><Relationship Id="rId3" Type="http://schemas.openxmlformats.org/officeDocument/2006/relationships/image" Target="../media/image205.png"/><Relationship Id="rId7" Type="http://schemas.openxmlformats.org/officeDocument/2006/relationships/image" Target="../media/image208.jpeg"/><Relationship Id="rId12" Type="http://schemas.openxmlformats.org/officeDocument/2006/relationships/image" Target="../media/image213.jpeg"/><Relationship Id="rId2" Type="http://schemas.openxmlformats.org/officeDocument/2006/relationships/notesSlide" Target="../notesSlides/notesSlide19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7.jpeg"/><Relationship Id="rId11" Type="http://schemas.openxmlformats.org/officeDocument/2006/relationships/image" Target="../media/image212.jpeg"/><Relationship Id="rId5" Type="http://schemas.openxmlformats.org/officeDocument/2006/relationships/image" Target="../media/image206.jpeg"/><Relationship Id="rId10" Type="http://schemas.openxmlformats.org/officeDocument/2006/relationships/image" Target="../media/image211.jpeg"/><Relationship Id="rId4" Type="http://schemas.openxmlformats.org/officeDocument/2006/relationships/image" Target="../media/image105.jpeg"/><Relationship Id="rId9" Type="http://schemas.openxmlformats.org/officeDocument/2006/relationships/image" Target="../media/image210.jpeg"/></Relationships>
</file>

<file path=ppt/slides/_rels/slide3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png"/><Relationship Id="rId2" Type="http://schemas.openxmlformats.org/officeDocument/2006/relationships/notesSlide" Target="../notesSlides/notesSlide200.xml"/><Relationship Id="rId1" Type="http://schemas.openxmlformats.org/officeDocument/2006/relationships/slideLayout" Target="../slideLayouts/slideLayout3.xml"/></Relationships>
</file>

<file path=ppt/slides/_rels/slide3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png"/><Relationship Id="rId2" Type="http://schemas.openxmlformats.org/officeDocument/2006/relationships/notesSlide" Target="../notesSlides/notesSlide201.xml"/><Relationship Id="rId1" Type="http://schemas.openxmlformats.org/officeDocument/2006/relationships/slideLayout" Target="../slideLayouts/slideLayout2.xml"/></Relationships>
</file>

<file path=ppt/slides/_rels/slide3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png"/><Relationship Id="rId2" Type="http://schemas.openxmlformats.org/officeDocument/2006/relationships/notesSlide" Target="../notesSlides/notesSlide202.xml"/><Relationship Id="rId1" Type="http://schemas.openxmlformats.org/officeDocument/2006/relationships/slideLayout" Target="../slideLayouts/slideLayout2.xml"/></Relationships>
</file>

<file path=ppt/slides/_rels/slide3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png"/><Relationship Id="rId2" Type="http://schemas.openxmlformats.org/officeDocument/2006/relationships/notesSlide" Target="../notesSlides/notesSlide203.xml"/><Relationship Id="rId1" Type="http://schemas.openxmlformats.org/officeDocument/2006/relationships/slideLayout" Target="../slideLayouts/slideLayout2.xml"/></Relationships>
</file>

<file path=ppt/slides/_rels/slide3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png"/><Relationship Id="rId7" Type="http://schemas.openxmlformats.org/officeDocument/2006/relationships/image" Target="../media/image209.jpeg"/><Relationship Id="rId2" Type="http://schemas.openxmlformats.org/officeDocument/2006/relationships/notesSlide" Target="../notesSlides/notesSlide20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8.jpeg"/><Relationship Id="rId5" Type="http://schemas.openxmlformats.org/officeDocument/2006/relationships/image" Target="../media/image207.jpeg"/><Relationship Id="rId4" Type="http://schemas.openxmlformats.org/officeDocument/2006/relationships/image" Target="../media/image105.jpeg"/></Relationships>
</file>

<file path=ppt/slides/_rels/slide3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71.png"/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01.png"/><Relationship Id="rId5" Type="http://schemas.openxmlformats.org/officeDocument/2006/relationships/image" Target="../media/image2591.png"/><Relationship Id="rId4" Type="http://schemas.openxmlformats.org/officeDocument/2006/relationships/image" Target="../media/image217.png"/></Relationships>
</file>

<file path=ppt/slides/_rels/slide3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8.png"/><Relationship Id="rId1" Type="http://schemas.openxmlformats.org/officeDocument/2006/relationships/slideLayout" Target="../slideLayouts/slideLayout2.xml"/></Relationships>
</file>

<file path=ppt/slides/_rels/slide3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2.xml"/></Relationships>
</file>

<file path=ppt/slides/_rels/slide3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3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2.xml"/></Relationships>
</file>

<file path=ppt/slides/_rels/slide3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2.xml"/></Relationships>
</file>

<file path=ppt/slides/_rels/slide3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01.png"/><Relationship Id="rId13" Type="http://schemas.openxmlformats.org/officeDocument/2006/relationships/image" Target="../media/image5550.png"/><Relationship Id="rId18" Type="http://schemas.openxmlformats.org/officeDocument/2006/relationships/image" Target="../media/image5601.png"/><Relationship Id="rId3" Type="http://schemas.openxmlformats.org/officeDocument/2006/relationships/image" Target="../media/image223.png"/><Relationship Id="rId7" Type="http://schemas.openxmlformats.org/officeDocument/2006/relationships/image" Target="../media/image227.png"/><Relationship Id="rId12" Type="http://schemas.openxmlformats.org/officeDocument/2006/relationships/image" Target="../media/image5540.png"/><Relationship Id="rId17" Type="http://schemas.openxmlformats.org/officeDocument/2006/relationships/image" Target="../media/image5590.png"/><Relationship Id="rId2" Type="http://schemas.openxmlformats.org/officeDocument/2006/relationships/notesSlide" Target="../notesSlides/notesSlide205.xml"/><Relationship Id="rId16" Type="http://schemas.openxmlformats.org/officeDocument/2006/relationships/image" Target="../media/image2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6.png"/><Relationship Id="rId11" Type="http://schemas.openxmlformats.org/officeDocument/2006/relationships/image" Target="../media/image5530.png"/><Relationship Id="rId5" Type="http://schemas.openxmlformats.org/officeDocument/2006/relationships/image" Target="../media/image225.png"/><Relationship Id="rId15" Type="http://schemas.openxmlformats.org/officeDocument/2006/relationships/image" Target="../media/image5570.png"/><Relationship Id="rId10" Type="http://schemas.openxmlformats.org/officeDocument/2006/relationships/image" Target="../media/image5520.png"/><Relationship Id="rId19" Type="http://schemas.openxmlformats.org/officeDocument/2006/relationships/image" Target="../media/image229.jpeg"/><Relationship Id="rId4" Type="http://schemas.openxmlformats.org/officeDocument/2006/relationships/image" Target="../media/image224.png"/><Relationship Id="rId9" Type="http://schemas.openxmlformats.org/officeDocument/2006/relationships/image" Target="../media/image5510.png"/><Relationship Id="rId14" Type="http://schemas.openxmlformats.org/officeDocument/2006/relationships/image" Target="../media/image5560.png"/></Relationships>
</file>

<file path=ppt/slides/_rels/slide3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30.png"/><Relationship Id="rId1" Type="http://schemas.openxmlformats.org/officeDocument/2006/relationships/slideLayout" Target="../slideLayouts/slideLayout2.xml"/></Relationships>
</file>

<file path=ppt/slides/_rels/slide3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1.png"/><Relationship Id="rId3" Type="http://schemas.openxmlformats.org/officeDocument/2006/relationships/image" Target="../media/image230.png"/><Relationship Id="rId7" Type="http://schemas.openxmlformats.org/officeDocument/2006/relationships/image" Target="../media/image1812.png"/><Relationship Id="rId2" Type="http://schemas.openxmlformats.org/officeDocument/2006/relationships/notesSlide" Target="../notesSlides/notesSlide20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2.png"/><Relationship Id="rId5" Type="http://schemas.openxmlformats.org/officeDocument/2006/relationships/image" Target="../media/image1792.png"/><Relationship Id="rId4" Type="http://schemas.microsoft.com/office/2007/relationships/hdphoto" Target="../media/hdphoto8.wdp"/></Relationships>
</file>

<file path=ppt/slides/_rels/slide3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1.png"/><Relationship Id="rId3" Type="http://schemas.openxmlformats.org/officeDocument/2006/relationships/image" Target="../media/image230.png"/><Relationship Id="rId7" Type="http://schemas.openxmlformats.org/officeDocument/2006/relationships/image" Target="../media/image1812.png"/><Relationship Id="rId2" Type="http://schemas.openxmlformats.org/officeDocument/2006/relationships/notesSlide" Target="../notesSlides/notesSlide20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2.png"/><Relationship Id="rId5" Type="http://schemas.openxmlformats.org/officeDocument/2006/relationships/image" Target="../media/image1792.png"/><Relationship Id="rId4" Type="http://schemas.microsoft.com/office/2007/relationships/hdphoto" Target="../media/hdphoto8.wdp"/></Relationships>
</file>

<file path=ppt/slides/_rels/slide3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1.png"/><Relationship Id="rId3" Type="http://schemas.openxmlformats.org/officeDocument/2006/relationships/image" Target="../media/image230.png"/><Relationship Id="rId7" Type="http://schemas.openxmlformats.org/officeDocument/2006/relationships/image" Target="../media/image1812.png"/><Relationship Id="rId2" Type="http://schemas.openxmlformats.org/officeDocument/2006/relationships/notesSlide" Target="../notesSlides/notesSlide20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2.png"/><Relationship Id="rId5" Type="http://schemas.openxmlformats.org/officeDocument/2006/relationships/image" Target="../media/image1792.png"/><Relationship Id="rId4" Type="http://schemas.microsoft.com/office/2007/relationships/hdphoto" Target="../media/hdphoto8.wdp"/></Relationships>
</file>

<file path=ppt/slides/_rels/slide3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20.png"/><Relationship Id="rId1" Type="http://schemas.openxmlformats.org/officeDocument/2006/relationships/slideLayout" Target="../slideLayouts/slideLayout2.xml"/></Relationships>
</file>

<file path=ppt/slides/_rels/slide3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9.xml"/><Relationship Id="rId1" Type="http://schemas.openxmlformats.org/officeDocument/2006/relationships/slideLayout" Target="../slideLayouts/slideLayout2.xml"/></Relationships>
</file>

<file path=ppt/slides/_rels/slide3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1.png"/><Relationship Id="rId2" Type="http://schemas.openxmlformats.org/officeDocument/2006/relationships/image" Target="../media/image20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30.png"/></Relationships>
</file>

<file path=ppt/slides/_rels/slide3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0.png"/><Relationship Id="rId2" Type="http://schemas.openxmlformats.org/officeDocument/2006/relationships/image" Target="../media/image2040.png"/><Relationship Id="rId1" Type="http://schemas.openxmlformats.org/officeDocument/2006/relationships/slideLayout" Target="../slideLayouts/slideLayout2.xml"/></Relationships>
</file>

<file path=ppt/slides/_rels/slide3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4F3D0-3EFC-2A1B-3B2C-1D78B6445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F799165-A6D3-4B69-DFE7-CD8CECFBC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" y="0"/>
            <a:ext cx="12180024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4EF8F60-9601-F9A5-3674-40BB1F47D620}"/>
              </a:ext>
            </a:extLst>
          </p:cNvPr>
          <p:cNvSpPr txBox="1">
            <a:spLocks/>
          </p:cNvSpPr>
          <p:nvPr/>
        </p:nvSpPr>
        <p:spPr>
          <a:xfrm>
            <a:off x="0" y="129992"/>
            <a:ext cx="12192000" cy="84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Tutorial Series on Sequential Decision Analytics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46DF8A2B-BE58-8AF1-698F-9D5F869DF216}"/>
              </a:ext>
            </a:extLst>
          </p:cNvPr>
          <p:cNvSpPr txBox="1">
            <a:spLocks/>
          </p:cNvSpPr>
          <p:nvPr/>
        </p:nvSpPr>
        <p:spPr>
          <a:xfrm>
            <a:off x="0" y="927251"/>
            <a:ext cx="12192000" cy="115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Warren B Powell</a:t>
            </a:r>
          </a:p>
          <a:p>
            <a:r>
              <a:rPr lang="en-US" sz="2000" dirty="0">
                <a:solidFill>
                  <a:schemeClr val="bg1"/>
                </a:solidFill>
              </a:rPr>
              <a:t>Professor Emeritus, Princeton University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A1ABBBC-9FE4-D1CF-6742-F4F7D0E6385C}"/>
              </a:ext>
            </a:extLst>
          </p:cNvPr>
          <p:cNvSpPr txBox="1">
            <a:spLocks/>
          </p:cNvSpPr>
          <p:nvPr/>
        </p:nvSpPr>
        <p:spPr>
          <a:xfrm>
            <a:off x="4224760" y="1866418"/>
            <a:ext cx="3715473" cy="578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</a:rPr>
              <a:t>Recorded: August 12, 2026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4DADCEE-AD7E-6A84-6B01-19F4F37DDE14}"/>
              </a:ext>
            </a:extLst>
          </p:cNvPr>
          <p:cNvSpPr txBox="1">
            <a:spLocks/>
          </p:cNvSpPr>
          <p:nvPr/>
        </p:nvSpPr>
        <p:spPr>
          <a:xfrm>
            <a:off x="1212347" y="3222743"/>
            <a:ext cx="10712559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03325" indent="-1203325"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Module:	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Direct lookahead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approximations V – Vector decisions</a:t>
            </a:r>
          </a:p>
          <a:p>
            <a:pPr marL="1196975" indent="-342900" algn="l">
              <a:spcAft>
                <a:spcPts val="8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Two-stage stochastic programming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619F609-ACDC-3A36-21C9-EFC551D3C66A}"/>
              </a:ext>
            </a:extLst>
          </p:cNvPr>
          <p:cNvSpPr txBox="1">
            <a:spLocks/>
          </p:cNvSpPr>
          <p:nvPr/>
        </p:nvSpPr>
        <p:spPr>
          <a:xfrm>
            <a:off x="1214274" y="5547361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Technical level: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Advanced.</a:t>
            </a:r>
            <a:endParaRPr lang="en-US" sz="24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AEC0FE0-FE64-6F66-8146-A348D0BC0599}"/>
              </a:ext>
            </a:extLst>
          </p:cNvPr>
          <p:cNvSpPr txBox="1">
            <a:spLocks/>
          </p:cNvSpPr>
          <p:nvPr/>
        </p:nvSpPr>
        <p:spPr>
          <a:xfrm>
            <a:off x="1214274" y="4368419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03325" indent="-1203325" algn="l"/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Predecessor module(s):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Universal modeling framework (detailed)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DLA parts I, II and III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CF16CCF-41E7-6E4E-8BF1-FFD8F1852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8461" y="1084325"/>
            <a:ext cx="2014549" cy="201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464418"/>
      </p:ext>
    </p:extLst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F21E845D-9496-E4B9-7E7B-10EE4C530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106535-6D6B-92D0-CCA9-DA6C80052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3D2EC51E-25A5-40D2-4039-80C0E59FEB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5" name="Google Shape;247;p26">
            <a:extLst>
              <a:ext uri="{FF2B5EF4-FFF2-40B4-BE49-F238E27FC236}">
                <a16:creationId xmlns:a16="http://schemas.microsoft.com/office/drawing/2014/main" id="{06D0E645-C4E5-5EBE-D7D4-B530C29080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756" y="725240"/>
            <a:ext cx="10856871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buClr>
                <a:schemeClr val="lt1"/>
              </a:buClr>
              <a:buNone/>
            </a:pPr>
            <a:r>
              <a:rPr lang="en-US" sz="2400" dirty="0">
                <a:solidFill>
                  <a:schemeClr val="bg1"/>
                </a:solidFill>
              </a:rPr>
              <a:t>Direct lookahead approximations:</a:t>
            </a:r>
          </a:p>
          <a:p>
            <a:pPr marL="0" lvl="0" indent="0">
              <a:buClr>
                <a:schemeClr val="lt1"/>
              </a:buClr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DLA I – Overview of direct lookahead approximations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endParaRPr lang="en-US" sz="2400" dirty="0">
              <a:solidFill>
                <a:schemeClr val="bg1"/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DLA II - Deterministic lookaheads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endParaRPr lang="en-US" sz="24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DLA III - Stochastic lookaheads using PFAs, CFAs and VFAs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endParaRPr lang="en-US" sz="24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DLA IV – Stochastic lookaheads using DLAs – Discrete actions</a:t>
            </a:r>
            <a:endParaRPr lang="en-US" sz="22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endParaRPr lang="en-US" sz="24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bg1"/>
                </a:solidFill>
              </a:rPr>
              <a:t>DLA V – Stochastic lookaheads using DLAs – Vector actions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C78418-9B31-505E-07AA-843678A38037}"/>
              </a:ext>
            </a:extLst>
          </p:cNvPr>
          <p:cNvSpPr txBox="1"/>
          <p:nvPr/>
        </p:nvSpPr>
        <p:spPr>
          <a:xfrm>
            <a:off x="11439525" y="6280363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57073298"/>
      </p:ext>
    </p:extLst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C538B31F-E4D4-5304-3B06-DD3C8C057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C04F84-ACA8-6D09-ECB0-BD016721F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0752B2DA-1050-3170-5F92-9E84869AFE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247" name="Google Shape;247;p26">
            <a:extLst>
              <a:ext uri="{FF2B5EF4-FFF2-40B4-BE49-F238E27FC236}">
                <a16:creationId xmlns:a16="http://schemas.microsoft.com/office/drawing/2014/main" id="{3822815D-25A4-FE25-330C-DDFFBCEAA2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buClr>
                <a:schemeClr val="lt1"/>
              </a:buClr>
              <a:buNone/>
            </a:pPr>
            <a:r>
              <a:rPr lang="en-US" sz="2400" dirty="0">
                <a:solidFill>
                  <a:schemeClr val="bg1"/>
                </a:solidFill>
              </a:rPr>
              <a:t>DLA V – Stochastic lookaheads using DLAs – Vector actions</a:t>
            </a:r>
            <a:endParaRPr lang="en-US" sz="22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bg1"/>
                </a:solidFill>
              </a:rPr>
              <a:t>Two-stage stochastic programming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Stochastic search</a:t>
            </a:r>
          </a:p>
          <a:p>
            <a:pPr marL="1257300" lvl="2">
              <a:buClr>
                <a:schemeClr val="lt1"/>
              </a:buClr>
              <a:buFont typeface="Times New Roman"/>
              <a:buChar char="➜"/>
            </a:pP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30C1DB-4CF4-B780-67D6-7F3402B5B67C}"/>
              </a:ext>
            </a:extLst>
          </p:cNvPr>
          <p:cNvSpPr txBox="1"/>
          <p:nvPr/>
        </p:nvSpPr>
        <p:spPr>
          <a:xfrm>
            <a:off x="11439525" y="6280363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36423621"/>
      </p:ext>
    </p:extLst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FF580E2-F6B7-62D7-4BE0-9FA0BFDC3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11816" cy="6858000"/>
          </a:xfrm>
          <a:prstGeom prst="rect">
            <a:avLst/>
          </a:prstGeom>
        </p:spPr>
      </p:pic>
      <p:pic>
        <p:nvPicPr>
          <p:cNvPr id="5939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041" y="11176"/>
            <a:ext cx="9196229" cy="6846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</p:pic>
      <p:grpSp>
        <p:nvGrpSpPr>
          <p:cNvPr id="10" name="Group 9"/>
          <p:cNvGrpSpPr/>
          <p:nvPr/>
        </p:nvGrpSpPr>
        <p:grpSpPr>
          <a:xfrm>
            <a:off x="4410887" y="2404097"/>
            <a:ext cx="2602670" cy="816916"/>
            <a:chOff x="2886887" y="2404097"/>
            <a:chExt cx="2602670" cy="816916"/>
          </a:xfrm>
        </p:grpSpPr>
        <p:pic>
          <p:nvPicPr>
            <p:cNvPr id="1565699" name="Picture 3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05" b="8272"/>
            <a:stretch/>
          </p:blipFill>
          <p:spPr bwMode="auto">
            <a:xfrm>
              <a:off x="4589939" y="2404097"/>
              <a:ext cx="899618" cy="64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" name="Picture 3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05" b="8272"/>
            <a:stretch/>
          </p:blipFill>
          <p:spPr bwMode="auto">
            <a:xfrm>
              <a:off x="2886887" y="2580013"/>
              <a:ext cx="899618" cy="64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9" name="Group 8"/>
          <p:cNvGrpSpPr/>
          <p:nvPr/>
        </p:nvGrpSpPr>
        <p:grpSpPr>
          <a:xfrm>
            <a:off x="2415759" y="1306747"/>
            <a:ext cx="5416648" cy="3969678"/>
            <a:chOff x="891759" y="1306747"/>
            <a:chExt cx="5416648" cy="3969678"/>
          </a:xfrm>
        </p:grpSpPr>
        <p:pic>
          <p:nvPicPr>
            <p:cNvPr id="1565698" name="Picture 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0313" y="2714437"/>
              <a:ext cx="668094" cy="10131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7" name="Picture 2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99125" y="3939540"/>
              <a:ext cx="650605" cy="9866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8" name="Picture 2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1759" y="1306747"/>
              <a:ext cx="683789" cy="10369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1" name="Picture 2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44025" y="4239470"/>
              <a:ext cx="683789" cy="10369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8" name="Group 7"/>
          <p:cNvGrpSpPr/>
          <p:nvPr/>
        </p:nvGrpSpPr>
        <p:grpSpPr>
          <a:xfrm>
            <a:off x="4042119" y="1698949"/>
            <a:ext cx="3125445" cy="3694387"/>
            <a:chOff x="2518118" y="1698948"/>
            <a:chExt cx="3125445" cy="3694387"/>
          </a:xfrm>
        </p:grpSpPr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24985" y="3483347"/>
              <a:ext cx="818578" cy="8185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6" name="Picture 3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69396" y="4574757"/>
              <a:ext cx="818578" cy="8185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7" name="Picture 3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65946" y="3262169"/>
              <a:ext cx="818578" cy="8185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8" name="Picture 3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8118" y="1698948"/>
              <a:ext cx="818578" cy="8185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3" name="Group 2"/>
          <p:cNvGrpSpPr/>
          <p:nvPr/>
        </p:nvGrpSpPr>
        <p:grpSpPr>
          <a:xfrm>
            <a:off x="3001546" y="2404098"/>
            <a:ext cx="5690827" cy="1590929"/>
            <a:chOff x="1417602" y="2529805"/>
            <a:chExt cx="5690827" cy="1590929"/>
          </a:xfrm>
        </p:grpSpPr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2380" y="3473597"/>
              <a:ext cx="560051" cy="647137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7602" y="2923898"/>
              <a:ext cx="560051" cy="647137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45952" y="2718382"/>
              <a:ext cx="560051" cy="647137"/>
            </a:xfrm>
            <a:prstGeom prst="rect">
              <a:avLst/>
            </a:prstGeom>
          </p:spPr>
        </p:pic>
        <p:pic>
          <p:nvPicPr>
            <p:cNvPr id="29" name="Picture 28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48378" y="3247467"/>
              <a:ext cx="560051" cy="647137"/>
            </a:xfrm>
            <a:prstGeom prst="rect">
              <a:avLst/>
            </a:prstGeom>
          </p:spPr>
        </p:pic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48464" y="2529805"/>
              <a:ext cx="560051" cy="647137"/>
            </a:xfrm>
            <a:prstGeom prst="rect">
              <a:avLst/>
            </a:prstGeom>
          </p:spPr>
        </p:pic>
      </p:grpSp>
      <p:grpSp>
        <p:nvGrpSpPr>
          <p:cNvPr id="11" name="Group 10"/>
          <p:cNvGrpSpPr/>
          <p:nvPr/>
        </p:nvGrpSpPr>
        <p:grpSpPr>
          <a:xfrm>
            <a:off x="8871720" y="1533103"/>
            <a:ext cx="1385800" cy="2349014"/>
            <a:chOff x="7347720" y="1533103"/>
            <a:chExt cx="1385800" cy="2349014"/>
          </a:xfrm>
        </p:grpSpPr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06505" y="3120327"/>
              <a:ext cx="1081000" cy="7617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" name="Picture 2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52520" y="2333542"/>
              <a:ext cx="1081000" cy="7617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2" name="Picture 2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47720" y="1533103"/>
              <a:ext cx="1081000" cy="7617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753666" name="Picture 2" descr="http://news.thomasnet.com/green_clean/wp-content/uploads/2013/03/Pumped-Hydro.jpg"/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71" r="6587"/>
          <a:stretch/>
        </p:blipFill>
        <p:spPr bwMode="auto">
          <a:xfrm>
            <a:off x="7502534" y="4442243"/>
            <a:ext cx="1539867" cy="1668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3001545" y="1946648"/>
            <a:ext cx="3381208" cy="3112142"/>
            <a:chOff x="1477545" y="1946648"/>
            <a:chExt cx="3381208" cy="3112142"/>
          </a:xfrm>
        </p:grpSpPr>
        <p:pic>
          <p:nvPicPr>
            <p:cNvPr id="33" name="Picture 2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95673" y="4362301"/>
              <a:ext cx="978714" cy="6964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4" name="Picture 2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0039" y="3135102"/>
              <a:ext cx="978714" cy="6964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5" name="Picture 2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77545" y="1946648"/>
              <a:ext cx="978714" cy="6964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5" name="Group 4"/>
          <p:cNvGrpSpPr/>
          <p:nvPr/>
        </p:nvGrpSpPr>
        <p:grpSpPr>
          <a:xfrm>
            <a:off x="9618130" y="1984978"/>
            <a:ext cx="1226096" cy="3062410"/>
            <a:chOff x="8094130" y="1984978"/>
            <a:chExt cx="1226096" cy="3062410"/>
          </a:xfrm>
        </p:grpSpPr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41147" y="1984978"/>
              <a:ext cx="560051" cy="647137"/>
            </a:xfrm>
            <a:prstGeom prst="rect">
              <a:avLst/>
            </a:prstGeom>
          </p:spPr>
        </p:pic>
        <p:pic>
          <p:nvPicPr>
            <p:cNvPr id="37" name="Picture 36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60175" y="2474621"/>
              <a:ext cx="560051" cy="647137"/>
            </a:xfrm>
            <a:prstGeom prst="rect">
              <a:avLst/>
            </a:prstGeom>
          </p:spPr>
        </p:pic>
        <p:pic>
          <p:nvPicPr>
            <p:cNvPr id="38" name="Picture 37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12485" y="2944850"/>
              <a:ext cx="560051" cy="647137"/>
            </a:xfrm>
            <a:prstGeom prst="rect">
              <a:avLst/>
            </a:prstGeom>
          </p:spPr>
        </p:pic>
        <p:pic>
          <p:nvPicPr>
            <p:cNvPr id="39" name="Picture 38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67004" y="3328988"/>
              <a:ext cx="560051" cy="647137"/>
            </a:xfrm>
            <a:prstGeom prst="rect">
              <a:avLst/>
            </a:prstGeom>
          </p:spPr>
        </p:pic>
        <p:pic>
          <p:nvPicPr>
            <p:cNvPr id="40" name="Picture 39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69969" y="3606341"/>
              <a:ext cx="560051" cy="647137"/>
            </a:xfrm>
            <a:prstGeom prst="rect">
              <a:avLst/>
            </a:prstGeom>
          </p:spPr>
        </p:pic>
        <p:pic>
          <p:nvPicPr>
            <p:cNvPr id="41" name="Picture 40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0317" y="4089347"/>
              <a:ext cx="560051" cy="647137"/>
            </a:xfrm>
            <a:prstGeom prst="rect">
              <a:avLst/>
            </a:prstGeom>
          </p:spPr>
        </p:pic>
        <p:pic>
          <p:nvPicPr>
            <p:cNvPr id="42" name="Picture 41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94130" y="4400251"/>
              <a:ext cx="560051" cy="6471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81215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064" y="3145412"/>
            <a:ext cx="7215187" cy="330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</p:pic>
      <p:sp>
        <p:nvSpPr>
          <p:cNvPr id="369669" name="Rectangle 5" descr="Zig zag"/>
          <p:cNvSpPr>
            <a:spLocks noChangeArrowheads="1"/>
          </p:cNvSpPr>
          <p:nvPr/>
        </p:nvSpPr>
        <p:spPr bwMode="auto">
          <a:xfrm>
            <a:off x="3009250" y="5166298"/>
            <a:ext cx="6578600" cy="787400"/>
          </a:xfrm>
          <a:prstGeom prst="rect">
            <a:avLst/>
          </a:prstGeom>
          <a:pattFill prst="zigZag">
            <a:fgClr>
              <a:srgbClr val="0000EA"/>
            </a:fgClr>
            <a:bgClr>
              <a:srgbClr val="FFFFFF"/>
            </a:bgClr>
          </a:patt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9670" name="Rectangle 6"/>
          <p:cNvSpPr>
            <a:spLocks noChangeArrowheads="1"/>
          </p:cNvSpPr>
          <p:nvPr/>
        </p:nvSpPr>
        <p:spPr bwMode="auto">
          <a:xfrm>
            <a:off x="3010838" y="4672586"/>
            <a:ext cx="6578600" cy="482600"/>
          </a:xfrm>
          <a:prstGeom prst="rect">
            <a:avLst/>
          </a:prstGeom>
          <a:solidFill>
            <a:schemeClr val="folHlink">
              <a:alpha val="85097"/>
            </a:scheme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9671" name="Rectangle 7"/>
          <p:cNvSpPr>
            <a:spLocks noChangeArrowheads="1"/>
          </p:cNvSpPr>
          <p:nvPr/>
        </p:nvSpPr>
        <p:spPr bwMode="auto">
          <a:xfrm>
            <a:off x="3710925" y="4343973"/>
            <a:ext cx="1028700" cy="330200"/>
          </a:xfrm>
          <a:prstGeom prst="rect">
            <a:avLst/>
          </a:prstGeom>
          <a:solidFill>
            <a:schemeClr val="folHlink">
              <a:alpha val="85097"/>
            </a:scheme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9672" name="Rectangle 8"/>
          <p:cNvSpPr>
            <a:spLocks noChangeArrowheads="1"/>
          </p:cNvSpPr>
          <p:nvPr/>
        </p:nvSpPr>
        <p:spPr bwMode="auto">
          <a:xfrm>
            <a:off x="3014013" y="4447161"/>
            <a:ext cx="698500" cy="215900"/>
          </a:xfrm>
          <a:prstGeom prst="rect">
            <a:avLst/>
          </a:prstGeom>
          <a:solidFill>
            <a:srgbClr val="2AA82A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9673" name="Rectangle 9"/>
          <p:cNvSpPr>
            <a:spLocks noChangeArrowheads="1"/>
          </p:cNvSpPr>
          <p:nvPr/>
        </p:nvSpPr>
        <p:spPr bwMode="auto">
          <a:xfrm>
            <a:off x="6049313" y="4345561"/>
            <a:ext cx="876300" cy="330200"/>
          </a:xfrm>
          <a:prstGeom prst="rect">
            <a:avLst/>
          </a:prstGeom>
          <a:solidFill>
            <a:srgbClr val="2AA82A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9674" name="Rectangle 10"/>
          <p:cNvSpPr>
            <a:spLocks noChangeArrowheads="1"/>
          </p:cNvSpPr>
          <p:nvPr/>
        </p:nvSpPr>
        <p:spPr bwMode="auto">
          <a:xfrm>
            <a:off x="3015600" y="4232848"/>
            <a:ext cx="698500" cy="215900"/>
          </a:xfrm>
          <a:prstGeom prst="rect">
            <a:avLst/>
          </a:prstGeom>
          <a:solidFill>
            <a:srgbClr val="0000EA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9675" name="Rectangle 11"/>
          <p:cNvSpPr>
            <a:spLocks noChangeArrowheads="1"/>
          </p:cNvSpPr>
          <p:nvPr/>
        </p:nvSpPr>
        <p:spPr bwMode="auto">
          <a:xfrm>
            <a:off x="3017188" y="4018536"/>
            <a:ext cx="393700" cy="215900"/>
          </a:xfrm>
          <a:prstGeom prst="rect">
            <a:avLst/>
          </a:prstGeom>
          <a:solidFill>
            <a:srgbClr val="0000EA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9676" name="Rectangle 12"/>
          <p:cNvSpPr>
            <a:spLocks noChangeArrowheads="1"/>
          </p:cNvSpPr>
          <p:nvPr/>
        </p:nvSpPr>
        <p:spPr bwMode="auto">
          <a:xfrm>
            <a:off x="3018775" y="3804223"/>
            <a:ext cx="266700" cy="215900"/>
          </a:xfrm>
          <a:prstGeom prst="rect">
            <a:avLst/>
          </a:prstGeom>
          <a:solidFill>
            <a:srgbClr val="33CC33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9677" name="Rectangle 13"/>
          <p:cNvSpPr>
            <a:spLocks noChangeArrowheads="1"/>
          </p:cNvSpPr>
          <p:nvPr/>
        </p:nvSpPr>
        <p:spPr bwMode="auto">
          <a:xfrm>
            <a:off x="3737913" y="4015361"/>
            <a:ext cx="939800" cy="330200"/>
          </a:xfrm>
          <a:prstGeom prst="rect">
            <a:avLst/>
          </a:prstGeom>
          <a:solidFill>
            <a:srgbClr val="2AA82A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9678" name="Rectangle 14"/>
          <p:cNvSpPr>
            <a:spLocks noChangeArrowheads="1"/>
          </p:cNvSpPr>
          <p:nvPr/>
        </p:nvSpPr>
        <p:spPr bwMode="auto">
          <a:xfrm>
            <a:off x="3752200" y="3686748"/>
            <a:ext cx="838200" cy="330200"/>
          </a:xfrm>
          <a:prstGeom prst="rect">
            <a:avLst/>
          </a:prstGeom>
          <a:solidFill>
            <a:srgbClr val="0000EA">
              <a:alpha val="4313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9679" name="Rectangle 15"/>
          <p:cNvSpPr>
            <a:spLocks noChangeArrowheads="1"/>
          </p:cNvSpPr>
          <p:nvPr/>
        </p:nvSpPr>
        <p:spPr bwMode="auto">
          <a:xfrm>
            <a:off x="4261788" y="3485136"/>
            <a:ext cx="292100" cy="203200"/>
          </a:xfrm>
          <a:prstGeom prst="rect">
            <a:avLst/>
          </a:prstGeom>
          <a:solidFill>
            <a:srgbClr val="33CC33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9680" name="Rectangle 16"/>
          <p:cNvSpPr>
            <a:spLocks noChangeArrowheads="1"/>
          </p:cNvSpPr>
          <p:nvPr/>
        </p:nvSpPr>
        <p:spPr bwMode="auto">
          <a:xfrm>
            <a:off x="4895200" y="4016948"/>
            <a:ext cx="850900" cy="330200"/>
          </a:xfrm>
          <a:prstGeom prst="rect">
            <a:avLst/>
          </a:prstGeom>
          <a:solidFill>
            <a:srgbClr val="2AA82A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9681" name="Rectangle 17"/>
          <p:cNvSpPr>
            <a:spLocks noChangeArrowheads="1"/>
          </p:cNvSpPr>
          <p:nvPr/>
        </p:nvSpPr>
        <p:spPr bwMode="auto">
          <a:xfrm>
            <a:off x="4741213" y="4345561"/>
            <a:ext cx="1028700" cy="330200"/>
          </a:xfrm>
          <a:prstGeom prst="rect">
            <a:avLst/>
          </a:prstGeom>
          <a:solidFill>
            <a:schemeClr val="folHlink">
              <a:alpha val="85097"/>
            </a:scheme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9682" name="Rectangle 18"/>
          <p:cNvSpPr>
            <a:spLocks noChangeArrowheads="1"/>
          </p:cNvSpPr>
          <p:nvPr/>
        </p:nvSpPr>
        <p:spPr bwMode="auto">
          <a:xfrm>
            <a:off x="6192188" y="4005836"/>
            <a:ext cx="673100" cy="330200"/>
          </a:xfrm>
          <a:prstGeom prst="rect">
            <a:avLst/>
          </a:prstGeom>
          <a:solidFill>
            <a:srgbClr val="0000EA">
              <a:alpha val="4313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9683" name="Rectangle 19"/>
          <p:cNvSpPr>
            <a:spLocks noChangeArrowheads="1"/>
          </p:cNvSpPr>
          <p:nvPr/>
        </p:nvSpPr>
        <p:spPr bwMode="auto">
          <a:xfrm>
            <a:off x="5076175" y="3689923"/>
            <a:ext cx="571500" cy="330200"/>
          </a:xfrm>
          <a:prstGeom prst="rect">
            <a:avLst/>
          </a:prstGeom>
          <a:solidFill>
            <a:srgbClr val="0000EA">
              <a:alpha val="4313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9685" name="Rectangle 21"/>
          <p:cNvSpPr>
            <a:spLocks noChangeArrowheads="1"/>
          </p:cNvSpPr>
          <p:nvPr/>
        </p:nvSpPr>
        <p:spPr bwMode="auto">
          <a:xfrm>
            <a:off x="5342875" y="3474023"/>
            <a:ext cx="292100" cy="203200"/>
          </a:xfrm>
          <a:prstGeom prst="rect">
            <a:avLst/>
          </a:prstGeom>
          <a:solidFill>
            <a:srgbClr val="33CC33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9686" name="Rectangle 22"/>
          <p:cNvSpPr>
            <a:spLocks noChangeArrowheads="1"/>
          </p:cNvSpPr>
          <p:nvPr/>
        </p:nvSpPr>
        <p:spPr bwMode="auto">
          <a:xfrm>
            <a:off x="6208063" y="3869311"/>
            <a:ext cx="609600" cy="139700"/>
          </a:xfrm>
          <a:prstGeom prst="rect">
            <a:avLst/>
          </a:prstGeom>
          <a:solidFill>
            <a:srgbClr val="33CC33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9687" name="Rectangle 23"/>
          <p:cNvSpPr>
            <a:spLocks noChangeArrowheads="1"/>
          </p:cNvSpPr>
          <p:nvPr/>
        </p:nvSpPr>
        <p:spPr bwMode="auto">
          <a:xfrm>
            <a:off x="7325663" y="4009011"/>
            <a:ext cx="736600" cy="330200"/>
          </a:xfrm>
          <a:prstGeom prst="rect">
            <a:avLst/>
          </a:prstGeom>
          <a:solidFill>
            <a:srgbClr val="0000EA">
              <a:alpha val="4313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9688" name="Rectangle 24"/>
          <p:cNvSpPr>
            <a:spLocks noChangeArrowheads="1"/>
          </p:cNvSpPr>
          <p:nvPr/>
        </p:nvSpPr>
        <p:spPr bwMode="auto">
          <a:xfrm>
            <a:off x="8313088" y="4336036"/>
            <a:ext cx="952500" cy="330200"/>
          </a:xfrm>
          <a:prstGeom prst="rect">
            <a:avLst/>
          </a:prstGeom>
          <a:solidFill>
            <a:srgbClr val="2AA82A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9689" name="Rectangle 25"/>
          <p:cNvSpPr>
            <a:spLocks noChangeArrowheads="1"/>
          </p:cNvSpPr>
          <p:nvPr/>
        </p:nvSpPr>
        <p:spPr bwMode="auto">
          <a:xfrm>
            <a:off x="8368650" y="3985198"/>
            <a:ext cx="800100" cy="330200"/>
          </a:xfrm>
          <a:prstGeom prst="rect">
            <a:avLst/>
          </a:prstGeom>
          <a:solidFill>
            <a:srgbClr val="0000EA">
              <a:alpha val="4313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9692" name="Rectangle 28"/>
          <p:cNvSpPr>
            <a:spLocks noChangeArrowheads="1"/>
          </p:cNvSpPr>
          <p:nvPr/>
        </p:nvSpPr>
        <p:spPr bwMode="auto">
          <a:xfrm>
            <a:off x="8776638" y="3669286"/>
            <a:ext cx="406400" cy="330200"/>
          </a:xfrm>
          <a:prstGeom prst="rect">
            <a:avLst/>
          </a:prstGeom>
          <a:solidFill>
            <a:srgbClr val="0000EA">
              <a:alpha val="4313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9693" name="Rectangle 29"/>
          <p:cNvSpPr>
            <a:spLocks noChangeArrowheads="1"/>
          </p:cNvSpPr>
          <p:nvPr/>
        </p:nvSpPr>
        <p:spPr bwMode="auto">
          <a:xfrm>
            <a:off x="8863950" y="3464498"/>
            <a:ext cx="292100" cy="203200"/>
          </a:xfrm>
          <a:prstGeom prst="rect">
            <a:avLst/>
          </a:prstGeom>
          <a:solidFill>
            <a:srgbClr val="33CC33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9694" name="Rectangle 30"/>
          <p:cNvSpPr>
            <a:spLocks noChangeArrowheads="1"/>
          </p:cNvSpPr>
          <p:nvPr/>
        </p:nvSpPr>
        <p:spPr bwMode="auto">
          <a:xfrm>
            <a:off x="7222475" y="4350323"/>
            <a:ext cx="952500" cy="330200"/>
          </a:xfrm>
          <a:prstGeom prst="rect">
            <a:avLst/>
          </a:prstGeom>
          <a:solidFill>
            <a:srgbClr val="2AA82A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9695" name="Rectangle 31"/>
          <p:cNvSpPr>
            <a:spLocks noChangeArrowheads="1"/>
          </p:cNvSpPr>
          <p:nvPr/>
        </p:nvSpPr>
        <p:spPr bwMode="auto">
          <a:xfrm>
            <a:off x="8516288" y="3701036"/>
            <a:ext cx="190500" cy="279400"/>
          </a:xfrm>
          <a:prstGeom prst="rect">
            <a:avLst/>
          </a:prstGeom>
          <a:solidFill>
            <a:srgbClr val="FF33CC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9697" name="Freeform 33"/>
          <p:cNvSpPr>
            <a:spLocks/>
          </p:cNvSpPr>
          <p:nvPr/>
        </p:nvSpPr>
        <p:spPr bwMode="auto">
          <a:xfrm>
            <a:off x="4922188" y="3675637"/>
            <a:ext cx="152400" cy="338137"/>
          </a:xfrm>
          <a:custGeom>
            <a:avLst/>
            <a:gdLst>
              <a:gd name="T0" fmla="*/ 0 w 96"/>
              <a:gd name="T1" fmla="*/ 2147483647 h 213"/>
              <a:gd name="T2" fmla="*/ 2147483647 w 96"/>
              <a:gd name="T3" fmla="*/ 2147483647 h 213"/>
              <a:gd name="T4" fmla="*/ 2147483647 w 96"/>
              <a:gd name="T5" fmla="*/ 0 h 213"/>
              <a:gd name="T6" fmla="*/ 2147483647 w 96"/>
              <a:gd name="T7" fmla="*/ 2147483647 h 213"/>
              <a:gd name="T8" fmla="*/ 2147483647 w 96"/>
              <a:gd name="T9" fmla="*/ 2147483647 h 213"/>
              <a:gd name="T10" fmla="*/ 0 w 96"/>
              <a:gd name="T11" fmla="*/ 2147483647 h 21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6"/>
              <a:gd name="T19" fmla="*/ 0 h 213"/>
              <a:gd name="T20" fmla="*/ 96 w 96"/>
              <a:gd name="T21" fmla="*/ 213 h 21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6" h="213">
                <a:moveTo>
                  <a:pt x="0" y="210"/>
                </a:moveTo>
                <a:lnTo>
                  <a:pt x="27" y="21"/>
                </a:lnTo>
                <a:lnTo>
                  <a:pt x="60" y="0"/>
                </a:lnTo>
                <a:lnTo>
                  <a:pt x="93" y="12"/>
                </a:lnTo>
                <a:lnTo>
                  <a:pt x="96" y="213"/>
                </a:lnTo>
                <a:lnTo>
                  <a:pt x="0" y="210"/>
                </a:lnTo>
                <a:close/>
              </a:path>
            </a:pathLst>
          </a:custGeom>
          <a:solidFill>
            <a:srgbClr val="FF33CC"/>
          </a:solidFill>
          <a:ln w="12700">
            <a:solidFill>
              <a:schemeClr val="tx1"/>
            </a:solidFill>
            <a:round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9698" name="Freeform 34"/>
          <p:cNvSpPr>
            <a:spLocks/>
          </p:cNvSpPr>
          <p:nvPr/>
        </p:nvSpPr>
        <p:spPr bwMode="auto">
          <a:xfrm>
            <a:off x="6922439" y="4518598"/>
            <a:ext cx="300037" cy="152400"/>
          </a:xfrm>
          <a:custGeom>
            <a:avLst/>
            <a:gdLst>
              <a:gd name="T0" fmla="*/ 0 w 189"/>
              <a:gd name="T1" fmla="*/ 0 h 96"/>
              <a:gd name="T2" fmla="*/ 2147483647 w 189"/>
              <a:gd name="T3" fmla="*/ 2147483647 h 96"/>
              <a:gd name="T4" fmla="*/ 2147483647 w 189"/>
              <a:gd name="T5" fmla="*/ 2147483647 h 96"/>
              <a:gd name="T6" fmla="*/ 2147483647 w 189"/>
              <a:gd name="T7" fmla="*/ 2147483647 h 96"/>
              <a:gd name="T8" fmla="*/ 2147483647 w 189"/>
              <a:gd name="T9" fmla="*/ 2147483647 h 96"/>
              <a:gd name="T10" fmla="*/ 2147483647 w 189"/>
              <a:gd name="T11" fmla="*/ 2147483647 h 96"/>
              <a:gd name="T12" fmla="*/ 2147483647 w 189"/>
              <a:gd name="T13" fmla="*/ 2147483647 h 96"/>
              <a:gd name="T14" fmla="*/ 2147483647 w 189"/>
              <a:gd name="T15" fmla="*/ 2147483647 h 96"/>
              <a:gd name="T16" fmla="*/ 0 w 189"/>
              <a:gd name="T17" fmla="*/ 2147483647 h 96"/>
              <a:gd name="T18" fmla="*/ 0 w 189"/>
              <a:gd name="T19" fmla="*/ 0 h 9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9"/>
              <a:gd name="T31" fmla="*/ 0 h 96"/>
              <a:gd name="T32" fmla="*/ 189 w 189"/>
              <a:gd name="T33" fmla="*/ 96 h 9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9" h="96">
                <a:moveTo>
                  <a:pt x="0" y="0"/>
                </a:moveTo>
                <a:lnTo>
                  <a:pt x="24" y="3"/>
                </a:lnTo>
                <a:lnTo>
                  <a:pt x="54" y="63"/>
                </a:lnTo>
                <a:lnTo>
                  <a:pt x="90" y="33"/>
                </a:lnTo>
                <a:lnTo>
                  <a:pt x="117" y="63"/>
                </a:lnTo>
                <a:lnTo>
                  <a:pt x="150" y="21"/>
                </a:lnTo>
                <a:lnTo>
                  <a:pt x="189" y="15"/>
                </a:lnTo>
                <a:lnTo>
                  <a:pt x="189" y="96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FF33CC"/>
          </a:solidFill>
          <a:ln w="12700">
            <a:solidFill>
              <a:schemeClr val="tx1"/>
            </a:solidFill>
            <a:round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9699" name="Freeform 35"/>
          <p:cNvSpPr>
            <a:spLocks/>
          </p:cNvSpPr>
          <p:nvPr/>
        </p:nvSpPr>
        <p:spPr bwMode="auto">
          <a:xfrm>
            <a:off x="5765150" y="4451924"/>
            <a:ext cx="280988" cy="219075"/>
          </a:xfrm>
          <a:custGeom>
            <a:avLst/>
            <a:gdLst>
              <a:gd name="T0" fmla="*/ 0 w 177"/>
              <a:gd name="T1" fmla="*/ 0 h 138"/>
              <a:gd name="T2" fmla="*/ 2147483647 w 177"/>
              <a:gd name="T3" fmla="*/ 2147483647 h 138"/>
              <a:gd name="T4" fmla="*/ 2147483647 w 177"/>
              <a:gd name="T5" fmla="*/ 2147483647 h 138"/>
              <a:gd name="T6" fmla="*/ 2147483647 w 177"/>
              <a:gd name="T7" fmla="*/ 2147483647 h 138"/>
              <a:gd name="T8" fmla="*/ 2147483647 w 177"/>
              <a:gd name="T9" fmla="*/ 2147483647 h 138"/>
              <a:gd name="T10" fmla="*/ 2147483647 w 177"/>
              <a:gd name="T11" fmla="*/ 2147483647 h 138"/>
              <a:gd name="T12" fmla="*/ 2147483647 w 177"/>
              <a:gd name="T13" fmla="*/ 2147483647 h 138"/>
              <a:gd name="T14" fmla="*/ 2147483647 w 177"/>
              <a:gd name="T15" fmla="*/ 2147483647 h 138"/>
              <a:gd name="T16" fmla="*/ 2147483647 w 177"/>
              <a:gd name="T17" fmla="*/ 2147483647 h 138"/>
              <a:gd name="T18" fmla="*/ 0 w 177"/>
              <a:gd name="T19" fmla="*/ 0 h 13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77"/>
              <a:gd name="T31" fmla="*/ 0 h 138"/>
              <a:gd name="T32" fmla="*/ 177 w 177"/>
              <a:gd name="T33" fmla="*/ 138 h 13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77" h="138">
                <a:moveTo>
                  <a:pt x="0" y="0"/>
                </a:moveTo>
                <a:lnTo>
                  <a:pt x="21" y="54"/>
                </a:lnTo>
                <a:lnTo>
                  <a:pt x="54" y="27"/>
                </a:lnTo>
                <a:lnTo>
                  <a:pt x="84" y="24"/>
                </a:lnTo>
                <a:lnTo>
                  <a:pt x="114" y="105"/>
                </a:lnTo>
                <a:lnTo>
                  <a:pt x="144" y="123"/>
                </a:lnTo>
                <a:lnTo>
                  <a:pt x="174" y="84"/>
                </a:lnTo>
                <a:lnTo>
                  <a:pt x="177" y="138"/>
                </a:lnTo>
                <a:lnTo>
                  <a:pt x="3" y="135"/>
                </a:lnTo>
                <a:lnTo>
                  <a:pt x="0" y="0"/>
                </a:lnTo>
                <a:close/>
              </a:path>
            </a:pathLst>
          </a:custGeom>
          <a:solidFill>
            <a:srgbClr val="FF33CC"/>
          </a:solidFill>
          <a:ln w="12700">
            <a:solidFill>
              <a:schemeClr val="tx1"/>
            </a:solidFill>
            <a:round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Rectangle 2"/>
          <p:cNvSpPr txBox="1">
            <a:spLocks noChangeArrowheads="1"/>
          </p:cNvSpPr>
          <p:nvPr/>
        </p:nvSpPr>
        <p:spPr>
          <a:xfrm>
            <a:off x="2218343" y="305385"/>
            <a:ext cx="8030892" cy="751840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Times New Roman" pitchFamily="18" charset="0"/>
                <a:cs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Times New Roman" pitchFamily="18" charset="0"/>
                <a:cs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Times New Roman" pitchFamily="18" charset="0"/>
                <a:cs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Times New Roman" pitchFamily="18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Times New Roman" pitchFamily="18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Times New Roman" pitchFamily="18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Times New Roman" pitchFamily="18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algn="l"/>
            <a:r>
              <a:rPr lang="en-US" i="0" dirty="0">
                <a:solidFill>
                  <a:schemeClr val="tx2"/>
                </a:solidFill>
              </a:rPr>
              <a:t>The timing of decisions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3009250" y="1307068"/>
            <a:ext cx="5970588" cy="1931432"/>
            <a:chOff x="1485250" y="1116568"/>
            <a:chExt cx="5970588" cy="1931432"/>
          </a:xfrm>
        </p:grpSpPr>
        <p:cxnSp>
          <p:nvCxnSpPr>
            <p:cNvPr id="5" name="Straight Connector 4"/>
            <p:cNvCxnSpPr/>
            <p:nvPr/>
          </p:nvCxnSpPr>
          <p:spPr bwMode="auto">
            <a:xfrm>
              <a:off x="1485250" y="1257300"/>
              <a:ext cx="0" cy="179070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" name="Straight Arrow Connector 6"/>
            <p:cNvCxnSpPr/>
            <p:nvPr/>
          </p:nvCxnSpPr>
          <p:spPr bwMode="auto">
            <a:xfrm>
              <a:off x="1485250" y="1485900"/>
              <a:ext cx="5970588" cy="0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8" name="TextBox 7"/>
            <p:cNvSpPr txBox="1"/>
            <p:nvPr/>
          </p:nvSpPr>
          <p:spPr>
            <a:xfrm>
              <a:off x="2107575" y="1116568"/>
              <a:ext cx="48577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i="0" dirty="0"/>
                <a:t>Day-ahead planning (</a:t>
              </a:r>
              <a:r>
                <a:rPr lang="en-US" dirty="0"/>
                <a:t>slow</a:t>
              </a:r>
              <a:r>
                <a:rPr lang="en-US" i="0" dirty="0"/>
                <a:t> – predominantly steam)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5458113" y="2030968"/>
            <a:ext cx="4604804" cy="1194832"/>
            <a:chOff x="3934113" y="1840468"/>
            <a:chExt cx="4604804" cy="1194832"/>
          </a:xfrm>
        </p:grpSpPr>
        <p:cxnSp>
          <p:nvCxnSpPr>
            <p:cNvPr id="41" name="Straight Arrow Connector 40"/>
            <p:cNvCxnSpPr/>
            <p:nvPr/>
          </p:nvCxnSpPr>
          <p:spPr bwMode="auto">
            <a:xfrm>
              <a:off x="3934113" y="2209800"/>
              <a:ext cx="734075" cy="0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42" name="TextBox 41"/>
            <p:cNvSpPr txBox="1"/>
            <p:nvPr/>
          </p:nvSpPr>
          <p:spPr>
            <a:xfrm>
              <a:off x="3936375" y="1840468"/>
              <a:ext cx="46025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i="0" dirty="0"/>
                <a:t>Intermediate-term planning (</a:t>
              </a:r>
              <a:r>
                <a:rPr lang="en-US" dirty="0"/>
                <a:t>fast</a:t>
              </a:r>
              <a:r>
                <a:rPr lang="en-US" i="0" dirty="0"/>
                <a:t> – gas turbines)</a:t>
              </a:r>
            </a:p>
          </p:txBody>
        </p:sp>
        <p:cxnSp>
          <p:nvCxnSpPr>
            <p:cNvPr id="44" name="Straight Connector 43"/>
            <p:cNvCxnSpPr>
              <a:stCxn id="42" idx="1"/>
            </p:cNvCxnSpPr>
            <p:nvPr/>
          </p:nvCxnSpPr>
          <p:spPr bwMode="auto">
            <a:xfrm flipH="1">
              <a:off x="3934113" y="2025134"/>
              <a:ext cx="2262" cy="1010166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1" name="Group 20"/>
          <p:cNvGrpSpPr/>
          <p:nvPr/>
        </p:nvGrpSpPr>
        <p:grpSpPr>
          <a:xfrm>
            <a:off x="5815976" y="2500868"/>
            <a:ext cx="3897221" cy="724932"/>
            <a:chOff x="4914275" y="2310368"/>
            <a:chExt cx="3897221" cy="724932"/>
          </a:xfrm>
        </p:grpSpPr>
        <p:cxnSp>
          <p:nvCxnSpPr>
            <p:cNvPr id="50" name="Straight Connector 49"/>
            <p:cNvCxnSpPr/>
            <p:nvPr/>
          </p:nvCxnSpPr>
          <p:spPr bwMode="auto">
            <a:xfrm>
              <a:off x="4937413" y="2530217"/>
              <a:ext cx="0" cy="505083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2" name="Straight Arrow Connector 51"/>
            <p:cNvCxnSpPr/>
            <p:nvPr/>
          </p:nvCxnSpPr>
          <p:spPr bwMode="auto">
            <a:xfrm>
              <a:off x="4955200" y="2692400"/>
              <a:ext cx="169231" cy="0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54" name="TextBox 53"/>
            <p:cNvSpPr txBox="1"/>
            <p:nvPr/>
          </p:nvSpPr>
          <p:spPr>
            <a:xfrm>
              <a:off x="4914275" y="2310368"/>
              <a:ext cx="3897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i="0" dirty="0"/>
                <a:t>Real-time planning (economic dispatch)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70794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timing of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092" y="1008324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The day-ahead unit commitment problem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064" y="3145412"/>
            <a:ext cx="7215187" cy="330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</p:pic>
      <p:sp>
        <p:nvSpPr>
          <p:cNvPr id="5" name="Rectangle 5" descr="Zig zag"/>
          <p:cNvSpPr>
            <a:spLocks noChangeArrowheads="1"/>
          </p:cNvSpPr>
          <p:nvPr/>
        </p:nvSpPr>
        <p:spPr bwMode="auto">
          <a:xfrm>
            <a:off x="3009250" y="5166298"/>
            <a:ext cx="6578600" cy="787400"/>
          </a:xfrm>
          <a:prstGeom prst="rect">
            <a:avLst/>
          </a:prstGeom>
          <a:pattFill prst="zigZag">
            <a:fgClr>
              <a:srgbClr val="0000EA"/>
            </a:fgClr>
            <a:bgClr>
              <a:srgbClr val="FFFFFF"/>
            </a:bgClr>
          </a:patt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010838" y="4672586"/>
            <a:ext cx="6578600" cy="482600"/>
          </a:xfrm>
          <a:prstGeom prst="rect">
            <a:avLst/>
          </a:prstGeom>
          <a:solidFill>
            <a:schemeClr val="folHlink">
              <a:alpha val="85097"/>
            </a:scheme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3710925" y="4343973"/>
            <a:ext cx="1028700" cy="330200"/>
          </a:xfrm>
          <a:prstGeom prst="rect">
            <a:avLst/>
          </a:prstGeom>
          <a:solidFill>
            <a:schemeClr val="folHlink">
              <a:alpha val="85097"/>
            </a:scheme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3014013" y="4447161"/>
            <a:ext cx="698500" cy="215900"/>
          </a:xfrm>
          <a:prstGeom prst="rect">
            <a:avLst/>
          </a:prstGeom>
          <a:solidFill>
            <a:srgbClr val="2AA82A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6049313" y="4345561"/>
            <a:ext cx="876300" cy="330200"/>
          </a:xfrm>
          <a:prstGeom prst="rect">
            <a:avLst/>
          </a:prstGeom>
          <a:solidFill>
            <a:srgbClr val="2AA82A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015600" y="4232848"/>
            <a:ext cx="698500" cy="215900"/>
          </a:xfrm>
          <a:prstGeom prst="rect">
            <a:avLst/>
          </a:prstGeom>
          <a:solidFill>
            <a:srgbClr val="0000EA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3017188" y="4018536"/>
            <a:ext cx="393700" cy="215900"/>
          </a:xfrm>
          <a:prstGeom prst="rect">
            <a:avLst/>
          </a:prstGeom>
          <a:solidFill>
            <a:srgbClr val="0000EA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3018775" y="3804223"/>
            <a:ext cx="266700" cy="215900"/>
          </a:xfrm>
          <a:prstGeom prst="rect">
            <a:avLst/>
          </a:prstGeom>
          <a:solidFill>
            <a:srgbClr val="33CC33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3737913" y="4015361"/>
            <a:ext cx="939800" cy="330200"/>
          </a:xfrm>
          <a:prstGeom prst="rect">
            <a:avLst/>
          </a:prstGeom>
          <a:solidFill>
            <a:srgbClr val="2AA82A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3752200" y="3686748"/>
            <a:ext cx="838200" cy="330200"/>
          </a:xfrm>
          <a:prstGeom prst="rect">
            <a:avLst/>
          </a:prstGeom>
          <a:solidFill>
            <a:srgbClr val="0000EA">
              <a:alpha val="4313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Rectangle 15"/>
          <p:cNvSpPr>
            <a:spLocks noChangeArrowheads="1"/>
          </p:cNvSpPr>
          <p:nvPr/>
        </p:nvSpPr>
        <p:spPr bwMode="auto">
          <a:xfrm>
            <a:off x="4261788" y="3485136"/>
            <a:ext cx="292100" cy="203200"/>
          </a:xfrm>
          <a:prstGeom prst="rect">
            <a:avLst/>
          </a:prstGeom>
          <a:solidFill>
            <a:srgbClr val="33CC33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Rectangle 16"/>
          <p:cNvSpPr>
            <a:spLocks noChangeArrowheads="1"/>
          </p:cNvSpPr>
          <p:nvPr/>
        </p:nvSpPr>
        <p:spPr bwMode="auto">
          <a:xfrm>
            <a:off x="4895200" y="4016948"/>
            <a:ext cx="850900" cy="330200"/>
          </a:xfrm>
          <a:prstGeom prst="rect">
            <a:avLst/>
          </a:prstGeom>
          <a:solidFill>
            <a:srgbClr val="2AA82A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4741213" y="4345561"/>
            <a:ext cx="1028700" cy="330200"/>
          </a:xfrm>
          <a:prstGeom prst="rect">
            <a:avLst/>
          </a:prstGeom>
          <a:solidFill>
            <a:schemeClr val="folHlink">
              <a:alpha val="85097"/>
            </a:scheme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Rectangle 18"/>
          <p:cNvSpPr>
            <a:spLocks noChangeArrowheads="1"/>
          </p:cNvSpPr>
          <p:nvPr/>
        </p:nvSpPr>
        <p:spPr bwMode="auto">
          <a:xfrm>
            <a:off x="6192188" y="4005836"/>
            <a:ext cx="673100" cy="330200"/>
          </a:xfrm>
          <a:prstGeom prst="rect">
            <a:avLst/>
          </a:prstGeom>
          <a:solidFill>
            <a:srgbClr val="0000EA">
              <a:alpha val="4313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Rectangle 19"/>
          <p:cNvSpPr>
            <a:spLocks noChangeArrowheads="1"/>
          </p:cNvSpPr>
          <p:nvPr/>
        </p:nvSpPr>
        <p:spPr bwMode="auto">
          <a:xfrm>
            <a:off x="5076175" y="3689923"/>
            <a:ext cx="571500" cy="330200"/>
          </a:xfrm>
          <a:prstGeom prst="rect">
            <a:avLst/>
          </a:prstGeom>
          <a:solidFill>
            <a:srgbClr val="0000EA">
              <a:alpha val="4313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Rectangle 21"/>
          <p:cNvSpPr>
            <a:spLocks noChangeArrowheads="1"/>
          </p:cNvSpPr>
          <p:nvPr/>
        </p:nvSpPr>
        <p:spPr bwMode="auto">
          <a:xfrm>
            <a:off x="5342875" y="3474023"/>
            <a:ext cx="292100" cy="203200"/>
          </a:xfrm>
          <a:prstGeom prst="rect">
            <a:avLst/>
          </a:prstGeom>
          <a:solidFill>
            <a:srgbClr val="33CC33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Rectangle 22"/>
          <p:cNvSpPr>
            <a:spLocks noChangeArrowheads="1"/>
          </p:cNvSpPr>
          <p:nvPr/>
        </p:nvSpPr>
        <p:spPr bwMode="auto">
          <a:xfrm>
            <a:off x="6208063" y="3869311"/>
            <a:ext cx="609600" cy="139700"/>
          </a:xfrm>
          <a:prstGeom prst="rect">
            <a:avLst/>
          </a:prstGeom>
          <a:solidFill>
            <a:srgbClr val="33CC33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Rectangle 23"/>
          <p:cNvSpPr>
            <a:spLocks noChangeArrowheads="1"/>
          </p:cNvSpPr>
          <p:nvPr/>
        </p:nvSpPr>
        <p:spPr bwMode="auto">
          <a:xfrm>
            <a:off x="7325663" y="4009011"/>
            <a:ext cx="736600" cy="330200"/>
          </a:xfrm>
          <a:prstGeom prst="rect">
            <a:avLst/>
          </a:prstGeom>
          <a:solidFill>
            <a:srgbClr val="0000EA">
              <a:alpha val="4313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Rectangle 24"/>
          <p:cNvSpPr>
            <a:spLocks noChangeArrowheads="1"/>
          </p:cNvSpPr>
          <p:nvPr/>
        </p:nvSpPr>
        <p:spPr bwMode="auto">
          <a:xfrm>
            <a:off x="8313088" y="4336036"/>
            <a:ext cx="952500" cy="330200"/>
          </a:xfrm>
          <a:prstGeom prst="rect">
            <a:avLst/>
          </a:prstGeom>
          <a:solidFill>
            <a:srgbClr val="2AA82A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Rectangle 25"/>
          <p:cNvSpPr>
            <a:spLocks noChangeArrowheads="1"/>
          </p:cNvSpPr>
          <p:nvPr/>
        </p:nvSpPr>
        <p:spPr bwMode="auto">
          <a:xfrm>
            <a:off x="8368650" y="3985198"/>
            <a:ext cx="800100" cy="330200"/>
          </a:xfrm>
          <a:prstGeom prst="rect">
            <a:avLst/>
          </a:prstGeom>
          <a:solidFill>
            <a:srgbClr val="0000EA">
              <a:alpha val="4313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Rectangle 28"/>
          <p:cNvSpPr>
            <a:spLocks noChangeArrowheads="1"/>
          </p:cNvSpPr>
          <p:nvPr/>
        </p:nvSpPr>
        <p:spPr bwMode="auto">
          <a:xfrm>
            <a:off x="8776638" y="3669286"/>
            <a:ext cx="406400" cy="330200"/>
          </a:xfrm>
          <a:prstGeom prst="rect">
            <a:avLst/>
          </a:prstGeom>
          <a:solidFill>
            <a:srgbClr val="0000EA">
              <a:alpha val="4313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Rectangle 29"/>
          <p:cNvSpPr>
            <a:spLocks noChangeArrowheads="1"/>
          </p:cNvSpPr>
          <p:nvPr/>
        </p:nvSpPr>
        <p:spPr bwMode="auto">
          <a:xfrm>
            <a:off x="8863950" y="3464498"/>
            <a:ext cx="292100" cy="203200"/>
          </a:xfrm>
          <a:prstGeom prst="rect">
            <a:avLst/>
          </a:prstGeom>
          <a:solidFill>
            <a:srgbClr val="33CC33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Rectangle 30"/>
          <p:cNvSpPr>
            <a:spLocks noChangeArrowheads="1"/>
          </p:cNvSpPr>
          <p:nvPr/>
        </p:nvSpPr>
        <p:spPr bwMode="auto">
          <a:xfrm>
            <a:off x="7222475" y="4350323"/>
            <a:ext cx="952500" cy="330200"/>
          </a:xfrm>
          <a:prstGeom prst="rect">
            <a:avLst/>
          </a:prstGeom>
          <a:solidFill>
            <a:srgbClr val="2AA82A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Rectangle 31"/>
          <p:cNvSpPr>
            <a:spLocks noChangeArrowheads="1"/>
          </p:cNvSpPr>
          <p:nvPr/>
        </p:nvSpPr>
        <p:spPr bwMode="auto">
          <a:xfrm>
            <a:off x="8516288" y="3701036"/>
            <a:ext cx="190500" cy="279400"/>
          </a:xfrm>
          <a:prstGeom prst="rect">
            <a:avLst/>
          </a:prstGeom>
          <a:solidFill>
            <a:srgbClr val="FF33CC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Freeform 33"/>
          <p:cNvSpPr>
            <a:spLocks/>
          </p:cNvSpPr>
          <p:nvPr/>
        </p:nvSpPr>
        <p:spPr bwMode="auto">
          <a:xfrm>
            <a:off x="4922188" y="3675637"/>
            <a:ext cx="152400" cy="338137"/>
          </a:xfrm>
          <a:custGeom>
            <a:avLst/>
            <a:gdLst>
              <a:gd name="T0" fmla="*/ 0 w 96"/>
              <a:gd name="T1" fmla="*/ 2147483647 h 213"/>
              <a:gd name="T2" fmla="*/ 2147483647 w 96"/>
              <a:gd name="T3" fmla="*/ 2147483647 h 213"/>
              <a:gd name="T4" fmla="*/ 2147483647 w 96"/>
              <a:gd name="T5" fmla="*/ 0 h 213"/>
              <a:gd name="T6" fmla="*/ 2147483647 w 96"/>
              <a:gd name="T7" fmla="*/ 2147483647 h 213"/>
              <a:gd name="T8" fmla="*/ 2147483647 w 96"/>
              <a:gd name="T9" fmla="*/ 2147483647 h 213"/>
              <a:gd name="T10" fmla="*/ 0 w 96"/>
              <a:gd name="T11" fmla="*/ 2147483647 h 21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6"/>
              <a:gd name="T19" fmla="*/ 0 h 213"/>
              <a:gd name="T20" fmla="*/ 96 w 96"/>
              <a:gd name="T21" fmla="*/ 213 h 21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6" h="213">
                <a:moveTo>
                  <a:pt x="0" y="210"/>
                </a:moveTo>
                <a:lnTo>
                  <a:pt x="27" y="21"/>
                </a:lnTo>
                <a:lnTo>
                  <a:pt x="60" y="0"/>
                </a:lnTo>
                <a:lnTo>
                  <a:pt x="93" y="12"/>
                </a:lnTo>
                <a:lnTo>
                  <a:pt x="96" y="213"/>
                </a:lnTo>
                <a:lnTo>
                  <a:pt x="0" y="210"/>
                </a:lnTo>
                <a:close/>
              </a:path>
            </a:pathLst>
          </a:custGeom>
          <a:solidFill>
            <a:srgbClr val="FF33CC"/>
          </a:solidFill>
          <a:ln w="12700">
            <a:solidFill>
              <a:schemeClr val="tx1"/>
            </a:solidFill>
            <a:round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Freeform 34"/>
          <p:cNvSpPr>
            <a:spLocks/>
          </p:cNvSpPr>
          <p:nvPr/>
        </p:nvSpPr>
        <p:spPr bwMode="auto">
          <a:xfrm>
            <a:off x="6922439" y="4518598"/>
            <a:ext cx="300037" cy="152400"/>
          </a:xfrm>
          <a:custGeom>
            <a:avLst/>
            <a:gdLst>
              <a:gd name="T0" fmla="*/ 0 w 189"/>
              <a:gd name="T1" fmla="*/ 0 h 96"/>
              <a:gd name="T2" fmla="*/ 2147483647 w 189"/>
              <a:gd name="T3" fmla="*/ 2147483647 h 96"/>
              <a:gd name="T4" fmla="*/ 2147483647 w 189"/>
              <a:gd name="T5" fmla="*/ 2147483647 h 96"/>
              <a:gd name="T6" fmla="*/ 2147483647 w 189"/>
              <a:gd name="T7" fmla="*/ 2147483647 h 96"/>
              <a:gd name="T8" fmla="*/ 2147483647 w 189"/>
              <a:gd name="T9" fmla="*/ 2147483647 h 96"/>
              <a:gd name="T10" fmla="*/ 2147483647 w 189"/>
              <a:gd name="T11" fmla="*/ 2147483647 h 96"/>
              <a:gd name="T12" fmla="*/ 2147483647 w 189"/>
              <a:gd name="T13" fmla="*/ 2147483647 h 96"/>
              <a:gd name="T14" fmla="*/ 2147483647 w 189"/>
              <a:gd name="T15" fmla="*/ 2147483647 h 96"/>
              <a:gd name="T16" fmla="*/ 0 w 189"/>
              <a:gd name="T17" fmla="*/ 2147483647 h 96"/>
              <a:gd name="T18" fmla="*/ 0 w 189"/>
              <a:gd name="T19" fmla="*/ 0 h 9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9"/>
              <a:gd name="T31" fmla="*/ 0 h 96"/>
              <a:gd name="T32" fmla="*/ 189 w 189"/>
              <a:gd name="T33" fmla="*/ 96 h 9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9" h="96">
                <a:moveTo>
                  <a:pt x="0" y="0"/>
                </a:moveTo>
                <a:lnTo>
                  <a:pt x="24" y="3"/>
                </a:lnTo>
                <a:lnTo>
                  <a:pt x="54" y="63"/>
                </a:lnTo>
                <a:lnTo>
                  <a:pt x="90" y="33"/>
                </a:lnTo>
                <a:lnTo>
                  <a:pt x="117" y="63"/>
                </a:lnTo>
                <a:lnTo>
                  <a:pt x="150" y="21"/>
                </a:lnTo>
                <a:lnTo>
                  <a:pt x="189" y="15"/>
                </a:lnTo>
                <a:lnTo>
                  <a:pt x="189" y="96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FF33CC"/>
          </a:solidFill>
          <a:ln w="12700">
            <a:solidFill>
              <a:schemeClr val="tx1"/>
            </a:solidFill>
            <a:round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Freeform 35"/>
          <p:cNvSpPr>
            <a:spLocks/>
          </p:cNvSpPr>
          <p:nvPr/>
        </p:nvSpPr>
        <p:spPr bwMode="auto">
          <a:xfrm>
            <a:off x="5765150" y="4451924"/>
            <a:ext cx="280988" cy="219075"/>
          </a:xfrm>
          <a:custGeom>
            <a:avLst/>
            <a:gdLst>
              <a:gd name="T0" fmla="*/ 0 w 177"/>
              <a:gd name="T1" fmla="*/ 0 h 138"/>
              <a:gd name="T2" fmla="*/ 2147483647 w 177"/>
              <a:gd name="T3" fmla="*/ 2147483647 h 138"/>
              <a:gd name="T4" fmla="*/ 2147483647 w 177"/>
              <a:gd name="T5" fmla="*/ 2147483647 h 138"/>
              <a:gd name="T6" fmla="*/ 2147483647 w 177"/>
              <a:gd name="T7" fmla="*/ 2147483647 h 138"/>
              <a:gd name="T8" fmla="*/ 2147483647 w 177"/>
              <a:gd name="T9" fmla="*/ 2147483647 h 138"/>
              <a:gd name="T10" fmla="*/ 2147483647 w 177"/>
              <a:gd name="T11" fmla="*/ 2147483647 h 138"/>
              <a:gd name="T12" fmla="*/ 2147483647 w 177"/>
              <a:gd name="T13" fmla="*/ 2147483647 h 138"/>
              <a:gd name="T14" fmla="*/ 2147483647 w 177"/>
              <a:gd name="T15" fmla="*/ 2147483647 h 138"/>
              <a:gd name="T16" fmla="*/ 2147483647 w 177"/>
              <a:gd name="T17" fmla="*/ 2147483647 h 138"/>
              <a:gd name="T18" fmla="*/ 0 w 177"/>
              <a:gd name="T19" fmla="*/ 0 h 13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77"/>
              <a:gd name="T31" fmla="*/ 0 h 138"/>
              <a:gd name="T32" fmla="*/ 177 w 177"/>
              <a:gd name="T33" fmla="*/ 138 h 13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77" h="138">
                <a:moveTo>
                  <a:pt x="0" y="0"/>
                </a:moveTo>
                <a:lnTo>
                  <a:pt x="21" y="54"/>
                </a:lnTo>
                <a:lnTo>
                  <a:pt x="54" y="27"/>
                </a:lnTo>
                <a:lnTo>
                  <a:pt x="84" y="24"/>
                </a:lnTo>
                <a:lnTo>
                  <a:pt x="114" y="105"/>
                </a:lnTo>
                <a:lnTo>
                  <a:pt x="144" y="123"/>
                </a:lnTo>
                <a:lnTo>
                  <a:pt x="174" y="84"/>
                </a:lnTo>
                <a:lnTo>
                  <a:pt x="177" y="138"/>
                </a:lnTo>
                <a:lnTo>
                  <a:pt x="3" y="135"/>
                </a:lnTo>
                <a:lnTo>
                  <a:pt x="0" y="0"/>
                </a:lnTo>
                <a:close/>
              </a:path>
            </a:pathLst>
          </a:custGeom>
          <a:solidFill>
            <a:srgbClr val="FF33CC"/>
          </a:solidFill>
          <a:ln w="12700">
            <a:solidFill>
              <a:schemeClr val="tx1"/>
            </a:solidFill>
            <a:round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2" name="Group 31"/>
          <p:cNvGrpSpPr/>
          <p:nvPr/>
        </p:nvGrpSpPr>
        <p:grpSpPr>
          <a:xfrm>
            <a:off x="3009251" y="1891397"/>
            <a:ext cx="5175987" cy="1361625"/>
            <a:chOff x="1485250" y="1561615"/>
            <a:chExt cx="5175987" cy="1691405"/>
          </a:xfrm>
        </p:grpSpPr>
        <p:cxnSp>
          <p:nvCxnSpPr>
            <p:cNvPr id="33" name="Straight Connector 32"/>
            <p:cNvCxnSpPr/>
            <p:nvPr/>
          </p:nvCxnSpPr>
          <p:spPr bwMode="auto">
            <a:xfrm flipH="1">
              <a:off x="1485250" y="1628745"/>
              <a:ext cx="1030" cy="1609755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" name="Straight Connector 33"/>
            <p:cNvCxnSpPr/>
            <p:nvPr/>
          </p:nvCxnSpPr>
          <p:spPr bwMode="auto">
            <a:xfrm>
              <a:off x="3202258" y="1611962"/>
              <a:ext cx="2904" cy="1633799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" name="Straight Connector 34"/>
            <p:cNvCxnSpPr/>
            <p:nvPr/>
          </p:nvCxnSpPr>
          <p:spPr bwMode="auto">
            <a:xfrm flipH="1">
              <a:off x="4932328" y="1611962"/>
              <a:ext cx="12931" cy="1633799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" name="Straight Connector 35"/>
            <p:cNvCxnSpPr/>
            <p:nvPr/>
          </p:nvCxnSpPr>
          <p:spPr bwMode="auto">
            <a:xfrm flipH="1">
              <a:off x="6652240" y="1561615"/>
              <a:ext cx="8997" cy="1691405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7" name="Group 36"/>
          <p:cNvGrpSpPr/>
          <p:nvPr/>
        </p:nvGrpSpPr>
        <p:grpSpPr>
          <a:xfrm>
            <a:off x="3843808" y="2314122"/>
            <a:ext cx="5166990" cy="931644"/>
            <a:chOff x="2319808" y="1469574"/>
            <a:chExt cx="5166990" cy="1805220"/>
          </a:xfrm>
        </p:grpSpPr>
        <p:cxnSp>
          <p:nvCxnSpPr>
            <p:cNvPr id="38" name="Straight Connector 37"/>
            <p:cNvCxnSpPr/>
            <p:nvPr/>
          </p:nvCxnSpPr>
          <p:spPr bwMode="auto">
            <a:xfrm>
              <a:off x="4025206" y="1476834"/>
              <a:ext cx="0" cy="179070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39" name="Group 38"/>
            <p:cNvGrpSpPr/>
            <p:nvPr/>
          </p:nvGrpSpPr>
          <p:grpSpPr>
            <a:xfrm>
              <a:off x="2319808" y="1469574"/>
              <a:ext cx="5166990" cy="1805220"/>
              <a:chOff x="2305294" y="1469574"/>
              <a:chExt cx="5166990" cy="1805220"/>
            </a:xfrm>
          </p:grpSpPr>
          <p:cxnSp>
            <p:nvCxnSpPr>
              <p:cNvPr id="40" name="Straight Connector 39"/>
              <p:cNvCxnSpPr/>
              <p:nvPr/>
            </p:nvCxnSpPr>
            <p:spPr bwMode="auto">
              <a:xfrm>
                <a:off x="2305294" y="1469574"/>
                <a:ext cx="0" cy="179070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1" name="Straight Connector 40"/>
              <p:cNvCxnSpPr/>
              <p:nvPr/>
            </p:nvCxnSpPr>
            <p:spPr bwMode="auto">
              <a:xfrm>
                <a:off x="5752372" y="1476834"/>
                <a:ext cx="0" cy="179070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2" name="Straight Connector 41"/>
              <p:cNvCxnSpPr/>
              <p:nvPr/>
            </p:nvCxnSpPr>
            <p:spPr bwMode="auto">
              <a:xfrm>
                <a:off x="7472284" y="1484094"/>
                <a:ext cx="0" cy="179070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grpSp>
        <p:nvGrpSpPr>
          <p:cNvPr id="43" name="Group 42"/>
          <p:cNvGrpSpPr/>
          <p:nvPr/>
        </p:nvGrpSpPr>
        <p:grpSpPr>
          <a:xfrm>
            <a:off x="3843808" y="2292588"/>
            <a:ext cx="3451874" cy="232898"/>
            <a:chOff x="2319808" y="2321616"/>
            <a:chExt cx="3451874" cy="232898"/>
          </a:xfrm>
        </p:grpSpPr>
        <p:cxnSp>
          <p:nvCxnSpPr>
            <p:cNvPr id="44" name="Straight Arrow Connector 43"/>
            <p:cNvCxnSpPr/>
            <p:nvPr/>
          </p:nvCxnSpPr>
          <p:spPr bwMode="auto">
            <a:xfrm>
              <a:off x="2319808" y="2445642"/>
              <a:ext cx="897405" cy="0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45" name="Rectangle 44"/>
            <p:cNvSpPr/>
            <p:nvPr/>
          </p:nvSpPr>
          <p:spPr>
            <a:xfrm>
              <a:off x="3205162" y="2321616"/>
              <a:ext cx="1731963" cy="232898"/>
            </a:xfrm>
            <a:prstGeom prst="rect">
              <a:avLst/>
            </a:prstGeom>
            <a:pattFill prst="wave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3175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4937125" y="2321616"/>
              <a:ext cx="834557" cy="22586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5549206" y="2285334"/>
            <a:ext cx="3480902" cy="232898"/>
            <a:chOff x="2290780" y="2321616"/>
            <a:chExt cx="3480902" cy="232898"/>
          </a:xfrm>
        </p:grpSpPr>
        <p:cxnSp>
          <p:nvCxnSpPr>
            <p:cNvPr id="48" name="Straight Arrow Connector 47"/>
            <p:cNvCxnSpPr/>
            <p:nvPr/>
          </p:nvCxnSpPr>
          <p:spPr bwMode="auto">
            <a:xfrm>
              <a:off x="2290780" y="2445642"/>
              <a:ext cx="926433" cy="0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49" name="Rectangle 48"/>
            <p:cNvSpPr/>
            <p:nvPr/>
          </p:nvSpPr>
          <p:spPr>
            <a:xfrm>
              <a:off x="3205162" y="2321616"/>
              <a:ext cx="1731963" cy="232898"/>
            </a:xfrm>
            <a:prstGeom prst="rect">
              <a:avLst/>
            </a:prstGeom>
            <a:pattFill prst="wave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3175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4937125" y="2321616"/>
              <a:ext cx="834557" cy="22586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7283632" y="2278080"/>
            <a:ext cx="3451874" cy="232898"/>
            <a:chOff x="2319808" y="2321616"/>
            <a:chExt cx="3451874" cy="232898"/>
          </a:xfrm>
        </p:grpSpPr>
        <p:cxnSp>
          <p:nvCxnSpPr>
            <p:cNvPr id="52" name="Straight Arrow Connector 51"/>
            <p:cNvCxnSpPr/>
            <p:nvPr/>
          </p:nvCxnSpPr>
          <p:spPr bwMode="auto">
            <a:xfrm>
              <a:off x="2319808" y="2445642"/>
              <a:ext cx="897405" cy="0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53" name="Rectangle 52"/>
            <p:cNvSpPr/>
            <p:nvPr/>
          </p:nvSpPr>
          <p:spPr>
            <a:xfrm>
              <a:off x="3205162" y="2321616"/>
              <a:ext cx="1731963" cy="232898"/>
            </a:xfrm>
            <a:prstGeom prst="rect">
              <a:avLst/>
            </a:prstGeom>
            <a:pattFill prst="wave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3175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4937125" y="2321616"/>
              <a:ext cx="834557" cy="22586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2488388" y="1582050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i="0" dirty="0"/>
              <a:t>Midnight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90877" y="191468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i="0" dirty="0"/>
              <a:t>Noon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21650" y="1572330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i="0" dirty="0"/>
              <a:t>Midnight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81935" y="1562611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i="0" dirty="0"/>
              <a:t>Midnight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61149" y="1525871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i="0" dirty="0"/>
              <a:t>Midnight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83601" y="194549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i="0" dirty="0"/>
              <a:t>Noon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30378" y="194928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i="0" dirty="0"/>
              <a:t>Noon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50127" y="1966581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i="0" dirty="0"/>
              <a:t>Noon</a:t>
            </a:r>
          </a:p>
        </p:txBody>
      </p:sp>
    </p:spTree>
    <p:extLst>
      <p:ext uri="{BB962C8B-B14F-4D97-AF65-F5344CB8AC3E}">
        <p14:creationId xmlns:p14="http://schemas.microsoft.com/office/powerpoint/2010/main" val="1605416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timing of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092" y="1008322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Intermediate-term unit commitment problem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064" y="3276038"/>
            <a:ext cx="7215187" cy="330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</p:pic>
      <p:sp>
        <p:nvSpPr>
          <p:cNvPr id="5" name="Rectangle 5" descr="Zig zag"/>
          <p:cNvSpPr>
            <a:spLocks noChangeArrowheads="1"/>
          </p:cNvSpPr>
          <p:nvPr/>
        </p:nvSpPr>
        <p:spPr bwMode="auto">
          <a:xfrm>
            <a:off x="3009250" y="5296924"/>
            <a:ext cx="6578600" cy="787400"/>
          </a:xfrm>
          <a:prstGeom prst="rect">
            <a:avLst/>
          </a:prstGeom>
          <a:pattFill prst="zigZag">
            <a:fgClr>
              <a:srgbClr val="0000EA"/>
            </a:fgClr>
            <a:bgClr>
              <a:srgbClr val="FFFFFF"/>
            </a:bgClr>
          </a:patt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010838" y="4803212"/>
            <a:ext cx="6578600" cy="482600"/>
          </a:xfrm>
          <a:prstGeom prst="rect">
            <a:avLst/>
          </a:prstGeom>
          <a:solidFill>
            <a:schemeClr val="folHlink">
              <a:alpha val="85097"/>
            </a:scheme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3710925" y="4474599"/>
            <a:ext cx="1028700" cy="330200"/>
          </a:xfrm>
          <a:prstGeom prst="rect">
            <a:avLst/>
          </a:prstGeom>
          <a:solidFill>
            <a:schemeClr val="folHlink">
              <a:alpha val="85097"/>
            </a:scheme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3014013" y="4577787"/>
            <a:ext cx="698500" cy="215900"/>
          </a:xfrm>
          <a:prstGeom prst="rect">
            <a:avLst/>
          </a:prstGeom>
          <a:solidFill>
            <a:srgbClr val="2AA82A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6049313" y="4476187"/>
            <a:ext cx="876300" cy="330200"/>
          </a:xfrm>
          <a:prstGeom prst="rect">
            <a:avLst/>
          </a:prstGeom>
          <a:solidFill>
            <a:srgbClr val="2AA82A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015600" y="4363474"/>
            <a:ext cx="698500" cy="215900"/>
          </a:xfrm>
          <a:prstGeom prst="rect">
            <a:avLst/>
          </a:prstGeom>
          <a:solidFill>
            <a:srgbClr val="0000EA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3017188" y="4149162"/>
            <a:ext cx="393700" cy="215900"/>
          </a:xfrm>
          <a:prstGeom prst="rect">
            <a:avLst/>
          </a:prstGeom>
          <a:solidFill>
            <a:srgbClr val="0000EA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3018775" y="3934849"/>
            <a:ext cx="266700" cy="215900"/>
          </a:xfrm>
          <a:prstGeom prst="rect">
            <a:avLst/>
          </a:prstGeom>
          <a:solidFill>
            <a:srgbClr val="33CC33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3737913" y="4145987"/>
            <a:ext cx="939800" cy="330200"/>
          </a:xfrm>
          <a:prstGeom prst="rect">
            <a:avLst/>
          </a:prstGeom>
          <a:solidFill>
            <a:srgbClr val="2AA82A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3752200" y="3817374"/>
            <a:ext cx="838200" cy="330200"/>
          </a:xfrm>
          <a:prstGeom prst="rect">
            <a:avLst/>
          </a:prstGeom>
          <a:solidFill>
            <a:srgbClr val="0000EA">
              <a:alpha val="4313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Rectangle 15"/>
          <p:cNvSpPr>
            <a:spLocks noChangeArrowheads="1"/>
          </p:cNvSpPr>
          <p:nvPr/>
        </p:nvSpPr>
        <p:spPr bwMode="auto">
          <a:xfrm>
            <a:off x="4261788" y="3615762"/>
            <a:ext cx="292100" cy="203200"/>
          </a:xfrm>
          <a:prstGeom prst="rect">
            <a:avLst/>
          </a:prstGeom>
          <a:solidFill>
            <a:srgbClr val="33CC33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Rectangle 16"/>
          <p:cNvSpPr>
            <a:spLocks noChangeArrowheads="1"/>
          </p:cNvSpPr>
          <p:nvPr/>
        </p:nvSpPr>
        <p:spPr bwMode="auto">
          <a:xfrm>
            <a:off x="4895200" y="4147574"/>
            <a:ext cx="850900" cy="330200"/>
          </a:xfrm>
          <a:prstGeom prst="rect">
            <a:avLst/>
          </a:prstGeom>
          <a:solidFill>
            <a:srgbClr val="2AA82A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4741213" y="4476187"/>
            <a:ext cx="1028700" cy="330200"/>
          </a:xfrm>
          <a:prstGeom prst="rect">
            <a:avLst/>
          </a:prstGeom>
          <a:solidFill>
            <a:schemeClr val="folHlink">
              <a:alpha val="85097"/>
            </a:scheme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Rectangle 18"/>
          <p:cNvSpPr>
            <a:spLocks noChangeArrowheads="1"/>
          </p:cNvSpPr>
          <p:nvPr/>
        </p:nvSpPr>
        <p:spPr bwMode="auto">
          <a:xfrm>
            <a:off x="6192188" y="4136462"/>
            <a:ext cx="673100" cy="330200"/>
          </a:xfrm>
          <a:prstGeom prst="rect">
            <a:avLst/>
          </a:prstGeom>
          <a:solidFill>
            <a:srgbClr val="0000EA">
              <a:alpha val="4313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Rectangle 19"/>
          <p:cNvSpPr>
            <a:spLocks noChangeArrowheads="1"/>
          </p:cNvSpPr>
          <p:nvPr/>
        </p:nvSpPr>
        <p:spPr bwMode="auto">
          <a:xfrm>
            <a:off x="5076175" y="3820549"/>
            <a:ext cx="571500" cy="330200"/>
          </a:xfrm>
          <a:prstGeom prst="rect">
            <a:avLst/>
          </a:prstGeom>
          <a:solidFill>
            <a:srgbClr val="0000EA">
              <a:alpha val="4313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Rectangle 21"/>
          <p:cNvSpPr>
            <a:spLocks noChangeArrowheads="1"/>
          </p:cNvSpPr>
          <p:nvPr/>
        </p:nvSpPr>
        <p:spPr bwMode="auto">
          <a:xfrm>
            <a:off x="5342875" y="3604649"/>
            <a:ext cx="292100" cy="203200"/>
          </a:xfrm>
          <a:prstGeom prst="rect">
            <a:avLst/>
          </a:prstGeom>
          <a:solidFill>
            <a:srgbClr val="33CC33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Rectangle 22"/>
          <p:cNvSpPr>
            <a:spLocks noChangeArrowheads="1"/>
          </p:cNvSpPr>
          <p:nvPr/>
        </p:nvSpPr>
        <p:spPr bwMode="auto">
          <a:xfrm>
            <a:off x="6208063" y="3999937"/>
            <a:ext cx="609600" cy="139700"/>
          </a:xfrm>
          <a:prstGeom prst="rect">
            <a:avLst/>
          </a:prstGeom>
          <a:solidFill>
            <a:srgbClr val="33CC33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Rectangle 23"/>
          <p:cNvSpPr>
            <a:spLocks noChangeArrowheads="1"/>
          </p:cNvSpPr>
          <p:nvPr/>
        </p:nvSpPr>
        <p:spPr bwMode="auto">
          <a:xfrm>
            <a:off x="7325663" y="4139637"/>
            <a:ext cx="736600" cy="330200"/>
          </a:xfrm>
          <a:prstGeom prst="rect">
            <a:avLst/>
          </a:prstGeom>
          <a:solidFill>
            <a:srgbClr val="0000EA">
              <a:alpha val="4313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Rectangle 24"/>
          <p:cNvSpPr>
            <a:spLocks noChangeArrowheads="1"/>
          </p:cNvSpPr>
          <p:nvPr/>
        </p:nvSpPr>
        <p:spPr bwMode="auto">
          <a:xfrm>
            <a:off x="8313088" y="4466662"/>
            <a:ext cx="952500" cy="330200"/>
          </a:xfrm>
          <a:prstGeom prst="rect">
            <a:avLst/>
          </a:prstGeom>
          <a:solidFill>
            <a:srgbClr val="2AA82A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Rectangle 25"/>
          <p:cNvSpPr>
            <a:spLocks noChangeArrowheads="1"/>
          </p:cNvSpPr>
          <p:nvPr/>
        </p:nvSpPr>
        <p:spPr bwMode="auto">
          <a:xfrm>
            <a:off x="8368650" y="4115824"/>
            <a:ext cx="800100" cy="330200"/>
          </a:xfrm>
          <a:prstGeom prst="rect">
            <a:avLst/>
          </a:prstGeom>
          <a:solidFill>
            <a:srgbClr val="0000EA">
              <a:alpha val="4313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Rectangle 28"/>
          <p:cNvSpPr>
            <a:spLocks noChangeArrowheads="1"/>
          </p:cNvSpPr>
          <p:nvPr/>
        </p:nvSpPr>
        <p:spPr bwMode="auto">
          <a:xfrm>
            <a:off x="8776638" y="3799912"/>
            <a:ext cx="406400" cy="330200"/>
          </a:xfrm>
          <a:prstGeom prst="rect">
            <a:avLst/>
          </a:prstGeom>
          <a:solidFill>
            <a:srgbClr val="0000EA">
              <a:alpha val="4313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Rectangle 29"/>
          <p:cNvSpPr>
            <a:spLocks noChangeArrowheads="1"/>
          </p:cNvSpPr>
          <p:nvPr/>
        </p:nvSpPr>
        <p:spPr bwMode="auto">
          <a:xfrm>
            <a:off x="8863950" y="3595124"/>
            <a:ext cx="292100" cy="203200"/>
          </a:xfrm>
          <a:prstGeom prst="rect">
            <a:avLst/>
          </a:prstGeom>
          <a:solidFill>
            <a:srgbClr val="33CC33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Rectangle 30"/>
          <p:cNvSpPr>
            <a:spLocks noChangeArrowheads="1"/>
          </p:cNvSpPr>
          <p:nvPr/>
        </p:nvSpPr>
        <p:spPr bwMode="auto">
          <a:xfrm>
            <a:off x="7222475" y="4480949"/>
            <a:ext cx="952500" cy="330200"/>
          </a:xfrm>
          <a:prstGeom prst="rect">
            <a:avLst/>
          </a:prstGeom>
          <a:solidFill>
            <a:srgbClr val="2AA82A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Rectangle 31"/>
          <p:cNvSpPr>
            <a:spLocks noChangeArrowheads="1"/>
          </p:cNvSpPr>
          <p:nvPr/>
        </p:nvSpPr>
        <p:spPr bwMode="auto">
          <a:xfrm>
            <a:off x="8516288" y="3831662"/>
            <a:ext cx="190500" cy="279400"/>
          </a:xfrm>
          <a:prstGeom prst="rect">
            <a:avLst/>
          </a:prstGeom>
          <a:solidFill>
            <a:srgbClr val="FF33CC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Freeform 33"/>
          <p:cNvSpPr>
            <a:spLocks/>
          </p:cNvSpPr>
          <p:nvPr/>
        </p:nvSpPr>
        <p:spPr bwMode="auto">
          <a:xfrm>
            <a:off x="4922188" y="3806263"/>
            <a:ext cx="152400" cy="338137"/>
          </a:xfrm>
          <a:custGeom>
            <a:avLst/>
            <a:gdLst>
              <a:gd name="T0" fmla="*/ 0 w 96"/>
              <a:gd name="T1" fmla="*/ 2147483647 h 213"/>
              <a:gd name="T2" fmla="*/ 2147483647 w 96"/>
              <a:gd name="T3" fmla="*/ 2147483647 h 213"/>
              <a:gd name="T4" fmla="*/ 2147483647 w 96"/>
              <a:gd name="T5" fmla="*/ 0 h 213"/>
              <a:gd name="T6" fmla="*/ 2147483647 w 96"/>
              <a:gd name="T7" fmla="*/ 2147483647 h 213"/>
              <a:gd name="T8" fmla="*/ 2147483647 w 96"/>
              <a:gd name="T9" fmla="*/ 2147483647 h 213"/>
              <a:gd name="T10" fmla="*/ 0 w 96"/>
              <a:gd name="T11" fmla="*/ 2147483647 h 21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6"/>
              <a:gd name="T19" fmla="*/ 0 h 213"/>
              <a:gd name="T20" fmla="*/ 96 w 96"/>
              <a:gd name="T21" fmla="*/ 213 h 21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6" h="213">
                <a:moveTo>
                  <a:pt x="0" y="210"/>
                </a:moveTo>
                <a:lnTo>
                  <a:pt x="27" y="21"/>
                </a:lnTo>
                <a:lnTo>
                  <a:pt x="60" y="0"/>
                </a:lnTo>
                <a:lnTo>
                  <a:pt x="93" y="12"/>
                </a:lnTo>
                <a:lnTo>
                  <a:pt x="96" y="213"/>
                </a:lnTo>
                <a:lnTo>
                  <a:pt x="0" y="210"/>
                </a:lnTo>
                <a:close/>
              </a:path>
            </a:pathLst>
          </a:custGeom>
          <a:solidFill>
            <a:srgbClr val="FF33CC"/>
          </a:solidFill>
          <a:ln w="12700">
            <a:solidFill>
              <a:schemeClr val="tx1"/>
            </a:solidFill>
            <a:round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Freeform 34"/>
          <p:cNvSpPr>
            <a:spLocks/>
          </p:cNvSpPr>
          <p:nvPr/>
        </p:nvSpPr>
        <p:spPr bwMode="auto">
          <a:xfrm>
            <a:off x="6922439" y="4649224"/>
            <a:ext cx="300037" cy="152400"/>
          </a:xfrm>
          <a:custGeom>
            <a:avLst/>
            <a:gdLst>
              <a:gd name="T0" fmla="*/ 0 w 189"/>
              <a:gd name="T1" fmla="*/ 0 h 96"/>
              <a:gd name="T2" fmla="*/ 2147483647 w 189"/>
              <a:gd name="T3" fmla="*/ 2147483647 h 96"/>
              <a:gd name="T4" fmla="*/ 2147483647 w 189"/>
              <a:gd name="T5" fmla="*/ 2147483647 h 96"/>
              <a:gd name="T6" fmla="*/ 2147483647 w 189"/>
              <a:gd name="T7" fmla="*/ 2147483647 h 96"/>
              <a:gd name="T8" fmla="*/ 2147483647 w 189"/>
              <a:gd name="T9" fmla="*/ 2147483647 h 96"/>
              <a:gd name="T10" fmla="*/ 2147483647 w 189"/>
              <a:gd name="T11" fmla="*/ 2147483647 h 96"/>
              <a:gd name="T12" fmla="*/ 2147483647 w 189"/>
              <a:gd name="T13" fmla="*/ 2147483647 h 96"/>
              <a:gd name="T14" fmla="*/ 2147483647 w 189"/>
              <a:gd name="T15" fmla="*/ 2147483647 h 96"/>
              <a:gd name="T16" fmla="*/ 0 w 189"/>
              <a:gd name="T17" fmla="*/ 2147483647 h 96"/>
              <a:gd name="T18" fmla="*/ 0 w 189"/>
              <a:gd name="T19" fmla="*/ 0 h 9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9"/>
              <a:gd name="T31" fmla="*/ 0 h 96"/>
              <a:gd name="T32" fmla="*/ 189 w 189"/>
              <a:gd name="T33" fmla="*/ 96 h 9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9" h="96">
                <a:moveTo>
                  <a:pt x="0" y="0"/>
                </a:moveTo>
                <a:lnTo>
                  <a:pt x="24" y="3"/>
                </a:lnTo>
                <a:lnTo>
                  <a:pt x="54" y="63"/>
                </a:lnTo>
                <a:lnTo>
                  <a:pt x="90" y="33"/>
                </a:lnTo>
                <a:lnTo>
                  <a:pt x="117" y="63"/>
                </a:lnTo>
                <a:lnTo>
                  <a:pt x="150" y="21"/>
                </a:lnTo>
                <a:lnTo>
                  <a:pt x="189" y="15"/>
                </a:lnTo>
                <a:lnTo>
                  <a:pt x="189" y="96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FF33CC"/>
          </a:solidFill>
          <a:ln w="12700">
            <a:solidFill>
              <a:schemeClr val="tx1"/>
            </a:solidFill>
            <a:round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Freeform 35"/>
          <p:cNvSpPr>
            <a:spLocks/>
          </p:cNvSpPr>
          <p:nvPr/>
        </p:nvSpPr>
        <p:spPr bwMode="auto">
          <a:xfrm>
            <a:off x="5765150" y="4582550"/>
            <a:ext cx="280988" cy="219075"/>
          </a:xfrm>
          <a:custGeom>
            <a:avLst/>
            <a:gdLst>
              <a:gd name="T0" fmla="*/ 0 w 177"/>
              <a:gd name="T1" fmla="*/ 0 h 138"/>
              <a:gd name="T2" fmla="*/ 2147483647 w 177"/>
              <a:gd name="T3" fmla="*/ 2147483647 h 138"/>
              <a:gd name="T4" fmla="*/ 2147483647 w 177"/>
              <a:gd name="T5" fmla="*/ 2147483647 h 138"/>
              <a:gd name="T6" fmla="*/ 2147483647 w 177"/>
              <a:gd name="T7" fmla="*/ 2147483647 h 138"/>
              <a:gd name="T8" fmla="*/ 2147483647 w 177"/>
              <a:gd name="T9" fmla="*/ 2147483647 h 138"/>
              <a:gd name="T10" fmla="*/ 2147483647 w 177"/>
              <a:gd name="T11" fmla="*/ 2147483647 h 138"/>
              <a:gd name="T12" fmla="*/ 2147483647 w 177"/>
              <a:gd name="T13" fmla="*/ 2147483647 h 138"/>
              <a:gd name="T14" fmla="*/ 2147483647 w 177"/>
              <a:gd name="T15" fmla="*/ 2147483647 h 138"/>
              <a:gd name="T16" fmla="*/ 2147483647 w 177"/>
              <a:gd name="T17" fmla="*/ 2147483647 h 138"/>
              <a:gd name="T18" fmla="*/ 0 w 177"/>
              <a:gd name="T19" fmla="*/ 0 h 13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77"/>
              <a:gd name="T31" fmla="*/ 0 h 138"/>
              <a:gd name="T32" fmla="*/ 177 w 177"/>
              <a:gd name="T33" fmla="*/ 138 h 13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77" h="138">
                <a:moveTo>
                  <a:pt x="0" y="0"/>
                </a:moveTo>
                <a:lnTo>
                  <a:pt x="21" y="54"/>
                </a:lnTo>
                <a:lnTo>
                  <a:pt x="54" y="27"/>
                </a:lnTo>
                <a:lnTo>
                  <a:pt x="84" y="24"/>
                </a:lnTo>
                <a:lnTo>
                  <a:pt x="114" y="105"/>
                </a:lnTo>
                <a:lnTo>
                  <a:pt x="144" y="123"/>
                </a:lnTo>
                <a:lnTo>
                  <a:pt x="174" y="84"/>
                </a:lnTo>
                <a:lnTo>
                  <a:pt x="177" y="138"/>
                </a:lnTo>
                <a:lnTo>
                  <a:pt x="3" y="135"/>
                </a:lnTo>
                <a:lnTo>
                  <a:pt x="0" y="0"/>
                </a:lnTo>
                <a:close/>
              </a:path>
            </a:pathLst>
          </a:custGeom>
          <a:solidFill>
            <a:srgbClr val="FF33CC"/>
          </a:solidFill>
          <a:ln w="12700">
            <a:solidFill>
              <a:schemeClr val="tx1"/>
            </a:solidFill>
            <a:round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7" name="Group 46"/>
          <p:cNvGrpSpPr/>
          <p:nvPr/>
        </p:nvGrpSpPr>
        <p:grpSpPr>
          <a:xfrm>
            <a:off x="3007789" y="2075546"/>
            <a:ext cx="1031051" cy="1293353"/>
            <a:chOff x="1483788" y="2075545"/>
            <a:chExt cx="1031051" cy="1293353"/>
          </a:xfrm>
        </p:grpSpPr>
        <p:cxnSp>
          <p:nvCxnSpPr>
            <p:cNvPr id="40" name="Straight Connector 39"/>
            <p:cNvCxnSpPr/>
            <p:nvPr/>
          </p:nvCxnSpPr>
          <p:spPr bwMode="auto">
            <a:xfrm>
              <a:off x="1788582" y="2444748"/>
              <a:ext cx="0" cy="92415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4" name="TextBox 63"/>
            <p:cNvSpPr txBox="1"/>
            <p:nvPr/>
          </p:nvSpPr>
          <p:spPr>
            <a:xfrm>
              <a:off x="1483788" y="2075545"/>
              <a:ext cx="10310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2000" i="0" dirty="0"/>
                <a:t>1:15 pm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5262396" y="2068292"/>
            <a:ext cx="1031051" cy="1293353"/>
            <a:chOff x="7044118" y="2068291"/>
            <a:chExt cx="1031051" cy="1293353"/>
          </a:xfrm>
        </p:grpSpPr>
        <p:cxnSp>
          <p:nvCxnSpPr>
            <p:cNvPr id="58" name="Straight Connector 57"/>
            <p:cNvCxnSpPr/>
            <p:nvPr/>
          </p:nvCxnSpPr>
          <p:spPr bwMode="auto">
            <a:xfrm>
              <a:off x="7363426" y="2437494"/>
              <a:ext cx="0" cy="92415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5" name="TextBox 64"/>
            <p:cNvSpPr txBox="1"/>
            <p:nvPr/>
          </p:nvSpPr>
          <p:spPr>
            <a:xfrm>
              <a:off x="7044118" y="2068291"/>
              <a:ext cx="10310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2000" i="0" dirty="0"/>
                <a:t>1:45 pm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4231269" y="2517322"/>
            <a:ext cx="639919" cy="857933"/>
            <a:chOff x="3450104" y="2517321"/>
            <a:chExt cx="639919" cy="857933"/>
          </a:xfrm>
        </p:grpSpPr>
        <p:cxnSp>
          <p:nvCxnSpPr>
            <p:cNvPr id="62" name="Straight Connector 61"/>
            <p:cNvCxnSpPr/>
            <p:nvPr/>
          </p:nvCxnSpPr>
          <p:spPr bwMode="auto">
            <a:xfrm>
              <a:off x="3769412" y="2913179"/>
              <a:ext cx="0" cy="462075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8" name="TextBox 67"/>
            <p:cNvSpPr txBox="1"/>
            <p:nvPr/>
          </p:nvSpPr>
          <p:spPr>
            <a:xfrm>
              <a:off x="3450104" y="2517321"/>
              <a:ext cx="63991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2000" i="0" dirty="0"/>
                <a:t>1:30</a:t>
              </a: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7521865" y="2063936"/>
            <a:ext cx="1031051" cy="1293353"/>
            <a:chOff x="7044118" y="2068291"/>
            <a:chExt cx="1031051" cy="1293353"/>
          </a:xfrm>
        </p:grpSpPr>
        <p:cxnSp>
          <p:nvCxnSpPr>
            <p:cNvPr id="76" name="Straight Connector 75"/>
            <p:cNvCxnSpPr/>
            <p:nvPr/>
          </p:nvCxnSpPr>
          <p:spPr bwMode="auto">
            <a:xfrm>
              <a:off x="7363426" y="2437494"/>
              <a:ext cx="0" cy="92415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7" name="TextBox 76"/>
            <p:cNvSpPr txBox="1"/>
            <p:nvPr/>
          </p:nvSpPr>
          <p:spPr>
            <a:xfrm>
              <a:off x="7044118" y="2068291"/>
              <a:ext cx="10310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2000" i="0" dirty="0"/>
                <a:t>2:15 pm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2041053" y="1559194"/>
            <a:ext cx="1031051" cy="1812763"/>
            <a:chOff x="981084" y="1559193"/>
            <a:chExt cx="1031051" cy="1812763"/>
          </a:xfrm>
        </p:grpSpPr>
        <p:cxnSp>
          <p:nvCxnSpPr>
            <p:cNvPr id="33" name="Straight Connector 32"/>
            <p:cNvCxnSpPr/>
            <p:nvPr/>
          </p:nvCxnSpPr>
          <p:spPr bwMode="auto">
            <a:xfrm>
              <a:off x="1485250" y="1930397"/>
              <a:ext cx="0" cy="1441559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7" name="TextBox 66"/>
            <p:cNvSpPr txBox="1"/>
            <p:nvPr/>
          </p:nvSpPr>
          <p:spPr>
            <a:xfrm>
              <a:off x="981084" y="1559193"/>
              <a:ext cx="10310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2000" i="0" dirty="0"/>
                <a:t>1:00 pm</a:t>
              </a: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6205965" y="1547818"/>
            <a:ext cx="1031051" cy="1812763"/>
            <a:chOff x="981084" y="1559193"/>
            <a:chExt cx="1031051" cy="1812763"/>
          </a:xfrm>
        </p:grpSpPr>
        <p:cxnSp>
          <p:nvCxnSpPr>
            <p:cNvPr id="70" name="Straight Connector 69"/>
            <p:cNvCxnSpPr/>
            <p:nvPr/>
          </p:nvCxnSpPr>
          <p:spPr bwMode="auto">
            <a:xfrm>
              <a:off x="1485250" y="1930397"/>
              <a:ext cx="0" cy="1441559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1" name="TextBox 70"/>
            <p:cNvSpPr txBox="1"/>
            <p:nvPr/>
          </p:nvSpPr>
          <p:spPr>
            <a:xfrm>
              <a:off x="981084" y="1559193"/>
              <a:ext cx="10310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2000" i="0" dirty="0"/>
                <a:t>2:00 pm</a:t>
              </a:r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9415517" y="1550090"/>
            <a:ext cx="1031051" cy="1812763"/>
            <a:chOff x="981084" y="1559193"/>
            <a:chExt cx="1031051" cy="1812763"/>
          </a:xfrm>
        </p:grpSpPr>
        <p:cxnSp>
          <p:nvCxnSpPr>
            <p:cNvPr id="73" name="Straight Connector 72"/>
            <p:cNvCxnSpPr/>
            <p:nvPr/>
          </p:nvCxnSpPr>
          <p:spPr bwMode="auto">
            <a:xfrm>
              <a:off x="1485250" y="1930397"/>
              <a:ext cx="0" cy="1441559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4" name="TextBox 73"/>
            <p:cNvSpPr txBox="1"/>
            <p:nvPr/>
          </p:nvSpPr>
          <p:spPr>
            <a:xfrm>
              <a:off x="981084" y="1559193"/>
              <a:ext cx="10310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2000" i="0" dirty="0"/>
                <a:t>3:00 pm</a:t>
              </a:r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8656921" y="2093504"/>
            <a:ext cx="1031051" cy="1293353"/>
            <a:chOff x="7044118" y="2068291"/>
            <a:chExt cx="1031051" cy="1293353"/>
          </a:xfrm>
        </p:grpSpPr>
        <p:cxnSp>
          <p:nvCxnSpPr>
            <p:cNvPr id="81" name="Straight Connector 80"/>
            <p:cNvCxnSpPr/>
            <p:nvPr/>
          </p:nvCxnSpPr>
          <p:spPr bwMode="auto">
            <a:xfrm>
              <a:off x="7363426" y="2437494"/>
              <a:ext cx="0" cy="92415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2" name="TextBox 81"/>
            <p:cNvSpPr txBox="1"/>
            <p:nvPr/>
          </p:nvSpPr>
          <p:spPr>
            <a:xfrm>
              <a:off x="7044118" y="2068291"/>
              <a:ext cx="10310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2000" i="0" dirty="0"/>
                <a:t>2:30 pm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3312583" y="3014158"/>
            <a:ext cx="7133985" cy="225869"/>
            <a:chOff x="1891897" y="2321616"/>
            <a:chExt cx="7133985" cy="225869"/>
          </a:xfrm>
        </p:grpSpPr>
        <p:cxnSp>
          <p:nvCxnSpPr>
            <p:cNvPr id="61" name="Straight Arrow Connector 60"/>
            <p:cNvCxnSpPr/>
            <p:nvPr/>
          </p:nvCxnSpPr>
          <p:spPr bwMode="auto">
            <a:xfrm>
              <a:off x="1891897" y="2445642"/>
              <a:ext cx="1241306" cy="0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63" name="Rectangle 62"/>
            <p:cNvSpPr/>
            <p:nvPr/>
          </p:nvSpPr>
          <p:spPr>
            <a:xfrm>
              <a:off x="3133203" y="2321616"/>
              <a:ext cx="2167602" cy="225869"/>
            </a:xfrm>
            <a:prstGeom prst="rect">
              <a:avLst/>
            </a:prstGeom>
            <a:pattFill prst="wave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3175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5305620" y="2321616"/>
              <a:ext cx="3720262" cy="22586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99599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timing of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092" y="1002019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Intermediate-term unit commitment problem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064" y="3276038"/>
            <a:ext cx="7215187" cy="330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</p:pic>
      <p:sp>
        <p:nvSpPr>
          <p:cNvPr id="5" name="Rectangle 5" descr="Zig zag"/>
          <p:cNvSpPr>
            <a:spLocks noChangeArrowheads="1"/>
          </p:cNvSpPr>
          <p:nvPr/>
        </p:nvSpPr>
        <p:spPr bwMode="auto">
          <a:xfrm>
            <a:off x="3009250" y="5296924"/>
            <a:ext cx="6578600" cy="787400"/>
          </a:xfrm>
          <a:prstGeom prst="rect">
            <a:avLst/>
          </a:prstGeom>
          <a:pattFill prst="zigZag">
            <a:fgClr>
              <a:srgbClr val="0000EA"/>
            </a:fgClr>
            <a:bgClr>
              <a:srgbClr val="FFFFFF"/>
            </a:bgClr>
          </a:patt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010838" y="4803212"/>
            <a:ext cx="6578600" cy="482600"/>
          </a:xfrm>
          <a:prstGeom prst="rect">
            <a:avLst/>
          </a:prstGeom>
          <a:solidFill>
            <a:schemeClr val="folHlink">
              <a:alpha val="85097"/>
            </a:scheme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3710925" y="4474599"/>
            <a:ext cx="1028700" cy="330200"/>
          </a:xfrm>
          <a:prstGeom prst="rect">
            <a:avLst/>
          </a:prstGeom>
          <a:solidFill>
            <a:schemeClr val="folHlink">
              <a:alpha val="85097"/>
            </a:scheme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3014013" y="4577787"/>
            <a:ext cx="698500" cy="215900"/>
          </a:xfrm>
          <a:prstGeom prst="rect">
            <a:avLst/>
          </a:prstGeom>
          <a:solidFill>
            <a:srgbClr val="2AA82A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6049313" y="4476187"/>
            <a:ext cx="876300" cy="330200"/>
          </a:xfrm>
          <a:prstGeom prst="rect">
            <a:avLst/>
          </a:prstGeom>
          <a:solidFill>
            <a:srgbClr val="2AA82A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015600" y="4363474"/>
            <a:ext cx="698500" cy="215900"/>
          </a:xfrm>
          <a:prstGeom prst="rect">
            <a:avLst/>
          </a:prstGeom>
          <a:solidFill>
            <a:srgbClr val="0000EA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3017188" y="4149162"/>
            <a:ext cx="393700" cy="215900"/>
          </a:xfrm>
          <a:prstGeom prst="rect">
            <a:avLst/>
          </a:prstGeom>
          <a:solidFill>
            <a:srgbClr val="0000EA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3018775" y="3934849"/>
            <a:ext cx="266700" cy="215900"/>
          </a:xfrm>
          <a:prstGeom prst="rect">
            <a:avLst/>
          </a:prstGeom>
          <a:solidFill>
            <a:srgbClr val="33CC33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3737913" y="4145987"/>
            <a:ext cx="939800" cy="330200"/>
          </a:xfrm>
          <a:prstGeom prst="rect">
            <a:avLst/>
          </a:prstGeom>
          <a:solidFill>
            <a:srgbClr val="2AA82A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3752200" y="3817374"/>
            <a:ext cx="838200" cy="330200"/>
          </a:xfrm>
          <a:prstGeom prst="rect">
            <a:avLst/>
          </a:prstGeom>
          <a:solidFill>
            <a:srgbClr val="0000EA">
              <a:alpha val="4313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Rectangle 15"/>
          <p:cNvSpPr>
            <a:spLocks noChangeArrowheads="1"/>
          </p:cNvSpPr>
          <p:nvPr/>
        </p:nvSpPr>
        <p:spPr bwMode="auto">
          <a:xfrm>
            <a:off x="4261788" y="3615762"/>
            <a:ext cx="292100" cy="203200"/>
          </a:xfrm>
          <a:prstGeom prst="rect">
            <a:avLst/>
          </a:prstGeom>
          <a:solidFill>
            <a:srgbClr val="33CC33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Rectangle 16"/>
          <p:cNvSpPr>
            <a:spLocks noChangeArrowheads="1"/>
          </p:cNvSpPr>
          <p:nvPr/>
        </p:nvSpPr>
        <p:spPr bwMode="auto">
          <a:xfrm>
            <a:off x="4895200" y="4147574"/>
            <a:ext cx="850900" cy="330200"/>
          </a:xfrm>
          <a:prstGeom prst="rect">
            <a:avLst/>
          </a:prstGeom>
          <a:solidFill>
            <a:srgbClr val="2AA82A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4741213" y="4476187"/>
            <a:ext cx="1028700" cy="330200"/>
          </a:xfrm>
          <a:prstGeom prst="rect">
            <a:avLst/>
          </a:prstGeom>
          <a:solidFill>
            <a:schemeClr val="folHlink">
              <a:alpha val="85097"/>
            </a:scheme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Rectangle 18"/>
          <p:cNvSpPr>
            <a:spLocks noChangeArrowheads="1"/>
          </p:cNvSpPr>
          <p:nvPr/>
        </p:nvSpPr>
        <p:spPr bwMode="auto">
          <a:xfrm>
            <a:off x="6192188" y="4136462"/>
            <a:ext cx="673100" cy="330200"/>
          </a:xfrm>
          <a:prstGeom prst="rect">
            <a:avLst/>
          </a:prstGeom>
          <a:solidFill>
            <a:srgbClr val="0000EA">
              <a:alpha val="4313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Rectangle 19"/>
          <p:cNvSpPr>
            <a:spLocks noChangeArrowheads="1"/>
          </p:cNvSpPr>
          <p:nvPr/>
        </p:nvSpPr>
        <p:spPr bwMode="auto">
          <a:xfrm>
            <a:off x="5076175" y="3820549"/>
            <a:ext cx="571500" cy="330200"/>
          </a:xfrm>
          <a:prstGeom prst="rect">
            <a:avLst/>
          </a:prstGeom>
          <a:solidFill>
            <a:srgbClr val="0000EA">
              <a:alpha val="4313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Rectangle 21"/>
          <p:cNvSpPr>
            <a:spLocks noChangeArrowheads="1"/>
          </p:cNvSpPr>
          <p:nvPr/>
        </p:nvSpPr>
        <p:spPr bwMode="auto">
          <a:xfrm>
            <a:off x="5342875" y="3604649"/>
            <a:ext cx="292100" cy="203200"/>
          </a:xfrm>
          <a:prstGeom prst="rect">
            <a:avLst/>
          </a:prstGeom>
          <a:solidFill>
            <a:srgbClr val="33CC33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Rectangle 22"/>
          <p:cNvSpPr>
            <a:spLocks noChangeArrowheads="1"/>
          </p:cNvSpPr>
          <p:nvPr/>
        </p:nvSpPr>
        <p:spPr bwMode="auto">
          <a:xfrm>
            <a:off x="6208063" y="3999937"/>
            <a:ext cx="609600" cy="139700"/>
          </a:xfrm>
          <a:prstGeom prst="rect">
            <a:avLst/>
          </a:prstGeom>
          <a:solidFill>
            <a:srgbClr val="33CC33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Rectangle 23"/>
          <p:cNvSpPr>
            <a:spLocks noChangeArrowheads="1"/>
          </p:cNvSpPr>
          <p:nvPr/>
        </p:nvSpPr>
        <p:spPr bwMode="auto">
          <a:xfrm>
            <a:off x="7325663" y="4139637"/>
            <a:ext cx="736600" cy="330200"/>
          </a:xfrm>
          <a:prstGeom prst="rect">
            <a:avLst/>
          </a:prstGeom>
          <a:solidFill>
            <a:srgbClr val="0000EA">
              <a:alpha val="4313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Rectangle 24"/>
          <p:cNvSpPr>
            <a:spLocks noChangeArrowheads="1"/>
          </p:cNvSpPr>
          <p:nvPr/>
        </p:nvSpPr>
        <p:spPr bwMode="auto">
          <a:xfrm>
            <a:off x="8313088" y="4466662"/>
            <a:ext cx="952500" cy="330200"/>
          </a:xfrm>
          <a:prstGeom prst="rect">
            <a:avLst/>
          </a:prstGeom>
          <a:solidFill>
            <a:srgbClr val="2AA82A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Rectangle 25"/>
          <p:cNvSpPr>
            <a:spLocks noChangeArrowheads="1"/>
          </p:cNvSpPr>
          <p:nvPr/>
        </p:nvSpPr>
        <p:spPr bwMode="auto">
          <a:xfrm>
            <a:off x="8368650" y="4115824"/>
            <a:ext cx="800100" cy="330200"/>
          </a:xfrm>
          <a:prstGeom prst="rect">
            <a:avLst/>
          </a:prstGeom>
          <a:solidFill>
            <a:srgbClr val="0000EA">
              <a:alpha val="4313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Rectangle 28"/>
          <p:cNvSpPr>
            <a:spLocks noChangeArrowheads="1"/>
          </p:cNvSpPr>
          <p:nvPr/>
        </p:nvSpPr>
        <p:spPr bwMode="auto">
          <a:xfrm>
            <a:off x="8776638" y="3799912"/>
            <a:ext cx="406400" cy="330200"/>
          </a:xfrm>
          <a:prstGeom prst="rect">
            <a:avLst/>
          </a:prstGeom>
          <a:solidFill>
            <a:srgbClr val="0000EA">
              <a:alpha val="4313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Rectangle 29"/>
          <p:cNvSpPr>
            <a:spLocks noChangeArrowheads="1"/>
          </p:cNvSpPr>
          <p:nvPr/>
        </p:nvSpPr>
        <p:spPr bwMode="auto">
          <a:xfrm>
            <a:off x="8863950" y="3595124"/>
            <a:ext cx="292100" cy="203200"/>
          </a:xfrm>
          <a:prstGeom prst="rect">
            <a:avLst/>
          </a:prstGeom>
          <a:solidFill>
            <a:srgbClr val="33CC33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Rectangle 30"/>
          <p:cNvSpPr>
            <a:spLocks noChangeArrowheads="1"/>
          </p:cNvSpPr>
          <p:nvPr/>
        </p:nvSpPr>
        <p:spPr bwMode="auto">
          <a:xfrm>
            <a:off x="7222475" y="4480949"/>
            <a:ext cx="952500" cy="330200"/>
          </a:xfrm>
          <a:prstGeom prst="rect">
            <a:avLst/>
          </a:prstGeom>
          <a:solidFill>
            <a:srgbClr val="2AA82A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Rectangle 31"/>
          <p:cNvSpPr>
            <a:spLocks noChangeArrowheads="1"/>
          </p:cNvSpPr>
          <p:nvPr/>
        </p:nvSpPr>
        <p:spPr bwMode="auto">
          <a:xfrm>
            <a:off x="8516288" y="3831662"/>
            <a:ext cx="190500" cy="279400"/>
          </a:xfrm>
          <a:prstGeom prst="rect">
            <a:avLst/>
          </a:prstGeom>
          <a:solidFill>
            <a:srgbClr val="FF33CC">
              <a:alpha val="85097"/>
            </a:srgbClr>
          </a:solidFill>
          <a:ln w="12700" algn="ctr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Freeform 33"/>
          <p:cNvSpPr>
            <a:spLocks/>
          </p:cNvSpPr>
          <p:nvPr/>
        </p:nvSpPr>
        <p:spPr bwMode="auto">
          <a:xfrm>
            <a:off x="4922188" y="3806263"/>
            <a:ext cx="152400" cy="338137"/>
          </a:xfrm>
          <a:custGeom>
            <a:avLst/>
            <a:gdLst>
              <a:gd name="T0" fmla="*/ 0 w 96"/>
              <a:gd name="T1" fmla="*/ 2147483647 h 213"/>
              <a:gd name="T2" fmla="*/ 2147483647 w 96"/>
              <a:gd name="T3" fmla="*/ 2147483647 h 213"/>
              <a:gd name="T4" fmla="*/ 2147483647 w 96"/>
              <a:gd name="T5" fmla="*/ 0 h 213"/>
              <a:gd name="T6" fmla="*/ 2147483647 w 96"/>
              <a:gd name="T7" fmla="*/ 2147483647 h 213"/>
              <a:gd name="T8" fmla="*/ 2147483647 w 96"/>
              <a:gd name="T9" fmla="*/ 2147483647 h 213"/>
              <a:gd name="T10" fmla="*/ 0 w 96"/>
              <a:gd name="T11" fmla="*/ 2147483647 h 21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6"/>
              <a:gd name="T19" fmla="*/ 0 h 213"/>
              <a:gd name="T20" fmla="*/ 96 w 96"/>
              <a:gd name="T21" fmla="*/ 213 h 21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6" h="213">
                <a:moveTo>
                  <a:pt x="0" y="210"/>
                </a:moveTo>
                <a:lnTo>
                  <a:pt x="27" y="21"/>
                </a:lnTo>
                <a:lnTo>
                  <a:pt x="60" y="0"/>
                </a:lnTo>
                <a:lnTo>
                  <a:pt x="93" y="12"/>
                </a:lnTo>
                <a:lnTo>
                  <a:pt x="96" y="213"/>
                </a:lnTo>
                <a:lnTo>
                  <a:pt x="0" y="210"/>
                </a:lnTo>
                <a:close/>
              </a:path>
            </a:pathLst>
          </a:custGeom>
          <a:solidFill>
            <a:srgbClr val="FF33CC"/>
          </a:solidFill>
          <a:ln w="12700">
            <a:solidFill>
              <a:schemeClr val="tx1"/>
            </a:solidFill>
            <a:round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Freeform 34"/>
          <p:cNvSpPr>
            <a:spLocks/>
          </p:cNvSpPr>
          <p:nvPr/>
        </p:nvSpPr>
        <p:spPr bwMode="auto">
          <a:xfrm>
            <a:off x="6922439" y="4649224"/>
            <a:ext cx="300037" cy="152400"/>
          </a:xfrm>
          <a:custGeom>
            <a:avLst/>
            <a:gdLst>
              <a:gd name="T0" fmla="*/ 0 w 189"/>
              <a:gd name="T1" fmla="*/ 0 h 96"/>
              <a:gd name="T2" fmla="*/ 2147483647 w 189"/>
              <a:gd name="T3" fmla="*/ 2147483647 h 96"/>
              <a:gd name="T4" fmla="*/ 2147483647 w 189"/>
              <a:gd name="T5" fmla="*/ 2147483647 h 96"/>
              <a:gd name="T6" fmla="*/ 2147483647 w 189"/>
              <a:gd name="T7" fmla="*/ 2147483647 h 96"/>
              <a:gd name="T8" fmla="*/ 2147483647 w 189"/>
              <a:gd name="T9" fmla="*/ 2147483647 h 96"/>
              <a:gd name="T10" fmla="*/ 2147483647 w 189"/>
              <a:gd name="T11" fmla="*/ 2147483647 h 96"/>
              <a:gd name="T12" fmla="*/ 2147483647 w 189"/>
              <a:gd name="T13" fmla="*/ 2147483647 h 96"/>
              <a:gd name="T14" fmla="*/ 2147483647 w 189"/>
              <a:gd name="T15" fmla="*/ 2147483647 h 96"/>
              <a:gd name="T16" fmla="*/ 0 w 189"/>
              <a:gd name="T17" fmla="*/ 2147483647 h 96"/>
              <a:gd name="T18" fmla="*/ 0 w 189"/>
              <a:gd name="T19" fmla="*/ 0 h 9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9"/>
              <a:gd name="T31" fmla="*/ 0 h 96"/>
              <a:gd name="T32" fmla="*/ 189 w 189"/>
              <a:gd name="T33" fmla="*/ 96 h 9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9" h="96">
                <a:moveTo>
                  <a:pt x="0" y="0"/>
                </a:moveTo>
                <a:lnTo>
                  <a:pt x="24" y="3"/>
                </a:lnTo>
                <a:lnTo>
                  <a:pt x="54" y="63"/>
                </a:lnTo>
                <a:lnTo>
                  <a:pt x="90" y="33"/>
                </a:lnTo>
                <a:lnTo>
                  <a:pt x="117" y="63"/>
                </a:lnTo>
                <a:lnTo>
                  <a:pt x="150" y="21"/>
                </a:lnTo>
                <a:lnTo>
                  <a:pt x="189" y="15"/>
                </a:lnTo>
                <a:lnTo>
                  <a:pt x="189" y="96"/>
                </a:lnTo>
                <a:lnTo>
                  <a:pt x="0" y="93"/>
                </a:lnTo>
                <a:lnTo>
                  <a:pt x="0" y="0"/>
                </a:lnTo>
                <a:close/>
              </a:path>
            </a:pathLst>
          </a:custGeom>
          <a:solidFill>
            <a:srgbClr val="FF33CC"/>
          </a:solidFill>
          <a:ln w="12700">
            <a:solidFill>
              <a:schemeClr val="tx1"/>
            </a:solidFill>
            <a:round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Freeform 35"/>
          <p:cNvSpPr>
            <a:spLocks/>
          </p:cNvSpPr>
          <p:nvPr/>
        </p:nvSpPr>
        <p:spPr bwMode="auto">
          <a:xfrm>
            <a:off x="5765150" y="4582550"/>
            <a:ext cx="280988" cy="219075"/>
          </a:xfrm>
          <a:custGeom>
            <a:avLst/>
            <a:gdLst>
              <a:gd name="T0" fmla="*/ 0 w 177"/>
              <a:gd name="T1" fmla="*/ 0 h 138"/>
              <a:gd name="T2" fmla="*/ 2147483647 w 177"/>
              <a:gd name="T3" fmla="*/ 2147483647 h 138"/>
              <a:gd name="T4" fmla="*/ 2147483647 w 177"/>
              <a:gd name="T5" fmla="*/ 2147483647 h 138"/>
              <a:gd name="T6" fmla="*/ 2147483647 w 177"/>
              <a:gd name="T7" fmla="*/ 2147483647 h 138"/>
              <a:gd name="T8" fmla="*/ 2147483647 w 177"/>
              <a:gd name="T9" fmla="*/ 2147483647 h 138"/>
              <a:gd name="T10" fmla="*/ 2147483647 w 177"/>
              <a:gd name="T11" fmla="*/ 2147483647 h 138"/>
              <a:gd name="T12" fmla="*/ 2147483647 w 177"/>
              <a:gd name="T13" fmla="*/ 2147483647 h 138"/>
              <a:gd name="T14" fmla="*/ 2147483647 w 177"/>
              <a:gd name="T15" fmla="*/ 2147483647 h 138"/>
              <a:gd name="T16" fmla="*/ 2147483647 w 177"/>
              <a:gd name="T17" fmla="*/ 2147483647 h 138"/>
              <a:gd name="T18" fmla="*/ 0 w 177"/>
              <a:gd name="T19" fmla="*/ 0 h 13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77"/>
              <a:gd name="T31" fmla="*/ 0 h 138"/>
              <a:gd name="T32" fmla="*/ 177 w 177"/>
              <a:gd name="T33" fmla="*/ 138 h 13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77" h="138">
                <a:moveTo>
                  <a:pt x="0" y="0"/>
                </a:moveTo>
                <a:lnTo>
                  <a:pt x="21" y="54"/>
                </a:lnTo>
                <a:lnTo>
                  <a:pt x="54" y="27"/>
                </a:lnTo>
                <a:lnTo>
                  <a:pt x="84" y="24"/>
                </a:lnTo>
                <a:lnTo>
                  <a:pt x="114" y="105"/>
                </a:lnTo>
                <a:lnTo>
                  <a:pt x="144" y="123"/>
                </a:lnTo>
                <a:lnTo>
                  <a:pt x="174" y="84"/>
                </a:lnTo>
                <a:lnTo>
                  <a:pt x="177" y="138"/>
                </a:lnTo>
                <a:lnTo>
                  <a:pt x="3" y="135"/>
                </a:lnTo>
                <a:lnTo>
                  <a:pt x="0" y="0"/>
                </a:lnTo>
                <a:close/>
              </a:path>
            </a:pathLst>
          </a:custGeom>
          <a:solidFill>
            <a:srgbClr val="FF33CC"/>
          </a:solidFill>
          <a:ln w="12700">
            <a:solidFill>
              <a:schemeClr val="tx1"/>
            </a:solidFill>
            <a:round/>
            <a:headEnd/>
            <a:tailEnd type="none" w="med" len="lg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7" name="Group 46"/>
          <p:cNvGrpSpPr/>
          <p:nvPr/>
        </p:nvGrpSpPr>
        <p:grpSpPr>
          <a:xfrm>
            <a:off x="3007789" y="2075546"/>
            <a:ext cx="1031051" cy="1293353"/>
            <a:chOff x="1483788" y="2075545"/>
            <a:chExt cx="1031051" cy="1293353"/>
          </a:xfrm>
        </p:grpSpPr>
        <p:cxnSp>
          <p:nvCxnSpPr>
            <p:cNvPr id="40" name="Straight Connector 39"/>
            <p:cNvCxnSpPr/>
            <p:nvPr/>
          </p:nvCxnSpPr>
          <p:spPr bwMode="auto">
            <a:xfrm>
              <a:off x="1788582" y="2444748"/>
              <a:ext cx="0" cy="92415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4" name="TextBox 63"/>
            <p:cNvSpPr txBox="1"/>
            <p:nvPr/>
          </p:nvSpPr>
          <p:spPr>
            <a:xfrm>
              <a:off x="1483788" y="2075545"/>
              <a:ext cx="10310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2000" i="0" dirty="0"/>
                <a:t>1:15 pm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5262396" y="2068292"/>
            <a:ext cx="1031051" cy="1293353"/>
            <a:chOff x="7044118" y="2068291"/>
            <a:chExt cx="1031051" cy="1293353"/>
          </a:xfrm>
        </p:grpSpPr>
        <p:cxnSp>
          <p:nvCxnSpPr>
            <p:cNvPr id="58" name="Straight Connector 57"/>
            <p:cNvCxnSpPr/>
            <p:nvPr/>
          </p:nvCxnSpPr>
          <p:spPr bwMode="auto">
            <a:xfrm>
              <a:off x="7363426" y="2437494"/>
              <a:ext cx="0" cy="92415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5" name="TextBox 64"/>
            <p:cNvSpPr txBox="1"/>
            <p:nvPr/>
          </p:nvSpPr>
          <p:spPr>
            <a:xfrm>
              <a:off x="7044118" y="2068291"/>
              <a:ext cx="10310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2000" i="0" dirty="0"/>
                <a:t>1:45 pm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4231269" y="2517322"/>
            <a:ext cx="639919" cy="857933"/>
            <a:chOff x="3450104" y="2517321"/>
            <a:chExt cx="639919" cy="857933"/>
          </a:xfrm>
        </p:grpSpPr>
        <p:cxnSp>
          <p:nvCxnSpPr>
            <p:cNvPr id="62" name="Straight Connector 61"/>
            <p:cNvCxnSpPr/>
            <p:nvPr/>
          </p:nvCxnSpPr>
          <p:spPr bwMode="auto">
            <a:xfrm>
              <a:off x="3769412" y="2913179"/>
              <a:ext cx="0" cy="462075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8" name="TextBox 67"/>
            <p:cNvSpPr txBox="1"/>
            <p:nvPr/>
          </p:nvSpPr>
          <p:spPr>
            <a:xfrm>
              <a:off x="3450104" y="2517321"/>
              <a:ext cx="63991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2000" i="0" dirty="0"/>
                <a:t>1:30</a:t>
              </a: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7521865" y="2063936"/>
            <a:ext cx="1031051" cy="1293353"/>
            <a:chOff x="7044118" y="2068291"/>
            <a:chExt cx="1031051" cy="1293353"/>
          </a:xfrm>
        </p:grpSpPr>
        <p:cxnSp>
          <p:nvCxnSpPr>
            <p:cNvPr id="76" name="Straight Connector 75"/>
            <p:cNvCxnSpPr/>
            <p:nvPr/>
          </p:nvCxnSpPr>
          <p:spPr bwMode="auto">
            <a:xfrm>
              <a:off x="7363426" y="2437494"/>
              <a:ext cx="0" cy="92415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7" name="TextBox 76"/>
            <p:cNvSpPr txBox="1"/>
            <p:nvPr/>
          </p:nvSpPr>
          <p:spPr>
            <a:xfrm>
              <a:off x="7044118" y="2068291"/>
              <a:ext cx="10310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2000" i="0" dirty="0"/>
                <a:t>2:15 pm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2041053" y="1559194"/>
            <a:ext cx="1031051" cy="1812763"/>
            <a:chOff x="981084" y="1559193"/>
            <a:chExt cx="1031051" cy="1812763"/>
          </a:xfrm>
        </p:grpSpPr>
        <p:cxnSp>
          <p:nvCxnSpPr>
            <p:cNvPr id="33" name="Straight Connector 32"/>
            <p:cNvCxnSpPr/>
            <p:nvPr/>
          </p:nvCxnSpPr>
          <p:spPr bwMode="auto">
            <a:xfrm>
              <a:off x="1485250" y="1930397"/>
              <a:ext cx="0" cy="1441559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7" name="TextBox 66"/>
            <p:cNvSpPr txBox="1"/>
            <p:nvPr/>
          </p:nvSpPr>
          <p:spPr>
            <a:xfrm>
              <a:off x="981084" y="1559193"/>
              <a:ext cx="10310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2000" i="0" dirty="0"/>
                <a:t>1:00 pm</a:t>
              </a: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6205965" y="1547818"/>
            <a:ext cx="1031051" cy="1812763"/>
            <a:chOff x="981084" y="1559193"/>
            <a:chExt cx="1031051" cy="1812763"/>
          </a:xfrm>
        </p:grpSpPr>
        <p:cxnSp>
          <p:nvCxnSpPr>
            <p:cNvPr id="70" name="Straight Connector 69"/>
            <p:cNvCxnSpPr/>
            <p:nvPr/>
          </p:nvCxnSpPr>
          <p:spPr bwMode="auto">
            <a:xfrm>
              <a:off x="1485250" y="1930397"/>
              <a:ext cx="0" cy="1441559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1" name="TextBox 70"/>
            <p:cNvSpPr txBox="1"/>
            <p:nvPr/>
          </p:nvSpPr>
          <p:spPr>
            <a:xfrm>
              <a:off x="981084" y="1559193"/>
              <a:ext cx="10310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2000" i="0" dirty="0"/>
                <a:t>2:00 pm</a:t>
              </a:r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9415517" y="1550090"/>
            <a:ext cx="1031051" cy="1812763"/>
            <a:chOff x="981084" y="1559193"/>
            <a:chExt cx="1031051" cy="1812763"/>
          </a:xfrm>
        </p:grpSpPr>
        <p:cxnSp>
          <p:nvCxnSpPr>
            <p:cNvPr id="73" name="Straight Connector 72"/>
            <p:cNvCxnSpPr/>
            <p:nvPr/>
          </p:nvCxnSpPr>
          <p:spPr bwMode="auto">
            <a:xfrm>
              <a:off x="1485250" y="1930397"/>
              <a:ext cx="0" cy="1441559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4" name="TextBox 73"/>
            <p:cNvSpPr txBox="1"/>
            <p:nvPr/>
          </p:nvSpPr>
          <p:spPr>
            <a:xfrm>
              <a:off x="981084" y="1559193"/>
              <a:ext cx="10310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2000" i="0" dirty="0"/>
                <a:t>3:00 pm</a:t>
              </a:r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8656921" y="2093504"/>
            <a:ext cx="1031051" cy="1293353"/>
            <a:chOff x="7044118" y="2068291"/>
            <a:chExt cx="1031051" cy="1293353"/>
          </a:xfrm>
        </p:grpSpPr>
        <p:cxnSp>
          <p:nvCxnSpPr>
            <p:cNvPr id="79" name="Straight Connector 78"/>
            <p:cNvCxnSpPr/>
            <p:nvPr/>
          </p:nvCxnSpPr>
          <p:spPr bwMode="auto">
            <a:xfrm>
              <a:off x="7363426" y="2437494"/>
              <a:ext cx="0" cy="92415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0" name="TextBox 79"/>
            <p:cNvSpPr txBox="1"/>
            <p:nvPr/>
          </p:nvSpPr>
          <p:spPr>
            <a:xfrm>
              <a:off x="7044118" y="2068291"/>
              <a:ext cx="10310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2000" i="0" dirty="0"/>
                <a:t>2:30 pm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5578150" y="3014158"/>
            <a:ext cx="5089850" cy="225869"/>
            <a:chOff x="1891897" y="2321616"/>
            <a:chExt cx="5089850" cy="225869"/>
          </a:xfrm>
        </p:grpSpPr>
        <p:cxnSp>
          <p:nvCxnSpPr>
            <p:cNvPr id="61" name="Straight Arrow Connector 60"/>
            <p:cNvCxnSpPr/>
            <p:nvPr/>
          </p:nvCxnSpPr>
          <p:spPr bwMode="auto">
            <a:xfrm>
              <a:off x="1891897" y="2445642"/>
              <a:ext cx="1143339" cy="0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63" name="Rectangle 62"/>
            <p:cNvSpPr/>
            <p:nvPr/>
          </p:nvSpPr>
          <p:spPr>
            <a:xfrm>
              <a:off x="3035236" y="2321616"/>
              <a:ext cx="2265569" cy="225869"/>
            </a:xfrm>
            <a:prstGeom prst="rect">
              <a:avLst/>
            </a:prstGeom>
            <a:pattFill prst="wave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3175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5305620" y="2321616"/>
              <a:ext cx="1676127" cy="22586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80379570"/>
      </p:ext>
    </p:extLst>
  </p:cSld>
  <p:clrMapOvr>
    <a:masterClrMapping/>
  </p:clrMapOvr>
  <p:transition spd="slow">
    <p:wipe dir="r"/>
  </p:transition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D2D7F3-A45D-49F0-AA3F-58DCE59EB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11816" cy="6858000"/>
          </a:xfrm>
          <a:prstGeom prst="rect">
            <a:avLst/>
          </a:prstGeom>
        </p:spPr>
      </p:pic>
      <p:pic>
        <p:nvPicPr>
          <p:cNvPr id="5939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041" y="11176"/>
            <a:ext cx="9196229" cy="6846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</p:pic>
      <p:pic>
        <p:nvPicPr>
          <p:cNvPr id="1565698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6456" y="2975690"/>
            <a:ext cx="668094" cy="1013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1101" y="3358981"/>
            <a:ext cx="650605" cy="9866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5253" y="2120570"/>
            <a:ext cx="683789" cy="1036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2721" y="3603373"/>
            <a:ext cx="683789" cy="1036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120" y="4632483"/>
            <a:ext cx="650605" cy="9866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7897" y="1727675"/>
            <a:ext cx="650605" cy="9866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8068" y="4343035"/>
            <a:ext cx="650605" cy="9866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8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0056" y="1030099"/>
            <a:ext cx="650605" cy="9866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9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3125" y="2145733"/>
            <a:ext cx="650605" cy="9866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3" name="Group 52"/>
          <p:cNvGrpSpPr/>
          <p:nvPr/>
        </p:nvGrpSpPr>
        <p:grpSpPr>
          <a:xfrm>
            <a:off x="1391217" y="1993922"/>
            <a:ext cx="3054601" cy="1380086"/>
            <a:chOff x="748785" y="1451429"/>
            <a:chExt cx="3054601" cy="1380086"/>
          </a:xfrm>
        </p:grpSpPr>
        <p:grpSp>
          <p:nvGrpSpPr>
            <p:cNvPr id="54" name="Group 53"/>
            <p:cNvGrpSpPr/>
            <p:nvPr/>
          </p:nvGrpSpPr>
          <p:grpSpPr>
            <a:xfrm>
              <a:off x="748785" y="1451429"/>
              <a:ext cx="3054601" cy="1380086"/>
              <a:chOff x="408402" y="2090703"/>
              <a:chExt cx="8246703" cy="3159485"/>
            </a:xfrm>
          </p:grpSpPr>
          <p:sp>
            <p:nvSpPr>
              <p:cNvPr id="56" name="Line 5"/>
              <p:cNvSpPr>
                <a:spLocks noChangeShapeType="1"/>
              </p:cNvSpPr>
              <p:nvPr/>
            </p:nvSpPr>
            <p:spPr bwMode="auto">
              <a:xfrm>
                <a:off x="1676901" y="4456704"/>
                <a:ext cx="634949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6862904" y="4383458"/>
                <a:ext cx="1792201" cy="8455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i="0" dirty="0"/>
                  <a:t>Time</a:t>
                </a:r>
              </a:p>
            </p:txBody>
          </p:sp>
          <p:cxnSp>
            <p:nvCxnSpPr>
              <p:cNvPr id="58" name="Straight Arrow Connector 57"/>
              <p:cNvCxnSpPr>
                <a:stCxn id="56" idx="0"/>
              </p:cNvCxnSpPr>
              <p:nvPr/>
            </p:nvCxnSpPr>
            <p:spPr bwMode="auto">
              <a:xfrm flipV="1">
                <a:off x="1676900" y="2090703"/>
                <a:ext cx="0" cy="2366000"/>
              </a:xfrm>
              <a:prstGeom prst="straightConnector1">
                <a:avLst/>
              </a:prstGeom>
              <a:noFill/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sp>
            <p:nvSpPr>
              <p:cNvPr id="59" name="TextBox 58"/>
              <p:cNvSpPr txBox="1"/>
              <p:nvPr/>
            </p:nvSpPr>
            <p:spPr>
              <a:xfrm rot="16200000">
                <a:off x="-581521" y="3263155"/>
                <a:ext cx="2976956" cy="997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b="1" i="0" dirty="0"/>
                  <a:t>Generation</a:t>
                </a:r>
              </a:p>
            </p:txBody>
          </p:sp>
        </p:grpSp>
        <p:sp>
          <p:nvSpPr>
            <p:cNvPr id="55" name="Freeform 54"/>
            <p:cNvSpPr/>
            <p:nvPr/>
          </p:nvSpPr>
          <p:spPr bwMode="auto">
            <a:xfrm>
              <a:off x="1392806" y="2025461"/>
              <a:ext cx="2204215" cy="456475"/>
            </a:xfrm>
            <a:custGeom>
              <a:avLst/>
              <a:gdLst>
                <a:gd name="connsiteX0" fmla="*/ 0 w 5950857"/>
                <a:gd name="connsiteY0" fmla="*/ 1016000 h 1045029"/>
                <a:gd name="connsiteX1" fmla="*/ 333829 w 5950857"/>
                <a:gd name="connsiteY1" fmla="*/ 449943 h 1045029"/>
                <a:gd name="connsiteX2" fmla="*/ 812800 w 5950857"/>
                <a:gd name="connsiteY2" fmla="*/ 449943 h 1045029"/>
                <a:gd name="connsiteX3" fmla="*/ 1045029 w 5950857"/>
                <a:gd name="connsiteY3" fmla="*/ 0 h 1045029"/>
                <a:gd name="connsiteX4" fmla="*/ 2975429 w 5950857"/>
                <a:gd name="connsiteY4" fmla="*/ 0 h 1045029"/>
                <a:gd name="connsiteX5" fmla="*/ 3744686 w 5950857"/>
                <a:gd name="connsiteY5" fmla="*/ 1045029 h 1045029"/>
                <a:gd name="connsiteX6" fmla="*/ 5950857 w 5950857"/>
                <a:gd name="connsiteY6" fmla="*/ 1045029 h 1045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50857" h="1045029">
                  <a:moveTo>
                    <a:pt x="0" y="1016000"/>
                  </a:moveTo>
                  <a:lnTo>
                    <a:pt x="333829" y="449943"/>
                  </a:lnTo>
                  <a:lnTo>
                    <a:pt x="812800" y="449943"/>
                  </a:lnTo>
                  <a:lnTo>
                    <a:pt x="1045029" y="0"/>
                  </a:lnTo>
                  <a:lnTo>
                    <a:pt x="2975429" y="0"/>
                  </a:lnTo>
                  <a:lnTo>
                    <a:pt x="3744686" y="1045029"/>
                  </a:lnTo>
                  <a:lnTo>
                    <a:pt x="5950857" y="1045029"/>
                  </a:lnTo>
                </a:path>
              </a:pathLst>
            </a:cu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1" name="Group 80"/>
          <p:cNvGrpSpPr/>
          <p:nvPr/>
        </p:nvGrpSpPr>
        <p:grpSpPr>
          <a:xfrm>
            <a:off x="7635105" y="1469786"/>
            <a:ext cx="3054601" cy="1380086"/>
            <a:chOff x="748785" y="1451429"/>
            <a:chExt cx="3054601" cy="1380086"/>
          </a:xfrm>
        </p:grpSpPr>
        <p:grpSp>
          <p:nvGrpSpPr>
            <p:cNvPr id="82" name="Group 81"/>
            <p:cNvGrpSpPr/>
            <p:nvPr/>
          </p:nvGrpSpPr>
          <p:grpSpPr>
            <a:xfrm>
              <a:off x="748785" y="1451429"/>
              <a:ext cx="3054601" cy="1380086"/>
              <a:chOff x="408402" y="2090703"/>
              <a:chExt cx="8246703" cy="3159485"/>
            </a:xfrm>
          </p:grpSpPr>
          <p:sp>
            <p:nvSpPr>
              <p:cNvPr id="84" name="Line 5"/>
              <p:cNvSpPr>
                <a:spLocks noChangeShapeType="1"/>
              </p:cNvSpPr>
              <p:nvPr/>
            </p:nvSpPr>
            <p:spPr bwMode="auto">
              <a:xfrm>
                <a:off x="1676901" y="4456704"/>
                <a:ext cx="634949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85" name="TextBox 84"/>
              <p:cNvSpPr txBox="1"/>
              <p:nvPr/>
            </p:nvSpPr>
            <p:spPr>
              <a:xfrm>
                <a:off x="6862904" y="4383458"/>
                <a:ext cx="1792201" cy="8455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i="0" dirty="0"/>
                  <a:t>Time</a:t>
                </a:r>
              </a:p>
            </p:txBody>
          </p:sp>
          <p:cxnSp>
            <p:nvCxnSpPr>
              <p:cNvPr id="86" name="Straight Arrow Connector 85"/>
              <p:cNvCxnSpPr>
                <a:stCxn id="84" idx="0"/>
              </p:cNvCxnSpPr>
              <p:nvPr/>
            </p:nvCxnSpPr>
            <p:spPr bwMode="auto">
              <a:xfrm flipV="1">
                <a:off x="1676900" y="2090703"/>
                <a:ext cx="0" cy="2366000"/>
              </a:xfrm>
              <a:prstGeom prst="straightConnector1">
                <a:avLst/>
              </a:prstGeom>
              <a:noFill/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sp>
            <p:nvSpPr>
              <p:cNvPr id="87" name="TextBox 86"/>
              <p:cNvSpPr txBox="1"/>
              <p:nvPr/>
            </p:nvSpPr>
            <p:spPr>
              <a:xfrm rot="16200000">
                <a:off x="-581521" y="3263155"/>
                <a:ext cx="2976956" cy="997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b="1" i="0" dirty="0"/>
                  <a:t>Generation</a:t>
                </a:r>
              </a:p>
            </p:txBody>
          </p:sp>
        </p:grpSp>
        <p:sp>
          <p:nvSpPr>
            <p:cNvPr id="83" name="Freeform 82"/>
            <p:cNvSpPr/>
            <p:nvPr/>
          </p:nvSpPr>
          <p:spPr bwMode="auto">
            <a:xfrm>
              <a:off x="1392806" y="2025461"/>
              <a:ext cx="2204215" cy="456475"/>
            </a:xfrm>
            <a:custGeom>
              <a:avLst/>
              <a:gdLst>
                <a:gd name="connsiteX0" fmla="*/ 0 w 5950857"/>
                <a:gd name="connsiteY0" fmla="*/ 1016000 h 1045029"/>
                <a:gd name="connsiteX1" fmla="*/ 333829 w 5950857"/>
                <a:gd name="connsiteY1" fmla="*/ 449943 h 1045029"/>
                <a:gd name="connsiteX2" fmla="*/ 812800 w 5950857"/>
                <a:gd name="connsiteY2" fmla="*/ 449943 h 1045029"/>
                <a:gd name="connsiteX3" fmla="*/ 1045029 w 5950857"/>
                <a:gd name="connsiteY3" fmla="*/ 0 h 1045029"/>
                <a:gd name="connsiteX4" fmla="*/ 2975429 w 5950857"/>
                <a:gd name="connsiteY4" fmla="*/ 0 h 1045029"/>
                <a:gd name="connsiteX5" fmla="*/ 3744686 w 5950857"/>
                <a:gd name="connsiteY5" fmla="*/ 1045029 h 1045029"/>
                <a:gd name="connsiteX6" fmla="*/ 5950857 w 5950857"/>
                <a:gd name="connsiteY6" fmla="*/ 1045029 h 1045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50857" h="1045029">
                  <a:moveTo>
                    <a:pt x="0" y="1016000"/>
                  </a:moveTo>
                  <a:lnTo>
                    <a:pt x="333829" y="449943"/>
                  </a:lnTo>
                  <a:lnTo>
                    <a:pt x="812800" y="449943"/>
                  </a:lnTo>
                  <a:lnTo>
                    <a:pt x="1045029" y="0"/>
                  </a:lnTo>
                  <a:lnTo>
                    <a:pt x="2975429" y="0"/>
                  </a:lnTo>
                  <a:lnTo>
                    <a:pt x="3744686" y="1045029"/>
                  </a:lnTo>
                  <a:lnTo>
                    <a:pt x="5950857" y="1045029"/>
                  </a:lnTo>
                </a:path>
              </a:pathLst>
            </a:cu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8" name="Group 87"/>
          <p:cNvGrpSpPr/>
          <p:nvPr/>
        </p:nvGrpSpPr>
        <p:grpSpPr>
          <a:xfrm>
            <a:off x="6556347" y="2881649"/>
            <a:ext cx="3054601" cy="1380086"/>
            <a:chOff x="748785" y="1451429"/>
            <a:chExt cx="3054601" cy="1380086"/>
          </a:xfrm>
        </p:grpSpPr>
        <p:grpSp>
          <p:nvGrpSpPr>
            <p:cNvPr id="89" name="Group 88"/>
            <p:cNvGrpSpPr/>
            <p:nvPr/>
          </p:nvGrpSpPr>
          <p:grpSpPr>
            <a:xfrm>
              <a:off x="748785" y="1451429"/>
              <a:ext cx="3054601" cy="1380086"/>
              <a:chOff x="408402" y="2090703"/>
              <a:chExt cx="8246703" cy="3159485"/>
            </a:xfrm>
          </p:grpSpPr>
          <p:sp>
            <p:nvSpPr>
              <p:cNvPr id="91" name="Line 5"/>
              <p:cNvSpPr>
                <a:spLocks noChangeShapeType="1"/>
              </p:cNvSpPr>
              <p:nvPr/>
            </p:nvSpPr>
            <p:spPr bwMode="auto">
              <a:xfrm>
                <a:off x="1676901" y="4456704"/>
                <a:ext cx="634949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92" name="TextBox 91"/>
              <p:cNvSpPr txBox="1"/>
              <p:nvPr/>
            </p:nvSpPr>
            <p:spPr>
              <a:xfrm>
                <a:off x="6862904" y="4383458"/>
                <a:ext cx="1792201" cy="8455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i="0" dirty="0"/>
                  <a:t>Time</a:t>
                </a:r>
              </a:p>
            </p:txBody>
          </p:sp>
          <p:cxnSp>
            <p:nvCxnSpPr>
              <p:cNvPr id="93" name="Straight Arrow Connector 92"/>
              <p:cNvCxnSpPr>
                <a:stCxn id="91" idx="0"/>
              </p:cNvCxnSpPr>
              <p:nvPr/>
            </p:nvCxnSpPr>
            <p:spPr bwMode="auto">
              <a:xfrm flipV="1">
                <a:off x="1676900" y="2090703"/>
                <a:ext cx="0" cy="2366000"/>
              </a:xfrm>
              <a:prstGeom prst="straightConnector1">
                <a:avLst/>
              </a:prstGeom>
              <a:noFill/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sp>
            <p:nvSpPr>
              <p:cNvPr id="94" name="TextBox 93"/>
              <p:cNvSpPr txBox="1"/>
              <p:nvPr/>
            </p:nvSpPr>
            <p:spPr>
              <a:xfrm rot="16200000">
                <a:off x="-581521" y="3263155"/>
                <a:ext cx="2976956" cy="997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b="1" i="0" dirty="0"/>
                  <a:t>Generation</a:t>
                </a:r>
              </a:p>
            </p:txBody>
          </p:sp>
        </p:grpSp>
        <p:sp>
          <p:nvSpPr>
            <p:cNvPr id="90" name="Freeform 89"/>
            <p:cNvSpPr/>
            <p:nvPr/>
          </p:nvSpPr>
          <p:spPr bwMode="auto">
            <a:xfrm>
              <a:off x="1392806" y="2025461"/>
              <a:ext cx="2204215" cy="456475"/>
            </a:xfrm>
            <a:custGeom>
              <a:avLst/>
              <a:gdLst>
                <a:gd name="connsiteX0" fmla="*/ 0 w 5950857"/>
                <a:gd name="connsiteY0" fmla="*/ 1016000 h 1045029"/>
                <a:gd name="connsiteX1" fmla="*/ 333829 w 5950857"/>
                <a:gd name="connsiteY1" fmla="*/ 449943 h 1045029"/>
                <a:gd name="connsiteX2" fmla="*/ 812800 w 5950857"/>
                <a:gd name="connsiteY2" fmla="*/ 449943 h 1045029"/>
                <a:gd name="connsiteX3" fmla="*/ 1045029 w 5950857"/>
                <a:gd name="connsiteY3" fmla="*/ 0 h 1045029"/>
                <a:gd name="connsiteX4" fmla="*/ 2975429 w 5950857"/>
                <a:gd name="connsiteY4" fmla="*/ 0 h 1045029"/>
                <a:gd name="connsiteX5" fmla="*/ 3744686 w 5950857"/>
                <a:gd name="connsiteY5" fmla="*/ 1045029 h 1045029"/>
                <a:gd name="connsiteX6" fmla="*/ 5950857 w 5950857"/>
                <a:gd name="connsiteY6" fmla="*/ 1045029 h 1045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50857" h="1045029">
                  <a:moveTo>
                    <a:pt x="0" y="1016000"/>
                  </a:moveTo>
                  <a:lnTo>
                    <a:pt x="333829" y="449943"/>
                  </a:lnTo>
                  <a:lnTo>
                    <a:pt x="812800" y="449943"/>
                  </a:lnTo>
                  <a:lnTo>
                    <a:pt x="1045029" y="0"/>
                  </a:lnTo>
                  <a:lnTo>
                    <a:pt x="2975429" y="0"/>
                  </a:lnTo>
                  <a:lnTo>
                    <a:pt x="3744686" y="1045029"/>
                  </a:lnTo>
                  <a:lnTo>
                    <a:pt x="5950857" y="1045029"/>
                  </a:lnTo>
                </a:path>
              </a:pathLst>
            </a:cu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9393" name="Group 59392"/>
          <p:cNvGrpSpPr/>
          <p:nvPr/>
        </p:nvGrpSpPr>
        <p:grpSpPr>
          <a:xfrm>
            <a:off x="4105340" y="1875334"/>
            <a:ext cx="3054601" cy="1380086"/>
            <a:chOff x="2581340" y="1875333"/>
            <a:chExt cx="3054601" cy="1380086"/>
          </a:xfrm>
        </p:grpSpPr>
        <p:grpSp>
          <p:nvGrpSpPr>
            <p:cNvPr id="68" name="Group 67"/>
            <p:cNvGrpSpPr/>
            <p:nvPr/>
          </p:nvGrpSpPr>
          <p:grpSpPr>
            <a:xfrm>
              <a:off x="2581340" y="1875333"/>
              <a:ext cx="3054601" cy="1380086"/>
              <a:chOff x="408402" y="2090703"/>
              <a:chExt cx="8246703" cy="3159485"/>
            </a:xfrm>
          </p:grpSpPr>
          <p:sp>
            <p:nvSpPr>
              <p:cNvPr id="70" name="Line 5"/>
              <p:cNvSpPr>
                <a:spLocks noChangeShapeType="1"/>
              </p:cNvSpPr>
              <p:nvPr/>
            </p:nvSpPr>
            <p:spPr bwMode="auto">
              <a:xfrm>
                <a:off x="1676901" y="4456704"/>
                <a:ext cx="634949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>
                <a:off x="6862904" y="4383458"/>
                <a:ext cx="1792201" cy="8455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i="0" dirty="0"/>
                  <a:t>Time</a:t>
                </a:r>
              </a:p>
            </p:txBody>
          </p:sp>
          <p:cxnSp>
            <p:nvCxnSpPr>
              <p:cNvPr id="72" name="Straight Arrow Connector 71"/>
              <p:cNvCxnSpPr>
                <a:stCxn id="70" idx="0"/>
              </p:cNvCxnSpPr>
              <p:nvPr/>
            </p:nvCxnSpPr>
            <p:spPr bwMode="auto">
              <a:xfrm flipV="1">
                <a:off x="1676900" y="2090703"/>
                <a:ext cx="0" cy="2366000"/>
              </a:xfrm>
              <a:prstGeom prst="straightConnector1">
                <a:avLst/>
              </a:prstGeom>
              <a:noFill/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sp>
            <p:nvSpPr>
              <p:cNvPr id="73" name="TextBox 72"/>
              <p:cNvSpPr txBox="1"/>
              <p:nvPr/>
            </p:nvSpPr>
            <p:spPr>
              <a:xfrm rot="16200000">
                <a:off x="-581521" y="3263155"/>
                <a:ext cx="2976956" cy="997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b="1" i="0" dirty="0"/>
                  <a:t>Generation</a:t>
                </a:r>
              </a:p>
            </p:txBody>
          </p:sp>
        </p:grpSp>
        <p:sp>
          <p:nvSpPr>
            <p:cNvPr id="4" name="Freeform 3"/>
            <p:cNvSpPr/>
            <p:nvPr/>
          </p:nvSpPr>
          <p:spPr bwMode="auto">
            <a:xfrm>
              <a:off x="3149600" y="2286000"/>
              <a:ext cx="2228850" cy="622300"/>
            </a:xfrm>
            <a:custGeom>
              <a:avLst/>
              <a:gdLst>
                <a:gd name="connsiteX0" fmla="*/ 0 w 2228850"/>
                <a:gd name="connsiteY0" fmla="*/ 622300 h 622300"/>
                <a:gd name="connsiteX1" fmla="*/ 863600 w 2228850"/>
                <a:gd name="connsiteY1" fmla="*/ 622300 h 622300"/>
                <a:gd name="connsiteX2" fmla="*/ 1168400 w 2228850"/>
                <a:gd name="connsiteY2" fmla="*/ 0 h 622300"/>
                <a:gd name="connsiteX3" fmla="*/ 1803400 w 2228850"/>
                <a:gd name="connsiteY3" fmla="*/ 0 h 622300"/>
                <a:gd name="connsiteX4" fmla="*/ 2082800 w 2228850"/>
                <a:gd name="connsiteY4" fmla="*/ 615950 h 622300"/>
                <a:gd name="connsiteX5" fmla="*/ 2228850 w 2228850"/>
                <a:gd name="connsiteY5" fmla="*/ 615950 h 622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28850" h="622300">
                  <a:moveTo>
                    <a:pt x="0" y="622300"/>
                  </a:moveTo>
                  <a:lnTo>
                    <a:pt x="863600" y="622300"/>
                  </a:lnTo>
                  <a:lnTo>
                    <a:pt x="1168400" y="0"/>
                  </a:lnTo>
                  <a:lnTo>
                    <a:pt x="1803400" y="0"/>
                  </a:lnTo>
                  <a:lnTo>
                    <a:pt x="2082800" y="615950"/>
                  </a:lnTo>
                  <a:lnTo>
                    <a:pt x="2228850" y="615950"/>
                  </a:lnTo>
                </a:path>
              </a:pathLst>
            </a:cu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9396" name="Group 59395"/>
          <p:cNvGrpSpPr/>
          <p:nvPr/>
        </p:nvGrpSpPr>
        <p:grpSpPr>
          <a:xfrm>
            <a:off x="4199684" y="3058228"/>
            <a:ext cx="3054601" cy="1380086"/>
            <a:chOff x="2675684" y="3058227"/>
            <a:chExt cx="3054601" cy="1380086"/>
          </a:xfrm>
        </p:grpSpPr>
        <p:grpSp>
          <p:nvGrpSpPr>
            <p:cNvPr id="75" name="Group 74"/>
            <p:cNvGrpSpPr/>
            <p:nvPr/>
          </p:nvGrpSpPr>
          <p:grpSpPr>
            <a:xfrm>
              <a:off x="2675684" y="3058227"/>
              <a:ext cx="3054601" cy="1380086"/>
              <a:chOff x="408402" y="2090703"/>
              <a:chExt cx="8246703" cy="3159485"/>
            </a:xfrm>
          </p:grpSpPr>
          <p:sp>
            <p:nvSpPr>
              <p:cNvPr id="77" name="Line 5"/>
              <p:cNvSpPr>
                <a:spLocks noChangeShapeType="1"/>
              </p:cNvSpPr>
              <p:nvPr/>
            </p:nvSpPr>
            <p:spPr bwMode="auto">
              <a:xfrm>
                <a:off x="1676901" y="4456704"/>
                <a:ext cx="634949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8" name="TextBox 77"/>
              <p:cNvSpPr txBox="1"/>
              <p:nvPr/>
            </p:nvSpPr>
            <p:spPr>
              <a:xfrm>
                <a:off x="6862904" y="4383458"/>
                <a:ext cx="1792201" cy="8455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i="0" dirty="0"/>
                  <a:t>Time</a:t>
                </a:r>
              </a:p>
            </p:txBody>
          </p:sp>
          <p:cxnSp>
            <p:nvCxnSpPr>
              <p:cNvPr id="79" name="Straight Arrow Connector 78"/>
              <p:cNvCxnSpPr>
                <a:stCxn id="77" idx="0"/>
              </p:cNvCxnSpPr>
              <p:nvPr/>
            </p:nvCxnSpPr>
            <p:spPr bwMode="auto">
              <a:xfrm flipV="1">
                <a:off x="1676900" y="2090703"/>
                <a:ext cx="0" cy="2366000"/>
              </a:xfrm>
              <a:prstGeom prst="straightConnector1">
                <a:avLst/>
              </a:prstGeom>
              <a:noFill/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sp>
            <p:nvSpPr>
              <p:cNvPr id="80" name="TextBox 79"/>
              <p:cNvSpPr txBox="1"/>
              <p:nvPr/>
            </p:nvSpPr>
            <p:spPr>
              <a:xfrm rot="16200000">
                <a:off x="-581521" y="3263155"/>
                <a:ext cx="2976956" cy="997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b="1" i="0" dirty="0"/>
                  <a:t>Generation</a:t>
                </a:r>
              </a:p>
            </p:txBody>
          </p:sp>
        </p:grpSp>
        <p:sp>
          <p:nvSpPr>
            <p:cNvPr id="5" name="Freeform 4"/>
            <p:cNvSpPr/>
            <p:nvPr/>
          </p:nvSpPr>
          <p:spPr bwMode="auto">
            <a:xfrm>
              <a:off x="3257550" y="3429000"/>
              <a:ext cx="1752600" cy="676275"/>
            </a:xfrm>
            <a:custGeom>
              <a:avLst/>
              <a:gdLst>
                <a:gd name="connsiteX0" fmla="*/ 0 w 1752600"/>
                <a:gd name="connsiteY0" fmla="*/ 657225 h 676275"/>
                <a:gd name="connsiteX1" fmla="*/ 295275 w 1752600"/>
                <a:gd name="connsiteY1" fmla="*/ 219075 h 676275"/>
                <a:gd name="connsiteX2" fmla="*/ 571500 w 1752600"/>
                <a:gd name="connsiteY2" fmla="*/ 219075 h 676275"/>
                <a:gd name="connsiteX3" fmla="*/ 723900 w 1752600"/>
                <a:gd name="connsiteY3" fmla="*/ 0 h 676275"/>
                <a:gd name="connsiteX4" fmla="*/ 1314450 w 1752600"/>
                <a:gd name="connsiteY4" fmla="*/ 0 h 676275"/>
                <a:gd name="connsiteX5" fmla="*/ 1428750 w 1752600"/>
                <a:gd name="connsiteY5" fmla="*/ 352425 h 676275"/>
                <a:gd name="connsiteX6" fmla="*/ 1647825 w 1752600"/>
                <a:gd name="connsiteY6" fmla="*/ 352425 h 676275"/>
                <a:gd name="connsiteX7" fmla="*/ 1752600 w 1752600"/>
                <a:gd name="connsiteY7" fmla="*/ 676275 h 67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52600" h="676275">
                  <a:moveTo>
                    <a:pt x="0" y="657225"/>
                  </a:moveTo>
                  <a:lnTo>
                    <a:pt x="295275" y="219075"/>
                  </a:lnTo>
                  <a:lnTo>
                    <a:pt x="571500" y="219075"/>
                  </a:lnTo>
                  <a:lnTo>
                    <a:pt x="723900" y="0"/>
                  </a:lnTo>
                  <a:lnTo>
                    <a:pt x="1314450" y="0"/>
                  </a:lnTo>
                  <a:lnTo>
                    <a:pt x="1428750" y="352425"/>
                  </a:lnTo>
                  <a:lnTo>
                    <a:pt x="1647825" y="352425"/>
                  </a:lnTo>
                  <a:lnTo>
                    <a:pt x="1752600" y="676275"/>
                  </a:lnTo>
                </a:path>
              </a:pathLst>
            </a:cu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9394" name="Group 59393"/>
          <p:cNvGrpSpPr/>
          <p:nvPr/>
        </p:nvGrpSpPr>
        <p:grpSpPr>
          <a:xfrm>
            <a:off x="2095148" y="3421072"/>
            <a:ext cx="3054601" cy="1380086"/>
            <a:chOff x="571148" y="3421071"/>
            <a:chExt cx="3054601" cy="1380086"/>
          </a:xfrm>
        </p:grpSpPr>
        <p:grpSp>
          <p:nvGrpSpPr>
            <p:cNvPr id="61" name="Group 60"/>
            <p:cNvGrpSpPr/>
            <p:nvPr/>
          </p:nvGrpSpPr>
          <p:grpSpPr>
            <a:xfrm>
              <a:off x="571148" y="3421071"/>
              <a:ext cx="3054601" cy="1380086"/>
              <a:chOff x="408402" y="2090703"/>
              <a:chExt cx="8246703" cy="3159485"/>
            </a:xfrm>
          </p:grpSpPr>
          <p:sp>
            <p:nvSpPr>
              <p:cNvPr id="63" name="Line 5"/>
              <p:cNvSpPr>
                <a:spLocks noChangeShapeType="1"/>
              </p:cNvSpPr>
              <p:nvPr/>
            </p:nvSpPr>
            <p:spPr bwMode="auto">
              <a:xfrm>
                <a:off x="1676901" y="4456704"/>
                <a:ext cx="634949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6862904" y="4383458"/>
                <a:ext cx="1792201" cy="8455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i="0" dirty="0"/>
                  <a:t>Time</a:t>
                </a:r>
              </a:p>
            </p:txBody>
          </p:sp>
          <p:cxnSp>
            <p:nvCxnSpPr>
              <p:cNvPr id="65" name="Straight Arrow Connector 64"/>
              <p:cNvCxnSpPr>
                <a:stCxn id="63" idx="0"/>
              </p:cNvCxnSpPr>
              <p:nvPr/>
            </p:nvCxnSpPr>
            <p:spPr bwMode="auto">
              <a:xfrm flipV="1">
                <a:off x="1676900" y="2090703"/>
                <a:ext cx="0" cy="2366000"/>
              </a:xfrm>
              <a:prstGeom prst="straightConnector1">
                <a:avLst/>
              </a:prstGeom>
              <a:noFill/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sp>
            <p:nvSpPr>
              <p:cNvPr id="66" name="TextBox 65"/>
              <p:cNvSpPr txBox="1"/>
              <p:nvPr/>
            </p:nvSpPr>
            <p:spPr>
              <a:xfrm rot="16200000">
                <a:off x="-581521" y="3263155"/>
                <a:ext cx="2976956" cy="997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b="1" i="0" dirty="0"/>
                  <a:t>Generation</a:t>
                </a:r>
              </a:p>
            </p:txBody>
          </p:sp>
        </p:grpSp>
        <p:sp>
          <p:nvSpPr>
            <p:cNvPr id="12" name="Freeform 11"/>
            <p:cNvSpPr/>
            <p:nvPr/>
          </p:nvSpPr>
          <p:spPr bwMode="auto">
            <a:xfrm>
              <a:off x="1409700" y="3648075"/>
              <a:ext cx="1266825" cy="819150"/>
            </a:xfrm>
            <a:custGeom>
              <a:avLst/>
              <a:gdLst>
                <a:gd name="connsiteX0" fmla="*/ 0 w 1266825"/>
                <a:gd name="connsiteY0" fmla="*/ 800100 h 819150"/>
                <a:gd name="connsiteX1" fmla="*/ 361950 w 1266825"/>
                <a:gd name="connsiteY1" fmla="*/ 0 h 819150"/>
                <a:gd name="connsiteX2" fmla="*/ 942975 w 1266825"/>
                <a:gd name="connsiteY2" fmla="*/ 0 h 819150"/>
                <a:gd name="connsiteX3" fmla="*/ 1266825 w 1266825"/>
                <a:gd name="connsiteY3" fmla="*/ 819150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6825" h="819150">
                  <a:moveTo>
                    <a:pt x="0" y="800100"/>
                  </a:moveTo>
                  <a:lnTo>
                    <a:pt x="361950" y="0"/>
                  </a:lnTo>
                  <a:lnTo>
                    <a:pt x="942975" y="0"/>
                  </a:lnTo>
                  <a:lnTo>
                    <a:pt x="1266825" y="819150"/>
                  </a:lnTo>
                </a:path>
              </a:pathLst>
            </a:cu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9395" name="Group 59394"/>
          <p:cNvGrpSpPr/>
          <p:nvPr/>
        </p:nvGrpSpPr>
        <p:grpSpPr>
          <a:xfrm>
            <a:off x="2853345" y="914412"/>
            <a:ext cx="3054601" cy="1380086"/>
            <a:chOff x="1329345" y="914411"/>
            <a:chExt cx="3054601" cy="1380086"/>
          </a:xfrm>
        </p:grpSpPr>
        <p:grpSp>
          <p:nvGrpSpPr>
            <p:cNvPr id="110" name="Group 109"/>
            <p:cNvGrpSpPr/>
            <p:nvPr/>
          </p:nvGrpSpPr>
          <p:grpSpPr>
            <a:xfrm>
              <a:off x="1329345" y="914411"/>
              <a:ext cx="3054601" cy="1380086"/>
              <a:chOff x="408402" y="2090703"/>
              <a:chExt cx="8246703" cy="3159485"/>
            </a:xfrm>
          </p:grpSpPr>
          <p:sp>
            <p:nvSpPr>
              <p:cNvPr id="112" name="Line 5"/>
              <p:cNvSpPr>
                <a:spLocks noChangeShapeType="1"/>
              </p:cNvSpPr>
              <p:nvPr/>
            </p:nvSpPr>
            <p:spPr bwMode="auto">
              <a:xfrm>
                <a:off x="1676901" y="4456704"/>
                <a:ext cx="634949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3" name="TextBox 112"/>
              <p:cNvSpPr txBox="1"/>
              <p:nvPr/>
            </p:nvSpPr>
            <p:spPr>
              <a:xfrm>
                <a:off x="6862904" y="4383458"/>
                <a:ext cx="1792201" cy="8455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i="0" dirty="0"/>
                  <a:t>Time</a:t>
                </a:r>
              </a:p>
            </p:txBody>
          </p:sp>
          <p:cxnSp>
            <p:nvCxnSpPr>
              <p:cNvPr id="114" name="Straight Arrow Connector 113"/>
              <p:cNvCxnSpPr>
                <a:stCxn id="112" idx="0"/>
              </p:cNvCxnSpPr>
              <p:nvPr/>
            </p:nvCxnSpPr>
            <p:spPr bwMode="auto">
              <a:xfrm flipV="1">
                <a:off x="1676900" y="2090703"/>
                <a:ext cx="0" cy="2366000"/>
              </a:xfrm>
              <a:prstGeom prst="straightConnector1">
                <a:avLst/>
              </a:prstGeom>
              <a:noFill/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sp>
            <p:nvSpPr>
              <p:cNvPr id="115" name="TextBox 114"/>
              <p:cNvSpPr txBox="1"/>
              <p:nvPr/>
            </p:nvSpPr>
            <p:spPr>
              <a:xfrm rot="16200000">
                <a:off x="-581521" y="3263155"/>
                <a:ext cx="2976956" cy="997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b="1" i="0" dirty="0"/>
                  <a:t>Generation</a:t>
                </a:r>
              </a:p>
            </p:txBody>
          </p:sp>
        </p:grpSp>
        <p:sp>
          <p:nvSpPr>
            <p:cNvPr id="13" name="Freeform 12"/>
            <p:cNvSpPr/>
            <p:nvPr/>
          </p:nvSpPr>
          <p:spPr bwMode="auto">
            <a:xfrm>
              <a:off x="1981200" y="1638300"/>
              <a:ext cx="2038350" cy="323850"/>
            </a:xfrm>
            <a:custGeom>
              <a:avLst/>
              <a:gdLst>
                <a:gd name="connsiteX0" fmla="*/ 0 w 2038350"/>
                <a:gd name="connsiteY0" fmla="*/ 304800 h 323850"/>
                <a:gd name="connsiteX1" fmla="*/ 209550 w 2038350"/>
                <a:gd name="connsiteY1" fmla="*/ 0 h 323850"/>
                <a:gd name="connsiteX2" fmla="*/ 1866900 w 2038350"/>
                <a:gd name="connsiteY2" fmla="*/ 0 h 323850"/>
                <a:gd name="connsiteX3" fmla="*/ 2038350 w 2038350"/>
                <a:gd name="connsiteY3" fmla="*/ 323850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8350" h="323850">
                  <a:moveTo>
                    <a:pt x="0" y="304800"/>
                  </a:moveTo>
                  <a:lnTo>
                    <a:pt x="209550" y="0"/>
                  </a:lnTo>
                  <a:lnTo>
                    <a:pt x="1866900" y="0"/>
                  </a:lnTo>
                  <a:lnTo>
                    <a:pt x="2038350" y="323850"/>
                  </a:lnTo>
                </a:path>
              </a:pathLst>
            </a:cu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5905795" y="4373957"/>
            <a:ext cx="3054601" cy="1380086"/>
            <a:chOff x="4381795" y="4373956"/>
            <a:chExt cx="3054601" cy="1380086"/>
          </a:xfrm>
        </p:grpSpPr>
        <p:grpSp>
          <p:nvGrpSpPr>
            <p:cNvPr id="96" name="Group 95"/>
            <p:cNvGrpSpPr/>
            <p:nvPr/>
          </p:nvGrpSpPr>
          <p:grpSpPr>
            <a:xfrm>
              <a:off x="4381795" y="4373956"/>
              <a:ext cx="3054601" cy="1380086"/>
              <a:chOff x="408402" y="2090703"/>
              <a:chExt cx="8246703" cy="3159485"/>
            </a:xfrm>
          </p:grpSpPr>
          <p:sp>
            <p:nvSpPr>
              <p:cNvPr id="98" name="Line 5"/>
              <p:cNvSpPr>
                <a:spLocks noChangeShapeType="1"/>
              </p:cNvSpPr>
              <p:nvPr/>
            </p:nvSpPr>
            <p:spPr bwMode="auto">
              <a:xfrm>
                <a:off x="1676901" y="4456704"/>
                <a:ext cx="634949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99" name="TextBox 98"/>
              <p:cNvSpPr txBox="1"/>
              <p:nvPr/>
            </p:nvSpPr>
            <p:spPr>
              <a:xfrm>
                <a:off x="6862904" y="4383458"/>
                <a:ext cx="1792201" cy="8455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i="0" dirty="0"/>
                  <a:t>Time</a:t>
                </a:r>
              </a:p>
            </p:txBody>
          </p:sp>
          <p:cxnSp>
            <p:nvCxnSpPr>
              <p:cNvPr id="100" name="Straight Arrow Connector 99"/>
              <p:cNvCxnSpPr>
                <a:stCxn id="98" idx="0"/>
              </p:cNvCxnSpPr>
              <p:nvPr/>
            </p:nvCxnSpPr>
            <p:spPr bwMode="auto">
              <a:xfrm flipV="1">
                <a:off x="1676900" y="2090703"/>
                <a:ext cx="0" cy="2366000"/>
              </a:xfrm>
              <a:prstGeom prst="straightConnector1">
                <a:avLst/>
              </a:prstGeom>
              <a:noFill/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sp>
            <p:nvSpPr>
              <p:cNvPr id="101" name="TextBox 100"/>
              <p:cNvSpPr txBox="1"/>
              <p:nvPr/>
            </p:nvSpPr>
            <p:spPr>
              <a:xfrm rot="16200000">
                <a:off x="-581521" y="3263155"/>
                <a:ext cx="2976956" cy="997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b="1" i="0" dirty="0"/>
                  <a:t>Generation</a:t>
                </a:r>
              </a:p>
            </p:txBody>
          </p:sp>
        </p:grpSp>
        <p:sp>
          <p:nvSpPr>
            <p:cNvPr id="119" name="Freeform 118"/>
            <p:cNvSpPr/>
            <p:nvPr/>
          </p:nvSpPr>
          <p:spPr bwMode="auto">
            <a:xfrm>
              <a:off x="4972105" y="4788958"/>
              <a:ext cx="2228850" cy="622300"/>
            </a:xfrm>
            <a:custGeom>
              <a:avLst/>
              <a:gdLst>
                <a:gd name="connsiteX0" fmla="*/ 0 w 2228850"/>
                <a:gd name="connsiteY0" fmla="*/ 622300 h 622300"/>
                <a:gd name="connsiteX1" fmla="*/ 863600 w 2228850"/>
                <a:gd name="connsiteY1" fmla="*/ 622300 h 622300"/>
                <a:gd name="connsiteX2" fmla="*/ 1168400 w 2228850"/>
                <a:gd name="connsiteY2" fmla="*/ 0 h 622300"/>
                <a:gd name="connsiteX3" fmla="*/ 1803400 w 2228850"/>
                <a:gd name="connsiteY3" fmla="*/ 0 h 622300"/>
                <a:gd name="connsiteX4" fmla="*/ 2082800 w 2228850"/>
                <a:gd name="connsiteY4" fmla="*/ 615950 h 622300"/>
                <a:gd name="connsiteX5" fmla="*/ 2228850 w 2228850"/>
                <a:gd name="connsiteY5" fmla="*/ 615950 h 622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28850" h="622300">
                  <a:moveTo>
                    <a:pt x="0" y="622300"/>
                  </a:moveTo>
                  <a:lnTo>
                    <a:pt x="863600" y="622300"/>
                  </a:lnTo>
                  <a:lnTo>
                    <a:pt x="1168400" y="0"/>
                  </a:lnTo>
                  <a:lnTo>
                    <a:pt x="1803400" y="0"/>
                  </a:lnTo>
                  <a:lnTo>
                    <a:pt x="2082800" y="615950"/>
                  </a:lnTo>
                  <a:lnTo>
                    <a:pt x="2228850" y="615950"/>
                  </a:lnTo>
                </a:path>
              </a:pathLst>
            </a:cu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23" name="Group 122"/>
          <p:cNvGrpSpPr/>
          <p:nvPr/>
        </p:nvGrpSpPr>
        <p:grpSpPr>
          <a:xfrm>
            <a:off x="7895286" y="4079567"/>
            <a:ext cx="3054601" cy="1380086"/>
            <a:chOff x="6371286" y="4079566"/>
            <a:chExt cx="3054601" cy="1380086"/>
          </a:xfrm>
        </p:grpSpPr>
        <p:grpSp>
          <p:nvGrpSpPr>
            <p:cNvPr id="124" name="Group 123"/>
            <p:cNvGrpSpPr/>
            <p:nvPr/>
          </p:nvGrpSpPr>
          <p:grpSpPr>
            <a:xfrm>
              <a:off x="6371286" y="4079566"/>
              <a:ext cx="3054601" cy="1380086"/>
              <a:chOff x="408402" y="2090703"/>
              <a:chExt cx="8246703" cy="3159485"/>
            </a:xfrm>
          </p:grpSpPr>
          <p:sp>
            <p:nvSpPr>
              <p:cNvPr id="126" name="Line 5"/>
              <p:cNvSpPr>
                <a:spLocks noChangeShapeType="1"/>
              </p:cNvSpPr>
              <p:nvPr/>
            </p:nvSpPr>
            <p:spPr bwMode="auto">
              <a:xfrm>
                <a:off x="1676901" y="4456704"/>
                <a:ext cx="634949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27" name="TextBox 126"/>
              <p:cNvSpPr txBox="1"/>
              <p:nvPr/>
            </p:nvSpPr>
            <p:spPr>
              <a:xfrm>
                <a:off x="6862904" y="4383458"/>
                <a:ext cx="1792201" cy="8455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i="0" dirty="0"/>
                  <a:t>Time</a:t>
                </a:r>
              </a:p>
            </p:txBody>
          </p:sp>
          <p:cxnSp>
            <p:nvCxnSpPr>
              <p:cNvPr id="128" name="Straight Arrow Connector 127"/>
              <p:cNvCxnSpPr>
                <a:stCxn id="126" idx="0"/>
              </p:cNvCxnSpPr>
              <p:nvPr/>
            </p:nvCxnSpPr>
            <p:spPr bwMode="auto">
              <a:xfrm flipV="1">
                <a:off x="1676900" y="2090703"/>
                <a:ext cx="0" cy="2366000"/>
              </a:xfrm>
              <a:prstGeom prst="straightConnector1">
                <a:avLst/>
              </a:prstGeom>
              <a:noFill/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sp>
            <p:nvSpPr>
              <p:cNvPr id="129" name="TextBox 128"/>
              <p:cNvSpPr txBox="1"/>
              <p:nvPr/>
            </p:nvSpPr>
            <p:spPr>
              <a:xfrm rot="16200000">
                <a:off x="-581521" y="3263155"/>
                <a:ext cx="2976956" cy="997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b="1" i="0" dirty="0"/>
                  <a:t>Generation</a:t>
                </a:r>
              </a:p>
            </p:txBody>
          </p:sp>
        </p:grpSp>
        <p:sp>
          <p:nvSpPr>
            <p:cNvPr id="125" name="Freeform 124"/>
            <p:cNvSpPr/>
            <p:nvPr/>
          </p:nvSpPr>
          <p:spPr bwMode="auto">
            <a:xfrm>
              <a:off x="7696200" y="4343400"/>
              <a:ext cx="1362075" cy="752475"/>
            </a:xfrm>
            <a:custGeom>
              <a:avLst/>
              <a:gdLst>
                <a:gd name="connsiteX0" fmla="*/ 0 w 1362075"/>
                <a:gd name="connsiteY0" fmla="*/ 752475 h 752475"/>
                <a:gd name="connsiteX1" fmla="*/ 266700 w 1362075"/>
                <a:gd name="connsiteY1" fmla="*/ 0 h 752475"/>
                <a:gd name="connsiteX2" fmla="*/ 1362075 w 1362075"/>
                <a:gd name="connsiteY2" fmla="*/ 0 h 752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62075" h="752475">
                  <a:moveTo>
                    <a:pt x="0" y="752475"/>
                  </a:moveTo>
                  <a:lnTo>
                    <a:pt x="266700" y="0"/>
                  </a:lnTo>
                  <a:lnTo>
                    <a:pt x="1362075" y="0"/>
                  </a:lnTo>
                </a:path>
              </a:pathLst>
            </a:cu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3465837" y="35637"/>
            <a:ext cx="52309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0" dirty="0"/>
              <a:t>The unit commitment problem (for PJM)</a:t>
            </a:r>
          </a:p>
          <a:p>
            <a:r>
              <a:rPr lang="en-US" sz="2400" i="0" dirty="0"/>
              <a:t>Planning tomorrow’s schedule</a:t>
            </a:r>
          </a:p>
        </p:txBody>
      </p:sp>
    </p:spTree>
    <p:extLst>
      <p:ext uri="{BB962C8B-B14F-4D97-AF65-F5344CB8AC3E}">
        <p14:creationId xmlns:p14="http://schemas.microsoft.com/office/powerpoint/2010/main" val="4277008183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9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9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9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3275" y="107576"/>
            <a:ext cx="8042276" cy="826592"/>
          </a:xfrm>
        </p:spPr>
        <p:txBody>
          <a:bodyPr/>
          <a:lstStyle/>
          <a:p>
            <a:r>
              <a:rPr lang="en-US" dirty="0"/>
              <a:t>DLA-based lookahead policy: two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650" y="1170859"/>
            <a:ext cx="9491849" cy="5179385"/>
          </a:xfrm>
        </p:spPr>
        <p:txBody>
          <a:bodyPr>
            <a:normAutofit/>
          </a:bodyPr>
          <a:lstStyle/>
          <a:p>
            <a:pPr marL="86360" indent="0">
              <a:buNone/>
            </a:pPr>
            <a:r>
              <a:rPr lang="en-US" sz="2400" dirty="0"/>
              <a:t>Actual vs. forecasted energy from wind</a:t>
            </a:r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322902"/>
            <a:ext cx="9144000" cy="3937093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3333749" y="2667000"/>
            <a:ext cx="5481015" cy="988610"/>
            <a:chOff x="1809749" y="2717800"/>
            <a:chExt cx="5481015" cy="9886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/>
                <p:cNvSpPr txBox="1"/>
                <p:nvPr/>
              </p:nvSpPr>
              <p:spPr>
                <a:xfrm>
                  <a:off x="2082800" y="2717800"/>
                  <a:ext cx="5207964" cy="71154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2000" dirty="0"/>
                    <a:t>This is our forecast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p>
                      </m:sSubSup>
                    </m:oMath>
                  </a14:m>
                  <a:r>
                    <a:rPr lang="en-US" sz="2000" dirty="0"/>
                    <a:t> of the wind power at </a:t>
                  </a:r>
                </a:p>
                <a:p>
                  <a:pPr algn="l"/>
                  <a:r>
                    <a:rPr lang="en-US" sz="2000" dirty="0"/>
                    <a:t>time t’, made at time t.</a:t>
                  </a:r>
                </a:p>
              </p:txBody>
            </p:sp>
          </mc:Choice>
          <mc:Fallback xmlns="">
            <p:sp>
              <p:nvSpPr>
                <p:cNvPr id="4" name="TextBox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82800" y="2717800"/>
                  <a:ext cx="5207964" cy="711541"/>
                </a:xfrm>
                <a:prstGeom prst="rect">
                  <a:avLst/>
                </a:prstGeom>
                <a:blipFill>
                  <a:blip r:embed="rId3"/>
                  <a:stretch>
                    <a:fillRect l="-1168" t="-3390" r="-117" b="-1355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Arc 7"/>
            <p:cNvSpPr/>
            <p:nvPr/>
          </p:nvSpPr>
          <p:spPr bwMode="auto">
            <a:xfrm rot="16020412">
              <a:off x="1732694" y="3032456"/>
              <a:ext cx="751009" cy="596900"/>
            </a:xfrm>
            <a:prstGeom prst="arc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arrow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210049" y="3556000"/>
            <a:ext cx="5500764" cy="1052110"/>
            <a:chOff x="2762249" y="3632200"/>
            <a:chExt cx="5500764" cy="1052110"/>
          </a:xfrm>
        </p:grpSpPr>
        <p:sp>
          <p:nvSpPr>
            <p:cNvPr id="7" name="TextBox 6"/>
            <p:cNvSpPr txBox="1"/>
            <p:nvPr/>
          </p:nvSpPr>
          <p:spPr>
            <a:xfrm>
              <a:off x="3035300" y="3632200"/>
              <a:ext cx="5227713" cy="70788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D60093"/>
              </a:solidFill>
            </a:ln>
          </p:spPr>
          <p:txBody>
            <a:bodyPr wrap="none" rtlCol="0">
              <a:spAutoFit/>
            </a:bodyPr>
            <a:lstStyle/>
            <a:p>
              <a:pPr algn="l"/>
              <a:r>
                <a:rPr lang="en-US" sz="2000" dirty="0">
                  <a:solidFill>
                    <a:srgbClr val="D60093"/>
                  </a:solidFill>
                </a:rPr>
                <a:t>This is the actual energy from wind, showing</a:t>
              </a:r>
            </a:p>
            <a:p>
              <a:pPr algn="l"/>
              <a:r>
                <a:rPr lang="en-US" sz="2000" dirty="0">
                  <a:solidFill>
                    <a:srgbClr val="D60093"/>
                  </a:solidFill>
                </a:rPr>
                <a:t>the deviations from forecast.</a:t>
              </a:r>
            </a:p>
          </p:txBody>
        </p:sp>
        <p:sp>
          <p:nvSpPr>
            <p:cNvPr id="11" name="Arc 10"/>
            <p:cNvSpPr/>
            <p:nvPr/>
          </p:nvSpPr>
          <p:spPr bwMode="auto">
            <a:xfrm rot="16020412">
              <a:off x="2685194" y="4010356"/>
              <a:ext cx="751009" cy="596900"/>
            </a:xfrm>
            <a:prstGeom prst="arc">
              <a:avLst>
                <a:gd name="adj1" fmla="val 18270084"/>
                <a:gd name="adj2" fmla="val 0"/>
              </a:avLst>
            </a:prstGeom>
            <a:noFill/>
            <a:ln w="9525" cap="flat" cmpd="sng" algn="ctr">
              <a:solidFill>
                <a:srgbClr val="D60093"/>
              </a:solidFill>
              <a:prstDash val="solid"/>
              <a:round/>
              <a:headEnd type="arrow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/>
          <p:cNvSpPr/>
          <p:nvPr/>
        </p:nvSpPr>
        <p:spPr bwMode="auto">
          <a:xfrm>
            <a:off x="3949850" y="2297502"/>
            <a:ext cx="4379719" cy="34409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pic>
        <p:nvPicPr>
          <p:cNvPr id="897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9538" y="2241550"/>
            <a:ext cx="4410030" cy="289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4"/>
              <p:cNvSpPr txBox="1"/>
              <p:nvPr/>
            </p:nvSpPr>
            <p:spPr>
              <a:xfrm>
                <a:off x="1821908" y="6230785"/>
                <a:ext cx="2185817" cy="382518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i="0">
                          <a:latin typeface="Cambria Math" panose="02040503050406030204" pitchFamily="18" charset="0"/>
                        </a:rPr>
                        <m:t>Current time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5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1908" y="6230785"/>
                <a:ext cx="2185817" cy="3825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/>
          <p:nvPr/>
        </p:nvCxnSpPr>
        <p:spPr bwMode="auto">
          <a:xfrm flipV="1">
            <a:off x="1929114" y="5833644"/>
            <a:ext cx="0" cy="358815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8"/>
              <p:cNvSpPr txBox="1"/>
              <p:nvPr/>
            </p:nvSpPr>
            <p:spPr>
              <a:xfrm>
                <a:off x="6758300" y="6194426"/>
                <a:ext cx="3798888" cy="436563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′=</m:t>
                      </m:r>
                      <m:r>
                        <m:rPr>
                          <m:nor/>
                        </m:rPr>
                        <a:rPr lang="en-US" i="0">
                          <a:latin typeface="Cambria Math" panose="02040503050406030204" pitchFamily="18" charset="0"/>
                        </a:rPr>
                        <m:t>Some point in the future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9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8300" y="6194426"/>
                <a:ext cx="3798888" cy="4365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 bwMode="auto">
          <a:xfrm>
            <a:off x="5505692" y="6003400"/>
            <a:ext cx="1386177" cy="189058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20" name="Straight Arrow Connector 19"/>
          <p:cNvCxnSpPr/>
          <p:nvPr/>
        </p:nvCxnSpPr>
        <p:spPr bwMode="auto">
          <a:xfrm flipV="1">
            <a:off x="6838839" y="5823994"/>
            <a:ext cx="0" cy="358815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3454915565"/>
      </p:ext>
    </p:extLst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3275" y="107576"/>
            <a:ext cx="8042276" cy="826592"/>
          </a:xfrm>
        </p:spPr>
        <p:txBody>
          <a:bodyPr/>
          <a:lstStyle/>
          <a:p>
            <a:r>
              <a:rPr lang="en-US" dirty="0"/>
              <a:t>DLA-based lookahead policy: two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3275" y="1170859"/>
            <a:ext cx="8319224" cy="5179385"/>
          </a:xfrm>
        </p:spPr>
        <p:txBody>
          <a:bodyPr>
            <a:normAutofit/>
          </a:bodyPr>
          <a:lstStyle/>
          <a:p>
            <a:pPr marL="86360" indent="0">
              <a:buNone/>
            </a:pPr>
            <a:r>
              <a:rPr lang="en-US" sz="2400" dirty="0"/>
              <a:t>Creating wind scenarios (Scenario #1)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2845" y="2375602"/>
            <a:ext cx="9126311" cy="3933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204191"/>
      </p:ext>
    </p:extLst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3275" y="107576"/>
            <a:ext cx="8042276" cy="826592"/>
          </a:xfrm>
        </p:spPr>
        <p:txBody>
          <a:bodyPr/>
          <a:lstStyle/>
          <a:p>
            <a:r>
              <a:rPr lang="en-US" dirty="0"/>
              <a:t>DLA-based lookahead policy: two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3275" y="1170859"/>
            <a:ext cx="8319224" cy="5179385"/>
          </a:xfrm>
        </p:spPr>
        <p:txBody>
          <a:bodyPr>
            <a:normAutofit/>
          </a:bodyPr>
          <a:lstStyle/>
          <a:p>
            <a:pPr marL="86360" indent="0">
              <a:buNone/>
            </a:pPr>
            <a:r>
              <a:rPr lang="en-US" sz="2400" dirty="0"/>
              <a:t>Creating wind scenarios (Scenario #2)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436" y="2373702"/>
            <a:ext cx="9135128" cy="3937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352371"/>
      </p:ext>
    </p:extLst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3275" y="107576"/>
            <a:ext cx="8042276" cy="826592"/>
          </a:xfrm>
        </p:spPr>
        <p:txBody>
          <a:bodyPr/>
          <a:lstStyle/>
          <a:p>
            <a:r>
              <a:rPr lang="en-US" dirty="0"/>
              <a:t>DLA-based lookahead policy: two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3275" y="1170859"/>
            <a:ext cx="8319224" cy="5179385"/>
          </a:xfrm>
        </p:spPr>
        <p:txBody>
          <a:bodyPr>
            <a:normAutofit/>
          </a:bodyPr>
          <a:lstStyle/>
          <a:p>
            <a:pPr marL="86360" indent="0">
              <a:buNone/>
            </a:pPr>
            <a:r>
              <a:rPr lang="en-US" sz="2400" dirty="0"/>
              <a:t>Creating wind scenarios (Scenario #3)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7356" y="2374680"/>
            <a:ext cx="9137289" cy="393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807905"/>
      </p:ext>
    </p:extLst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3275" y="107576"/>
            <a:ext cx="8042276" cy="826592"/>
          </a:xfrm>
        </p:spPr>
        <p:txBody>
          <a:bodyPr/>
          <a:lstStyle/>
          <a:p>
            <a:r>
              <a:rPr lang="en-US" dirty="0"/>
              <a:t>DLA-based lookahead policy: two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3275" y="1170859"/>
            <a:ext cx="8319224" cy="5179385"/>
          </a:xfrm>
        </p:spPr>
        <p:txBody>
          <a:bodyPr>
            <a:normAutofit/>
          </a:bodyPr>
          <a:lstStyle/>
          <a:p>
            <a:pPr marL="86360" indent="0">
              <a:buNone/>
            </a:pPr>
            <a:r>
              <a:rPr lang="en-US" sz="2400" dirty="0"/>
              <a:t>Creating wind scenarios (Scenario #4)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775" y="2371790"/>
            <a:ext cx="9128448" cy="394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551553"/>
      </p:ext>
    </p:extLst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3275" y="107576"/>
            <a:ext cx="8042276" cy="826592"/>
          </a:xfrm>
        </p:spPr>
        <p:txBody>
          <a:bodyPr/>
          <a:lstStyle/>
          <a:p>
            <a:r>
              <a:rPr lang="en-US" dirty="0"/>
              <a:t>DLA-based lookahead policy: two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3275" y="1170859"/>
            <a:ext cx="8319224" cy="5179385"/>
          </a:xfrm>
        </p:spPr>
        <p:txBody>
          <a:bodyPr>
            <a:normAutofit/>
          </a:bodyPr>
          <a:lstStyle/>
          <a:p>
            <a:pPr marL="86360" indent="0">
              <a:buNone/>
            </a:pPr>
            <a:r>
              <a:rPr lang="en-US" sz="2400" dirty="0"/>
              <a:t>Creating wind scenarios (Scenario #5)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249" y="2379911"/>
            <a:ext cx="9097502" cy="392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002559"/>
      </p:ext>
    </p:extLst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143000"/>
            <a:ext cx="7960490" cy="3266954"/>
          </a:xfrm>
        </p:spPr>
        <p:txBody>
          <a:bodyPr/>
          <a:lstStyle/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3104508" y="2212623"/>
            <a:ext cx="5452470" cy="4089403"/>
            <a:chOff x="1580508" y="3287363"/>
            <a:chExt cx="4344695" cy="3014662"/>
          </a:xfrm>
        </p:grpSpPr>
        <p:sp>
          <p:nvSpPr>
            <p:cNvPr id="570" name="Line 5"/>
            <p:cNvSpPr>
              <a:spLocks noChangeShapeType="1"/>
            </p:cNvSpPr>
            <p:nvPr/>
          </p:nvSpPr>
          <p:spPr bwMode="auto">
            <a:xfrm>
              <a:off x="1580508" y="4782112"/>
              <a:ext cx="76014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1" name="Line 6"/>
            <p:cNvSpPr>
              <a:spLocks noChangeShapeType="1"/>
            </p:cNvSpPr>
            <p:nvPr/>
          </p:nvSpPr>
          <p:spPr bwMode="auto">
            <a:xfrm flipV="1">
              <a:off x="2299675" y="4760203"/>
              <a:ext cx="810514" cy="219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2" name="Line 6"/>
            <p:cNvSpPr>
              <a:spLocks noChangeShapeType="1"/>
            </p:cNvSpPr>
            <p:nvPr/>
          </p:nvSpPr>
          <p:spPr bwMode="auto">
            <a:xfrm>
              <a:off x="2323482" y="4779294"/>
              <a:ext cx="750113" cy="78577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4" name="Line 6"/>
            <p:cNvSpPr>
              <a:spLocks noChangeShapeType="1"/>
            </p:cNvSpPr>
            <p:nvPr/>
          </p:nvSpPr>
          <p:spPr bwMode="auto">
            <a:xfrm flipV="1">
              <a:off x="2333007" y="4031263"/>
              <a:ext cx="748740" cy="75321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5" name="Line 6"/>
            <p:cNvSpPr>
              <a:spLocks noChangeShapeType="1"/>
            </p:cNvSpPr>
            <p:nvPr/>
          </p:nvSpPr>
          <p:spPr bwMode="auto">
            <a:xfrm flipV="1">
              <a:off x="2333007" y="3287363"/>
              <a:ext cx="740590" cy="149950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6" name="Line 6"/>
            <p:cNvSpPr>
              <a:spLocks noChangeShapeType="1"/>
            </p:cNvSpPr>
            <p:nvPr/>
          </p:nvSpPr>
          <p:spPr bwMode="auto">
            <a:xfrm>
              <a:off x="2323483" y="4798769"/>
              <a:ext cx="740590" cy="15032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77" name="Group 576"/>
            <p:cNvGrpSpPr/>
            <p:nvPr/>
          </p:nvGrpSpPr>
          <p:grpSpPr>
            <a:xfrm>
              <a:off x="3046747" y="3301654"/>
              <a:ext cx="2878456" cy="2986083"/>
              <a:chOff x="1713990" y="900117"/>
              <a:chExt cx="764550" cy="2986083"/>
            </a:xfrm>
          </p:grpSpPr>
          <p:sp>
            <p:nvSpPr>
              <p:cNvPr id="586" name="Line 12"/>
              <p:cNvSpPr>
                <a:spLocks noChangeShapeType="1"/>
              </p:cNvSpPr>
              <p:nvPr/>
            </p:nvSpPr>
            <p:spPr bwMode="auto">
              <a:xfrm>
                <a:off x="1723655" y="2360725"/>
                <a:ext cx="75488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7" name="Line 12"/>
              <p:cNvSpPr>
                <a:spLocks noChangeShapeType="1"/>
              </p:cNvSpPr>
              <p:nvPr/>
            </p:nvSpPr>
            <p:spPr bwMode="auto">
              <a:xfrm>
                <a:off x="1720597" y="3144519"/>
                <a:ext cx="75488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9" name="Line 12"/>
              <p:cNvSpPr>
                <a:spLocks noChangeShapeType="1"/>
              </p:cNvSpPr>
              <p:nvPr/>
            </p:nvSpPr>
            <p:spPr bwMode="auto">
              <a:xfrm>
                <a:off x="1719999" y="1648818"/>
                <a:ext cx="75488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0" name="Line 12"/>
              <p:cNvSpPr>
                <a:spLocks noChangeShapeType="1"/>
              </p:cNvSpPr>
              <p:nvPr/>
            </p:nvSpPr>
            <p:spPr bwMode="auto">
              <a:xfrm>
                <a:off x="1720753" y="900117"/>
                <a:ext cx="75488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1" name="Line 12"/>
              <p:cNvSpPr>
                <a:spLocks noChangeShapeType="1"/>
              </p:cNvSpPr>
              <p:nvPr/>
            </p:nvSpPr>
            <p:spPr bwMode="auto">
              <a:xfrm>
                <a:off x="1713990" y="3886200"/>
                <a:ext cx="75488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1C40ED6-944E-0308-A0EB-10A8E1BD0A32}"/>
              </a:ext>
            </a:extLst>
          </p:cNvPr>
          <p:cNvGrpSpPr/>
          <p:nvPr/>
        </p:nvGrpSpPr>
        <p:grpSpPr>
          <a:xfrm>
            <a:off x="4989292" y="1747128"/>
            <a:ext cx="3589196" cy="5032317"/>
            <a:chOff x="4989292" y="1747128"/>
            <a:chExt cx="3589196" cy="5032317"/>
          </a:xfrm>
        </p:grpSpPr>
        <p:pic>
          <p:nvPicPr>
            <p:cNvPr id="38" name="Picture 37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910" b="10865"/>
            <a:stretch/>
          </p:blipFill>
          <p:spPr>
            <a:xfrm>
              <a:off x="5010031" y="1747128"/>
              <a:ext cx="3568457" cy="1007632"/>
            </a:xfrm>
            <a:prstGeom prst="rect">
              <a:avLst/>
            </a:prstGeom>
          </p:spPr>
        </p:pic>
        <p:pic>
          <p:nvPicPr>
            <p:cNvPr id="40" name="Picture 39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19" b="10204"/>
            <a:stretch/>
          </p:blipFill>
          <p:spPr>
            <a:xfrm>
              <a:off x="4989292" y="5823994"/>
              <a:ext cx="3522020" cy="955451"/>
            </a:xfrm>
            <a:prstGeom prst="rect">
              <a:avLst/>
            </a:prstGeom>
          </p:spPr>
        </p:pic>
        <p:pic>
          <p:nvPicPr>
            <p:cNvPr id="41" name="Picture 40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711" b="10368"/>
            <a:stretch/>
          </p:blipFill>
          <p:spPr>
            <a:xfrm>
              <a:off x="4998742" y="4820408"/>
              <a:ext cx="3568457" cy="897292"/>
            </a:xfrm>
            <a:prstGeom prst="rect">
              <a:avLst/>
            </a:prstGeom>
          </p:spPr>
        </p:pic>
        <p:pic>
          <p:nvPicPr>
            <p:cNvPr id="42" name="Picture 41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274" b="10310"/>
            <a:stretch/>
          </p:blipFill>
          <p:spPr>
            <a:xfrm>
              <a:off x="5018389" y="3794079"/>
              <a:ext cx="3531537" cy="857637"/>
            </a:xfrm>
            <a:prstGeom prst="rect">
              <a:avLst/>
            </a:prstGeom>
          </p:spPr>
        </p:pic>
        <p:pic>
          <p:nvPicPr>
            <p:cNvPr id="43" name="Picture 42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833" b="10043"/>
            <a:stretch/>
          </p:blipFill>
          <p:spPr>
            <a:xfrm>
              <a:off x="5002834" y="2775578"/>
              <a:ext cx="3527840" cy="923497"/>
            </a:xfrm>
            <a:prstGeom prst="rect">
              <a:avLst/>
            </a:prstGeom>
          </p:spPr>
        </p:pic>
      </p:grpSp>
      <p:grpSp>
        <p:nvGrpSpPr>
          <p:cNvPr id="59" name="Group 58"/>
          <p:cNvGrpSpPr/>
          <p:nvPr/>
        </p:nvGrpSpPr>
        <p:grpSpPr>
          <a:xfrm>
            <a:off x="2518605" y="2596685"/>
            <a:ext cx="2168725" cy="3458126"/>
            <a:chOff x="994605" y="2596685"/>
            <a:chExt cx="2168725" cy="3458126"/>
          </a:xfrm>
        </p:grpSpPr>
        <p:sp>
          <p:nvSpPr>
            <p:cNvPr id="60" name="Oval 59"/>
            <p:cNvSpPr/>
            <p:nvPr/>
          </p:nvSpPr>
          <p:spPr bwMode="auto">
            <a:xfrm>
              <a:off x="2854411" y="2596685"/>
              <a:ext cx="308919" cy="3458126"/>
            </a:xfrm>
            <a:prstGeom prst="ellipse">
              <a:avLst/>
            </a:prstGeom>
            <a:noFill/>
            <a:ln w="28575" cap="flat" cmpd="sng" algn="ctr">
              <a:solidFill>
                <a:srgbClr val="0033CC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/>
                <p:cNvSpPr txBox="1"/>
                <p:nvPr/>
              </p:nvSpPr>
              <p:spPr>
                <a:xfrm>
                  <a:off x="994605" y="5479576"/>
                  <a:ext cx="1945982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2000" dirty="0">
                      <a:solidFill>
                        <a:schemeClr val="accent2">
                          <a:lumMod val="75000"/>
                        </a:schemeClr>
                      </a:solidFill>
                      <a:latin typeface="Raleway" pitchFamily="2" charset="0"/>
                      <a:ea typeface="Cambria Math" panose="02040503050406030204" pitchFamily="18" charset="0"/>
                    </a:rPr>
                    <a:t>2) See wind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en-US" sz="2000" dirty="0">
                      <a:solidFill>
                        <a:schemeClr val="accent2">
                          <a:lumMod val="75000"/>
                        </a:schemeClr>
                      </a:solidFill>
                      <a:latin typeface="Raleway" pitchFamily="2" charset="0"/>
                      <a:ea typeface="Cambria Math" panose="02040503050406030204" pitchFamily="18" charset="0"/>
                    </a:rPr>
                    <a:t>:</a:t>
                  </a:r>
                </a:p>
              </p:txBody>
            </p:sp>
          </mc:Choice>
          <mc:Fallback xmlns="">
            <p:sp>
              <p:nvSpPr>
                <p:cNvPr id="61" name="TextBox 6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605" y="5479576"/>
                  <a:ext cx="1945982" cy="400110"/>
                </a:xfrm>
                <a:prstGeom prst="rect">
                  <a:avLst/>
                </a:prstGeom>
                <a:blipFill>
                  <a:blip r:embed="rId8"/>
                  <a:stretch>
                    <a:fillRect l="-3135" t="-9091" r="-2508" b="-257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2" name="TextBox 61"/>
          <p:cNvSpPr txBox="1"/>
          <p:nvPr/>
        </p:nvSpPr>
        <p:spPr>
          <a:xfrm>
            <a:off x="2554899" y="6237458"/>
            <a:ext cx="2618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</a:rPr>
              <a:t>3) Schedule turbines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E12E16D-9150-4A32-07B6-D75B9BA665B6}"/>
              </a:ext>
            </a:extLst>
          </p:cNvPr>
          <p:cNvGrpSpPr/>
          <p:nvPr/>
        </p:nvGrpSpPr>
        <p:grpSpPr>
          <a:xfrm>
            <a:off x="8009627" y="1644044"/>
            <a:ext cx="1746564" cy="4980246"/>
            <a:chOff x="8009627" y="1644044"/>
            <a:chExt cx="1746564" cy="4980246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D215559-CBBD-A5D3-7EC2-C4438A5C8EC3}"/>
                </a:ext>
              </a:extLst>
            </p:cNvPr>
            <p:cNvGrpSpPr/>
            <p:nvPr/>
          </p:nvGrpSpPr>
          <p:grpSpPr>
            <a:xfrm>
              <a:off x="8666339" y="1741919"/>
              <a:ext cx="1089852" cy="4882371"/>
              <a:chOff x="8666339" y="1741919"/>
              <a:chExt cx="1089852" cy="488237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Object 6"/>
                  <p:cNvSpPr txBox="1"/>
                  <p:nvPr/>
                </p:nvSpPr>
                <p:spPr>
                  <a:xfrm>
                    <a:off x="8666339" y="1741919"/>
                    <a:ext cx="474675" cy="4882371"/>
                  </a:xfrm>
                  <a:prstGeom prst="rect">
                    <a:avLst/>
                  </a:prstGeom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>
                          <m:d>
                            <m:dPr>
                              <m:begChr m:val=""/>
                              <m:endChr m:val="}"/>
                              <m:ctrlPr>
                                <a:rPr lang="en-US" sz="4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4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/>
                                </m:mr>
                                <m:mr>
                                  <m:e/>
                                </m:mr>
                                <m:mr>
                                  <m:e/>
                                </m:mr>
                                <m:mr>
                                  <m:e/>
                                </m:mr>
                                <m:mr>
                                  <m:e/>
                                </m:mr>
                                <m:mr>
                                  <m:e/>
                                </m:mr>
                                <m:mr>
                                  <m:e/>
                                </m:mr>
                                <m:mr>
                                  <m:e/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lang="en-US" sz="4400" dirty="0">
                      <a:solidFill>
                        <a:schemeClr val="accent2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" name="Object 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66339" y="1741919"/>
                    <a:ext cx="474675" cy="488237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1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Object 7"/>
                  <p:cNvSpPr txBox="1"/>
                  <p:nvPr/>
                </p:nvSpPr>
                <p:spPr>
                  <a:xfrm>
                    <a:off x="9228865" y="3818972"/>
                    <a:ext cx="527326" cy="677991"/>
                  </a:xfrm>
                  <a:prstGeom prst="rect">
                    <a:avLst/>
                  </a:prstGeom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>
                          <m:sSub>
                            <m:sSubPr>
                              <m:ctrlPr>
                                <a:rPr lang="en-US" sz="3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m:oMathPara>
                    </a14:m>
                    <a:endParaRPr lang="en-US" sz="3200" dirty="0">
                      <a:solidFill>
                        <a:schemeClr val="accent2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" name="Object 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28865" y="3818972"/>
                    <a:ext cx="527326" cy="67799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2675FB9-DB2F-A11E-8B8B-B0556629C76F}"/>
                </a:ext>
              </a:extLst>
            </p:cNvPr>
            <p:cNvGrpSpPr/>
            <p:nvPr/>
          </p:nvGrpSpPr>
          <p:grpSpPr>
            <a:xfrm>
              <a:off x="8009627" y="1644044"/>
              <a:ext cx="651914" cy="4722727"/>
              <a:chOff x="8009627" y="1644044"/>
              <a:chExt cx="651914" cy="472272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Object 9"/>
                  <p:cNvSpPr txBox="1"/>
                  <p:nvPr/>
                </p:nvSpPr>
                <p:spPr>
                  <a:xfrm>
                    <a:off x="8013396" y="1644044"/>
                    <a:ext cx="477630" cy="614096"/>
                  </a:xfrm>
                  <a:prstGeom prst="rect">
                    <a:avLst/>
                  </a:prstGeom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>
                          <m:sSub>
                            <m:sSubPr>
                              <m:ctrlPr>
                                <a:rPr lang="en-US" sz="18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1800" dirty="0">
                      <a:solidFill>
                        <a:schemeClr val="accent2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" name="Object 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13396" y="1644044"/>
                    <a:ext cx="477630" cy="614096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Object 34"/>
                  <p:cNvSpPr txBox="1"/>
                  <p:nvPr/>
                </p:nvSpPr>
                <p:spPr>
                  <a:xfrm>
                    <a:off x="8009627" y="2720976"/>
                    <a:ext cx="512762" cy="614363"/>
                  </a:xfrm>
                  <a:prstGeom prst="rect">
                    <a:avLst/>
                  </a:prstGeom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>
                          <m:sSub>
                            <m:sSubPr>
                              <m:ctrlPr>
                                <a:rPr lang="en-US" sz="18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1800">
                      <a:solidFill>
                        <a:schemeClr val="accent2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5" name="Object 3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09627" y="2720976"/>
                    <a:ext cx="512762" cy="614363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Object 35"/>
                  <p:cNvSpPr txBox="1"/>
                  <p:nvPr/>
                </p:nvSpPr>
                <p:spPr>
                  <a:xfrm>
                    <a:off x="8032820" y="3708262"/>
                    <a:ext cx="512762" cy="614363"/>
                  </a:xfrm>
                  <a:prstGeom prst="rect">
                    <a:avLst/>
                  </a:prstGeom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>
                          <m:sSub>
                            <m:sSubPr>
                              <m:ctrlPr>
                                <a:rPr lang="en-US" sz="18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1800">
                      <a:solidFill>
                        <a:schemeClr val="accent2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6" name="Object 3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32820" y="3708262"/>
                    <a:ext cx="512762" cy="614363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Object 36"/>
                  <p:cNvSpPr txBox="1"/>
                  <p:nvPr/>
                </p:nvSpPr>
                <p:spPr>
                  <a:xfrm>
                    <a:off x="8085830" y="4695548"/>
                    <a:ext cx="512762" cy="614363"/>
                  </a:xfrm>
                  <a:prstGeom prst="rect">
                    <a:avLst/>
                  </a:prstGeom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>
                          <m:sSub>
                            <m:sSubPr>
                              <m:ctrlPr>
                                <a:rPr lang="en-US" sz="18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sz="1800">
                      <a:solidFill>
                        <a:schemeClr val="accent2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7" name="Object 3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85830" y="4695548"/>
                    <a:ext cx="512762" cy="614363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Object 38"/>
                  <p:cNvSpPr txBox="1"/>
                  <p:nvPr/>
                </p:nvSpPr>
                <p:spPr>
                  <a:xfrm>
                    <a:off x="8148779" y="5752408"/>
                    <a:ext cx="512762" cy="614363"/>
                  </a:xfrm>
                  <a:prstGeom prst="rect">
                    <a:avLst/>
                  </a:prstGeom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>
                          <m:sSub>
                            <m:sSubPr>
                              <m:ctrlPr>
                                <a:rPr lang="en-US" sz="18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en-US" sz="1800">
                      <a:solidFill>
                        <a:schemeClr val="accent2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9" name="Object 3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48779" y="5752408"/>
                    <a:ext cx="512762" cy="614363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pic>
        <p:nvPicPr>
          <p:cNvPr id="44" name="Picture 43"/>
          <p:cNvPicPr>
            <a:picLocks noChangeAspect="1"/>
          </p:cNvPicPr>
          <p:nvPr/>
        </p:nvPicPr>
        <p:blipFill>
          <a:blip r:embed="rId1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69087" y="1111949"/>
            <a:ext cx="4365631" cy="878254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E36F3BA0-89D1-41AB-2F3D-5C870465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3275" y="107576"/>
            <a:ext cx="8042276" cy="826592"/>
          </a:xfrm>
        </p:spPr>
        <p:txBody>
          <a:bodyPr/>
          <a:lstStyle/>
          <a:p>
            <a:r>
              <a:rPr lang="en-US" dirty="0"/>
              <a:t>DLA-based lookahead policy: two stage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D123481-31DC-321F-FA61-C6DB7FDF0ACB}"/>
              </a:ext>
            </a:extLst>
          </p:cNvPr>
          <p:cNvGrpSpPr/>
          <p:nvPr/>
        </p:nvGrpSpPr>
        <p:grpSpPr>
          <a:xfrm>
            <a:off x="2741458" y="2298838"/>
            <a:ext cx="1570193" cy="1925276"/>
            <a:chOff x="2741458" y="2298838"/>
            <a:chExt cx="1570193" cy="1925276"/>
          </a:xfrm>
        </p:grpSpPr>
        <p:cxnSp>
          <p:nvCxnSpPr>
            <p:cNvPr id="58" name="Straight Arrow Connector 57"/>
            <p:cNvCxnSpPr>
              <a:cxnSpLocks/>
            </p:cNvCxnSpPr>
            <p:nvPr/>
          </p:nvCxnSpPr>
          <p:spPr bwMode="auto">
            <a:xfrm>
              <a:off x="3505067" y="3124200"/>
              <a:ext cx="0" cy="1099914"/>
            </a:xfrm>
            <a:prstGeom prst="straightConnector1">
              <a:avLst/>
            </a:prstGeom>
            <a:noFill/>
            <a:ln w="9525" cap="flat" cmpd="sng" algn="ctr">
              <a:solidFill>
                <a:srgbClr val="0033CC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Object 56"/>
                <p:cNvSpPr txBox="1"/>
                <p:nvPr/>
              </p:nvSpPr>
              <p:spPr>
                <a:xfrm>
                  <a:off x="2741458" y="2298838"/>
                  <a:ext cx="1570193" cy="121285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en-US" sz="200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sz="2000" i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Raleway" pitchFamily="2" charset="0"/>
                          </a:rPr>
                          <m:t> Schedule</m:t>
                        </m:r>
                      </m:oMath>
                      <m:oMath>
                        <m:r>
                          <m:rPr>
                            <m:nor/>
                          </m:rPr>
                          <a:rPr lang="en-US" sz="2000" i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Raleway" pitchFamily="2" charset="0"/>
                          </a:rPr>
                          <m:t>steam</m:t>
                        </m:r>
                        <m: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olidFill>
                      <a:schemeClr val="accent2">
                        <a:lumMod val="75000"/>
                      </a:schemeClr>
                    </a:solidFill>
                    <a:latin typeface="Raleway" pitchFamily="2" charset="0"/>
                  </a:endParaRPr>
                </a:p>
              </p:txBody>
            </p:sp>
          </mc:Choice>
          <mc:Fallback xmlns="">
            <p:sp>
              <p:nvSpPr>
                <p:cNvPr id="13" name="Object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41458" y="2298838"/>
                  <a:ext cx="1570193" cy="1212850"/>
                </a:xfrm>
                <a:prstGeom prst="rect">
                  <a:avLst/>
                </a:prstGeom>
                <a:blipFill>
                  <a:blip r:embed="rId17"/>
                  <a:stretch>
                    <a:fillRect l="-350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F2ADCCE-35AE-50B6-E101-216A5C339814}"/>
              </a:ext>
            </a:extLst>
          </p:cNvPr>
          <p:cNvGrpSpPr/>
          <p:nvPr/>
        </p:nvGrpSpPr>
        <p:grpSpPr>
          <a:xfrm>
            <a:off x="4998742" y="915876"/>
            <a:ext cx="3198311" cy="737709"/>
            <a:chOff x="4998742" y="915876"/>
            <a:chExt cx="3198311" cy="73770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Object 8"/>
                <p:cNvSpPr txBox="1"/>
                <p:nvPr/>
              </p:nvSpPr>
              <p:spPr>
                <a:xfrm>
                  <a:off x="5067149" y="1243076"/>
                  <a:ext cx="2941982" cy="410509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18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18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),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+2</m:t>
                            </m:r>
                          </m:sub>
                        </m:sSub>
                        <m:r>
                          <a:rPr lang="en-US" sz="18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18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),....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b>
                        </m:sSub>
                        <m:r>
                          <a:rPr lang="en-US" sz="18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18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800" dirty="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67149" y="1243076"/>
                  <a:ext cx="2941982" cy="410509"/>
                </a:xfrm>
                <a:prstGeom prst="rect">
                  <a:avLst/>
                </a:prstGeom>
                <a:blipFill>
                  <a:blip r:embed="rId18"/>
                  <a:stretch>
                    <a:fillRect r="-5590" b="-29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369531D-8AFE-6C44-A09C-D60EE301B7EF}"/>
                </a:ext>
              </a:extLst>
            </p:cNvPr>
            <p:cNvSpPr txBox="1"/>
            <p:nvPr/>
          </p:nvSpPr>
          <p:spPr>
            <a:xfrm>
              <a:off x="4998742" y="915876"/>
              <a:ext cx="31983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accent2">
                      <a:lumMod val="75000"/>
                    </a:schemeClr>
                  </a:solidFill>
                  <a:latin typeface="Raleway" pitchFamily="2" charset="0"/>
                  <a:ea typeface="Cambria Math" panose="02040503050406030204" pitchFamily="18" charset="0"/>
                </a:rPr>
                <a:t>Then make future decisions:</a:t>
              </a:r>
            </a:p>
          </p:txBody>
        </p:sp>
      </p:grpSp>
      <p:pic>
        <p:nvPicPr>
          <p:cNvPr id="2" name="Picture 34" descr="http://ecx.images-amazon.com/images/I/41UHTnB7yrL.jpg">
            <a:extLst>
              <a:ext uri="{FF2B5EF4-FFF2-40B4-BE49-F238E27FC236}">
                <a16:creationId xmlns:a16="http://schemas.microsoft.com/office/drawing/2014/main" id="{B83BD29D-D302-F9B0-741B-83D939112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00"/>
          <a:stretch>
            <a:fillRect/>
          </a:stretch>
        </p:blipFill>
        <p:spPr bwMode="auto">
          <a:xfrm>
            <a:off x="533184" y="2800744"/>
            <a:ext cx="1742959" cy="2714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84951228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30092" y="1024963"/>
                <a:ext cx="10363200" cy="44016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Classical approximation strategy:  Two-stage stochastic programming</a:t>
                </a:r>
              </a:p>
              <a:p>
                <a:pPr lvl="1"/>
                <a:r>
                  <a:rPr lang="en-US" dirty="0"/>
                  <a:t>Take a look at the two-stage stochastic program</a:t>
                </a:r>
              </a:p>
              <a:p>
                <a:pPr lvl="1"/>
                <a:endParaRPr lang="en-US" sz="12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acc>
                                    <m:accPr>
                                      <m:chr m:val="̃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brk m:alnAt="23"/>
                                        </m:r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m:rPr>
                                      <m:brk m:alnAt="23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sSup>
                                        <m:sSup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sub>
                                  </m:s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𝑡𝑡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sz="2000" dirty="0"/>
              </a:p>
              <a:p>
                <a:pPr marL="457200" lvl="1" indent="0">
                  <a:buNone/>
                </a:pPr>
                <a:endParaRPr lang="en-US" sz="1800" dirty="0"/>
              </a:p>
              <a:p>
                <a:pPr lvl="1"/>
                <a:r>
                  <a:rPr lang="en-US" dirty="0"/>
                  <a:t>We are choosing a single (vector)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for the decision to be made now, along with a family of 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representing decisions to be made in the future.</a:t>
                </a:r>
              </a:p>
              <a:p>
                <a:pPr lvl="1"/>
                <a:r>
                  <a:rPr lang="en-US" dirty="0"/>
                  <a:t>Note that the decision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given “scenario”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/>
                  <a:t> is allowed to see the entire future.  This is dismissed as a reasonable approximation, as long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is not allowed to see the future.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0092" y="1024963"/>
                <a:ext cx="10363200" cy="4401600"/>
              </a:xfrm>
              <a:blipFill>
                <a:blip r:embed="rId2"/>
                <a:stretch>
                  <a:fillRect l="-353" r="-824" b="-220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F0A1FC50-1BEA-7FB2-62D7-0E182F0EB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3275" y="107576"/>
            <a:ext cx="8042276" cy="826592"/>
          </a:xfrm>
        </p:spPr>
        <p:txBody>
          <a:bodyPr/>
          <a:lstStyle/>
          <a:p>
            <a:r>
              <a:rPr lang="en-US" dirty="0"/>
              <a:t>DLA-based lookahead policy: two stage</a:t>
            </a:r>
          </a:p>
        </p:txBody>
      </p:sp>
    </p:spTree>
    <p:extLst>
      <p:ext uri="{BB962C8B-B14F-4D97-AF65-F5344CB8AC3E}">
        <p14:creationId xmlns:p14="http://schemas.microsoft.com/office/powerpoint/2010/main" val="4220366564"/>
      </p:ext>
    </p:extLst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789192">
            <a:off x="1737617" y="3766018"/>
            <a:ext cx="4610100" cy="1030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Arrow Connector 4"/>
          <p:cNvCxnSpPr/>
          <p:nvPr/>
        </p:nvCxnSpPr>
        <p:spPr bwMode="auto">
          <a:xfrm>
            <a:off x="2207986" y="5368471"/>
            <a:ext cx="7823200" cy="0"/>
          </a:xfrm>
          <a:prstGeom prst="straightConnector1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" name="Straight Connector 8"/>
          <p:cNvCxnSpPr/>
          <p:nvPr/>
        </p:nvCxnSpPr>
        <p:spPr bwMode="auto">
          <a:xfrm>
            <a:off x="3630390" y="522332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Straight Connector 9"/>
          <p:cNvCxnSpPr/>
          <p:nvPr/>
        </p:nvCxnSpPr>
        <p:spPr bwMode="auto">
          <a:xfrm>
            <a:off x="2215278" y="523058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/>
          <p:cNvCxnSpPr/>
          <p:nvPr/>
        </p:nvCxnSpPr>
        <p:spPr bwMode="auto">
          <a:xfrm>
            <a:off x="5045508" y="5216074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/>
          <p:cNvCxnSpPr/>
          <p:nvPr/>
        </p:nvCxnSpPr>
        <p:spPr bwMode="auto">
          <a:xfrm>
            <a:off x="6459596" y="5218549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/>
          <p:nvPr/>
        </p:nvCxnSpPr>
        <p:spPr bwMode="auto">
          <a:xfrm>
            <a:off x="7874714" y="5211295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/>
          <p:cNvCxnSpPr/>
          <p:nvPr/>
        </p:nvCxnSpPr>
        <p:spPr bwMode="auto">
          <a:xfrm>
            <a:off x="9284430" y="520808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Straight Arrow Connector 29"/>
          <p:cNvCxnSpPr/>
          <p:nvPr/>
        </p:nvCxnSpPr>
        <p:spPr bwMode="auto">
          <a:xfrm flipV="1">
            <a:off x="22152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3" name="Straight Arrow Connector 32"/>
          <p:cNvCxnSpPr/>
          <p:nvPr/>
        </p:nvCxnSpPr>
        <p:spPr bwMode="auto">
          <a:xfrm flipV="1">
            <a:off x="36376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4" name="Straight Arrow Connector 33"/>
          <p:cNvCxnSpPr/>
          <p:nvPr/>
        </p:nvCxnSpPr>
        <p:spPr bwMode="auto">
          <a:xfrm flipV="1">
            <a:off x="50473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" name="Straight Arrow Connector 34"/>
          <p:cNvCxnSpPr/>
          <p:nvPr/>
        </p:nvCxnSpPr>
        <p:spPr bwMode="auto">
          <a:xfrm flipV="1">
            <a:off x="6482478" y="2984500"/>
            <a:ext cx="4071222" cy="2376718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6" name="TextBox 35"/>
          <p:cNvSpPr txBox="1"/>
          <p:nvPr/>
        </p:nvSpPr>
        <p:spPr>
          <a:xfrm>
            <a:off x="8784205" y="3949701"/>
            <a:ext cx="13227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.  .  .  .</a:t>
            </a:r>
          </a:p>
        </p:txBody>
      </p:sp>
      <p:cxnSp>
        <p:nvCxnSpPr>
          <p:cNvPr id="38" name="Straight Arrow Connector 37"/>
          <p:cNvCxnSpPr/>
          <p:nvPr/>
        </p:nvCxnSpPr>
        <p:spPr bwMode="auto">
          <a:xfrm>
            <a:off x="3630390" y="4534475"/>
            <a:ext cx="0" cy="81875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cxnSp>
        <p:nvCxnSpPr>
          <p:cNvPr id="45" name="Straight Arrow Connector 44"/>
          <p:cNvCxnSpPr>
            <a:cxnSpLocks/>
          </p:cNvCxnSpPr>
          <p:nvPr/>
        </p:nvCxnSpPr>
        <p:spPr bwMode="auto">
          <a:xfrm flipV="1">
            <a:off x="2207986" y="2472872"/>
            <a:ext cx="1814" cy="273521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Object 46"/>
              <p:cNvSpPr txBox="1"/>
              <p:nvPr/>
            </p:nvSpPr>
            <p:spPr>
              <a:xfrm>
                <a:off x="2115484" y="5588748"/>
                <a:ext cx="199589" cy="342153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7" name="Object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5484" y="5588748"/>
                <a:ext cx="199589" cy="342153"/>
              </a:xfrm>
              <a:prstGeom prst="rect">
                <a:avLst/>
              </a:prstGeom>
              <a:blipFill>
                <a:blip r:embed="rId5"/>
                <a:stretch>
                  <a:fillRect r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bject 47"/>
              <p:cNvSpPr txBox="1"/>
              <p:nvPr/>
            </p:nvSpPr>
            <p:spPr bwMode="auto">
              <a:xfrm>
                <a:off x="3313113" y="5545965"/>
                <a:ext cx="625072" cy="4008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8" name="Object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3113" y="5545965"/>
                <a:ext cx="625072" cy="4008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Object 48"/>
              <p:cNvSpPr txBox="1"/>
              <p:nvPr/>
            </p:nvSpPr>
            <p:spPr bwMode="auto">
              <a:xfrm>
                <a:off x="4706939" y="5546725"/>
                <a:ext cx="682625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9" name="Object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06939" y="5546725"/>
                <a:ext cx="682625" cy="40005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bject 49"/>
              <p:cNvSpPr txBox="1"/>
              <p:nvPr/>
            </p:nvSpPr>
            <p:spPr bwMode="auto">
              <a:xfrm>
                <a:off x="6181725" y="5546725"/>
                <a:ext cx="65405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0" name="Object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81725" y="5546725"/>
                <a:ext cx="654050" cy="40005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/>
          <p:cNvCxnSpPr/>
          <p:nvPr/>
        </p:nvCxnSpPr>
        <p:spPr bwMode="auto">
          <a:xfrm>
            <a:off x="5043698" y="3721101"/>
            <a:ext cx="0" cy="1619431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sp>
        <p:nvSpPr>
          <p:cNvPr id="26" name="TextBox 25"/>
          <p:cNvSpPr txBox="1"/>
          <p:nvPr/>
        </p:nvSpPr>
        <p:spPr>
          <a:xfrm rot="16200000">
            <a:off x="245263" y="3709659"/>
            <a:ext cx="31486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dirty="0"/>
              <a:t>The </a:t>
            </a:r>
            <a:r>
              <a:rPr lang="en-US" sz="2400" dirty="0" err="1"/>
              <a:t>lookahead</a:t>
            </a:r>
            <a:r>
              <a:rPr lang="en-US" sz="2400" dirty="0"/>
              <a:t>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80115" y="6019801"/>
            <a:ext cx="2393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base model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248D2C8-0191-8FAA-A252-12E838CDE0D6}"/>
              </a:ext>
            </a:extLst>
          </p:cNvPr>
          <p:cNvSpPr txBox="1">
            <a:spLocks/>
          </p:cNvSpPr>
          <p:nvPr/>
        </p:nvSpPr>
        <p:spPr>
          <a:xfrm>
            <a:off x="815164" y="1143001"/>
            <a:ext cx="9382936" cy="2659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86360" indent="0">
              <a:buFont typeface="Raleway"/>
              <a:buNone/>
            </a:pPr>
            <a:r>
              <a:rPr lang="en-US"/>
              <a:t>We can then simulate this </a:t>
            </a:r>
            <a:r>
              <a:rPr lang="en-US" i="1"/>
              <a:t>lookahead policy</a:t>
            </a:r>
            <a:r>
              <a:rPr lang="en-US"/>
              <a:t> over time: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375DFED-C807-C7C3-5904-F70FC3DA1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3275" y="107576"/>
            <a:ext cx="8042276" cy="826592"/>
          </a:xfrm>
        </p:spPr>
        <p:txBody>
          <a:bodyPr/>
          <a:lstStyle/>
          <a:p>
            <a:r>
              <a:rPr lang="en-US" dirty="0"/>
              <a:t>DLA-based lookahead policy: two stage</a:t>
            </a:r>
          </a:p>
        </p:txBody>
      </p:sp>
    </p:spTree>
    <p:extLst>
      <p:ext uri="{BB962C8B-B14F-4D97-AF65-F5344CB8AC3E}">
        <p14:creationId xmlns:p14="http://schemas.microsoft.com/office/powerpoint/2010/main" val="1780678101"/>
      </p:ext>
    </p:extLst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789192">
            <a:off x="3150742" y="3766018"/>
            <a:ext cx="4610100" cy="1030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Arrow Connector 4"/>
          <p:cNvCxnSpPr/>
          <p:nvPr/>
        </p:nvCxnSpPr>
        <p:spPr bwMode="auto">
          <a:xfrm>
            <a:off x="2207986" y="5368471"/>
            <a:ext cx="7823200" cy="0"/>
          </a:xfrm>
          <a:prstGeom prst="straightConnector1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" name="Straight Connector 8"/>
          <p:cNvCxnSpPr/>
          <p:nvPr/>
        </p:nvCxnSpPr>
        <p:spPr bwMode="auto">
          <a:xfrm>
            <a:off x="3630390" y="522332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Straight Connector 9"/>
          <p:cNvCxnSpPr/>
          <p:nvPr/>
        </p:nvCxnSpPr>
        <p:spPr bwMode="auto">
          <a:xfrm>
            <a:off x="2215278" y="523058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/>
          <p:cNvCxnSpPr/>
          <p:nvPr/>
        </p:nvCxnSpPr>
        <p:spPr bwMode="auto">
          <a:xfrm>
            <a:off x="5045508" y="5216074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/>
          <p:cNvCxnSpPr/>
          <p:nvPr/>
        </p:nvCxnSpPr>
        <p:spPr bwMode="auto">
          <a:xfrm>
            <a:off x="6459596" y="5218549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/>
          <p:nvPr/>
        </p:nvCxnSpPr>
        <p:spPr bwMode="auto">
          <a:xfrm>
            <a:off x="7874714" y="5211295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/>
          <p:cNvCxnSpPr/>
          <p:nvPr/>
        </p:nvCxnSpPr>
        <p:spPr bwMode="auto">
          <a:xfrm>
            <a:off x="9284430" y="520808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Straight Arrow Connector 29"/>
          <p:cNvCxnSpPr/>
          <p:nvPr/>
        </p:nvCxnSpPr>
        <p:spPr bwMode="auto">
          <a:xfrm flipV="1">
            <a:off x="22152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3" name="Straight Arrow Connector 32"/>
          <p:cNvCxnSpPr/>
          <p:nvPr/>
        </p:nvCxnSpPr>
        <p:spPr bwMode="auto">
          <a:xfrm flipV="1">
            <a:off x="36376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4" name="Straight Arrow Connector 33"/>
          <p:cNvCxnSpPr/>
          <p:nvPr/>
        </p:nvCxnSpPr>
        <p:spPr bwMode="auto">
          <a:xfrm flipV="1">
            <a:off x="50473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" name="Straight Arrow Connector 34"/>
          <p:cNvCxnSpPr/>
          <p:nvPr/>
        </p:nvCxnSpPr>
        <p:spPr bwMode="auto">
          <a:xfrm flipV="1">
            <a:off x="6482478" y="2984500"/>
            <a:ext cx="4071222" cy="2376718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6" name="TextBox 35"/>
          <p:cNvSpPr txBox="1"/>
          <p:nvPr/>
        </p:nvSpPr>
        <p:spPr>
          <a:xfrm>
            <a:off x="8784205" y="3949701"/>
            <a:ext cx="13227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.  .  .  .</a:t>
            </a:r>
          </a:p>
        </p:txBody>
      </p:sp>
      <p:cxnSp>
        <p:nvCxnSpPr>
          <p:cNvPr id="38" name="Straight Arrow Connector 37"/>
          <p:cNvCxnSpPr/>
          <p:nvPr/>
        </p:nvCxnSpPr>
        <p:spPr bwMode="auto">
          <a:xfrm>
            <a:off x="3630390" y="4534475"/>
            <a:ext cx="0" cy="81875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cxnSp>
        <p:nvCxnSpPr>
          <p:cNvPr id="45" name="Straight Arrow Connector 44"/>
          <p:cNvCxnSpPr>
            <a:cxnSpLocks/>
          </p:cNvCxnSpPr>
          <p:nvPr/>
        </p:nvCxnSpPr>
        <p:spPr bwMode="auto">
          <a:xfrm flipV="1">
            <a:off x="2207986" y="2472872"/>
            <a:ext cx="1814" cy="273521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Object 46"/>
              <p:cNvSpPr txBox="1"/>
              <p:nvPr/>
            </p:nvSpPr>
            <p:spPr>
              <a:xfrm>
                <a:off x="2115484" y="5588748"/>
                <a:ext cx="199589" cy="342153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7" name="Object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5484" y="5588748"/>
                <a:ext cx="199589" cy="342153"/>
              </a:xfrm>
              <a:prstGeom prst="rect">
                <a:avLst/>
              </a:prstGeom>
              <a:blipFill>
                <a:blip r:embed="rId5"/>
                <a:stretch>
                  <a:fillRect r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bject 47"/>
              <p:cNvSpPr txBox="1"/>
              <p:nvPr/>
            </p:nvSpPr>
            <p:spPr bwMode="auto">
              <a:xfrm>
                <a:off x="3313113" y="5545965"/>
                <a:ext cx="625072" cy="4008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8" name="Object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3113" y="5545965"/>
                <a:ext cx="625072" cy="4008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Object 48"/>
              <p:cNvSpPr txBox="1"/>
              <p:nvPr/>
            </p:nvSpPr>
            <p:spPr bwMode="auto">
              <a:xfrm>
                <a:off x="4706939" y="5546725"/>
                <a:ext cx="682625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9" name="Object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06939" y="5546725"/>
                <a:ext cx="682625" cy="40005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bject 49"/>
              <p:cNvSpPr txBox="1"/>
              <p:nvPr/>
            </p:nvSpPr>
            <p:spPr bwMode="auto">
              <a:xfrm>
                <a:off x="6181725" y="5546725"/>
                <a:ext cx="65405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0" name="Object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81725" y="5546725"/>
                <a:ext cx="654050" cy="40005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/>
          <p:cNvCxnSpPr/>
          <p:nvPr/>
        </p:nvCxnSpPr>
        <p:spPr bwMode="auto">
          <a:xfrm>
            <a:off x="5043698" y="3721101"/>
            <a:ext cx="0" cy="1619431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sp>
        <p:nvSpPr>
          <p:cNvPr id="26" name="TextBox 25"/>
          <p:cNvSpPr txBox="1"/>
          <p:nvPr/>
        </p:nvSpPr>
        <p:spPr>
          <a:xfrm rot="16200000">
            <a:off x="245263" y="3709659"/>
            <a:ext cx="31486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dirty="0"/>
              <a:t>The </a:t>
            </a:r>
            <a:r>
              <a:rPr lang="en-US" sz="2400" dirty="0" err="1"/>
              <a:t>lookahead</a:t>
            </a:r>
            <a:r>
              <a:rPr lang="en-US" sz="2400" dirty="0"/>
              <a:t>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80115" y="6019801"/>
            <a:ext cx="2393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base model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0CEF881-8586-03FC-D5A7-EC84D7F811B7}"/>
              </a:ext>
            </a:extLst>
          </p:cNvPr>
          <p:cNvSpPr txBox="1">
            <a:spLocks/>
          </p:cNvSpPr>
          <p:nvPr/>
        </p:nvSpPr>
        <p:spPr>
          <a:xfrm>
            <a:off x="815164" y="1143001"/>
            <a:ext cx="9382936" cy="2659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86360" indent="0">
              <a:buFont typeface="Raleway"/>
              <a:buNone/>
            </a:pPr>
            <a:r>
              <a:rPr lang="en-US"/>
              <a:t>We can then simulate this </a:t>
            </a:r>
            <a:r>
              <a:rPr lang="en-US" i="1"/>
              <a:t>lookahead policy</a:t>
            </a:r>
            <a:r>
              <a:rPr lang="en-US"/>
              <a:t> over time: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A07708-13AA-E1D0-7B1E-D930532EE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3275" y="107576"/>
            <a:ext cx="8042276" cy="826592"/>
          </a:xfrm>
        </p:spPr>
        <p:txBody>
          <a:bodyPr/>
          <a:lstStyle/>
          <a:p>
            <a:r>
              <a:rPr lang="en-US" dirty="0"/>
              <a:t>DLA-based lookahead policy: two stage</a:t>
            </a:r>
          </a:p>
        </p:txBody>
      </p:sp>
    </p:spTree>
    <p:extLst>
      <p:ext uri="{BB962C8B-B14F-4D97-AF65-F5344CB8AC3E}">
        <p14:creationId xmlns:p14="http://schemas.microsoft.com/office/powerpoint/2010/main" val="1007864351"/>
      </p:ext>
    </p:extLst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789192">
            <a:off x="4587617" y="3766018"/>
            <a:ext cx="4610100" cy="1030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5164" y="1143001"/>
            <a:ext cx="9382936" cy="2659743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We can then simulate this </a:t>
            </a:r>
            <a:r>
              <a:rPr lang="en-US" i="1" dirty="0" err="1"/>
              <a:t>lookahead</a:t>
            </a:r>
            <a:r>
              <a:rPr lang="en-US" i="1" dirty="0"/>
              <a:t> policy</a:t>
            </a:r>
            <a:r>
              <a:rPr lang="en-US" dirty="0"/>
              <a:t> over time:</a:t>
            </a:r>
          </a:p>
        </p:txBody>
      </p:sp>
      <p:cxnSp>
        <p:nvCxnSpPr>
          <p:cNvPr id="5" name="Straight Arrow Connector 4"/>
          <p:cNvCxnSpPr/>
          <p:nvPr/>
        </p:nvCxnSpPr>
        <p:spPr bwMode="auto">
          <a:xfrm>
            <a:off x="2207986" y="5368471"/>
            <a:ext cx="7823200" cy="0"/>
          </a:xfrm>
          <a:prstGeom prst="straightConnector1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" name="Straight Connector 8"/>
          <p:cNvCxnSpPr/>
          <p:nvPr/>
        </p:nvCxnSpPr>
        <p:spPr bwMode="auto">
          <a:xfrm>
            <a:off x="3630390" y="522332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Straight Connector 9"/>
          <p:cNvCxnSpPr/>
          <p:nvPr/>
        </p:nvCxnSpPr>
        <p:spPr bwMode="auto">
          <a:xfrm>
            <a:off x="2215278" y="523058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/>
          <p:cNvCxnSpPr/>
          <p:nvPr/>
        </p:nvCxnSpPr>
        <p:spPr bwMode="auto">
          <a:xfrm>
            <a:off x="5045508" y="5216074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/>
          <p:cNvCxnSpPr/>
          <p:nvPr/>
        </p:nvCxnSpPr>
        <p:spPr bwMode="auto">
          <a:xfrm>
            <a:off x="6459596" y="5218549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/>
          <p:nvPr/>
        </p:nvCxnSpPr>
        <p:spPr bwMode="auto">
          <a:xfrm>
            <a:off x="7874714" y="5211295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/>
          <p:cNvCxnSpPr/>
          <p:nvPr/>
        </p:nvCxnSpPr>
        <p:spPr bwMode="auto">
          <a:xfrm>
            <a:off x="9284430" y="520808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Straight Arrow Connector 29"/>
          <p:cNvCxnSpPr/>
          <p:nvPr/>
        </p:nvCxnSpPr>
        <p:spPr bwMode="auto">
          <a:xfrm flipV="1">
            <a:off x="22152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3" name="Straight Arrow Connector 32"/>
          <p:cNvCxnSpPr/>
          <p:nvPr/>
        </p:nvCxnSpPr>
        <p:spPr bwMode="auto">
          <a:xfrm flipV="1">
            <a:off x="36376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4" name="Straight Arrow Connector 33"/>
          <p:cNvCxnSpPr/>
          <p:nvPr/>
        </p:nvCxnSpPr>
        <p:spPr bwMode="auto">
          <a:xfrm flipV="1">
            <a:off x="50473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" name="Straight Arrow Connector 34"/>
          <p:cNvCxnSpPr/>
          <p:nvPr/>
        </p:nvCxnSpPr>
        <p:spPr bwMode="auto">
          <a:xfrm flipV="1">
            <a:off x="6482478" y="2984500"/>
            <a:ext cx="4071222" cy="2376718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6" name="TextBox 35"/>
          <p:cNvSpPr txBox="1"/>
          <p:nvPr/>
        </p:nvSpPr>
        <p:spPr>
          <a:xfrm>
            <a:off x="8784205" y="3949701"/>
            <a:ext cx="13227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.  .  .  .</a:t>
            </a:r>
          </a:p>
        </p:txBody>
      </p:sp>
      <p:cxnSp>
        <p:nvCxnSpPr>
          <p:cNvPr id="38" name="Straight Arrow Connector 37"/>
          <p:cNvCxnSpPr/>
          <p:nvPr/>
        </p:nvCxnSpPr>
        <p:spPr bwMode="auto">
          <a:xfrm>
            <a:off x="3630390" y="4534475"/>
            <a:ext cx="0" cy="81875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Object 46"/>
              <p:cNvSpPr txBox="1"/>
              <p:nvPr/>
            </p:nvSpPr>
            <p:spPr>
              <a:xfrm>
                <a:off x="2115484" y="5588748"/>
                <a:ext cx="199589" cy="342153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7" name="Object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5484" y="5588748"/>
                <a:ext cx="199589" cy="342153"/>
              </a:xfrm>
              <a:prstGeom prst="rect">
                <a:avLst/>
              </a:prstGeom>
              <a:blipFill>
                <a:blip r:embed="rId5"/>
                <a:stretch>
                  <a:fillRect r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bject 47"/>
              <p:cNvSpPr txBox="1"/>
              <p:nvPr/>
            </p:nvSpPr>
            <p:spPr bwMode="auto">
              <a:xfrm>
                <a:off x="3313113" y="5545965"/>
                <a:ext cx="625072" cy="4008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8" name="Object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3113" y="5545965"/>
                <a:ext cx="625072" cy="4008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Object 48"/>
              <p:cNvSpPr txBox="1"/>
              <p:nvPr/>
            </p:nvSpPr>
            <p:spPr bwMode="auto">
              <a:xfrm>
                <a:off x="4706939" y="5546725"/>
                <a:ext cx="682625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9" name="Object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06939" y="5546725"/>
                <a:ext cx="682625" cy="40005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bject 49"/>
              <p:cNvSpPr txBox="1"/>
              <p:nvPr/>
            </p:nvSpPr>
            <p:spPr bwMode="auto">
              <a:xfrm>
                <a:off x="6181725" y="5546725"/>
                <a:ext cx="65405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0" name="Object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81725" y="5546725"/>
                <a:ext cx="654050" cy="40005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/>
          <p:cNvCxnSpPr/>
          <p:nvPr/>
        </p:nvCxnSpPr>
        <p:spPr bwMode="auto">
          <a:xfrm>
            <a:off x="5043698" y="3721101"/>
            <a:ext cx="0" cy="1619431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sp>
        <p:nvSpPr>
          <p:cNvPr id="26" name="TextBox 25"/>
          <p:cNvSpPr txBox="1"/>
          <p:nvPr/>
        </p:nvSpPr>
        <p:spPr>
          <a:xfrm rot="16200000">
            <a:off x="245263" y="3709659"/>
            <a:ext cx="31486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dirty="0"/>
              <a:t>The </a:t>
            </a:r>
            <a:r>
              <a:rPr lang="en-US" sz="2400" dirty="0" err="1"/>
              <a:t>lookahead</a:t>
            </a:r>
            <a:r>
              <a:rPr lang="en-US" sz="2400" dirty="0"/>
              <a:t>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80115" y="6019801"/>
            <a:ext cx="2393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base model</a:t>
            </a:r>
          </a:p>
        </p:txBody>
      </p:sp>
      <p:cxnSp>
        <p:nvCxnSpPr>
          <p:cNvPr id="7" name="Straight Arrow Connector 6"/>
          <p:cNvCxnSpPr>
            <a:cxnSpLocks/>
          </p:cNvCxnSpPr>
          <p:nvPr/>
        </p:nvCxnSpPr>
        <p:spPr bwMode="auto">
          <a:xfrm flipV="1">
            <a:off x="2207986" y="2472872"/>
            <a:ext cx="1814" cy="273521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ADC0EAF9-86EA-7843-67EB-24B0EDFDB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3275" y="107576"/>
            <a:ext cx="8042276" cy="826592"/>
          </a:xfrm>
        </p:spPr>
        <p:txBody>
          <a:bodyPr/>
          <a:lstStyle/>
          <a:p>
            <a:r>
              <a:rPr lang="en-US" dirty="0"/>
              <a:t>DLA-based lookahead policy: two stage</a:t>
            </a:r>
          </a:p>
        </p:txBody>
      </p:sp>
    </p:spTree>
    <p:extLst>
      <p:ext uri="{BB962C8B-B14F-4D97-AF65-F5344CB8AC3E}">
        <p14:creationId xmlns:p14="http://schemas.microsoft.com/office/powerpoint/2010/main" val="463200868"/>
      </p:ext>
    </p:extLst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30092" y="1024310"/>
                <a:ext cx="10363200" cy="44016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Notes:</a:t>
                </a:r>
              </a:p>
              <a:p>
                <a:pPr lvl="1"/>
                <a:r>
                  <a:rPr lang="en-US" dirty="0"/>
                  <a:t>In practice, it is quite rare to simulate a </a:t>
                </a:r>
                <a:r>
                  <a:rPr lang="en-US" dirty="0" err="1"/>
                  <a:t>lookahead</a:t>
                </a:r>
                <a:r>
                  <a:rPr lang="en-US" dirty="0"/>
                  <a:t> policy based on scenario trees. </a:t>
                </a:r>
              </a:p>
              <a:p>
                <a:pPr lvl="1"/>
                <a:r>
                  <a:rPr lang="en-US" dirty="0"/>
                  <a:t>Solving even one instance of a stochastic </a:t>
                </a:r>
                <a:r>
                  <a:rPr lang="en-US" dirty="0" err="1"/>
                  <a:t>lookahead</a:t>
                </a:r>
                <a:r>
                  <a:rPr lang="en-US" dirty="0"/>
                  <a:t> problem can be extremely difficult: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acc>
                                    <m:accPr>
                                      <m:chr m:val="̃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brk m:alnAt="23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  <a:p>
                <a:pPr lvl="2"/>
                <a:endParaRPr lang="en-US" sz="1200" dirty="0"/>
              </a:p>
              <a:p>
                <a:pPr lvl="1"/>
                <a:r>
                  <a:rPr lang="en-US" dirty="0"/>
                  <a:t>A number of authors (in stochastic programming) confuse the </a:t>
                </a:r>
                <a:r>
                  <a:rPr lang="en-US" dirty="0" err="1"/>
                  <a:t>lookahead</a:t>
                </a:r>
                <a:r>
                  <a:rPr lang="en-US" dirty="0"/>
                  <a:t> model with the “problem” being solved (we call this the base model).  Even when we can solve the two-stage stochastic program, it is not an optimal policy because of all the approximations.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0092" y="1024310"/>
                <a:ext cx="10363200" cy="4401600"/>
              </a:xfrm>
              <a:blipFill>
                <a:blip r:embed="rId2"/>
                <a:stretch>
                  <a:fillRect l="-353" r="-1412" b="-242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38A77CD2-9B80-D4D4-636F-EE640E2A4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3275" y="107576"/>
            <a:ext cx="8042276" cy="826592"/>
          </a:xfrm>
        </p:spPr>
        <p:txBody>
          <a:bodyPr/>
          <a:lstStyle/>
          <a:p>
            <a:r>
              <a:rPr lang="en-US" dirty="0"/>
              <a:t>DLA-based lookahead policy: two stage</a:t>
            </a:r>
          </a:p>
        </p:txBody>
      </p:sp>
    </p:spTree>
    <p:extLst>
      <p:ext uri="{BB962C8B-B14F-4D97-AF65-F5344CB8AC3E}">
        <p14:creationId xmlns:p14="http://schemas.microsoft.com/office/powerpoint/2010/main" val="3060269293"/>
      </p:ext>
    </p:extLst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0E06E90E-13BF-7962-4F12-ADE7918E0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CA5A4B-BB85-2BC7-2469-8C38217AB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DF1D1276-D700-8BB1-FED5-11DB65AECC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247" name="Google Shape;247;p26">
            <a:extLst>
              <a:ext uri="{FF2B5EF4-FFF2-40B4-BE49-F238E27FC236}">
                <a16:creationId xmlns:a16="http://schemas.microsoft.com/office/drawing/2014/main" id="{9C3A8C1C-1ABE-8793-64C4-7215308DC4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buClr>
                <a:schemeClr val="lt1"/>
              </a:buClr>
              <a:buNone/>
            </a:pPr>
            <a:r>
              <a:rPr lang="en-US" sz="2400" dirty="0">
                <a:solidFill>
                  <a:schemeClr val="bg1"/>
                </a:solidFill>
              </a:rPr>
              <a:t>DLA V – Stochastic lookaheads using DLAs – Vector actions</a:t>
            </a:r>
            <a:endParaRPr lang="en-US" sz="22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Two-stage stochastic programming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bg1"/>
                </a:solidFill>
              </a:rPr>
              <a:t>Stochastic search</a:t>
            </a:r>
          </a:p>
          <a:p>
            <a:pPr marL="1257300" lvl="2">
              <a:buClr>
                <a:schemeClr val="lt1"/>
              </a:buClr>
              <a:buFont typeface="Times New Roman"/>
              <a:buChar char="➜"/>
            </a:pP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C8E23A-5D80-B565-7B56-4213166D2CEA}"/>
              </a:ext>
            </a:extLst>
          </p:cNvPr>
          <p:cNvSpPr txBox="1"/>
          <p:nvPr/>
        </p:nvSpPr>
        <p:spPr>
          <a:xfrm>
            <a:off x="11439525" y="6280363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164003626"/>
      </p:ext>
    </p:extLst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F3805-23E7-4385-8BB5-EA89B46C4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CCBBB-5776-8E12-7C94-26A46CB5E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DLA-Stochastic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197A9A-0B9F-B825-C1F5-C30913B5B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994" y="1100379"/>
            <a:ext cx="10363200" cy="4401600"/>
          </a:xfrm>
        </p:spPr>
        <p:txBody>
          <a:bodyPr/>
          <a:lstStyle/>
          <a:p>
            <a:r>
              <a:rPr lang="en-US" dirty="0"/>
              <a:t>We are going to return to our stochastic lookahead model using whatever approximations we have chosen: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can now view this as a classical stochastic search problem: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4D498E-1651-557E-5529-62181A112238}"/>
                  </a:ext>
                </a:extLst>
              </p:cNvPr>
              <p:cNvSpPr txBox="1"/>
              <p:nvPr/>
            </p:nvSpPr>
            <p:spPr>
              <a:xfrm>
                <a:off x="680018" y="2445890"/>
                <a:ext cx="10477068" cy="10831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𝐷𝐿𝐴</m:t>
                          </m:r>
                        </m:sup>
                      </m:sSubSup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𝑎𝑟𝑔𝑚𝑎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̃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d>
                            <m:dPr>
                              <m:begChr m:val="{"/>
                              <m:endChr m:val="}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2000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acc>
                                        <m:accPr>
                                          <m:chr m:val="̃"/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</m:acc>
                                    </m:lim>
                                  </m:limLow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acc>
                                    <m:accPr>
                                      <m:chr m:val="̃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</m:acc>
                                </m:fName>
                                <m:e>
                                  <m:func>
                                    <m:func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d>
                                        <m:dPr>
                                          <m:begChr m:val="{"/>
                                          <m:endChr m:val="}"/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nary>
                                            <m:naryPr>
                                              <m:chr m:val="∑"/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sSup>
                                                <m:sSupPr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m:rPr>
                                                      <m:brk m:alnAt="23"/>
                                                    </m:r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′</m:t>
                                                  </m:r>
                                                </m:sup>
                                              </m:sSup>
                                              <m:r>
                                                <m:rPr>
                                                  <m:brk m:alnAt="23"/>
                                                </m:r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=</m:t>
                                              </m:r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𝐻</m:t>
                                              </m:r>
                                            </m:sup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acc>
                                                        <m:accPr>
                                                          <m:chr m:val="̃"/>
                                                          <m:ctrlPr>
                                                            <a:rPr lang="en-US" sz="20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accPr>
                                                        <m:e>
                                                          <m:r>
                                                            <a:rPr lang="en-US" sz="20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𝑆</m:t>
                                                          </m:r>
                                                        </m:e>
                                                      </m:acc>
                                                    </m:e>
                                                    <m:sub>
                                                      <m: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  <m: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  <m: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′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sSubSup>
                                                    <m:sSubSupPr>
                                                      <m:ctrlP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bSupPr>
                                                    <m:e>
                                                      <m:acc>
                                                        <m:accPr>
                                                          <m:chr m:val="̃"/>
                                                          <m:ctrlPr>
                                                            <a:rPr lang="en-US" sz="20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accPr>
                                                        <m:e>
                                                          <m:r>
                                                            <a:rPr lang="en-US" sz="20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𝑋</m:t>
                                                          </m:r>
                                                        </m:e>
                                                      </m:acc>
                                                    </m:e>
                                                    <m:sub>
                                                      <m: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  <m: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  <m: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′</m:t>
                                                      </m:r>
                                                    </m:sub>
                                                    <m:sup>
                                                      <m: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𝜋</m:t>
                                                      </m:r>
                                                    </m:sup>
                                                  </m:sSubSup>
                                                  <m:d>
                                                    <m:dPr>
                                                      <m:ctrlP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sz="20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acc>
                                                            <m:accPr>
                                                              <m:chr m:val="̃"/>
                                                              <m:ctrlPr>
                                                                <a:rPr lang="en-US" sz="2000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accPr>
                                                            <m:e>
                                                              <m:r>
                                                                <a:rPr lang="en-US" sz="2000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  <m:t>𝑆</m:t>
                                                              </m:r>
                                                            </m:e>
                                                          </m:acc>
                                                        </m:e>
                                                        <m:sub>
                                                          <m:r>
                                                            <a:rPr lang="en-US" sz="2000" b="0" i="1" smtClean="0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𝑡</m:t>
                                                          </m:r>
                                                          <m:r>
                                                            <a:rPr lang="en-US" sz="20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𝑡</m:t>
                                                          </m:r>
                                                          <m:r>
                                                            <a:rPr lang="en-US" sz="20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′</m:t>
                                                          </m:r>
                                                        </m:sub>
                                                      </m:sSub>
                                                    </m:e>
                                                  </m:d>
                                                </m:e>
                                              </m:d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|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acc>
                                                    <m:accPr>
                                                      <m:chr m:val="̃"/>
                                                      <m:ctrlP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𝑆</m:t>
                                                      </m:r>
                                                    </m:e>
                                                  </m:acc>
                                                </m:e>
                                                <m:sub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+1</m:t>
                                                  </m:r>
                                                </m:sub>
                                              </m:sSub>
                                            </m:e>
                                          </m:nary>
                                        </m:e>
                                      </m:d>
                                    </m:fName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|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func>
                                </m:e>
                              </m:func>
                            </m:e>
                          </m:d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4D498E-1651-557E-5529-62181A1122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018" y="2445890"/>
                <a:ext cx="10477068" cy="10831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162ED9BC-C8B6-D149-0FD2-05AA98419687}"/>
              </a:ext>
            </a:extLst>
          </p:cNvPr>
          <p:cNvGrpSpPr/>
          <p:nvPr/>
        </p:nvGrpSpPr>
        <p:grpSpPr>
          <a:xfrm>
            <a:off x="3695306" y="2205872"/>
            <a:ext cx="7268067" cy="2478370"/>
            <a:chOff x="3940404" y="2479251"/>
            <a:chExt cx="7268067" cy="24783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CAAF970-D16A-2885-FDC2-09F71D7E30A2}"/>
                    </a:ext>
                  </a:extLst>
                </p:cNvPr>
                <p:cNvSpPr txBox="1"/>
                <p:nvPr/>
              </p:nvSpPr>
              <p:spPr>
                <a:xfrm>
                  <a:off x="6514447" y="4486786"/>
                  <a:ext cx="2146549" cy="47083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acc>
                          <m:accPr>
                            <m:chr m:val="̃"/>
                            <m:ctrlP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  <m:r>
                          <a:rPr lang="en-US" sz="24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sz="24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dirty="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CAAF970-D16A-2885-FDC2-09F71D7E30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14447" y="4486786"/>
                  <a:ext cx="2146549" cy="470835"/>
                </a:xfrm>
                <a:prstGeom prst="rect">
                  <a:avLst/>
                </a:prstGeom>
                <a:blipFill>
                  <a:blip r:embed="rId3"/>
                  <a:stretch>
                    <a:fillRect t="-6494" b="-1948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9399052-BB12-941B-46C9-6DB18EB6C6A9}"/>
                </a:ext>
              </a:extLst>
            </p:cNvPr>
            <p:cNvSpPr/>
            <p:nvPr/>
          </p:nvSpPr>
          <p:spPr>
            <a:xfrm>
              <a:off x="3940404" y="2479251"/>
              <a:ext cx="7268067" cy="1604071"/>
            </a:xfrm>
            <a:prstGeom prst="ellipse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D6A5F87-4138-B69C-9F98-F0094ACB1EFD}"/>
                </a:ext>
              </a:extLst>
            </p:cNvPr>
            <p:cNvCxnSpPr>
              <a:cxnSpLocks/>
              <a:stCxn id="7" idx="4"/>
              <a:endCxn id="6" idx="0"/>
            </p:cNvCxnSpPr>
            <p:nvPr/>
          </p:nvCxnSpPr>
          <p:spPr>
            <a:xfrm>
              <a:off x="7574438" y="4083322"/>
              <a:ext cx="13284" cy="403464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D57043B-69A4-DF39-644A-2088EE0821EC}"/>
                  </a:ext>
                </a:extLst>
              </p:cNvPr>
              <p:cNvSpPr txBox="1"/>
              <p:nvPr/>
            </p:nvSpPr>
            <p:spPr>
              <a:xfrm>
                <a:off x="2657867" y="5698008"/>
                <a:ext cx="4671472" cy="7156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𝐷𝐿𝐴</m:t>
                          </m:r>
                        </m:sup>
                      </m:sSubSup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𝑎𝑟𝑔𝑚𝑎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acc>
                        <m:accPr>
                          <m:chr m:val="̃"/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accent2">
                      <a:lumMod val="75000"/>
                    </a:schemeClr>
                  </a:solidFill>
                </a:endParaRP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D57043B-69A4-DF39-644A-2088EE0821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7867" y="5698008"/>
                <a:ext cx="4671472" cy="715645"/>
              </a:xfrm>
              <a:prstGeom prst="rect">
                <a:avLst/>
              </a:prstGeom>
              <a:blipFill>
                <a:blip r:embed="rId4"/>
                <a:stretch>
                  <a:fillRect t="-42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9055853"/>
      </p:ext>
    </p:extLst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03A77-025F-D68C-8ABD-99FEFBA0C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DLA-Stochastic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3258470-6977-42D0-936F-F626061280A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Our lookahead problem involves solving the stochastic search problem: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pPr lvl="1"/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is a vector, the most practical strategies use derivative-based stochastic search.</a:t>
                </a:r>
              </a:p>
              <a:p>
                <a:pPr lvl="1"/>
                <a:r>
                  <a:rPr lang="en-US" dirty="0"/>
                  <a:t>A natural approach would be to use Spall’s SPSA algorithm which uses numerical derivatives.</a:t>
                </a:r>
              </a:p>
              <a:p>
                <a:pPr lvl="1"/>
                <a:r>
                  <a:rPr lang="en-US" dirty="0"/>
                  <a:t>We cover SPSA in the module on </a:t>
                </a:r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</a:rPr>
                  <a:t>Policy Search</a:t>
                </a:r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3258470-6977-42D0-936F-F626061280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1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B626AC6-E45F-D96D-D289-5C1804C08B9E}"/>
                  </a:ext>
                </a:extLst>
              </p:cNvPr>
              <p:cNvSpPr txBox="1"/>
              <p:nvPr/>
            </p:nvSpPr>
            <p:spPr>
              <a:xfrm>
                <a:off x="1688478" y="2553189"/>
                <a:ext cx="4671472" cy="7156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𝐷𝐿𝐴</m:t>
                          </m:r>
                        </m:sup>
                      </m:sSubSup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𝑎𝑟𝑔𝑚𝑎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acc>
                        <m:accPr>
                          <m:chr m:val="̃"/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accent2">
                      <a:lumMod val="75000"/>
                    </a:schemeClr>
                  </a:solidFill>
                </a:endParaRP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B626AC6-E45F-D96D-D289-5C1804C08B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8478" y="2553189"/>
                <a:ext cx="4671472" cy="715645"/>
              </a:xfrm>
              <a:prstGeom prst="rect">
                <a:avLst/>
              </a:prstGeom>
              <a:blipFill>
                <a:blip r:embed="rId3"/>
                <a:stretch>
                  <a:fillRect t="-42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3759352"/>
      </p:ext>
    </p:extLst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BBBB8-17C2-D185-0BA8-077614BAC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A29684C-BCEC-A849-3177-2D1D6417A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11" y="0"/>
            <a:ext cx="1225149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DE0620-C92A-A754-56B5-D4BEA10F7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7270" y="353850"/>
            <a:ext cx="4838905" cy="550500"/>
          </a:xfrm>
        </p:spPr>
        <p:txBody>
          <a:bodyPr/>
          <a:lstStyle/>
          <a:p>
            <a:r>
              <a:rPr lang="en-US" i="1" dirty="0">
                <a:solidFill>
                  <a:schemeClr val="tx1"/>
                </a:solidFill>
              </a:rPr>
              <a:t>Thank you!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5C8F62-59FA-A373-C989-AB5E75BB4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2137" y="797340"/>
            <a:ext cx="2316681" cy="2591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3C8A73-2C1D-1294-A4A5-6D5255143D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5757" y="770669"/>
            <a:ext cx="2286198" cy="264436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1F443-4AFD-8FBF-6B8F-4397E8982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65426" y="807631"/>
            <a:ext cx="5352185" cy="4401600"/>
          </a:xfrm>
        </p:spPr>
        <p:txBody>
          <a:bodyPr/>
          <a:lstStyle/>
          <a:p>
            <a:pPr marL="0" lvl="2" indent="0" algn="ctr"/>
            <a:endParaRPr lang="en-US" dirty="0">
              <a:solidFill>
                <a:schemeClr val="tx1"/>
              </a:solidFill>
            </a:endParaRPr>
          </a:p>
          <a:p>
            <a:pPr marL="0" lvl="1" indent="0" algn="ctr">
              <a:buNone/>
            </a:pPr>
            <a:r>
              <a:rPr lang="en-US" dirty="0">
                <a:solidFill>
                  <a:schemeClr val="tx1"/>
                </a:solidFill>
              </a:rPr>
              <a:t>For more information see the </a:t>
            </a:r>
            <a:r>
              <a:rPr lang="en-US" i="1" dirty="0">
                <a:solidFill>
                  <a:schemeClr val="tx1"/>
                </a:solidFill>
              </a:rPr>
              <a:t>Sequential Decision Analytics </a:t>
            </a:r>
            <a:r>
              <a:rPr lang="en-US" dirty="0">
                <a:solidFill>
                  <a:schemeClr val="tx1"/>
                </a:solidFill>
              </a:rPr>
              <a:t>website at</a:t>
            </a:r>
          </a:p>
          <a:p>
            <a:pPr marL="0" lvl="2" indent="0" algn="ctr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2" indent="0" algn="ctr">
              <a:buNone/>
            </a:pP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warrenpowell.org</a:t>
            </a:r>
          </a:p>
          <a:p>
            <a:pPr marL="0" lvl="2" indent="0" algn="ctr"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marL="0" lvl="1" indent="0" algn="ctr"/>
            <a:endParaRPr lang="en-US" sz="1400" dirty="0">
              <a:solidFill>
                <a:schemeClr val="tx1"/>
              </a:solidFill>
            </a:endParaRPr>
          </a:p>
          <a:p>
            <a:pPr marL="0" lvl="1" indent="0"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E5F0304-99EC-7573-4200-8E63689440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600" y="629100"/>
            <a:ext cx="2270957" cy="56164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429460D-EAEA-29E9-1E01-36E04A6745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4573" y="5523402"/>
            <a:ext cx="7552074" cy="5639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5799D7-7698-E53E-3669-82653B1732F6}"/>
              </a:ext>
            </a:extLst>
          </p:cNvPr>
          <p:cNvSpPr txBox="1"/>
          <p:nvPr/>
        </p:nvSpPr>
        <p:spPr>
          <a:xfrm>
            <a:off x="3854573" y="3563240"/>
            <a:ext cx="80631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For more on direct lookahead approximations go to:</a:t>
            </a:r>
          </a:p>
          <a:p>
            <a:r>
              <a:rPr lang="en-US" sz="1800" dirty="0">
                <a:solidFill>
                  <a:schemeClr val="tx1"/>
                </a:solidFill>
              </a:rPr>
              <a:t> </a:t>
            </a:r>
          </a:p>
          <a:p>
            <a:r>
              <a:rPr lang="en-US" sz="1800" dirty="0">
                <a:solidFill>
                  <a:schemeClr val="tx1"/>
                </a:solidFill>
              </a:rPr>
              <a:t>warrenpowell.org → Policies → Direct lookahead approximations</a:t>
            </a:r>
          </a:p>
          <a:p>
            <a:r>
              <a:rPr lang="en-US" sz="18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92310405"/>
      </p:ext>
    </p:extLst>
  </p:cSld>
  <p:clrMapOvr>
    <a:masterClrMapping/>
  </p:clrMapOvr>
</p:sld>
</file>

<file path=ppt/theme/theme1.xml><?xml version="1.0" encoding="utf-8"?>
<a:theme xmlns:a="http://schemas.openxmlformats.org/drawingml/2006/main" name="CIV 411 11 Intro and overview">
  <a:themeElements>
    <a:clrScheme name="CIV 411 11 Intro and overview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8575">
          <a:solidFill>
            <a:schemeClr val="tx1"/>
          </a:solidFill>
          <a:headEnd type="none" w="med" len="med"/>
          <a:tailEnd type="arrow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9a67f89-7d7d-48be-9399-9713d9f7587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A48227E3DE37419A418C60F2D64C15" ma:contentTypeVersion="6" ma:contentTypeDescription="Create a new document." ma:contentTypeScope="" ma:versionID="6a273f09d10aeeee6a70496a6e8b3e1f">
  <xsd:schema xmlns:xsd="http://www.w3.org/2001/XMLSchema" xmlns:xs="http://www.w3.org/2001/XMLSchema" xmlns:p="http://schemas.microsoft.com/office/2006/metadata/properties" xmlns:ns3="b9a67f89-7d7d-48be-9399-9713d9f7587c" targetNamespace="http://schemas.microsoft.com/office/2006/metadata/properties" ma:root="true" ma:fieldsID="55a4f175a1c67e7eff53bb36c6c03921" ns3:_="">
    <xsd:import namespace="b9a67f89-7d7d-48be-9399-9713d9f7587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a67f89-7d7d-48be-9399-9713d9f758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0C8D23-C824-4069-9D96-A056B9C750B2}">
  <ds:schemaRefs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b9a67f89-7d7d-48be-9399-9713d9f7587c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99611F8-1974-4A8A-AF09-CB23287D66B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65DD70-CE85-45EB-8875-37DB516A69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a67f89-7d7d-48be-9399-9713d9f758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469097</TotalTime>
  <Words>17887</Words>
  <Application>Microsoft Office PowerPoint</Application>
  <PresentationFormat>Widescreen</PresentationFormat>
  <Paragraphs>4380</Paragraphs>
  <Slides>386</Slides>
  <Notes>216</Notes>
  <HiddenSlides>0</HiddenSlides>
  <MMClips>3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386</vt:i4>
      </vt:variant>
    </vt:vector>
  </HeadingPairs>
  <TitlesOfParts>
    <vt:vector size="400" baseType="lpstr">
      <vt:lpstr>Oswald Regular</vt:lpstr>
      <vt:lpstr>Cambria Math</vt:lpstr>
      <vt:lpstr>Wingdings</vt:lpstr>
      <vt:lpstr>Oswald</vt:lpstr>
      <vt:lpstr>Raleway</vt:lpstr>
      <vt:lpstr>Symbol</vt:lpstr>
      <vt:lpstr>Raleway Thin</vt:lpstr>
      <vt:lpstr>Playfair Display</vt:lpstr>
      <vt:lpstr>Times New Roman</vt:lpstr>
      <vt:lpstr>Arial</vt:lpstr>
      <vt:lpstr>CIV 411 11 Intro and overview</vt:lpstr>
      <vt:lpstr>Equation</vt:lpstr>
      <vt:lpstr>Clip</vt:lpstr>
      <vt:lpstr>Chart</vt:lpstr>
      <vt:lpstr>PowerPoint Presentation</vt:lpstr>
      <vt:lpstr>OUTLINE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OUTLINE</vt:lpstr>
      <vt:lpstr>Bridging Machine Learning and Sequential Decision Problems</vt:lpstr>
      <vt:lpstr>OUTLINE</vt:lpstr>
      <vt:lpstr>Policy evaluation</vt:lpstr>
      <vt:lpstr>Policy evaluation</vt:lpstr>
      <vt:lpstr>Thank you!</vt:lpstr>
      <vt:lpstr>PowerPoint Presentation</vt:lpstr>
      <vt:lpstr>OUTLINE</vt:lpstr>
      <vt:lpstr>OUTLINE</vt:lpstr>
      <vt:lpstr>Cost function approximations: Discrete choices</vt:lpstr>
      <vt:lpstr>PowerPoint Presentation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OUTLINE</vt:lpstr>
      <vt:lpstr>Cost function approximations</vt:lpstr>
      <vt:lpstr>Cost function approximations: Continuous vectors</vt:lpstr>
      <vt:lpstr>Cost function approximations: Continuous vectors</vt:lpstr>
      <vt:lpstr>Cost function approximations: Continuous vectors</vt:lpstr>
      <vt:lpstr>Cost function approximations: Continuous vectors</vt:lpstr>
      <vt:lpstr>Cost function approximations: Continuous vectors</vt:lpstr>
      <vt:lpstr>Thank you!</vt:lpstr>
      <vt:lpstr>OUTLINE</vt:lpstr>
      <vt:lpstr>PowerPoint Presentation</vt:lpstr>
      <vt:lpstr>OUTLINE</vt:lpstr>
      <vt:lpstr>OUTLINE</vt:lpstr>
      <vt:lpstr>OUTLINE</vt:lpstr>
      <vt:lpstr>VFA policies: Exact dynamic programming</vt:lpstr>
      <vt:lpstr>VFA policies: Exact dynamic programming</vt:lpstr>
      <vt:lpstr>PowerPoint Presentation</vt:lpstr>
      <vt:lpstr>VFA policies: Exact dynamic programming</vt:lpstr>
      <vt:lpstr>VFA policies: Exact dynamic programming</vt:lpstr>
      <vt:lpstr>VFA policies: Exact dynamic programming</vt:lpstr>
      <vt:lpstr>OUTLINE</vt:lpstr>
      <vt:lpstr>VFA policies: Backward MDP and curses of dimensionality</vt:lpstr>
      <vt:lpstr>VFA policies: Backward MDP and curses of dimensionality</vt:lpstr>
      <vt:lpstr>VFA policies: Backward MDP and curses of dimensionality</vt:lpstr>
      <vt:lpstr>VFA policies: Backward MDP and curses of dimensionality</vt:lpstr>
      <vt:lpstr>OUTLINE</vt:lpstr>
      <vt:lpstr>VFA policies: Exact dynamic programming</vt:lpstr>
      <vt:lpstr>VFA policies: Exact dynamic programming</vt:lpstr>
      <vt:lpstr>VFA policies: Exact dynamic programming</vt:lpstr>
      <vt:lpstr>VFA policies: Exact dynamic programming</vt:lpstr>
      <vt:lpstr>Thank you!</vt:lpstr>
      <vt:lpstr>PowerPoint Presentation</vt:lpstr>
      <vt:lpstr>OUTLINE</vt:lpstr>
      <vt:lpstr>OUTLINE</vt:lpstr>
      <vt:lpstr>VFA policies</vt:lpstr>
      <vt:lpstr>VFA policies</vt:lpstr>
      <vt:lpstr>VFA policies</vt:lpstr>
      <vt:lpstr>VFA policies</vt:lpstr>
      <vt:lpstr>VFA policies</vt:lpstr>
      <vt:lpstr>OUTLINE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OUTLINE</vt:lpstr>
      <vt:lpstr>Value iteration: The nomadic trucker</vt:lpstr>
      <vt:lpstr>Value iteration: Exploration vs. exploitation</vt:lpstr>
      <vt:lpstr>Value iteration: Exploration vs. exploitation</vt:lpstr>
      <vt:lpstr>Value iteration: Exploration vs. exploitation</vt:lpstr>
      <vt:lpstr>PowerPoint Presentation</vt:lpstr>
      <vt:lpstr>PowerPoint Presentation</vt:lpstr>
      <vt:lpstr>Value iteration: Exploration vs. exploitation</vt:lpstr>
      <vt:lpstr>OUTLINE</vt:lpstr>
      <vt:lpstr>Backward approximate dynamic programming</vt:lpstr>
      <vt:lpstr>Backward approximate dynamic programming</vt:lpstr>
      <vt:lpstr>Backward approximate dynamic programming</vt:lpstr>
      <vt:lpstr>Backward approximate dynamic programming</vt:lpstr>
      <vt:lpstr>Thank you!</vt:lpstr>
      <vt:lpstr>PowerPoint Presentation</vt:lpstr>
      <vt:lpstr>OUTLINE</vt:lpstr>
      <vt:lpstr>OUTLINE</vt:lpstr>
      <vt:lpstr>Reinforcement learning: TD learning</vt:lpstr>
      <vt:lpstr>Reinforcement learning: TD learning</vt:lpstr>
      <vt:lpstr>Reinforcement learning: TD learning</vt:lpstr>
      <vt:lpstr>OUTLINE</vt:lpstr>
      <vt:lpstr>Reinforcement learning: Q-learning</vt:lpstr>
      <vt:lpstr>Reinforcement learning: Q-learning</vt:lpstr>
      <vt:lpstr>Reinforcement learning: Q-learning</vt:lpstr>
      <vt:lpstr>Reinforcement learning: Q-learning</vt:lpstr>
      <vt:lpstr>Reinforcement learning: Q-learning</vt:lpstr>
      <vt:lpstr>Reinforcement learning: Q-learning</vt:lpstr>
      <vt:lpstr>OUTLINE</vt:lpstr>
      <vt:lpstr>VFA: The deadly triad </vt:lpstr>
      <vt:lpstr>VFA: The deadly triad </vt:lpstr>
      <vt:lpstr>Thank you!</vt:lpstr>
      <vt:lpstr>PowerPoint Presentation</vt:lpstr>
      <vt:lpstr>OUTLINE</vt:lpstr>
      <vt:lpstr>OUTLINE</vt:lpstr>
      <vt:lpstr>OUTLINE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OUTLINE</vt:lpstr>
      <vt:lpstr>PowerPoint Presentation</vt:lpstr>
      <vt:lpstr>VFAs: Stepsizes</vt:lpstr>
      <vt:lpstr>VFAs: Stepsizes</vt:lpstr>
      <vt:lpstr>VFAs: Stepsizes</vt:lpstr>
      <vt:lpstr>VFAs: Stepsizes</vt:lpstr>
      <vt:lpstr>VFAs: Stepsizes</vt:lpstr>
      <vt:lpstr>VFAs: Stepsizes</vt:lpstr>
      <vt:lpstr>VFAs: Stepsizes</vt:lpstr>
      <vt:lpstr>OUTLINE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Thank you!</vt:lpstr>
      <vt:lpstr>PowerPoint Presentation</vt:lpstr>
      <vt:lpstr>OUTLINE</vt:lpstr>
      <vt:lpstr>OUTLINE</vt:lpstr>
      <vt:lpstr>OUTLINE</vt:lpstr>
      <vt:lpstr>Blood management</vt:lpstr>
      <vt:lpstr>Blood management</vt:lpstr>
      <vt:lpstr>Blood management</vt:lpstr>
      <vt:lpstr>Blood management</vt:lpstr>
      <vt:lpstr>Blood management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OUTLINE</vt:lpstr>
      <vt:lpstr>Grid level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OUTLINE</vt:lpstr>
      <vt:lpstr>PowerPoint Presentation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PowerPoint Presentation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OUTLINE</vt:lpstr>
      <vt:lpstr>Locomotive planning at Norfolk Southern</vt:lpstr>
      <vt:lpstr>PowerPoint Presentation</vt:lpstr>
      <vt:lpstr>PowerPoint Presentation</vt:lpstr>
      <vt:lpstr>PowerPoint Presentation</vt:lpstr>
      <vt:lpstr>PowerPoint Presentation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Thank you!</vt:lpstr>
      <vt:lpstr>OUTLINE</vt:lpstr>
      <vt:lpstr>PowerPoint Presentation</vt:lpstr>
      <vt:lpstr>OUTLINE</vt:lpstr>
      <vt:lpstr>OUTLINE</vt:lpstr>
      <vt:lpstr>OUTLINE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OUTLINE</vt:lpstr>
      <vt:lpstr>The policy-within-a-policy</vt:lpstr>
      <vt:lpstr>The policy-within-a-policy</vt:lpstr>
      <vt:lpstr>The policy-within-a-policy</vt:lpstr>
      <vt:lpstr>Thank you!</vt:lpstr>
      <vt:lpstr>PowerPoint Presentation</vt:lpstr>
      <vt:lpstr>OUTLINE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Cost function approximations: Parameterized LP</vt:lpstr>
      <vt:lpstr>Cost function approximations: Parameterized LP</vt:lpstr>
      <vt:lpstr>Thank you!</vt:lpstr>
      <vt:lpstr>PowerPoint Presentation</vt:lpstr>
      <vt:lpstr>OUTLINE</vt:lpstr>
      <vt:lpstr>OUTLINE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OUTLINE</vt:lpstr>
      <vt:lpstr>Direct lookahead policies</vt:lpstr>
      <vt:lpstr>Dynamic shortest paths</vt:lpstr>
      <vt:lpstr>Dynamic shortest paths</vt:lpstr>
      <vt:lpstr>Parameterized deterministic lookahead</vt:lpstr>
      <vt:lpstr>Dynamic shortest paths</vt:lpstr>
      <vt:lpstr>Dynamic shortest paths</vt:lpstr>
      <vt:lpstr>Dynamic shortest paths</vt:lpstr>
      <vt:lpstr>Dynamic shortest paths</vt:lpstr>
      <vt:lpstr>Designing policies</vt:lpstr>
      <vt:lpstr>Policy search</vt:lpstr>
      <vt:lpstr>OUTLINE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Thank you!</vt:lpstr>
      <vt:lpstr>PowerPoint Presentation</vt:lpstr>
      <vt:lpstr>OUTLINE</vt:lpstr>
      <vt:lpstr>OUTLINE</vt:lpstr>
      <vt:lpstr>DLA policy: Decision trees</vt:lpstr>
      <vt:lpstr>DLA policy: Decision trees</vt:lpstr>
      <vt:lpstr>DLA policy: Decision trees</vt:lpstr>
      <vt:lpstr>DLA policy: Decision trees</vt:lpstr>
      <vt:lpstr>DLA policy: Decision trees</vt:lpstr>
      <vt:lpstr>DLA policy: Decision trees</vt:lpstr>
      <vt:lpstr>DLA policy: Decision trees</vt:lpstr>
      <vt:lpstr>PowerPoint Presentation</vt:lpstr>
      <vt:lpstr>PowerPoint Presentation</vt:lpstr>
      <vt:lpstr>PowerPoint Presentation</vt:lpstr>
      <vt:lpstr>PowerPoint Presentation</vt:lpstr>
      <vt:lpstr>OUTLINE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Thank you!</vt:lpstr>
      <vt:lpstr>PowerPoint Presentation</vt:lpstr>
      <vt:lpstr>OUTLINE</vt:lpstr>
      <vt:lpstr>OUTLINE</vt:lpstr>
      <vt:lpstr>PowerPoint Presentation</vt:lpstr>
      <vt:lpstr>PowerPoint Presentation</vt:lpstr>
      <vt:lpstr>The timing of decisions</vt:lpstr>
      <vt:lpstr>The timing of decisions</vt:lpstr>
      <vt:lpstr>The timing of decisions</vt:lpstr>
      <vt:lpstr>PowerPoint Presentation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OUTLINE</vt:lpstr>
      <vt:lpstr>DLA-Stochastic search</vt:lpstr>
      <vt:lpstr>DLA-Stochastic search</vt:lpstr>
      <vt:lpstr>Thank you!</vt:lpstr>
      <vt:lpstr>PowerPoint Presentation</vt:lpstr>
      <vt:lpstr>OUTLINE</vt:lpstr>
      <vt:lpstr>OUTLINE</vt:lpstr>
      <vt:lpstr>Policy search: Derivative-based</vt:lpstr>
      <vt:lpstr>Policy search: Derivative-based</vt:lpstr>
      <vt:lpstr>Policy search: Derivative-based</vt:lpstr>
      <vt:lpstr>Policy search: Derivative-based</vt:lpstr>
      <vt:lpstr>OUTLINE</vt:lpstr>
      <vt:lpstr>Policy search: Derivative-based</vt:lpstr>
      <vt:lpstr>Policy search: Derivative-based</vt:lpstr>
      <vt:lpstr>Policy search: Derivative-based</vt:lpstr>
      <vt:lpstr>Policy search: Derivative-based</vt:lpstr>
      <vt:lpstr>Policy search: Derivative-based</vt:lpstr>
      <vt:lpstr>Policy search: Derivative-based</vt:lpstr>
      <vt:lpstr>OUTLINE</vt:lpstr>
      <vt:lpstr>Policy search: Derivative-free</vt:lpstr>
      <vt:lpstr>Policy search: Derivative-free</vt:lpstr>
      <vt:lpstr>Policy search: Derivative-free</vt:lpstr>
      <vt:lpstr>OUTLINE</vt:lpstr>
      <vt:lpstr>Policy search: Derivative-based</vt:lpstr>
      <vt:lpstr>The universal modeling framework</vt:lpstr>
      <vt:lpstr>Policy search: as a SDP</vt:lpstr>
      <vt:lpstr>OUTLINE</vt:lpstr>
      <vt:lpstr>PowerPoint Presentation</vt:lpstr>
      <vt:lpstr>PowerPoint Presentation</vt:lpstr>
      <vt:lpstr>Policy search: Derivative-free</vt:lpstr>
      <vt:lpstr>Policy search: Derivative-free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Warren B. Powell</dc:creator>
  <cp:lastModifiedBy>Warren Powell</cp:lastModifiedBy>
  <cp:revision>801</cp:revision>
  <cp:lastPrinted>2025-05-20T14:08:40Z</cp:lastPrinted>
  <dcterms:modified xsi:type="dcterms:W3CDTF">2026-09-06T14:28:49Z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0x0101000CA48227E3DE37419A418C60F2D64C15</vt:lpwstr>
  </property>
</Properties>
</file>