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gif" ContentType="image/gif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slides/slide284.xml" ContentType="application/vnd.openxmlformats-officedocument.presentationml.slide+xml"/>
  <Override PartName="/ppt/slides/slide285.xml" ContentType="application/vnd.openxmlformats-officedocument.presentationml.slide+xml"/>
  <Override PartName="/ppt/slides/slide286.xml" ContentType="application/vnd.openxmlformats-officedocument.presentationml.slide+xml"/>
  <Override PartName="/ppt/slides/slide287.xml" ContentType="application/vnd.openxmlformats-officedocument.presentationml.slide+xml"/>
  <Override PartName="/ppt/slides/slide288.xml" ContentType="application/vnd.openxmlformats-officedocument.presentationml.slide+xml"/>
  <Override PartName="/ppt/slides/slide289.xml" ContentType="application/vnd.openxmlformats-officedocument.presentationml.slide+xml"/>
  <Override PartName="/ppt/slides/slide290.xml" ContentType="application/vnd.openxmlformats-officedocument.presentationml.slide+xml"/>
  <Override PartName="/ppt/slides/slide291.xml" ContentType="application/vnd.openxmlformats-officedocument.presentationml.slide+xml"/>
  <Override PartName="/ppt/slides/slide292.xml" ContentType="application/vnd.openxmlformats-officedocument.presentationml.slide+xml"/>
  <Override PartName="/ppt/slides/slide293.xml" ContentType="application/vnd.openxmlformats-officedocument.presentationml.slide+xml"/>
  <Override PartName="/ppt/slides/slide294.xml" ContentType="application/vnd.openxmlformats-officedocument.presentationml.slide+xml"/>
  <Override PartName="/ppt/slides/slide295.xml" ContentType="application/vnd.openxmlformats-officedocument.presentationml.slide+xml"/>
  <Override PartName="/ppt/slides/slide296.xml" ContentType="application/vnd.openxmlformats-officedocument.presentationml.slide+xml"/>
  <Override PartName="/ppt/slides/slide297.xml" ContentType="application/vnd.openxmlformats-officedocument.presentationml.slide+xml"/>
  <Override PartName="/ppt/slides/slide298.xml" ContentType="application/vnd.openxmlformats-officedocument.presentationml.slide+xml"/>
  <Override PartName="/ppt/slides/slide299.xml" ContentType="application/vnd.openxmlformats-officedocument.presentationml.slide+xml"/>
  <Override PartName="/ppt/slides/slide300.xml" ContentType="application/vnd.openxmlformats-officedocument.presentationml.slide+xml"/>
  <Override PartName="/ppt/slides/slide301.xml" ContentType="application/vnd.openxmlformats-officedocument.presentationml.slide+xml"/>
  <Override PartName="/ppt/slides/slide302.xml" ContentType="application/vnd.openxmlformats-officedocument.presentationml.slide+xml"/>
  <Override PartName="/ppt/slides/slide303.xml" ContentType="application/vnd.openxmlformats-officedocument.presentationml.slide+xml"/>
  <Override PartName="/ppt/slides/slide304.xml" ContentType="application/vnd.openxmlformats-officedocument.presentationml.slide+xml"/>
  <Override PartName="/ppt/slides/slide305.xml" ContentType="application/vnd.openxmlformats-officedocument.presentationml.slide+xml"/>
  <Override PartName="/ppt/slides/slide306.xml" ContentType="application/vnd.openxmlformats-officedocument.presentationml.slide+xml"/>
  <Override PartName="/ppt/slides/slide307.xml" ContentType="application/vnd.openxmlformats-officedocument.presentationml.slide+xml"/>
  <Override PartName="/ppt/slides/slide308.xml" ContentType="application/vnd.openxmlformats-officedocument.presentationml.slide+xml"/>
  <Override PartName="/ppt/slides/slide309.xml" ContentType="application/vnd.openxmlformats-officedocument.presentationml.slide+xml"/>
  <Override PartName="/ppt/slides/slide310.xml" ContentType="application/vnd.openxmlformats-officedocument.presentationml.slide+xml"/>
  <Override PartName="/ppt/slides/slide311.xml" ContentType="application/vnd.openxmlformats-officedocument.presentationml.slide+xml"/>
  <Override PartName="/ppt/slides/slide312.xml" ContentType="application/vnd.openxmlformats-officedocument.presentationml.slide+xml"/>
  <Override PartName="/ppt/slides/slide313.xml" ContentType="application/vnd.openxmlformats-officedocument.presentationml.slide+xml"/>
  <Override PartName="/ppt/slides/slide314.xml" ContentType="application/vnd.openxmlformats-officedocument.presentationml.slide+xml"/>
  <Override PartName="/ppt/slides/slide315.xml" ContentType="application/vnd.openxmlformats-officedocument.presentationml.slide+xml"/>
  <Override PartName="/ppt/slides/slide316.xml" ContentType="application/vnd.openxmlformats-officedocument.presentationml.slide+xml"/>
  <Override PartName="/ppt/slides/slide317.xml" ContentType="application/vnd.openxmlformats-officedocument.presentationml.slide+xml"/>
  <Override PartName="/ppt/slides/slide318.xml" ContentType="application/vnd.openxmlformats-officedocument.presentationml.slide+xml"/>
  <Override PartName="/ppt/slides/slide319.xml" ContentType="application/vnd.openxmlformats-officedocument.presentationml.slide+xml"/>
  <Override PartName="/ppt/slides/slide320.xml" ContentType="application/vnd.openxmlformats-officedocument.presentationml.slide+xml"/>
  <Override PartName="/ppt/slides/slide321.xml" ContentType="application/vnd.openxmlformats-officedocument.presentationml.slide+xml"/>
  <Override PartName="/ppt/slides/slide322.xml" ContentType="application/vnd.openxmlformats-officedocument.presentationml.slide+xml"/>
  <Override PartName="/ppt/slides/slide323.xml" ContentType="application/vnd.openxmlformats-officedocument.presentationml.slide+xml"/>
  <Override PartName="/ppt/slides/slide324.xml" ContentType="application/vnd.openxmlformats-officedocument.presentationml.slide+xml"/>
  <Override PartName="/ppt/slides/slide3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4" r:id="rId4"/>
  </p:sldMasterIdLst>
  <p:notesMasterIdLst>
    <p:notesMasterId r:id="rId330"/>
  </p:notesMasterIdLst>
  <p:sldIdLst>
    <p:sldId id="10780" r:id="rId318"/>
    <p:sldId id="10890" r:id="rId319"/>
    <p:sldId id="10889" r:id="rId320"/>
    <p:sldId id="10099" r:id="rId321"/>
    <p:sldId id="10100" r:id="rId322"/>
    <p:sldId id="10110" r:id="rId323"/>
    <p:sldId id="9548" r:id="rId324"/>
    <p:sldId id="9837" r:id="rId325"/>
    <p:sldId id="7930" r:id="rId326"/>
    <p:sldId id="8043" r:id="rId327"/>
    <p:sldId id="9284" r:id="rId328"/>
    <p:sldId id="10972" r:id="rId329"/>
  </p:sldIdLst>
  <p:sldSz cx="12192000" cy="6858000"/>
  <p:notesSz cx="7102475" cy="9388475"/>
  <p:embeddedFontLst>
    <p:embeddedFont>
      <p:font typeface="Cambria Math" panose="02040503050406030204" pitchFamily="18" charset="0"/>
      <p:regular r:id="rId331"/>
    </p:embeddedFont>
    <p:embeddedFont>
      <p:font typeface="Oswald" panose="00000500000000000000" pitchFamily="2" charset="0"/>
      <p:regular r:id="rId332"/>
      <p:bold r:id="rId333"/>
    </p:embeddedFont>
    <p:embeddedFont>
      <p:font typeface="Oswald Regular" panose="00000500000000000000" charset="0"/>
      <p:regular r:id="rId334"/>
      <p:bold r:id="rId335"/>
    </p:embeddedFont>
    <p:embeddedFont>
      <p:font typeface="Playfair Display" panose="00000500000000000000" pitchFamily="2" charset="0"/>
      <p:regular r:id="rId336"/>
      <p:bold r:id="rId337"/>
      <p:italic r:id="rId338"/>
      <p:boldItalic r:id="rId339"/>
    </p:embeddedFont>
    <p:embeddedFont>
      <p:font typeface="Raleway" pitchFamily="2" charset="0"/>
      <p:regular r:id="rId340"/>
      <p:bold r:id="rId341"/>
      <p:italic r:id="rId342"/>
      <p:boldItalic r:id="rId343"/>
    </p:embeddedFont>
    <p:embeddedFont>
      <p:font typeface="Raleway Thin" pitchFamily="2" charset="0"/>
      <p:regular r:id="rId344"/>
      <p:bold r:id="rId345"/>
      <p:italic r:id="rId346"/>
      <p:boldItalic r:id="rId34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4594221A-EA1A-49CA-A6F5-055A24DBA16E}">
          <p14:sldIdLst/>
        </p14:section>
        <p14:section name="Opening" id="{15E8A6E9-652B-44EF-A433-602AA2C0CF1D}">
          <p14:sldIdLst/>
        </p14:section>
        <p14:section name="Background for this tutorial" id="{9E777E73-11DD-4A73-81F1-368F6E4B7E85}">
          <p14:sldIdLst>
            <p14:sldId id="10779"/>
            <p14:sldId id="9124"/>
            <p14:sldId id="8947"/>
            <p14:sldId id="9364"/>
            <p14:sldId id="8505"/>
            <p14:sldId id="258"/>
            <p14:sldId id="7813"/>
            <p14:sldId id="9228"/>
            <p14:sldId id="9227"/>
            <p14:sldId id="10645"/>
            <p14:sldId id="10330"/>
            <p14:sldId id="9922"/>
            <p14:sldId id="10477"/>
            <p14:sldId id="10174"/>
            <p14:sldId id="10022"/>
            <p14:sldId id="10173"/>
            <p14:sldId id="10172"/>
            <p14:sldId id="10419"/>
            <p14:sldId id="10907"/>
          </p14:sldIdLst>
        </p14:section>
        <p14:section name="History of RL (short)" id="{A11ABB24-D8C5-421E-8D7B-89403AEF34B0}">
          <p14:sldIdLst>
            <p14:sldId id="10742"/>
            <p14:sldId id="10530"/>
            <p14:sldId id="10481"/>
            <p14:sldId id="8657"/>
            <p14:sldId id="10483"/>
            <p14:sldId id="10657"/>
            <p14:sldId id="10531"/>
            <p14:sldId id="10679"/>
            <p14:sldId id="10488"/>
            <p14:sldId id="10489"/>
            <p14:sldId id="10654"/>
            <p14:sldId id="10491"/>
            <p14:sldId id="10492"/>
            <p14:sldId id="10658"/>
            <p14:sldId id="10494"/>
            <p14:sldId id="10721"/>
            <p14:sldId id="10577"/>
            <p14:sldId id="10660"/>
            <p14:sldId id="10838"/>
            <p14:sldId id="10840"/>
            <p14:sldId id="10499"/>
            <p14:sldId id="10500"/>
            <p14:sldId id="10576"/>
            <p14:sldId id="10501"/>
            <p14:sldId id="10502"/>
            <p14:sldId id="10503"/>
            <p14:sldId id="10575"/>
            <p14:sldId id="10963"/>
          </p14:sldIdLst>
        </p14:section>
        <p14:section name="Sequential decision problems" id="{ACC58C93-CA30-44E4-A6F7-33A7A138D8CC}">
          <p14:sldIdLst>
            <p14:sldId id="10743"/>
            <p14:sldId id="8053"/>
            <p14:sldId id="8621"/>
            <p14:sldId id="8630"/>
            <p14:sldId id="9224"/>
            <p14:sldId id="8650"/>
            <p14:sldId id="8284"/>
            <p14:sldId id="294"/>
            <p14:sldId id="293"/>
            <p14:sldId id="10064"/>
            <p14:sldId id="10065"/>
            <p14:sldId id="4727"/>
            <p14:sldId id="4732"/>
            <p14:sldId id="4600"/>
            <p14:sldId id="10451"/>
            <p14:sldId id="10714"/>
            <p14:sldId id="10465"/>
            <p14:sldId id="10591"/>
            <p14:sldId id="10728"/>
            <p14:sldId id="10729"/>
            <p14:sldId id="10964"/>
          </p14:sldIdLst>
        </p14:section>
        <p14:section name="Framing the problem" id="{D8CB74C6-BADA-4949-8842-1630826271F0}">
          <p14:sldIdLst>
            <p14:sldId id="10870"/>
            <p14:sldId id="10872"/>
            <p14:sldId id="10873"/>
            <p14:sldId id="10843"/>
            <p14:sldId id="10844"/>
            <p14:sldId id="10845"/>
            <p14:sldId id="10846"/>
            <p14:sldId id="10847"/>
            <p14:sldId id="10874"/>
            <p14:sldId id="10852"/>
            <p14:sldId id="10853"/>
            <p14:sldId id="10882"/>
            <p14:sldId id="10854"/>
            <p14:sldId id="10855"/>
            <p14:sldId id="9931"/>
            <p14:sldId id="9946"/>
            <p14:sldId id="10875"/>
            <p14:sldId id="10541"/>
            <p14:sldId id="10639"/>
            <p14:sldId id="9559"/>
            <p14:sldId id="10661"/>
            <p14:sldId id="10655"/>
            <p14:sldId id="10533"/>
            <p14:sldId id="10656"/>
            <p14:sldId id="10581"/>
            <p14:sldId id="10364"/>
            <p14:sldId id="10858"/>
            <p14:sldId id="9791"/>
            <p14:sldId id="9935"/>
            <p14:sldId id="10876"/>
            <p14:sldId id="10863"/>
            <p14:sldId id="10864"/>
            <p14:sldId id="10347"/>
            <p14:sldId id="10663"/>
            <p14:sldId id="10662"/>
            <p14:sldId id="10582"/>
            <p14:sldId id="10583"/>
            <p14:sldId id="10349"/>
            <p14:sldId id="10879"/>
            <p14:sldId id="10848"/>
            <p14:sldId id="10849"/>
            <p14:sldId id="10850"/>
            <p14:sldId id="10135"/>
            <p14:sldId id="10118"/>
            <p14:sldId id="10119"/>
            <p14:sldId id="10880"/>
            <p14:sldId id="10883"/>
            <p14:sldId id="10881"/>
            <p14:sldId id="10859"/>
            <p14:sldId id="10860"/>
            <p14:sldId id="10861"/>
            <p14:sldId id="10868"/>
            <p14:sldId id="10869"/>
            <p14:sldId id="10965"/>
          </p14:sldIdLst>
        </p14:section>
        <p14:section name="The universal modeling framework (high level)" id="{B4EDCA7E-9BFF-4C15-9330-9A564F4DF9C2}">
          <p14:sldIdLst>
            <p14:sldId id="10744"/>
            <p14:sldId id="10185"/>
            <p14:sldId id="10070"/>
            <p14:sldId id="10071"/>
            <p14:sldId id="10166"/>
            <p14:sldId id="10887"/>
            <p14:sldId id="10888"/>
            <p14:sldId id="10176"/>
            <p14:sldId id="10685"/>
            <p14:sldId id="9586"/>
            <p14:sldId id="10696"/>
            <p14:sldId id="10966"/>
          </p14:sldIdLst>
        </p14:section>
        <p14:section name="Estimation methods" id="{DD45CA11-C71B-4DFB-931F-CCF5075140C5}">
          <p14:sldIdLst>
            <p14:sldId id="10745"/>
            <p14:sldId id="10555"/>
            <p14:sldId id="10841"/>
            <p14:sldId id="5161"/>
            <p14:sldId id="10556"/>
            <p14:sldId id="10731"/>
            <p14:sldId id="3326"/>
            <p14:sldId id="3327"/>
            <p14:sldId id="3328"/>
            <p14:sldId id="10402"/>
            <p14:sldId id="7482"/>
            <p14:sldId id="7492"/>
            <p14:sldId id="10557"/>
            <p14:sldId id="6635"/>
            <p14:sldId id="6636"/>
            <p14:sldId id="6651"/>
            <p14:sldId id="6641"/>
            <p14:sldId id="6642"/>
            <p14:sldId id="6643"/>
            <p14:sldId id="6644"/>
            <p14:sldId id="6645"/>
            <p14:sldId id="6646"/>
            <p14:sldId id="6647"/>
            <p14:sldId id="6599"/>
            <p14:sldId id="6600"/>
            <p14:sldId id="6601"/>
            <p14:sldId id="5763"/>
            <p14:sldId id="10579"/>
            <p14:sldId id="10580"/>
            <p14:sldId id="10558"/>
            <p14:sldId id="10682"/>
            <p14:sldId id="5435"/>
            <p14:sldId id="10681"/>
            <p14:sldId id="10967"/>
          </p14:sldIdLst>
        </p14:section>
        <p14:section name="The universal modeling framework (detailed)" id="{821755DE-5A4C-4C1D-9ABA-B5A3E99D2088}">
          <p14:sldIdLst>
            <p14:sldId id="10746"/>
            <p14:sldId id="10345"/>
            <p14:sldId id="10698"/>
            <p14:sldId id="10703"/>
            <p14:sldId id="10706"/>
            <p14:sldId id="10704"/>
            <p14:sldId id="10697"/>
            <p14:sldId id="10471"/>
            <p14:sldId id="10562"/>
            <p14:sldId id="6101"/>
            <p14:sldId id="5410"/>
            <p14:sldId id="10724"/>
            <p14:sldId id="10563"/>
            <p14:sldId id="5354"/>
            <p14:sldId id="10885"/>
            <p14:sldId id="10564"/>
            <p14:sldId id="5355"/>
            <p14:sldId id="5356"/>
            <p14:sldId id="10565"/>
            <p14:sldId id="5357"/>
            <p14:sldId id="10346"/>
            <p14:sldId id="10886"/>
            <p14:sldId id="10386"/>
            <p14:sldId id="10566"/>
            <p14:sldId id="5358"/>
            <p14:sldId id="10584"/>
            <p14:sldId id="10567"/>
            <p14:sldId id="5359"/>
            <p14:sldId id="10192"/>
            <p14:sldId id="10585"/>
            <p14:sldId id="10249"/>
            <p14:sldId id="10193"/>
            <p14:sldId id="10194"/>
            <p14:sldId id="10195"/>
            <p14:sldId id="10570"/>
            <p14:sldId id="10367"/>
            <p14:sldId id="10191"/>
            <p14:sldId id="10969"/>
          </p14:sldIdLst>
        </p14:section>
        <p14:section name="State variables" id="{EF92328B-1E57-457D-B684-87CD0E42401A}">
          <p14:sldIdLst>
            <p14:sldId id="10747"/>
            <p14:sldId id="9925"/>
            <p14:sldId id="10442"/>
            <p14:sldId id="10707"/>
            <p14:sldId id="10231"/>
            <p14:sldId id="5340"/>
            <p14:sldId id="5341"/>
            <p14:sldId id="5343"/>
            <p14:sldId id="10359"/>
            <p14:sldId id="10713"/>
            <p14:sldId id="10411"/>
            <p14:sldId id="10537"/>
            <p14:sldId id="10587"/>
            <p14:sldId id="8003"/>
            <p14:sldId id="5345"/>
            <p14:sldId id="5346"/>
            <p14:sldId id="5347"/>
            <p14:sldId id="5806"/>
            <p14:sldId id="5348"/>
            <p14:sldId id="5349"/>
            <p14:sldId id="10538"/>
            <p14:sldId id="5397"/>
            <p14:sldId id="10708"/>
            <p14:sldId id="10709"/>
            <p14:sldId id="6049"/>
            <p14:sldId id="6050"/>
            <p14:sldId id="6040"/>
            <p14:sldId id="10390"/>
            <p14:sldId id="10539"/>
            <p14:sldId id="10444"/>
            <p14:sldId id="5386"/>
            <p14:sldId id="10445"/>
            <p14:sldId id="5389"/>
            <p14:sldId id="5390"/>
            <p14:sldId id="5391"/>
            <p14:sldId id="5373"/>
            <p14:sldId id="10970"/>
          </p14:sldIdLst>
        </p14:section>
        <p14:section name="Modeling uncertainty" id="{273EC5AA-4BFE-49D9-AEE9-6F0DCC951FB4}">
          <p14:sldIdLst>
            <p14:sldId id="10973"/>
            <p14:sldId id="10975"/>
            <p14:sldId id="11002"/>
            <p14:sldId id="10992"/>
            <p14:sldId id="10976"/>
            <p14:sldId id="10997"/>
            <p14:sldId id="10990"/>
            <p14:sldId id="10980"/>
            <p14:sldId id="11020"/>
            <p14:sldId id="11003"/>
            <p14:sldId id="10977"/>
            <p14:sldId id="10981"/>
            <p14:sldId id="10982"/>
            <p14:sldId id="10983"/>
            <p14:sldId id="10984"/>
            <p14:sldId id="10985"/>
            <p14:sldId id="11004"/>
            <p14:sldId id="10986"/>
            <p14:sldId id="10998"/>
            <p14:sldId id="10999"/>
            <p14:sldId id="11000"/>
            <p14:sldId id="11005"/>
            <p14:sldId id="10979"/>
            <p14:sldId id="11007"/>
            <p14:sldId id="11008"/>
            <p14:sldId id="11013"/>
            <p14:sldId id="11014"/>
            <p14:sldId id="11016"/>
            <p14:sldId id="11017"/>
            <p14:sldId id="11009"/>
            <p14:sldId id="6048"/>
            <p14:sldId id="11015"/>
            <p14:sldId id="5487"/>
            <p14:sldId id="11018"/>
            <p14:sldId id="11021"/>
            <p14:sldId id="11019"/>
            <p14:sldId id="10974"/>
          </p14:sldIdLst>
        </p14:section>
        <p14:section name="Designing policies - overview" id="{41540112-45D0-49AB-B584-51A2771BCDA9}">
          <p14:sldIdLst>
            <p14:sldId id="10748"/>
            <p14:sldId id="7834"/>
            <p14:sldId id="7835"/>
            <p14:sldId id="307"/>
            <p14:sldId id="9747"/>
            <p14:sldId id="9748"/>
            <p14:sldId id="10504"/>
            <p14:sldId id="9767"/>
            <p14:sldId id="9856"/>
            <p14:sldId id="9750"/>
            <p14:sldId id="9751"/>
            <p14:sldId id="10669"/>
            <p14:sldId id="10672"/>
            <p14:sldId id="9763"/>
            <p14:sldId id="10040"/>
            <p14:sldId id="9873"/>
            <p14:sldId id="10391"/>
            <p14:sldId id="10392"/>
            <p14:sldId id="10393"/>
            <p14:sldId id="10394"/>
            <p14:sldId id="9836"/>
            <p14:sldId id="9758"/>
            <p14:sldId id="10041"/>
            <p14:sldId id="9760"/>
            <p14:sldId id="9768"/>
            <p14:sldId id="9950"/>
            <p14:sldId id="10686"/>
            <p14:sldId id="10726"/>
            <p14:sldId id="10687"/>
            <p14:sldId id="8862"/>
            <p14:sldId id="10189"/>
            <p14:sldId id="5775"/>
            <p14:sldId id="10971"/>
          </p14:sldIdLst>
        </p14:section>
        <p14:section name="Choosing policies" id="{E08E9834-D518-4D97-8BC2-73F067E8DD93}">
          <p14:sldIdLst>
            <p14:sldId id="10780"/>
            <p14:sldId id="10890"/>
            <p14:sldId id="10889"/>
            <p14:sldId id="10099"/>
            <p14:sldId id="10100"/>
            <p14:sldId id="10110"/>
            <p14:sldId id="9548"/>
            <p14:sldId id="9837"/>
            <p14:sldId id="7930"/>
            <p14:sldId id="8043"/>
            <p14:sldId id="9284"/>
            <p14:sldId id="10972"/>
          </p14:sldIdLst>
        </p14:section>
        <p14:section name="Untitled Section" id="{1B10CAED-9D60-4577-9174-6652579FD552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56" userDrawn="1">
          <p15:clr>
            <a:srgbClr val="A4A3A4"/>
          </p15:clr>
        </p15:guide>
        <p15:guide id="2" pos="2237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ADAF6"/>
    <a:srgbClr val="92551A"/>
    <a:srgbClr val="4F1F14"/>
    <a:srgbClr val="3D2914"/>
    <a:srgbClr val="F5ECD6"/>
    <a:srgbClr val="EFF2FB"/>
    <a:srgbClr val="F2F2FC"/>
    <a:srgbClr val="800000"/>
    <a:srgbClr val="FFFFFF"/>
    <a:srgbClr val="007F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24651" autoAdjust="0"/>
    <p:restoredTop sz="94699" autoAdjust="0"/>
  </p:normalViewPr>
  <p:slideViewPr>
    <p:cSldViewPr snapToGrid="0">
      <p:cViewPr varScale="1">
        <p:scale>
          <a:sx n="81" d="100"/>
          <a:sy n="81" d="100"/>
        </p:scale>
        <p:origin x="173" y="6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101870"/>
    </p:cViewPr>
  </p:sorter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956"/>
        <p:guide pos="2237"/>
      </p:guideLst>
    </p:cSldViewPr>
  </p:notesViewPr>
  <p:gridSpacing cx="76200" cy="76200"/>
</p:viewPr>
</file>

<file path=ppt/_rels/presentation.xml.rels><?xml version="1.0" encoding="utf-8"?><Relationships xmlns="http://schemas.openxmlformats.org/package/2006/relationships"><Relationship Id="rId324" Type="http://schemas.openxmlformats.org/officeDocument/2006/relationships/slide" Target="slides/slide320.xml"/><Relationship Id="rId335" Type="http://schemas.openxmlformats.org/officeDocument/2006/relationships/font" Target="fonts/font5.fntdata"/><Relationship Id="rId346" Type="http://schemas.openxmlformats.org/officeDocument/2006/relationships/font" Target="fonts/font16.fntdata"/><Relationship Id="rId326" Type="http://schemas.openxmlformats.org/officeDocument/2006/relationships/slide" Target="slides/slide322.xml"/><Relationship Id="rId337" Type="http://schemas.openxmlformats.org/officeDocument/2006/relationships/font" Target="fonts/font7.fntdata"/><Relationship Id="rId348" Type="http://schemas.openxmlformats.org/officeDocument/2006/relationships/presProps" Target="presProps.xml"/><Relationship Id="rId328" Type="http://schemas.openxmlformats.org/officeDocument/2006/relationships/slide" Target="slides/slide324.xml"/><Relationship Id="rId349" Type="http://schemas.openxmlformats.org/officeDocument/2006/relationships/viewProps" Target="viewProps.xml"/><Relationship Id="rId318" Type="http://schemas.openxmlformats.org/officeDocument/2006/relationships/slide" Target="slides/slide314.xml"/><Relationship Id="rId339" Type="http://schemas.openxmlformats.org/officeDocument/2006/relationships/font" Target="fonts/font9.fntdata"/><Relationship Id="rId350" Type="http://schemas.openxmlformats.org/officeDocument/2006/relationships/theme" Target="theme/theme1.xml"/><Relationship Id="rId329" Type="http://schemas.openxmlformats.org/officeDocument/2006/relationships/slide" Target="slides/slide325.xml"/><Relationship Id="rId340" Type="http://schemas.openxmlformats.org/officeDocument/2006/relationships/font" Target="fonts/font10.fntdata"/><Relationship Id="rId319" Type="http://schemas.openxmlformats.org/officeDocument/2006/relationships/slide" Target="slides/slide315.xml"/><Relationship Id="rId330" Type="http://schemas.openxmlformats.org/officeDocument/2006/relationships/notesMaster" Target="notesMasters/notesMaster1.xml"/><Relationship Id="rId351" Type="http://schemas.openxmlformats.org/officeDocument/2006/relationships/tableStyles" Target="tableStyles.xml"/><Relationship Id="rId320" Type="http://schemas.openxmlformats.org/officeDocument/2006/relationships/slide" Target="slides/slide316.xml"/><Relationship Id="rId341" Type="http://schemas.openxmlformats.org/officeDocument/2006/relationships/font" Target="fonts/font11.fntdata"/><Relationship Id="rId331" Type="http://schemas.openxmlformats.org/officeDocument/2006/relationships/font" Target="fonts/font1.fntdata"/><Relationship Id="rId1" Type="http://schemas.openxmlformats.org/officeDocument/2006/relationships/customXml" Target="../customXml/item1.xml"/><Relationship Id="rId321" Type="http://schemas.openxmlformats.org/officeDocument/2006/relationships/slide" Target="slides/slide317.xml"/><Relationship Id="rId342" Type="http://schemas.openxmlformats.org/officeDocument/2006/relationships/font" Target="fonts/font12.fntdata"/><Relationship Id="rId332" Type="http://schemas.openxmlformats.org/officeDocument/2006/relationships/font" Target="fonts/font2.fntdata"/><Relationship Id="rId2" Type="http://schemas.openxmlformats.org/officeDocument/2006/relationships/customXml" Target="../customXml/item2.xml"/><Relationship Id="rId322" Type="http://schemas.openxmlformats.org/officeDocument/2006/relationships/slide" Target="slides/slide318.xml"/><Relationship Id="rId343" Type="http://schemas.openxmlformats.org/officeDocument/2006/relationships/font" Target="fonts/font13.fntdata"/><Relationship Id="rId333" Type="http://schemas.openxmlformats.org/officeDocument/2006/relationships/font" Target="fonts/font3.fntdata"/><Relationship Id="rId3" Type="http://schemas.openxmlformats.org/officeDocument/2006/relationships/customXml" Target="../customXml/item3.xml"/><Relationship Id="rId323" Type="http://schemas.openxmlformats.org/officeDocument/2006/relationships/slide" Target="slides/slide319.xml"/><Relationship Id="rId344" Type="http://schemas.openxmlformats.org/officeDocument/2006/relationships/font" Target="fonts/font14.fntdata"/><Relationship Id="rId334" Type="http://schemas.openxmlformats.org/officeDocument/2006/relationships/font" Target="fonts/font4.fntdata"/><Relationship Id="rId4" Type="http://schemas.openxmlformats.org/officeDocument/2006/relationships/slideMaster" Target="slideMasters/slideMaster1.xml"/><Relationship Id="rId345" Type="http://schemas.openxmlformats.org/officeDocument/2006/relationships/font" Target="fonts/font15.fntdata"/><Relationship Id="rId325" Type="http://schemas.openxmlformats.org/officeDocument/2006/relationships/slide" Target="slides/slide321.xml"/><Relationship Id="rId336" Type="http://schemas.openxmlformats.org/officeDocument/2006/relationships/font" Target="fonts/font6.fntdata"/><Relationship Id="rId347" Type="http://schemas.openxmlformats.org/officeDocument/2006/relationships/font" Target="fonts/font17.fntdata"/><Relationship Id="rId327" Type="http://schemas.openxmlformats.org/officeDocument/2006/relationships/slide" Target="slides/slide323.xml"/><Relationship Id="rId338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1" y="2"/>
            <a:ext cx="3088836" cy="4951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345" tIns="49160" rIns="98345" bIns="4916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985895" y="2"/>
            <a:ext cx="3088836" cy="4951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345" tIns="49160" rIns="98345" bIns="4916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496888" y="741363"/>
            <a:ext cx="6164262" cy="3467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75668" y="4455180"/>
            <a:ext cx="5205090" cy="4205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345" tIns="49160" rIns="98345" bIns="4916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1" y="8907255"/>
            <a:ext cx="3088836" cy="498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345" tIns="49160" rIns="98345" bIns="4916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985895" y="8907255"/>
            <a:ext cx="3088836" cy="498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345" tIns="49160" rIns="98345" bIns="49160" anchor="b" anchorCtr="0">
            <a:noAutofit/>
          </a:bodyPr>
          <a:lstStyle/>
          <a:p>
            <a:pPr algn="r"/>
            <a:fld id="{00000000-1234-1234-1234-123412341234}" type="slidenum">
              <a:rPr lang="en-US" sz="130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algn="r"/>
              <a:t>‹#›</a:t>
            </a:fld>
            <a:endParaRPr lang="en-US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7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8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9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2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3.xml"/><Relationship Id="rId1" Type="http://schemas.openxmlformats.org/officeDocument/2006/relationships/notesMaster" Target="../notesMasters/notesMaster1.xml"/></Relationship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99">
          <a:extLst>
            <a:ext uri="{FF2B5EF4-FFF2-40B4-BE49-F238E27FC236}">
              <a16:creationId xmlns:a16="http://schemas.microsoft.com/office/drawing/2014/main" id="{82E9B246-9C9C-CF9C-33B4-107A66E70D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0" name="Google Shape;4400;p84:notes">
            <a:extLst>
              <a:ext uri="{FF2B5EF4-FFF2-40B4-BE49-F238E27FC236}">
                <a16:creationId xmlns:a16="http://schemas.microsoft.com/office/drawing/2014/main" id="{C3D3CEDE-46B5-4516-BE94-6153276662B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96888" y="741363"/>
            <a:ext cx="6164262" cy="3467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4401" name="Google Shape;4401;p84:notes">
            <a:extLst>
              <a:ext uri="{FF2B5EF4-FFF2-40B4-BE49-F238E27FC236}">
                <a16:creationId xmlns:a16="http://schemas.microsoft.com/office/drawing/2014/main" id="{28B995B6-9D4A-20DE-C2FC-AFCFD7E4A33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75668" y="4455180"/>
            <a:ext cx="5205090" cy="4205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345" tIns="49160" rIns="98345" bIns="49160" anchor="t" anchorCtr="0">
            <a:noAutofit/>
          </a:bodyPr>
          <a:lstStyle/>
          <a:p>
            <a:pPr marL="0" indent="0">
              <a:spcBef>
                <a:spcPts val="0"/>
              </a:spcBef>
            </a:pPr>
            <a:endParaRPr/>
          </a:p>
        </p:txBody>
      </p:sp>
      <p:sp>
        <p:nvSpPr>
          <p:cNvPr id="4402" name="Google Shape;4402;p84:notes">
            <a:extLst>
              <a:ext uri="{FF2B5EF4-FFF2-40B4-BE49-F238E27FC236}">
                <a16:creationId xmlns:a16="http://schemas.microsoft.com/office/drawing/2014/main" id="{43F6046D-6689-AC5B-D774-98D52BB8B34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985895" y="8907255"/>
            <a:ext cx="3088836" cy="498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345" tIns="49160" rIns="98345" bIns="49160" anchor="b" anchorCtr="0">
            <a:noAutofit/>
          </a:bodyPr>
          <a:lstStyle/>
          <a:p>
            <a:pPr algn="r"/>
            <a:fld id="{00000000-1234-1234-1234-123412341234}" type="slidenum">
              <a:rPr lang="en-US"/>
              <a:pPr algn="r"/>
              <a:t>317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8131145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24">
          <a:extLst>
            <a:ext uri="{FF2B5EF4-FFF2-40B4-BE49-F238E27FC236}">
              <a16:creationId xmlns:a16="http://schemas.microsoft.com/office/drawing/2014/main" id="{B5F9DF20-1027-F043-119A-6BFC98770C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5" name="Google Shape;4425;p85:notes">
            <a:extLst>
              <a:ext uri="{FF2B5EF4-FFF2-40B4-BE49-F238E27FC236}">
                <a16:creationId xmlns:a16="http://schemas.microsoft.com/office/drawing/2014/main" id="{E0996E4E-6D37-386D-77A8-492AC57F6E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75668" y="4455180"/>
            <a:ext cx="5205090" cy="4205254"/>
          </a:xfrm>
          <a:prstGeom prst="rect">
            <a:avLst/>
          </a:prstGeom>
        </p:spPr>
        <p:txBody>
          <a:bodyPr spcFirstLastPara="1" wrap="square" lIns="98345" tIns="49160" rIns="98345" bIns="49160" anchor="t" anchorCtr="0">
            <a:noAutofit/>
          </a:bodyPr>
          <a:lstStyle/>
          <a:p>
            <a:pPr marL="0" indent="0">
              <a:spcBef>
                <a:spcPts val="365"/>
              </a:spcBef>
            </a:pPr>
            <a:endParaRPr/>
          </a:p>
        </p:txBody>
      </p:sp>
      <p:sp>
        <p:nvSpPr>
          <p:cNvPr id="4426" name="Google Shape;4426;p85:notes">
            <a:extLst>
              <a:ext uri="{FF2B5EF4-FFF2-40B4-BE49-F238E27FC236}">
                <a16:creationId xmlns:a16="http://schemas.microsoft.com/office/drawing/2014/main" id="{28A1F1A5-1DFE-A287-17C8-768BC00EF94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96888" y="741363"/>
            <a:ext cx="6164262" cy="3467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2896478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-US" sz="130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algn="r"/>
              <a:t>319</a:t>
            </a:fld>
            <a:endParaRPr lang="en-US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20669713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4" name="Google Shape;4454;p86:notes"/>
          <p:cNvSpPr txBox="1">
            <a:spLocks noGrp="1"/>
          </p:cNvSpPr>
          <p:nvPr>
            <p:ph type="body" idx="1"/>
          </p:nvPr>
        </p:nvSpPr>
        <p:spPr>
          <a:xfrm>
            <a:off x="975668" y="4455180"/>
            <a:ext cx="5205090" cy="4205254"/>
          </a:xfrm>
          <a:prstGeom prst="rect">
            <a:avLst/>
          </a:prstGeom>
        </p:spPr>
        <p:txBody>
          <a:bodyPr spcFirstLastPara="1" wrap="square" lIns="98345" tIns="49160" rIns="98345" bIns="49160" anchor="t" anchorCtr="0">
            <a:noAutofit/>
          </a:bodyPr>
          <a:lstStyle/>
          <a:p>
            <a:pPr marL="0" indent="0">
              <a:spcBef>
                <a:spcPts val="365"/>
              </a:spcBef>
            </a:pPr>
            <a:endParaRPr/>
          </a:p>
        </p:txBody>
      </p:sp>
      <p:sp>
        <p:nvSpPr>
          <p:cNvPr id="4455" name="Google Shape;4455;p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96888" y="741363"/>
            <a:ext cx="6164262" cy="3467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42303092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0" name="Google Shape;3370;gc57c5674f7_2_149:notes"/>
          <p:cNvSpPr txBox="1">
            <a:spLocks noGrp="1"/>
          </p:cNvSpPr>
          <p:nvPr>
            <p:ph type="body" idx="1"/>
          </p:nvPr>
        </p:nvSpPr>
        <p:spPr>
          <a:xfrm>
            <a:off x="975667" y="4455180"/>
            <a:ext cx="5204991" cy="4205230"/>
          </a:xfrm>
          <a:prstGeom prst="rect">
            <a:avLst/>
          </a:prstGeom>
        </p:spPr>
        <p:txBody>
          <a:bodyPr spcFirstLastPara="1" wrap="square" lIns="98345" tIns="49160" rIns="98345" bIns="49160" anchor="t" anchorCtr="0">
            <a:noAutofit/>
          </a:bodyPr>
          <a:lstStyle/>
          <a:p>
            <a:pPr marL="0" indent="0">
              <a:spcBef>
                <a:spcPts val="365"/>
              </a:spcBef>
            </a:pPr>
            <a:endParaRPr/>
          </a:p>
        </p:txBody>
      </p:sp>
      <p:sp>
        <p:nvSpPr>
          <p:cNvPr id="3371" name="Google Shape;3371;gc57c5674f7_2_1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96888" y="741363"/>
            <a:ext cx="6164262" cy="3467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161878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rgbClr val="FFFFFF"/>
        </a:solid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Times New Roman"/>
              <a:buNone/>
              <a:defRPr/>
            </a:lvl1pPr>
            <a:lvl2pPr lvl="1" algn="ct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bg>
      <p:bgPr>
        <a:solidFill>
          <a:schemeClr val="lt1"/>
        </a:solid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>
            <a:spLocks noGrp="1"/>
          </p:cNvSpPr>
          <p:nvPr>
            <p:ph type="title"/>
          </p:nvPr>
        </p:nvSpPr>
        <p:spPr>
          <a:xfrm>
            <a:off x="2021700" y="353850"/>
            <a:ext cx="82839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300"/>
              <a:buFont typeface="Oswald"/>
              <a:buNone/>
              <a:defRPr sz="3300">
                <a:latin typeface="Oswald"/>
                <a:ea typeface="Oswald"/>
                <a:cs typeface="Oswald"/>
                <a:sym typeface="Oswald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body" idx="1"/>
          </p:nvPr>
        </p:nvSpPr>
        <p:spPr>
          <a:xfrm>
            <a:off x="630092" y="1279489"/>
            <a:ext cx="10363200" cy="44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7084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Raleway"/>
              <a:buChar char="•"/>
              <a:defRPr>
                <a:latin typeface="Raleway"/>
                <a:ea typeface="Raleway"/>
                <a:cs typeface="Raleway"/>
                <a:sym typeface="Raleway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>
                <a:latin typeface="Raleway"/>
                <a:ea typeface="Raleway"/>
                <a:cs typeface="Raleway"/>
                <a:sym typeface="Raleway"/>
              </a:defRPr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•"/>
              <a:defRPr>
                <a:latin typeface="Raleway"/>
                <a:ea typeface="Raleway"/>
                <a:cs typeface="Raleway"/>
                <a:sym typeface="Raleway"/>
              </a:defRPr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–"/>
              <a:defRPr>
                <a:latin typeface="Raleway"/>
                <a:ea typeface="Raleway"/>
                <a:cs typeface="Raleway"/>
                <a:sym typeface="Raleway"/>
              </a:defRPr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>
                <a:latin typeface="Raleway"/>
                <a:ea typeface="Raleway"/>
                <a:cs typeface="Raleway"/>
                <a:sym typeface="Raleway"/>
              </a:defRPr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>
                <a:latin typeface="Raleway"/>
                <a:ea typeface="Raleway"/>
                <a:cs typeface="Raleway"/>
                <a:sym typeface="Raleway"/>
              </a:defRPr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>
                <a:latin typeface="Raleway"/>
                <a:ea typeface="Raleway"/>
                <a:cs typeface="Raleway"/>
                <a:sym typeface="Raleway"/>
              </a:defRPr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>
                <a:latin typeface="Raleway"/>
                <a:ea typeface="Raleway"/>
                <a:cs typeface="Raleway"/>
                <a:sym typeface="Raleway"/>
              </a:defRPr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0" y="977750"/>
            <a:ext cx="3772862" cy="5959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rgbClr val="006699"/>
            </a:solidFill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Raleway"/>
              <a:buNone/>
            </a:pPr>
            <a:endParaRPr sz="3000" b="0" i="0" u="none" strike="noStrike" cap="none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bg1"/>
        </a:solidFill>
        <a:effectLst/>
      </p:bgPr>
    </p:bg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" name="Google Shape;22;p3">
            <a:extLst>
              <a:ext uri="{FF2B5EF4-FFF2-40B4-BE49-F238E27FC236}">
                <a16:creationId xmlns:a16="http://schemas.microsoft.com/office/drawing/2014/main" id="{58B34863-E096-4468-B3E2-0513B8E89889}"/>
              </a:ext>
            </a:extLst>
          </p:cNvPr>
          <p:cNvSpPr/>
          <p:nvPr userDrawn="1"/>
        </p:nvSpPr>
        <p:spPr>
          <a:xfrm>
            <a:off x="0" y="977750"/>
            <a:ext cx="3772862" cy="59595"/>
          </a:xfrm>
          <a:prstGeom prst="rect">
            <a:avLst/>
          </a:prstGeom>
          <a:solidFill>
            <a:srgbClr val="006699"/>
          </a:solidFill>
          <a:ln>
            <a:solidFill>
              <a:srgbClr val="006699"/>
            </a:solidFill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Raleway"/>
              <a:buNone/>
            </a:pPr>
            <a:endParaRPr sz="3000" b="0" i="0" u="none" strike="noStrike" cap="none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bg1"/>
        </a:solidFill>
        <a:effectLst/>
      </p:bgPr>
    </p:bg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2000"/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sz="1800"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bg>
      <p:bgPr>
        <a:solidFill>
          <a:schemeClr val="bg1"/>
        </a:solidFill>
        <a:effectLst/>
      </p:bgPr>
    </p:bg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7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Times New Roman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1"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sz="1800" b="1"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052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Times New Roman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sz="1800"/>
            </a:lvl3pPr>
            <a:lvl4pPr marL="1828800" lvl="3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–"/>
              <a:defRPr sz="1600"/>
            </a:lvl4pPr>
            <a:lvl5pPr marL="2286000" lvl="4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5pPr>
            <a:lvl6pPr marL="2743200" lvl="5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6pPr>
            <a:lvl7pPr marL="3200400" lvl="6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7pPr>
            <a:lvl8pPr marL="3657600" lvl="7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8pPr>
            <a:lvl9pPr marL="4114800" lvl="8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Times New Roman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1"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sz="1800" b="1"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052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Times New Roman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sz="1800"/>
            </a:lvl3pPr>
            <a:lvl4pPr marL="1828800" lvl="3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–"/>
              <a:defRPr sz="1600"/>
            </a:lvl4pPr>
            <a:lvl5pPr marL="2286000" lvl="4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5pPr>
            <a:lvl6pPr marL="2743200" lvl="5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6pPr>
            <a:lvl7pPr marL="3200400" lvl="6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7pPr>
            <a:lvl8pPr marL="3657600" lvl="7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8pPr>
            <a:lvl9pPr marL="4114800" lvl="8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solidFill>
          <a:schemeClr val="bg1"/>
        </a:solidFill>
        <a:effectLst/>
      </p:bgPr>
    </p:bg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8"/>
          <p:cNvSpPr txBox="1">
            <a:spLocks noGrp="1"/>
          </p:cNvSpPr>
          <p:nvPr>
            <p:ph type="title"/>
          </p:nvPr>
        </p:nvSpPr>
        <p:spPr>
          <a:xfrm>
            <a:off x="914400" y="304800"/>
            <a:ext cx="10363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bg>
      <p:bgPr>
        <a:solidFill>
          <a:schemeClr val="bg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body"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9116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560"/>
              <a:buFont typeface="Times New Roman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»"/>
              <a:defRPr sz="2800"/>
            </a:lvl2pPr>
            <a:lvl3pPr marL="1371600" lvl="2" indent="-3810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  <a:defRPr sz="2400"/>
            </a:lvl3pPr>
            <a:lvl4pPr marL="1828800" lvl="3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sz="2000"/>
            </a:lvl4pPr>
            <a:lvl5pPr marL="2286000" lvl="4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5pPr>
            <a:lvl6pPr marL="2743200" lvl="5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6pPr>
            <a:lvl7pPr marL="3200400" lvl="6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7pPr>
            <a:lvl8pPr marL="3657600" lvl="7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8pPr>
            <a:lvl9pPr marL="4114800" lvl="8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body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120"/>
              <a:buFont typeface="Times New Roman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sz="1200"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sz="1000"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9pPr>
          </a:lstStyle>
          <a:p>
            <a:endParaRPr/>
          </a:p>
        </p:txBody>
      </p:sp>
      <p:sp>
        <p:nvSpPr>
          <p:cNvPr id="54" name="Google Shape;54;p9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55" name="Google Shape;55;p9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bg>
      <p:bgPr>
        <a:solidFill>
          <a:schemeClr val="bg1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560"/>
              <a:buFont typeface="Times New Roman"/>
              <a:buNone/>
              <a:defRPr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120"/>
              <a:buFont typeface="Times New Roman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sz="1200"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sz="1000"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9pPr>
          </a:lstStyle>
          <a:p>
            <a:endParaRPr/>
          </a:p>
        </p:txBody>
      </p:sp>
      <p:sp>
        <p:nvSpPr>
          <p:cNvPr id="61" name="Google Shape;61;p10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62" name="Google Shape;62;p10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63" name="Google Shape;63;p10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bg>
      <p:bgPr>
        <a:solidFill>
          <a:schemeClr val="bg1"/>
        </a:solid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1"/>
          <p:cNvSpPr txBox="1">
            <a:spLocks noGrp="1"/>
          </p:cNvSpPr>
          <p:nvPr>
            <p:ph type="title"/>
          </p:nvPr>
        </p:nvSpPr>
        <p:spPr>
          <a:xfrm>
            <a:off x="914400" y="304800"/>
            <a:ext cx="10363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body" idx="1"/>
          </p:nvPr>
        </p:nvSpPr>
        <p:spPr>
          <a:xfrm rot="5400000">
            <a:off x="3619500" y="-1562100"/>
            <a:ext cx="4953000" cy="103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68" name="Google Shape;68;p11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69" name="Google Shape;69;p11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bg>
      <p:bgPr>
        <a:solidFill>
          <a:schemeClr val="bg1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2"/>
          <p:cNvSpPr txBox="1">
            <a:spLocks noGrp="1"/>
          </p:cNvSpPr>
          <p:nvPr>
            <p:ph type="title"/>
          </p:nvPr>
        </p:nvSpPr>
        <p:spPr>
          <a:xfrm rot="5400000">
            <a:off x="7086600" y="1905000"/>
            <a:ext cx="5791200" cy="25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body" idx="1"/>
          </p:nvPr>
        </p:nvSpPr>
        <p:spPr>
          <a:xfrm rot="5400000">
            <a:off x="1803400" y="-584200"/>
            <a:ext cx="5791200" cy="75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73" name="Google Shape;73;p12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74" name="Google Shape;74;p12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75" name="Google Shape;75;p12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able" type="tbl">
  <p:cSld name="TABLE">
    <p:bg>
      <p:bgPr>
        <a:solidFill>
          <a:schemeClr val="bg1"/>
        </a:solid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3"/>
          <p:cNvSpPr txBox="1">
            <a:spLocks noGrp="1"/>
          </p:cNvSpPr>
          <p:nvPr>
            <p:ph type="title"/>
          </p:nvPr>
        </p:nvSpPr>
        <p:spPr>
          <a:xfrm>
            <a:off x="914400" y="304800"/>
            <a:ext cx="10363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80" name="Google Shape;80;p13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4 Content" type="fourObj">
  <p:cSld name="FOUR_OBJECTS">
    <p:bg>
      <p:bgPr>
        <a:solidFill>
          <a:schemeClr val="bg1"/>
        </a:solidFill>
        <a:effectLst/>
      </p:bgPr>
    </p:bg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4"/>
          <p:cNvSpPr txBox="1">
            <a:spLocks noGrp="1"/>
          </p:cNvSpPr>
          <p:nvPr>
            <p:ph type="title"/>
          </p:nvPr>
        </p:nvSpPr>
        <p:spPr>
          <a:xfrm>
            <a:off x="914400" y="304800"/>
            <a:ext cx="10363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4"/>
          <p:cNvSpPr txBox="1">
            <a:spLocks noGrp="1"/>
          </p:cNvSpPr>
          <p:nvPr>
            <p:ph type="body" idx="1"/>
          </p:nvPr>
        </p:nvSpPr>
        <p:spPr>
          <a:xfrm>
            <a:off x="914400" y="1143000"/>
            <a:ext cx="5080000" cy="24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84" name="Google Shape;84;p14"/>
          <p:cNvSpPr txBox="1">
            <a:spLocks noGrp="1"/>
          </p:cNvSpPr>
          <p:nvPr>
            <p:ph type="body" idx="2"/>
          </p:nvPr>
        </p:nvSpPr>
        <p:spPr>
          <a:xfrm>
            <a:off x="6197600" y="1143000"/>
            <a:ext cx="5080000" cy="24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85" name="Google Shape;85;p14"/>
          <p:cNvSpPr txBox="1">
            <a:spLocks noGrp="1"/>
          </p:cNvSpPr>
          <p:nvPr>
            <p:ph type="body" idx="3"/>
          </p:nvPr>
        </p:nvSpPr>
        <p:spPr>
          <a:xfrm>
            <a:off x="914400" y="3695700"/>
            <a:ext cx="5080000" cy="24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86" name="Google Shape;86;p14"/>
          <p:cNvSpPr txBox="1">
            <a:spLocks noGrp="1"/>
          </p:cNvSpPr>
          <p:nvPr>
            <p:ph type="body" idx="4"/>
          </p:nvPr>
        </p:nvSpPr>
        <p:spPr>
          <a:xfrm>
            <a:off x="6197600" y="3695700"/>
            <a:ext cx="5080000" cy="24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87" name="Google Shape;87;p14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88" name="Google Shape;88;p14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89" name="Google Shape;89;p14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ext, and 2 Content" type="txAndTwoObj">
  <p:cSld name="TEXT_AND_TWO_OBJECTS">
    <p:bg>
      <p:bgPr>
        <a:solidFill>
          <a:schemeClr val="bg1"/>
        </a:solidFill>
        <a:effectLst/>
      </p:bgPr>
    </p:bg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6"/>
          <p:cNvSpPr txBox="1">
            <a:spLocks noGrp="1"/>
          </p:cNvSpPr>
          <p:nvPr>
            <p:ph type="title"/>
          </p:nvPr>
        </p:nvSpPr>
        <p:spPr>
          <a:xfrm>
            <a:off x="914400" y="304800"/>
            <a:ext cx="10363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6"/>
          <p:cNvSpPr txBox="1">
            <a:spLocks noGrp="1"/>
          </p:cNvSpPr>
          <p:nvPr>
            <p:ph type="body" idx="1"/>
          </p:nvPr>
        </p:nvSpPr>
        <p:spPr>
          <a:xfrm>
            <a:off x="914400" y="1143000"/>
            <a:ext cx="5080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100" name="Google Shape;100;p16"/>
          <p:cNvSpPr txBox="1">
            <a:spLocks noGrp="1"/>
          </p:cNvSpPr>
          <p:nvPr>
            <p:ph type="body" idx="2"/>
          </p:nvPr>
        </p:nvSpPr>
        <p:spPr>
          <a:xfrm>
            <a:off x="6197600" y="1143000"/>
            <a:ext cx="5080000" cy="24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101" name="Google Shape;101;p16"/>
          <p:cNvSpPr txBox="1">
            <a:spLocks noGrp="1"/>
          </p:cNvSpPr>
          <p:nvPr>
            <p:ph type="body" idx="3"/>
          </p:nvPr>
        </p:nvSpPr>
        <p:spPr>
          <a:xfrm>
            <a:off x="6197600" y="3695700"/>
            <a:ext cx="5080000" cy="24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102" name="Google Shape;102;p16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03" name="Google Shape;103;p16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04" name="Google Shape;104;p16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" type="objOnly">
  <p:cSld name="OBJECT_ONLY">
    <p:bg>
      <p:bgPr>
        <a:solidFill>
          <a:schemeClr val="bg1"/>
        </a:solid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7"/>
          <p:cNvSpPr txBox="1">
            <a:spLocks noGrp="1"/>
          </p:cNvSpPr>
          <p:nvPr>
            <p:ph type="body" idx="1"/>
          </p:nvPr>
        </p:nvSpPr>
        <p:spPr>
          <a:xfrm>
            <a:off x="914400" y="304800"/>
            <a:ext cx="10363200" cy="579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107" name="Google Shape;107;p17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08" name="Google Shape;108;p17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09" name="Google Shape;109;p17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25747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microsoft.com/office/2007/relationships/hdphoto" Target="../media/hdphoto1.wdp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914400" y="304800"/>
            <a:ext cx="10363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914400" y="1143000"/>
            <a:ext cx="103632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7084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Times New Roman"/>
              <a:buChar char="•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»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" name="Google Shape;22;p3">
            <a:extLst>
              <a:ext uri="{FF2B5EF4-FFF2-40B4-BE49-F238E27FC236}">
                <a16:creationId xmlns:a16="http://schemas.microsoft.com/office/drawing/2014/main" id="{8DAADDE6-9D87-4A94-9A5F-2FE2DE75B0D7}"/>
              </a:ext>
            </a:extLst>
          </p:cNvPr>
          <p:cNvSpPr/>
          <p:nvPr userDrawn="1"/>
        </p:nvSpPr>
        <p:spPr>
          <a:xfrm>
            <a:off x="0" y="977750"/>
            <a:ext cx="3772862" cy="5959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rgbClr val="006699"/>
            </a:solidFill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Raleway"/>
              <a:buNone/>
            </a:pPr>
            <a:endParaRPr sz="3000" b="0" i="0" u="none" strike="noStrike" cap="none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5" name="Google Shape;129;p18">
            <a:extLst>
              <a:ext uri="{FF2B5EF4-FFF2-40B4-BE49-F238E27FC236}">
                <a16:creationId xmlns:a16="http://schemas.microsoft.com/office/drawing/2014/main" id="{2199409B-45F8-4A01-AB9C-7EA2B2CCD078}"/>
              </a:ext>
            </a:extLst>
          </p:cNvPr>
          <p:cNvPicPr preferRelativeResize="0"/>
          <p:nvPr userDrawn="1"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156373" y="6533883"/>
            <a:ext cx="2041301" cy="2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3;p3">
            <a:extLst>
              <a:ext uri="{FF2B5EF4-FFF2-40B4-BE49-F238E27FC236}">
                <a16:creationId xmlns:a16="http://schemas.microsoft.com/office/drawing/2014/main" id="{1D1BDBDF-7EA2-8C6E-6985-BFD39B103D2C}"/>
              </a:ext>
            </a:extLst>
          </p:cNvPr>
          <p:cNvSpPr/>
          <p:nvPr userDrawn="1"/>
        </p:nvSpPr>
        <p:spPr>
          <a:xfrm>
            <a:off x="4885608" y="6521551"/>
            <a:ext cx="1837408" cy="303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Font typeface="Playfair Display"/>
              <a:buNone/>
            </a:pPr>
            <a:r>
              <a:rPr lang="en-US" sz="900" b="0" dirty="0">
                <a:solidFill>
                  <a:schemeClr val="tx1"/>
                </a:solidFill>
                <a:latin typeface="Raleway" pitchFamily="2" charset="0"/>
                <a:ea typeface="Raleway Thin"/>
                <a:cs typeface="Raleway Thin"/>
                <a:sym typeface="Raleway Thin"/>
              </a:rPr>
              <a:t>© WARREN POWELL 2026</a:t>
            </a:r>
            <a:endParaRPr sz="900" b="0" dirty="0">
              <a:solidFill>
                <a:schemeClr val="tx1"/>
              </a:solidFill>
              <a:latin typeface="Raleway" pitchFamily="2" charset="0"/>
              <a:ea typeface="Raleway Thin"/>
              <a:cs typeface="Raleway Thin"/>
              <a:sym typeface="Raleway Thin"/>
            </a:endParaRPr>
          </a:p>
        </p:txBody>
      </p:sp>
      <p:pic>
        <p:nvPicPr>
          <p:cNvPr id="6" name="Picture 5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6ED04E7B-9405-B242-E92F-713BCFDEE4BD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ackgroundRemoval t="5495" b="97253" l="4706" r="97059">
                        <a14:foregroundMark x1="45294" y1="24725" x2="45294" y2="24725"/>
                        <a14:foregroundMark x1="56471" y1="23626" x2="56471" y2="23626"/>
                        <a14:foregroundMark x1="41765" y1="20879" x2="41765" y2="20879"/>
                        <a14:foregroundMark x1="10000" y1="72527" x2="10000" y2="72527"/>
                        <a14:foregroundMark x1="10588" y1="79121" x2="10588" y2="79121"/>
                        <a14:foregroundMark x1="11765" y1="68681" x2="11765" y2="68681"/>
                        <a14:foregroundMark x1="6471" y1="68681" x2="6471" y2="68681"/>
                        <a14:foregroundMark x1="40000" y1="30220" x2="40000" y2="30220"/>
                        <a14:foregroundMark x1="54706" y1="20879" x2="54706" y2="20879"/>
                        <a14:foregroundMark x1="54706" y1="30220" x2="54706" y2="30220"/>
                        <a14:foregroundMark x1="54706" y1="30220" x2="54706" y2="30220"/>
                        <a14:foregroundMark x1="51765" y1="24176" x2="51765" y2="24176"/>
                        <a14:foregroundMark x1="53529" y1="30769" x2="53529" y2="30769"/>
                        <a14:foregroundMark x1="45882" y1="29670" x2="45882" y2="29670"/>
                        <a14:foregroundMark x1="8824" y1="87363" x2="8824" y2="87363"/>
                        <a14:foregroundMark x1="19412" y1="89011" x2="19412" y2="89011"/>
                        <a14:foregroundMark x1="31176" y1="93407" x2="31176" y2="93407"/>
                        <a14:foregroundMark x1="24118" y1="95604" x2="24118" y2="96154"/>
                        <a14:foregroundMark x1="24118" y1="87912" x2="24118" y2="95604"/>
                        <a14:foregroundMark x1="5882" y1="65385" x2="5882" y2="65385"/>
                        <a14:foregroundMark x1="9413" y1="62088" x2="8235" y2="61538"/>
                        <a14:foregroundMark x1="10588" y1="62637" x2="9413" y2="62088"/>
                        <a14:foregroundMark x1="16471" y1="65385" x2="10588" y2="62637"/>
                        <a14:foregroundMark x1="28235" y1="89560" x2="28235" y2="89560"/>
                        <a14:foregroundMark x1="31765" y1="96703" x2="31765" y2="96703"/>
                        <a14:foregroundMark x1="38235" y1="95604" x2="38235" y2="95604"/>
                        <a14:foregroundMark x1="35882" y1="92857" x2="35882" y2="92857"/>
                        <a14:foregroundMark x1="34118" y1="90110" x2="34118" y2="90110"/>
                        <a14:foregroundMark x1="41765" y1="90659" x2="41765" y2="90659"/>
                        <a14:foregroundMark x1="41765" y1="93956" x2="41765" y2="93956"/>
                        <a14:foregroundMark x1="45882" y1="97253" x2="45882" y2="97253"/>
                        <a14:foregroundMark x1="50000" y1="97802" x2="50000" y2="97802"/>
                        <a14:foregroundMark x1="52941" y1="97802" x2="52941" y2="97802"/>
                        <a14:foregroundMark x1="58235" y1="97253" x2="58235" y2="97253"/>
                        <a14:foregroundMark x1="61176" y1="97802" x2="61176" y2="97802"/>
                        <a14:foregroundMark x1="60000" y1="90110" x2="60000" y2="90110"/>
                        <a14:foregroundMark x1="64118" y1="90659" x2="64118" y2="90659"/>
                        <a14:foregroundMark x1="70000" y1="86813" x2="70000" y2="86813"/>
                        <a14:foregroundMark x1="74118" y1="85165" x2="74118" y2="85165"/>
                        <a14:foregroundMark x1="75882" y1="91758" x2="75882" y2="91758"/>
                        <a14:foregroundMark x1="87647" y1="75275" x2="87647" y2="75275"/>
                        <a14:foregroundMark x1="87647" y1="75275" x2="87647" y2="75275"/>
                        <a14:foregroundMark x1="87647" y1="72527" x2="87647" y2="72527"/>
                        <a14:foregroundMark x1="84706" y1="80769" x2="84706" y2="80769"/>
                        <a14:foregroundMark x1="92941" y1="82418" x2="92941" y2="82418"/>
                        <a14:foregroundMark x1="97059" y1="65934" x2="97059" y2="65934"/>
                        <a14:foregroundMark x1="88235" y1="65934" x2="88235" y2="65934"/>
                        <a14:foregroundMark x1="10000" y1="62088" x2="10000" y2="62088"/>
                        <a14:foregroundMark x1="10000" y1="62088" x2="10000" y2="62088"/>
                        <a14:foregroundMark x1="10000" y1="62088" x2="10000" y2="62088"/>
                        <a14:foregroundMark x1="10000" y1="62088" x2="10000" y2="62088"/>
                        <a14:foregroundMark x1="50000" y1="5495" x2="50000" y2="5495"/>
                        <a14:foregroundMark x1="9412" y1="62637" x2="9412" y2="62637"/>
                        <a14:foregroundMark x1="9412" y1="62088" x2="9412" y2="62088"/>
                        <a14:foregroundMark x1="9412" y1="62088" x2="9412" y2="62088"/>
                        <a14:foregroundMark x1="9412" y1="62088" x2="9412" y2="62088"/>
                        <a14:foregroundMark x1="9412" y1="62088" x2="9412" y2="62088"/>
                        <a14:backgroundMark x1="9412" y1="61538" x2="9412" y2="61538"/>
                        <a14:backgroundMark x1="8235" y1="60989" x2="8235" y2="60989"/>
                        <a14:backgroundMark x1="11765" y1="62637" x2="11765" y2="62637"/>
                        <a14:backgroundMark x1="10588" y1="62088" x2="10588" y2="62088"/>
                        <a14:backgroundMark x1="24706" y1="96154" x2="24706" y2="96154"/>
                        <a14:backgroundMark x1="24118" y1="95604" x2="24118" y2="95604"/>
                        <a14:backgroundMark x1="23529" y1="97253" x2="23529" y2="97253"/>
                        <a14:backgroundMark x1="24118" y1="97253" x2="24118" y2="97253"/>
                        <a14:backgroundMark x1="24118" y1="97253" x2="24118" y2="97253"/>
                        <a14:backgroundMark x1="23529" y1="97802" x2="23529" y2="97802"/>
                        <a14:backgroundMark x1="23529" y1="96703" x2="23529" y2="96703"/>
                        <a14:backgroundMark x1="23529" y1="96703" x2="23529" y2="96154"/>
                        <a14:backgroundMark x1="7647" y1="62088" x2="7647" y2="62088"/>
                        <a14:backgroundMark x1="8824" y1="62637" x2="8824" y2="6263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649805" y="6324600"/>
            <a:ext cx="498231" cy="533400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2" r:id="rId13"/>
    <p:sldLayoutId id="2147483663" r:id="rId14"/>
    <p:sldLayoutId id="2147483667" r:id="rId1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3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4.png"/><Relationship Id="rId2" Type="http://schemas.openxmlformats.org/officeDocument/2006/relationships/image" Target="../media/image87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5.jpeg"/><Relationship Id="rId5" Type="http://schemas.openxmlformats.org/officeDocument/2006/relationships/image" Target="../media/image3992.png"/><Relationship Id="rId4" Type="http://schemas.openxmlformats.org/officeDocument/2006/relationships/image" Target="../media/image143.png"/></Relationships>
</file>

<file path=ppt/slides/_rels/slide3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2.xml"/></Relationships>
</file>

<file path=ppt/slides/_rels/slide3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8.png"/><Relationship Id="rId3" Type="http://schemas.openxmlformats.org/officeDocument/2006/relationships/image" Target="../media/image133.png"/><Relationship Id="rId7" Type="http://schemas.openxmlformats.org/officeDocument/2006/relationships/image" Target="../media/image137.jpg"/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6.jpg"/><Relationship Id="rId5" Type="http://schemas.openxmlformats.org/officeDocument/2006/relationships/image" Target="../media/image135.jpg"/><Relationship Id="rId4" Type="http://schemas.openxmlformats.org/officeDocument/2006/relationships/image" Target="../media/image134.png"/><Relationship Id="rId9" Type="http://schemas.openxmlformats.org/officeDocument/2006/relationships/image" Target="../media/image139.png"/></Relationships>
</file>

<file path=ppt/slides/_rels/slide3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3.png"/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4.png"/></Relationships>
</file>

<file path=ppt/slides/_rels/slide3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5.png"/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2.xml"/></Relationships>
</file>

<file path=ppt/slides/_rels/slide3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00.png"/><Relationship Id="rId2" Type="http://schemas.openxmlformats.org/officeDocument/2006/relationships/image" Target="../media/image259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20.png"/><Relationship Id="rId4" Type="http://schemas.openxmlformats.org/officeDocument/2006/relationships/image" Target="../media/image2611.png"/></Relationships>
</file>

<file path=ppt/slides/_rels/slide3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0.png"/><Relationship Id="rId7" Type="http://schemas.openxmlformats.org/officeDocument/2006/relationships/image" Target="../media/image2431.png"/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700.png"/><Relationship Id="rId5" Type="http://schemas.openxmlformats.org/officeDocument/2006/relationships/image" Target="../media/image432.png"/><Relationship Id="rId4" Type="http://schemas.openxmlformats.org/officeDocument/2006/relationships/image" Target="../media/image431.png"/></Relationships>
</file>

<file path=ppt/slides/_rels/slide3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7.png"/><Relationship Id="rId3" Type="http://schemas.openxmlformats.org/officeDocument/2006/relationships/image" Target="../media/image2230.png"/><Relationship Id="rId7" Type="http://schemas.openxmlformats.org/officeDocument/2006/relationships/image" Target="../media/image2250.png"/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7.png"/><Relationship Id="rId5" Type="http://schemas.openxmlformats.org/officeDocument/2006/relationships/image" Target="../media/image456.png"/><Relationship Id="rId4" Type="http://schemas.openxmlformats.org/officeDocument/2006/relationships/image" Target="../media/image2240.png"/></Relationships>
</file>

<file path=ppt/slides/_rels/slide3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8.png"/><Relationship Id="rId1" Type="http://schemas.openxmlformats.org/officeDocument/2006/relationships/slideLayout" Target="../slideLayouts/slideLayout2.xml"/></Relationships>
</file>

<file path=ppt/slides/_rels/slide3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slide3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1F2BAE-C4FB-CC04-EB0F-00BD44686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1FD871BC-E10D-E2B8-0727-CC5BF3E82D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8" y="0"/>
            <a:ext cx="12180024" cy="6858000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C040F6FD-E60E-B1A6-0FB7-5A9004BC9F04}"/>
              </a:ext>
            </a:extLst>
          </p:cNvPr>
          <p:cNvSpPr txBox="1">
            <a:spLocks/>
          </p:cNvSpPr>
          <p:nvPr/>
        </p:nvSpPr>
        <p:spPr>
          <a:xfrm>
            <a:off x="0" y="129992"/>
            <a:ext cx="12192000" cy="845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Tutorial Series on Sequential Decision Analytics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524DF4CB-5A5B-5CF6-9D70-A21B71AC222F}"/>
              </a:ext>
            </a:extLst>
          </p:cNvPr>
          <p:cNvSpPr txBox="1">
            <a:spLocks/>
          </p:cNvSpPr>
          <p:nvPr/>
        </p:nvSpPr>
        <p:spPr>
          <a:xfrm>
            <a:off x="0" y="927251"/>
            <a:ext cx="12192000" cy="1155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70840" algn="ctr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Times New Roman"/>
              <a:buNone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Warren B Powell</a:t>
            </a:r>
          </a:p>
          <a:p>
            <a:r>
              <a:rPr lang="en-US" sz="2000" dirty="0">
                <a:solidFill>
                  <a:schemeClr val="bg1"/>
                </a:solidFill>
              </a:rPr>
              <a:t>Professor Emeritus, Princeton University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F9E44C3-7E1C-2883-86CA-1D9670EEFF6D}"/>
              </a:ext>
            </a:extLst>
          </p:cNvPr>
          <p:cNvSpPr txBox="1">
            <a:spLocks/>
          </p:cNvSpPr>
          <p:nvPr/>
        </p:nvSpPr>
        <p:spPr>
          <a:xfrm>
            <a:off x="4224760" y="1866418"/>
            <a:ext cx="3715473" cy="578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r>
              <a:rPr lang="en-US" sz="1800" dirty="0">
                <a:solidFill>
                  <a:schemeClr val="bg1"/>
                </a:solidFill>
              </a:rPr>
              <a:t>Recorded: August 12, 2026</a:t>
            </a:r>
            <a:endParaRPr lang="en-US" sz="3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C1D0A00-6578-58D9-F3DB-99261BB715E3}"/>
              </a:ext>
            </a:extLst>
          </p:cNvPr>
          <p:cNvSpPr txBox="1">
            <a:spLocks/>
          </p:cNvSpPr>
          <p:nvPr/>
        </p:nvSpPr>
        <p:spPr>
          <a:xfrm>
            <a:off x="1212348" y="2751400"/>
            <a:ext cx="8374712" cy="8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1203325" indent="-1203325" algn="l">
              <a:lnSpc>
                <a:spcPct val="107000"/>
              </a:lnSpc>
              <a:spcAft>
                <a:spcPts val="800"/>
              </a:spcAft>
            </a:pPr>
            <a:r>
              <a:rPr lang="en-US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Module:	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Choosing policies – The process of choosing the type of policy is very dependent on the specific characteristics of a problem.</a:t>
            </a:r>
            <a:endParaRPr lang="en-US" sz="24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6FDA2BE-1E6E-D90D-CAF5-6828DDCC3FDD}"/>
              </a:ext>
            </a:extLst>
          </p:cNvPr>
          <p:cNvSpPr txBox="1">
            <a:spLocks/>
          </p:cNvSpPr>
          <p:nvPr/>
        </p:nvSpPr>
        <p:spPr>
          <a:xfrm>
            <a:off x="1214274" y="5160862"/>
            <a:ext cx="8881242" cy="8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algn="l">
              <a:lnSpc>
                <a:spcPct val="107000"/>
              </a:lnSpc>
              <a:spcAft>
                <a:spcPts val="800"/>
              </a:spcAft>
            </a:pPr>
            <a:r>
              <a:rPr lang="en-US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Technical level: Nontechnical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9FC146CC-6594-7E1E-641B-D28608B207C0}"/>
              </a:ext>
            </a:extLst>
          </p:cNvPr>
          <p:cNvSpPr txBox="1">
            <a:spLocks/>
          </p:cNvSpPr>
          <p:nvPr/>
        </p:nvSpPr>
        <p:spPr>
          <a:xfrm>
            <a:off x="1214274" y="3887648"/>
            <a:ext cx="8881242" cy="8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1203325" indent="-1203325" algn="l">
              <a:lnSpc>
                <a:spcPct val="107000"/>
              </a:lnSpc>
              <a:spcAft>
                <a:spcPts val="800"/>
              </a:spcAft>
            </a:pPr>
            <a:r>
              <a:rPr lang="en-US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Predecessor module(s): Designing policies (overview)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482B73B-4C0D-B428-253D-AE12F87687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8461" y="1084325"/>
            <a:ext cx="2014549" cy="2014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0215584"/>
      </p:ext>
    </p:extLst>
  </p:cSld>
  <p:clrMapOvr>
    <a:masterClrMapping/>
  </p:clrMapOvr>
</p:sld>
</file>

<file path=ppt/slides/slide3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CC82C-984E-5C6C-C13F-8F0B1143C9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24B0E1B0-3D80-92D6-30C5-13D82DF583D1}"/>
              </a:ext>
            </a:extLst>
          </p:cNvPr>
          <p:cNvSpPr/>
          <p:nvPr/>
        </p:nvSpPr>
        <p:spPr>
          <a:xfrm>
            <a:off x="339364" y="1102936"/>
            <a:ext cx="11852635" cy="5637229"/>
          </a:xfrm>
          <a:prstGeom prst="rect">
            <a:avLst/>
          </a:prstGeom>
          <a:solidFill>
            <a:schemeClr val="bg1"/>
          </a:solidFill>
          <a:ln w="9525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2F36BD29-1DA8-C322-086D-1AD1D56A824F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313436" y="1191797"/>
                <a:ext cx="10031612" cy="725094"/>
              </a:xfrm>
            </p:spPr>
            <p:txBody>
              <a:bodyPr/>
              <a:lstStyle/>
              <a:p>
                <a:pPr marL="86360" indent="0">
                  <a:buNone/>
                </a:pPr>
                <a:r>
                  <a:rPr lang="en-US" sz="2800" dirty="0"/>
                  <a:t>Searching over policies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80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80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/>
                      <m:sup>
                        <m:r>
                          <a:rPr lang="en-US" sz="2800">
                            <a:latin typeface="Cambria Math" panose="02040503050406030204" pitchFamily="18" charset="0"/>
                          </a:rPr>
                          <m:t>𝜋</m:t>
                        </m:r>
                      </m:sup>
                    </m:sSubSup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en-US" sz="2800" dirty="0"/>
                  <a:t>,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800" dirty="0"/>
                  <a:t>:</a:t>
                </a:r>
              </a:p>
              <a:p>
                <a:pPr marL="86360" indent="0">
                  <a:buNone/>
                </a:pPr>
                <a:endParaRPr lang="en-US" sz="2800" dirty="0"/>
              </a:p>
              <a:p>
                <a:pPr marL="86360" indent="0">
                  <a:buNone/>
                </a:pPr>
                <a:endParaRPr lang="en-US" sz="2800" dirty="0"/>
              </a:p>
              <a:p>
                <a:pPr marL="86360" indent="0">
                  <a:buNone/>
                </a:pPr>
                <a:endParaRPr lang="en-US" sz="2800" dirty="0"/>
              </a:p>
              <a:p>
                <a:pPr marL="86360" indent="0">
                  <a:buNone/>
                </a:pPr>
                <a:endParaRPr lang="en-US" sz="2800" dirty="0"/>
              </a:p>
              <a:p>
                <a:pPr marL="86360" indent="0">
                  <a:buNone/>
                </a:pPr>
                <a:endParaRPr lang="en-US" sz="2800" dirty="0"/>
              </a:p>
              <a:p>
                <a:pPr marL="86360" indent="0">
                  <a:buNone/>
                </a:pPr>
                <a:r>
                  <a:rPr lang="en-US" sz="2800" dirty="0"/>
                  <a:t>	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2F36BD29-1DA8-C322-086D-1AD1D56A824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13436" y="1191797"/>
                <a:ext cx="10031612" cy="725094"/>
              </a:xfrm>
              <a:blipFill>
                <a:blip r:embed="rId2"/>
                <a:stretch>
                  <a:fillRect l="-365" b="-59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4">
                <a:extLst>
                  <a:ext uri="{FF2B5EF4-FFF2-40B4-BE49-F238E27FC236}">
                    <a16:creationId xmlns:a16="http://schemas.microsoft.com/office/drawing/2014/main" id="{5792EA2C-EFB3-FF70-2F3E-5BBB3D0AFB12}"/>
                  </a:ext>
                </a:extLst>
              </p:cNvPr>
              <p:cNvSpPr txBox="1"/>
              <p:nvPr/>
            </p:nvSpPr>
            <p:spPr bwMode="auto">
              <a:xfrm>
                <a:off x="3294318" y="2173831"/>
                <a:ext cx="6617804" cy="104734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400" i="1">
                          <a:latin typeface="Cambria Math" panose="02040503050406030204" pitchFamily="18" charset="0"/>
                        </a:rPr>
                        <m:t>𝑚𝑎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𝐹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𝑚𝑎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∈</m:t>
                          </m:r>
                          <m:sSup>
                            <m:sSupPr>
                              <m:ctrlPr>
                                <a:rPr lang="en-US" sz="240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p>
                          </m:sSup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sub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Sup>
                                    <m:sSubSupPr>
                                      <m:ctrlPr>
                                        <a:rPr lang="en-US" sz="240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2400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/>
                                    <m:sup>
                                      <m:r>
                                        <a:rPr lang="en-US" sz="2400"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sup>
                                  </m:sSubSup>
                                  <m:d>
                                    <m:d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240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>
                                              <a:latin typeface="Cambria Math" panose="02040503050406030204" pitchFamily="18" charset="0"/>
                                            </a:rPr>
                                            <m:t>𝑆</m:t>
                                          </m:r>
                                        </m:e>
                                        <m:sub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</m:e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d>
                                </m:e>
                              </m:d>
                            </m:e>
                          </m:nary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Object 4">
                <a:extLst>
                  <a:ext uri="{FF2B5EF4-FFF2-40B4-BE49-F238E27FC236}">
                    <a16:creationId xmlns:a16="http://schemas.microsoft.com/office/drawing/2014/main" id="{5792EA2C-EFB3-FF70-2F3E-5BBB3D0AFB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94318" y="2173831"/>
                <a:ext cx="6617804" cy="1047346"/>
              </a:xfrm>
              <a:prstGeom prst="rect">
                <a:avLst/>
              </a:prstGeom>
              <a:blipFill>
                <a:blip r:embed="rId3"/>
                <a:stretch>
                  <a:fillRect b="-1578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itle 1">
            <a:extLst>
              <a:ext uri="{FF2B5EF4-FFF2-40B4-BE49-F238E27FC236}">
                <a16:creationId xmlns:a16="http://schemas.microsoft.com/office/drawing/2014/main" id="{BB78A9D5-91E2-D5EF-2C1E-8B0505C8F2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1700" y="353850"/>
            <a:ext cx="8283900" cy="550500"/>
          </a:xfrm>
        </p:spPr>
        <p:txBody>
          <a:bodyPr/>
          <a:lstStyle/>
          <a:p>
            <a:r>
              <a:rPr lang="en-US" dirty="0"/>
              <a:t>Choosing policies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D0263F6D-BA75-A27F-793B-1E6268B938FB}"/>
              </a:ext>
            </a:extLst>
          </p:cNvPr>
          <p:cNvGrpSpPr/>
          <p:nvPr/>
        </p:nvGrpSpPr>
        <p:grpSpPr>
          <a:xfrm>
            <a:off x="3912122" y="4072521"/>
            <a:ext cx="2510562" cy="2460253"/>
            <a:chOff x="5401559" y="3610610"/>
            <a:chExt cx="2510562" cy="2460253"/>
          </a:xfrm>
        </p:grpSpPr>
        <p:sp>
          <p:nvSpPr>
            <p:cNvPr id="23" name="Text Placeholder 2">
              <a:extLst>
                <a:ext uri="{FF2B5EF4-FFF2-40B4-BE49-F238E27FC236}">
                  <a16:creationId xmlns:a16="http://schemas.microsoft.com/office/drawing/2014/main" id="{54D9DE6A-E871-43EA-0808-3BA16C57A124}"/>
                </a:ext>
              </a:extLst>
            </p:cNvPr>
            <p:cNvSpPr txBox="1">
              <a:spLocks/>
            </p:cNvSpPr>
            <p:nvPr/>
          </p:nvSpPr>
          <p:spPr>
            <a:xfrm>
              <a:off x="5725238" y="3610610"/>
              <a:ext cx="2186883" cy="246025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2">
                  <a:lumMod val="75000"/>
                </a:schemeClr>
              </a:solidFill>
            </a:ln>
          </p:spPr>
          <p:txBody>
            <a:bodyPr spcFirstLastPara="1" wrap="square" lIns="91425" tIns="45700" rIns="91425" bIns="45700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70840" algn="l" rtl="0">
                <a:lnSpc>
                  <a:spcPct val="100000"/>
                </a:lnSpc>
                <a:spcBef>
                  <a:spcPts val="560"/>
                </a:spcBef>
                <a:spcAft>
                  <a:spcPts val="0"/>
                </a:spcAft>
                <a:buClr>
                  <a:schemeClr val="dk1"/>
                </a:buClr>
                <a:buSzPts val="2240"/>
                <a:buFont typeface="Raleway"/>
                <a:buChar char="•"/>
                <a:defRPr sz="2800" b="0" i="0" u="none" strike="noStrike" cap="none">
                  <a:solidFill>
                    <a:schemeClr val="dk1"/>
                  </a:solidFill>
                  <a:latin typeface="Raleway"/>
                  <a:ea typeface="Raleway"/>
                  <a:cs typeface="Raleway"/>
                  <a:sym typeface="Raleway"/>
                </a:defRPr>
              </a:lvl1pPr>
              <a:lvl2pPr marL="914400" marR="0" lvl="1" indent="-342900" algn="l" rtl="0">
                <a:lnSpc>
                  <a:spcPct val="10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Raleway"/>
                <a:buChar char="»"/>
                <a:defRPr sz="2400" b="0" i="0" u="none" strike="noStrike" cap="none">
                  <a:solidFill>
                    <a:schemeClr val="dk1"/>
                  </a:solidFill>
                  <a:latin typeface="Raleway"/>
                  <a:ea typeface="Raleway"/>
                  <a:cs typeface="Raleway"/>
                  <a:sym typeface="Raleway"/>
                </a:defRPr>
              </a:lvl2pPr>
              <a:lvl3pPr marL="1371600" marR="0" lvl="2" indent="-3429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Raleway"/>
                <a:buChar char="•"/>
                <a:defRPr sz="2000" b="0" i="0" u="none" strike="noStrike" cap="none">
                  <a:solidFill>
                    <a:schemeClr val="dk1"/>
                  </a:solidFill>
                  <a:latin typeface="Raleway"/>
                  <a:ea typeface="Raleway"/>
                  <a:cs typeface="Raleway"/>
                  <a:sym typeface="Raleway"/>
                </a:defRPr>
              </a:lvl3pPr>
              <a:lvl4pPr marL="1828800" marR="0" lvl="3" indent="-3429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Raleway"/>
                <a:buChar char="–"/>
                <a:defRPr sz="2000" b="0" i="0" u="none" strike="noStrike" cap="none">
                  <a:solidFill>
                    <a:schemeClr val="dk1"/>
                  </a:solidFill>
                  <a:latin typeface="Raleway"/>
                  <a:ea typeface="Raleway"/>
                  <a:cs typeface="Raleway"/>
                  <a:sym typeface="Raleway"/>
                </a:defRPr>
              </a:lvl4pPr>
              <a:lvl5pPr marL="2286000" marR="0" lvl="4" indent="-3429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Raleway"/>
                <a:buChar char="»"/>
                <a:defRPr sz="2000" b="0" i="0" u="none" strike="noStrike" cap="none">
                  <a:solidFill>
                    <a:schemeClr val="dk1"/>
                  </a:solidFill>
                  <a:latin typeface="Raleway"/>
                  <a:ea typeface="Raleway"/>
                  <a:cs typeface="Raleway"/>
                  <a:sym typeface="Raleway"/>
                </a:defRPr>
              </a:lvl5pPr>
              <a:lvl6pPr marL="2743200" marR="0" lvl="5" indent="-3429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Raleway"/>
                <a:buChar char="»"/>
                <a:defRPr sz="2000" b="0" i="0" u="none" strike="noStrike" cap="none">
                  <a:solidFill>
                    <a:schemeClr val="dk1"/>
                  </a:solidFill>
                  <a:latin typeface="Raleway"/>
                  <a:ea typeface="Raleway"/>
                  <a:cs typeface="Raleway"/>
                  <a:sym typeface="Raleway"/>
                </a:defRPr>
              </a:lvl6pPr>
              <a:lvl7pPr marL="3200400" marR="0" lvl="6" indent="-3429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Raleway"/>
                <a:buChar char="»"/>
                <a:defRPr sz="2000" b="0" i="0" u="none" strike="noStrike" cap="none">
                  <a:solidFill>
                    <a:schemeClr val="dk1"/>
                  </a:solidFill>
                  <a:latin typeface="Raleway"/>
                  <a:ea typeface="Raleway"/>
                  <a:cs typeface="Raleway"/>
                  <a:sym typeface="Raleway"/>
                </a:defRPr>
              </a:lvl7pPr>
              <a:lvl8pPr marL="3657600" marR="0" lvl="7" indent="-3429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Raleway"/>
                <a:buChar char="»"/>
                <a:defRPr sz="2000" b="0" i="0" u="none" strike="noStrike" cap="none">
                  <a:solidFill>
                    <a:schemeClr val="dk1"/>
                  </a:solidFill>
                  <a:latin typeface="Raleway"/>
                  <a:ea typeface="Raleway"/>
                  <a:cs typeface="Raleway"/>
                  <a:sym typeface="Raleway"/>
                </a:defRPr>
              </a:lvl8pPr>
              <a:lvl9pPr marL="4114800" marR="0" lvl="8" indent="-3429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Raleway"/>
                <a:buChar char="»"/>
                <a:defRPr sz="2000" b="0" i="0" u="none" strike="noStrike" cap="none">
                  <a:solidFill>
                    <a:schemeClr val="dk1"/>
                  </a:solidFill>
                  <a:latin typeface="Raleway"/>
                  <a:ea typeface="Raleway"/>
                  <a:cs typeface="Raleway"/>
                  <a:sym typeface="Raleway"/>
                </a:defRPr>
              </a:lvl9pPr>
            </a:lstStyle>
            <a:p>
              <a:pPr marL="86360" indent="0">
                <a:buClr>
                  <a:schemeClr val="accent2">
                    <a:lumMod val="75000"/>
                  </a:schemeClr>
                </a:buClr>
                <a:buSzPct val="80000"/>
                <a:buNone/>
              </a:pPr>
              <a:r>
                <a:rPr lang="en-US" sz="1200" dirty="0">
                  <a:solidFill>
                    <a:schemeClr val="accent2">
                      <a:lumMod val="75000"/>
                    </a:schemeClr>
                  </a:solidFill>
                </a:rPr>
                <a:t>Hybrids</a:t>
              </a:r>
            </a:p>
            <a:p>
              <a:pPr marL="282575" indent="-195263">
                <a:buClr>
                  <a:schemeClr val="accent2">
                    <a:lumMod val="75000"/>
                  </a:schemeClr>
                </a:buClr>
                <a:buSzPct val="80000"/>
                <a:buFont typeface="Wingdings" panose="05000000000000000000" pitchFamily="2" charset="2"/>
                <a:buChar char="§"/>
              </a:pPr>
              <a:r>
                <a:rPr lang="en-US" sz="1200" dirty="0">
                  <a:solidFill>
                    <a:schemeClr val="accent2">
                      <a:lumMod val="75000"/>
                    </a:schemeClr>
                  </a:solidFill>
                </a:rPr>
                <a:t>CFAs with PFAs</a:t>
              </a:r>
            </a:p>
            <a:p>
              <a:pPr marL="282575" indent="-195263">
                <a:buClr>
                  <a:schemeClr val="accent2">
                    <a:lumMod val="75000"/>
                  </a:schemeClr>
                </a:buClr>
                <a:buSzPct val="80000"/>
                <a:buFont typeface="Wingdings" panose="05000000000000000000" pitchFamily="2" charset="2"/>
                <a:buChar char="§"/>
              </a:pPr>
              <a:r>
                <a:rPr lang="en-US" sz="1200" dirty="0">
                  <a:solidFill>
                    <a:schemeClr val="accent2">
                      <a:lumMod val="75000"/>
                    </a:schemeClr>
                  </a:solidFill>
                </a:rPr>
                <a:t>DLA with VFA</a:t>
              </a:r>
            </a:p>
            <a:p>
              <a:pPr marL="282575" indent="-195263">
                <a:buClr>
                  <a:schemeClr val="accent2">
                    <a:lumMod val="75000"/>
                  </a:schemeClr>
                </a:buClr>
                <a:buSzPct val="80000"/>
                <a:buFont typeface="Wingdings" panose="05000000000000000000" pitchFamily="2" charset="2"/>
                <a:buChar char="§"/>
              </a:pPr>
              <a:r>
                <a:rPr lang="en-US" sz="1200" dirty="0">
                  <a:solidFill>
                    <a:schemeClr val="accent2">
                      <a:lumMod val="75000"/>
                    </a:schemeClr>
                  </a:solidFill>
                </a:rPr>
                <a:t>DLA with CFA</a:t>
              </a:r>
            </a:p>
            <a:p>
              <a:pPr marL="282575" indent="-195263">
                <a:buClr>
                  <a:schemeClr val="accent2">
                    <a:lumMod val="75000"/>
                  </a:schemeClr>
                </a:buClr>
                <a:buSzPct val="80000"/>
                <a:buFont typeface="Wingdings" panose="05000000000000000000" pitchFamily="2" charset="2"/>
                <a:buChar char="§"/>
              </a:pPr>
              <a:r>
                <a:rPr lang="en-US" sz="1200" dirty="0">
                  <a:solidFill>
                    <a:schemeClr val="accent2">
                      <a:lumMod val="75000"/>
                    </a:schemeClr>
                  </a:solidFill>
                </a:rPr>
                <a:t>VFA with PFA</a:t>
              </a:r>
            </a:p>
            <a:p>
              <a:pPr marL="282575" indent="-195263">
                <a:buClr>
                  <a:schemeClr val="accent2">
                    <a:lumMod val="75000"/>
                  </a:schemeClr>
                </a:buClr>
                <a:buSzPct val="80000"/>
                <a:buFont typeface="Wingdings" panose="05000000000000000000" pitchFamily="2" charset="2"/>
                <a:buChar char="§"/>
              </a:pPr>
              <a:r>
                <a:rPr lang="en-US" sz="1200" dirty="0">
                  <a:solidFill>
                    <a:schemeClr val="accent2">
                      <a:lumMod val="75000"/>
                    </a:schemeClr>
                  </a:solidFill>
                </a:rPr>
                <a:t>VFA with CFA</a:t>
              </a:r>
            </a:p>
            <a:p>
              <a:pPr marL="282575" indent="-195263">
                <a:buClr>
                  <a:schemeClr val="accent2">
                    <a:lumMod val="75000"/>
                  </a:schemeClr>
                </a:buClr>
                <a:buSzPct val="80000"/>
                <a:buFont typeface="Wingdings" panose="05000000000000000000" pitchFamily="2" charset="2"/>
                <a:buChar char="§"/>
              </a:pPr>
              <a:r>
                <a:rPr lang="en-US" sz="1200" dirty="0">
                  <a:solidFill>
                    <a:schemeClr val="accent2">
                      <a:lumMod val="75000"/>
                    </a:schemeClr>
                  </a:solidFill>
                </a:rPr>
                <a:t>PFA, CFA, DLA</a:t>
              </a:r>
            </a:p>
            <a:p>
              <a:pPr marL="282575" indent="-195263">
                <a:buClr>
                  <a:schemeClr val="accent2">
                    <a:lumMod val="75000"/>
                  </a:schemeClr>
                </a:buClr>
                <a:buSzPct val="80000"/>
                <a:buFont typeface="Wingdings" panose="05000000000000000000" pitchFamily="2" charset="2"/>
                <a:buChar char="§"/>
              </a:pPr>
              <a:r>
                <a:rPr lang="en-US" sz="1200" dirty="0">
                  <a:solidFill>
                    <a:schemeClr val="accent2">
                      <a:lumMod val="75000"/>
                    </a:schemeClr>
                  </a:solidFill>
                </a:rPr>
                <a:t>PFA, DLA, VFA</a:t>
              </a:r>
            </a:p>
            <a:p>
              <a:pPr marL="282575" indent="-195263">
                <a:buClr>
                  <a:schemeClr val="accent2">
                    <a:lumMod val="75000"/>
                  </a:schemeClr>
                </a:buClr>
                <a:buSzPct val="80000"/>
                <a:buFont typeface="Wingdings" panose="05000000000000000000" pitchFamily="2" charset="2"/>
                <a:buChar char="§"/>
              </a:pPr>
              <a:r>
                <a:rPr lang="en-US" sz="1200" dirty="0">
                  <a:solidFill>
                    <a:schemeClr val="accent2">
                      <a:lumMod val="75000"/>
                    </a:schemeClr>
                  </a:solidFill>
                </a:rPr>
                <a:t>PFA, CFA, VFA, DLA</a:t>
              </a:r>
            </a:p>
            <a:p>
              <a:pPr>
                <a:buSzPct val="90000"/>
                <a:buFont typeface="Wingdings" panose="05000000000000000000" pitchFamily="2" charset="2"/>
                <a:buChar char="Ø"/>
              </a:pPr>
              <a:endParaRPr lang="en-US" sz="1600" dirty="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  <p:sp>
          <p:nvSpPr>
            <p:cNvPr id="24" name="Arrow: Left 23">
              <a:extLst>
                <a:ext uri="{FF2B5EF4-FFF2-40B4-BE49-F238E27FC236}">
                  <a16:creationId xmlns:a16="http://schemas.microsoft.com/office/drawing/2014/main" id="{BD64F76F-EDFB-190D-65B7-1D1A31284FE4}"/>
                </a:ext>
              </a:extLst>
            </p:cNvPr>
            <p:cNvSpPr/>
            <p:nvPr/>
          </p:nvSpPr>
          <p:spPr>
            <a:xfrm>
              <a:off x="5401559" y="4071186"/>
              <a:ext cx="323679" cy="1513006"/>
            </a:xfrm>
            <a:prstGeom prst="leftArrow">
              <a:avLst/>
            </a:prstGeom>
            <a:solidFill>
              <a:schemeClr val="accent2">
                <a:lumMod val="40000"/>
                <a:lumOff val="60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B2D3FA2-9309-5B2B-0053-519FCB90F492}"/>
              </a:ext>
            </a:extLst>
          </p:cNvPr>
          <p:cNvGrpSpPr/>
          <p:nvPr/>
        </p:nvGrpSpPr>
        <p:grpSpPr>
          <a:xfrm>
            <a:off x="505776" y="2663347"/>
            <a:ext cx="3930457" cy="3185907"/>
            <a:chOff x="505776" y="2663347"/>
            <a:chExt cx="3930457" cy="3185907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A41CF5E8-983A-730C-AE0A-D0B26AC6D281}"/>
                </a:ext>
              </a:extLst>
            </p:cNvPr>
            <p:cNvGrpSpPr/>
            <p:nvPr/>
          </p:nvGrpSpPr>
          <p:grpSpPr>
            <a:xfrm>
              <a:off x="505776" y="2663347"/>
              <a:ext cx="3930457" cy="3185907"/>
              <a:chOff x="147557" y="2060032"/>
              <a:chExt cx="3930457" cy="3185907"/>
            </a:xfrm>
          </p:grpSpPr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0116AF0B-9BF3-BAC0-8A0A-B50341AE0CD6}"/>
                  </a:ext>
                </a:extLst>
              </p:cNvPr>
              <p:cNvSpPr/>
              <p:nvPr/>
            </p:nvSpPr>
            <p:spPr>
              <a:xfrm>
                <a:off x="3573518" y="2060032"/>
                <a:ext cx="504496" cy="483476"/>
              </a:xfrm>
              <a:prstGeom prst="ellipse">
                <a:avLst/>
              </a:prstGeom>
              <a:noFill/>
              <a:ln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1D80262-3FEE-7CE3-FBF3-48666A2105AF}"/>
                  </a:ext>
                </a:extLst>
              </p:cNvPr>
              <p:cNvSpPr txBox="1"/>
              <p:nvPr/>
            </p:nvSpPr>
            <p:spPr>
              <a:xfrm>
                <a:off x="147557" y="4076388"/>
                <a:ext cx="3385863" cy="1169551"/>
              </a:xfrm>
              <a:prstGeom prst="rect">
                <a:avLst/>
              </a:prstGeom>
              <a:noFill/>
              <a:ln>
                <a:solidFill>
                  <a:schemeClr val="accent2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2">
                        <a:lumMod val="75000"/>
                      </a:schemeClr>
                    </a:solidFill>
                    <a:latin typeface="Raleway" pitchFamily="2" charset="0"/>
                  </a:rPr>
                  <a:t>The four classes of policies:</a:t>
                </a:r>
              </a:p>
              <a:p>
                <a:pPr marL="457200" indent="-457200">
                  <a:buFont typeface="+mj-lt"/>
                  <a:buAutoNum type="arabicParenR"/>
                </a:pPr>
                <a:r>
                  <a:rPr lang="en-US" sz="1400" dirty="0">
                    <a:solidFill>
                      <a:schemeClr val="accent2">
                        <a:lumMod val="75000"/>
                      </a:schemeClr>
                    </a:solidFill>
                    <a:latin typeface="Raleway" pitchFamily="2" charset="0"/>
                  </a:rPr>
                  <a:t>Policy function approximations</a:t>
                </a:r>
              </a:p>
              <a:p>
                <a:pPr marL="457200" indent="-457200">
                  <a:buFont typeface="+mj-lt"/>
                  <a:buAutoNum type="arabicParenR"/>
                </a:pPr>
                <a:r>
                  <a:rPr lang="en-US" sz="1400" dirty="0">
                    <a:solidFill>
                      <a:schemeClr val="accent2">
                        <a:lumMod val="75000"/>
                      </a:schemeClr>
                    </a:solidFill>
                    <a:latin typeface="Raleway" pitchFamily="2" charset="0"/>
                  </a:rPr>
                  <a:t>Cost function approximations</a:t>
                </a:r>
              </a:p>
              <a:p>
                <a:pPr marL="457200" indent="-457200">
                  <a:buFont typeface="+mj-lt"/>
                  <a:buAutoNum type="arabicParenR"/>
                </a:pPr>
                <a:r>
                  <a:rPr lang="en-US" sz="1400" dirty="0">
                    <a:solidFill>
                      <a:schemeClr val="accent2">
                        <a:lumMod val="75000"/>
                      </a:schemeClr>
                    </a:solidFill>
                    <a:latin typeface="Raleway" pitchFamily="2" charset="0"/>
                  </a:rPr>
                  <a:t>Value function approximations</a:t>
                </a:r>
              </a:p>
              <a:p>
                <a:pPr marL="457200" indent="-457200">
                  <a:buFont typeface="+mj-lt"/>
                  <a:buAutoNum type="arabicParenR"/>
                </a:pPr>
                <a:r>
                  <a:rPr lang="en-US" sz="1400" dirty="0">
                    <a:solidFill>
                      <a:schemeClr val="accent2">
                        <a:lumMod val="75000"/>
                      </a:schemeClr>
                    </a:solidFill>
                    <a:latin typeface="Raleway" pitchFamily="2" charset="0"/>
                  </a:rPr>
                  <a:t>Direct lookahead approximations</a:t>
                </a:r>
              </a:p>
            </p:txBody>
          </p:sp>
          <p:cxnSp>
            <p:nvCxnSpPr>
              <p:cNvPr id="26" name="Straight Arrow Connector 25">
                <a:extLst>
                  <a:ext uri="{FF2B5EF4-FFF2-40B4-BE49-F238E27FC236}">
                    <a16:creationId xmlns:a16="http://schemas.microsoft.com/office/drawing/2014/main" id="{791057E2-8F29-BA6C-29DC-045C2E3E5B72}"/>
                  </a:ext>
                </a:extLst>
              </p:cNvPr>
              <p:cNvCxnSpPr>
                <a:cxnSpLocks/>
                <a:stCxn id="22" idx="0"/>
                <a:endCxn id="21" idx="4"/>
              </p:cNvCxnSpPr>
              <p:nvPr/>
            </p:nvCxnSpPr>
            <p:spPr>
              <a:xfrm flipV="1">
                <a:off x="1840489" y="2543508"/>
                <a:ext cx="1985277" cy="1532880"/>
              </a:xfrm>
              <a:prstGeom prst="straightConnector1">
                <a:avLst/>
              </a:prstGeom>
              <a:ln w="12700">
                <a:solidFill>
                  <a:schemeClr val="accent2">
                    <a:lumMod val="75000"/>
                  </a:schemeClr>
                </a:solidFill>
                <a:headEnd type="arrow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11" name="Google Shape;3213;p62">
              <a:extLst>
                <a:ext uri="{FF2B5EF4-FFF2-40B4-BE49-F238E27FC236}">
                  <a16:creationId xmlns:a16="http://schemas.microsoft.com/office/drawing/2014/main" id="{431AC578-81CE-A199-9D48-E94873991C81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868444" y="3349378"/>
              <a:ext cx="1257299" cy="133032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44D361DF-541A-78A6-24CB-F31BFFF42E08}"/>
              </a:ext>
            </a:extLst>
          </p:cNvPr>
          <p:cNvGrpSpPr/>
          <p:nvPr/>
        </p:nvGrpSpPr>
        <p:grpSpPr>
          <a:xfrm>
            <a:off x="4972003" y="2766658"/>
            <a:ext cx="6462665" cy="3042680"/>
            <a:chOff x="4972003" y="2766658"/>
            <a:chExt cx="6462665" cy="3042680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104DF297-3737-82AD-D753-00B7917866FF}"/>
                </a:ext>
              </a:extLst>
            </p:cNvPr>
            <p:cNvGrpSpPr/>
            <p:nvPr/>
          </p:nvGrpSpPr>
          <p:grpSpPr>
            <a:xfrm>
              <a:off x="4972003" y="2766658"/>
              <a:ext cx="5365400" cy="3042680"/>
              <a:chOff x="2904777" y="2331720"/>
              <a:chExt cx="5365400" cy="3042680"/>
            </a:xfrm>
          </p:grpSpPr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DBC0C3C4-B50D-D3AE-6D26-CF33DDF9430F}"/>
                  </a:ext>
                </a:extLst>
              </p:cNvPr>
              <p:cNvGrpSpPr/>
              <p:nvPr/>
            </p:nvGrpSpPr>
            <p:grpSpPr>
              <a:xfrm>
                <a:off x="2904777" y="2331720"/>
                <a:ext cx="5292975" cy="2998221"/>
                <a:chOff x="2441227" y="2877820"/>
                <a:chExt cx="5292975" cy="2998221"/>
              </a:xfrm>
            </p:grpSpPr>
            <p:sp>
              <p:nvSpPr>
                <p:cNvPr id="7" name="Oval 6">
                  <a:extLst>
                    <a:ext uri="{FF2B5EF4-FFF2-40B4-BE49-F238E27FC236}">
                      <a16:creationId xmlns:a16="http://schemas.microsoft.com/office/drawing/2014/main" id="{23445DAF-9006-D20C-809C-BC3065077863}"/>
                    </a:ext>
                  </a:extLst>
                </p:cNvPr>
                <p:cNvSpPr/>
                <p:nvPr/>
              </p:nvSpPr>
              <p:spPr>
                <a:xfrm>
                  <a:off x="2441227" y="2877820"/>
                  <a:ext cx="577341" cy="374650"/>
                </a:xfrm>
                <a:prstGeom prst="ellipse">
                  <a:avLst/>
                </a:prstGeom>
                <a:noFill/>
                <a:ln w="19050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cxnSp>
              <p:nvCxnSpPr>
                <p:cNvPr id="8" name="Straight Arrow Connector 7">
                  <a:extLst>
                    <a:ext uri="{FF2B5EF4-FFF2-40B4-BE49-F238E27FC236}">
                      <a16:creationId xmlns:a16="http://schemas.microsoft.com/office/drawing/2014/main" id="{4C9F6648-1472-010F-4A36-7D8B91D34D19}"/>
                    </a:ext>
                  </a:extLst>
                </p:cNvPr>
                <p:cNvCxnSpPr>
                  <a:cxnSpLocks/>
                  <a:stCxn id="7" idx="5"/>
                  <a:endCxn id="9" idx="0"/>
                </p:cNvCxnSpPr>
                <p:nvPr/>
              </p:nvCxnSpPr>
              <p:spPr>
                <a:xfrm>
                  <a:off x="2934018" y="3197604"/>
                  <a:ext cx="3126959" cy="2205362"/>
                </a:xfrm>
                <a:prstGeom prst="straightConnector1">
                  <a:avLst/>
                </a:prstGeom>
                <a:ln w="19050">
                  <a:solidFill>
                    <a:schemeClr val="accent2">
                      <a:lumMod val="75000"/>
                    </a:schemeClr>
                  </a:solidFill>
                  <a:headEnd type="none" w="med" len="med"/>
                  <a:tailEnd type="arrow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9E2F54F2-4D44-A578-DE27-3F9EEA4432CC}"/>
                    </a:ext>
                  </a:extLst>
                </p:cNvPr>
                <p:cNvSpPr txBox="1"/>
                <p:nvPr/>
              </p:nvSpPr>
              <p:spPr>
                <a:xfrm>
                  <a:off x="4387752" y="5402966"/>
                  <a:ext cx="3346450" cy="473075"/>
                </a:xfrm>
                <a:prstGeom prst="rect">
                  <a:avLst/>
                </a:prstGeom>
                <a:noFill/>
                <a:ln w="19050">
                  <a:solidFill>
                    <a:schemeClr val="accent2">
                      <a:lumMod val="75000"/>
                    </a:schemeClr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endParaRPr lang="en-US" dirty="0">
                    <a:solidFill>
                      <a:schemeClr val="accent2">
                        <a:lumMod val="75000"/>
                      </a:schemeClr>
                    </a:solidFill>
                    <a:latin typeface="Raleway" pitchFamily="2" charset="0"/>
                  </a:endParaRPr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" name="Object 29">
                    <a:extLst>
                      <a:ext uri="{FF2B5EF4-FFF2-40B4-BE49-F238E27FC236}">
                        <a16:creationId xmlns:a16="http://schemas.microsoft.com/office/drawing/2014/main" id="{7D9D96FA-3371-9152-00BF-5E9E853F2F00}"/>
                      </a:ext>
                    </a:extLst>
                  </p:cNvPr>
                  <p:cNvSpPr txBox="1"/>
                  <p:nvPr/>
                </p:nvSpPr>
                <p:spPr>
                  <a:xfrm>
                    <a:off x="4923727" y="4901325"/>
                    <a:ext cx="3346450" cy="473075"/>
                  </a:xfrm>
                  <a:prstGeom prst="rect">
                    <a:avLst/>
                  </a:prstGeom>
                </p:spPr>
                <p:txBody>
                  <a:bodyPr>
                    <a:no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>
                          <m:sSup>
                            <m:sSupPr>
                              <m:ctrlPr>
                                <a:rPr lang="en-US" sz="18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p>
                              <m:r>
                                <a:rPr lang="en-US" sz="18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18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p>
                          </m:sSup>
                          <m:r>
                            <a:rPr lang="en-US" sz="18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US" sz="18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p>
                              <m:r>
                                <a:rPr lang="en-US" sz="18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  <m:r>
                            <a:rPr lang="en-US" sz="18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8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sz="18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8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∇</m:t>
                              </m:r>
                            </m:e>
                            <m:sub>
                              <m:r>
                                <a:rPr lang="en-US" sz="18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r>
                            <a:rPr lang="en-US" sz="18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  <m:r>
                            <a:rPr lang="en-US" sz="18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sz="18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p>
                              <m:r>
                                <a:rPr lang="en-US" sz="18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  <m:r>
                            <a:rPr lang="en-US" sz="18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18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p>
                              <m:r>
                                <a:rPr lang="en-US" sz="18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18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p>
                          </m:sSup>
                          <m:r>
                            <a:rPr lang="en-US" sz="18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n-US" sz="1800" dirty="0">
                      <a:solidFill>
                        <a:schemeClr val="accent2">
                          <a:lumMod val="75000"/>
                        </a:schemeClr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" name="Object 29">
                    <a:extLst>
                      <a:ext uri="{FF2B5EF4-FFF2-40B4-BE49-F238E27FC236}">
                        <a16:creationId xmlns:a16="http://schemas.microsoft.com/office/drawing/2014/main" id="{7D9D96FA-3371-9152-00BF-5E9E853F2F0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923727" y="4901325"/>
                    <a:ext cx="3346450" cy="473075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pic>
          <p:nvPicPr>
            <p:cNvPr id="13" name="Picture 2" descr="data center racks">
              <a:extLst>
                <a:ext uri="{FF2B5EF4-FFF2-40B4-BE49-F238E27FC236}">
                  <a16:creationId xmlns:a16="http://schemas.microsoft.com/office/drawing/2014/main" id="{359B91F6-C2D3-8447-4FB6-3F6CEC80113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48921" y="3509166"/>
              <a:ext cx="2685747" cy="164123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579555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44A00-A88D-EA3E-5BBA-91D6C1410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Choosing policies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DD63FB-97A9-66DA-059B-A854E41C2B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8355" y="1058774"/>
            <a:ext cx="8372506" cy="4401600"/>
          </a:xfrm>
        </p:spPr>
        <p:txBody>
          <a:bodyPr/>
          <a:lstStyle/>
          <a:p>
            <a:pPr marL="86360" indent="0">
              <a:buNone/>
            </a:pPr>
            <a:r>
              <a:rPr lang="en-US" dirty="0"/>
              <a:t>How do we go about choosing policies?</a:t>
            </a:r>
          </a:p>
          <a:p>
            <a:pPr marL="86360" indent="0">
              <a:buNone/>
            </a:pPr>
            <a:endParaRPr lang="en-US" sz="1800" dirty="0"/>
          </a:p>
          <a:p>
            <a:pPr marL="86360" indent="0">
              <a:buNone/>
            </a:pPr>
            <a:r>
              <a:rPr lang="en-US" sz="2400" dirty="0"/>
              <a:t>Start by asking some basic questions:</a:t>
            </a:r>
          </a:p>
          <a:p>
            <a:r>
              <a:rPr lang="en-US" sz="2000" dirty="0"/>
              <a:t>Does the problem suggest an obvious rule or relationship (buy low, sell high; order-up-to inventory replenishment), which suggest a PFA.</a:t>
            </a:r>
          </a:p>
          <a:p>
            <a:r>
              <a:rPr lang="en-US" sz="2000" dirty="0"/>
              <a:t>Does a greedy policy (ignoring the future) make sense?</a:t>
            </a:r>
          </a:p>
          <a:p>
            <a:r>
              <a:rPr lang="en-US" sz="2000" dirty="0"/>
              <a:t>Is the problem fairly stationary? This might lend itself to a policy that does not need to directly plan into the future (PFAs or CFAs)</a:t>
            </a:r>
          </a:p>
          <a:p>
            <a:r>
              <a:rPr lang="en-US" sz="2000" dirty="0"/>
              <a:t>Does the problem seem to require planning into the future? (e.g. planning a path to the destination). DLAs (and possibly VFAs) are probably needed.</a:t>
            </a:r>
          </a:p>
          <a:p>
            <a:r>
              <a:rPr lang="en-US" sz="2000" dirty="0"/>
              <a:t>Does the value of being in a state suggest structure (e.g. convexity, monotonicity, linearity) that can be exploited?</a:t>
            </a:r>
          </a:p>
          <a:p>
            <a:endParaRPr lang="en-US" sz="2000" dirty="0"/>
          </a:p>
          <a:p>
            <a:endParaRPr lang="en-US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999879-0318-0F5F-B51A-A229D27A10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1616" y="1904212"/>
            <a:ext cx="2420292" cy="365166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67F20BD-9275-E06A-E67F-104CCE4918CB}"/>
              </a:ext>
            </a:extLst>
          </p:cNvPr>
          <p:cNvSpPr txBox="1"/>
          <p:nvPr/>
        </p:nvSpPr>
        <p:spPr>
          <a:xfrm>
            <a:off x="9577633" y="4477732"/>
            <a:ext cx="12795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Chapter 10</a:t>
            </a:r>
          </a:p>
          <a:p>
            <a:r>
              <a:rPr lang="en-US" dirty="0">
                <a:solidFill>
                  <a:schemeClr val="bg1"/>
                </a:solidFill>
              </a:rPr>
              <a:t>Section 10.7?</a:t>
            </a:r>
          </a:p>
        </p:txBody>
      </p:sp>
    </p:spTree>
    <p:extLst>
      <p:ext uri="{BB962C8B-B14F-4D97-AF65-F5344CB8AC3E}">
        <p14:creationId xmlns:p14="http://schemas.microsoft.com/office/powerpoint/2010/main" val="3014678099"/>
      </p:ext>
    </p:extLst>
  </p:cSld>
  <p:clrMapOvr>
    <a:masterClrMapping/>
  </p:clrMapOvr>
</p:sld>
</file>

<file path=ppt/slides/slide3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03">
          <a:extLst>
            <a:ext uri="{FF2B5EF4-FFF2-40B4-BE49-F238E27FC236}">
              <a16:creationId xmlns:a16="http://schemas.microsoft.com/office/drawing/2014/main" id="{DE637FAB-73B2-0B9A-987A-748DB4C9FC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4" name="Google Shape;4404;p97">
            <a:extLst>
              <a:ext uri="{FF2B5EF4-FFF2-40B4-BE49-F238E27FC236}">
                <a16:creationId xmlns:a16="http://schemas.microsoft.com/office/drawing/2014/main" id="{76AEA5CE-26AA-CC7D-DB59-EE141518D1B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21700" y="353850"/>
            <a:ext cx="82839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/>
              <a:t>Choosing policies</a:t>
            </a:r>
            <a:endParaRPr dirty="0"/>
          </a:p>
        </p:txBody>
      </p:sp>
      <p:sp>
        <p:nvSpPr>
          <p:cNvPr id="4405" name="Google Shape;4405;p97">
            <a:extLst>
              <a:ext uri="{FF2B5EF4-FFF2-40B4-BE49-F238E27FC236}">
                <a16:creationId xmlns:a16="http://schemas.microsoft.com/office/drawing/2014/main" id="{F00CA7A0-AAF8-6661-E163-47F7A8EFB3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9800" y="1316225"/>
            <a:ext cx="103632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Raleway" pitchFamily="2" charset="0"/>
                <a:ea typeface="Raleway Thin"/>
                <a:cs typeface="Raleway Thin"/>
                <a:sym typeface="Raleway Thin"/>
              </a:rPr>
              <a:t>Consider a basic energy storage problem</a:t>
            </a:r>
            <a:endParaRPr dirty="0">
              <a:latin typeface="Raleway" pitchFamily="2" charset="0"/>
            </a:endParaRPr>
          </a:p>
        </p:txBody>
      </p:sp>
      <p:pic>
        <p:nvPicPr>
          <p:cNvPr id="4406" name="Google Shape;4406;p97">
            <a:extLst>
              <a:ext uri="{FF2B5EF4-FFF2-40B4-BE49-F238E27FC236}">
                <a16:creationId xmlns:a16="http://schemas.microsoft.com/office/drawing/2014/main" id="{9401B744-45A3-8837-DE7C-8E355C94644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96168" y="2278740"/>
            <a:ext cx="1986900" cy="118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07" name="Google Shape;4407;p97">
            <a:extLst>
              <a:ext uri="{FF2B5EF4-FFF2-40B4-BE49-F238E27FC236}">
                <a16:creationId xmlns:a16="http://schemas.microsoft.com/office/drawing/2014/main" id="{386FA68A-2074-A559-DC23-CAAE63D683D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t="13043"/>
          <a:stretch/>
        </p:blipFill>
        <p:spPr>
          <a:xfrm>
            <a:off x="1496163" y="3893838"/>
            <a:ext cx="2149800" cy="125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08" name="Google Shape;4408;p97">
            <a:extLst>
              <a:ext uri="{FF2B5EF4-FFF2-40B4-BE49-F238E27FC236}">
                <a16:creationId xmlns:a16="http://schemas.microsoft.com/office/drawing/2014/main" id="{62110109-CDCF-D8AA-6A49-F189C7C7E32E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517364" y="2209047"/>
            <a:ext cx="1475570" cy="1073648"/>
          </a:xfrm>
          <a:prstGeom prst="rect">
            <a:avLst/>
          </a:prstGeom>
          <a:noFill/>
          <a:ln>
            <a:noFill/>
          </a:ln>
        </p:spPr>
      </p:pic>
      <p:pic>
        <p:nvPicPr>
          <p:cNvPr id="4409" name="Google Shape;4409;p97">
            <a:extLst>
              <a:ext uri="{FF2B5EF4-FFF2-40B4-BE49-F238E27FC236}">
                <a16:creationId xmlns:a16="http://schemas.microsoft.com/office/drawing/2014/main" id="{A464AF41-44CD-412D-AEF1-6790CAE6FCB4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599413" y="3797691"/>
            <a:ext cx="1250479" cy="130683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10" name="Google Shape;4410;p97">
            <a:extLst>
              <a:ext uri="{FF2B5EF4-FFF2-40B4-BE49-F238E27FC236}">
                <a16:creationId xmlns:a16="http://schemas.microsoft.com/office/drawing/2014/main" id="{1665A442-01A1-B5FA-EB34-735FC92FCF51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515500" y="3129086"/>
            <a:ext cx="1294922" cy="86095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411" name="Google Shape;4411;p97">
            <a:extLst>
              <a:ext uri="{FF2B5EF4-FFF2-40B4-BE49-F238E27FC236}">
                <a16:creationId xmlns:a16="http://schemas.microsoft.com/office/drawing/2014/main" id="{9F8506E8-A70D-04D7-30C0-5DFACC290B6C}"/>
              </a:ext>
            </a:extLst>
          </p:cNvPr>
          <p:cNvCxnSpPr>
            <a:stCxn id="4408" idx="3"/>
            <a:endCxn id="4410" idx="1"/>
          </p:cNvCxnSpPr>
          <p:nvPr/>
        </p:nvCxnSpPr>
        <p:spPr>
          <a:xfrm>
            <a:off x="4992934" y="2745872"/>
            <a:ext cx="522600" cy="813600"/>
          </a:xfrm>
          <a:prstGeom prst="straightConnector1">
            <a:avLst/>
          </a:prstGeom>
          <a:solidFill>
            <a:schemeClr val="accent1"/>
          </a:solidFill>
          <a:ln w="38100" cap="flat" cmpd="sng">
            <a:solidFill>
              <a:srgbClr val="0066CC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4412" name="Google Shape;4412;p97">
            <a:extLst>
              <a:ext uri="{FF2B5EF4-FFF2-40B4-BE49-F238E27FC236}">
                <a16:creationId xmlns:a16="http://schemas.microsoft.com/office/drawing/2014/main" id="{9AA976A1-08A7-021F-6EF4-78A1D48A6A66}"/>
              </a:ext>
            </a:extLst>
          </p:cNvPr>
          <p:cNvCxnSpPr>
            <a:stCxn id="4409" idx="3"/>
            <a:endCxn id="4410" idx="1"/>
          </p:cNvCxnSpPr>
          <p:nvPr/>
        </p:nvCxnSpPr>
        <p:spPr>
          <a:xfrm rot="10800000" flipH="1">
            <a:off x="4849891" y="3559509"/>
            <a:ext cx="665700" cy="891600"/>
          </a:xfrm>
          <a:prstGeom prst="straightConnector1">
            <a:avLst/>
          </a:prstGeom>
          <a:solidFill>
            <a:schemeClr val="accent1"/>
          </a:solidFill>
          <a:ln w="38100" cap="flat" cmpd="sng">
            <a:solidFill>
              <a:srgbClr val="0066CC"/>
            </a:solidFill>
            <a:prstDash val="solid"/>
            <a:round/>
            <a:headEnd type="none" w="sm" len="sm"/>
            <a:tailEnd type="stealth" w="med" len="med"/>
          </a:ln>
        </p:spPr>
      </p:cxnSp>
      <p:pic>
        <p:nvPicPr>
          <p:cNvPr id="4413" name="Google Shape;4413;p97">
            <a:extLst>
              <a:ext uri="{FF2B5EF4-FFF2-40B4-BE49-F238E27FC236}">
                <a16:creationId xmlns:a16="http://schemas.microsoft.com/office/drawing/2014/main" id="{3BF1F1C1-9C43-43E3-E7B9-B99200172BEA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157353" y="2709913"/>
            <a:ext cx="1197279" cy="183650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414" name="Google Shape;4414;p97">
            <a:extLst>
              <a:ext uri="{FF2B5EF4-FFF2-40B4-BE49-F238E27FC236}">
                <a16:creationId xmlns:a16="http://schemas.microsoft.com/office/drawing/2014/main" id="{8E80E87E-4E8C-481A-4AD4-93B3094B5F40}"/>
              </a:ext>
            </a:extLst>
          </p:cNvPr>
          <p:cNvCxnSpPr>
            <a:stCxn id="4410" idx="3"/>
          </p:cNvCxnSpPr>
          <p:nvPr/>
        </p:nvCxnSpPr>
        <p:spPr>
          <a:xfrm>
            <a:off x="6810421" y="3559562"/>
            <a:ext cx="522600" cy="0"/>
          </a:xfrm>
          <a:prstGeom prst="straightConnector1">
            <a:avLst/>
          </a:prstGeom>
          <a:solidFill>
            <a:schemeClr val="accent1"/>
          </a:solidFill>
          <a:ln w="38100" cap="flat" cmpd="sng">
            <a:solidFill>
              <a:srgbClr val="0066CC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4415" name="Google Shape;4415;p97">
            <a:extLst>
              <a:ext uri="{FF2B5EF4-FFF2-40B4-BE49-F238E27FC236}">
                <a16:creationId xmlns:a16="http://schemas.microsoft.com/office/drawing/2014/main" id="{CAFD6DB6-DDE5-FA50-4074-7E1A12E4B654}"/>
              </a:ext>
            </a:extLst>
          </p:cNvPr>
          <p:cNvSpPr txBox="1"/>
          <p:nvPr/>
        </p:nvSpPr>
        <p:spPr>
          <a:xfrm>
            <a:off x="5726973" y="3308845"/>
            <a:ext cx="8418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Battery </a:t>
            </a:r>
            <a:endParaRPr>
              <a:latin typeface="Oswald"/>
              <a:ea typeface="Oswald"/>
              <a:cs typeface="Oswald"/>
              <a:sym typeface="Oswald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storage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4416" name="Google Shape;4416;p97">
            <a:extLst>
              <a:ext uri="{FF2B5EF4-FFF2-40B4-BE49-F238E27FC236}">
                <a16:creationId xmlns:a16="http://schemas.microsoft.com/office/drawing/2014/main" id="{58BCB0C1-DD13-771D-5E5F-053E2B283423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381062" y="2929766"/>
            <a:ext cx="2025577" cy="1435047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4417" name="Google Shape;4417;p97">
            <a:extLst>
              <a:ext uri="{FF2B5EF4-FFF2-40B4-BE49-F238E27FC236}">
                <a16:creationId xmlns:a16="http://schemas.microsoft.com/office/drawing/2014/main" id="{31BBD17D-EF72-7103-170F-D1ED186C76A0}"/>
              </a:ext>
            </a:extLst>
          </p:cNvPr>
          <p:cNvSpPr txBox="1"/>
          <p:nvPr/>
        </p:nvSpPr>
        <p:spPr>
          <a:xfrm>
            <a:off x="8571572" y="2538699"/>
            <a:ext cx="1433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Demand (load)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4418" name="Google Shape;4418;p97">
            <a:extLst>
              <a:ext uri="{FF2B5EF4-FFF2-40B4-BE49-F238E27FC236}">
                <a16:creationId xmlns:a16="http://schemas.microsoft.com/office/drawing/2014/main" id="{632D8D2C-C994-CD4B-316F-F801DBDD4ED6}"/>
              </a:ext>
            </a:extLst>
          </p:cNvPr>
          <p:cNvSpPr txBox="1"/>
          <p:nvPr/>
        </p:nvSpPr>
        <p:spPr>
          <a:xfrm>
            <a:off x="2014082" y="2023502"/>
            <a:ext cx="12108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Wind energy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cxnSp>
        <p:nvCxnSpPr>
          <p:cNvPr id="4419" name="Google Shape;4419;p97">
            <a:extLst>
              <a:ext uri="{FF2B5EF4-FFF2-40B4-BE49-F238E27FC236}">
                <a16:creationId xmlns:a16="http://schemas.microsoft.com/office/drawing/2014/main" id="{A28072C9-C415-76F1-CBF0-E6A597714F0F}"/>
              </a:ext>
            </a:extLst>
          </p:cNvPr>
          <p:cNvCxnSpPr>
            <a:stCxn id="4409" idx="3"/>
          </p:cNvCxnSpPr>
          <p:nvPr/>
        </p:nvCxnSpPr>
        <p:spPr>
          <a:xfrm rot="10800000" flipH="1">
            <a:off x="4849891" y="3836409"/>
            <a:ext cx="2390400" cy="614700"/>
          </a:xfrm>
          <a:prstGeom prst="straightConnector1">
            <a:avLst/>
          </a:prstGeom>
          <a:solidFill>
            <a:schemeClr val="accent1"/>
          </a:solidFill>
          <a:ln w="38100" cap="flat" cmpd="sng">
            <a:solidFill>
              <a:srgbClr val="0066CC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4420" name="Google Shape;4420;p97">
            <a:extLst>
              <a:ext uri="{FF2B5EF4-FFF2-40B4-BE49-F238E27FC236}">
                <a16:creationId xmlns:a16="http://schemas.microsoft.com/office/drawing/2014/main" id="{47A9B805-57C6-3C17-56B6-E6A6E9A2B8D6}"/>
              </a:ext>
            </a:extLst>
          </p:cNvPr>
          <p:cNvCxnSpPr>
            <a:stCxn id="4408" idx="3"/>
          </p:cNvCxnSpPr>
          <p:nvPr/>
        </p:nvCxnSpPr>
        <p:spPr>
          <a:xfrm>
            <a:off x="4992934" y="2745872"/>
            <a:ext cx="2247300" cy="414900"/>
          </a:xfrm>
          <a:prstGeom prst="straightConnector1">
            <a:avLst/>
          </a:prstGeom>
          <a:solidFill>
            <a:schemeClr val="accent1"/>
          </a:solidFill>
          <a:ln w="38100" cap="flat" cmpd="sng">
            <a:solidFill>
              <a:srgbClr val="0066CC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4422" name="Google Shape;4422;p97">
            <a:extLst>
              <a:ext uri="{FF2B5EF4-FFF2-40B4-BE49-F238E27FC236}">
                <a16:creationId xmlns:a16="http://schemas.microsoft.com/office/drawing/2014/main" id="{7B046A3F-598E-7921-480E-ABAAABA09428}"/>
              </a:ext>
            </a:extLst>
          </p:cNvPr>
          <p:cNvSpPr txBox="1"/>
          <p:nvPr/>
        </p:nvSpPr>
        <p:spPr>
          <a:xfrm>
            <a:off x="2014088" y="3559563"/>
            <a:ext cx="1210800" cy="363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Grid Prices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4423" name="Google Shape;4423;p97">
            <a:extLst>
              <a:ext uri="{FF2B5EF4-FFF2-40B4-BE49-F238E27FC236}">
                <a16:creationId xmlns:a16="http://schemas.microsoft.com/office/drawing/2014/main" id="{F5B3FD5F-D115-0DB0-229C-4F194C2AA868}"/>
              </a:ext>
            </a:extLst>
          </p:cNvPr>
          <p:cNvSpPr/>
          <p:nvPr/>
        </p:nvSpPr>
        <p:spPr>
          <a:xfrm rot="10800000">
            <a:off x="-12600" y="1911450"/>
            <a:ext cx="12204600" cy="3404700"/>
          </a:xfrm>
          <a:prstGeom prst="rect">
            <a:avLst/>
          </a:prstGeom>
          <a:solidFill>
            <a:schemeClr val="accent2">
              <a:lumMod val="75000"/>
              <a:alpha val="99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43275998"/>
      </p:ext>
    </p:extLst>
  </p:cSld>
  <p:clrMapOvr>
    <a:masterClrMapping/>
  </p:clrMapOvr>
</p:sld>
</file>

<file path=ppt/slides/slide3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27">
          <a:extLst>
            <a:ext uri="{FF2B5EF4-FFF2-40B4-BE49-F238E27FC236}">
              <a16:creationId xmlns:a16="http://schemas.microsoft.com/office/drawing/2014/main" id="{288A5A79-EBD7-3331-BD7B-39F38794D3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8" name="Google Shape;4428;p98">
            <a:extLst>
              <a:ext uri="{FF2B5EF4-FFF2-40B4-BE49-F238E27FC236}">
                <a16:creationId xmlns:a16="http://schemas.microsoft.com/office/drawing/2014/main" id="{A2F970C0-12F4-D5C1-4E60-54F6157E7E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60019" y="1178583"/>
            <a:ext cx="10363200" cy="51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Each policy is best on certain problems</a:t>
            </a:r>
            <a:endParaRPr dirty="0"/>
          </a:p>
          <a:p>
            <a:pPr marL="742950" lvl="1" indent="-1333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 lang="en-US" dirty="0"/>
          </a:p>
          <a:p>
            <a:pPr marL="742950" lvl="1" indent="-1333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 dirty="0"/>
          </a:p>
          <a:p>
            <a:pPr marL="742950" lvl="1" indent="-1333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 dirty="0"/>
          </a:p>
          <a:p>
            <a:pPr marL="742950" lvl="1" indent="-1333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 dirty="0"/>
          </a:p>
          <a:p>
            <a:pPr marL="742950" lvl="1" indent="-1333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 dirty="0"/>
          </a:p>
          <a:p>
            <a:pPr marL="742950" lvl="1" indent="-1333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 dirty="0"/>
          </a:p>
          <a:p>
            <a:pPr marL="742950" lvl="1" indent="-1333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 dirty="0"/>
          </a:p>
          <a:p>
            <a:pPr marL="742950" lvl="1" indent="-1333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 dirty="0"/>
          </a:p>
          <a:p>
            <a:pPr marL="742950" lvl="1" indent="-1333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 dirty="0"/>
          </a:p>
          <a:p>
            <a:pPr marL="1143000" lvl="2" indent="-101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dirty="0"/>
          </a:p>
        </p:txBody>
      </p:sp>
      <p:sp>
        <p:nvSpPr>
          <p:cNvPr id="4429" name="Google Shape;4429;p98">
            <a:extLst>
              <a:ext uri="{FF2B5EF4-FFF2-40B4-BE49-F238E27FC236}">
                <a16:creationId xmlns:a16="http://schemas.microsoft.com/office/drawing/2014/main" id="{C630D510-DF96-8485-CE8C-EB75F4EAC80C}"/>
              </a:ext>
            </a:extLst>
          </p:cNvPr>
          <p:cNvSpPr txBox="1"/>
          <p:nvPr/>
        </p:nvSpPr>
        <p:spPr>
          <a:xfrm>
            <a:off x="3473599" y="5599325"/>
            <a:ext cx="71490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i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Joint research with Prof. Stephan Meisel, University of Twente, Netherlands.</a:t>
            </a:r>
            <a:endParaRPr sz="900" dirty="0"/>
          </a:p>
        </p:txBody>
      </p:sp>
      <p:pic>
        <p:nvPicPr>
          <p:cNvPr id="4430" name="Google Shape;4430;p98">
            <a:extLst>
              <a:ext uri="{FF2B5EF4-FFF2-40B4-BE49-F238E27FC236}">
                <a16:creationId xmlns:a16="http://schemas.microsoft.com/office/drawing/2014/main" id="{906EBE91-B0F1-FB53-FFB4-63857944EAF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39630" y="1762272"/>
            <a:ext cx="9130739" cy="377153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431" name="Google Shape;4431;p98">
            <a:extLst>
              <a:ext uri="{FF2B5EF4-FFF2-40B4-BE49-F238E27FC236}">
                <a16:creationId xmlns:a16="http://schemas.microsoft.com/office/drawing/2014/main" id="{CDF1FED7-7158-D8CC-34C0-E712DB47F172}"/>
              </a:ext>
            </a:extLst>
          </p:cNvPr>
          <p:cNvGrpSpPr/>
          <p:nvPr/>
        </p:nvGrpSpPr>
        <p:grpSpPr>
          <a:xfrm>
            <a:off x="1525122" y="2230304"/>
            <a:ext cx="9142878" cy="3292873"/>
            <a:chOff x="1122" y="2604932"/>
            <a:chExt cx="9142878" cy="3292873"/>
          </a:xfrm>
        </p:grpSpPr>
        <p:grpSp>
          <p:nvGrpSpPr>
            <p:cNvPr id="4432" name="Google Shape;4432;p98">
              <a:extLst>
                <a:ext uri="{FF2B5EF4-FFF2-40B4-BE49-F238E27FC236}">
                  <a16:creationId xmlns:a16="http://schemas.microsoft.com/office/drawing/2014/main" id="{B4CFB864-D5FA-AB2B-924A-D7827C7259D5}"/>
                </a:ext>
              </a:extLst>
            </p:cNvPr>
            <p:cNvGrpSpPr/>
            <p:nvPr/>
          </p:nvGrpSpPr>
          <p:grpSpPr>
            <a:xfrm>
              <a:off x="1122" y="2604932"/>
              <a:ext cx="9142878" cy="2800506"/>
              <a:chOff x="1122" y="2604932"/>
              <a:chExt cx="9142878" cy="2800506"/>
            </a:xfrm>
          </p:grpSpPr>
          <p:sp>
            <p:nvSpPr>
              <p:cNvPr id="4433" name="Google Shape;4433;p98">
                <a:extLst>
                  <a:ext uri="{FF2B5EF4-FFF2-40B4-BE49-F238E27FC236}">
                    <a16:creationId xmlns:a16="http://schemas.microsoft.com/office/drawing/2014/main" id="{0E57E138-7A15-7D21-1124-95A6F6E6B1D6}"/>
                  </a:ext>
                </a:extLst>
              </p:cNvPr>
              <p:cNvSpPr/>
              <p:nvPr/>
            </p:nvSpPr>
            <p:spPr>
              <a:xfrm>
                <a:off x="15630" y="2604932"/>
                <a:ext cx="9128370" cy="827314"/>
              </a:xfrm>
              <a:prstGeom prst="rect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434" name="Google Shape;4434;p98">
                <a:extLst>
                  <a:ext uri="{FF2B5EF4-FFF2-40B4-BE49-F238E27FC236}">
                    <a16:creationId xmlns:a16="http://schemas.microsoft.com/office/drawing/2014/main" id="{9F0DA92C-AAC3-F0BC-C972-DA495F776241}"/>
                  </a:ext>
                </a:extLst>
              </p:cNvPr>
              <p:cNvSpPr/>
              <p:nvPr/>
            </p:nvSpPr>
            <p:spPr>
              <a:xfrm>
                <a:off x="8376" y="3432615"/>
                <a:ext cx="9128370" cy="718471"/>
              </a:xfrm>
              <a:prstGeom prst="rect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435" name="Google Shape;4435;p98">
                <a:extLst>
                  <a:ext uri="{FF2B5EF4-FFF2-40B4-BE49-F238E27FC236}">
                    <a16:creationId xmlns:a16="http://schemas.microsoft.com/office/drawing/2014/main" id="{E7A59E90-4AA6-EDE1-EB3B-7C9CB44B621E}"/>
                  </a:ext>
                </a:extLst>
              </p:cNvPr>
              <p:cNvSpPr/>
              <p:nvPr/>
            </p:nvSpPr>
            <p:spPr>
              <a:xfrm>
                <a:off x="1122" y="4151061"/>
                <a:ext cx="9128370" cy="763839"/>
              </a:xfrm>
              <a:prstGeom prst="rect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436" name="Google Shape;4436;p98">
                <a:extLst>
                  <a:ext uri="{FF2B5EF4-FFF2-40B4-BE49-F238E27FC236}">
                    <a16:creationId xmlns:a16="http://schemas.microsoft.com/office/drawing/2014/main" id="{2F08D6B8-5508-A774-DD0F-1C119F630EF7}"/>
                  </a:ext>
                </a:extLst>
              </p:cNvPr>
              <p:cNvSpPr/>
              <p:nvPr/>
            </p:nvSpPr>
            <p:spPr>
              <a:xfrm>
                <a:off x="3076" y="4913061"/>
                <a:ext cx="9128370" cy="492377"/>
              </a:xfrm>
              <a:prstGeom prst="rect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sp>
          <p:nvSpPr>
            <p:cNvPr id="4437" name="Google Shape;4437;p98">
              <a:extLst>
                <a:ext uri="{FF2B5EF4-FFF2-40B4-BE49-F238E27FC236}">
                  <a16:creationId xmlns:a16="http://schemas.microsoft.com/office/drawing/2014/main" id="{C8D66B99-E203-1332-09D9-2C6A053C5E28}"/>
                </a:ext>
              </a:extLst>
            </p:cNvPr>
            <p:cNvSpPr/>
            <p:nvPr/>
          </p:nvSpPr>
          <p:spPr>
            <a:xfrm>
              <a:off x="3077" y="5405428"/>
              <a:ext cx="9128370" cy="492377"/>
            </a:xfrm>
            <a:prstGeom prst="rect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4438" name="Google Shape;4438;p98">
            <a:extLst>
              <a:ext uri="{FF2B5EF4-FFF2-40B4-BE49-F238E27FC236}">
                <a16:creationId xmlns:a16="http://schemas.microsoft.com/office/drawing/2014/main" id="{D2D47289-1892-9C09-8B6C-60FBBA95A736}"/>
              </a:ext>
            </a:extLst>
          </p:cNvPr>
          <p:cNvGrpSpPr/>
          <p:nvPr/>
        </p:nvGrpSpPr>
        <p:grpSpPr>
          <a:xfrm>
            <a:off x="6105000" y="1762272"/>
            <a:ext cx="4517568" cy="3771537"/>
            <a:chOff x="4581000" y="2136899"/>
            <a:chExt cx="4517568" cy="3771537"/>
          </a:xfrm>
        </p:grpSpPr>
        <p:grpSp>
          <p:nvGrpSpPr>
            <p:cNvPr id="4439" name="Google Shape;4439;p98">
              <a:extLst>
                <a:ext uri="{FF2B5EF4-FFF2-40B4-BE49-F238E27FC236}">
                  <a16:creationId xmlns:a16="http://schemas.microsoft.com/office/drawing/2014/main" id="{0F52943D-44E9-1C4D-508E-0E1FCEDDC00A}"/>
                </a:ext>
              </a:extLst>
            </p:cNvPr>
            <p:cNvGrpSpPr/>
            <p:nvPr/>
          </p:nvGrpSpPr>
          <p:grpSpPr>
            <a:xfrm>
              <a:off x="4581000" y="2136899"/>
              <a:ext cx="3591450" cy="3771536"/>
              <a:chOff x="4581000" y="2136899"/>
              <a:chExt cx="3591450" cy="3771536"/>
            </a:xfrm>
          </p:grpSpPr>
          <p:sp>
            <p:nvSpPr>
              <p:cNvPr id="4440" name="Google Shape;4440;p98">
                <a:extLst>
                  <a:ext uri="{FF2B5EF4-FFF2-40B4-BE49-F238E27FC236}">
                    <a16:creationId xmlns:a16="http://schemas.microsoft.com/office/drawing/2014/main" id="{305877E3-1397-1058-A632-3E5143F55A3E}"/>
                  </a:ext>
                </a:extLst>
              </p:cNvPr>
              <p:cNvSpPr/>
              <p:nvPr/>
            </p:nvSpPr>
            <p:spPr>
              <a:xfrm>
                <a:off x="4581000" y="2136899"/>
                <a:ext cx="893677" cy="3771533"/>
              </a:xfrm>
              <a:prstGeom prst="rect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441" name="Google Shape;4441;p98">
                <a:extLst>
                  <a:ext uri="{FF2B5EF4-FFF2-40B4-BE49-F238E27FC236}">
                    <a16:creationId xmlns:a16="http://schemas.microsoft.com/office/drawing/2014/main" id="{E7FFF7A5-5B77-872F-ADB8-8166813762FB}"/>
                  </a:ext>
                </a:extLst>
              </p:cNvPr>
              <p:cNvSpPr/>
              <p:nvPr/>
            </p:nvSpPr>
            <p:spPr>
              <a:xfrm>
                <a:off x="5471949" y="2136900"/>
                <a:ext cx="893677" cy="3771533"/>
              </a:xfrm>
              <a:prstGeom prst="rect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442" name="Google Shape;4442;p98">
                <a:extLst>
                  <a:ext uri="{FF2B5EF4-FFF2-40B4-BE49-F238E27FC236}">
                    <a16:creationId xmlns:a16="http://schemas.microsoft.com/office/drawing/2014/main" id="{716A0977-B7EE-85D0-1A37-ED71492B1C9B}"/>
                  </a:ext>
                </a:extLst>
              </p:cNvPr>
              <p:cNvSpPr/>
              <p:nvPr/>
            </p:nvSpPr>
            <p:spPr>
              <a:xfrm>
                <a:off x="6351175" y="2136901"/>
                <a:ext cx="893677" cy="3771533"/>
              </a:xfrm>
              <a:prstGeom prst="rect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443" name="Google Shape;4443;p98">
                <a:extLst>
                  <a:ext uri="{FF2B5EF4-FFF2-40B4-BE49-F238E27FC236}">
                    <a16:creationId xmlns:a16="http://schemas.microsoft.com/office/drawing/2014/main" id="{31BEFFCA-DE55-3721-7376-EDE0A0C4BE09}"/>
                  </a:ext>
                </a:extLst>
              </p:cNvPr>
              <p:cNvSpPr/>
              <p:nvPr/>
            </p:nvSpPr>
            <p:spPr>
              <a:xfrm>
                <a:off x="7242124" y="2136902"/>
                <a:ext cx="930326" cy="3771533"/>
              </a:xfrm>
              <a:prstGeom prst="rect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sp>
          <p:nvSpPr>
            <p:cNvPr id="4444" name="Google Shape;4444;p98">
              <a:extLst>
                <a:ext uri="{FF2B5EF4-FFF2-40B4-BE49-F238E27FC236}">
                  <a16:creationId xmlns:a16="http://schemas.microsoft.com/office/drawing/2014/main" id="{74186469-22B8-5DD2-DBDA-25FBE6834DF0}"/>
                </a:ext>
              </a:extLst>
            </p:cNvPr>
            <p:cNvSpPr/>
            <p:nvPr/>
          </p:nvSpPr>
          <p:spPr>
            <a:xfrm>
              <a:off x="8168242" y="2136903"/>
              <a:ext cx="930326" cy="3771533"/>
            </a:xfrm>
            <a:prstGeom prst="rect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4452" name="Google Shape;4452;p98">
            <a:extLst>
              <a:ext uri="{FF2B5EF4-FFF2-40B4-BE49-F238E27FC236}">
                <a16:creationId xmlns:a16="http://schemas.microsoft.com/office/drawing/2014/main" id="{267A1854-377A-8B68-EF71-93C9775068C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21700" y="353850"/>
            <a:ext cx="82839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/>
              <a:t>Choosing policies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2367BB6-F929-C9E6-5810-90047189FD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8637" y="1778446"/>
            <a:ext cx="798940" cy="439063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06B74E12-3594-D9B1-D271-00277A54F1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2903" y="1803645"/>
            <a:ext cx="798940" cy="410993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8B43561E-BE39-6470-B7C6-E767528B81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9917" y="1781330"/>
            <a:ext cx="798940" cy="418736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E357CB9C-C2AE-93E9-0BB0-44D606A7CF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14189" y="1787082"/>
            <a:ext cx="856022" cy="412983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2B666012-F1C3-6DE7-3F6D-1823A301F2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47639" y="1793432"/>
            <a:ext cx="856022" cy="41298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3B9DD7D-E487-8C32-C4AA-5B3288EB77BA}"/>
              </a:ext>
            </a:extLst>
          </p:cNvPr>
          <p:cNvSpPr txBox="1"/>
          <p:nvPr/>
        </p:nvSpPr>
        <p:spPr>
          <a:xfrm>
            <a:off x="6200850" y="1817400"/>
            <a:ext cx="6706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000" i="0" dirty="0">
                <a:latin typeface="Arial" panose="020B0604020202020204" pitchFamily="34" charset="0"/>
                <a:cs typeface="Arial" panose="020B0604020202020204" pitchFamily="34" charset="0"/>
              </a:rPr>
              <a:t>PFA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25B3699-3DE5-F484-0532-28D3173A358F}"/>
              </a:ext>
            </a:extLst>
          </p:cNvPr>
          <p:cNvSpPr txBox="1"/>
          <p:nvPr/>
        </p:nvSpPr>
        <p:spPr>
          <a:xfrm>
            <a:off x="7102550" y="1817400"/>
            <a:ext cx="6850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000" i="0" dirty="0">
                <a:latin typeface="Arial" panose="020B0604020202020204" pitchFamily="34" charset="0"/>
                <a:cs typeface="Arial" panose="020B0604020202020204" pitchFamily="34" charset="0"/>
              </a:rPr>
              <a:t>CFA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928FD00-FE0C-B39E-63A5-6F04ED3E7FE4}"/>
              </a:ext>
            </a:extLst>
          </p:cNvPr>
          <p:cNvSpPr txBox="1"/>
          <p:nvPr/>
        </p:nvSpPr>
        <p:spPr>
          <a:xfrm>
            <a:off x="7978850" y="1817400"/>
            <a:ext cx="6850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000" i="0" dirty="0">
                <a:latin typeface="Arial" panose="020B0604020202020204" pitchFamily="34" charset="0"/>
                <a:cs typeface="Arial" panose="020B0604020202020204" pitchFamily="34" charset="0"/>
              </a:rPr>
              <a:t>VFA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F04CB71-9346-1A77-E573-E0A15DC29AB2}"/>
              </a:ext>
            </a:extLst>
          </p:cNvPr>
          <p:cNvSpPr txBox="1"/>
          <p:nvPr/>
        </p:nvSpPr>
        <p:spPr>
          <a:xfrm>
            <a:off x="8880550" y="1820575"/>
            <a:ext cx="6848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000" i="0" dirty="0">
                <a:latin typeface="Arial" panose="020B0604020202020204" pitchFamily="34" charset="0"/>
                <a:cs typeface="Arial" panose="020B0604020202020204" pitchFamily="34" charset="0"/>
              </a:rPr>
              <a:t>DLA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F89EAB2-09C9-6D98-D07B-DCEE8E5EFCAB}"/>
              </a:ext>
            </a:extLst>
          </p:cNvPr>
          <p:cNvSpPr txBox="1"/>
          <p:nvPr/>
        </p:nvSpPr>
        <p:spPr>
          <a:xfrm>
            <a:off x="9642550" y="1845975"/>
            <a:ext cx="10373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600" i="0" dirty="0">
                <a:latin typeface="Arial" panose="020B0604020202020204" pitchFamily="34" charset="0"/>
                <a:cs typeface="Arial" panose="020B0604020202020204" pitchFamily="34" charset="0"/>
              </a:rPr>
              <a:t>DLA/CFA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72AF42D-5376-8BD4-4503-1B1D5290EF4D}"/>
              </a:ext>
            </a:extLst>
          </p:cNvPr>
          <p:cNvCxnSpPr>
            <a:cxnSpLocks/>
          </p:cNvCxnSpPr>
          <p:nvPr/>
        </p:nvCxnSpPr>
        <p:spPr>
          <a:xfrm>
            <a:off x="1539630" y="1761346"/>
            <a:ext cx="9128370" cy="0"/>
          </a:xfrm>
          <a:prstGeom prst="line">
            <a:avLst/>
          </a:prstGeom>
          <a:ln w="63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2918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AF15A3-A72A-D6E1-DFEC-B8621204D8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04B5-E0F3-9831-0E2F-4619E1ABA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Choosing policies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4FB5D4-6B34-243B-977A-B49D1F2725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8981" y="991228"/>
            <a:ext cx="10363200" cy="5390522"/>
          </a:xfrm>
        </p:spPr>
        <p:txBody>
          <a:bodyPr/>
          <a:lstStyle/>
          <a:p>
            <a:pPr marL="86360" indent="0">
              <a:buNone/>
            </a:pPr>
            <a:r>
              <a:rPr lang="en-US" dirty="0">
                <a:solidFill>
                  <a:schemeClr val="tx1"/>
                </a:solidFill>
              </a:rPr>
              <a:t>We have to evaluate policies along multiple dimensions:</a:t>
            </a:r>
          </a:p>
          <a:p>
            <a:pPr lvl="3"/>
            <a:endParaRPr lang="en-US" sz="900" dirty="0">
              <a:solidFill>
                <a:schemeClr val="tx1"/>
              </a:solidFill>
            </a:endParaRPr>
          </a:p>
          <a:p>
            <a:pPr marL="571500" lvl="1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1) Solution quality</a:t>
            </a:r>
          </a:p>
          <a:p>
            <a:pPr lvl="2"/>
            <a:r>
              <a:rPr lang="en-US" sz="1600" dirty="0">
                <a:solidFill>
                  <a:schemeClr val="tx1"/>
                </a:solidFill>
              </a:rPr>
              <a:t>On average</a:t>
            </a:r>
          </a:p>
          <a:p>
            <a:pPr lvl="2"/>
            <a:r>
              <a:rPr lang="en-US" sz="1600" dirty="0">
                <a:solidFill>
                  <a:schemeClr val="tx1"/>
                </a:solidFill>
              </a:rPr>
              <a:t>Risk metrics</a:t>
            </a:r>
          </a:p>
          <a:p>
            <a:pPr lvl="3"/>
            <a:endParaRPr lang="en-US" sz="900" dirty="0">
              <a:solidFill>
                <a:schemeClr val="tx1"/>
              </a:solidFill>
            </a:endParaRPr>
          </a:p>
          <a:p>
            <a:pPr marL="571500" lvl="1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2) Computational </a:t>
            </a:r>
          </a:p>
          <a:p>
            <a:pPr lvl="2"/>
            <a:r>
              <a:rPr lang="en-US" sz="1600" dirty="0">
                <a:solidFill>
                  <a:schemeClr val="tx1"/>
                </a:solidFill>
              </a:rPr>
              <a:t>Average solution times</a:t>
            </a:r>
          </a:p>
          <a:p>
            <a:pPr lvl="2"/>
            <a:r>
              <a:rPr lang="en-US" sz="1600" dirty="0">
                <a:solidFill>
                  <a:schemeClr val="tx1"/>
                </a:solidFill>
              </a:rPr>
              <a:t>Worst case performance</a:t>
            </a:r>
          </a:p>
          <a:p>
            <a:pPr lvl="3"/>
            <a:endParaRPr lang="en-US" sz="900" dirty="0">
              <a:solidFill>
                <a:schemeClr val="tx1"/>
              </a:solidFill>
            </a:endParaRPr>
          </a:p>
          <a:p>
            <a:pPr marL="571500" lvl="1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3) Transparency</a:t>
            </a:r>
          </a:p>
          <a:p>
            <a:pPr lvl="3"/>
            <a:endParaRPr lang="en-US" sz="900" dirty="0">
              <a:solidFill>
                <a:schemeClr val="tx1"/>
              </a:solidFill>
            </a:endParaRPr>
          </a:p>
          <a:p>
            <a:pPr marL="571500" lvl="1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4) Robustness to data errors</a:t>
            </a:r>
          </a:p>
          <a:p>
            <a:pPr lvl="3"/>
            <a:endParaRPr lang="en-US" sz="900" dirty="0">
              <a:solidFill>
                <a:schemeClr val="tx1"/>
              </a:solidFill>
            </a:endParaRPr>
          </a:p>
          <a:p>
            <a:pPr marL="571500" lvl="1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5) Tuning requirements</a:t>
            </a:r>
          </a:p>
          <a:p>
            <a:pPr lvl="3"/>
            <a:endParaRPr lang="en-US" sz="900" dirty="0">
              <a:solidFill>
                <a:schemeClr val="tx1"/>
              </a:solidFill>
            </a:endParaRPr>
          </a:p>
          <a:p>
            <a:pPr marL="571500" lvl="1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6) Flexibility/adaptability</a:t>
            </a:r>
          </a:p>
          <a:p>
            <a:pPr lvl="3"/>
            <a:endParaRPr lang="en-US" sz="900" dirty="0">
              <a:solidFill>
                <a:schemeClr val="tx1"/>
              </a:solidFill>
            </a:endParaRPr>
          </a:p>
          <a:p>
            <a:pPr marL="571500" lvl="1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7) Complexity/ease of development</a:t>
            </a:r>
          </a:p>
          <a:p>
            <a:pPr lvl="3"/>
            <a:endParaRPr lang="en-US" sz="900" dirty="0">
              <a:solidFill>
                <a:schemeClr val="tx1"/>
              </a:solidFill>
            </a:endParaRPr>
          </a:p>
          <a:p>
            <a:pPr marL="571500" lvl="1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8) Data requirements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FB162B9-A052-78BC-7B67-F35AF22778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7266" y="1916432"/>
            <a:ext cx="4024086" cy="4024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3501324"/>
      </p:ext>
    </p:extLst>
  </p:cSld>
  <p:clrMapOvr>
    <a:masterClrMapping/>
  </p:clrMapOvr>
</p:sld>
</file>

<file path=ppt/slides/slide3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41EDC-798B-C211-41F6-CC63B99EE7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Choosing policies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355818-F6FE-3A1E-D64F-560D8E5F5B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092" y="1279489"/>
            <a:ext cx="10734594" cy="4401600"/>
          </a:xfrm>
        </p:spPr>
        <p:txBody>
          <a:bodyPr/>
          <a:lstStyle/>
          <a:p>
            <a:r>
              <a:rPr lang="en-US" dirty="0"/>
              <a:t>It helps to identify six types of policies:</a:t>
            </a:r>
          </a:p>
          <a:p>
            <a:pPr lvl="1"/>
            <a:r>
              <a:rPr lang="en-US" sz="2000" dirty="0"/>
              <a:t>1) Policy function approximations (PFAs) – Simple rules, analytical functions.</a:t>
            </a:r>
          </a:p>
          <a:p>
            <a:pPr lvl="1"/>
            <a:r>
              <a:rPr lang="en-US" sz="2000" dirty="0"/>
              <a:t>2) Cost function approximations (CFAs) – Parameterized deterministic optimization models (typically static)</a:t>
            </a:r>
          </a:p>
          <a:p>
            <a:pPr lvl="1"/>
            <a:r>
              <a:rPr lang="en-US" sz="2000" dirty="0"/>
              <a:t>3) Policies based on value function approximations (VFAs) – Policies that use an approximation of the value of landing in a downstream state</a:t>
            </a:r>
          </a:p>
          <a:p>
            <a:pPr lvl="1"/>
            <a:r>
              <a:rPr lang="en-US" sz="2000" dirty="0"/>
              <a:t>4) Policies based on direct lookahead approximations (DLAs) – These should be divided into two subclasses:</a:t>
            </a:r>
          </a:p>
          <a:p>
            <a:pPr lvl="2"/>
            <a:r>
              <a:rPr lang="en-US" sz="1800" dirty="0"/>
              <a:t>4a) DLAs using deterministic lookaheads (Det-DLA) – These may be parameterized.</a:t>
            </a:r>
          </a:p>
          <a:p>
            <a:pPr lvl="2"/>
            <a:r>
              <a:rPr lang="en-US" sz="1800" dirty="0"/>
              <a:t>4b) DLAs using stochastic lookaheads (Stoch-DLA) </a:t>
            </a:r>
          </a:p>
          <a:p>
            <a:pPr lvl="3"/>
            <a:r>
              <a:rPr lang="en-US" sz="1800" dirty="0"/>
              <a:t>4b.i) Stochastic DLAs with discrete, scalar decisions.</a:t>
            </a:r>
          </a:p>
          <a:p>
            <a:pPr lvl="3"/>
            <a:r>
              <a:rPr lang="en-US" sz="1800" dirty="0"/>
              <a:t>4b.ii) Stochastic DLAs with vector decisions.</a:t>
            </a:r>
            <a:endParaRPr lang="en-US" sz="2600" dirty="0"/>
          </a:p>
          <a:p>
            <a:pPr lvl="3"/>
            <a:endParaRPr lang="en-US" sz="1800" dirty="0"/>
          </a:p>
          <a:p>
            <a:r>
              <a:rPr lang="en-US" sz="2600" dirty="0"/>
              <a:t>So, which are the most useful?</a:t>
            </a:r>
          </a:p>
        </p:txBody>
      </p:sp>
    </p:spTree>
    <p:extLst>
      <p:ext uri="{BB962C8B-B14F-4D97-AF65-F5344CB8AC3E}">
        <p14:creationId xmlns:p14="http://schemas.microsoft.com/office/powerpoint/2010/main" val="3609598106"/>
      </p:ext>
    </p:extLst>
  </p:cSld>
  <p:clrMapOvr>
    <a:masterClrMapping/>
  </p:clrMapOvr>
</p:sld>
</file>

<file path=ppt/slides/slide3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613AA-2D14-4E34-9601-C5CFEAFC5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Choosing policies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3E99A2-ED3C-EB48-A367-FBEE62F902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871" y="1156545"/>
            <a:ext cx="10929502" cy="4401600"/>
          </a:xfrm>
        </p:spPr>
        <p:txBody>
          <a:bodyPr/>
          <a:lstStyle/>
          <a:p>
            <a:r>
              <a:rPr lang="en-US" dirty="0"/>
              <a:t>We can divide the six types of policies into three categories from most to least popular:</a:t>
            </a:r>
          </a:p>
          <a:p>
            <a:pPr lvl="1"/>
            <a:r>
              <a:rPr lang="en-US" sz="2200" dirty="0"/>
              <a:t>Category 1 – This category consists of:</a:t>
            </a:r>
          </a:p>
          <a:p>
            <a:pPr lvl="2"/>
            <a:r>
              <a:rPr lang="en-US" dirty="0"/>
              <a:t>1) PFAs – Rules/analytical functions</a:t>
            </a:r>
          </a:p>
          <a:p>
            <a:pPr lvl="2"/>
            <a:r>
              <a:rPr lang="en-US" dirty="0"/>
              <a:t>2) CFAs – Parameterized det. optimization</a:t>
            </a:r>
          </a:p>
          <a:p>
            <a:pPr lvl="2"/>
            <a:r>
              <a:rPr lang="en-US" dirty="0"/>
              <a:t>4a) Det-DLAs – Deterministic lookaheads</a:t>
            </a:r>
          </a:p>
          <a:p>
            <a:pPr lvl="2"/>
            <a:endParaRPr lang="en-US" sz="1100" dirty="0"/>
          </a:p>
          <a:p>
            <a:pPr lvl="1"/>
            <a:r>
              <a:rPr lang="en-US" sz="2200" dirty="0"/>
              <a:t>Category 2 – Stoch. lookahead with discrete actions:</a:t>
            </a:r>
          </a:p>
          <a:p>
            <a:pPr lvl="2"/>
            <a:r>
              <a:rPr lang="en-US" dirty="0"/>
              <a:t>4b.i) Decision trees, value-of-information policies</a:t>
            </a:r>
            <a:endParaRPr lang="en-US" sz="1100" dirty="0"/>
          </a:p>
          <a:p>
            <a:pPr lvl="1"/>
            <a:r>
              <a:rPr lang="en-US" sz="2200" dirty="0"/>
              <a:t>Category 3 – Stoch. lookahead using Bellman:</a:t>
            </a:r>
          </a:p>
          <a:p>
            <a:pPr lvl="2"/>
            <a:r>
              <a:rPr lang="en-US" dirty="0"/>
              <a:t>3) Policies based on VFAs (approx. dynamic programming)</a:t>
            </a:r>
          </a:p>
          <a:p>
            <a:pPr lvl="1"/>
            <a:r>
              <a:rPr lang="en-US" sz="2200" dirty="0"/>
              <a:t>Category 4 – Stoch. lookahead with vectors:</a:t>
            </a:r>
          </a:p>
          <a:p>
            <a:pPr lvl="2"/>
            <a:r>
              <a:rPr lang="en-US" dirty="0"/>
              <a:t>4b.ii) 2-stage stochastic programming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49186D0-22A9-246E-AF08-562C7574D31D}"/>
                  </a:ext>
                </a:extLst>
              </p:cNvPr>
              <p:cNvSpPr txBox="1"/>
              <p:nvPr/>
            </p:nvSpPr>
            <p:spPr>
              <a:xfrm>
                <a:off x="8294735" y="2244241"/>
                <a:ext cx="572016" cy="12287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begChr m:val=""/>
                          <m:endChr m:val="}"/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/>
                            </m:mr>
                            <m:mr>
                              <m:e/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1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/>
                                  </m:mr>
                                  <m:mr>
                                    <m:e/>
                                  </m:mr>
                                  <m:mr>
                                    <m:e/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49186D0-22A9-246E-AF08-562C7574D3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4735" y="2244241"/>
                <a:ext cx="572016" cy="122879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0630EDC-585E-5E73-E69F-7CEF69CC6854}"/>
                  </a:ext>
                </a:extLst>
              </p:cNvPr>
              <p:cNvSpPr txBox="1"/>
              <p:nvPr/>
            </p:nvSpPr>
            <p:spPr>
              <a:xfrm>
                <a:off x="8333154" y="3580237"/>
                <a:ext cx="512896" cy="76315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begChr m:val=""/>
                          <m:endChr m:val="}"/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/>
                            </m:mr>
                            <m:mr>
                              <m:e/>
                            </m:mr>
                            <m:mr>
                              <m:e/>
                            </m:mr>
                          </m:m>
                        </m:e>
                      </m:d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0630EDC-585E-5E73-E69F-7CEF69CC68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3154" y="3580237"/>
                <a:ext cx="512896" cy="76315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BCF7530-4BAE-5F58-379D-1099A59D159B}"/>
                  </a:ext>
                </a:extLst>
              </p:cNvPr>
              <p:cNvSpPr txBox="1"/>
              <p:nvPr/>
            </p:nvSpPr>
            <p:spPr>
              <a:xfrm>
                <a:off x="8338775" y="4334302"/>
                <a:ext cx="512896" cy="76315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begChr m:val=""/>
                          <m:endChr m:val="}"/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/>
                            </m:mr>
                            <m:mr>
                              <m:e/>
                            </m:mr>
                            <m:mr>
                              <m:e/>
                            </m:mr>
                          </m:m>
                        </m:e>
                      </m:d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BCF7530-4BAE-5F58-379D-1099A59D15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8775" y="4334302"/>
                <a:ext cx="512896" cy="76315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CBBC5547-9CE2-E314-D1BE-86342954D003}"/>
              </a:ext>
            </a:extLst>
          </p:cNvPr>
          <p:cNvSpPr txBox="1"/>
          <p:nvPr/>
        </p:nvSpPr>
        <p:spPr>
          <a:xfrm>
            <a:off x="8886407" y="2301702"/>
            <a:ext cx="2604887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By far the most widely used in practice.  The choice among the three tends to be obvious from the structure of the problem.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6EACEF-A5B7-49F2-1485-A9AED89AAFA2}"/>
              </a:ext>
            </a:extLst>
          </p:cNvPr>
          <p:cNvSpPr txBox="1"/>
          <p:nvPr/>
        </p:nvSpPr>
        <p:spPr>
          <a:xfrm>
            <a:off x="8839023" y="3590888"/>
            <a:ext cx="260488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Popular in the decision analysis and Bayesian optimization communities.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DAA7C60-25F4-D38A-68CE-0C400CC757DD}"/>
              </a:ext>
            </a:extLst>
          </p:cNvPr>
          <p:cNvSpPr txBox="1"/>
          <p:nvPr/>
        </p:nvSpPr>
        <p:spPr>
          <a:xfrm>
            <a:off x="8838801" y="4366694"/>
            <a:ext cx="260488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very powerful strategy for a very small number of specialized problems.</a:t>
            </a:r>
          </a:p>
        </p:txBody>
      </p:sp>
      <p:sp>
        <p:nvSpPr>
          <p:cNvPr id="10" name="Google Shape;4497;p100">
            <a:extLst>
              <a:ext uri="{FF2B5EF4-FFF2-40B4-BE49-F238E27FC236}">
                <a16:creationId xmlns:a16="http://schemas.microsoft.com/office/drawing/2014/main" id="{E421BF96-E6D0-AE8F-6A04-FBD6EA9DEA2D}"/>
              </a:ext>
            </a:extLst>
          </p:cNvPr>
          <p:cNvSpPr/>
          <p:nvPr/>
        </p:nvSpPr>
        <p:spPr>
          <a:xfrm rot="10800000">
            <a:off x="-12600" y="2155072"/>
            <a:ext cx="12204600" cy="1383342"/>
          </a:xfrm>
          <a:prstGeom prst="rect">
            <a:avLst/>
          </a:prstGeom>
          <a:solidFill>
            <a:srgbClr val="262699">
              <a:alpha val="509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4497;p100">
            <a:extLst>
              <a:ext uri="{FF2B5EF4-FFF2-40B4-BE49-F238E27FC236}">
                <a16:creationId xmlns:a16="http://schemas.microsoft.com/office/drawing/2014/main" id="{7130EC54-4512-F250-1A22-EC1A5C79CD7C}"/>
              </a:ext>
            </a:extLst>
          </p:cNvPr>
          <p:cNvSpPr/>
          <p:nvPr/>
        </p:nvSpPr>
        <p:spPr>
          <a:xfrm rot="10800000">
            <a:off x="-118412" y="3556168"/>
            <a:ext cx="12360402" cy="791882"/>
          </a:xfrm>
          <a:prstGeom prst="rect">
            <a:avLst/>
          </a:prstGeom>
          <a:solidFill>
            <a:schemeClr val="accent2">
              <a:lumMod val="75000"/>
              <a:alpha val="99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4497;p100">
            <a:extLst>
              <a:ext uri="{FF2B5EF4-FFF2-40B4-BE49-F238E27FC236}">
                <a16:creationId xmlns:a16="http://schemas.microsoft.com/office/drawing/2014/main" id="{4C005020-3081-1C2E-A43C-46B772AC6814}"/>
              </a:ext>
            </a:extLst>
          </p:cNvPr>
          <p:cNvSpPr/>
          <p:nvPr/>
        </p:nvSpPr>
        <p:spPr>
          <a:xfrm rot="10800000">
            <a:off x="-401" y="4361688"/>
            <a:ext cx="12204600" cy="737469"/>
          </a:xfrm>
          <a:prstGeom prst="rect">
            <a:avLst/>
          </a:prstGeom>
          <a:solidFill>
            <a:srgbClr val="262699">
              <a:alpha val="14902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4497;p100">
            <a:extLst>
              <a:ext uri="{FF2B5EF4-FFF2-40B4-BE49-F238E27FC236}">
                <a16:creationId xmlns:a16="http://schemas.microsoft.com/office/drawing/2014/main" id="{3D26AB87-3E2D-9814-0815-42BA7A5C9AF0}"/>
              </a:ext>
            </a:extLst>
          </p:cNvPr>
          <p:cNvSpPr/>
          <p:nvPr/>
        </p:nvSpPr>
        <p:spPr>
          <a:xfrm rot="10800000">
            <a:off x="-7799" y="5094730"/>
            <a:ext cx="12204600" cy="733339"/>
          </a:xfrm>
          <a:prstGeom prst="rect">
            <a:avLst/>
          </a:prstGeom>
          <a:solidFill>
            <a:srgbClr val="262699">
              <a:alpha val="25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6E5DABA-BB02-5A26-878D-68CC48D2E939}"/>
                  </a:ext>
                </a:extLst>
              </p:cNvPr>
              <p:cNvSpPr txBox="1"/>
              <p:nvPr/>
            </p:nvSpPr>
            <p:spPr>
              <a:xfrm>
                <a:off x="8348721" y="5080898"/>
                <a:ext cx="512896" cy="76315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begChr m:val=""/>
                          <m:endChr m:val="}"/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/>
                            </m:mr>
                            <m:mr>
                              <m:e/>
                            </m:mr>
                            <m:mr>
                              <m:e/>
                            </m:mr>
                          </m:m>
                        </m:e>
                      </m:d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6E5DABA-BB02-5A26-878D-68CC48D2E9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48721" y="5080898"/>
                <a:ext cx="512896" cy="76315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9BBDFF52-CAB0-C319-3301-1F66E9AB2BD9}"/>
              </a:ext>
            </a:extLst>
          </p:cNvPr>
          <p:cNvSpPr txBox="1"/>
          <p:nvPr/>
        </p:nvSpPr>
        <p:spPr>
          <a:xfrm>
            <a:off x="8839222" y="5090441"/>
            <a:ext cx="325216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is how deterministic optimizers handle uncertainty.  Almost no-one uses it in practice.</a:t>
            </a:r>
          </a:p>
        </p:txBody>
      </p:sp>
    </p:spTree>
    <p:extLst>
      <p:ext uri="{BB962C8B-B14F-4D97-AF65-F5344CB8AC3E}">
        <p14:creationId xmlns:p14="http://schemas.microsoft.com/office/powerpoint/2010/main" val="2027437197"/>
      </p:ext>
    </p:extLst>
  </p:cSld>
  <p:clrMapOvr>
    <a:masterClrMapping/>
  </p:clrMapOvr>
</p:sld>
</file>

<file path=ppt/slides/slide3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9" name="Google Shape;4469;p99"/>
          <p:cNvSpPr/>
          <p:nvPr/>
        </p:nvSpPr>
        <p:spPr>
          <a:xfrm rot="10800000">
            <a:off x="-12600" y="1782675"/>
            <a:ext cx="12204600" cy="2296800"/>
          </a:xfrm>
          <a:prstGeom prst="rect">
            <a:avLst/>
          </a:prstGeom>
          <a:solidFill>
            <a:schemeClr val="accent2">
              <a:lumMod val="75000"/>
              <a:alpha val="99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4457" name="Google Shape;4457;p9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30549" y="1938427"/>
            <a:ext cx="3621976" cy="8938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458" name="Google Shape;4458;p9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93065" y="1881966"/>
            <a:ext cx="4711700" cy="938213"/>
          </a:xfrm>
          <a:prstGeom prst="rect">
            <a:avLst/>
          </a:prstGeom>
          <a:noFill/>
          <a:ln>
            <a:noFill/>
          </a:ln>
        </p:spPr>
      </p:pic>
      <p:sp>
        <p:nvSpPr>
          <p:cNvPr id="4459" name="Google Shape;4459;p99"/>
          <p:cNvSpPr txBox="1"/>
          <p:nvPr/>
        </p:nvSpPr>
        <p:spPr>
          <a:xfrm flipH="1">
            <a:off x="1726626" y="1235950"/>
            <a:ext cx="31311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i="0" dirty="0">
                <a:solidFill>
                  <a:schemeClr val="dk1"/>
                </a:solidFill>
                <a:latin typeface="Raleway" pitchFamily="2" charset="0"/>
                <a:ea typeface="Raleway Thin"/>
                <a:cs typeface="Raleway Thin"/>
                <a:sym typeface="Raleway Thin"/>
              </a:rPr>
              <a:t>Machine learning</a:t>
            </a:r>
            <a:endParaRPr dirty="0">
              <a:latin typeface="Raleway" pitchFamily="2" charset="0"/>
              <a:ea typeface="Raleway Thin"/>
              <a:cs typeface="Raleway Thin"/>
              <a:sym typeface="Raleway Thin"/>
            </a:endParaRPr>
          </a:p>
        </p:txBody>
      </p:sp>
      <p:sp>
        <p:nvSpPr>
          <p:cNvPr id="4460" name="Google Shape;4460;p99"/>
          <p:cNvSpPr txBox="1"/>
          <p:nvPr/>
        </p:nvSpPr>
        <p:spPr>
          <a:xfrm flipH="1">
            <a:off x="6624218" y="1235956"/>
            <a:ext cx="3900091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i="0">
                <a:solidFill>
                  <a:schemeClr val="dk1"/>
                </a:solidFill>
                <a:latin typeface="Raleway" pitchFamily="2" charset="0"/>
                <a:ea typeface="Raleway Thin"/>
                <a:cs typeface="Raleway Thin"/>
                <a:sym typeface="Raleway Thin"/>
              </a:rPr>
              <a:t>Sequential decisions</a:t>
            </a:r>
            <a:endParaRPr>
              <a:latin typeface="Raleway" pitchFamily="2" charset="0"/>
              <a:ea typeface="Raleway Thin"/>
              <a:cs typeface="Raleway Thin"/>
              <a:sym typeface="Raleway Thin"/>
            </a:endParaRPr>
          </a:p>
        </p:txBody>
      </p:sp>
      <p:sp>
        <p:nvSpPr>
          <p:cNvPr id="4462" name="Google Shape;4462;p99"/>
          <p:cNvSpPr txBox="1"/>
          <p:nvPr/>
        </p:nvSpPr>
        <p:spPr>
          <a:xfrm>
            <a:off x="5861825" y="4222700"/>
            <a:ext cx="3131100" cy="384900"/>
          </a:xfrm>
          <a:prstGeom prst="rect">
            <a:avLst/>
          </a:prstGeom>
          <a:noFill/>
          <a:ln w="9525" cap="flat" cmpd="sng">
            <a:solidFill>
              <a:srgbClr val="0066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i="0">
                <a:solidFill>
                  <a:schemeClr val="dk1"/>
                </a:solidFill>
                <a:latin typeface="Oswald Regular"/>
                <a:ea typeface="Oswald Regular"/>
                <a:cs typeface="Oswald Regular"/>
                <a:sym typeface="Oswald Regular"/>
              </a:rPr>
              <a:t>Policy function approximations</a:t>
            </a:r>
            <a:endParaRPr sz="1900">
              <a:latin typeface="Oswald Regular"/>
              <a:ea typeface="Oswald Regular"/>
              <a:cs typeface="Oswald Regular"/>
              <a:sym typeface="Oswald Regular"/>
            </a:endParaRPr>
          </a:p>
        </p:txBody>
      </p:sp>
      <p:sp>
        <p:nvSpPr>
          <p:cNvPr id="4463" name="Google Shape;4463;p99"/>
          <p:cNvSpPr txBox="1"/>
          <p:nvPr/>
        </p:nvSpPr>
        <p:spPr>
          <a:xfrm>
            <a:off x="5852525" y="4687350"/>
            <a:ext cx="3131100" cy="384900"/>
          </a:xfrm>
          <a:prstGeom prst="rect">
            <a:avLst/>
          </a:prstGeom>
          <a:noFill/>
          <a:ln w="9525" cap="flat" cmpd="sng">
            <a:solidFill>
              <a:srgbClr val="0066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i="0">
                <a:solidFill>
                  <a:schemeClr val="dk1"/>
                </a:solidFill>
                <a:latin typeface="Oswald Regular"/>
                <a:ea typeface="Oswald Regular"/>
                <a:cs typeface="Oswald Regular"/>
                <a:sym typeface="Oswald Regular"/>
              </a:rPr>
              <a:t>Cost function approximations</a:t>
            </a:r>
            <a:endParaRPr sz="1900">
              <a:latin typeface="Oswald Regular"/>
              <a:ea typeface="Oswald Regular"/>
              <a:cs typeface="Oswald Regular"/>
              <a:sym typeface="Oswald Regular"/>
            </a:endParaRPr>
          </a:p>
        </p:txBody>
      </p:sp>
      <p:sp>
        <p:nvSpPr>
          <p:cNvPr id="4464" name="Google Shape;4464;p99"/>
          <p:cNvSpPr txBox="1"/>
          <p:nvPr/>
        </p:nvSpPr>
        <p:spPr>
          <a:xfrm>
            <a:off x="5858100" y="5172425"/>
            <a:ext cx="3131100" cy="384900"/>
          </a:xfrm>
          <a:prstGeom prst="rect">
            <a:avLst/>
          </a:prstGeom>
          <a:noFill/>
          <a:ln w="9525" cap="flat" cmpd="sng">
            <a:solidFill>
              <a:srgbClr val="0066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i="0">
                <a:solidFill>
                  <a:schemeClr val="dk1"/>
                </a:solidFill>
                <a:latin typeface="Oswald Regular"/>
                <a:ea typeface="Oswald Regular"/>
                <a:cs typeface="Oswald Regular"/>
                <a:sym typeface="Oswald Regular"/>
              </a:rPr>
              <a:t>Value function approximations</a:t>
            </a:r>
            <a:endParaRPr sz="1900">
              <a:latin typeface="Oswald Regular"/>
              <a:ea typeface="Oswald Regular"/>
              <a:cs typeface="Oswald Regular"/>
              <a:sym typeface="Oswald Regular"/>
            </a:endParaRPr>
          </a:p>
        </p:txBody>
      </p:sp>
      <p:sp>
        <p:nvSpPr>
          <p:cNvPr id="4465" name="Google Shape;4465;p99"/>
          <p:cNvSpPr txBox="1"/>
          <p:nvPr/>
        </p:nvSpPr>
        <p:spPr>
          <a:xfrm>
            <a:off x="5848824" y="5637050"/>
            <a:ext cx="3131100" cy="384900"/>
          </a:xfrm>
          <a:prstGeom prst="rect">
            <a:avLst/>
          </a:prstGeom>
          <a:noFill/>
          <a:ln w="9525" cap="flat" cmpd="sng">
            <a:solidFill>
              <a:srgbClr val="0066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i="0">
                <a:solidFill>
                  <a:schemeClr val="dk1"/>
                </a:solidFill>
                <a:latin typeface="Oswald Regular"/>
                <a:ea typeface="Oswald Regular"/>
                <a:cs typeface="Oswald Regular"/>
                <a:sym typeface="Oswald Regular"/>
              </a:rPr>
              <a:t>Direct lookahead approximations</a:t>
            </a:r>
            <a:endParaRPr sz="1900">
              <a:latin typeface="Oswald Regular"/>
              <a:ea typeface="Oswald Regular"/>
              <a:cs typeface="Oswald Regular"/>
              <a:sym typeface="Oswald Regular"/>
            </a:endParaRPr>
          </a:p>
        </p:txBody>
      </p:sp>
      <p:sp>
        <p:nvSpPr>
          <p:cNvPr id="4468" name="Google Shape;4468;p99"/>
          <p:cNvSpPr txBox="1"/>
          <p:nvPr/>
        </p:nvSpPr>
        <p:spPr>
          <a:xfrm>
            <a:off x="9617928" y="4227611"/>
            <a:ext cx="2267100" cy="384900"/>
          </a:xfrm>
          <a:prstGeom prst="rect">
            <a:avLst/>
          </a:prstGeom>
          <a:noFill/>
          <a:ln w="9525" cap="flat" cmpd="sng">
            <a:solidFill>
              <a:srgbClr val="0066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i="0">
                <a:solidFill>
                  <a:schemeClr val="dk1"/>
                </a:solidFill>
                <a:latin typeface="Oswald Regular"/>
                <a:ea typeface="Oswald Regular"/>
                <a:cs typeface="Oswald Regular"/>
                <a:sym typeface="Oswald Regular"/>
              </a:rPr>
              <a:t>Analytical functions</a:t>
            </a:r>
            <a:endParaRPr sz="1900">
              <a:latin typeface="Oswald Regular"/>
              <a:ea typeface="Oswald Regular"/>
              <a:cs typeface="Oswald Regular"/>
              <a:sym typeface="Oswald Regular"/>
            </a:endParaRPr>
          </a:p>
        </p:txBody>
      </p:sp>
      <p:pic>
        <p:nvPicPr>
          <p:cNvPr id="4467" name="Google Shape;4467;p99"/>
          <p:cNvPicPr preferRelativeResize="0"/>
          <p:nvPr/>
        </p:nvPicPr>
        <p:blipFill rotWithShape="1">
          <a:blip r:embed="rId5">
            <a:alphaModFix/>
          </a:blip>
          <a:srcRect t="455" b="465"/>
          <a:stretch/>
        </p:blipFill>
        <p:spPr>
          <a:xfrm>
            <a:off x="873884" y="4093750"/>
            <a:ext cx="2107563" cy="201950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470" name="Google Shape;4470;p99"/>
          <p:cNvGrpSpPr/>
          <p:nvPr/>
        </p:nvGrpSpPr>
        <p:grpSpPr>
          <a:xfrm>
            <a:off x="9133628" y="2005862"/>
            <a:ext cx="2856900" cy="1913168"/>
            <a:chOff x="6399908" y="1329481"/>
            <a:chExt cx="2856900" cy="1913168"/>
          </a:xfrm>
        </p:grpSpPr>
        <p:sp>
          <p:nvSpPr>
            <p:cNvPr id="4471" name="Google Shape;4471;p99"/>
            <p:cNvSpPr/>
            <p:nvPr/>
          </p:nvSpPr>
          <p:spPr>
            <a:xfrm>
              <a:off x="6415194" y="1329481"/>
              <a:ext cx="2385656" cy="604044"/>
            </a:xfrm>
            <a:prstGeom prst="ellipse">
              <a:avLst/>
            </a:prstGeom>
            <a:noFill/>
            <a:ln w="19050" cap="flat" cmpd="sng">
              <a:solidFill>
                <a:schemeClr val="accent2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472" name="Google Shape;4472;p99"/>
            <p:cNvSpPr txBox="1"/>
            <p:nvPr/>
          </p:nvSpPr>
          <p:spPr>
            <a:xfrm>
              <a:off x="6399908" y="2811849"/>
              <a:ext cx="2856900" cy="4308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 i="0" dirty="0">
                  <a:solidFill>
                    <a:srgbClr val="FFFFFF"/>
                  </a:solidFill>
                  <a:latin typeface="Oswald"/>
                  <a:ea typeface="Oswald"/>
                  <a:cs typeface="Oswald"/>
                  <a:sym typeface="Oswald"/>
                </a:rPr>
                <a:t>System model</a:t>
              </a:r>
              <a:endParaRPr sz="2200" dirty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endParaRPr>
            </a:p>
          </p:txBody>
        </p:sp>
        <p:cxnSp>
          <p:nvCxnSpPr>
            <p:cNvPr id="4473" name="Google Shape;4473;p99"/>
            <p:cNvCxnSpPr>
              <a:cxnSpLocks/>
              <a:stCxn id="4472" idx="0"/>
              <a:endCxn id="4471" idx="4"/>
            </p:cNvCxnSpPr>
            <p:nvPr/>
          </p:nvCxnSpPr>
          <p:spPr>
            <a:xfrm flipH="1" flipV="1">
              <a:off x="7608022" y="1933525"/>
              <a:ext cx="220336" cy="878324"/>
            </a:xfrm>
            <a:prstGeom prst="straightConnector1">
              <a:avLst/>
            </a:prstGeom>
            <a:noFill/>
            <a:ln w="19050" cap="flat" cmpd="sng">
              <a:solidFill>
                <a:schemeClr val="accent2">
                  <a:lumMod val="75000"/>
                </a:schemeClr>
              </a:solidFill>
              <a:prstDash val="solid"/>
              <a:round/>
              <a:headEnd type="none" w="sm" len="sm"/>
              <a:tailEnd type="stealth" w="med" len="med"/>
            </a:ln>
          </p:spPr>
        </p:cxnSp>
      </p:grpSp>
      <p:grpSp>
        <p:nvGrpSpPr>
          <p:cNvPr id="4474" name="Google Shape;4474;p99"/>
          <p:cNvGrpSpPr/>
          <p:nvPr/>
        </p:nvGrpSpPr>
        <p:grpSpPr>
          <a:xfrm>
            <a:off x="267147" y="2454508"/>
            <a:ext cx="3259200" cy="1431240"/>
            <a:chOff x="-301043" y="3407427"/>
            <a:chExt cx="3259200" cy="1431240"/>
          </a:xfrm>
        </p:grpSpPr>
        <p:sp>
          <p:nvSpPr>
            <p:cNvPr id="4475" name="Google Shape;4475;p99"/>
            <p:cNvSpPr/>
            <p:nvPr/>
          </p:nvSpPr>
          <p:spPr>
            <a:xfrm>
              <a:off x="1375292" y="3407427"/>
              <a:ext cx="933819" cy="462625"/>
            </a:xfrm>
            <a:prstGeom prst="ellipse">
              <a:avLst/>
            </a:prstGeom>
            <a:noFill/>
            <a:ln w="19050" cap="flat" cmpd="sng">
              <a:solidFill>
                <a:schemeClr val="accent2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1">
                <a:ln w="19050">
                  <a:solidFill>
                    <a:schemeClr val="tx1"/>
                  </a:solidFill>
                </a:ln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476" name="Google Shape;4476;p99"/>
            <p:cNvSpPr txBox="1"/>
            <p:nvPr/>
          </p:nvSpPr>
          <p:spPr>
            <a:xfrm>
              <a:off x="-301043" y="4407867"/>
              <a:ext cx="3259200" cy="4308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 i="0" dirty="0">
                  <a:solidFill>
                    <a:srgbClr val="FFFFFF"/>
                  </a:solidFill>
                  <a:latin typeface="Oswald"/>
                  <a:ea typeface="Oswald"/>
                  <a:cs typeface="Oswald"/>
                  <a:sym typeface="Oswald"/>
                </a:rPr>
                <a:t>Searching over functions</a:t>
              </a:r>
              <a:endParaRPr sz="1200" dirty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endParaRPr>
            </a:p>
          </p:txBody>
        </p:sp>
        <p:cxnSp>
          <p:nvCxnSpPr>
            <p:cNvPr id="4477" name="Google Shape;4477;p99"/>
            <p:cNvCxnSpPr>
              <a:stCxn id="4476" idx="0"/>
              <a:endCxn id="4475" idx="4"/>
            </p:cNvCxnSpPr>
            <p:nvPr/>
          </p:nvCxnSpPr>
          <p:spPr>
            <a:xfrm rot="10800000" flipH="1">
              <a:off x="1328557" y="3869967"/>
              <a:ext cx="513600" cy="537900"/>
            </a:xfrm>
            <a:prstGeom prst="straightConnector1">
              <a:avLst/>
            </a:prstGeom>
            <a:noFill/>
            <a:ln w="19050" cap="flat" cmpd="sng">
              <a:solidFill>
                <a:schemeClr val="accent2">
                  <a:lumMod val="75000"/>
                </a:schemeClr>
              </a:solidFill>
              <a:prstDash val="solid"/>
              <a:round/>
              <a:headEnd type="none" w="med" len="med"/>
              <a:tailEnd type="arrow" w="med" len="med"/>
            </a:ln>
          </p:spPr>
        </p:cxnSp>
      </p:grpSp>
      <p:grpSp>
        <p:nvGrpSpPr>
          <p:cNvPr id="4478" name="Google Shape;4478;p99"/>
          <p:cNvGrpSpPr/>
          <p:nvPr/>
        </p:nvGrpSpPr>
        <p:grpSpPr>
          <a:xfrm>
            <a:off x="5836230" y="2430814"/>
            <a:ext cx="3070200" cy="1482632"/>
            <a:chOff x="5066362" y="1469982"/>
            <a:chExt cx="3070200" cy="1482632"/>
          </a:xfrm>
        </p:grpSpPr>
        <p:sp>
          <p:nvSpPr>
            <p:cNvPr id="4479" name="Google Shape;4479;p99"/>
            <p:cNvSpPr/>
            <p:nvPr/>
          </p:nvSpPr>
          <p:spPr>
            <a:xfrm>
              <a:off x="5941613" y="1469982"/>
              <a:ext cx="1458030" cy="462625"/>
            </a:xfrm>
            <a:prstGeom prst="ellipse">
              <a:avLst/>
            </a:prstGeom>
            <a:noFill/>
            <a:ln w="19050" cap="flat" cmpd="sng">
              <a:solidFill>
                <a:schemeClr val="accent2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1">
                <a:ln w="19050">
                  <a:solidFill>
                    <a:schemeClr val="tx1"/>
                  </a:solidFill>
                </a:ln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480" name="Google Shape;4480;p99"/>
            <p:cNvSpPr txBox="1"/>
            <p:nvPr/>
          </p:nvSpPr>
          <p:spPr>
            <a:xfrm>
              <a:off x="5066362" y="2521814"/>
              <a:ext cx="3070200" cy="4308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 i="0" dirty="0">
                  <a:solidFill>
                    <a:srgbClr val="FFFFFF"/>
                  </a:solidFill>
                  <a:latin typeface="Oswald"/>
                  <a:ea typeface="Oswald"/>
                  <a:cs typeface="Oswald"/>
                  <a:sym typeface="Oswald"/>
                </a:rPr>
                <a:t>Searching over policies</a:t>
              </a:r>
              <a:endParaRPr sz="2200" dirty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endParaRPr>
            </a:p>
          </p:txBody>
        </p:sp>
        <p:cxnSp>
          <p:nvCxnSpPr>
            <p:cNvPr id="4481" name="Google Shape;4481;p99"/>
            <p:cNvCxnSpPr>
              <a:stCxn id="4480" idx="0"/>
              <a:endCxn id="4479" idx="4"/>
            </p:cNvCxnSpPr>
            <p:nvPr/>
          </p:nvCxnSpPr>
          <p:spPr>
            <a:xfrm rot="10800000" flipH="1">
              <a:off x="6601462" y="1932614"/>
              <a:ext cx="69300" cy="589200"/>
            </a:xfrm>
            <a:prstGeom prst="straightConnector1">
              <a:avLst/>
            </a:prstGeom>
            <a:noFill/>
            <a:ln w="19050" cap="flat" cmpd="sng">
              <a:solidFill>
                <a:schemeClr val="accent2">
                  <a:lumMod val="75000"/>
                </a:schemeClr>
              </a:solidFill>
              <a:prstDash val="solid"/>
              <a:round/>
              <a:headEnd type="none" w="sm" len="sm"/>
              <a:tailEnd type="stealth" w="med" len="med"/>
            </a:ln>
          </p:spPr>
        </p:cxnSp>
      </p:grpSp>
      <p:grpSp>
        <p:nvGrpSpPr>
          <p:cNvPr id="4482" name="Google Shape;4482;p99"/>
          <p:cNvGrpSpPr/>
          <p:nvPr/>
        </p:nvGrpSpPr>
        <p:grpSpPr>
          <a:xfrm>
            <a:off x="3536325" y="1979293"/>
            <a:ext cx="1921503" cy="1918711"/>
            <a:chOff x="4222125" y="2893693"/>
            <a:chExt cx="1921503" cy="1918711"/>
          </a:xfrm>
        </p:grpSpPr>
        <p:grpSp>
          <p:nvGrpSpPr>
            <p:cNvPr id="4483" name="Google Shape;4483;p99"/>
            <p:cNvGrpSpPr/>
            <p:nvPr/>
          </p:nvGrpSpPr>
          <p:grpSpPr>
            <a:xfrm>
              <a:off x="4222125" y="2893693"/>
              <a:ext cx="1314453" cy="1487911"/>
              <a:chOff x="3576268" y="2552597"/>
              <a:chExt cx="1312878" cy="1457022"/>
            </a:xfrm>
          </p:grpSpPr>
          <p:grpSp>
            <p:nvGrpSpPr>
              <p:cNvPr id="4484" name="Google Shape;4484;p99"/>
              <p:cNvGrpSpPr/>
              <p:nvPr/>
            </p:nvGrpSpPr>
            <p:grpSpPr>
              <a:xfrm>
                <a:off x="3576268" y="2578614"/>
                <a:ext cx="1004847" cy="1431005"/>
                <a:chOff x="1386444" y="3213683"/>
                <a:chExt cx="1004847" cy="1431005"/>
              </a:xfrm>
            </p:grpSpPr>
            <p:sp>
              <p:nvSpPr>
                <p:cNvPr id="4485" name="Google Shape;4485;p99"/>
                <p:cNvSpPr/>
                <p:nvPr/>
              </p:nvSpPr>
              <p:spPr>
                <a:xfrm>
                  <a:off x="1386444" y="3213683"/>
                  <a:ext cx="424500" cy="710400"/>
                </a:xfrm>
                <a:prstGeom prst="ellipse">
                  <a:avLst/>
                </a:prstGeom>
                <a:noFill/>
                <a:ln w="19050" cap="flat" cmpd="sng">
                  <a:solidFill>
                    <a:schemeClr val="accent2">
                      <a:lumMod val="75000"/>
                    </a:schemeClr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i="1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cxnSp>
              <p:nvCxnSpPr>
                <p:cNvPr id="4486" name="Google Shape;4486;p99"/>
                <p:cNvCxnSpPr>
                  <a:stCxn id="4487" idx="0"/>
                  <a:endCxn id="4485" idx="4"/>
                </p:cNvCxnSpPr>
                <p:nvPr/>
              </p:nvCxnSpPr>
              <p:spPr>
                <a:xfrm rot="10800000">
                  <a:off x="1598692" y="3924088"/>
                  <a:ext cx="792600" cy="7206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accent2">
                      <a:lumMod val="75000"/>
                    </a:schemeClr>
                  </a:solidFill>
                  <a:prstDash val="solid"/>
                  <a:round/>
                  <a:headEnd type="none" w="sm" len="sm"/>
                  <a:tailEnd type="stealth" w="med" len="med"/>
                </a:ln>
              </p:spPr>
            </p:cxnSp>
          </p:grpSp>
          <p:sp>
            <p:nvSpPr>
              <p:cNvPr id="4488" name="Google Shape;4488;p99"/>
              <p:cNvSpPr/>
              <p:nvPr/>
            </p:nvSpPr>
            <p:spPr>
              <a:xfrm>
                <a:off x="4464646" y="2552597"/>
                <a:ext cx="424500" cy="710400"/>
              </a:xfrm>
              <a:prstGeom prst="ellipse">
                <a:avLst/>
              </a:prstGeom>
              <a:noFill/>
              <a:ln w="19050" cap="flat" cmpd="sng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i="1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cxnSp>
            <p:nvCxnSpPr>
              <p:cNvPr id="4489" name="Google Shape;4489;p99"/>
              <p:cNvCxnSpPr>
                <a:stCxn id="4487" idx="0"/>
                <a:endCxn id="4488" idx="4"/>
              </p:cNvCxnSpPr>
              <p:nvPr/>
            </p:nvCxnSpPr>
            <p:spPr>
              <a:xfrm rot="10800000" flipH="1">
                <a:off x="4581116" y="3262919"/>
                <a:ext cx="95700" cy="746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accent2">
                    <a:lumMod val="75000"/>
                  </a:schemeClr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</p:grpSp>
        <p:sp>
          <p:nvSpPr>
            <p:cNvPr id="4487" name="Google Shape;4487;p99"/>
            <p:cNvSpPr txBox="1"/>
            <p:nvPr/>
          </p:nvSpPr>
          <p:spPr>
            <a:xfrm>
              <a:off x="4312728" y="4381604"/>
              <a:ext cx="1830900" cy="4308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 i="0">
                  <a:solidFill>
                    <a:srgbClr val="FFFFFF"/>
                  </a:solidFill>
                  <a:latin typeface="Oswald"/>
                  <a:ea typeface="Oswald"/>
                  <a:cs typeface="Oswald"/>
                  <a:sym typeface="Oswald"/>
                </a:rPr>
                <a:t>“Big dataset”</a:t>
              </a:r>
              <a:endParaRPr sz="12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endParaRPr>
            </a:p>
          </p:txBody>
        </p:sp>
      </p:grpSp>
      <p:sp>
        <p:nvSpPr>
          <p:cNvPr id="4490" name="Google Shape;4490;p99"/>
          <p:cNvSpPr txBox="1"/>
          <p:nvPr/>
        </p:nvSpPr>
        <p:spPr>
          <a:xfrm>
            <a:off x="9617928" y="4684811"/>
            <a:ext cx="2267100" cy="384900"/>
          </a:xfrm>
          <a:prstGeom prst="rect">
            <a:avLst/>
          </a:prstGeom>
          <a:noFill/>
          <a:ln w="9525" cap="flat" cmpd="sng">
            <a:solidFill>
              <a:srgbClr val="0066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Oswald Regular"/>
                <a:ea typeface="Oswald Regular"/>
                <a:cs typeface="Oswald Regular"/>
                <a:sym typeface="Oswald Regular"/>
              </a:rPr>
              <a:t>Optimization problem</a:t>
            </a:r>
            <a:endParaRPr sz="1900">
              <a:latin typeface="Oswald Regular"/>
              <a:ea typeface="Oswald Regular"/>
              <a:cs typeface="Oswald Regular"/>
              <a:sym typeface="Oswald Regular"/>
            </a:endParaRPr>
          </a:p>
        </p:txBody>
      </p:sp>
      <p:sp>
        <p:nvSpPr>
          <p:cNvPr id="4491" name="Google Shape;4491;p99"/>
          <p:cNvSpPr txBox="1"/>
          <p:nvPr/>
        </p:nvSpPr>
        <p:spPr>
          <a:xfrm>
            <a:off x="9617928" y="5142011"/>
            <a:ext cx="2267100" cy="384900"/>
          </a:xfrm>
          <a:prstGeom prst="rect">
            <a:avLst/>
          </a:prstGeom>
          <a:noFill/>
          <a:ln w="9525" cap="flat" cmpd="sng">
            <a:solidFill>
              <a:srgbClr val="0066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Oswald Regular"/>
                <a:ea typeface="Oswald Regular"/>
                <a:cs typeface="Oswald Regular"/>
                <a:sym typeface="Oswald Regular"/>
              </a:rPr>
              <a:t>Optimization problem</a:t>
            </a:r>
            <a:endParaRPr sz="1900">
              <a:latin typeface="Oswald Regular"/>
              <a:ea typeface="Oswald Regular"/>
              <a:cs typeface="Oswald Regular"/>
              <a:sym typeface="Oswald Regular"/>
            </a:endParaRPr>
          </a:p>
        </p:txBody>
      </p:sp>
      <p:sp>
        <p:nvSpPr>
          <p:cNvPr id="4492" name="Google Shape;4492;p99"/>
          <p:cNvSpPr txBox="1"/>
          <p:nvPr/>
        </p:nvSpPr>
        <p:spPr>
          <a:xfrm>
            <a:off x="9617928" y="5599211"/>
            <a:ext cx="2267100" cy="384900"/>
          </a:xfrm>
          <a:prstGeom prst="rect">
            <a:avLst/>
          </a:prstGeom>
          <a:noFill/>
          <a:ln w="9525" cap="flat" cmpd="sng">
            <a:solidFill>
              <a:srgbClr val="0066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Oswald Regular"/>
                <a:ea typeface="Oswald Regular"/>
                <a:cs typeface="Oswald Regular"/>
                <a:sym typeface="Oswald Regular"/>
              </a:rPr>
              <a:t>Optimization problem</a:t>
            </a:r>
            <a:endParaRPr sz="1900">
              <a:latin typeface="Oswald Regular"/>
              <a:ea typeface="Oswald Regular"/>
              <a:cs typeface="Oswald Regular"/>
              <a:sym typeface="Oswald Regular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12F7EE7-26C2-4C1F-BA5D-F951505BEB65}"/>
                  </a:ext>
                </a:extLst>
              </p:cNvPr>
              <p:cNvSpPr txBox="1"/>
              <p:nvPr/>
            </p:nvSpPr>
            <p:spPr>
              <a:xfrm>
                <a:off x="7982772" y="2871554"/>
                <a:ext cx="239256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sup>
                      </m:sSup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12F7EE7-26C2-4C1F-BA5D-F951505BEB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2772" y="2871554"/>
                <a:ext cx="2392567" cy="338554"/>
              </a:xfrm>
              <a:prstGeom prst="rect">
                <a:avLst/>
              </a:prstGeom>
              <a:blipFill>
                <a:blip r:embed="rId6"/>
                <a:stretch>
                  <a:fillRect b="-10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Google Shape;4471;p99">
            <a:extLst>
              <a:ext uri="{FF2B5EF4-FFF2-40B4-BE49-F238E27FC236}">
                <a16:creationId xmlns:a16="http://schemas.microsoft.com/office/drawing/2014/main" id="{154B0348-6336-4EA5-9913-1F9761DA8AD1}"/>
              </a:ext>
            </a:extLst>
          </p:cNvPr>
          <p:cNvSpPr/>
          <p:nvPr/>
        </p:nvSpPr>
        <p:spPr>
          <a:xfrm>
            <a:off x="8062799" y="2794422"/>
            <a:ext cx="2198652" cy="507605"/>
          </a:xfrm>
          <a:prstGeom prst="ellipse">
            <a:avLst/>
          </a:prstGeom>
          <a:noFill/>
          <a:ln w="19050" cap="flat" cmpd="sng">
            <a:solidFill>
              <a:schemeClr val="accent2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i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43" name="Google Shape;4473;p99">
            <a:extLst>
              <a:ext uri="{FF2B5EF4-FFF2-40B4-BE49-F238E27FC236}">
                <a16:creationId xmlns:a16="http://schemas.microsoft.com/office/drawing/2014/main" id="{5664772B-BB11-43F9-961D-FE05FC0DE8AD}"/>
              </a:ext>
            </a:extLst>
          </p:cNvPr>
          <p:cNvCxnSpPr>
            <a:cxnSpLocks/>
            <a:stCxn id="4472" idx="0"/>
            <a:endCxn id="42" idx="5"/>
          </p:cNvCxnSpPr>
          <p:nvPr/>
        </p:nvCxnSpPr>
        <p:spPr>
          <a:xfrm flipH="1" flipV="1">
            <a:off x="9939466" y="3227690"/>
            <a:ext cx="622612" cy="260540"/>
          </a:xfrm>
          <a:prstGeom prst="straightConnector1">
            <a:avLst/>
          </a:prstGeom>
          <a:noFill/>
          <a:ln w="19050" cap="flat" cmpd="sng">
            <a:solidFill>
              <a:schemeClr val="accent2">
                <a:lumMod val="75000"/>
              </a:schemeClr>
            </a:solidFill>
            <a:prstDash val="solid"/>
            <a:round/>
            <a:headEnd type="none" w="sm" len="sm"/>
            <a:tailEnd type="stealth" w="med" len="med"/>
          </a:ln>
        </p:spPr>
      </p:cxnSp>
      <p:grpSp>
        <p:nvGrpSpPr>
          <p:cNvPr id="7" name="Group 6">
            <a:extLst>
              <a:ext uri="{FF2B5EF4-FFF2-40B4-BE49-F238E27FC236}">
                <a16:creationId xmlns:a16="http://schemas.microsoft.com/office/drawing/2014/main" id="{AF8F69E9-7727-5B01-4F65-92FF41870E0E}"/>
              </a:ext>
            </a:extLst>
          </p:cNvPr>
          <p:cNvGrpSpPr/>
          <p:nvPr/>
        </p:nvGrpSpPr>
        <p:grpSpPr>
          <a:xfrm>
            <a:off x="2755673" y="4171182"/>
            <a:ext cx="3106152" cy="1901546"/>
            <a:chOff x="2755673" y="4171182"/>
            <a:chExt cx="3106152" cy="1901546"/>
          </a:xfrm>
        </p:grpSpPr>
        <p:cxnSp>
          <p:nvCxnSpPr>
            <p:cNvPr id="4466" name="Google Shape;4466;p99"/>
            <p:cNvCxnSpPr>
              <a:cxnSpLocks/>
              <a:stCxn id="5" idx="3"/>
              <a:endCxn id="4462" idx="1"/>
            </p:cNvCxnSpPr>
            <p:nvPr/>
          </p:nvCxnSpPr>
          <p:spPr>
            <a:xfrm flipV="1">
              <a:off x="3278060" y="4415150"/>
              <a:ext cx="2583765" cy="706805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50C76858-20CE-E8BC-5100-1735E74E0DAC}"/>
                    </a:ext>
                  </a:extLst>
                </p:cNvPr>
                <p:cNvSpPr txBox="1"/>
                <p:nvPr/>
              </p:nvSpPr>
              <p:spPr>
                <a:xfrm>
                  <a:off x="2755673" y="4171182"/>
                  <a:ext cx="522387" cy="190154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d>
                          <m:dPr>
                            <m:begChr m:val=""/>
                            <m:endChr m:val="}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/>
                              </m:mr>
                              <m:mr>
                                <m:e/>
                              </m:mr>
                              <m:m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1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/>
                                    </m:mr>
                                    <m:mr>
                                      <m:e/>
                                    </m:mr>
                                    <m:mr>
                                      <m:e>
                                        <m:m>
                                          <m:mPr>
                                            <m:mcs>
                                              <m:mc>
                                                <m:mcPr>
                                                  <m:count m:val="1"/>
                                                  <m:mcJc m:val="center"/>
                                                </m:mcPr>
                                              </m:mc>
                                            </m:mcs>
                                            <m:ctrlPr>
                                              <a:rPr lang="en-US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mPr>
                                          <m:mr>
                                            <m:e/>
                                          </m:mr>
                                          <m:mr>
                                            <m:e/>
                                          </m:mr>
                                          <m:mr>
                                            <m:e>
                                              <m:m>
                                                <m:mPr>
                                                  <m:mcs>
                                                    <m:mc>
                                                      <m:mcPr>
                                                        <m:count m:val="1"/>
                                                        <m:mcJc m:val="center"/>
                                                      </m:mcPr>
                                                    </m:mc>
                                                  </m:mcs>
                                                  <m:ctrlPr>
                                                    <a:rPr lang="en-US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mPr>
                                                <m:mr>
                                                  <m:e/>
                                                </m:mr>
                                                <m:mr>
                                                  <m:e/>
                                                </m:mr>
                                                <m:mr>
                                                  <m:e/>
                                                </m:mr>
                                              </m:m>
                                            </m:e>
                                          </m:mr>
                                        </m:m>
                                      </m:e>
                                    </m:mr>
                                  </m:m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50C76858-20CE-E8BC-5100-1735E74E0DA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55673" y="4171182"/>
                  <a:ext cx="522387" cy="1901546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AA7FFE46-49A4-8D37-C783-7892354097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1700" y="353850"/>
            <a:ext cx="8283900" cy="550500"/>
          </a:xfrm>
        </p:spPr>
        <p:txBody>
          <a:bodyPr/>
          <a:lstStyle/>
          <a:p>
            <a:r>
              <a:rPr lang="en-US" dirty="0"/>
              <a:t>Choosing policies</a:t>
            </a:r>
          </a:p>
        </p:txBody>
      </p:sp>
    </p:spTree>
    <p:extLst>
      <p:ext uri="{BB962C8B-B14F-4D97-AF65-F5344CB8AC3E}">
        <p14:creationId xmlns:p14="http://schemas.microsoft.com/office/powerpoint/2010/main" val="1223042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50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000"/>
                            </p:stCondLst>
                            <p:childTnLst>
                              <p:par>
                                <p:cTn id="3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500"/>
                            </p:stCondLst>
                            <p:childTnLst>
                              <p:par>
                                <p:cTn id="3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3" name="Google Shape;3373;p69"/>
          <p:cNvSpPr/>
          <p:nvPr/>
        </p:nvSpPr>
        <p:spPr>
          <a:xfrm rot="10800000">
            <a:off x="-8150" y="1783923"/>
            <a:ext cx="12206400" cy="2287500"/>
          </a:xfrm>
          <a:prstGeom prst="rect">
            <a:avLst/>
          </a:prstGeom>
          <a:solidFill>
            <a:schemeClr val="accent2">
              <a:lumMod val="60000"/>
              <a:lumOff val="40000"/>
              <a:alpha val="99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76" name="Google Shape;3376;p69"/>
          <p:cNvSpPr txBox="1"/>
          <p:nvPr/>
        </p:nvSpPr>
        <p:spPr>
          <a:xfrm flipH="1">
            <a:off x="1839326" y="1235950"/>
            <a:ext cx="31293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i="0" dirty="0">
                <a:solidFill>
                  <a:schemeClr val="dk1"/>
                </a:solidFill>
                <a:latin typeface="Raleway" pitchFamily="2" charset="0"/>
                <a:ea typeface="Raleway Thin"/>
                <a:cs typeface="Raleway Thin"/>
                <a:sym typeface="Raleway Thin"/>
              </a:rPr>
              <a:t>Machine learning</a:t>
            </a:r>
            <a:endParaRPr dirty="0">
              <a:latin typeface="Raleway" pitchFamily="2" charset="0"/>
              <a:ea typeface="Raleway Thin"/>
              <a:cs typeface="Raleway Thin"/>
              <a:sym typeface="Raleway Thin"/>
            </a:endParaRPr>
          </a:p>
        </p:txBody>
      </p:sp>
      <p:sp>
        <p:nvSpPr>
          <p:cNvPr id="3377" name="Google Shape;3377;p69"/>
          <p:cNvSpPr txBox="1"/>
          <p:nvPr/>
        </p:nvSpPr>
        <p:spPr>
          <a:xfrm flipH="1">
            <a:off x="6624309" y="1235956"/>
            <a:ext cx="4125674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i="0" dirty="0">
                <a:solidFill>
                  <a:schemeClr val="dk1"/>
                </a:solidFill>
                <a:latin typeface="Raleway" pitchFamily="2" charset="0"/>
                <a:ea typeface="Raleway Thin"/>
                <a:cs typeface="Raleway Thin"/>
                <a:sym typeface="Raleway Thin"/>
              </a:rPr>
              <a:t>Parameterized policies</a:t>
            </a:r>
            <a:endParaRPr dirty="0">
              <a:latin typeface="Raleway" pitchFamily="2" charset="0"/>
              <a:ea typeface="Raleway Thin"/>
              <a:cs typeface="Raleway Thin"/>
              <a:sym typeface="Raleway Thin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95526838-A7D0-4E74-9D24-D32BC11AB71B}"/>
                  </a:ext>
                </a:extLst>
              </p:cNvPr>
              <p:cNvSpPr txBox="1"/>
              <p:nvPr/>
            </p:nvSpPr>
            <p:spPr>
              <a:xfrm>
                <a:off x="7982772" y="2993478"/>
                <a:ext cx="239256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sup>
                      </m:sSup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95526838-A7D0-4E74-9D24-D32BC11AB7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2772" y="2993478"/>
                <a:ext cx="2392567" cy="338554"/>
              </a:xfrm>
              <a:prstGeom prst="rect">
                <a:avLst/>
              </a:prstGeom>
              <a:blipFill>
                <a:blip r:embed="rId3"/>
                <a:stretch>
                  <a:fillRect b="-10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2667F41-6944-593F-EC82-D992A68C7B9C}"/>
                  </a:ext>
                </a:extLst>
              </p:cNvPr>
              <p:cNvSpPr txBox="1"/>
              <p:nvPr/>
            </p:nvSpPr>
            <p:spPr>
              <a:xfrm>
                <a:off x="1442017" y="1884340"/>
                <a:ext cx="4382546" cy="113082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lim>
                          </m:limLow>
                        </m:fName>
                        <m:e>
                          <m:func>
                            <m:func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sz="2400" b="0" i="0" smtClean="0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400" b="0" i="0" smtClean="0">
                                      <a:latin typeface="Cambria Math" panose="02040503050406030204" pitchFamily="18" charset="0"/>
                                    </a:rPr>
                                    <m:t>min</m:t>
                                  </m:r>
                                </m:e>
                                <m:lim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∈</m:t>
                                  </m:r>
                                  <m:sSup>
                                    <m:sSupPr>
                                      <m:ctrlPr>
                                        <a:rPr lang="en-US" sz="2400" b="0" i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2400" b="0" i="0" smtClean="0">
                                          <a:latin typeface="Cambria Math" panose="02040503050406030204" pitchFamily="18" charset="0"/>
                                        </a:rPr>
                                        <m:t>Θ</m:t>
                                      </m:r>
                                    </m:e>
                                    <m:sup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sup>
                                  </m:sSup>
                                </m:lim>
                              </m:limLow>
                            </m:fName>
                            <m:e>
                              <m:f>
                                <m:f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den>
                              </m:f>
                              <m:nary>
                                <m:naryPr>
                                  <m:chr m:val="∑"/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m:rPr>
                                      <m:brk m:alnAt="23"/>
                                    </m:r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p>
                                            <m:sSupPr>
                                              <m:ctrlPr>
                                                <a:rPr lang="en-US" sz="24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sz="24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sz="24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𝑛</m:t>
                                              </m:r>
                                            </m:sup>
                                          </m:sSup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  <m:d>
                                            <m:dPr>
                                              <m:ctrlPr>
                                                <a:rPr lang="en-US" sz="24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p>
                                                <m:sSupPr>
                                                  <m:ctrlPr>
                                                    <a:rPr lang="en-US" sz="24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pPr>
                                                <m:e>
                                                  <m:r>
                                                    <a:rPr lang="en-US" sz="24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p>
                                                  <m:r>
                                                    <a:rPr lang="en-US" sz="24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𝑛</m:t>
                                                  </m:r>
                                                </m:sup>
                                              </m:sSup>
                                            </m:e>
                                            <m:e>
                                              <m:r>
                                                <a:rPr lang="en-US" sz="24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𝜃</m:t>
                                              </m:r>
                                            </m:e>
                                          </m:d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</m:func>
                        </m:e>
                      </m:func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2667F41-6944-593F-EC82-D992A68C7B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2017" y="1884340"/>
                <a:ext cx="4382546" cy="113082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385" name="Google Shape;3385;p69"/>
          <p:cNvGrpSpPr/>
          <p:nvPr/>
        </p:nvGrpSpPr>
        <p:grpSpPr>
          <a:xfrm>
            <a:off x="201312" y="2454508"/>
            <a:ext cx="2714300" cy="1431240"/>
            <a:chOff x="-366878" y="3407427"/>
            <a:chExt cx="2714300" cy="1431240"/>
          </a:xfrm>
        </p:grpSpPr>
        <p:sp>
          <p:nvSpPr>
            <p:cNvPr id="3386" name="Google Shape;3386;p69"/>
            <p:cNvSpPr/>
            <p:nvPr/>
          </p:nvSpPr>
          <p:spPr>
            <a:xfrm>
              <a:off x="994901" y="3407427"/>
              <a:ext cx="550281" cy="462600"/>
            </a:xfrm>
            <a:prstGeom prst="ellipse">
              <a:avLst/>
            </a:prstGeom>
            <a:noFill/>
            <a:ln w="19050" cap="flat" cmpd="sng">
              <a:solidFill>
                <a:schemeClr val="accent2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87" name="Google Shape;3387;p69"/>
            <p:cNvSpPr txBox="1"/>
            <p:nvPr/>
          </p:nvSpPr>
          <p:spPr>
            <a:xfrm>
              <a:off x="-366878" y="4407867"/>
              <a:ext cx="2714300" cy="4308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 i="0" dirty="0">
                  <a:solidFill>
                    <a:srgbClr val="FFFFFF"/>
                  </a:solidFill>
                  <a:latin typeface="Oswald"/>
                  <a:ea typeface="Oswald"/>
                  <a:cs typeface="Oswald"/>
                  <a:sym typeface="Oswald"/>
                </a:rPr>
                <a:t>Searching over functions</a:t>
              </a:r>
              <a:endParaRPr sz="1200" dirty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endParaRPr>
            </a:p>
          </p:txBody>
        </p:sp>
        <p:cxnSp>
          <p:nvCxnSpPr>
            <p:cNvPr id="3388" name="Google Shape;3388;p69"/>
            <p:cNvCxnSpPr>
              <a:cxnSpLocks/>
              <a:stCxn id="3387" idx="0"/>
              <a:endCxn id="3386" idx="4"/>
            </p:cNvCxnSpPr>
            <p:nvPr/>
          </p:nvCxnSpPr>
          <p:spPr>
            <a:xfrm flipV="1">
              <a:off x="990272" y="3870027"/>
              <a:ext cx="279770" cy="537840"/>
            </a:xfrm>
            <a:prstGeom prst="straightConnector1">
              <a:avLst/>
            </a:prstGeom>
            <a:noFill/>
            <a:ln w="19050" cap="flat" cmpd="sng">
              <a:solidFill>
                <a:schemeClr val="accent2">
                  <a:lumMod val="75000"/>
                </a:schemeClr>
              </a:solidFill>
              <a:prstDash val="solid"/>
              <a:round/>
              <a:headEnd type="none" w="sm" len="sm"/>
              <a:tailEnd type="stealth" w="med" len="med"/>
            </a:ln>
          </p:spPr>
        </p:cxnSp>
      </p:grpSp>
      <p:grpSp>
        <p:nvGrpSpPr>
          <p:cNvPr id="5" name="Google Shape;3385;p69">
            <a:extLst>
              <a:ext uri="{FF2B5EF4-FFF2-40B4-BE49-F238E27FC236}">
                <a16:creationId xmlns:a16="http://schemas.microsoft.com/office/drawing/2014/main" id="{499733FC-DD26-8E24-A129-46405E82D37F}"/>
              </a:ext>
            </a:extLst>
          </p:cNvPr>
          <p:cNvGrpSpPr/>
          <p:nvPr/>
        </p:nvGrpSpPr>
        <p:grpSpPr>
          <a:xfrm>
            <a:off x="2113372" y="2454508"/>
            <a:ext cx="3301076" cy="1437335"/>
            <a:chOff x="-1262634" y="3401332"/>
            <a:chExt cx="3301076" cy="1437335"/>
          </a:xfrm>
        </p:grpSpPr>
        <p:sp>
          <p:nvSpPr>
            <p:cNvPr id="6" name="Google Shape;3386;p69">
              <a:extLst>
                <a:ext uri="{FF2B5EF4-FFF2-40B4-BE49-F238E27FC236}">
                  <a16:creationId xmlns:a16="http://schemas.microsoft.com/office/drawing/2014/main" id="{3F4F3F35-D3F0-C876-D07D-7F5B8AE813C1}"/>
                </a:ext>
              </a:extLst>
            </p:cNvPr>
            <p:cNvSpPr/>
            <p:nvPr/>
          </p:nvSpPr>
          <p:spPr>
            <a:xfrm>
              <a:off x="-1262634" y="3401332"/>
              <a:ext cx="659849" cy="462600"/>
            </a:xfrm>
            <a:prstGeom prst="ellipse">
              <a:avLst/>
            </a:prstGeom>
            <a:noFill/>
            <a:ln w="19050" cap="flat" cmpd="sng">
              <a:solidFill>
                <a:schemeClr val="accent2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" name="Google Shape;3387;p69">
              <a:extLst>
                <a:ext uri="{FF2B5EF4-FFF2-40B4-BE49-F238E27FC236}">
                  <a16:creationId xmlns:a16="http://schemas.microsoft.com/office/drawing/2014/main" id="{78953D59-303B-8159-2D3C-114BED34CA40}"/>
                </a:ext>
              </a:extLst>
            </p:cNvPr>
            <p:cNvSpPr txBox="1"/>
            <p:nvPr/>
          </p:nvSpPr>
          <p:spPr>
            <a:xfrm>
              <a:off x="-301043" y="4407867"/>
              <a:ext cx="2339485" cy="4308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 i="0" dirty="0">
                  <a:solidFill>
                    <a:srgbClr val="FFFFFF"/>
                  </a:solidFill>
                  <a:latin typeface="Oswald"/>
                  <a:ea typeface="Oswald"/>
                  <a:cs typeface="Oswald"/>
                  <a:sym typeface="Oswald"/>
                </a:rPr>
                <a:t>Parameter tuning</a:t>
              </a:r>
              <a:endParaRPr sz="1200" dirty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endParaRPr>
            </a:p>
          </p:txBody>
        </p:sp>
        <p:cxnSp>
          <p:nvCxnSpPr>
            <p:cNvPr id="8" name="Google Shape;3388;p69">
              <a:extLst>
                <a:ext uri="{FF2B5EF4-FFF2-40B4-BE49-F238E27FC236}">
                  <a16:creationId xmlns:a16="http://schemas.microsoft.com/office/drawing/2014/main" id="{F4F32556-8C31-3250-162C-C43789F5CDFE}"/>
                </a:ext>
              </a:extLst>
            </p:cNvPr>
            <p:cNvCxnSpPr>
              <a:cxnSpLocks/>
              <a:stCxn id="7" idx="0"/>
              <a:endCxn id="6" idx="4"/>
            </p:cNvCxnSpPr>
            <p:nvPr/>
          </p:nvCxnSpPr>
          <p:spPr>
            <a:xfrm flipH="1" flipV="1">
              <a:off x="-932709" y="3863932"/>
              <a:ext cx="1801409" cy="543935"/>
            </a:xfrm>
            <a:prstGeom prst="straightConnector1">
              <a:avLst/>
            </a:prstGeom>
            <a:noFill/>
            <a:ln w="19050" cap="flat" cmpd="sng">
              <a:solidFill>
                <a:schemeClr val="accent2">
                  <a:lumMod val="75000"/>
                </a:schemeClr>
              </a:solidFill>
              <a:prstDash val="solid"/>
              <a:round/>
              <a:headEnd type="none" w="sm" len="sm"/>
              <a:tailEnd type="stealth" w="med" len="med"/>
            </a:ln>
          </p:spPr>
        </p:cxn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34ED703-9C91-99AE-6AD3-C51D90B56816}"/>
              </a:ext>
            </a:extLst>
          </p:cNvPr>
          <p:cNvGrpSpPr/>
          <p:nvPr/>
        </p:nvGrpSpPr>
        <p:grpSpPr>
          <a:xfrm>
            <a:off x="134549" y="4171842"/>
            <a:ext cx="5354396" cy="1676388"/>
            <a:chOff x="134549" y="3945417"/>
            <a:chExt cx="5354396" cy="1676388"/>
          </a:xfrm>
        </p:grpSpPr>
        <p:pic>
          <p:nvPicPr>
            <p:cNvPr id="18" name="Google Shape;3329;p67">
              <a:extLst>
                <a:ext uri="{FF2B5EF4-FFF2-40B4-BE49-F238E27FC236}">
                  <a16:creationId xmlns:a16="http://schemas.microsoft.com/office/drawing/2014/main" id="{EFD81E9E-80CF-B63B-D382-E55641109A58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 t="-2669"/>
            <a:stretch/>
          </p:blipFill>
          <p:spPr>
            <a:xfrm>
              <a:off x="2762662" y="4208884"/>
              <a:ext cx="2726283" cy="13950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" name="Google Shape;3328;p67">
              <a:extLst>
                <a:ext uri="{FF2B5EF4-FFF2-40B4-BE49-F238E27FC236}">
                  <a16:creationId xmlns:a16="http://schemas.microsoft.com/office/drawing/2014/main" id="{7F7EDC03-2A9E-B61F-7FC6-B3C4846F4DAD}"/>
                </a:ext>
              </a:extLst>
            </p:cNvPr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34549" y="3945417"/>
              <a:ext cx="2726284" cy="1676388"/>
            </a:xfrm>
            <a:prstGeom prst="rect">
              <a:avLst/>
            </a:prstGeom>
            <a:noFill/>
            <a:ln>
              <a:noFill/>
            </a:ln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85464D9-93C2-40BE-CFB9-E9FEF0E5C668}"/>
                  </a:ext>
                </a:extLst>
              </p:cNvPr>
              <p:cNvSpPr txBox="1"/>
              <p:nvPr/>
            </p:nvSpPr>
            <p:spPr>
              <a:xfrm>
                <a:off x="6533559" y="1873374"/>
                <a:ext cx="4795479" cy="11311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lim>
                          </m:limLow>
                        </m:fName>
                        <m:e>
                          <m:func>
                            <m:func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sz="2400" b="0" i="0" smtClean="0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400" b="0" i="0" smtClean="0">
                                      <a:latin typeface="Cambria Math" panose="02040503050406030204" pitchFamily="18" charset="0"/>
                                    </a:rPr>
                                    <m:t>min</m:t>
                                  </m:r>
                                </m:e>
                                <m:lim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∈</m:t>
                                  </m:r>
                                  <m:sSup>
                                    <m:sSupPr>
                                      <m:ctrlPr>
                                        <a:rPr lang="en-US" sz="2400" b="0" i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2400" b="0" i="0" smtClean="0">
                                          <a:latin typeface="Cambria Math" panose="02040503050406030204" pitchFamily="18" charset="0"/>
                                        </a:rPr>
                                        <m:t>Θ</m:t>
                                      </m:r>
                                    </m:e>
                                    <m:sup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sup>
                                  </m:sSup>
                                </m:lim>
                              </m:limLow>
                            </m:fName>
                            <m:e>
                              <m:f>
                                <m:f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den>
                              </m:f>
                              <m:nary>
                                <m:naryPr>
                                  <m:chr m:val="∑"/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m:rPr>
                                      <m:brk m:alnAt="23"/>
                                    </m:r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sup>
                                <m:e>
                                  <m:nary>
                                    <m:naryPr>
                                      <m:chr m:val="∑"/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m:rPr>
                                          <m:brk m:alnAt="23"/>
                                        </m:r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r>
                                        <m:rPr>
                                          <m:brk m:alnAt="23"/>
                                        </m:r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  <m:sup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sup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sSubSup>
                                        <m:sSubSupPr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𝑆</m:t>
                                          </m:r>
                                        </m:e>
                                        <m:sub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  <m:sup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p>
                                      </m:sSubSup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sSup>
                                        <m:sSupPr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p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𝜋</m:t>
                                          </m:r>
                                        </m:sup>
                                      </m:sSup>
                                      <m:d>
                                        <m:dPr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4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4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𝑆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4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</m:sub>
                                          </m:sSub>
                                        </m:e>
                                        <m:e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</m:d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</m:nary>
                                </m:e>
                              </m:nary>
                            </m:e>
                          </m:func>
                        </m:e>
                      </m:func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85464D9-93C2-40BE-CFB9-E9FEF0E5C6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3559" y="1873374"/>
                <a:ext cx="4795479" cy="113114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389" name="Google Shape;3389;p69"/>
          <p:cNvGrpSpPr/>
          <p:nvPr/>
        </p:nvGrpSpPr>
        <p:grpSpPr>
          <a:xfrm>
            <a:off x="5836230" y="2430814"/>
            <a:ext cx="2703984" cy="1482632"/>
            <a:chOff x="5066362" y="1469982"/>
            <a:chExt cx="2703984" cy="1482632"/>
          </a:xfrm>
        </p:grpSpPr>
        <p:sp>
          <p:nvSpPr>
            <p:cNvPr id="3390" name="Google Shape;3390;p69"/>
            <p:cNvSpPr/>
            <p:nvPr/>
          </p:nvSpPr>
          <p:spPr>
            <a:xfrm>
              <a:off x="5854441" y="1469982"/>
              <a:ext cx="591503" cy="462600"/>
            </a:xfrm>
            <a:prstGeom prst="ellipse">
              <a:avLst/>
            </a:prstGeom>
            <a:noFill/>
            <a:ln w="28575" cap="flat" cmpd="sng">
              <a:solidFill>
                <a:schemeClr val="accent2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3392" name="Google Shape;3392;p69"/>
            <p:cNvCxnSpPr>
              <a:cxnSpLocks/>
              <a:stCxn id="3391" idx="0"/>
              <a:endCxn id="3390" idx="4"/>
            </p:cNvCxnSpPr>
            <p:nvPr/>
          </p:nvCxnSpPr>
          <p:spPr>
            <a:xfrm flipH="1" flipV="1">
              <a:off x="6150193" y="1932582"/>
              <a:ext cx="268161" cy="589232"/>
            </a:xfrm>
            <a:prstGeom prst="straightConnector1">
              <a:avLst/>
            </a:prstGeom>
            <a:noFill/>
            <a:ln w="19050" cap="flat" cmpd="sng">
              <a:solidFill>
                <a:schemeClr val="accent2">
                  <a:lumMod val="75000"/>
                </a:schemeClr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sp>
          <p:nvSpPr>
            <p:cNvPr id="3391" name="Google Shape;3391;p69"/>
            <p:cNvSpPr txBox="1"/>
            <p:nvPr/>
          </p:nvSpPr>
          <p:spPr>
            <a:xfrm>
              <a:off x="5066362" y="2521814"/>
              <a:ext cx="2703984" cy="4308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 i="0" dirty="0">
                  <a:solidFill>
                    <a:srgbClr val="FFFFFF"/>
                  </a:solidFill>
                  <a:latin typeface="Oswald"/>
                  <a:ea typeface="Oswald"/>
                  <a:cs typeface="Oswald"/>
                  <a:sym typeface="Oswald"/>
                </a:rPr>
                <a:t>Searching over functions</a:t>
              </a:r>
              <a:endParaRPr sz="2200" dirty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3CFD65D-D449-791C-54E4-A3A96592B2C5}"/>
              </a:ext>
            </a:extLst>
          </p:cNvPr>
          <p:cNvGrpSpPr/>
          <p:nvPr/>
        </p:nvGrpSpPr>
        <p:grpSpPr>
          <a:xfrm>
            <a:off x="7359180" y="4114827"/>
            <a:ext cx="1025849" cy="980223"/>
            <a:chOff x="6397892" y="3605700"/>
            <a:chExt cx="1384736" cy="1273504"/>
          </a:xfrm>
          <a:solidFill>
            <a:srgbClr val="C00000"/>
          </a:solidFill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BD7452F2-3201-3621-44E1-A156572664EF}"/>
                </a:ext>
              </a:extLst>
            </p:cNvPr>
            <p:cNvSpPr/>
            <p:nvPr/>
          </p:nvSpPr>
          <p:spPr>
            <a:xfrm>
              <a:off x="6463814" y="3605700"/>
              <a:ext cx="1273503" cy="127350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F94F96C9-8A5B-2613-31E2-07885E2FF344}"/>
                </a:ext>
              </a:extLst>
            </p:cNvPr>
            <p:cNvSpPr txBox="1"/>
            <p:nvPr/>
          </p:nvSpPr>
          <p:spPr>
            <a:xfrm>
              <a:off x="6397892" y="3993305"/>
              <a:ext cx="1384736" cy="47983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dirty="0">
                  <a:solidFill>
                    <a:schemeClr val="bg1"/>
                  </a:solidFill>
                </a:rPr>
                <a:t>CFAs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6CA14F26-348C-E4DB-C31A-082A55061D19}"/>
              </a:ext>
            </a:extLst>
          </p:cNvPr>
          <p:cNvGrpSpPr/>
          <p:nvPr/>
        </p:nvGrpSpPr>
        <p:grpSpPr>
          <a:xfrm>
            <a:off x="6068018" y="4121302"/>
            <a:ext cx="943445" cy="972630"/>
            <a:chOff x="6482694" y="3653220"/>
            <a:chExt cx="1274372" cy="1273504"/>
          </a:xfrm>
        </p:grpSpPr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24B0599C-E55F-267E-349A-743270C7E5D9}"/>
                </a:ext>
              </a:extLst>
            </p:cNvPr>
            <p:cNvSpPr/>
            <p:nvPr/>
          </p:nvSpPr>
          <p:spPr>
            <a:xfrm>
              <a:off x="6483562" y="3653220"/>
              <a:ext cx="1273504" cy="1273504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84A09FAB-C622-D020-6FA7-D7C0970AAA23}"/>
                </a:ext>
              </a:extLst>
            </p:cNvPr>
            <p:cNvSpPr txBox="1"/>
            <p:nvPr/>
          </p:nvSpPr>
          <p:spPr>
            <a:xfrm>
              <a:off x="6482694" y="4014928"/>
              <a:ext cx="1269104" cy="5040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dirty="0">
                  <a:solidFill>
                    <a:schemeClr val="bg1"/>
                  </a:solidFill>
                </a:rPr>
                <a:t>PFAs</a:t>
              </a:r>
            </a:p>
          </p:txBody>
        </p:sp>
      </p:grpSp>
      <p:grpSp>
        <p:nvGrpSpPr>
          <p:cNvPr id="37" name="Google Shape;3385;p69">
            <a:extLst>
              <a:ext uri="{FF2B5EF4-FFF2-40B4-BE49-F238E27FC236}">
                <a16:creationId xmlns:a16="http://schemas.microsoft.com/office/drawing/2014/main" id="{AF3F35F4-A5BE-0E96-415A-974088FACED2}"/>
              </a:ext>
            </a:extLst>
          </p:cNvPr>
          <p:cNvGrpSpPr/>
          <p:nvPr/>
        </p:nvGrpSpPr>
        <p:grpSpPr>
          <a:xfrm>
            <a:off x="7212256" y="2467569"/>
            <a:ext cx="4003313" cy="1437335"/>
            <a:chOff x="-1680645" y="3401332"/>
            <a:chExt cx="4003313" cy="1437335"/>
          </a:xfrm>
        </p:grpSpPr>
        <p:sp>
          <p:nvSpPr>
            <p:cNvPr id="38" name="Google Shape;3386;p69">
              <a:extLst>
                <a:ext uri="{FF2B5EF4-FFF2-40B4-BE49-F238E27FC236}">
                  <a16:creationId xmlns:a16="http://schemas.microsoft.com/office/drawing/2014/main" id="{4C3E4B73-7629-D097-5348-416D8349AF78}"/>
                </a:ext>
              </a:extLst>
            </p:cNvPr>
            <p:cNvSpPr/>
            <p:nvPr/>
          </p:nvSpPr>
          <p:spPr>
            <a:xfrm>
              <a:off x="-1680645" y="3401332"/>
              <a:ext cx="659849" cy="462600"/>
            </a:xfrm>
            <a:prstGeom prst="ellipse">
              <a:avLst/>
            </a:prstGeom>
            <a:noFill/>
            <a:ln w="19050" cap="flat" cmpd="sng">
              <a:solidFill>
                <a:schemeClr val="accent2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9" name="Google Shape;3387;p69">
              <a:extLst>
                <a:ext uri="{FF2B5EF4-FFF2-40B4-BE49-F238E27FC236}">
                  <a16:creationId xmlns:a16="http://schemas.microsoft.com/office/drawing/2014/main" id="{9306B276-8757-8AB6-1E77-84D652CAAFCF}"/>
                </a:ext>
              </a:extLst>
            </p:cNvPr>
            <p:cNvSpPr txBox="1"/>
            <p:nvPr/>
          </p:nvSpPr>
          <p:spPr>
            <a:xfrm>
              <a:off x="-301043" y="4407867"/>
              <a:ext cx="2623711" cy="4308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 i="0" dirty="0">
                  <a:solidFill>
                    <a:srgbClr val="FFFFFF"/>
                  </a:solidFill>
                  <a:latin typeface="Oswald"/>
                  <a:ea typeface="Oswald"/>
                  <a:cs typeface="Oswald"/>
                  <a:sym typeface="Oswald"/>
                </a:rPr>
                <a:t>Parameter tuning</a:t>
              </a:r>
              <a:endParaRPr sz="1200" dirty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endParaRPr>
            </a:p>
          </p:txBody>
        </p:sp>
        <p:cxnSp>
          <p:nvCxnSpPr>
            <p:cNvPr id="40" name="Google Shape;3388;p69">
              <a:extLst>
                <a:ext uri="{FF2B5EF4-FFF2-40B4-BE49-F238E27FC236}">
                  <a16:creationId xmlns:a16="http://schemas.microsoft.com/office/drawing/2014/main" id="{1311524B-C9C3-A9AC-ADDC-F5624918BCE4}"/>
                </a:ext>
              </a:extLst>
            </p:cNvPr>
            <p:cNvCxnSpPr>
              <a:cxnSpLocks/>
              <a:stCxn id="39" idx="0"/>
              <a:endCxn id="38" idx="4"/>
            </p:cNvCxnSpPr>
            <p:nvPr/>
          </p:nvCxnSpPr>
          <p:spPr>
            <a:xfrm flipH="1" flipV="1">
              <a:off x="-1350720" y="3863932"/>
              <a:ext cx="2361533" cy="543935"/>
            </a:xfrm>
            <a:prstGeom prst="straightConnector1">
              <a:avLst/>
            </a:prstGeom>
            <a:noFill/>
            <a:ln w="19050" cap="flat" cmpd="sng">
              <a:solidFill>
                <a:schemeClr val="accent2">
                  <a:lumMod val="75000"/>
                </a:schemeClr>
              </a:solidFill>
              <a:prstDash val="solid"/>
              <a:round/>
              <a:headEnd type="none" w="sm" len="sm"/>
              <a:tailEnd type="stealth" w="med" len="med"/>
            </a:ln>
          </p:spPr>
        </p:cxn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565D35F8-8AA6-112B-EEC5-CD601FF731F0}"/>
              </a:ext>
            </a:extLst>
          </p:cNvPr>
          <p:cNvGrpSpPr/>
          <p:nvPr/>
        </p:nvGrpSpPr>
        <p:grpSpPr>
          <a:xfrm>
            <a:off x="6655688" y="5181370"/>
            <a:ext cx="1113135" cy="969318"/>
            <a:chOff x="3829796" y="1869967"/>
            <a:chExt cx="1374513" cy="1251271"/>
          </a:xfrm>
          <a:solidFill>
            <a:srgbClr val="008000"/>
          </a:solidFill>
        </p:grpSpPr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0BFB112E-08C9-42F1-BE3E-802DB844C066}"/>
                </a:ext>
              </a:extLst>
            </p:cNvPr>
            <p:cNvSpPr/>
            <p:nvPr/>
          </p:nvSpPr>
          <p:spPr>
            <a:xfrm>
              <a:off x="3888286" y="1869967"/>
              <a:ext cx="1251271" cy="125127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8E759709-B9B4-E117-5EA8-CC2F9307F28D}"/>
                </a:ext>
              </a:extLst>
            </p:cNvPr>
            <p:cNvSpPr txBox="1"/>
            <p:nvPr/>
          </p:nvSpPr>
          <p:spPr>
            <a:xfrm>
              <a:off x="3829796" y="2186137"/>
              <a:ext cx="1374513" cy="63568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err="1">
                  <a:solidFill>
                    <a:schemeClr val="bg1"/>
                  </a:solidFill>
                </a:rPr>
                <a:t>Determ</a:t>
              </a:r>
              <a:r>
                <a:rPr lang="en-US" dirty="0">
                  <a:solidFill>
                    <a:schemeClr val="bg1"/>
                  </a:solidFill>
                </a:rPr>
                <a:t>.</a:t>
              </a:r>
              <a:r>
                <a:rPr lang="en-US" sz="1200" dirty="0">
                  <a:solidFill>
                    <a:schemeClr val="bg1"/>
                  </a:solidFill>
                </a:rPr>
                <a:t> DLAs</a:t>
              </a:r>
            </a:p>
          </p:txBody>
        </p:sp>
      </p:grpSp>
      <p:pic>
        <p:nvPicPr>
          <p:cNvPr id="48" name="Picture 47">
            <a:extLst>
              <a:ext uri="{FF2B5EF4-FFF2-40B4-BE49-F238E27FC236}">
                <a16:creationId xmlns:a16="http://schemas.microsoft.com/office/drawing/2014/main" id="{3FF0AA1F-461C-9406-9AD6-7B00451B33D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34473" y="4247700"/>
            <a:ext cx="2916263" cy="1831823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784480AE-64B7-1E5C-8F00-778D4522F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1700" y="353850"/>
            <a:ext cx="8283900" cy="550500"/>
          </a:xfrm>
        </p:spPr>
        <p:txBody>
          <a:bodyPr/>
          <a:lstStyle/>
          <a:p>
            <a:r>
              <a:rPr lang="en-US" dirty="0"/>
              <a:t>Choosing policies</a:t>
            </a:r>
          </a:p>
        </p:txBody>
      </p:sp>
    </p:spTree>
    <p:extLst>
      <p:ext uri="{BB962C8B-B14F-4D97-AF65-F5344CB8AC3E}">
        <p14:creationId xmlns:p14="http://schemas.microsoft.com/office/powerpoint/2010/main" val="2657403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500"/>
                            </p:stCondLst>
                            <p:childTnLst>
                              <p:par>
                                <p:cTn id="3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EE5E3-A546-E3E7-4E03-D07E2F382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Choosing policies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FBB8F82-4395-3CD4-E842-710CDAA531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679" y="2083879"/>
            <a:ext cx="3473629" cy="413406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BC98D75-D307-B378-BE0F-FBC80FF51680}"/>
              </a:ext>
            </a:extLst>
          </p:cNvPr>
          <p:cNvSpPr txBox="1"/>
          <p:nvPr/>
        </p:nvSpPr>
        <p:spPr>
          <a:xfrm>
            <a:off x="904108" y="1433409"/>
            <a:ext cx="32800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The decision-making policy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68A4C9B-205B-F928-39FC-9084447FE1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7239" y="2094045"/>
            <a:ext cx="3473629" cy="413406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408536A-E106-9907-4435-A196149675E1}"/>
              </a:ext>
            </a:extLst>
          </p:cNvPr>
          <p:cNvSpPr txBox="1"/>
          <p:nvPr/>
        </p:nvSpPr>
        <p:spPr>
          <a:xfrm>
            <a:off x="6597094" y="1437225"/>
            <a:ext cx="178125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Model realism</a:t>
            </a:r>
          </a:p>
        </p:txBody>
      </p:sp>
      <p:sp>
        <p:nvSpPr>
          <p:cNvPr id="17" name="Arrow: Up 16">
            <a:extLst>
              <a:ext uri="{FF2B5EF4-FFF2-40B4-BE49-F238E27FC236}">
                <a16:creationId xmlns:a16="http://schemas.microsoft.com/office/drawing/2014/main" id="{8EEDCC8C-AA1D-90A6-EB9C-908FDBDFF34A}"/>
              </a:ext>
            </a:extLst>
          </p:cNvPr>
          <p:cNvSpPr/>
          <p:nvPr/>
        </p:nvSpPr>
        <p:spPr>
          <a:xfrm rot="17181899">
            <a:off x="4777272" y="4566756"/>
            <a:ext cx="311573" cy="1778491"/>
          </a:xfrm>
          <a:prstGeom prst="upArrow">
            <a:avLst/>
          </a:prstGeom>
          <a:gradFill>
            <a:gsLst>
              <a:gs pos="0">
                <a:schemeClr val="accent2">
                  <a:lumMod val="20000"/>
                  <a:lumOff val="80000"/>
                </a:schemeClr>
              </a:gs>
              <a:gs pos="100000">
                <a:schemeClr val="accent2">
                  <a:lumMod val="75000"/>
                </a:schemeClr>
              </a:gs>
            </a:gsLst>
            <a:path path="circle">
              <a:fillToRect l="50000" t="130000" r="50000" b="-30000"/>
            </a:path>
          </a:gra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Arrow: Up 17">
            <a:extLst>
              <a:ext uri="{FF2B5EF4-FFF2-40B4-BE49-F238E27FC236}">
                <a16:creationId xmlns:a16="http://schemas.microsoft.com/office/drawing/2014/main" id="{36C28C54-04C2-4642-4A57-62411007DB5B}"/>
              </a:ext>
            </a:extLst>
          </p:cNvPr>
          <p:cNvSpPr/>
          <p:nvPr/>
        </p:nvSpPr>
        <p:spPr>
          <a:xfrm rot="17057750">
            <a:off x="4721616" y="2880863"/>
            <a:ext cx="311573" cy="2327624"/>
          </a:xfrm>
          <a:prstGeom prst="upArrow">
            <a:avLst/>
          </a:prstGeom>
          <a:gradFill>
            <a:gsLst>
              <a:gs pos="0">
                <a:schemeClr val="accent2">
                  <a:lumMod val="20000"/>
                  <a:lumOff val="80000"/>
                </a:schemeClr>
              </a:gs>
              <a:gs pos="100000">
                <a:schemeClr val="accent2">
                  <a:lumMod val="75000"/>
                </a:schemeClr>
              </a:gs>
            </a:gsLst>
            <a:path path="circle">
              <a:fillToRect l="50000" t="130000" r="50000" b="-30000"/>
            </a:path>
          </a:gra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Arrow: Up 18">
            <a:extLst>
              <a:ext uri="{FF2B5EF4-FFF2-40B4-BE49-F238E27FC236}">
                <a16:creationId xmlns:a16="http://schemas.microsoft.com/office/drawing/2014/main" id="{6B1933A7-4B76-5A0E-3C66-C7C757555A85}"/>
              </a:ext>
            </a:extLst>
          </p:cNvPr>
          <p:cNvSpPr/>
          <p:nvPr/>
        </p:nvSpPr>
        <p:spPr>
          <a:xfrm rot="4651631" flipH="1">
            <a:off x="4881352" y="3807514"/>
            <a:ext cx="311573" cy="1929068"/>
          </a:xfrm>
          <a:prstGeom prst="upArrow">
            <a:avLst/>
          </a:prstGeom>
          <a:gradFill>
            <a:gsLst>
              <a:gs pos="0">
                <a:schemeClr val="accent2">
                  <a:lumMod val="20000"/>
                  <a:lumOff val="80000"/>
                </a:schemeClr>
              </a:gs>
              <a:gs pos="100000">
                <a:schemeClr val="accent2">
                  <a:lumMod val="75000"/>
                </a:schemeClr>
              </a:gs>
            </a:gsLst>
            <a:path path="circle">
              <a:fillToRect l="50000" t="130000" r="50000" b="-30000"/>
            </a:path>
          </a:gra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Arrow: Up 19">
            <a:extLst>
              <a:ext uri="{FF2B5EF4-FFF2-40B4-BE49-F238E27FC236}">
                <a16:creationId xmlns:a16="http://schemas.microsoft.com/office/drawing/2014/main" id="{8B3752D1-851F-A25B-91DA-4D65647139F2}"/>
              </a:ext>
            </a:extLst>
          </p:cNvPr>
          <p:cNvSpPr/>
          <p:nvPr/>
        </p:nvSpPr>
        <p:spPr>
          <a:xfrm rot="4702329" flipH="1">
            <a:off x="4868694" y="1993068"/>
            <a:ext cx="311573" cy="2606674"/>
          </a:xfrm>
          <a:prstGeom prst="upArrow">
            <a:avLst/>
          </a:prstGeom>
          <a:gradFill>
            <a:gsLst>
              <a:gs pos="0">
                <a:schemeClr val="accent2">
                  <a:lumMod val="20000"/>
                  <a:lumOff val="80000"/>
                </a:schemeClr>
              </a:gs>
              <a:gs pos="100000">
                <a:schemeClr val="accent2">
                  <a:lumMod val="75000"/>
                </a:schemeClr>
              </a:gs>
            </a:gsLst>
            <a:path path="circle">
              <a:fillToRect l="50000" t="130000" r="50000" b="-30000"/>
            </a:path>
          </a:gra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Arrow: Up 20">
            <a:extLst>
              <a:ext uri="{FF2B5EF4-FFF2-40B4-BE49-F238E27FC236}">
                <a16:creationId xmlns:a16="http://schemas.microsoft.com/office/drawing/2014/main" id="{5C9F36D5-2D06-8269-1FE2-C332684CF4F0}"/>
              </a:ext>
            </a:extLst>
          </p:cNvPr>
          <p:cNvSpPr/>
          <p:nvPr/>
        </p:nvSpPr>
        <p:spPr>
          <a:xfrm rot="16897671">
            <a:off x="4749945" y="1085272"/>
            <a:ext cx="311573" cy="2838263"/>
          </a:xfrm>
          <a:prstGeom prst="upArrow">
            <a:avLst/>
          </a:prstGeom>
          <a:gradFill>
            <a:gsLst>
              <a:gs pos="0">
                <a:schemeClr val="accent2">
                  <a:lumMod val="20000"/>
                  <a:lumOff val="80000"/>
                </a:schemeClr>
              </a:gs>
              <a:gs pos="100000">
                <a:schemeClr val="accent2">
                  <a:lumMod val="75000"/>
                </a:schemeClr>
              </a:gs>
            </a:gsLst>
            <a:path path="circle">
              <a:fillToRect l="50000" t="130000" r="50000" b="-30000"/>
            </a:path>
          </a:gra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0785C71A-F8DE-5D9D-0DE9-4CE333DCD593}"/>
              </a:ext>
            </a:extLst>
          </p:cNvPr>
          <p:cNvGrpSpPr/>
          <p:nvPr/>
        </p:nvGrpSpPr>
        <p:grpSpPr>
          <a:xfrm>
            <a:off x="9531350" y="1164876"/>
            <a:ext cx="2555507" cy="4923531"/>
            <a:chOff x="9531350" y="1164876"/>
            <a:chExt cx="2555507" cy="4923531"/>
          </a:xfrm>
        </p:grpSpPr>
        <p:sp>
          <p:nvSpPr>
            <p:cNvPr id="13" name="Arrow: Up 12">
              <a:extLst>
                <a:ext uri="{FF2B5EF4-FFF2-40B4-BE49-F238E27FC236}">
                  <a16:creationId xmlns:a16="http://schemas.microsoft.com/office/drawing/2014/main" id="{CB229DC4-0626-6BCC-4CF6-9E01304F8BAC}"/>
                </a:ext>
              </a:extLst>
            </p:cNvPr>
            <p:cNvSpPr/>
            <p:nvPr/>
          </p:nvSpPr>
          <p:spPr>
            <a:xfrm>
              <a:off x="9531350" y="1164876"/>
              <a:ext cx="2555507" cy="4923531"/>
            </a:xfrm>
            <a:prstGeom prst="upArrow">
              <a:avLst>
                <a:gd name="adj1" fmla="val 69963"/>
                <a:gd name="adj2" fmla="val 34671"/>
              </a:avLst>
            </a:prstGeom>
            <a:gradFill flip="none" rotWithShape="1">
              <a:gsLst>
                <a:gs pos="0">
                  <a:schemeClr val="accent2">
                    <a:lumMod val="20000"/>
                    <a:lumOff val="8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15D8596-7D5C-9B32-6088-9C47CFEB62F9}"/>
                </a:ext>
              </a:extLst>
            </p:cNvPr>
            <p:cNvSpPr txBox="1"/>
            <p:nvPr/>
          </p:nvSpPr>
          <p:spPr>
            <a:xfrm>
              <a:off x="10324034" y="5655971"/>
              <a:ext cx="97013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Simple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F6DCCC17-4183-28E6-C54B-4D9E6A67AFAC}"/>
                </a:ext>
              </a:extLst>
            </p:cNvPr>
            <p:cNvSpPr txBox="1"/>
            <p:nvPr/>
          </p:nvSpPr>
          <p:spPr>
            <a:xfrm>
              <a:off x="10182630" y="2011071"/>
              <a:ext cx="119776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Complex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20049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3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E1F227-047A-3738-CE57-D01128728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489A4C11-50B4-4997-F808-EBB283AA17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0611" y="0"/>
            <a:ext cx="1225149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001AA1-7D9F-3F5A-203D-FC2D4D6E0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7270" y="353850"/>
            <a:ext cx="4838905" cy="550500"/>
          </a:xfrm>
        </p:spPr>
        <p:txBody>
          <a:bodyPr/>
          <a:lstStyle/>
          <a:p>
            <a:r>
              <a:rPr lang="en-US" i="1" dirty="0">
                <a:solidFill>
                  <a:schemeClr val="tx1"/>
                </a:solidFill>
              </a:rPr>
              <a:t>Thank you!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BEBADD-46A2-3421-437A-8D35D42871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2137" y="797340"/>
            <a:ext cx="2316681" cy="25910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F8396DA-D60B-EF67-A773-1A65221CBE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5757" y="770669"/>
            <a:ext cx="2286198" cy="2644369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F05378-B3FF-7C30-6921-AD2DD26349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65426" y="807631"/>
            <a:ext cx="5352185" cy="4401600"/>
          </a:xfrm>
        </p:spPr>
        <p:txBody>
          <a:bodyPr/>
          <a:lstStyle/>
          <a:p>
            <a:pPr marL="0" lvl="2" indent="0" algn="ctr"/>
            <a:endParaRPr lang="en-US" dirty="0">
              <a:solidFill>
                <a:schemeClr val="tx1"/>
              </a:solidFill>
            </a:endParaRPr>
          </a:p>
          <a:p>
            <a:pPr marL="0" lvl="1" indent="0" algn="ctr">
              <a:buNone/>
            </a:pPr>
            <a:r>
              <a:rPr lang="en-US" dirty="0">
                <a:solidFill>
                  <a:schemeClr val="tx1"/>
                </a:solidFill>
              </a:rPr>
              <a:t>For more information see the </a:t>
            </a:r>
            <a:r>
              <a:rPr lang="en-US" i="1" dirty="0">
                <a:solidFill>
                  <a:schemeClr val="tx1"/>
                </a:solidFill>
              </a:rPr>
              <a:t>Sequential Decision Analytics </a:t>
            </a:r>
            <a:r>
              <a:rPr lang="en-US" dirty="0">
                <a:solidFill>
                  <a:schemeClr val="tx1"/>
                </a:solidFill>
              </a:rPr>
              <a:t>website at</a:t>
            </a:r>
          </a:p>
          <a:p>
            <a:pPr marL="0" lvl="2" indent="0" algn="ctr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lvl="2" indent="0" algn="ctr">
              <a:buNone/>
            </a:pPr>
            <a:r>
              <a:rPr lang="en-US" sz="2800" dirty="0">
                <a:solidFill>
                  <a:schemeClr val="accent2">
                    <a:lumMod val="50000"/>
                  </a:schemeClr>
                </a:solidFill>
              </a:rPr>
              <a:t>warrenpowell.org</a:t>
            </a:r>
          </a:p>
          <a:p>
            <a:pPr marL="0" lvl="2" indent="0" algn="ctr">
              <a:buNone/>
            </a:pPr>
            <a:endParaRPr lang="en-US" sz="2800" dirty="0">
              <a:solidFill>
                <a:schemeClr val="tx1"/>
              </a:solidFill>
            </a:endParaRPr>
          </a:p>
          <a:p>
            <a:pPr marL="0" lvl="1" indent="0" algn="ctr"/>
            <a:endParaRPr lang="en-US" sz="1400" dirty="0">
              <a:solidFill>
                <a:schemeClr val="tx1"/>
              </a:solidFill>
            </a:endParaRPr>
          </a:p>
          <a:p>
            <a:pPr marL="0" lvl="1" indent="0" algn="ctr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F315D85-33F5-BF87-CB76-78F9426BA4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600" y="629100"/>
            <a:ext cx="2270957" cy="561642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F77A21C-A3FA-2F7E-B5F0-91A2DC8CDD6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54573" y="5523402"/>
            <a:ext cx="7552074" cy="56392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DD66B35-C0F1-3BEF-3C5C-F8175120106C}"/>
              </a:ext>
            </a:extLst>
          </p:cNvPr>
          <p:cNvSpPr txBox="1"/>
          <p:nvPr/>
        </p:nvSpPr>
        <p:spPr>
          <a:xfrm>
            <a:off x="3854573" y="3563240"/>
            <a:ext cx="806316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tx1"/>
                </a:solidFill>
              </a:rPr>
              <a:t>For more on policies go to:</a:t>
            </a:r>
          </a:p>
          <a:p>
            <a:r>
              <a:rPr lang="en-US" sz="1800" dirty="0">
                <a:solidFill>
                  <a:schemeClr val="tx1"/>
                </a:solidFill>
              </a:rPr>
              <a:t> </a:t>
            </a:r>
          </a:p>
          <a:p>
            <a:r>
              <a:rPr lang="en-US" sz="1800" dirty="0">
                <a:solidFill>
                  <a:schemeClr val="tx1"/>
                </a:solidFill>
              </a:rPr>
              <a:t>warrenpowell.org → Policies → Choosing policies</a:t>
            </a:r>
          </a:p>
          <a:p>
            <a:r>
              <a:rPr lang="en-US" sz="1800" dirty="0">
                <a:solidFill>
                  <a:schemeClr val="tx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9416684"/>
      </p:ext>
    </p:extLst>
  </p:cSld>
  <p:clrMapOvr>
    <a:masterClrMapping/>
  </p:clrMapOvr>
</p:sld>
</file>

<file path=ppt/theme/theme1.xml><?xml version="1.0" encoding="utf-8"?>
<a:theme xmlns:a="http://schemas.openxmlformats.org/drawingml/2006/main" name="CIV 411 11 Intro and overview">
  <a:themeElements>
    <a:clrScheme name="CIV 411 11 Intro and overview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 w="28575">
          <a:solidFill>
            <a:schemeClr val="tx1"/>
          </a:solidFill>
          <a:headEnd type="none" w="med" len="med"/>
          <a:tailEnd type="arrow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CA48227E3DE37419A418C60F2D64C15" ma:contentTypeVersion="4" ma:contentTypeDescription="Create a new document." ma:contentTypeScope="" ma:versionID="5a821b418db10c4a560eab9e32ac3723">
  <xsd:schema xmlns:xsd="http://www.w3.org/2001/XMLSchema" xmlns:xs="http://www.w3.org/2001/XMLSchema" xmlns:p="http://schemas.microsoft.com/office/2006/metadata/properties" xmlns:ns3="b9a67f89-7d7d-48be-9399-9713d9f7587c" targetNamespace="http://schemas.microsoft.com/office/2006/metadata/properties" ma:root="true" ma:fieldsID="42462b3b3e84324c9aaf61227d41f6c0" ns3:_="">
    <xsd:import namespace="b9a67f89-7d7d-48be-9399-9713d9f7587c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9a67f89-7d7d-48be-9399-9713d9f7587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F0C8D23-C824-4069-9D96-A056B9C750B2}">
  <ds:schemaRefs>
    <ds:schemaRef ds:uri="http://purl.org/dc/elements/1.1/"/>
    <ds:schemaRef ds:uri="http://purl.org/dc/terms/"/>
    <ds:schemaRef ds:uri="b9a67f89-7d7d-48be-9399-9713d9f7587c"/>
    <ds:schemaRef ds:uri="http://www.w3.org/XML/1998/namespace"/>
    <ds:schemaRef ds:uri="http://purl.org/dc/dcmitype/"/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C9AAD22F-0715-4457-A130-80773E09E4A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9a67f89-7d7d-48be-9399-9713d9f7587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99611F8-1974-4A8A-AF09-CB23287D66B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463730</TotalTime>
  <Words>19706</Words>
  <Application>Microsoft Office PowerPoint</Application>
  <PresentationFormat>Widescreen</PresentationFormat>
  <Paragraphs>4554</Paragraphs>
  <Slides>325</Slides>
  <Notes>107</Notes>
  <HiddenSlides>0</HiddenSlides>
  <MMClips>3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325</vt:i4>
      </vt:variant>
    </vt:vector>
  </HeadingPairs>
  <TitlesOfParts>
    <vt:vector size="338" baseType="lpstr">
      <vt:lpstr>Oswald Regular</vt:lpstr>
      <vt:lpstr>Wingdings</vt:lpstr>
      <vt:lpstr>Cambria Math</vt:lpstr>
      <vt:lpstr>Oswald</vt:lpstr>
      <vt:lpstr>Courier New</vt:lpstr>
      <vt:lpstr>Raleway</vt:lpstr>
      <vt:lpstr>Symbol</vt:lpstr>
      <vt:lpstr>Raleway Thin</vt:lpstr>
      <vt:lpstr>Playfair Display</vt:lpstr>
      <vt:lpstr>Times New Roman</vt:lpstr>
      <vt:lpstr>Arial</vt:lpstr>
      <vt:lpstr>CIV 411 11 Intro and overview</vt:lpstr>
      <vt:lpstr>Equation</vt:lpstr>
      <vt:lpstr>PowerPoint Presentation</vt:lpstr>
      <vt:lpstr>PowerPoint Presentation</vt:lpstr>
      <vt:lpstr>CASTLE Laboratory</vt:lpstr>
      <vt:lpstr>PowerPoint Presentation</vt:lpstr>
      <vt:lpstr>CASTLE Lab March, 2019</vt:lpstr>
      <vt:lpstr>Human processes</vt:lpstr>
      <vt:lpstr>Performance metrics</vt:lpstr>
      <vt:lpstr>Framing the problem</vt:lpstr>
      <vt:lpstr>Framing the problem</vt:lpstr>
      <vt:lpstr>Application domains</vt:lpstr>
      <vt:lpstr>PowerPoint Presentation</vt:lpstr>
      <vt:lpstr>PowerPoint Presentation</vt:lpstr>
      <vt:lpstr>Relevant courses I taught at Princeton</vt:lpstr>
      <vt:lpstr>Teaching materials</vt:lpstr>
      <vt:lpstr>Teaching materials</vt:lpstr>
      <vt:lpstr>Teaching materials</vt:lpstr>
      <vt:lpstr>Teaching materials</vt:lpstr>
      <vt:lpstr>Teaching materials</vt:lpstr>
      <vt:lpstr>Thank you!</vt:lpstr>
      <vt:lpstr>PowerPoint Presentation</vt:lpstr>
      <vt:lpstr>Brief history of sequential decision problems</vt:lpstr>
      <vt:lpstr>Brief history of sequential decision problems</vt:lpstr>
      <vt:lpstr>Brief history of sequential decision problems</vt:lpstr>
      <vt:lpstr>Brief history of sequential decision problems</vt:lpstr>
      <vt:lpstr>Brief history of sequential decision problems</vt:lpstr>
      <vt:lpstr>Brief history of sequential decision problems</vt:lpstr>
      <vt:lpstr>Brief history of sequential decision problems</vt:lpstr>
      <vt:lpstr>Brief history of sequential decision problems</vt:lpstr>
      <vt:lpstr>Brief history of sequential decision problems</vt:lpstr>
      <vt:lpstr>Brief history of sequential decision problems</vt:lpstr>
      <vt:lpstr>Brief history of sequential decision problems</vt:lpstr>
      <vt:lpstr>PowerPoint Presentation</vt:lpstr>
      <vt:lpstr>PowerPoint Presentation</vt:lpstr>
      <vt:lpstr>Brief history of sequential decision problems</vt:lpstr>
      <vt:lpstr>PowerPoint Presentation</vt:lpstr>
      <vt:lpstr>Brief history of sequential decision problems</vt:lpstr>
      <vt:lpstr>Brief history of sequential decision problems</vt:lpstr>
      <vt:lpstr>Brief history of sequential decision problems</vt:lpstr>
      <vt:lpstr>Brief history of sequential decision problems</vt:lpstr>
      <vt:lpstr>Brief history of sequential decision problems</vt:lpstr>
      <vt:lpstr>Brief history of sequential decision problems</vt:lpstr>
      <vt:lpstr>Brief history of sequential decision problems</vt:lpstr>
      <vt:lpstr>PowerPoint Presentation</vt:lpstr>
      <vt:lpstr>Decisions</vt:lpstr>
      <vt:lpstr>Brief history of seq. decision problems</vt:lpstr>
      <vt:lpstr>PowerPoint Presentation</vt:lpstr>
      <vt:lpstr>Thank you!</vt:lpstr>
      <vt:lpstr>PowerPoint Presentation</vt:lpstr>
      <vt:lpstr>PowerPoint Presentation</vt:lpstr>
      <vt:lpstr>Decisions</vt:lpstr>
      <vt:lpstr>Information</vt:lpstr>
      <vt:lpstr>Sequential decision problems</vt:lpstr>
      <vt:lpstr>Sequential decision problems</vt:lpstr>
      <vt:lpstr>Sequential decision problems</vt:lpstr>
      <vt:lpstr>Sequential decision problems</vt:lpstr>
      <vt:lpstr>Sequential decision problems</vt:lpstr>
      <vt:lpstr>PowerPoint Presentation</vt:lpstr>
      <vt:lpstr>Sequential decision problems</vt:lpstr>
      <vt:lpstr>Sequential decision problems</vt:lpstr>
      <vt:lpstr>Sequential decision problems</vt:lpstr>
      <vt:lpstr>Sequential decision problems</vt:lpstr>
      <vt:lpstr>Sequential decision problems</vt:lpstr>
      <vt:lpstr>Teaching materials</vt:lpstr>
      <vt:lpstr>PowerPoint Presentation</vt:lpstr>
      <vt:lpstr>PowerPoint Presentation</vt:lpstr>
      <vt:lpstr>Sequential decision problems</vt:lpstr>
      <vt:lpstr>Sequential decision problems</vt:lpstr>
      <vt:lpstr>Thank you!</vt:lpstr>
      <vt:lpstr>PowerPoint Presentation</vt:lpstr>
      <vt:lpstr>OUTLINE</vt:lpstr>
      <vt:lpstr>OUTLINE</vt:lpstr>
      <vt:lpstr>Framing the problem</vt:lpstr>
      <vt:lpstr>Framing the problem</vt:lpstr>
      <vt:lpstr>PowerPoint Presentation</vt:lpstr>
      <vt:lpstr>Framing the problem</vt:lpstr>
      <vt:lpstr>Framing the problem</vt:lpstr>
      <vt:lpstr>OUTLINE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Framing: Metrics</vt:lpstr>
      <vt:lpstr>Framing: Metrics</vt:lpstr>
      <vt:lpstr>OUTLINE</vt:lpstr>
      <vt:lpstr>Framing: Decisions</vt:lpstr>
      <vt:lpstr>Framing: Decisions</vt:lpstr>
      <vt:lpstr>Framing: Decisions</vt:lpstr>
      <vt:lpstr>Framing: Decisions</vt:lpstr>
      <vt:lpstr>Framing: Decisions</vt:lpstr>
      <vt:lpstr>Framing: Decisions</vt:lpstr>
      <vt:lpstr>Framing: Decisions</vt:lpstr>
      <vt:lpstr>Framing: Decisions</vt:lpstr>
      <vt:lpstr>Framing: Decisions</vt:lpstr>
      <vt:lpstr>Framing: Decisions</vt:lpstr>
      <vt:lpstr>Framing: Decisions</vt:lpstr>
      <vt:lpstr>Framing: Decisions</vt:lpstr>
      <vt:lpstr>OUTLINE</vt:lpstr>
      <vt:lpstr>Framing: Uncertainties</vt:lpstr>
      <vt:lpstr>Framing: Uncertainties</vt:lpstr>
      <vt:lpstr>Framing: Uncertainties</vt:lpstr>
      <vt:lpstr>Framing: Uncertainties</vt:lpstr>
      <vt:lpstr>Framing: Uncertainties</vt:lpstr>
      <vt:lpstr>Framing: Uncertainties</vt:lpstr>
      <vt:lpstr>Framing: Uncertainties</vt:lpstr>
      <vt:lpstr>Framing: Uncertainties</vt:lpstr>
      <vt:lpstr>OUTLINE</vt:lpstr>
      <vt:lpstr>PowerPoint Presentation</vt:lpstr>
      <vt:lpstr>PowerPoint Presentation</vt:lpstr>
      <vt:lpstr>PowerPoint Presentation</vt:lpstr>
      <vt:lpstr>A supply chain illustration</vt:lpstr>
      <vt:lpstr>A supply chain illustration</vt:lpstr>
      <vt:lpstr>A supply chain illustration</vt:lpstr>
      <vt:lpstr>A supply chain illustration</vt:lpstr>
      <vt:lpstr>A supply chain illustration</vt:lpstr>
      <vt:lpstr>A supply chain illustration</vt:lpstr>
      <vt:lpstr>A supply chain illustration</vt:lpstr>
      <vt:lpstr>A supply chain illustration</vt:lpstr>
      <vt:lpstr>A supply chain illustration</vt:lpstr>
      <vt:lpstr>A supply chain illustration</vt:lpstr>
      <vt:lpstr>A supply chain illustration</vt:lpstr>
      <vt:lpstr>Thank you!</vt:lpstr>
      <vt:lpstr>PowerPoint Presentation</vt:lpstr>
      <vt:lpstr>The universal modeling framework</vt:lpstr>
      <vt:lpstr>The universal modeling framework</vt:lpstr>
      <vt:lpstr>The universal modeling framework</vt:lpstr>
      <vt:lpstr>The universal modeling framework</vt:lpstr>
      <vt:lpstr>The Universal Modeling Framework</vt:lpstr>
      <vt:lpstr>Teaching materials</vt:lpstr>
      <vt:lpstr>The universal modeling framework</vt:lpstr>
      <vt:lpstr>The universal modeling framework</vt:lpstr>
      <vt:lpstr>The universal modeling framework</vt:lpstr>
      <vt:lpstr>The universal modeling framework</vt:lpstr>
      <vt:lpstr>Thank you!</vt:lpstr>
      <vt:lpstr>PowerPoint Presentation</vt:lpstr>
      <vt:lpstr>OUTLINE</vt:lpstr>
      <vt:lpstr>OUTLINE</vt:lpstr>
      <vt:lpstr>Estimation: Learning problems</vt:lpstr>
      <vt:lpstr>OUTLINE</vt:lpstr>
      <vt:lpstr>Estimation: Approximation strategies</vt:lpstr>
      <vt:lpstr>Estimation: Approximation strategies</vt:lpstr>
      <vt:lpstr>Estimation: Approximation strategies</vt:lpstr>
      <vt:lpstr>Estimation: Approximation strategies</vt:lpstr>
      <vt:lpstr>Estimation: Neural networks</vt:lpstr>
      <vt:lpstr>Estimation: Neural networks</vt:lpstr>
      <vt:lpstr>Estimation: Neural networks</vt:lpstr>
      <vt:lpstr>OUTLINE</vt:lpstr>
      <vt:lpstr>Estimation: Exploiting structure</vt:lpstr>
      <vt:lpstr>Estimation: Exploiting structure</vt:lpstr>
      <vt:lpstr>Estimation: Exploiting structure</vt:lpstr>
      <vt:lpstr>Estimation: Exploiting structure</vt:lpstr>
      <vt:lpstr>Estimation: Exploiting structure</vt:lpstr>
      <vt:lpstr>Estimation: Exploiting structure</vt:lpstr>
      <vt:lpstr>Estimation: Exploiting structure</vt:lpstr>
      <vt:lpstr>Estimation: Exploiting structure</vt:lpstr>
      <vt:lpstr>Estimation: Exploiting structure</vt:lpstr>
      <vt:lpstr>Estimation: Exploiting structure</vt:lpstr>
      <vt:lpstr>Estimation: Exploiting structure</vt:lpstr>
      <vt:lpstr>Estimation: Exploiting structure</vt:lpstr>
      <vt:lpstr>Estimation: Exploiting structure</vt:lpstr>
      <vt:lpstr>Estimation: Exploiting structure</vt:lpstr>
      <vt:lpstr>PowerPoint Presentation</vt:lpstr>
      <vt:lpstr>PowerPoint Presentation</vt:lpstr>
      <vt:lpstr>OUTLINE</vt:lpstr>
      <vt:lpstr>Estimation: Batch vs. recursive learning</vt:lpstr>
      <vt:lpstr>Estimation: Batch vs. recursive learning</vt:lpstr>
      <vt:lpstr>Estimation: Batch vs. recursive learning</vt:lpstr>
      <vt:lpstr>Thank you!</vt:lpstr>
      <vt:lpstr>PowerPoint Presentation</vt:lpstr>
      <vt:lpstr>OUTLINE</vt:lpstr>
      <vt:lpstr>OUTLINE</vt:lpstr>
      <vt:lpstr>Modeling – Textbook modeling styles</vt:lpstr>
      <vt:lpstr>Modeling – Textbook modeling styles</vt:lpstr>
      <vt:lpstr>Modeling – Textbook modeling styles</vt:lpstr>
      <vt:lpstr>Modeling – Textbook modeling styles</vt:lpstr>
      <vt:lpstr>Modeling – Textbook modeling styles</vt:lpstr>
      <vt:lpstr>OUTLINE</vt:lpstr>
      <vt:lpstr>Time scales in energy</vt:lpstr>
      <vt:lpstr>Modeling: Time</vt:lpstr>
      <vt:lpstr>Modeling: Time</vt:lpstr>
      <vt:lpstr>OUTLINE</vt:lpstr>
      <vt:lpstr>Modeling: State variables</vt:lpstr>
      <vt:lpstr>Modeling: State variables</vt:lpstr>
      <vt:lpstr>OUTLINE</vt:lpstr>
      <vt:lpstr>Modeling: Decisions</vt:lpstr>
      <vt:lpstr>Modeling: Decisions</vt:lpstr>
      <vt:lpstr>OUTLINE</vt:lpstr>
      <vt:lpstr>Modeling: Exogenous information</vt:lpstr>
      <vt:lpstr>Modeling: Exogenous information</vt:lpstr>
      <vt:lpstr>Modeling: Exogenous information</vt:lpstr>
      <vt:lpstr>Modeling: Exogenous information</vt:lpstr>
      <vt:lpstr>OUTLINE</vt:lpstr>
      <vt:lpstr>Modeling: Transition function</vt:lpstr>
      <vt:lpstr>Modeling: Transition function</vt:lpstr>
      <vt:lpstr>OUTLINE</vt:lpstr>
      <vt:lpstr>Modeling: Objective function</vt:lpstr>
      <vt:lpstr>Modeling: Objective function</vt:lpstr>
      <vt:lpstr>Modeling: Objective function</vt:lpstr>
      <vt:lpstr>Modeling: Objective function</vt:lpstr>
      <vt:lpstr>Modeling: Objective function</vt:lpstr>
      <vt:lpstr>Modeling: Objective function</vt:lpstr>
      <vt:lpstr>Modeling: Objective function</vt:lpstr>
      <vt:lpstr>Modeling: Objective function</vt:lpstr>
      <vt:lpstr>Modeling: Objective function</vt:lpstr>
      <vt:lpstr>Modeling: Objective function</vt:lpstr>
      <vt:lpstr>Thank you!</vt:lpstr>
      <vt:lpstr>PowerPoint Presentation</vt:lpstr>
      <vt:lpstr>OUTLINE</vt:lpstr>
      <vt:lpstr>OUTLINE</vt:lpstr>
      <vt:lpstr>State variables</vt:lpstr>
      <vt:lpstr>PowerPoint Presentation</vt:lpstr>
      <vt:lpstr>State variables: Definition</vt:lpstr>
      <vt:lpstr>State variables: Definition</vt:lpstr>
      <vt:lpstr>State variables: Definition</vt:lpstr>
      <vt:lpstr>State variables: Definition</vt:lpstr>
      <vt:lpstr>State variables: Definition</vt:lpstr>
      <vt:lpstr>State variables: Definition</vt:lpstr>
      <vt:lpstr>OUTLINE</vt:lpstr>
      <vt:lpstr>State variables: Network problem</vt:lpstr>
      <vt:lpstr>State variables: Network problem</vt:lpstr>
      <vt:lpstr>State variables: Network problem</vt:lpstr>
      <vt:lpstr>State variables: Network problem</vt:lpstr>
      <vt:lpstr>State variables: Network problem</vt:lpstr>
      <vt:lpstr>State variables: Network problem</vt:lpstr>
      <vt:lpstr>State variables: Network problem</vt:lpstr>
      <vt:lpstr>State variables: Network problem</vt:lpstr>
      <vt:lpstr>OUTLINE</vt:lpstr>
      <vt:lpstr>State variables: Belief states</vt:lpstr>
      <vt:lpstr>State variables: Belief states</vt:lpstr>
      <vt:lpstr>OUTLINE</vt:lpstr>
      <vt:lpstr>State variables: Pre- and post-decision states</vt:lpstr>
      <vt:lpstr>State variables: Pre- and post-decision states</vt:lpstr>
      <vt:lpstr>State variables: Pre- and post-decision states</vt:lpstr>
      <vt:lpstr>State variables: Pre- and post-decision states</vt:lpstr>
      <vt:lpstr>OUTLINE</vt:lpstr>
      <vt:lpstr>State variables: Examples</vt:lpstr>
      <vt:lpstr>State variables: Examples</vt:lpstr>
      <vt:lpstr>State variables: Examples</vt:lpstr>
      <vt:lpstr>State variables: Examples</vt:lpstr>
      <vt:lpstr>State variables: Examples</vt:lpstr>
      <vt:lpstr>State variables: Examples</vt:lpstr>
      <vt:lpstr>State variables: Examples</vt:lpstr>
      <vt:lpstr>Thank you!</vt:lpstr>
      <vt:lpstr>PowerPoint Presentation</vt:lpstr>
      <vt:lpstr>OUTLINE</vt:lpstr>
      <vt:lpstr>OUTLINE</vt:lpstr>
      <vt:lpstr>Modeling exogenous information</vt:lpstr>
      <vt:lpstr>Modeling exogenous information</vt:lpstr>
      <vt:lpstr>Modeling exogenous information</vt:lpstr>
      <vt:lpstr>Modeling exogenous information</vt:lpstr>
      <vt:lpstr>Modeling exogenous information</vt:lpstr>
      <vt:lpstr>Modeling exogenous information</vt:lpstr>
      <vt:lpstr>OUTLINE</vt:lpstr>
      <vt:lpstr>The 12 categories of uncertainty</vt:lpstr>
      <vt:lpstr>The 12 categories of uncertainty</vt:lpstr>
      <vt:lpstr>The 12 categories of uncertainty</vt:lpstr>
      <vt:lpstr>The 12 categories of uncertainty</vt:lpstr>
      <vt:lpstr>The 12 categories of uncertainty</vt:lpstr>
      <vt:lpstr>The 12 categories of uncertainty</vt:lpstr>
      <vt:lpstr>OUTLINE</vt:lpstr>
      <vt:lpstr>Different flavors of uncertainty</vt:lpstr>
      <vt:lpstr>Different flavors of uncertainty</vt:lpstr>
      <vt:lpstr>Different flavors of uncertainty</vt:lpstr>
      <vt:lpstr>Different flavors of uncertainty</vt:lpstr>
      <vt:lpstr>OUTLINE</vt:lpstr>
      <vt:lpstr>Generating samples of exogenous information</vt:lpstr>
      <vt:lpstr>Generating samples of exogenous information</vt:lpstr>
      <vt:lpstr>Generating samples of exogenous information</vt:lpstr>
      <vt:lpstr>Generating samples of exogenous information</vt:lpstr>
      <vt:lpstr>Generating samples of exogenous information</vt:lpstr>
      <vt:lpstr>Generating samples of exogenous information</vt:lpstr>
      <vt:lpstr>Generating samples of exogenous information</vt:lpstr>
      <vt:lpstr>Generating samples of exogenous information</vt:lpstr>
      <vt:lpstr>Generating samples of exogenous information</vt:lpstr>
      <vt:lpstr>Generating samples of exogenous information</vt:lpstr>
      <vt:lpstr>Generating samples of exogenous information</vt:lpstr>
      <vt:lpstr>Generating samples of exogenous information</vt:lpstr>
      <vt:lpstr>Generating samples of exogenous information</vt:lpstr>
      <vt:lpstr>Generating samples of exogenous information</vt:lpstr>
      <vt:lpstr>Thank you!</vt:lpstr>
      <vt:lpstr>PowerPoint Presentation</vt:lpstr>
      <vt:lpstr>Designing policies I - Overview</vt:lpstr>
      <vt:lpstr>Designing policies I - Overview</vt:lpstr>
      <vt:lpstr>Designing policies I - Overview</vt:lpstr>
      <vt:lpstr>Designing policies I - Overview</vt:lpstr>
      <vt:lpstr>Designing policies I - Overview</vt:lpstr>
      <vt:lpstr>Designing policies I - Overview</vt:lpstr>
      <vt:lpstr>Designing policies I - Overview</vt:lpstr>
      <vt:lpstr>Designing policies I - Overview</vt:lpstr>
      <vt:lpstr>Designing policies I - Overview</vt:lpstr>
      <vt:lpstr>Designing policies I - Overview</vt:lpstr>
      <vt:lpstr>Designing policies I - Overview</vt:lpstr>
      <vt:lpstr>VFA policies</vt:lpstr>
      <vt:lpstr>PowerPoint Presentation</vt:lpstr>
      <vt:lpstr>PowerPoint Presentation</vt:lpstr>
      <vt:lpstr>Designing policies I - Overview</vt:lpstr>
      <vt:lpstr>Designing policies I - Overview</vt:lpstr>
      <vt:lpstr>Designing policies I - Overview</vt:lpstr>
      <vt:lpstr>Designing policies I - Overview</vt:lpstr>
      <vt:lpstr>Designing policies I - Overview</vt:lpstr>
      <vt:lpstr>Designing policies I - Overview</vt:lpstr>
      <vt:lpstr>Designing policies I - Overview</vt:lpstr>
      <vt:lpstr>Designing policies I - Overview</vt:lpstr>
      <vt:lpstr>Designing policies I - Overview</vt:lpstr>
      <vt:lpstr>PowerPoint Presentation</vt:lpstr>
      <vt:lpstr>Designing policies I - Overview</vt:lpstr>
      <vt:lpstr>Modeling: Objective function</vt:lpstr>
      <vt:lpstr>Modeling: Objective function</vt:lpstr>
      <vt:lpstr>Modeling: Objective function</vt:lpstr>
      <vt:lpstr>Designing policies I - Overview</vt:lpstr>
      <vt:lpstr>Designing policies I - Overview</vt:lpstr>
      <vt:lpstr>Designing policies I - Overview</vt:lpstr>
      <vt:lpstr>Thank you!</vt:lpstr>
      <vt:lpstr>PowerPoint Presentation</vt:lpstr>
      <vt:lpstr>Choosing policies</vt:lpstr>
      <vt:lpstr>Choosing policies</vt:lpstr>
      <vt:lpstr>Choosing policies</vt:lpstr>
      <vt:lpstr>Choosing policies</vt:lpstr>
      <vt:lpstr>Choosing policies</vt:lpstr>
      <vt:lpstr>Choosing policies</vt:lpstr>
      <vt:lpstr>Choosing policies</vt:lpstr>
      <vt:lpstr>Choosing policies</vt:lpstr>
      <vt:lpstr>Choosing policies</vt:lpstr>
      <vt:lpstr>Choosing policies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Warren B. Powell</dc:creator>
  <cp:lastModifiedBy>Warren Powell</cp:lastModifiedBy>
  <cp:revision>795</cp:revision>
  <cp:lastPrinted>2025-05-20T14:08:40Z</cp:lastPrinted>
  <dcterms:modified xsi:type="dcterms:W3CDTF">2026-09-07T19:33:09Z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0x0101000CA48227E3DE37419A418C60F2D64C15</vt:lpwstr>
  </property>
</Properties>
</file>