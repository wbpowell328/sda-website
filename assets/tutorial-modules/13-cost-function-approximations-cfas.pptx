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91"/>
  </p:notesMasterIdLst>
  <p:sldIdLst>
    <p:sldId id="10765" r:id="rId22"/>
    <p:sldId id="9933" r:id="rId23"/>
    <p:sldId id="10270" r:id="rId24"/>
    <p:sldId id="10214" r:id="rId25"/>
    <p:sldId id="9796" r:id="rId26"/>
    <p:sldId id="10207" r:id="rId27"/>
    <p:sldId id="10208" r:id="rId28"/>
    <p:sldId id="10209" r:id="rId29"/>
    <p:sldId id="10210" r:id="rId30"/>
    <p:sldId id="10211" r:id="rId31"/>
    <p:sldId id="10272" r:id="rId32"/>
    <p:sldId id="10891" r:id="rId33"/>
    <p:sldId id="10643" r:id="rId34"/>
    <p:sldId id="10215" r:id="rId35"/>
    <p:sldId id="10589" r:id="rId36"/>
    <p:sldId id="9061" r:id="rId37"/>
    <p:sldId id="9108" r:id="rId38"/>
    <p:sldId id="8939" r:id="rId39"/>
    <p:sldId id="9082" r:id="rId40"/>
    <p:sldId id="10974" r:id="rId41"/>
    <p:sldId id="10737" r:id="rId42"/>
  </p:sldIdLst>
  <p:sldSz cx="12192000" cy="6858000"/>
  <p:notesSz cx="7102475" cy="9388475"/>
  <p:embeddedFontLst>
    <p:embeddedFont>
      <p:font typeface="Cambria Math" panose="02040503050406030204" pitchFamily="18" charset="0"/>
      <p:regular r:id="rId392"/>
    </p:embeddedFont>
    <p:embeddedFont>
      <p:font typeface="Oswald" panose="00000500000000000000" pitchFamily="2" charset="0"/>
      <p:regular r:id="rId393"/>
      <p:bold r:id="rId394"/>
    </p:embeddedFont>
    <p:embeddedFont>
      <p:font typeface="Oswald Regular" panose="00000500000000000000" charset="0"/>
      <p:regular r:id="rId395"/>
      <p:bold r:id="rId396"/>
    </p:embeddedFont>
    <p:embeddedFont>
      <p:font typeface="Playfair Display" panose="00000500000000000000" pitchFamily="2" charset="0"/>
      <p:regular r:id="rId397"/>
      <p:bold r:id="rId398"/>
      <p:italic r:id="rId399"/>
      <p:boldItalic r:id="rId400"/>
    </p:embeddedFont>
    <p:embeddedFont>
      <p:font typeface="Raleway" pitchFamily="2" charset="0"/>
      <p:regular r:id="rId401"/>
      <p:bold r:id="rId402"/>
      <p:italic r:id="rId403"/>
      <p:boldItalic r:id="rId404"/>
    </p:embeddedFont>
    <p:embeddedFont>
      <p:font typeface="Raleway Thin" pitchFamily="2" charset="0"/>
      <p:regular r:id="rId405"/>
      <p:bold r:id="rId406"/>
      <p:italic r:id="rId407"/>
      <p:boldItalic r:id="rId40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Policy function approximations" id="{2968945F-A103-4460-96A7-EAC23413810B}">
          <p14:sldIdLst>
            <p14:sldId id="10760"/>
            <p14:sldId id="10588"/>
            <p14:sldId id="10374"/>
            <p14:sldId id="10378"/>
            <p14:sldId id="10535"/>
            <p14:sldId id="11054"/>
            <p14:sldId id="4656"/>
            <p14:sldId id="4658"/>
            <p14:sldId id="10375"/>
            <p14:sldId id="10376"/>
            <p14:sldId id="10377"/>
            <p14:sldId id="11051"/>
            <p14:sldId id="11050"/>
            <p14:sldId id="11052"/>
            <p14:sldId id="10543"/>
            <p14:sldId id="10664"/>
            <p14:sldId id="11041"/>
          </p14:sldIdLst>
        </p14:section>
        <p14:section name="Cost function approximations" id="{646EA107-656E-4B76-B592-826797412CA6}">
          <p14:sldIdLst>
            <p14:sldId id="10765"/>
            <p14:sldId id="9933"/>
            <p14:sldId id="10270"/>
            <p14:sldId id="10214"/>
            <p14:sldId id="9796"/>
            <p14:sldId id="10207"/>
            <p14:sldId id="10208"/>
            <p14:sldId id="10209"/>
            <p14:sldId id="10210"/>
            <p14:sldId id="10211"/>
            <p14:sldId id="10272"/>
            <p14:sldId id="10891"/>
            <p14:sldId id="10643"/>
            <p14:sldId id="10215"/>
            <p14:sldId id="10589"/>
            <p14:sldId id="9061"/>
            <p14:sldId id="9108"/>
            <p14:sldId id="8939"/>
            <p14:sldId id="9082"/>
            <p14:sldId id="10974"/>
          </p14:sldIdLst>
        </p14:section>
        <p14:section name="Value function approximations (5 parts)" id="{CF00BF4F-5584-4580-9D7B-9D8880ECA957}">
          <p14:sldIdLst>
            <p14:sldId id="10737"/>
            <p14:sldId id="10761"/>
            <p14:sldId id="10975"/>
            <p14:sldId id="11006"/>
            <p14:sldId id="10783"/>
            <p14:sldId id="10699"/>
            <p14:sldId id="10592"/>
            <p14:sldId id="5586"/>
            <p14:sldId id="5576"/>
            <p14:sldId id="10384"/>
            <p14:sldId id="11031"/>
            <p14:sldId id="10985"/>
            <p14:sldId id="6555"/>
            <p14:sldId id="6556"/>
            <p14:sldId id="6557"/>
            <p14:sldId id="6558"/>
            <p14:sldId id="11034"/>
            <p14:sldId id="10423"/>
            <p14:sldId id="11035"/>
            <p14:sldId id="5599"/>
            <p14:sldId id="11056"/>
            <p14:sldId id="10991"/>
            <p14:sldId id="10769"/>
            <p14:sldId id="11007"/>
            <p14:sldId id="10986"/>
            <p14:sldId id="10264"/>
            <p14:sldId id="10265"/>
            <p14:sldId id="10266"/>
            <p14:sldId id="9555"/>
            <p14:sldId id="10688"/>
            <p14:sldId id="10988"/>
            <p14:sldId id="10316"/>
            <p14:sldId id="3309"/>
            <p14:sldId id="10318"/>
            <p14:sldId id="10319"/>
            <p14:sldId id="3311"/>
            <p14:sldId id="3312"/>
            <p14:sldId id="3313"/>
            <p14:sldId id="3314"/>
            <p14:sldId id="10321"/>
            <p14:sldId id="3315"/>
            <p14:sldId id="10322"/>
            <p14:sldId id="3316"/>
            <p14:sldId id="10323"/>
            <p14:sldId id="10595"/>
            <p14:sldId id="11036"/>
            <p14:sldId id="10989"/>
            <p14:sldId id="10717"/>
            <p14:sldId id="6103"/>
            <p14:sldId id="6104"/>
            <p14:sldId id="10528"/>
            <p14:sldId id="6105"/>
            <p14:sldId id="10733"/>
            <p14:sldId id="10326"/>
            <p14:sldId id="10990"/>
            <p14:sldId id="6255"/>
            <p14:sldId id="6256"/>
            <p14:sldId id="6257"/>
            <p14:sldId id="6258"/>
            <p14:sldId id="10992"/>
            <p14:sldId id="10770"/>
            <p14:sldId id="11008"/>
            <p14:sldId id="10996"/>
            <p14:sldId id="6387"/>
            <p14:sldId id="6388"/>
            <p14:sldId id="6389"/>
            <p14:sldId id="10997"/>
            <p14:sldId id="5774"/>
            <p14:sldId id="5777"/>
            <p14:sldId id="5782"/>
            <p14:sldId id="5783"/>
            <p14:sldId id="10593"/>
            <p14:sldId id="5780"/>
            <p14:sldId id="10998"/>
            <p14:sldId id="10641"/>
            <p14:sldId id="9560"/>
            <p14:sldId id="10993"/>
            <p14:sldId id="10772"/>
            <p14:sldId id="11009"/>
            <p14:sldId id="10999"/>
            <p14:sldId id="11101"/>
            <p14:sldId id="10667"/>
            <p14:sldId id="11088"/>
            <p14:sldId id="10958"/>
            <p14:sldId id="11089"/>
            <p14:sldId id="11090"/>
            <p14:sldId id="10956"/>
            <p14:sldId id="5810"/>
            <p14:sldId id="5813"/>
            <p14:sldId id="11091"/>
            <p14:sldId id="11000"/>
            <p14:sldId id="6414"/>
            <p14:sldId id="10959"/>
            <p14:sldId id="10960"/>
            <p14:sldId id="6415"/>
            <p14:sldId id="6416"/>
            <p14:sldId id="6417"/>
            <p14:sldId id="6418"/>
            <p14:sldId id="6419"/>
            <p14:sldId id="11001"/>
            <p14:sldId id="9081"/>
            <p14:sldId id="9088"/>
            <p14:sldId id="9119"/>
            <p14:sldId id="9089"/>
            <p14:sldId id="10947"/>
            <p14:sldId id="10951"/>
            <p14:sldId id="10950"/>
            <p14:sldId id="10949"/>
            <p14:sldId id="10948"/>
            <p14:sldId id="10952"/>
            <p14:sldId id="10476"/>
            <p14:sldId id="10475"/>
            <p14:sldId id="10676"/>
            <p14:sldId id="10677"/>
            <p14:sldId id="10684"/>
            <p14:sldId id="10994"/>
            <p14:sldId id="10771"/>
            <p14:sldId id="11010"/>
            <p14:sldId id="11096"/>
            <p14:sldId id="11097"/>
            <p14:sldId id="413"/>
            <p14:sldId id="414"/>
            <p14:sldId id="416"/>
            <p14:sldId id="11093"/>
            <p14:sldId id="5736"/>
            <p14:sldId id="5737"/>
            <p14:sldId id="5738"/>
            <p14:sldId id="5739"/>
            <p14:sldId id="5740"/>
            <p14:sldId id="5741"/>
            <p14:sldId id="5742"/>
            <p14:sldId id="5743"/>
            <p14:sldId id="5744"/>
            <p14:sldId id="5745"/>
            <p14:sldId id="6099"/>
            <p14:sldId id="5746"/>
            <p14:sldId id="5751"/>
            <p14:sldId id="5752"/>
            <p14:sldId id="5753"/>
            <p14:sldId id="5754"/>
            <p14:sldId id="11098"/>
            <p14:sldId id="5757"/>
            <p14:sldId id="5758"/>
            <p14:sldId id="5759"/>
            <p14:sldId id="5760"/>
            <p14:sldId id="5761"/>
            <p14:sldId id="5762"/>
            <p14:sldId id="10954"/>
            <p14:sldId id="5764"/>
            <p14:sldId id="5765"/>
            <p14:sldId id="5766"/>
            <p14:sldId id="11099"/>
            <p14:sldId id="9936"/>
            <p14:sldId id="9937"/>
            <p14:sldId id="9938"/>
            <p14:sldId id="9939"/>
            <p14:sldId id="9494"/>
            <p14:sldId id="9940"/>
            <p14:sldId id="10730"/>
            <p14:sldId id="9941"/>
            <p14:sldId id="9942"/>
            <p14:sldId id="7912"/>
            <p14:sldId id="9944"/>
            <p14:sldId id="6405"/>
            <p14:sldId id="6407"/>
            <p14:sldId id="6408"/>
            <p14:sldId id="6409"/>
            <p14:sldId id="6410"/>
            <p14:sldId id="6411"/>
            <p14:sldId id="6412"/>
            <p14:sldId id="11100"/>
            <p14:sldId id="11094"/>
            <p14:sldId id="4685"/>
            <p14:sldId id="4686"/>
            <p14:sldId id="4687"/>
            <p14:sldId id="4688"/>
            <p14:sldId id="5909"/>
            <p14:sldId id="5910"/>
            <p14:sldId id="5911"/>
            <p14:sldId id="5912"/>
            <p14:sldId id="5913"/>
            <p14:sldId id="5914"/>
            <p14:sldId id="5915"/>
            <p14:sldId id="5916"/>
            <p14:sldId id="5917"/>
            <p14:sldId id="751"/>
            <p14:sldId id="752"/>
            <p14:sldId id="818"/>
            <p14:sldId id="5923"/>
            <p14:sldId id="817"/>
            <p14:sldId id="5924"/>
            <p14:sldId id="5925"/>
            <p14:sldId id="11095"/>
            <p14:sldId id="10995"/>
          </p14:sldIdLst>
        </p14:section>
        <p14:section name="Direct lookahead approximations (5 parts)" id="{E7718E6B-CD32-432C-BFF1-A2CA0E065725}">
          <p14:sldIdLst>
            <p14:sldId id="10803"/>
            <p14:sldId id="10774"/>
            <p14:sldId id="11012"/>
            <p14:sldId id="11014"/>
            <p14:sldId id="11011"/>
            <p14:sldId id="8804"/>
            <p14:sldId id="8805"/>
            <p14:sldId id="10710"/>
            <p14:sldId id="8809"/>
            <p14:sldId id="8590"/>
            <p14:sldId id="7852"/>
            <p14:sldId id="7853"/>
            <p14:sldId id="7854"/>
            <p14:sldId id="9026"/>
            <p14:sldId id="10644"/>
            <p14:sldId id="11013"/>
            <p14:sldId id="9104"/>
            <p14:sldId id="9105"/>
            <p14:sldId id="9106"/>
            <p14:sldId id="11023"/>
            <p14:sldId id="10773"/>
            <p14:sldId id="11015"/>
            <p14:sldId id="10452"/>
            <p14:sldId id="10453"/>
            <p14:sldId id="10454"/>
            <p14:sldId id="10455"/>
            <p14:sldId id="10456"/>
            <p14:sldId id="10457"/>
            <p14:sldId id="10458"/>
            <p14:sldId id="10459"/>
            <p14:sldId id="10460"/>
            <p14:sldId id="10461"/>
            <p14:sldId id="10462"/>
            <p14:sldId id="10463"/>
            <p14:sldId id="10590"/>
            <p14:sldId id="10601"/>
            <p14:sldId id="10602"/>
            <p14:sldId id="11024"/>
            <p14:sldId id="10775"/>
            <p14:sldId id="11016"/>
            <p14:sldId id="11017"/>
            <p14:sldId id="10277"/>
            <p14:sldId id="8943"/>
            <p14:sldId id="8849"/>
            <p14:sldId id="9059"/>
            <p14:sldId id="933"/>
            <p14:sldId id="934"/>
            <p14:sldId id="944"/>
            <p14:sldId id="7152"/>
            <p14:sldId id="7315"/>
            <p14:sldId id="7310"/>
            <p14:sldId id="9110"/>
            <p14:sldId id="10278"/>
            <p14:sldId id="11018"/>
            <p14:sldId id="10281"/>
            <p14:sldId id="8810"/>
            <p14:sldId id="8811"/>
            <p14:sldId id="8812"/>
            <p14:sldId id="9041"/>
            <p14:sldId id="9042"/>
            <p14:sldId id="10282"/>
            <p14:sldId id="9115"/>
            <p14:sldId id="9085"/>
            <p14:sldId id="8816"/>
            <p14:sldId id="11019"/>
            <p14:sldId id="7561"/>
            <p14:sldId id="10611"/>
            <p14:sldId id="10665"/>
            <p14:sldId id="10612"/>
            <p14:sldId id="7563"/>
            <p14:sldId id="7564"/>
            <p14:sldId id="9116"/>
            <p14:sldId id="10296"/>
            <p14:sldId id="10297"/>
            <p14:sldId id="7568"/>
            <p14:sldId id="11025"/>
            <p14:sldId id="10776"/>
            <p14:sldId id="11020"/>
            <p14:sldId id="10894"/>
            <p14:sldId id="11057"/>
            <p14:sldId id="10897"/>
            <p14:sldId id="3061"/>
            <p14:sldId id="6236"/>
            <p14:sldId id="3038"/>
            <p14:sldId id="11059"/>
            <p14:sldId id="11058"/>
            <p14:sldId id="6238"/>
            <p14:sldId id="6239"/>
            <p14:sldId id="6240"/>
            <p14:sldId id="6241"/>
            <p14:sldId id="10895"/>
            <p14:sldId id="10719"/>
            <p14:sldId id="6671"/>
            <p14:sldId id="6674"/>
            <p14:sldId id="6673"/>
            <p14:sldId id="4634"/>
            <p14:sldId id="6672"/>
            <p14:sldId id="9078"/>
            <p14:sldId id="9079"/>
            <p14:sldId id="9080"/>
            <p14:sldId id="6682"/>
            <p14:sldId id="11026"/>
            <p14:sldId id="10778"/>
            <p14:sldId id="11021"/>
            <p14:sldId id="10898"/>
            <p14:sldId id="3357"/>
            <p14:sldId id="8232"/>
            <p14:sldId id="8233"/>
            <p14:sldId id="8234"/>
            <p14:sldId id="3361"/>
            <p14:sldId id="3972"/>
            <p14:sldId id="6467"/>
            <p14:sldId id="6468"/>
            <p14:sldId id="6472"/>
            <p14:sldId id="6469"/>
            <p14:sldId id="6470"/>
            <p14:sldId id="6471"/>
            <p14:sldId id="6473"/>
            <p14:sldId id="6661"/>
            <p14:sldId id="6474"/>
            <p14:sldId id="6475"/>
            <p14:sldId id="6476"/>
            <p14:sldId id="6479"/>
            <p14:sldId id="10899"/>
            <p14:sldId id="11061"/>
            <p14:sldId id="10931"/>
            <p14:sldId id="11027"/>
          </p14:sldIdLst>
        </p14:section>
        <p14:section name="Policy search" id="{D65F9DCC-2D85-4849-95C7-F79CE871E060}">
          <p14:sldIdLst>
            <p14:sldId id="11038"/>
            <p14:sldId id="11067"/>
            <p14:sldId id="11081"/>
            <p14:sldId id="10407"/>
            <p14:sldId id="10380"/>
            <p14:sldId id="10546"/>
            <p14:sldId id="10381"/>
            <p14:sldId id="11082"/>
            <p14:sldId id="5581"/>
            <p14:sldId id="10568"/>
            <p14:sldId id="11062"/>
            <p14:sldId id="11063"/>
            <p14:sldId id="11064"/>
            <p14:sldId id="10382"/>
            <p14:sldId id="11083"/>
            <p14:sldId id="10642"/>
            <p14:sldId id="10732"/>
            <p14:sldId id="11065"/>
            <p14:sldId id="11084"/>
            <p14:sldId id="11044"/>
            <p14:sldId id="10252"/>
            <p14:sldId id="10548"/>
            <p14:sldId id="11085"/>
            <p14:sldId id="11075"/>
            <p14:sldId id="11077"/>
            <p14:sldId id="11080"/>
            <p14:sldId id="11066"/>
            <p14:sldId id="10973"/>
          </p14:sldIdLst>
        </p14:section>
        <p14:section name="Ending slide" id="{A38FE40B-7866-452A-AB51-D7C6AA82D48C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99" autoAdjust="0"/>
  </p:normalViewPr>
  <p:slideViewPr>
    <p:cSldViewPr snapToGrid="0">
      <p:cViewPr varScale="1">
        <p:scale>
          <a:sx n="73" d="100"/>
          <a:sy n="73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0061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2" Type="http://schemas.openxmlformats.org/officeDocument/2006/relationships/slide" Target="slides/slide28.xml"/><Relationship Id="rId402" Type="http://schemas.openxmlformats.org/officeDocument/2006/relationships/font" Target="fonts/font11.fntdata"/><Relationship Id="rId399" Type="http://schemas.openxmlformats.org/officeDocument/2006/relationships/font" Target="fonts/font8.fntdata"/><Relationship Id="rId23" Type="http://schemas.openxmlformats.org/officeDocument/2006/relationships/slide" Target="slides/slide19.xml"/><Relationship Id="rId34" Type="http://schemas.openxmlformats.org/officeDocument/2006/relationships/slide" Target="slides/slide30.xml"/><Relationship Id="rId404" Type="http://schemas.openxmlformats.org/officeDocument/2006/relationships/font" Target="fonts/font13.fntdata"/><Relationship Id="rId25" Type="http://schemas.openxmlformats.org/officeDocument/2006/relationships/slide" Target="slides/slide21.xml"/><Relationship Id="rId36" Type="http://schemas.openxmlformats.org/officeDocument/2006/relationships/slide" Target="slides/slide32.xml"/><Relationship Id="rId406" Type="http://schemas.openxmlformats.org/officeDocument/2006/relationships/font" Target="fonts/font15.fntdata"/><Relationship Id="rId392" Type="http://schemas.openxmlformats.org/officeDocument/2006/relationships/font" Target="fonts/font1.fntdata"/><Relationship Id="rId27" Type="http://schemas.openxmlformats.org/officeDocument/2006/relationships/slide" Target="slides/slide23.xml"/><Relationship Id="rId38" Type="http://schemas.openxmlformats.org/officeDocument/2006/relationships/slide" Target="slides/slide34.xml"/><Relationship Id="rId394" Type="http://schemas.openxmlformats.org/officeDocument/2006/relationships/font" Target="fonts/font3.fntdata"/><Relationship Id="rId408" Type="http://schemas.openxmlformats.org/officeDocument/2006/relationships/font" Target="fonts/font17.fntdata"/><Relationship Id="rId1" Type="http://schemas.openxmlformats.org/officeDocument/2006/relationships/customXml" Target="../customXml/item1.xml"/><Relationship Id="rId28" Type="http://schemas.openxmlformats.org/officeDocument/2006/relationships/slide" Target="slides/slide24.xml"/><Relationship Id="rId39" Type="http://schemas.openxmlformats.org/officeDocument/2006/relationships/slide" Target="slides/slide35.xml"/><Relationship Id="rId395" Type="http://schemas.openxmlformats.org/officeDocument/2006/relationships/font" Target="fonts/font4.fntdata"/><Relationship Id="rId409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40" Type="http://schemas.openxmlformats.org/officeDocument/2006/relationships/slide" Target="slides/slide36.xml"/><Relationship Id="rId410" Type="http://schemas.openxmlformats.org/officeDocument/2006/relationships/viewProps" Target="viewProps.xml"/><Relationship Id="rId30" Type="http://schemas.openxmlformats.org/officeDocument/2006/relationships/slide" Target="slides/slide26.xml"/><Relationship Id="rId396" Type="http://schemas.openxmlformats.org/officeDocument/2006/relationships/font" Target="fonts/font5.fntdata"/><Relationship Id="rId3" Type="http://schemas.openxmlformats.org/officeDocument/2006/relationships/customXml" Target="../customXml/item3.xml"/><Relationship Id="rId400" Type="http://schemas.openxmlformats.org/officeDocument/2006/relationships/font" Target="fonts/font9.fntdata"/><Relationship Id="rId41" Type="http://schemas.openxmlformats.org/officeDocument/2006/relationships/slide" Target="slides/slide37.xml"/><Relationship Id="rId411" Type="http://schemas.openxmlformats.org/officeDocument/2006/relationships/theme" Target="theme/theme1.xml"/><Relationship Id="rId31" Type="http://schemas.openxmlformats.org/officeDocument/2006/relationships/slide" Target="slides/slide27.xml"/><Relationship Id="rId397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401" Type="http://schemas.openxmlformats.org/officeDocument/2006/relationships/font" Target="fonts/font10.fntdata"/><Relationship Id="rId42" Type="http://schemas.openxmlformats.org/officeDocument/2006/relationships/slide" Target="slides/slide38.xml"/><Relationship Id="rId412" Type="http://schemas.openxmlformats.org/officeDocument/2006/relationships/tableStyles" Target="tableStyles.xml"/><Relationship Id="rId398" Type="http://schemas.openxmlformats.org/officeDocument/2006/relationships/font" Target="fonts/font7.fntdata"/><Relationship Id="rId22" Type="http://schemas.openxmlformats.org/officeDocument/2006/relationships/slide" Target="slides/slide18.xml"/><Relationship Id="rId33" Type="http://schemas.openxmlformats.org/officeDocument/2006/relationships/slide" Target="slides/slide29.xml"/><Relationship Id="rId403" Type="http://schemas.openxmlformats.org/officeDocument/2006/relationships/font" Target="fonts/font12.fntdata"/><Relationship Id="rId24" Type="http://schemas.openxmlformats.org/officeDocument/2006/relationships/slide" Target="slides/slide20.xml"/><Relationship Id="rId35" Type="http://schemas.openxmlformats.org/officeDocument/2006/relationships/slide" Target="slides/slide31.xml"/><Relationship Id="rId391" Type="http://schemas.openxmlformats.org/officeDocument/2006/relationships/notesMaster" Target="notesMasters/notesMaster1.xml"/><Relationship Id="rId405" Type="http://schemas.openxmlformats.org/officeDocument/2006/relationships/font" Target="fonts/font14.fntdata"/><Relationship Id="rId26" Type="http://schemas.openxmlformats.org/officeDocument/2006/relationships/slide" Target="slides/slide22.xml"/><Relationship Id="rId37" Type="http://schemas.openxmlformats.org/officeDocument/2006/relationships/slide" Target="slides/slide33.xml"/><Relationship Id="rId393" Type="http://schemas.openxmlformats.org/officeDocument/2006/relationships/font" Target="fonts/font2.fntdata"/><Relationship Id="rId407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33D9495-9285-F582-AE0D-18292633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6D8E609F-80F5-2524-D6C4-B3DB191D31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DE5DA7D4-4DBF-C411-2356-6164B20F9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0483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98DF162-CC91-AABF-402A-891E73CF4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816A8F16-0700-575D-F2F6-A6E21330B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B6D5C11D-571F-850B-EE4C-CF2E8D95D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3651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9F78-E898-4079-E704-3107AD91B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06030A1-0E1F-479F-8076-438C52EE99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57CC0E-6706-4AED-86F2-1C9FFFFAA322}" type="slidenum">
              <a:rPr lang="en-US"/>
              <a:pPr/>
              <a:t>22</a:t>
            </a:fld>
            <a:endParaRPr lang="en-US"/>
          </a:p>
        </p:txBody>
      </p:sp>
      <p:sp>
        <p:nvSpPr>
          <p:cNvPr id="1285122" name="Rectangle 7">
            <a:extLst>
              <a:ext uri="{FF2B5EF4-FFF2-40B4-BE49-F238E27FC236}">
                <a16:creationId xmlns:a16="http://schemas.microsoft.com/office/drawing/2014/main" id="{72B565AA-F833-79B1-C532-174D1E567A0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6" tIns="45708" rIns="91416" bIns="45708"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3263" indent="-27146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0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28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275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034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06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178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50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BC551BB6-A4D1-4F58-B040-EC30CA89B13C}" type="slidenum">
              <a:rPr lang="en-US" sz="1100" i="0">
                <a:latin typeface="Times New Roman" pitchFamily="18" charset="0"/>
              </a:rPr>
              <a:pPr algn="r" eaLnBrk="0" hangingPunct="0"/>
              <a:t>22</a:t>
            </a:fld>
            <a:endParaRPr lang="en-US" sz="1100" i="0">
              <a:latin typeface="Times New Roman" pitchFamily="18" charset="0"/>
            </a:endParaRPr>
          </a:p>
        </p:txBody>
      </p:sp>
      <p:sp>
        <p:nvSpPr>
          <p:cNvPr id="1285123" name="Rectangle 2">
            <a:extLst>
              <a:ext uri="{FF2B5EF4-FFF2-40B4-BE49-F238E27FC236}">
                <a16:creationId xmlns:a16="http://schemas.microsoft.com/office/drawing/2014/main" id="{E57C8BC4-FB4B-E492-1B63-4E5D551DCC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4213"/>
            <a:ext cx="6097588" cy="3430587"/>
          </a:xfrm>
          <a:ln/>
        </p:spPr>
      </p:sp>
      <p:sp>
        <p:nvSpPr>
          <p:cNvPr id="1285124" name="Rectangle 3">
            <a:extLst>
              <a:ext uri="{FF2B5EF4-FFF2-40B4-BE49-F238E27FC236}">
                <a16:creationId xmlns:a16="http://schemas.microsoft.com/office/drawing/2014/main" id="{396B0F58-735B-57A7-EE5B-DE1A0F6A1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6388"/>
          </a:xfrm>
        </p:spPr>
        <p:txBody>
          <a:bodyPr lIns="91416" tIns="45708" rIns="91416" bIns="4570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403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53D88-7728-761E-2A61-AC39B6E4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DEB0E8-E743-B5B7-1184-D4883239BD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57CC0E-6706-4AED-86F2-1C9FFFFAA322}" type="slidenum">
              <a:rPr lang="en-US"/>
              <a:pPr/>
              <a:t>23</a:t>
            </a:fld>
            <a:endParaRPr lang="en-US"/>
          </a:p>
        </p:txBody>
      </p:sp>
      <p:sp>
        <p:nvSpPr>
          <p:cNvPr id="1285122" name="Rectangle 7">
            <a:extLst>
              <a:ext uri="{FF2B5EF4-FFF2-40B4-BE49-F238E27FC236}">
                <a16:creationId xmlns:a16="http://schemas.microsoft.com/office/drawing/2014/main" id="{02C392F7-0297-0F8B-645A-7764C811EF3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6" tIns="45708" rIns="91416" bIns="45708"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3263" indent="-27146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0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28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275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034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06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178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50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BC551BB6-A4D1-4F58-B040-EC30CA89B13C}" type="slidenum">
              <a:rPr lang="en-US" sz="1100" i="0">
                <a:latin typeface="Times New Roman" pitchFamily="18" charset="0"/>
              </a:rPr>
              <a:pPr algn="r" eaLnBrk="0" hangingPunct="0"/>
              <a:t>23</a:t>
            </a:fld>
            <a:endParaRPr lang="en-US" sz="1100" i="0">
              <a:latin typeface="Times New Roman" pitchFamily="18" charset="0"/>
            </a:endParaRPr>
          </a:p>
        </p:txBody>
      </p:sp>
      <p:sp>
        <p:nvSpPr>
          <p:cNvPr id="1285123" name="Rectangle 2">
            <a:extLst>
              <a:ext uri="{FF2B5EF4-FFF2-40B4-BE49-F238E27FC236}">
                <a16:creationId xmlns:a16="http://schemas.microsoft.com/office/drawing/2014/main" id="{A22A1100-A334-2C34-75F2-7579A64B05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4213"/>
            <a:ext cx="6097588" cy="3430587"/>
          </a:xfrm>
          <a:ln/>
        </p:spPr>
      </p:sp>
      <p:sp>
        <p:nvSpPr>
          <p:cNvPr id="1285124" name="Rectangle 3">
            <a:extLst>
              <a:ext uri="{FF2B5EF4-FFF2-40B4-BE49-F238E27FC236}">
                <a16:creationId xmlns:a16="http://schemas.microsoft.com/office/drawing/2014/main" id="{41C596E4-D960-C009-7BE5-D05AA82A92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6388"/>
          </a:xfrm>
        </p:spPr>
        <p:txBody>
          <a:bodyPr lIns="91416" tIns="45708" rIns="91416" bIns="4570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90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56F8C-DCD3-FD37-CC7D-D0714A523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CCDE0F-84F3-F398-7871-1D324BAF9E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57CC0E-6706-4AED-86F2-1C9FFFFAA322}" type="slidenum">
              <a:rPr lang="en-US"/>
              <a:pPr/>
              <a:t>24</a:t>
            </a:fld>
            <a:endParaRPr lang="en-US"/>
          </a:p>
        </p:txBody>
      </p:sp>
      <p:sp>
        <p:nvSpPr>
          <p:cNvPr id="1285122" name="Rectangle 7">
            <a:extLst>
              <a:ext uri="{FF2B5EF4-FFF2-40B4-BE49-F238E27FC236}">
                <a16:creationId xmlns:a16="http://schemas.microsoft.com/office/drawing/2014/main" id="{823F5C85-4ECF-94E2-8F28-4FC9060D822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6" tIns="45708" rIns="91416" bIns="45708"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3263" indent="-27146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0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28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275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034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06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178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50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BC551BB6-A4D1-4F58-B040-EC30CA89B13C}" type="slidenum">
              <a:rPr lang="en-US" sz="1100" i="0">
                <a:latin typeface="Times New Roman" pitchFamily="18" charset="0"/>
              </a:rPr>
              <a:pPr algn="r" eaLnBrk="0" hangingPunct="0"/>
              <a:t>24</a:t>
            </a:fld>
            <a:endParaRPr lang="en-US" sz="1100" i="0">
              <a:latin typeface="Times New Roman" pitchFamily="18" charset="0"/>
            </a:endParaRPr>
          </a:p>
        </p:txBody>
      </p:sp>
      <p:sp>
        <p:nvSpPr>
          <p:cNvPr id="1285123" name="Rectangle 2">
            <a:extLst>
              <a:ext uri="{FF2B5EF4-FFF2-40B4-BE49-F238E27FC236}">
                <a16:creationId xmlns:a16="http://schemas.microsoft.com/office/drawing/2014/main" id="{E0957ED0-1013-DC29-5917-88CDE8076C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4213"/>
            <a:ext cx="6097588" cy="3430587"/>
          </a:xfrm>
          <a:ln/>
        </p:spPr>
      </p:sp>
      <p:sp>
        <p:nvSpPr>
          <p:cNvPr id="1285124" name="Rectangle 3">
            <a:extLst>
              <a:ext uri="{FF2B5EF4-FFF2-40B4-BE49-F238E27FC236}">
                <a16:creationId xmlns:a16="http://schemas.microsoft.com/office/drawing/2014/main" id="{A7D194B2-917D-91DC-C150-4660FF36FC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6388"/>
          </a:xfrm>
        </p:spPr>
        <p:txBody>
          <a:bodyPr lIns="91416" tIns="45708" rIns="91416" bIns="4570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94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4B2A-83A8-3089-3A25-90C03049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CBF8A2E-CC17-8439-EC8F-229153FCA5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57CC0E-6706-4AED-86F2-1C9FFFFAA322}" type="slidenum">
              <a:rPr lang="en-US"/>
              <a:pPr/>
              <a:t>26</a:t>
            </a:fld>
            <a:endParaRPr lang="en-US"/>
          </a:p>
        </p:txBody>
      </p:sp>
      <p:sp>
        <p:nvSpPr>
          <p:cNvPr id="1285122" name="Rectangle 7">
            <a:extLst>
              <a:ext uri="{FF2B5EF4-FFF2-40B4-BE49-F238E27FC236}">
                <a16:creationId xmlns:a16="http://schemas.microsoft.com/office/drawing/2014/main" id="{C1DAC65A-5B23-F1E7-0C81-D5B932B59F5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6" tIns="45708" rIns="91416" bIns="45708"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3263" indent="-27146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0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28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275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034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06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178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50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BC551BB6-A4D1-4F58-B040-EC30CA89B13C}" type="slidenum">
              <a:rPr lang="en-US" sz="1100" i="0">
                <a:latin typeface="Times New Roman" pitchFamily="18" charset="0"/>
              </a:rPr>
              <a:pPr algn="r" eaLnBrk="0" hangingPunct="0"/>
              <a:t>26</a:t>
            </a:fld>
            <a:endParaRPr lang="en-US" sz="1100" i="0">
              <a:latin typeface="Times New Roman" pitchFamily="18" charset="0"/>
            </a:endParaRPr>
          </a:p>
        </p:txBody>
      </p:sp>
      <p:sp>
        <p:nvSpPr>
          <p:cNvPr id="1285123" name="Rectangle 2">
            <a:extLst>
              <a:ext uri="{FF2B5EF4-FFF2-40B4-BE49-F238E27FC236}">
                <a16:creationId xmlns:a16="http://schemas.microsoft.com/office/drawing/2014/main" id="{9A402407-C965-0DDD-18E8-BA8D01686C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4213"/>
            <a:ext cx="6097588" cy="3430587"/>
          </a:xfrm>
          <a:ln/>
        </p:spPr>
      </p:sp>
      <p:sp>
        <p:nvSpPr>
          <p:cNvPr id="1285124" name="Rectangle 3">
            <a:extLst>
              <a:ext uri="{FF2B5EF4-FFF2-40B4-BE49-F238E27FC236}">
                <a16:creationId xmlns:a16="http://schemas.microsoft.com/office/drawing/2014/main" id="{04FAE49E-E6E1-E875-F720-7A31610F2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6388"/>
          </a:xfrm>
        </p:spPr>
        <p:txBody>
          <a:bodyPr lIns="91416" tIns="45708" rIns="91416" bIns="4570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88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5421A-228A-C3D3-2F8A-4D040B4C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AE08547-3684-6556-3F5E-26A2E0CB4A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57CC0E-6706-4AED-86F2-1C9FFFFAA322}" type="slidenum">
              <a:rPr lang="en-US"/>
              <a:pPr/>
              <a:t>27</a:t>
            </a:fld>
            <a:endParaRPr lang="en-US"/>
          </a:p>
        </p:txBody>
      </p:sp>
      <p:sp>
        <p:nvSpPr>
          <p:cNvPr id="1285122" name="Rectangle 7">
            <a:extLst>
              <a:ext uri="{FF2B5EF4-FFF2-40B4-BE49-F238E27FC236}">
                <a16:creationId xmlns:a16="http://schemas.microsoft.com/office/drawing/2014/main" id="{FF84E349-1E5D-33C8-A3EF-EDFD74E7A27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6" tIns="45708" rIns="91416" bIns="45708"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3263" indent="-27146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0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28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275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034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06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178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50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BC551BB6-A4D1-4F58-B040-EC30CA89B13C}" type="slidenum">
              <a:rPr lang="en-US" sz="1100" i="0">
                <a:latin typeface="Times New Roman" pitchFamily="18" charset="0"/>
              </a:rPr>
              <a:pPr algn="r" eaLnBrk="0" hangingPunct="0"/>
              <a:t>27</a:t>
            </a:fld>
            <a:endParaRPr lang="en-US" sz="1100" i="0">
              <a:latin typeface="Times New Roman" pitchFamily="18" charset="0"/>
            </a:endParaRPr>
          </a:p>
        </p:txBody>
      </p:sp>
      <p:sp>
        <p:nvSpPr>
          <p:cNvPr id="1285123" name="Rectangle 2">
            <a:extLst>
              <a:ext uri="{FF2B5EF4-FFF2-40B4-BE49-F238E27FC236}">
                <a16:creationId xmlns:a16="http://schemas.microsoft.com/office/drawing/2014/main" id="{CEB8F5C4-CA7A-8825-90D1-4E4F7C524E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4213"/>
            <a:ext cx="6097588" cy="3430587"/>
          </a:xfrm>
          <a:ln/>
        </p:spPr>
      </p:sp>
      <p:sp>
        <p:nvSpPr>
          <p:cNvPr id="1285124" name="Rectangle 3">
            <a:extLst>
              <a:ext uri="{FF2B5EF4-FFF2-40B4-BE49-F238E27FC236}">
                <a16:creationId xmlns:a16="http://schemas.microsoft.com/office/drawing/2014/main" id="{1222A51D-4AE7-5720-D4F0-E0F0DAE67D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6388"/>
          </a:xfrm>
        </p:spPr>
        <p:txBody>
          <a:bodyPr lIns="91416" tIns="45708" rIns="91416" bIns="4570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99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DAB8F-C81E-261D-CF4C-FABB5AA67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>
            <a:extLst>
              <a:ext uri="{FF2B5EF4-FFF2-40B4-BE49-F238E27FC236}">
                <a16:creationId xmlns:a16="http://schemas.microsoft.com/office/drawing/2014/main" id="{44B24329-5241-43CA-7035-F5C5D05D0C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>
            <a:extLst>
              <a:ext uri="{FF2B5EF4-FFF2-40B4-BE49-F238E27FC236}">
                <a16:creationId xmlns:a16="http://schemas.microsoft.com/office/drawing/2014/main" id="{085FB949-D4B1-0CC5-243B-2692301AB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67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101C324-0BBD-4272-16D4-B933ED89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EC29B35C-81B5-97D2-9C2C-98A0FF078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BA7CA3AC-C1F7-CC3A-2DFA-3AC0936861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117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948913D-D8F9-15FF-EA84-D8FACAE3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72AF0995-79AA-2468-D92E-63F556A85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E24D60C5-8A0D-8794-DA87-CCE4481A8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1693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W.B. Powell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8028B9-87C7-4915-BF62-49E2F3848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260.png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2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1.png"/><Relationship Id="rId3" Type="http://schemas.openxmlformats.org/officeDocument/2006/relationships/image" Target="../media/image400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561.png"/><Relationship Id="rId9" Type="http://schemas.openxmlformats.org/officeDocument/2006/relationships/hyperlink" Target="https://tinyurl.com/LearningWhileDoing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31.png"/><Relationship Id="rId2" Type="http://schemas.openxmlformats.org/officeDocument/2006/relationships/image" Target="../media/image137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0.png"/><Relationship Id="rId13" Type="http://schemas.openxmlformats.org/officeDocument/2006/relationships/image" Target="../media/image19120.png"/><Relationship Id="rId18" Type="http://schemas.openxmlformats.org/officeDocument/2006/relationships/image" Target="../media/image1111.png"/><Relationship Id="rId3" Type="http://schemas.openxmlformats.org/officeDocument/2006/relationships/image" Target="../media/image18110.png"/><Relationship Id="rId12" Type="http://schemas.openxmlformats.org/officeDocument/2006/relationships/image" Target="../media/image19030.png"/><Relationship Id="rId17" Type="http://schemas.openxmlformats.org/officeDocument/2006/relationships/image" Target="../media/image1101.png"/><Relationship Id="rId2" Type="http://schemas.openxmlformats.org/officeDocument/2006/relationships/image" Target="../media/image18010.png"/><Relationship Id="rId16" Type="http://schemas.openxmlformats.org/officeDocument/2006/relationships/image" Target="../media/image10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00.png"/><Relationship Id="rId24" Type="http://schemas.openxmlformats.org/officeDocument/2006/relationships/image" Target="../media/image11200.png"/><Relationship Id="rId5" Type="http://schemas.openxmlformats.org/officeDocument/2006/relationships/image" Target="../media/image183000.png"/><Relationship Id="rId15" Type="http://schemas.openxmlformats.org/officeDocument/2006/relationships/image" Target="../media/image1080.png"/><Relationship Id="rId23" Type="http://schemas.openxmlformats.org/officeDocument/2006/relationships/image" Target="../media/image990.png"/><Relationship Id="rId10" Type="http://schemas.openxmlformats.org/officeDocument/2006/relationships/image" Target="../media/image1050.png"/><Relationship Id="rId4" Type="http://schemas.openxmlformats.org/officeDocument/2006/relationships/image" Target="../media/image1040.png"/><Relationship Id="rId9" Type="http://schemas.openxmlformats.org/officeDocument/2006/relationships/image" Target="../media/image187000.png"/><Relationship Id="rId14" Type="http://schemas.openxmlformats.org/officeDocument/2006/relationships/image" Target="../media/image1071.png"/><Relationship Id="rId22" Type="http://schemas.openxmlformats.org/officeDocument/2006/relationships/image" Target="../media/image98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1.png"/><Relationship Id="rId5" Type="http://schemas.openxmlformats.org/officeDocument/2006/relationships/image" Target="../media/image2541.png"/><Relationship Id="rId4" Type="http://schemas.openxmlformats.org/officeDocument/2006/relationships/image" Target="../media/image258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6F435-D923-B072-D9B8-2E945A34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71524B-C1D7-11DF-F083-8F69C8CBC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8FA6C3C-2303-B514-4C2F-CF8422316965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89CDE70-31C5-DF6B-0705-FE9E5FD4DE4A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96388E-B155-774A-F9E6-E70673FDB178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397844-CCA5-B5B4-6AE8-DF65B6C0D6C3}"/>
              </a:ext>
            </a:extLst>
          </p:cNvPr>
          <p:cNvSpPr txBox="1">
            <a:spLocks/>
          </p:cNvSpPr>
          <p:nvPr/>
        </p:nvSpPr>
        <p:spPr>
          <a:xfrm>
            <a:off x="1212348" y="2902230"/>
            <a:ext cx="8299297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Cost function approximations (CFAs)_ – Introduces the use of parameterized deterministic optimization models, which opens the door to handling both discrete and vector-valued decisions.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F1EC7C-EB51-2423-C6E1-401ED75A49EB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Mathematical description of policy function approximations.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EE0B869-00C4-9A5E-94D9-43CC36A37CB2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(detailed)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96F4C8-088A-BDBB-60D4-B216B8FC1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49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BF8B34A-4687-BDAC-2596-6CDDA240D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67345E-6208-2B6C-EF8C-045EDCDA2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9C8380DB-9CF8-B6A2-EF8B-281D5D612B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F2995093-E159-7A09-F67B-14979E641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dirty="0">
                <a:solidFill>
                  <a:schemeClr val="bg1"/>
                </a:solidFill>
              </a:rPr>
              <a:t>2) Cost function approximations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Discrete choices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Continuous vectors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578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3D9CA08-8354-F822-8813-1BD59E12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4920D-D716-7103-ADB1-F1F7FB9AB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DA45CEF9-88BF-E50E-526E-85FBDEEBC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6" name="Google Shape;247;p26">
            <a:extLst>
              <a:ext uri="{FF2B5EF4-FFF2-40B4-BE49-F238E27FC236}">
                <a16:creationId xmlns:a16="http://schemas.microsoft.com/office/drawing/2014/main" id="{25EB0B39-1336-6E3E-24D9-900BF01729ED}"/>
              </a:ext>
            </a:extLst>
          </p:cNvPr>
          <p:cNvSpPr txBox="1">
            <a:spLocks/>
          </p:cNvSpPr>
          <p:nvPr/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buClr>
                <a:schemeClr val="lt1"/>
              </a:buClr>
              <a:buFont typeface="Raleway"/>
              <a:buNone/>
            </a:pPr>
            <a:r>
              <a:rPr lang="en-US" dirty="0">
                <a:solidFill>
                  <a:schemeClr val="bg1"/>
                </a:solidFill>
              </a:rPr>
              <a:t>2) Cost function approximations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Discrete choices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Continuous vectors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16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28A33-E661-9814-AA88-EA0FF0FE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451D-B6B6-72FA-02C4-0D191FEF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approximations: Discrete choices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1BBF4-2B35-7E2D-083B-9C3079954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Discrete decisions</a:t>
            </a:r>
          </a:p>
          <a:p>
            <a:pPr lvl="1"/>
            <a:r>
              <a:rPr lang="en-US" sz="1800" dirty="0"/>
              <a:t>Best drug?</a:t>
            </a:r>
          </a:p>
          <a:p>
            <a:pPr lvl="1"/>
            <a:r>
              <a:rPr lang="en-US" sz="1800" dirty="0"/>
              <a:t>Best price?</a:t>
            </a:r>
          </a:p>
          <a:p>
            <a:pPr lvl="1"/>
            <a:r>
              <a:rPr lang="en-US" sz="1800" dirty="0"/>
              <a:t>Best supplier</a:t>
            </a:r>
            <a:endParaRPr lang="en-US" dirty="0"/>
          </a:p>
          <a:p>
            <a:pPr marL="8636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Vector-valued decisions</a:t>
            </a:r>
          </a:p>
          <a:p>
            <a:pPr lvl="1"/>
            <a:r>
              <a:rPr lang="en-US" sz="1800" dirty="0"/>
              <a:t>Allocating funds to investments</a:t>
            </a:r>
          </a:p>
          <a:p>
            <a:pPr lvl="1"/>
            <a:r>
              <a:rPr lang="en-US" sz="1800" dirty="0"/>
              <a:t>Assigning machines to tasks</a:t>
            </a:r>
          </a:p>
          <a:p>
            <a:pPr lvl="1"/>
            <a:r>
              <a:rPr lang="en-US" sz="1800" dirty="0"/>
              <a:t>Leasing warehouses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C4A39385-3994-8D32-A58B-2FFCA7E5B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738" y="3986784"/>
            <a:ext cx="4725910" cy="1661304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88F4BC9F-5B4E-E135-6B27-2C19279AB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306" y="1489308"/>
            <a:ext cx="4725910" cy="1894466"/>
          </a:xfrm>
          <a:prstGeom prst="rect">
            <a:avLst/>
          </a:prstGeom>
        </p:spPr>
      </p:pic>
      <p:sp>
        <p:nvSpPr>
          <p:cNvPr id="5" name="Google Shape;3373;p69">
            <a:extLst>
              <a:ext uri="{FF2B5EF4-FFF2-40B4-BE49-F238E27FC236}">
                <a16:creationId xmlns:a16="http://schemas.microsoft.com/office/drawing/2014/main" id="{AEBC731E-7B0E-A4E2-CE57-179FAE55E726}"/>
              </a:ext>
            </a:extLst>
          </p:cNvPr>
          <p:cNvSpPr/>
          <p:nvPr/>
        </p:nvSpPr>
        <p:spPr>
          <a:xfrm rot="10800000">
            <a:off x="-8150" y="1274045"/>
            <a:ext cx="12206400" cy="2337599"/>
          </a:xfrm>
          <a:prstGeom prst="rect">
            <a:avLst/>
          </a:prstGeom>
          <a:solidFill>
            <a:srgbClr val="8585E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350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3833B-0D77-2521-91FB-2856F7FC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2DDD148-A002-642E-CBD8-2CA6E877FD4D}"/>
              </a:ext>
            </a:extLst>
          </p:cNvPr>
          <p:cNvSpPr txBox="1">
            <a:spLocks noChangeArrowheads="1"/>
          </p:cNvSpPr>
          <p:nvPr/>
        </p:nvSpPr>
        <p:spPr>
          <a:xfrm>
            <a:off x="633539" y="1054953"/>
            <a:ext cx="10536329" cy="951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86360" indent="0">
              <a:buNone/>
            </a:pPr>
            <a:r>
              <a:rPr lang="en-US" dirty="0">
                <a:latin typeface="Raleway" pitchFamily="2" charset="0"/>
              </a:rPr>
              <a:t>The most common decision problem that we all face involves finding the best of a discrete set of choices:</a:t>
            </a:r>
          </a:p>
        </p:txBody>
      </p:sp>
      <p:sp>
        <p:nvSpPr>
          <p:cNvPr id="1284101" name="Line 4">
            <a:extLst>
              <a:ext uri="{FF2B5EF4-FFF2-40B4-BE49-F238E27FC236}">
                <a16:creationId xmlns:a16="http://schemas.microsoft.com/office/drawing/2014/main" id="{B1C12EE9-15FC-8A5A-4A10-E5637DE53C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316" y="5073844"/>
            <a:ext cx="620354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4107" name="Text Box 10">
            <a:extLst>
              <a:ext uri="{FF2B5EF4-FFF2-40B4-BE49-F238E27FC236}">
                <a16:creationId xmlns:a16="http://schemas.microsoft.com/office/drawing/2014/main" id="{BA5CCDD1-8F6F-FEC0-9CE7-3E2DD2949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054" y="5077019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1</a:t>
            </a:r>
          </a:p>
        </p:txBody>
      </p:sp>
      <p:sp>
        <p:nvSpPr>
          <p:cNvPr id="1284108" name="Text Box 11">
            <a:extLst>
              <a:ext uri="{FF2B5EF4-FFF2-40B4-BE49-F238E27FC236}">
                <a16:creationId xmlns:a16="http://schemas.microsoft.com/office/drawing/2014/main" id="{47FC27FF-4AAD-9637-492F-7F83E7E17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129" y="5077019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2</a:t>
            </a:r>
          </a:p>
        </p:txBody>
      </p:sp>
      <p:sp>
        <p:nvSpPr>
          <p:cNvPr id="1284109" name="Text Box 12">
            <a:extLst>
              <a:ext uri="{FF2B5EF4-FFF2-40B4-BE49-F238E27FC236}">
                <a16:creationId xmlns:a16="http://schemas.microsoft.com/office/drawing/2014/main" id="{CFEBB05E-1473-6E19-0EB8-EEC4D9C5B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9192" y="5077019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3</a:t>
            </a:r>
          </a:p>
        </p:txBody>
      </p:sp>
      <p:sp>
        <p:nvSpPr>
          <p:cNvPr id="1284110" name="Text Box 13">
            <a:extLst>
              <a:ext uri="{FF2B5EF4-FFF2-40B4-BE49-F238E27FC236}">
                <a16:creationId xmlns:a16="http://schemas.microsoft.com/office/drawing/2014/main" id="{15D4458B-69CA-5940-0BC6-180C08F04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792" y="5077019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sp>
        <p:nvSpPr>
          <p:cNvPr id="87" name="Text Box 13">
            <a:extLst>
              <a:ext uri="{FF2B5EF4-FFF2-40B4-BE49-F238E27FC236}">
                <a16:creationId xmlns:a16="http://schemas.microsoft.com/office/drawing/2014/main" id="{5F42F847-65BB-C90C-4947-F004BCCD7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28" y="5081939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sp>
        <p:nvSpPr>
          <p:cNvPr id="92" name="Text Box 14">
            <a:extLst>
              <a:ext uri="{FF2B5EF4-FFF2-40B4-BE49-F238E27FC236}">
                <a16:creationId xmlns:a16="http://schemas.microsoft.com/office/drawing/2014/main" id="{B1FF565B-E0C3-15BA-DD0A-AA9F3C509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9845" y="5054333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AA7210-C3C0-868E-98B9-4EFE18831CD7}"/>
              </a:ext>
            </a:extLst>
          </p:cNvPr>
          <p:cNvSpPr/>
          <p:nvPr/>
        </p:nvSpPr>
        <p:spPr bwMode="auto">
          <a:xfrm>
            <a:off x="4571301" y="5106515"/>
            <a:ext cx="6459794" cy="44865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95395-4F73-0FFE-8245-959C80795F98}"/>
              </a:ext>
            </a:extLst>
          </p:cNvPr>
          <p:cNvSpPr txBox="1"/>
          <p:nvPr/>
        </p:nvSpPr>
        <p:spPr>
          <a:xfrm rot="19002662">
            <a:off x="4472636" y="5422722"/>
            <a:ext cx="989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1.4 nm Fe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178799-2AFA-EDD8-4474-3884CA693D1C}"/>
              </a:ext>
            </a:extLst>
          </p:cNvPr>
          <p:cNvSpPr txBox="1"/>
          <p:nvPr/>
        </p:nvSpPr>
        <p:spPr>
          <a:xfrm rot="19002662">
            <a:off x="5422227" y="5398146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nm Fe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BE7D173-E055-7A36-C212-467C89EAECB4}"/>
              </a:ext>
            </a:extLst>
          </p:cNvPr>
          <p:cNvSpPr txBox="1"/>
          <p:nvPr/>
        </p:nvSpPr>
        <p:spPr>
          <a:xfrm rot="19002662">
            <a:off x="4110976" y="5577920"/>
            <a:ext cx="2499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AI+1.2 nm 1BSFe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92DC63B-FDCE-234B-B9C4-9E9CCE82DF45}"/>
              </a:ext>
            </a:extLst>
          </p:cNvPr>
          <p:cNvSpPr txBox="1"/>
          <p:nvPr/>
        </p:nvSpPr>
        <p:spPr>
          <a:xfrm rot="19002662">
            <a:off x="6356545" y="5363742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Fe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75C987D-6643-3A92-5EED-C533474290AE}"/>
              </a:ext>
            </a:extLst>
          </p:cNvPr>
          <p:cNvSpPr txBox="1"/>
          <p:nvPr/>
        </p:nvSpPr>
        <p:spPr>
          <a:xfrm rot="19002662">
            <a:off x="8921207" y="5368662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 0.6 nm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AB02636-5693-3A4C-002F-2D5390CEDE0F}"/>
              </a:ext>
            </a:extLst>
          </p:cNvPr>
          <p:cNvSpPr txBox="1"/>
          <p:nvPr/>
        </p:nvSpPr>
        <p:spPr>
          <a:xfrm rot="19002662">
            <a:off x="6880835" y="5586950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AI203+1 nm Ni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9171A3F-1813-E073-5C46-D034C7530B21}"/>
              </a:ext>
            </a:extLst>
          </p:cNvPr>
          <p:cNvSpPr txBox="1"/>
          <p:nvPr/>
        </p:nvSpPr>
        <p:spPr>
          <a:xfrm rot="19002662">
            <a:off x="8120965" y="5353914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Ni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187BCD-CB1F-79A0-3469-6FFC8F3BB88C}"/>
              </a:ext>
            </a:extLst>
          </p:cNvPr>
          <p:cNvSpPr/>
          <p:nvPr/>
        </p:nvSpPr>
        <p:spPr>
          <a:xfrm>
            <a:off x="2197458" y="4762895"/>
            <a:ext cx="7545898" cy="1789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0D5660-EBFD-1C15-E094-1FB6C4D8DBAB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300" dirty="0">
                <a:latin typeface="Oswald" panose="00000500000000000000" pitchFamily="2" charset="0"/>
              </a:rPr>
              <a:t>Cost function approximations: Discrete choices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7FAB15-ACBD-B2AB-7E02-53A68AFBA21A}"/>
              </a:ext>
            </a:extLst>
          </p:cNvPr>
          <p:cNvCxnSpPr>
            <a:cxnSpLocks/>
          </p:cNvCxnSpPr>
          <p:nvPr/>
        </p:nvCxnSpPr>
        <p:spPr>
          <a:xfrm>
            <a:off x="4332270" y="5072414"/>
            <a:ext cx="695405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07DE8951-897E-AF19-432F-57BDBD86015A}"/>
              </a:ext>
            </a:extLst>
          </p:cNvPr>
          <p:cNvGrpSpPr/>
          <p:nvPr/>
        </p:nvGrpSpPr>
        <p:grpSpPr>
          <a:xfrm>
            <a:off x="4858973" y="4977885"/>
            <a:ext cx="5544508" cy="1146468"/>
            <a:chOff x="3316007" y="4663581"/>
            <a:chExt cx="5544508" cy="11464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3C627A-C77A-FA07-C6E0-A9F850787C3D}"/>
                </a:ext>
              </a:extLst>
            </p:cNvPr>
            <p:cNvSpPr txBox="1"/>
            <p:nvPr/>
          </p:nvSpPr>
          <p:spPr>
            <a:xfrm rot="18791278">
              <a:off x="2940263" y="5047107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A47CA7-BE87-5CD9-9FC5-56856B5E9A65}"/>
                </a:ext>
              </a:extLst>
            </p:cNvPr>
            <p:cNvSpPr txBox="1"/>
            <p:nvPr/>
          </p:nvSpPr>
          <p:spPr>
            <a:xfrm rot="18791278">
              <a:off x="3784223" y="5047025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B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B328B4-2C54-05BF-4AB4-E0E4DADA5452}"/>
                </a:ext>
              </a:extLst>
            </p:cNvPr>
            <p:cNvSpPr txBox="1"/>
            <p:nvPr/>
          </p:nvSpPr>
          <p:spPr>
            <a:xfrm rot="18791278">
              <a:off x="4638419" y="5054709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C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B9C7FB-698A-632F-2CE9-4E2F8BDFAB4D}"/>
                </a:ext>
              </a:extLst>
            </p:cNvPr>
            <p:cNvSpPr txBox="1"/>
            <p:nvPr/>
          </p:nvSpPr>
          <p:spPr>
            <a:xfrm rot="18791278">
              <a:off x="5514395" y="5047025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EE6ADE-E2B6-6174-8191-303A4A4B0056}"/>
                </a:ext>
              </a:extLst>
            </p:cNvPr>
            <p:cNvSpPr txBox="1"/>
            <p:nvPr/>
          </p:nvSpPr>
          <p:spPr>
            <a:xfrm rot="18791278">
              <a:off x="6365629" y="505234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37FDF31-C702-D770-80E9-E3D9394BDE56}"/>
                </a:ext>
              </a:extLst>
            </p:cNvPr>
            <p:cNvSpPr txBox="1"/>
            <p:nvPr/>
          </p:nvSpPr>
          <p:spPr>
            <a:xfrm rot="18791278">
              <a:off x="7231787" y="5061113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F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4B1278-9AEA-9D5D-3B86-42E0A9C9689F}"/>
                </a:ext>
              </a:extLst>
            </p:cNvPr>
            <p:cNvSpPr txBox="1"/>
            <p:nvPr/>
          </p:nvSpPr>
          <p:spPr>
            <a:xfrm rot="18791278">
              <a:off x="8102615" y="5052149"/>
              <a:ext cx="1146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G</a:t>
              </a:r>
            </a:p>
          </p:txBody>
        </p:sp>
      </p:grpSp>
      <p:sp>
        <p:nvSpPr>
          <p:cNvPr id="1284102" name="Rectangle 5" descr="Dark upward diagonal">
            <a:extLst>
              <a:ext uri="{FF2B5EF4-FFF2-40B4-BE49-F238E27FC236}">
                <a16:creationId xmlns:a16="http://schemas.microsoft.com/office/drawing/2014/main" id="{9AA4B1F1-80BC-399E-472B-A1F503ED5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279" y="4121345"/>
            <a:ext cx="227012" cy="9366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3" name="Rectangle 6" descr="Dark upward diagonal">
            <a:extLst>
              <a:ext uri="{FF2B5EF4-FFF2-40B4-BE49-F238E27FC236}">
                <a16:creationId xmlns:a16="http://schemas.microsoft.com/office/drawing/2014/main" id="{5C7E107F-27CE-1783-CE74-FD3959910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879" y="3859407"/>
            <a:ext cx="227012" cy="1198563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4" name="Rectangle 7" descr="Dark upward diagonal">
            <a:extLst>
              <a:ext uri="{FF2B5EF4-FFF2-40B4-BE49-F238E27FC236}">
                <a16:creationId xmlns:a16="http://schemas.microsoft.com/office/drawing/2014/main" id="{7BCD91EA-02D2-12FE-CFDE-F2EFE3867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3479" y="3651445"/>
            <a:ext cx="227012" cy="14065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5" name="Rectangle 8" descr="Dark upward diagonal">
            <a:extLst>
              <a:ext uri="{FF2B5EF4-FFF2-40B4-BE49-F238E27FC236}">
                <a16:creationId xmlns:a16="http://schemas.microsoft.com/office/drawing/2014/main" id="{6C41858F-04A0-0353-815F-FB12041D7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7079" y="3454594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86" name="Rectangle 8" descr="Dark upward diagonal">
            <a:extLst>
              <a:ext uri="{FF2B5EF4-FFF2-40B4-BE49-F238E27FC236}">
                <a16:creationId xmlns:a16="http://schemas.microsoft.com/office/drawing/2014/main" id="{000C71D2-1DEC-CBA5-313D-C627756E2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7515" y="3459514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91" name="Rectangle 9" descr="Dark upward diagonal">
            <a:extLst>
              <a:ext uri="{FF2B5EF4-FFF2-40B4-BE49-F238E27FC236}">
                <a16:creationId xmlns:a16="http://schemas.microsoft.com/office/drawing/2014/main" id="{F6E5D5AC-A09F-FE2C-313C-4CBB6F567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195" y="3586635"/>
            <a:ext cx="227012" cy="146367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06" name="Rectangle 8" descr="Dark upward diagonal">
            <a:extLst>
              <a:ext uri="{FF2B5EF4-FFF2-40B4-BE49-F238E27FC236}">
                <a16:creationId xmlns:a16="http://schemas.microsoft.com/office/drawing/2014/main" id="{2063E380-604E-5CBB-E641-7C13FB229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2131" y="3244162"/>
            <a:ext cx="257322" cy="1828252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B89263-00F1-FC72-7C97-54C8139C397C}"/>
              </a:ext>
            </a:extLst>
          </p:cNvPr>
          <p:cNvGrpSpPr/>
          <p:nvPr/>
        </p:nvGrpSpPr>
        <p:grpSpPr>
          <a:xfrm>
            <a:off x="5136026" y="2066926"/>
            <a:ext cx="5537079" cy="2505274"/>
            <a:chOff x="3593060" y="1852918"/>
            <a:chExt cx="5537079" cy="250527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0F4BB54-8AE6-17F6-4377-A9F1CB36BDF7}"/>
                </a:ext>
              </a:extLst>
            </p:cNvPr>
            <p:cNvGrpSpPr/>
            <p:nvPr/>
          </p:nvGrpSpPr>
          <p:grpSpPr>
            <a:xfrm>
              <a:off x="3593060" y="3656107"/>
              <a:ext cx="357348" cy="544675"/>
              <a:chOff x="804040" y="2963917"/>
              <a:chExt cx="357348" cy="109833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BF0D1D5-04AF-F145-1AB1-FD970A29954A}"/>
                  </a:ext>
                </a:extLst>
              </p:cNvPr>
              <p:cNvCxnSpPr/>
              <p:nvPr/>
            </p:nvCxnSpPr>
            <p:spPr>
              <a:xfrm>
                <a:off x="969579" y="2963917"/>
                <a:ext cx="0" cy="1095704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7273BBE-5EA3-EC5F-7D22-CFE03CC25E2B}"/>
                  </a:ext>
                </a:extLst>
              </p:cNvPr>
              <p:cNvCxnSpPr/>
              <p:nvPr/>
            </p:nvCxnSpPr>
            <p:spPr>
              <a:xfrm>
                <a:off x="804040" y="2979683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4F4A40C-4216-7203-BE21-350F60F8EC34}"/>
                  </a:ext>
                </a:extLst>
              </p:cNvPr>
              <p:cNvCxnSpPr/>
              <p:nvPr/>
            </p:nvCxnSpPr>
            <p:spPr>
              <a:xfrm>
                <a:off x="806664" y="4062248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D55E699-93FC-51A5-440C-8B70A8952DA6}"/>
                </a:ext>
              </a:extLst>
            </p:cNvPr>
            <p:cNvGrpSpPr/>
            <p:nvPr/>
          </p:nvGrpSpPr>
          <p:grpSpPr>
            <a:xfrm>
              <a:off x="4449539" y="2405118"/>
              <a:ext cx="357348" cy="1659020"/>
              <a:chOff x="804040" y="2428781"/>
              <a:chExt cx="357348" cy="1425077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5AFECE8-9126-10F4-0C61-596E9BD318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579" y="2428781"/>
                <a:ext cx="0" cy="142245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91F04A5-2727-0725-842F-8A07E8E9CA8A}"/>
                  </a:ext>
                </a:extLst>
              </p:cNvPr>
              <p:cNvCxnSpPr/>
              <p:nvPr/>
            </p:nvCxnSpPr>
            <p:spPr>
              <a:xfrm>
                <a:off x="804040" y="2429472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485D20A-99CA-46BC-8B43-7C218F1E0201}"/>
                  </a:ext>
                </a:extLst>
              </p:cNvPr>
              <p:cNvCxnSpPr/>
              <p:nvPr/>
            </p:nvCxnSpPr>
            <p:spPr>
              <a:xfrm>
                <a:off x="806664" y="3853858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1CE6718-66A6-F05D-545E-8464B3728356}"/>
                </a:ext>
              </a:extLst>
            </p:cNvPr>
            <p:cNvGrpSpPr/>
            <p:nvPr/>
          </p:nvGrpSpPr>
          <p:grpSpPr>
            <a:xfrm>
              <a:off x="5312647" y="2776871"/>
              <a:ext cx="357348" cy="918017"/>
              <a:chOff x="804040" y="1866488"/>
              <a:chExt cx="357348" cy="2195760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F763B7E-BBD1-84C2-DA17-5070BCB69E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579" y="1866488"/>
                <a:ext cx="0" cy="2193134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FAC3CA9-ADA2-87A5-9181-BE8D81F3F876}"/>
                  </a:ext>
                </a:extLst>
              </p:cNvPr>
              <p:cNvCxnSpPr/>
              <p:nvPr/>
            </p:nvCxnSpPr>
            <p:spPr>
              <a:xfrm>
                <a:off x="804040" y="1886116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73AC52E-ADDB-146D-2861-19CA46D51BF6}"/>
                  </a:ext>
                </a:extLst>
              </p:cNvPr>
              <p:cNvCxnSpPr/>
              <p:nvPr/>
            </p:nvCxnSpPr>
            <p:spPr>
              <a:xfrm>
                <a:off x="806664" y="4062248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B9CAE50-947B-FDF0-8772-1B5BC13CA237}"/>
                </a:ext>
              </a:extLst>
            </p:cNvPr>
            <p:cNvGrpSpPr/>
            <p:nvPr/>
          </p:nvGrpSpPr>
          <p:grpSpPr>
            <a:xfrm>
              <a:off x="6179870" y="2867824"/>
              <a:ext cx="357348" cy="766567"/>
              <a:chOff x="804040" y="2963917"/>
              <a:chExt cx="357348" cy="1098331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2CF7DF6-CED2-035B-EEFE-FC0D3CDA06ED}"/>
                  </a:ext>
                </a:extLst>
              </p:cNvPr>
              <p:cNvCxnSpPr/>
              <p:nvPr/>
            </p:nvCxnSpPr>
            <p:spPr>
              <a:xfrm>
                <a:off x="969579" y="2963917"/>
                <a:ext cx="0" cy="1095704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FB26F546-255A-00CF-1DA7-6203276AA487}"/>
                  </a:ext>
                </a:extLst>
              </p:cNvPr>
              <p:cNvCxnSpPr/>
              <p:nvPr/>
            </p:nvCxnSpPr>
            <p:spPr>
              <a:xfrm>
                <a:off x="804040" y="2979683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D090356-F14B-869B-26C0-2A5C488235A7}"/>
                  </a:ext>
                </a:extLst>
              </p:cNvPr>
              <p:cNvCxnSpPr/>
              <p:nvPr/>
            </p:nvCxnSpPr>
            <p:spPr>
              <a:xfrm>
                <a:off x="806664" y="4062248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0DDEE7D-EE86-F70E-CB80-F193F0ABE072}"/>
                </a:ext>
              </a:extLst>
            </p:cNvPr>
            <p:cNvGrpSpPr/>
            <p:nvPr/>
          </p:nvGrpSpPr>
          <p:grpSpPr>
            <a:xfrm>
              <a:off x="7068628" y="2776871"/>
              <a:ext cx="357348" cy="565764"/>
              <a:chOff x="804040" y="2398893"/>
              <a:chExt cx="357348" cy="2425661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F032D9B5-989B-046E-5A64-30F19B5C60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579" y="2398893"/>
                <a:ext cx="0" cy="2423033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E2C8D1C2-A4DC-FA42-20CC-C2E719233B5A}"/>
                  </a:ext>
                </a:extLst>
              </p:cNvPr>
              <p:cNvCxnSpPr/>
              <p:nvPr/>
            </p:nvCxnSpPr>
            <p:spPr>
              <a:xfrm>
                <a:off x="804040" y="2398893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7EB1D9A-7C6A-50EA-339D-8EC301F64E25}"/>
                  </a:ext>
                </a:extLst>
              </p:cNvPr>
              <p:cNvCxnSpPr/>
              <p:nvPr/>
            </p:nvCxnSpPr>
            <p:spPr>
              <a:xfrm>
                <a:off x="806664" y="4824554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869A3E0-E52C-6FDD-7C86-22A87EFFFD1B}"/>
                </a:ext>
              </a:extLst>
            </p:cNvPr>
            <p:cNvGrpSpPr/>
            <p:nvPr/>
          </p:nvGrpSpPr>
          <p:grpSpPr>
            <a:xfrm>
              <a:off x="7903059" y="2181041"/>
              <a:ext cx="357348" cy="2177151"/>
              <a:chOff x="804040" y="1811211"/>
              <a:chExt cx="357348" cy="3436697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A13CEFB1-C694-01F1-A365-37D674E827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579" y="1811211"/>
                <a:ext cx="0" cy="343407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BD23681-AA96-E3C9-F462-85D64E26E7FF}"/>
                  </a:ext>
                </a:extLst>
              </p:cNvPr>
              <p:cNvCxnSpPr/>
              <p:nvPr/>
            </p:nvCxnSpPr>
            <p:spPr>
              <a:xfrm>
                <a:off x="804040" y="1811211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EE311B-D714-96A1-2605-52CCD3730765}"/>
                  </a:ext>
                </a:extLst>
              </p:cNvPr>
              <p:cNvCxnSpPr/>
              <p:nvPr/>
            </p:nvCxnSpPr>
            <p:spPr>
              <a:xfrm>
                <a:off x="806664" y="5247908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8505614-BF52-339B-F80D-51A84A27A0B6}"/>
                </a:ext>
              </a:extLst>
            </p:cNvPr>
            <p:cNvGrpSpPr/>
            <p:nvPr/>
          </p:nvGrpSpPr>
          <p:grpSpPr>
            <a:xfrm>
              <a:off x="8772791" y="1852918"/>
              <a:ext cx="357348" cy="2151804"/>
              <a:chOff x="804040" y="2623939"/>
              <a:chExt cx="357348" cy="1244103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4C2808CA-08E6-376E-B587-817A388E89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579" y="2623940"/>
                <a:ext cx="0" cy="1241476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5CD1EEE-CDF5-6E88-57EB-490D881CCA5C}"/>
                  </a:ext>
                </a:extLst>
              </p:cNvPr>
              <p:cNvCxnSpPr/>
              <p:nvPr/>
            </p:nvCxnSpPr>
            <p:spPr>
              <a:xfrm>
                <a:off x="804040" y="2623939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173F48D4-BA52-020A-3010-893C67AF0C02}"/>
                  </a:ext>
                </a:extLst>
              </p:cNvPr>
              <p:cNvCxnSpPr/>
              <p:nvPr/>
            </p:nvCxnSpPr>
            <p:spPr>
              <a:xfrm>
                <a:off x="806664" y="3868042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5182B21-17DE-7973-996E-E848F551A4F7}"/>
              </a:ext>
            </a:extLst>
          </p:cNvPr>
          <p:cNvSpPr txBox="1"/>
          <p:nvPr/>
        </p:nvSpPr>
        <p:spPr>
          <a:xfrm>
            <a:off x="730970" y="2109831"/>
            <a:ext cx="2834430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Raleway" pitchFamily="2" charset="0"/>
              </a:rPr>
              <a:t>Application settings:</a:t>
            </a:r>
          </a:p>
          <a:p>
            <a:endParaRPr lang="en-US" sz="1600" dirty="0">
              <a:latin typeface="Raleway" pitchFamily="2" charset="0"/>
            </a:endParaRP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Type of drug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Supplier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Trading policy (finance)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Product design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Battery technology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Price (discretized)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Web page design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Product to advertise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Location for a clinic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Diameter of silicon wafer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Financial trading policy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Advertising channel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Choice of manager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endParaRPr lang="en-US" sz="1600" dirty="0">
              <a:latin typeface="Raleway" pitchFamily="2" charset="0"/>
            </a:endParaRPr>
          </a:p>
          <a:p>
            <a:pPr marL="285750" indent="-168275">
              <a:buFont typeface="Wingdings" panose="05000000000000000000" pitchFamily="2" charset="2"/>
              <a:buChar char="§"/>
            </a:pPr>
            <a:endParaRPr lang="en-US" sz="1600" dirty="0">
              <a:latin typeface="Raleway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7AFEB3E-5519-D1AA-AB82-C8B21D941009}"/>
              </a:ext>
            </a:extLst>
          </p:cNvPr>
          <p:cNvGrpSpPr/>
          <p:nvPr/>
        </p:nvGrpSpPr>
        <p:grpSpPr>
          <a:xfrm>
            <a:off x="5186279" y="6012429"/>
            <a:ext cx="5520681" cy="489035"/>
            <a:chOff x="318176" y="5842673"/>
            <a:chExt cx="5520681" cy="48903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FE8E2A6-8653-A280-DA19-51773A69368F}"/>
                </a:ext>
              </a:extLst>
            </p:cNvPr>
            <p:cNvSpPr txBox="1"/>
            <p:nvPr/>
          </p:nvSpPr>
          <p:spPr>
            <a:xfrm>
              <a:off x="2098267" y="5944412"/>
              <a:ext cx="195598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What are my choices?</a:t>
              </a:r>
            </a:p>
          </p:txBody>
        </p:sp>
        <p:sp>
          <p:nvSpPr>
            <p:cNvPr id="27" name="Arrow: Left-Right 26">
              <a:extLst>
                <a:ext uri="{FF2B5EF4-FFF2-40B4-BE49-F238E27FC236}">
                  <a16:creationId xmlns:a16="http://schemas.microsoft.com/office/drawing/2014/main" id="{38A80BC2-0D80-C72A-81C3-476850D44395}"/>
                </a:ext>
              </a:extLst>
            </p:cNvPr>
            <p:cNvSpPr/>
            <p:nvPr/>
          </p:nvSpPr>
          <p:spPr>
            <a:xfrm>
              <a:off x="318176" y="5842673"/>
              <a:ext cx="5520681" cy="489035"/>
            </a:xfrm>
            <a:prstGeom prst="leftRightArrow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666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98E7-55E6-DCDA-8E38-2399573B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099" name="Rectangle 2">
            <a:extLst>
              <a:ext uri="{FF2B5EF4-FFF2-40B4-BE49-F238E27FC236}">
                <a16:creationId xmlns:a16="http://schemas.microsoft.com/office/drawing/2014/main" id="{DF107E05-FC7F-51C8-BE55-C2FA426B91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300" dirty="0">
                <a:latin typeface="Oswald" panose="00000500000000000000" pitchFamily="2" charset="0"/>
              </a:rPr>
              <a:t>Cost function approximations: Discrete choices</a:t>
            </a:r>
          </a:p>
        </p:txBody>
      </p:sp>
      <p:sp>
        <p:nvSpPr>
          <p:cNvPr id="1284101" name="Line 4">
            <a:extLst>
              <a:ext uri="{FF2B5EF4-FFF2-40B4-BE49-F238E27FC236}">
                <a16:creationId xmlns:a16="http://schemas.microsoft.com/office/drawing/2014/main" id="{CB262401-ECA7-965B-A3B6-7760C3EB91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1350" y="4582928"/>
            <a:ext cx="620354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4102" name="Rectangle 5" descr="Dark upward diagonal">
            <a:extLst>
              <a:ext uri="{FF2B5EF4-FFF2-40B4-BE49-F238E27FC236}">
                <a16:creationId xmlns:a16="http://schemas.microsoft.com/office/drawing/2014/main" id="{3683F8B1-9E2C-98D6-4D44-EC103A82F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630429"/>
            <a:ext cx="227012" cy="9366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3" name="Rectangle 6" descr="Dark upward diagonal">
            <a:extLst>
              <a:ext uri="{FF2B5EF4-FFF2-40B4-BE49-F238E27FC236}">
                <a16:creationId xmlns:a16="http://schemas.microsoft.com/office/drawing/2014/main" id="{8CB02B7E-28E6-E910-F3A1-CD7BE4BD4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3368491"/>
            <a:ext cx="227012" cy="1198563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4" name="Rectangle 7" descr="Dark upward diagonal">
            <a:extLst>
              <a:ext uri="{FF2B5EF4-FFF2-40B4-BE49-F238E27FC236}">
                <a16:creationId xmlns:a16="http://schemas.microsoft.com/office/drawing/2014/main" id="{63B15BE1-2D7E-130C-3685-5D1B83DC8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3160529"/>
            <a:ext cx="227012" cy="14065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5" name="Rectangle 8" descr="Dark upward diagonal">
            <a:extLst>
              <a:ext uri="{FF2B5EF4-FFF2-40B4-BE49-F238E27FC236}">
                <a16:creationId xmlns:a16="http://schemas.microsoft.com/office/drawing/2014/main" id="{2AD87330-5D65-3C55-ABAD-91CD2DF0D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2963678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7" name="Text Box 10">
            <a:extLst>
              <a:ext uri="{FF2B5EF4-FFF2-40B4-BE49-F238E27FC236}">
                <a16:creationId xmlns:a16="http://schemas.microsoft.com/office/drawing/2014/main" id="{8A9FB7F6-5096-7EDA-4D60-7A4F17B7D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1088" y="4586103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1</a:t>
            </a:r>
          </a:p>
        </p:txBody>
      </p:sp>
      <p:sp>
        <p:nvSpPr>
          <p:cNvPr id="1284108" name="Text Box 11">
            <a:extLst>
              <a:ext uri="{FF2B5EF4-FFF2-40B4-BE49-F238E27FC236}">
                <a16:creationId xmlns:a16="http://schemas.microsoft.com/office/drawing/2014/main" id="{3D506153-043B-715B-32BA-6773B059E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163" y="4586103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2</a:t>
            </a:r>
          </a:p>
        </p:txBody>
      </p:sp>
      <p:sp>
        <p:nvSpPr>
          <p:cNvPr id="1284109" name="Text Box 12">
            <a:extLst>
              <a:ext uri="{FF2B5EF4-FFF2-40B4-BE49-F238E27FC236}">
                <a16:creationId xmlns:a16="http://schemas.microsoft.com/office/drawing/2014/main" id="{C7336DC5-627B-505B-3478-99B2379D5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226" y="458610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3</a:t>
            </a:r>
          </a:p>
        </p:txBody>
      </p:sp>
      <p:sp>
        <p:nvSpPr>
          <p:cNvPr id="1284110" name="Text Box 13">
            <a:extLst>
              <a:ext uri="{FF2B5EF4-FFF2-40B4-BE49-F238E27FC236}">
                <a16:creationId xmlns:a16="http://schemas.microsoft.com/office/drawing/2014/main" id="{4CDDAA53-68CC-C5C2-0AB0-CBFD57F22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826" y="458610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grpSp>
        <p:nvGrpSpPr>
          <p:cNvPr id="1284119" name="Group 20">
            <a:extLst>
              <a:ext uri="{FF2B5EF4-FFF2-40B4-BE49-F238E27FC236}">
                <a16:creationId xmlns:a16="http://schemas.microsoft.com/office/drawing/2014/main" id="{164058F8-57BD-467F-5E57-A0EC01003BFC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2423929"/>
            <a:ext cx="609600" cy="1068387"/>
            <a:chOff x="3511" y="2056"/>
            <a:chExt cx="342" cy="1051"/>
          </a:xfrm>
        </p:grpSpPr>
        <p:sp>
          <p:nvSpPr>
            <p:cNvPr id="1284120" name="Line 21">
              <a:extLst>
                <a:ext uri="{FF2B5EF4-FFF2-40B4-BE49-F238E27FC236}">
                  <a16:creationId xmlns:a16="http://schemas.microsoft.com/office/drawing/2014/main" id="{C08DA41F-6540-21D9-E70D-2FC501B509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1" name="Group 22">
              <a:extLst>
                <a:ext uri="{FF2B5EF4-FFF2-40B4-BE49-F238E27FC236}">
                  <a16:creationId xmlns:a16="http://schemas.microsoft.com/office/drawing/2014/main" id="{6F28B4B3-9F92-123F-36F8-92087E97ABE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2" name="Freeform 23">
                <a:extLst>
                  <a:ext uri="{FF2B5EF4-FFF2-40B4-BE49-F238E27FC236}">
                    <a16:creationId xmlns:a16="http://schemas.microsoft.com/office/drawing/2014/main" id="{4A9A6B91-CBD9-C3A1-114F-90A6CF919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3" name="Freeform 24">
                <a:extLst>
                  <a:ext uri="{FF2B5EF4-FFF2-40B4-BE49-F238E27FC236}">
                    <a16:creationId xmlns:a16="http://schemas.microsoft.com/office/drawing/2014/main" id="{842196D7-A703-F548-BBCF-4BC800C6451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4" name="Group 25">
            <a:extLst>
              <a:ext uri="{FF2B5EF4-FFF2-40B4-BE49-F238E27FC236}">
                <a16:creationId xmlns:a16="http://schemas.microsoft.com/office/drawing/2014/main" id="{8B139462-A5F4-B3E1-8B3F-306E2E84B5FE}"/>
              </a:ext>
            </a:extLst>
          </p:cNvPr>
          <p:cNvGrpSpPr>
            <a:grpSpLocks/>
          </p:cNvGrpSpPr>
          <p:nvPr/>
        </p:nvGrpSpPr>
        <p:grpSpPr bwMode="auto">
          <a:xfrm>
            <a:off x="5367339" y="2854141"/>
            <a:ext cx="714375" cy="630237"/>
            <a:chOff x="3511" y="2056"/>
            <a:chExt cx="342" cy="1051"/>
          </a:xfrm>
        </p:grpSpPr>
        <p:sp>
          <p:nvSpPr>
            <p:cNvPr id="1284125" name="Line 26">
              <a:extLst>
                <a:ext uri="{FF2B5EF4-FFF2-40B4-BE49-F238E27FC236}">
                  <a16:creationId xmlns:a16="http://schemas.microsoft.com/office/drawing/2014/main" id="{0AF66581-8469-3AF4-A02E-56BD92F02C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6" name="Group 27">
              <a:extLst>
                <a:ext uri="{FF2B5EF4-FFF2-40B4-BE49-F238E27FC236}">
                  <a16:creationId xmlns:a16="http://schemas.microsoft.com/office/drawing/2014/main" id="{428FD832-25A5-3C1A-4833-369615738FC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7" name="Freeform 28">
                <a:extLst>
                  <a:ext uri="{FF2B5EF4-FFF2-40B4-BE49-F238E27FC236}">
                    <a16:creationId xmlns:a16="http://schemas.microsoft.com/office/drawing/2014/main" id="{73C12E42-19AF-59A9-500B-A6357B6A03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8" name="Freeform 29">
                <a:extLst>
                  <a:ext uri="{FF2B5EF4-FFF2-40B4-BE49-F238E27FC236}">
                    <a16:creationId xmlns:a16="http://schemas.microsoft.com/office/drawing/2014/main" id="{FB3BD738-907D-4154-9FEE-99F8D165089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9" name="Group 46">
            <a:extLst>
              <a:ext uri="{FF2B5EF4-FFF2-40B4-BE49-F238E27FC236}">
                <a16:creationId xmlns:a16="http://schemas.microsoft.com/office/drawing/2014/main" id="{18545FCA-1C04-F393-F0F9-0573025B98B5}"/>
              </a:ext>
            </a:extLst>
          </p:cNvPr>
          <p:cNvGrpSpPr>
            <a:grpSpLocks/>
          </p:cNvGrpSpPr>
          <p:nvPr/>
        </p:nvGrpSpPr>
        <p:grpSpPr bwMode="auto">
          <a:xfrm>
            <a:off x="3635376" y="3173229"/>
            <a:ext cx="581025" cy="896937"/>
            <a:chOff x="3511" y="2056"/>
            <a:chExt cx="342" cy="1051"/>
          </a:xfrm>
        </p:grpSpPr>
        <p:sp>
          <p:nvSpPr>
            <p:cNvPr id="1284130" name="Line 47">
              <a:extLst>
                <a:ext uri="{FF2B5EF4-FFF2-40B4-BE49-F238E27FC236}">
                  <a16:creationId xmlns:a16="http://schemas.microsoft.com/office/drawing/2014/main" id="{5C9D4642-1324-CB49-5B4A-38DE97CFB6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1" name="Group 48">
              <a:extLst>
                <a:ext uri="{FF2B5EF4-FFF2-40B4-BE49-F238E27FC236}">
                  <a16:creationId xmlns:a16="http://schemas.microsoft.com/office/drawing/2014/main" id="{A729D5F3-7FB4-A0DB-965D-FDAD28A8F04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2" name="Freeform 49">
                <a:extLst>
                  <a:ext uri="{FF2B5EF4-FFF2-40B4-BE49-F238E27FC236}">
                    <a16:creationId xmlns:a16="http://schemas.microsoft.com/office/drawing/2014/main" id="{42EAD20F-52A4-380E-97B1-A384563E07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3" name="Freeform 50">
                <a:extLst>
                  <a:ext uri="{FF2B5EF4-FFF2-40B4-BE49-F238E27FC236}">
                    <a16:creationId xmlns:a16="http://schemas.microsoft.com/office/drawing/2014/main" id="{51CFA1C7-353E-BDDC-07C7-CDDB5430034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34" name="Group 51">
            <a:extLst>
              <a:ext uri="{FF2B5EF4-FFF2-40B4-BE49-F238E27FC236}">
                <a16:creationId xmlns:a16="http://schemas.microsoft.com/office/drawing/2014/main" id="{C00A47E9-BC47-8471-8FFF-318416ECB12E}"/>
              </a:ext>
            </a:extLst>
          </p:cNvPr>
          <p:cNvGrpSpPr>
            <a:grpSpLocks/>
          </p:cNvGrpSpPr>
          <p:nvPr/>
        </p:nvGrpSpPr>
        <p:grpSpPr bwMode="auto">
          <a:xfrm>
            <a:off x="4505326" y="2204853"/>
            <a:ext cx="276225" cy="2316162"/>
            <a:chOff x="3511" y="2056"/>
            <a:chExt cx="342" cy="1051"/>
          </a:xfrm>
        </p:grpSpPr>
        <p:sp>
          <p:nvSpPr>
            <p:cNvPr id="1284135" name="Line 52">
              <a:extLst>
                <a:ext uri="{FF2B5EF4-FFF2-40B4-BE49-F238E27FC236}">
                  <a16:creationId xmlns:a16="http://schemas.microsoft.com/office/drawing/2014/main" id="{CCE5AD1C-8D4E-3DC6-A11C-96CE50FF06B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6" name="Group 53">
              <a:extLst>
                <a:ext uri="{FF2B5EF4-FFF2-40B4-BE49-F238E27FC236}">
                  <a16:creationId xmlns:a16="http://schemas.microsoft.com/office/drawing/2014/main" id="{C485E05C-2326-B9CC-598D-EE7502F6EDE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7" name="Freeform 54">
                <a:extLst>
                  <a:ext uri="{FF2B5EF4-FFF2-40B4-BE49-F238E27FC236}">
                    <a16:creationId xmlns:a16="http://schemas.microsoft.com/office/drawing/2014/main" id="{DF0D484D-BF7B-C4E3-B074-6EE5866B7A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8" name="Freeform 55">
                <a:extLst>
                  <a:ext uri="{FF2B5EF4-FFF2-40B4-BE49-F238E27FC236}">
                    <a16:creationId xmlns:a16="http://schemas.microsoft.com/office/drawing/2014/main" id="{FAE592B2-6975-8EAC-26F4-8B7FDEFF752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86" name="Rectangle 8" descr="Dark upward diagonal">
            <a:extLst>
              <a:ext uri="{FF2B5EF4-FFF2-40B4-BE49-F238E27FC236}">
                <a16:creationId xmlns:a16="http://schemas.microsoft.com/office/drawing/2014/main" id="{BEC74C8D-48E7-F31D-9711-CD57CB4A9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549" y="2968598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87" name="Text Box 13">
            <a:extLst>
              <a:ext uri="{FF2B5EF4-FFF2-40B4-BE49-F238E27FC236}">
                <a16:creationId xmlns:a16="http://schemas.microsoft.com/office/drawing/2014/main" id="{AEB102B4-730B-BCC9-9AD0-FB44B388D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262" y="459102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sp>
        <p:nvSpPr>
          <p:cNvPr id="91" name="Rectangle 9" descr="Dark upward diagonal">
            <a:extLst>
              <a:ext uri="{FF2B5EF4-FFF2-40B4-BE49-F238E27FC236}">
                <a16:creationId xmlns:a16="http://schemas.microsoft.com/office/drawing/2014/main" id="{5D3FA469-89FE-C914-2785-4A8C1F509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3229" y="3088631"/>
            <a:ext cx="227012" cy="146367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92" name="Text Box 14">
            <a:extLst>
              <a:ext uri="{FF2B5EF4-FFF2-40B4-BE49-F238E27FC236}">
                <a16:creationId xmlns:a16="http://schemas.microsoft.com/office/drawing/2014/main" id="{82128F6F-1259-CE63-910F-7098E56A8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6879" y="4563417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5</a:t>
            </a:r>
          </a:p>
        </p:txBody>
      </p:sp>
      <p:grpSp>
        <p:nvGrpSpPr>
          <p:cNvPr id="93" name="Group 15">
            <a:extLst>
              <a:ext uri="{FF2B5EF4-FFF2-40B4-BE49-F238E27FC236}">
                <a16:creationId xmlns:a16="http://schemas.microsoft.com/office/drawing/2014/main" id="{EE9D14F2-A9F5-CF5B-9BD4-E95FFA40509C}"/>
              </a:ext>
            </a:extLst>
          </p:cNvPr>
          <p:cNvGrpSpPr>
            <a:grpSpLocks/>
          </p:cNvGrpSpPr>
          <p:nvPr/>
        </p:nvGrpSpPr>
        <p:grpSpPr bwMode="auto">
          <a:xfrm>
            <a:off x="8823229" y="2264718"/>
            <a:ext cx="400050" cy="1668463"/>
            <a:chOff x="3511" y="2056"/>
            <a:chExt cx="342" cy="1051"/>
          </a:xfrm>
        </p:grpSpPr>
        <p:sp>
          <p:nvSpPr>
            <p:cNvPr id="94" name="Line 16">
              <a:extLst>
                <a:ext uri="{FF2B5EF4-FFF2-40B4-BE49-F238E27FC236}">
                  <a16:creationId xmlns:a16="http://schemas.microsoft.com/office/drawing/2014/main" id="{EE6D3809-52B4-3115-7369-825D98FF58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" name="Group 17">
              <a:extLst>
                <a:ext uri="{FF2B5EF4-FFF2-40B4-BE49-F238E27FC236}">
                  <a16:creationId xmlns:a16="http://schemas.microsoft.com/office/drawing/2014/main" id="{1ECB3A09-A0E4-EB04-DE08-C632ABE77B3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96" name="Freeform 18">
                <a:extLst>
                  <a:ext uri="{FF2B5EF4-FFF2-40B4-BE49-F238E27FC236}">
                    <a16:creationId xmlns:a16="http://schemas.microsoft.com/office/drawing/2014/main" id="{4B1630B4-A9BD-9145-9C5F-A4B4C8D3A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7" name="Freeform 19">
                <a:extLst>
                  <a:ext uri="{FF2B5EF4-FFF2-40B4-BE49-F238E27FC236}">
                    <a16:creationId xmlns:a16="http://schemas.microsoft.com/office/drawing/2014/main" id="{1D433482-8389-A29D-C5D9-A4DEE0C52A2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A9ED509-FED3-D3FB-FA43-3C3D76A8CA1F}"/>
              </a:ext>
            </a:extLst>
          </p:cNvPr>
          <p:cNvSpPr/>
          <p:nvPr/>
        </p:nvSpPr>
        <p:spPr bwMode="auto">
          <a:xfrm>
            <a:off x="3028335" y="4615599"/>
            <a:ext cx="6459794" cy="44865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92452-45A1-EC3D-6813-81ECE116BA10}"/>
              </a:ext>
            </a:extLst>
          </p:cNvPr>
          <p:cNvSpPr txBox="1"/>
          <p:nvPr/>
        </p:nvSpPr>
        <p:spPr>
          <a:xfrm rot="19002662">
            <a:off x="2929670" y="4931806"/>
            <a:ext cx="989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1.4 nm Fe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7FAD623-B0F2-19FA-5C03-FE2F10531B92}"/>
              </a:ext>
            </a:extLst>
          </p:cNvPr>
          <p:cNvSpPr txBox="1"/>
          <p:nvPr/>
        </p:nvSpPr>
        <p:spPr>
          <a:xfrm rot="19002662">
            <a:off x="3879261" y="4907230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nm Fe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4DC09EC-06B8-106F-FBB2-090FA7F8EC70}"/>
              </a:ext>
            </a:extLst>
          </p:cNvPr>
          <p:cNvSpPr txBox="1"/>
          <p:nvPr/>
        </p:nvSpPr>
        <p:spPr>
          <a:xfrm rot="19002662">
            <a:off x="4813579" y="4872826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Fe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1C573B8-FCC5-963F-4469-D0DAC27BA66C}"/>
              </a:ext>
            </a:extLst>
          </p:cNvPr>
          <p:cNvSpPr txBox="1"/>
          <p:nvPr/>
        </p:nvSpPr>
        <p:spPr>
          <a:xfrm rot="19002662">
            <a:off x="7378241" y="4877746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 0.6 nm</a:t>
            </a:r>
          </a:p>
        </p:txBody>
      </p:sp>
      <p:sp>
        <p:nvSpPr>
          <p:cNvPr id="106" name="Rectangle 8" descr="Dark upward diagonal">
            <a:extLst>
              <a:ext uri="{FF2B5EF4-FFF2-40B4-BE49-F238E27FC236}">
                <a16:creationId xmlns:a16="http://schemas.microsoft.com/office/drawing/2014/main" id="{083EBF6F-8F7E-7AC9-5F43-5E5F5B3DF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9165" y="2968598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76D5CAC-20D9-C3F6-08F8-BC40288EC639}"/>
              </a:ext>
            </a:extLst>
          </p:cNvPr>
          <p:cNvSpPr txBox="1"/>
          <p:nvPr/>
        </p:nvSpPr>
        <p:spPr>
          <a:xfrm rot="19002662">
            <a:off x="6880835" y="5526658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AI203+1 nm Ni</a:t>
            </a:r>
          </a:p>
        </p:txBody>
      </p:sp>
      <p:grpSp>
        <p:nvGrpSpPr>
          <p:cNvPr id="110" name="Group 20">
            <a:extLst>
              <a:ext uri="{FF2B5EF4-FFF2-40B4-BE49-F238E27FC236}">
                <a16:creationId xmlns:a16="http://schemas.microsoft.com/office/drawing/2014/main" id="{6D2368E8-E946-5AA2-4466-FA7AFE1CF9D0}"/>
              </a:ext>
            </a:extLst>
          </p:cNvPr>
          <p:cNvGrpSpPr>
            <a:grpSpLocks/>
          </p:cNvGrpSpPr>
          <p:nvPr/>
        </p:nvGrpSpPr>
        <p:grpSpPr bwMode="auto">
          <a:xfrm>
            <a:off x="7962961" y="2414101"/>
            <a:ext cx="609600" cy="1068387"/>
            <a:chOff x="3511" y="2056"/>
            <a:chExt cx="342" cy="1051"/>
          </a:xfrm>
        </p:grpSpPr>
        <p:sp>
          <p:nvSpPr>
            <p:cNvPr id="111" name="Line 21">
              <a:extLst>
                <a:ext uri="{FF2B5EF4-FFF2-40B4-BE49-F238E27FC236}">
                  <a16:creationId xmlns:a16="http://schemas.microsoft.com/office/drawing/2014/main" id="{753E2514-16A9-4430-13EA-51E59C0949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2" name="Group 22">
              <a:extLst>
                <a:ext uri="{FF2B5EF4-FFF2-40B4-BE49-F238E27FC236}">
                  <a16:creationId xmlns:a16="http://schemas.microsoft.com/office/drawing/2014/main" id="{890B6BBE-908B-5F66-83FD-FE20A0038FB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13" name="Freeform 23">
                <a:extLst>
                  <a:ext uri="{FF2B5EF4-FFF2-40B4-BE49-F238E27FC236}">
                    <a16:creationId xmlns:a16="http://schemas.microsoft.com/office/drawing/2014/main" id="{2B81E57A-A202-153C-D848-69DFDD5DC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4" name="Freeform 24">
                <a:extLst>
                  <a:ext uri="{FF2B5EF4-FFF2-40B4-BE49-F238E27FC236}">
                    <a16:creationId xmlns:a16="http://schemas.microsoft.com/office/drawing/2014/main" id="{57919F0A-DA5F-1223-DCDE-FA0ACBC7484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0" name="Group 20">
            <a:extLst>
              <a:ext uri="{FF2B5EF4-FFF2-40B4-BE49-F238E27FC236}">
                <a16:creationId xmlns:a16="http://schemas.microsoft.com/office/drawing/2014/main" id="{810D87FC-336C-8459-2CD0-275D985EBFED}"/>
              </a:ext>
            </a:extLst>
          </p:cNvPr>
          <p:cNvGrpSpPr>
            <a:grpSpLocks/>
          </p:cNvGrpSpPr>
          <p:nvPr/>
        </p:nvGrpSpPr>
        <p:grpSpPr bwMode="auto">
          <a:xfrm>
            <a:off x="7112497" y="2389525"/>
            <a:ext cx="609600" cy="1068387"/>
            <a:chOff x="3511" y="2056"/>
            <a:chExt cx="342" cy="1051"/>
          </a:xfrm>
        </p:grpSpPr>
        <p:sp>
          <p:nvSpPr>
            <p:cNvPr id="121" name="Line 21">
              <a:extLst>
                <a:ext uri="{FF2B5EF4-FFF2-40B4-BE49-F238E27FC236}">
                  <a16:creationId xmlns:a16="http://schemas.microsoft.com/office/drawing/2014/main" id="{31A624B3-167D-1412-12EA-656B5C0657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2" name="Group 22">
              <a:extLst>
                <a:ext uri="{FF2B5EF4-FFF2-40B4-BE49-F238E27FC236}">
                  <a16:creationId xmlns:a16="http://schemas.microsoft.com/office/drawing/2014/main" id="{AC5EFE10-2E98-4951-80D3-3D80C27B0E3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3" name="Freeform 23">
                <a:extLst>
                  <a:ext uri="{FF2B5EF4-FFF2-40B4-BE49-F238E27FC236}">
                    <a16:creationId xmlns:a16="http://schemas.microsoft.com/office/drawing/2014/main" id="{CB0E173E-B1E7-FD28-0143-64ADC5382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4" name="Freeform 24">
                <a:extLst>
                  <a:ext uri="{FF2B5EF4-FFF2-40B4-BE49-F238E27FC236}">
                    <a16:creationId xmlns:a16="http://schemas.microsoft.com/office/drawing/2014/main" id="{023AC013-582A-F6AC-B3E1-9BD71EC0F39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22173611-43FC-4D05-3209-0E405FE076A1}"/>
              </a:ext>
            </a:extLst>
          </p:cNvPr>
          <p:cNvSpPr txBox="1"/>
          <p:nvPr/>
        </p:nvSpPr>
        <p:spPr>
          <a:xfrm rot="19002662">
            <a:off x="6577999" y="4862998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Ni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128BBFD-7D92-5989-A715-C9FE0A1A8920}"/>
              </a:ext>
            </a:extLst>
          </p:cNvPr>
          <p:cNvSpPr txBox="1"/>
          <p:nvPr/>
        </p:nvSpPr>
        <p:spPr>
          <a:xfrm rot="19002662">
            <a:off x="4110976" y="5577916"/>
            <a:ext cx="2499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AI+1.2 nm 1BSFe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83A6EC-6914-5B31-9069-4843046A4AAF}"/>
              </a:ext>
            </a:extLst>
          </p:cNvPr>
          <p:cNvSpPr/>
          <p:nvPr/>
        </p:nvSpPr>
        <p:spPr>
          <a:xfrm>
            <a:off x="2789304" y="4762895"/>
            <a:ext cx="6954051" cy="1789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DFFCAF-CD27-93C7-7362-1D87386C257E}"/>
              </a:ext>
            </a:extLst>
          </p:cNvPr>
          <p:cNvSpPr txBox="1"/>
          <p:nvPr/>
        </p:nvSpPr>
        <p:spPr>
          <a:xfrm rot="18791278">
            <a:off x="2940263" y="490906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D5F48-FE4C-30C4-F841-ECBD4A03FFCA}"/>
              </a:ext>
            </a:extLst>
          </p:cNvPr>
          <p:cNvSpPr txBox="1"/>
          <p:nvPr/>
        </p:nvSpPr>
        <p:spPr>
          <a:xfrm rot="18791278">
            <a:off x="3784223" y="4915465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9EEA6C-42B0-13F9-27DD-324B044CEDC3}"/>
              </a:ext>
            </a:extLst>
          </p:cNvPr>
          <p:cNvSpPr txBox="1"/>
          <p:nvPr/>
        </p:nvSpPr>
        <p:spPr>
          <a:xfrm rot="18791278">
            <a:off x="4638419" y="492314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8F7921-C110-71B9-168B-F4FB0951E00D}"/>
              </a:ext>
            </a:extLst>
          </p:cNvPr>
          <p:cNvSpPr txBox="1"/>
          <p:nvPr/>
        </p:nvSpPr>
        <p:spPr>
          <a:xfrm rot="18791278">
            <a:off x="5514395" y="4915465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A0AD25-365A-851C-DE9D-C99D2060E19E}"/>
              </a:ext>
            </a:extLst>
          </p:cNvPr>
          <p:cNvSpPr txBox="1"/>
          <p:nvPr/>
        </p:nvSpPr>
        <p:spPr>
          <a:xfrm rot="18791278">
            <a:off x="6365629" y="492078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ADD19D-9B6E-746E-BCB8-C59EA079DA29}"/>
              </a:ext>
            </a:extLst>
          </p:cNvPr>
          <p:cNvSpPr txBox="1"/>
          <p:nvPr/>
        </p:nvSpPr>
        <p:spPr>
          <a:xfrm rot="18791278">
            <a:off x="7231787" y="49295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8951A3-300C-CC96-C2B8-84A39068CDB1}"/>
              </a:ext>
            </a:extLst>
          </p:cNvPr>
          <p:cNvSpPr txBox="1"/>
          <p:nvPr/>
        </p:nvSpPr>
        <p:spPr>
          <a:xfrm rot="18791278">
            <a:off x="8102615" y="492058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G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76000C1-710D-4458-AFCD-252F78512B25}"/>
              </a:ext>
            </a:extLst>
          </p:cNvPr>
          <p:cNvSpPr txBox="1">
            <a:spLocks noChangeArrowheads="1"/>
          </p:cNvSpPr>
          <p:nvPr/>
        </p:nvSpPr>
        <p:spPr>
          <a:xfrm>
            <a:off x="625510" y="1122692"/>
            <a:ext cx="9737690" cy="389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86360" indent="0">
              <a:buNone/>
            </a:pPr>
            <a:r>
              <a:rPr lang="en-US" sz="2400" dirty="0">
                <a:latin typeface="Raleway" pitchFamily="2" charset="0"/>
              </a:rPr>
              <a:t>Finding the best of a set of discrete alternatives is known as the “multiarmed bandit problem.” I like to call it an “optimal learning problem.”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5506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4CF12-8BED-742B-03BF-C644E6F0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099" name="Rectangle 2">
            <a:extLst>
              <a:ext uri="{FF2B5EF4-FFF2-40B4-BE49-F238E27FC236}">
                <a16:creationId xmlns:a16="http://schemas.microsoft.com/office/drawing/2014/main" id="{2C6EC156-B2FE-C3D0-DF51-F0D312F6790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300" dirty="0">
                <a:latin typeface="Oswald" panose="00000500000000000000" pitchFamily="2" charset="0"/>
              </a:rPr>
              <a:t>Cost function approximations: Discrete choices</a:t>
            </a:r>
          </a:p>
        </p:txBody>
      </p:sp>
      <p:sp>
        <p:nvSpPr>
          <p:cNvPr id="1284101" name="Line 4">
            <a:extLst>
              <a:ext uri="{FF2B5EF4-FFF2-40B4-BE49-F238E27FC236}">
                <a16:creationId xmlns:a16="http://schemas.microsoft.com/office/drawing/2014/main" id="{E28456FC-9B3D-5A79-A8CE-CF594FBF2C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1350" y="4582928"/>
            <a:ext cx="620354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4102" name="Rectangle 5" descr="Dark upward diagonal">
            <a:extLst>
              <a:ext uri="{FF2B5EF4-FFF2-40B4-BE49-F238E27FC236}">
                <a16:creationId xmlns:a16="http://schemas.microsoft.com/office/drawing/2014/main" id="{E806A147-2E41-3DEE-EB15-677606030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630429"/>
            <a:ext cx="227012" cy="9366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3" name="Rectangle 6" descr="Dark upward diagonal">
            <a:extLst>
              <a:ext uri="{FF2B5EF4-FFF2-40B4-BE49-F238E27FC236}">
                <a16:creationId xmlns:a16="http://schemas.microsoft.com/office/drawing/2014/main" id="{10B0F345-C3C7-5810-E754-1DD68B358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3368491"/>
            <a:ext cx="227012" cy="1198563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4" name="Rectangle 7" descr="Dark upward diagonal">
            <a:extLst>
              <a:ext uri="{FF2B5EF4-FFF2-40B4-BE49-F238E27FC236}">
                <a16:creationId xmlns:a16="http://schemas.microsoft.com/office/drawing/2014/main" id="{95608F7B-5452-1185-E501-82D75E396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3160529"/>
            <a:ext cx="227012" cy="14065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5" name="Rectangle 8" descr="Dark upward diagonal">
            <a:extLst>
              <a:ext uri="{FF2B5EF4-FFF2-40B4-BE49-F238E27FC236}">
                <a16:creationId xmlns:a16="http://schemas.microsoft.com/office/drawing/2014/main" id="{40300F18-BAF0-A500-25C1-5B641D336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2963678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7" name="Text Box 10">
            <a:extLst>
              <a:ext uri="{FF2B5EF4-FFF2-40B4-BE49-F238E27FC236}">
                <a16:creationId xmlns:a16="http://schemas.microsoft.com/office/drawing/2014/main" id="{31A94E5B-4C20-83A8-1AB1-A0EEA73BA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1088" y="4586103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1</a:t>
            </a:r>
          </a:p>
        </p:txBody>
      </p:sp>
      <p:sp>
        <p:nvSpPr>
          <p:cNvPr id="1284108" name="Text Box 11">
            <a:extLst>
              <a:ext uri="{FF2B5EF4-FFF2-40B4-BE49-F238E27FC236}">
                <a16:creationId xmlns:a16="http://schemas.microsoft.com/office/drawing/2014/main" id="{52D56702-4FA9-E930-4E33-9449B3B29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163" y="4586103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2</a:t>
            </a:r>
          </a:p>
        </p:txBody>
      </p:sp>
      <p:sp>
        <p:nvSpPr>
          <p:cNvPr id="1284109" name="Text Box 12">
            <a:extLst>
              <a:ext uri="{FF2B5EF4-FFF2-40B4-BE49-F238E27FC236}">
                <a16:creationId xmlns:a16="http://schemas.microsoft.com/office/drawing/2014/main" id="{3AD6295F-CA0E-0B7E-DE8B-7201AC717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226" y="458610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3</a:t>
            </a:r>
          </a:p>
        </p:txBody>
      </p:sp>
      <p:sp>
        <p:nvSpPr>
          <p:cNvPr id="1284110" name="Text Box 13">
            <a:extLst>
              <a:ext uri="{FF2B5EF4-FFF2-40B4-BE49-F238E27FC236}">
                <a16:creationId xmlns:a16="http://schemas.microsoft.com/office/drawing/2014/main" id="{87B8E8B7-B1C8-4D8F-9F15-96EF9B1FB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826" y="458610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grpSp>
        <p:nvGrpSpPr>
          <p:cNvPr id="1284119" name="Group 20">
            <a:extLst>
              <a:ext uri="{FF2B5EF4-FFF2-40B4-BE49-F238E27FC236}">
                <a16:creationId xmlns:a16="http://schemas.microsoft.com/office/drawing/2014/main" id="{A768871D-BAF2-AFB3-3D0D-42D18A93DD16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2423929"/>
            <a:ext cx="609600" cy="1068387"/>
            <a:chOff x="3511" y="2056"/>
            <a:chExt cx="342" cy="1051"/>
          </a:xfrm>
        </p:grpSpPr>
        <p:sp>
          <p:nvSpPr>
            <p:cNvPr id="1284120" name="Line 21">
              <a:extLst>
                <a:ext uri="{FF2B5EF4-FFF2-40B4-BE49-F238E27FC236}">
                  <a16:creationId xmlns:a16="http://schemas.microsoft.com/office/drawing/2014/main" id="{B75EF7AA-2B9A-BC96-E2D4-53F27FAAF1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1" name="Group 22">
              <a:extLst>
                <a:ext uri="{FF2B5EF4-FFF2-40B4-BE49-F238E27FC236}">
                  <a16:creationId xmlns:a16="http://schemas.microsoft.com/office/drawing/2014/main" id="{4D7EF54D-7B8F-7836-552A-B0CD04C3325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2" name="Freeform 23">
                <a:extLst>
                  <a:ext uri="{FF2B5EF4-FFF2-40B4-BE49-F238E27FC236}">
                    <a16:creationId xmlns:a16="http://schemas.microsoft.com/office/drawing/2014/main" id="{F88C4CC0-A82B-6622-31AC-3EC1A95E79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3" name="Freeform 24">
                <a:extLst>
                  <a:ext uri="{FF2B5EF4-FFF2-40B4-BE49-F238E27FC236}">
                    <a16:creationId xmlns:a16="http://schemas.microsoft.com/office/drawing/2014/main" id="{0BDE3728-B46E-5117-4ADC-65FD53F892B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4" name="Group 25">
            <a:extLst>
              <a:ext uri="{FF2B5EF4-FFF2-40B4-BE49-F238E27FC236}">
                <a16:creationId xmlns:a16="http://schemas.microsoft.com/office/drawing/2014/main" id="{440D06B3-E8CB-27B6-00A7-1EFDC06777F6}"/>
              </a:ext>
            </a:extLst>
          </p:cNvPr>
          <p:cNvGrpSpPr>
            <a:grpSpLocks/>
          </p:cNvGrpSpPr>
          <p:nvPr/>
        </p:nvGrpSpPr>
        <p:grpSpPr bwMode="auto">
          <a:xfrm>
            <a:off x="5367339" y="2854141"/>
            <a:ext cx="714375" cy="630237"/>
            <a:chOff x="3511" y="2056"/>
            <a:chExt cx="342" cy="1051"/>
          </a:xfrm>
        </p:grpSpPr>
        <p:sp>
          <p:nvSpPr>
            <p:cNvPr id="1284125" name="Line 26">
              <a:extLst>
                <a:ext uri="{FF2B5EF4-FFF2-40B4-BE49-F238E27FC236}">
                  <a16:creationId xmlns:a16="http://schemas.microsoft.com/office/drawing/2014/main" id="{1864B9D1-EACF-790B-1A25-CD094050C9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6" name="Group 27">
              <a:extLst>
                <a:ext uri="{FF2B5EF4-FFF2-40B4-BE49-F238E27FC236}">
                  <a16:creationId xmlns:a16="http://schemas.microsoft.com/office/drawing/2014/main" id="{EAE546E9-825B-7FDB-F4E5-FACF17CD0471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7" name="Freeform 28">
                <a:extLst>
                  <a:ext uri="{FF2B5EF4-FFF2-40B4-BE49-F238E27FC236}">
                    <a16:creationId xmlns:a16="http://schemas.microsoft.com/office/drawing/2014/main" id="{08AC1C9A-5AA6-9851-0669-D0E3EAF3F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8" name="Freeform 29">
                <a:extLst>
                  <a:ext uri="{FF2B5EF4-FFF2-40B4-BE49-F238E27FC236}">
                    <a16:creationId xmlns:a16="http://schemas.microsoft.com/office/drawing/2014/main" id="{F7EEB53C-66AF-810E-AE9A-AD05D10398F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9" name="Group 46">
            <a:extLst>
              <a:ext uri="{FF2B5EF4-FFF2-40B4-BE49-F238E27FC236}">
                <a16:creationId xmlns:a16="http://schemas.microsoft.com/office/drawing/2014/main" id="{526F5C5B-6C86-25CE-6985-C4A8C4AF0108}"/>
              </a:ext>
            </a:extLst>
          </p:cNvPr>
          <p:cNvGrpSpPr>
            <a:grpSpLocks/>
          </p:cNvGrpSpPr>
          <p:nvPr/>
        </p:nvGrpSpPr>
        <p:grpSpPr bwMode="auto">
          <a:xfrm>
            <a:off x="3635376" y="3173229"/>
            <a:ext cx="581025" cy="896937"/>
            <a:chOff x="3511" y="2056"/>
            <a:chExt cx="342" cy="1051"/>
          </a:xfrm>
        </p:grpSpPr>
        <p:sp>
          <p:nvSpPr>
            <p:cNvPr id="1284130" name="Line 47">
              <a:extLst>
                <a:ext uri="{FF2B5EF4-FFF2-40B4-BE49-F238E27FC236}">
                  <a16:creationId xmlns:a16="http://schemas.microsoft.com/office/drawing/2014/main" id="{71EA8D52-B722-32E7-519A-E6F755BA23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1" name="Group 48">
              <a:extLst>
                <a:ext uri="{FF2B5EF4-FFF2-40B4-BE49-F238E27FC236}">
                  <a16:creationId xmlns:a16="http://schemas.microsoft.com/office/drawing/2014/main" id="{AFC491CF-0F8B-6498-0A33-567B87CBE1A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2" name="Freeform 49">
                <a:extLst>
                  <a:ext uri="{FF2B5EF4-FFF2-40B4-BE49-F238E27FC236}">
                    <a16:creationId xmlns:a16="http://schemas.microsoft.com/office/drawing/2014/main" id="{E42C5D85-166A-07FF-6390-A1D4E0D9E3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3" name="Freeform 50">
                <a:extLst>
                  <a:ext uri="{FF2B5EF4-FFF2-40B4-BE49-F238E27FC236}">
                    <a16:creationId xmlns:a16="http://schemas.microsoft.com/office/drawing/2014/main" id="{BD500DB1-A3EB-9455-6A33-5FBFCFB78D7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34" name="Group 51">
            <a:extLst>
              <a:ext uri="{FF2B5EF4-FFF2-40B4-BE49-F238E27FC236}">
                <a16:creationId xmlns:a16="http://schemas.microsoft.com/office/drawing/2014/main" id="{12C0AB2C-CF32-26B1-63C2-CCADA69448D9}"/>
              </a:ext>
            </a:extLst>
          </p:cNvPr>
          <p:cNvGrpSpPr>
            <a:grpSpLocks/>
          </p:cNvGrpSpPr>
          <p:nvPr/>
        </p:nvGrpSpPr>
        <p:grpSpPr bwMode="auto">
          <a:xfrm>
            <a:off x="4505326" y="2204853"/>
            <a:ext cx="276225" cy="2316162"/>
            <a:chOff x="3511" y="2056"/>
            <a:chExt cx="342" cy="1051"/>
          </a:xfrm>
        </p:grpSpPr>
        <p:sp>
          <p:nvSpPr>
            <p:cNvPr id="1284135" name="Line 52">
              <a:extLst>
                <a:ext uri="{FF2B5EF4-FFF2-40B4-BE49-F238E27FC236}">
                  <a16:creationId xmlns:a16="http://schemas.microsoft.com/office/drawing/2014/main" id="{6BE4D196-D9FD-6E12-DC89-C0E89452BC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6" name="Group 53">
              <a:extLst>
                <a:ext uri="{FF2B5EF4-FFF2-40B4-BE49-F238E27FC236}">
                  <a16:creationId xmlns:a16="http://schemas.microsoft.com/office/drawing/2014/main" id="{9A596DC2-4137-95A4-679D-04233EF34EB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7" name="Freeform 54">
                <a:extLst>
                  <a:ext uri="{FF2B5EF4-FFF2-40B4-BE49-F238E27FC236}">
                    <a16:creationId xmlns:a16="http://schemas.microsoft.com/office/drawing/2014/main" id="{29B1755E-4537-D8DC-5301-7C1E278FF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8" name="Freeform 55">
                <a:extLst>
                  <a:ext uri="{FF2B5EF4-FFF2-40B4-BE49-F238E27FC236}">
                    <a16:creationId xmlns:a16="http://schemas.microsoft.com/office/drawing/2014/main" id="{CBB63C07-4F96-0F38-B698-8839B777311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86" name="Rectangle 8" descr="Dark upward diagonal">
            <a:extLst>
              <a:ext uri="{FF2B5EF4-FFF2-40B4-BE49-F238E27FC236}">
                <a16:creationId xmlns:a16="http://schemas.microsoft.com/office/drawing/2014/main" id="{6707C17C-DC82-1D50-4378-38E8A0667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549" y="2968598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87" name="Text Box 13">
            <a:extLst>
              <a:ext uri="{FF2B5EF4-FFF2-40B4-BE49-F238E27FC236}">
                <a16:creationId xmlns:a16="http://schemas.microsoft.com/office/drawing/2014/main" id="{7CD9796D-FB33-E5D0-30CB-BFB1B0F8E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262" y="459102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sp>
        <p:nvSpPr>
          <p:cNvPr id="91" name="Rectangle 9" descr="Dark upward diagonal">
            <a:extLst>
              <a:ext uri="{FF2B5EF4-FFF2-40B4-BE49-F238E27FC236}">
                <a16:creationId xmlns:a16="http://schemas.microsoft.com/office/drawing/2014/main" id="{DA1563C5-0C6B-825D-A7F3-1DB9C5F1E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3229" y="3088631"/>
            <a:ext cx="227012" cy="146367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92" name="Text Box 14">
            <a:extLst>
              <a:ext uri="{FF2B5EF4-FFF2-40B4-BE49-F238E27FC236}">
                <a16:creationId xmlns:a16="http://schemas.microsoft.com/office/drawing/2014/main" id="{650DD1CD-23C1-09E3-BB47-A29148BEF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6879" y="4563417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5</a:t>
            </a:r>
          </a:p>
        </p:txBody>
      </p:sp>
      <p:grpSp>
        <p:nvGrpSpPr>
          <p:cNvPr id="93" name="Group 15">
            <a:extLst>
              <a:ext uri="{FF2B5EF4-FFF2-40B4-BE49-F238E27FC236}">
                <a16:creationId xmlns:a16="http://schemas.microsoft.com/office/drawing/2014/main" id="{EBE8CEEB-5D81-6659-B9CF-BCF49BF43C0E}"/>
              </a:ext>
            </a:extLst>
          </p:cNvPr>
          <p:cNvGrpSpPr>
            <a:grpSpLocks/>
          </p:cNvGrpSpPr>
          <p:nvPr/>
        </p:nvGrpSpPr>
        <p:grpSpPr bwMode="auto">
          <a:xfrm>
            <a:off x="8823229" y="2264718"/>
            <a:ext cx="400050" cy="1668463"/>
            <a:chOff x="3511" y="2056"/>
            <a:chExt cx="342" cy="1051"/>
          </a:xfrm>
        </p:grpSpPr>
        <p:sp>
          <p:nvSpPr>
            <p:cNvPr id="94" name="Line 16">
              <a:extLst>
                <a:ext uri="{FF2B5EF4-FFF2-40B4-BE49-F238E27FC236}">
                  <a16:creationId xmlns:a16="http://schemas.microsoft.com/office/drawing/2014/main" id="{0C0FC46D-6690-E3F5-041B-D40D448D7D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" name="Group 17">
              <a:extLst>
                <a:ext uri="{FF2B5EF4-FFF2-40B4-BE49-F238E27FC236}">
                  <a16:creationId xmlns:a16="http://schemas.microsoft.com/office/drawing/2014/main" id="{901DFF75-8C23-E02A-75A0-5C54240FD23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96" name="Freeform 18">
                <a:extLst>
                  <a:ext uri="{FF2B5EF4-FFF2-40B4-BE49-F238E27FC236}">
                    <a16:creationId xmlns:a16="http://schemas.microsoft.com/office/drawing/2014/main" id="{D2D96C0E-B1E3-72DD-1F4E-ADBFDF769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7" name="Freeform 19">
                <a:extLst>
                  <a:ext uri="{FF2B5EF4-FFF2-40B4-BE49-F238E27FC236}">
                    <a16:creationId xmlns:a16="http://schemas.microsoft.com/office/drawing/2014/main" id="{1FBB1BCC-A82F-B25F-3A6E-0DCD2328D40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98" name="Oval 40">
            <a:extLst>
              <a:ext uri="{FF2B5EF4-FFF2-40B4-BE49-F238E27FC236}">
                <a16:creationId xmlns:a16="http://schemas.microsoft.com/office/drawing/2014/main" id="{629AB949-3D4E-3E6D-A654-AD005A98A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779" y="2458392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grpSp>
        <p:nvGrpSpPr>
          <p:cNvPr id="99" name="Group 15">
            <a:extLst>
              <a:ext uri="{FF2B5EF4-FFF2-40B4-BE49-F238E27FC236}">
                <a16:creationId xmlns:a16="http://schemas.microsoft.com/office/drawing/2014/main" id="{715BA516-61CF-6B48-92B2-44CA7ED3B2BF}"/>
              </a:ext>
            </a:extLst>
          </p:cNvPr>
          <p:cNvGrpSpPr>
            <a:grpSpLocks/>
          </p:cNvGrpSpPr>
          <p:nvPr/>
        </p:nvGrpSpPr>
        <p:grpSpPr bwMode="auto">
          <a:xfrm>
            <a:off x="8824816" y="1990081"/>
            <a:ext cx="400050" cy="1296987"/>
            <a:chOff x="3511" y="2056"/>
            <a:chExt cx="342" cy="1051"/>
          </a:xfrm>
        </p:grpSpPr>
        <p:sp>
          <p:nvSpPr>
            <p:cNvPr id="100" name="Line 16">
              <a:extLst>
                <a:ext uri="{FF2B5EF4-FFF2-40B4-BE49-F238E27FC236}">
                  <a16:creationId xmlns:a16="http://schemas.microsoft.com/office/drawing/2014/main" id="{DE00B9DA-7800-A54B-5268-E7D7DF25F2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1" name="Group 17">
              <a:extLst>
                <a:ext uri="{FF2B5EF4-FFF2-40B4-BE49-F238E27FC236}">
                  <a16:creationId xmlns:a16="http://schemas.microsoft.com/office/drawing/2014/main" id="{4C6A18F0-47C5-D003-A963-EBD4C7F1DEF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02" name="Freeform 18">
                <a:extLst>
                  <a:ext uri="{FF2B5EF4-FFF2-40B4-BE49-F238E27FC236}">
                    <a16:creationId xmlns:a16="http://schemas.microsoft.com/office/drawing/2014/main" id="{56707CFC-4731-0474-9980-D0D2FE4BD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03" name="Freeform 19">
                <a:extLst>
                  <a:ext uri="{FF2B5EF4-FFF2-40B4-BE49-F238E27FC236}">
                    <a16:creationId xmlns:a16="http://schemas.microsoft.com/office/drawing/2014/main" id="{C4BB7275-E972-76F6-5789-11D0E60F63F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DCEC67B-8246-722A-8B12-8BAF2CB9CA7C}"/>
              </a:ext>
            </a:extLst>
          </p:cNvPr>
          <p:cNvSpPr/>
          <p:nvPr/>
        </p:nvSpPr>
        <p:spPr bwMode="auto">
          <a:xfrm>
            <a:off x="3028335" y="4615599"/>
            <a:ext cx="6459794" cy="44865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F1E7CC-473B-9AC3-5145-8A5F0EB8F418}"/>
              </a:ext>
            </a:extLst>
          </p:cNvPr>
          <p:cNvSpPr txBox="1"/>
          <p:nvPr/>
        </p:nvSpPr>
        <p:spPr>
          <a:xfrm rot="19002662">
            <a:off x="2929670" y="4931806"/>
            <a:ext cx="989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1.4 nm Fe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03C769E-0263-27AD-F2FD-9B3ED48441A7}"/>
              </a:ext>
            </a:extLst>
          </p:cNvPr>
          <p:cNvSpPr txBox="1"/>
          <p:nvPr/>
        </p:nvSpPr>
        <p:spPr>
          <a:xfrm rot="19002662">
            <a:off x="3879261" y="4907230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nm Fe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75009B-0E98-E501-42B7-913293D1594B}"/>
              </a:ext>
            </a:extLst>
          </p:cNvPr>
          <p:cNvSpPr txBox="1"/>
          <p:nvPr/>
        </p:nvSpPr>
        <p:spPr>
          <a:xfrm rot="19002662">
            <a:off x="4813579" y="4872826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Fe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037CE80-A48D-931B-0F3B-0DD3A0C4D94D}"/>
              </a:ext>
            </a:extLst>
          </p:cNvPr>
          <p:cNvSpPr txBox="1"/>
          <p:nvPr/>
        </p:nvSpPr>
        <p:spPr>
          <a:xfrm rot="19002662">
            <a:off x="7378241" y="4877746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 0.6 nm</a:t>
            </a:r>
          </a:p>
        </p:txBody>
      </p:sp>
      <p:sp>
        <p:nvSpPr>
          <p:cNvPr id="106" name="Rectangle 8" descr="Dark upward diagonal">
            <a:extLst>
              <a:ext uri="{FF2B5EF4-FFF2-40B4-BE49-F238E27FC236}">
                <a16:creationId xmlns:a16="http://schemas.microsoft.com/office/drawing/2014/main" id="{21CBDC10-05AA-B4BF-8A8A-781AECA88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9165" y="2968598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D70AFE5-1904-8A84-DB2B-7D4D7E119A4D}"/>
              </a:ext>
            </a:extLst>
          </p:cNvPr>
          <p:cNvSpPr txBox="1"/>
          <p:nvPr/>
        </p:nvSpPr>
        <p:spPr>
          <a:xfrm rot="19002662">
            <a:off x="6880835" y="5526658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AI203+1 nm Ni</a:t>
            </a:r>
          </a:p>
        </p:txBody>
      </p:sp>
      <p:grpSp>
        <p:nvGrpSpPr>
          <p:cNvPr id="110" name="Group 20">
            <a:extLst>
              <a:ext uri="{FF2B5EF4-FFF2-40B4-BE49-F238E27FC236}">
                <a16:creationId xmlns:a16="http://schemas.microsoft.com/office/drawing/2014/main" id="{6BDDB7D4-A59D-BD6F-CBB4-B1B50FF976EF}"/>
              </a:ext>
            </a:extLst>
          </p:cNvPr>
          <p:cNvGrpSpPr>
            <a:grpSpLocks/>
          </p:cNvGrpSpPr>
          <p:nvPr/>
        </p:nvGrpSpPr>
        <p:grpSpPr bwMode="auto">
          <a:xfrm>
            <a:off x="7962961" y="2414101"/>
            <a:ext cx="609600" cy="1068387"/>
            <a:chOff x="3511" y="2056"/>
            <a:chExt cx="342" cy="1051"/>
          </a:xfrm>
        </p:grpSpPr>
        <p:sp>
          <p:nvSpPr>
            <p:cNvPr id="111" name="Line 21">
              <a:extLst>
                <a:ext uri="{FF2B5EF4-FFF2-40B4-BE49-F238E27FC236}">
                  <a16:creationId xmlns:a16="http://schemas.microsoft.com/office/drawing/2014/main" id="{38999B7E-61A5-E83C-AA9F-92D9463D6A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2" name="Group 22">
              <a:extLst>
                <a:ext uri="{FF2B5EF4-FFF2-40B4-BE49-F238E27FC236}">
                  <a16:creationId xmlns:a16="http://schemas.microsoft.com/office/drawing/2014/main" id="{25B6BE7F-AEF1-34D0-FC54-E653EB81578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13" name="Freeform 23">
                <a:extLst>
                  <a:ext uri="{FF2B5EF4-FFF2-40B4-BE49-F238E27FC236}">
                    <a16:creationId xmlns:a16="http://schemas.microsoft.com/office/drawing/2014/main" id="{58580BC8-820F-A704-5C12-4318B6BD45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4" name="Freeform 24">
                <a:extLst>
                  <a:ext uri="{FF2B5EF4-FFF2-40B4-BE49-F238E27FC236}">
                    <a16:creationId xmlns:a16="http://schemas.microsoft.com/office/drawing/2014/main" id="{1DD94558-10A3-BA20-FA60-3EC88218DBA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0" name="Group 20">
            <a:extLst>
              <a:ext uri="{FF2B5EF4-FFF2-40B4-BE49-F238E27FC236}">
                <a16:creationId xmlns:a16="http://schemas.microsoft.com/office/drawing/2014/main" id="{FB12AA57-654F-EF67-05BF-3E9A4BD799E6}"/>
              </a:ext>
            </a:extLst>
          </p:cNvPr>
          <p:cNvGrpSpPr>
            <a:grpSpLocks/>
          </p:cNvGrpSpPr>
          <p:nvPr/>
        </p:nvGrpSpPr>
        <p:grpSpPr bwMode="auto">
          <a:xfrm>
            <a:off x="7112497" y="2389525"/>
            <a:ext cx="609600" cy="1068387"/>
            <a:chOff x="3511" y="2056"/>
            <a:chExt cx="342" cy="1051"/>
          </a:xfrm>
        </p:grpSpPr>
        <p:sp>
          <p:nvSpPr>
            <p:cNvPr id="121" name="Line 21">
              <a:extLst>
                <a:ext uri="{FF2B5EF4-FFF2-40B4-BE49-F238E27FC236}">
                  <a16:creationId xmlns:a16="http://schemas.microsoft.com/office/drawing/2014/main" id="{DA8E8475-3406-6696-B98B-61EE38E104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2" name="Group 22">
              <a:extLst>
                <a:ext uri="{FF2B5EF4-FFF2-40B4-BE49-F238E27FC236}">
                  <a16:creationId xmlns:a16="http://schemas.microsoft.com/office/drawing/2014/main" id="{A6803BC3-923F-5FC5-C536-CDBBCF6766D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3" name="Freeform 23">
                <a:extLst>
                  <a:ext uri="{FF2B5EF4-FFF2-40B4-BE49-F238E27FC236}">
                    <a16:creationId xmlns:a16="http://schemas.microsoft.com/office/drawing/2014/main" id="{EF566DC2-E462-D888-77CB-29D1BDCA7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4" name="Freeform 24">
                <a:extLst>
                  <a:ext uri="{FF2B5EF4-FFF2-40B4-BE49-F238E27FC236}">
                    <a16:creationId xmlns:a16="http://schemas.microsoft.com/office/drawing/2014/main" id="{157433D2-65CD-93C3-1008-1376FF696A0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F07C27E-9F72-8D69-2E6D-E78B4F1E2FD4}"/>
              </a:ext>
            </a:extLst>
          </p:cNvPr>
          <p:cNvGrpSpPr/>
          <p:nvPr/>
        </p:nvGrpSpPr>
        <p:grpSpPr>
          <a:xfrm>
            <a:off x="3627438" y="2079199"/>
            <a:ext cx="4937186" cy="1929055"/>
            <a:chOff x="2103438" y="1868187"/>
            <a:chExt cx="4937186" cy="1929055"/>
          </a:xfrm>
        </p:grpSpPr>
        <p:grpSp>
          <p:nvGrpSpPr>
            <p:cNvPr id="1284145" name="Group 20">
              <a:extLst>
                <a:ext uri="{FF2B5EF4-FFF2-40B4-BE49-F238E27FC236}">
                  <a16:creationId xmlns:a16="http://schemas.microsoft.com/office/drawing/2014/main" id="{FF1F3F89-478E-69E8-E288-B2FC9B50A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0525" y="1946834"/>
              <a:ext cx="634548" cy="1031694"/>
              <a:chOff x="3511" y="2056"/>
              <a:chExt cx="356" cy="1311"/>
            </a:xfrm>
          </p:grpSpPr>
          <p:sp>
            <p:nvSpPr>
              <p:cNvPr id="1284146" name="Line 21">
                <a:extLst>
                  <a:ext uri="{FF2B5EF4-FFF2-40B4-BE49-F238E27FC236}">
                    <a16:creationId xmlns:a16="http://schemas.microsoft.com/office/drawing/2014/main" id="{077E7524-1861-7926-2A9A-0772DB2997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84147" name="Group 22">
                <a:extLst>
                  <a:ext uri="{FF2B5EF4-FFF2-40B4-BE49-F238E27FC236}">
                    <a16:creationId xmlns:a16="http://schemas.microsoft.com/office/drawing/2014/main" id="{35262347-4C93-78FA-81D9-333E3BA595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177" y="2677"/>
                <a:ext cx="1042" cy="338"/>
                <a:chOff x="2646" y="800"/>
                <a:chExt cx="1656" cy="376"/>
              </a:xfrm>
            </p:grpSpPr>
            <p:sp>
              <p:nvSpPr>
                <p:cNvPr id="1284148" name="Freeform 23">
                  <a:extLst>
                    <a:ext uri="{FF2B5EF4-FFF2-40B4-BE49-F238E27FC236}">
                      <a16:creationId xmlns:a16="http://schemas.microsoft.com/office/drawing/2014/main" id="{0402BDAD-A3A9-F91D-FCB3-C1524ABC62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284149" name="Freeform 24">
                  <a:extLst>
                    <a:ext uri="{FF2B5EF4-FFF2-40B4-BE49-F238E27FC236}">
                      <a16:creationId xmlns:a16="http://schemas.microsoft.com/office/drawing/2014/main" id="{D156EC15-A54A-5369-C87D-D841ED20A9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64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</p:grpSp>
        </p:grpSp>
        <p:grpSp>
          <p:nvGrpSpPr>
            <p:cNvPr id="1284150" name="Group 25">
              <a:extLst>
                <a:ext uri="{FF2B5EF4-FFF2-40B4-BE49-F238E27FC236}">
                  <a16:creationId xmlns:a16="http://schemas.microsoft.com/office/drawing/2014/main" id="{A4AD5381-86DD-D171-36DE-1083CB30AB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5409" y="2497079"/>
              <a:ext cx="722731" cy="545707"/>
              <a:chOff x="3511" y="2056"/>
              <a:chExt cx="346" cy="1173"/>
            </a:xfrm>
          </p:grpSpPr>
          <p:sp>
            <p:nvSpPr>
              <p:cNvPr id="1284151" name="Line 26">
                <a:extLst>
                  <a:ext uri="{FF2B5EF4-FFF2-40B4-BE49-F238E27FC236}">
                    <a16:creationId xmlns:a16="http://schemas.microsoft.com/office/drawing/2014/main" id="{C20656F5-8553-2B32-801D-D417C70BB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84152" name="Group 27">
                <a:extLst>
                  <a:ext uri="{FF2B5EF4-FFF2-40B4-BE49-F238E27FC236}">
                    <a16:creationId xmlns:a16="http://schemas.microsoft.com/office/drawing/2014/main" id="{9D9DF49C-19AF-64CD-4151-CB2B81A122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167" y="2539"/>
                <a:ext cx="1042" cy="338"/>
                <a:chOff x="2426" y="800"/>
                <a:chExt cx="1656" cy="376"/>
              </a:xfrm>
            </p:grpSpPr>
            <p:sp>
              <p:nvSpPr>
                <p:cNvPr id="1284153" name="Freeform 28">
                  <a:extLst>
                    <a:ext uri="{FF2B5EF4-FFF2-40B4-BE49-F238E27FC236}">
                      <a16:creationId xmlns:a16="http://schemas.microsoft.com/office/drawing/2014/main" id="{85AE88D1-AA91-0DF8-69D3-8906962D37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284154" name="Freeform 29">
                  <a:extLst>
                    <a:ext uri="{FF2B5EF4-FFF2-40B4-BE49-F238E27FC236}">
                      <a16:creationId xmlns:a16="http://schemas.microsoft.com/office/drawing/2014/main" id="{0614062B-B46C-57B1-2E99-D9D301DE92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4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</p:grpSp>
        </p:grpSp>
        <p:grpSp>
          <p:nvGrpSpPr>
            <p:cNvPr id="1284155" name="Group 46">
              <a:extLst>
                <a:ext uri="{FF2B5EF4-FFF2-40B4-BE49-F238E27FC236}">
                  <a16:creationId xmlns:a16="http://schemas.microsoft.com/office/drawing/2014/main" id="{A9418F55-0625-5F07-C6C2-0A737C5C78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3438" y="2944754"/>
              <a:ext cx="581025" cy="693738"/>
              <a:chOff x="3511" y="2056"/>
              <a:chExt cx="342" cy="1051"/>
            </a:xfrm>
          </p:grpSpPr>
          <p:sp>
            <p:nvSpPr>
              <p:cNvPr id="1284156" name="Line 47">
                <a:extLst>
                  <a:ext uri="{FF2B5EF4-FFF2-40B4-BE49-F238E27FC236}">
                    <a16:creationId xmlns:a16="http://schemas.microsoft.com/office/drawing/2014/main" id="{5D90FE49-CE20-C162-D813-874A06286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84157" name="Group 48">
                <a:extLst>
                  <a:ext uri="{FF2B5EF4-FFF2-40B4-BE49-F238E27FC236}">
                    <a16:creationId xmlns:a16="http://schemas.microsoft.com/office/drawing/2014/main" id="{8829595B-130A-DEDD-18FB-316FCFB5B1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1284158" name="Freeform 49">
                  <a:extLst>
                    <a:ext uri="{FF2B5EF4-FFF2-40B4-BE49-F238E27FC236}">
                      <a16:creationId xmlns:a16="http://schemas.microsoft.com/office/drawing/2014/main" id="{C7D24ED9-CD2E-725F-6268-BEB6EA0F3C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284159" name="Freeform 50">
                  <a:extLst>
                    <a:ext uri="{FF2B5EF4-FFF2-40B4-BE49-F238E27FC236}">
                      <a16:creationId xmlns:a16="http://schemas.microsoft.com/office/drawing/2014/main" id="{93B05C40-EB6D-A216-6EF3-63917750BC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</p:grpSp>
        </p:grpSp>
        <p:grpSp>
          <p:nvGrpSpPr>
            <p:cNvPr id="1284160" name="Group 51">
              <a:extLst>
                <a:ext uri="{FF2B5EF4-FFF2-40B4-BE49-F238E27FC236}">
                  <a16:creationId xmlns:a16="http://schemas.microsoft.com/office/drawing/2014/main" id="{758DCA66-412C-C757-AD38-6A04E009FB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3388" y="2004954"/>
              <a:ext cx="276225" cy="1792288"/>
              <a:chOff x="3511" y="2056"/>
              <a:chExt cx="342" cy="1051"/>
            </a:xfrm>
          </p:grpSpPr>
          <p:sp>
            <p:nvSpPr>
              <p:cNvPr id="1284161" name="Line 52">
                <a:extLst>
                  <a:ext uri="{FF2B5EF4-FFF2-40B4-BE49-F238E27FC236}">
                    <a16:creationId xmlns:a16="http://schemas.microsoft.com/office/drawing/2014/main" id="{B143DF85-B085-C585-025A-A5E213ED54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84162" name="Group 53">
                <a:extLst>
                  <a:ext uri="{FF2B5EF4-FFF2-40B4-BE49-F238E27FC236}">
                    <a16:creationId xmlns:a16="http://schemas.microsoft.com/office/drawing/2014/main" id="{9FF83D7C-6CCB-C661-3172-D5AB20E0C2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1284163" name="Freeform 54">
                  <a:extLst>
                    <a:ext uri="{FF2B5EF4-FFF2-40B4-BE49-F238E27FC236}">
                      <a16:creationId xmlns:a16="http://schemas.microsoft.com/office/drawing/2014/main" id="{54E104C0-6EEB-470A-BD13-309985E4C3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284164" name="Freeform 55">
                  <a:extLst>
                    <a:ext uri="{FF2B5EF4-FFF2-40B4-BE49-F238E27FC236}">
                      <a16:creationId xmlns:a16="http://schemas.microsoft.com/office/drawing/2014/main" id="{E851A3D5-3778-30C1-FB2C-2761F57237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</p:grpSp>
        </p:grpSp>
        <p:grpSp>
          <p:nvGrpSpPr>
            <p:cNvPr id="115" name="Group 20">
              <a:extLst>
                <a:ext uri="{FF2B5EF4-FFF2-40B4-BE49-F238E27FC236}">
                  <a16:creationId xmlns:a16="http://schemas.microsoft.com/office/drawing/2014/main" id="{ABFA9B98-83DF-B908-D1B8-3D5471C302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1024" y="1878015"/>
              <a:ext cx="609600" cy="827088"/>
              <a:chOff x="3511" y="2056"/>
              <a:chExt cx="342" cy="1051"/>
            </a:xfrm>
          </p:grpSpPr>
          <p:sp>
            <p:nvSpPr>
              <p:cNvPr id="116" name="Line 21">
                <a:extLst>
                  <a:ext uri="{FF2B5EF4-FFF2-40B4-BE49-F238E27FC236}">
                    <a16:creationId xmlns:a16="http://schemas.microsoft.com/office/drawing/2014/main" id="{771D2B5D-7E44-56B0-ED55-04BD53E947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7" name="Group 22">
                <a:extLst>
                  <a:ext uri="{FF2B5EF4-FFF2-40B4-BE49-F238E27FC236}">
                    <a16:creationId xmlns:a16="http://schemas.microsoft.com/office/drawing/2014/main" id="{AB1B4FAD-AAC3-E443-C5FD-105F201280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118" name="Freeform 23">
                  <a:extLst>
                    <a:ext uri="{FF2B5EF4-FFF2-40B4-BE49-F238E27FC236}">
                      <a16:creationId xmlns:a16="http://schemas.microsoft.com/office/drawing/2014/main" id="{D8AE9C0A-6C3C-E15E-5DF8-8525D8AAFD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19" name="Freeform 24">
                  <a:extLst>
                    <a:ext uri="{FF2B5EF4-FFF2-40B4-BE49-F238E27FC236}">
                      <a16:creationId xmlns:a16="http://schemas.microsoft.com/office/drawing/2014/main" id="{A9F7025C-785D-A2E1-297A-627FA4DBE2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</p:grpSp>
        </p:grpSp>
        <p:grpSp>
          <p:nvGrpSpPr>
            <p:cNvPr id="125" name="Group 20">
              <a:extLst>
                <a:ext uri="{FF2B5EF4-FFF2-40B4-BE49-F238E27FC236}">
                  <a16:creationId xmlns:a16="http://schemas.microsoft.com/office/drawing/2014/main" id="{265131D3-3451-AB84-8BD4-732BFEBD2E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0560" y="1868187"/>
              <a:ext cx="609600" cy="827088"/>
              <a:chOff x="3511" y="2056"/>
              <a:chExt cx="342" cy="1051"/>
            </a:xfrm>
          </p:grpSpPr>
          <p:sp>
            <p:nvSpPr>
              <p:cNvPr id="126" name="Line 21">
                <a:extLst>
                  <a:ext uri="{FF2B5EF4-FFF2-40B4-BE49-F238E27FC236}">
                    <a16:creationId xmlns:a16="http://schemas.microsoft.com/office/drawing/2014/main" id="{BD5FE28C-3122-96E3-2C25-BE4254B7DE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7" name="Group 22">
                <a:extLst>
                  <a:ext uri="{FF2B5EF4-FFF2-40B4-BE49-F238E27FC236}">
                    <a16:creationId xmlns:a16="http://schemas.microsoft.com/office/drawing/2014/main" id="{0EA21C71-1F13-ED4A-7D45-08C916D1E2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128" name="Freeform 23">
                  <a:extLst>
                    <a:ext uri="{FF2B5EF4-FFF2-40B4-BE49-F238E27FC236}">
                      <a16:creationId xmlns:a16="http://schemas.microsoft.com/office/drawing/2014/main" id="{EE8EEDD8-8215-FBF3-4160-F226FF4824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29" name="Freeform 24">
                  <a:extLst>
                    <a:ext uri="{FF2B5EF4-FFF2-40B4-BE49-F238E27FC236}">
                      <a16:creationId xmlns:a16="http://schemas.microsoft.com/office/drawing/2014/main" id="{4BBDA866-EA19-1AEB-8756-075EC9333F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</p:grpSp>
        </p:grp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79CD5C52-70BA-3232-852A-A1A8E9C9C58E}"/>
              </a:ext>
            </a:extLst>
          </p:cNvPr>
          <p:cNvSpPr txBox="1"/>
          <p:nvPr/>
        </p:nvSpPr>
        <p:spPr>
          <a:xfrm rot="19002662">
            <a:off x="6577999" y="4862998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Ni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E175EAA-608B-69CC-EEE2-BD2797254C8B}"/>
              </a:ext>
            </a:extLst>
          </p:cNvPr>
          <p:cNvSpPr txBox="1"/>
          <p:nvPr/>
        </p:nvSpPr>
        <p:spPr>
          <a:xfrm rot="19002662">
            <a:off x="4110976" y="5577916"/>
            <a:ext cx="2499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AI+1.2 nm 1BSFe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472878-EE22-9637-C822-242FB2630FD0}"/>
              </a:ext>
            </a:extLst>
          </p:cNvPr>
          <p:cNvSpPr/>
          <p:nvPr/>
        </p:nvSpPr>
        <p:spPr>
          <a:xfrm>
            <a:off x="2789304" y="4762895"/>
            <a:ext cx="6954051" cy="1789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A7BD4-0CD4-A34B-7D0F-335D45947468}"/>
              </a:ext>
            </a:extLst>
          </p:cNvPr>
          <p:cNvSpPr txBox="1"/>
          <p:nvPr/>
        </p:nvSpPr>
        <p:spPr>
          <a:xfrm rot="18791278">
            <a:off x="2940263" y="490906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20821-DE64-C375-C2E9-EB78B747EA73}"/>
              </a:ext>
            </a:extLst>
          </p:cNvPr>
          <p:cNvSpPr txBox="1"/>
          <p:nvPr/>
        </p:nvSpPr>
        <p:spPr>
          <a:xfrm rot="18791278">
            <a:off x="3784223" y="4915465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85AC5F-186E-1F5A-9C28-44698CD6FB0C}"/>
              </a:ext>
            </a:extLst>
          </p:cNvPr>
          <p:cNvSpPr txBox="1"/>
          <p:nvPr/>
        </p:nvSpPr>
        <p:spPr>
          <a:xfrm rot="18791278">
            <a:off x="4638419" y="492314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2ED779-6AEE-FCA6-86DA-1B6CFA58F191}"/>
              </a:ext>
            </a:extLst>
          </p:cNvPr>
          <p:cNvSpPr txBox="1"/>
          <p:nvPr/>
        </p:nvSpPr>
        <p:spPr>
          <a:xfrm rot="18791278">
            <a:off x="5514395" y="4915465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4964B-1B65-BFF1-E6C7-9C07B0A4D403}"/>
              </a:ext>
            </a:extLst>
          </p:cNvPr>
          <p:cNvSpPr txBox="1"/>
          <p:nvPr/>
        </p:nvSpPr>
        <p:spPr>
          <a:xfrm rot="18791278">
            <a:off x="6365629" y="492078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287A8E-8978-74BA-8F96-40C9B570935F}"/>
              </a:ext>
            </a:extLst>
          </p:cNvPr>
          <p:cNvSpPr txBox="1"/>
          <p:nvPr/>
        </p:nvSpPr>
        <p:spPr>
          <a:xfrm rot="18791278">
            <a:off x="7231787" y="49295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F1F042-258D-DF8F-DF3D-D87466B768E9}"/>
              </a:ext>
            </a:extLst>
          </p:cNvPr>
          <p:cNvSpPr txBox="1"/>
          <p:nvPr/>
        </p:nvSpPr>
        <p:spPr>
          <a:xfrm rot="18791278">
            <a:off x="8102615" y="492058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4736721-90FE-859C-A193-C0247C254692}"/>
              </a:ext>
            </a:extLst>
          </p:cNvPr>
          <p:cNvSpPr txBox="1">
            <a:spLocks noChangeArrowheads="1"/>
          </p:cNvSpPr>
          <p:nvPr/>
        </p:nvSpPr>
        <p:spPr>
          <a:xfrm>
            <a:off x="625510" y="1122692"/>
            <a:ext cx="9737690" cy="389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86360" indent="0">
              <a:buNone/>
            </a:pPr>
            <a:r>
              <a:rPr lang="en-US" sz="2400" dirty="0">
                <a:latin typeface="Raleway" pitchFamily="2" charset="0"/>
              </a:rPr>
              <a:t>Correlated beliefs: Testing one product teaches us about other products (known as “correlated beliefs”)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0821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DF849-CC0E-6CA7-B5A6-D3D1C1AA1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593F6-2552-7AE5-31B9-0F19BA9B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approximations: Discrete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F8313-2188-1D66-9D68-06A71E18C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17" y="98421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Policies for choosing which product to promote: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Upper confidence bounding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Interval estimation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Thompson sampling</a:t>
            </a:r>
          </a:p>
          <a:p>
            <a:pPr lvl="2"/>
            <a:endParaRPr lang="en-US" sz="1600" dirty="0"/>
          </a:p>
          <a:p>
            <a:pPr lvl="2"/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1011660-DC4D-4AF8-9368-268837BE0C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2000" y="2100516"/>
          <a:ext cx="5178854" cy="9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82880" imgH="507960" progId="Equation.DSMT4">
                  <p:embed/>
                </p:oleObj>
              </mc:Choice>
              <mc:Fallback>
                <p:oleObj name="Equation" r:id="rId2" imgW="2882880" imgH="50796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1011660-DC4D-4AF8-9368-268837BE0C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2100516"/>
                        <a:ext cx="5178854" cy="91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6EC11FC6-DACF-535A-AF51-E5084C3EBDFD}"/>
              </a:ext>
            </a:extLst>
          </p:cNvPr>
          <p:cNvGrpSpPr/>
          <p:nvPr/>
        </p:nvGrpSpPr>
        <p:grpSpPr>
          <a:xfrm>
            <a:off x="3359946" y="3683000"/>
            <a:ext cx="6622254" cy="904269"/>
            <a:chOff x="2674938" y="5173837"/>
            <a:chExt cx="6622254" cy="904269"/>
          </a:xfrm>
        </p:grpSpPr>
        <p:graphicFrame>
          <p:nvGraphicFramePr>
            <p:cNvPr id="7" name="Object 9">
              <a:extLst>
                <a:ext uri="{FF2B5EF4-FFF2-40B4-BE49-F238E27FC236}">
                  <a16:creationId xmlns:a16="http://schemas.microsoft.com/office/drawing/2014/main" id="{ED68226A-DF2E-35E2-D87B-0526813C88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33217" y="5173837"/>
            <a:ext cx="3863975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336760" imgH="279360" progId="Equation.DSMT4">
                    <p:embed/>
                  </p:oleObj>
                </mc:Choice>
                <mc:Fallback>
                  <p:oleObj name="Equation" r:id="rId4" imgW="2336760" imgH="279360" progId="Equation.DSMT4">
                    <p:embed/>
                    <p:pic>
                      <p:nvPicPr>
                        <p:cNvPr id="7" name="Object 9">
                          <a:extLst>
                            <a:ext uri="{FF2B5EF4-FFF2-40B4-BE49-F238E27FC236}">
                              <a16:creationId xmlns:a16="http://schemas.microsoft.com/office/drawing/2014/main" id="{ED68226A-DF2E-35E2-D87B-0526813C88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3217" y="5173837"/>
                          <a:ext cx="3863975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05AC9C9F-654B-5619-ED0C-007F85B97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4938" y="5742641"/>
              <a:ext cx="2547937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073A6514-699D-FE46-B151-3D0F411ED8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1775" y="5234641"/>
              <a:ext cx="2073275" cy="504825"/>
              <a:chOff x="810" y="2354"/>
              <a:chExt cx="3268" cy="1116"/>
            </a:xfrm>
          </p:grpSpPr>
          <p:sp>
            <p:nvSpPr>
              <p:cNvPr id="15" name="Freeform 13">
                <a:extLst>
                  <a:ext uri="{FF2B5EF4-FFF2-40B4-BE49-F238E27FC236}">
                    <a16:creationId xmlns:a16="http://schemas.microsoft.com/office/drawing/2014/main" id="{D2E9082E-BE97-01F1-7752-79BF86DF8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2354"/>
                <a:ext cx="1641" cy="1115"/>
              </a:xfrm>
              <a:custGeom>
                <a:avLst/>
                <a:gdLst>
                  <a:gd name="T0" fmla="*/ 0 w 1641"/>
                  <a:gd name="T1" fmla="*/ 1115 h 1115"/>
                  <a:gd name="T2" fmla="*/ 352 w 1641"/>
                  <a:gd name="T3" fmla="*/ 1083 h 1115"/>
                  <a:gd name="T4" fmla="*/ 664 w 1641"/>
                  <a:gd name="T5" fmla="*/ 1003 h 1115"/>
                  <a:gd name="T6" fmla="*/ 944 w 1641"/>
                  <a:gd name="T7" fmla="*/ 779 h 1115"/>
                  <a:gd name="T8" fmla="*/ 1160 w 1641"/>
                  <a:gd name="T9" fmla="*/ 475 h 1115"/>
                  <a:gd name="T10" fmla="*/ 1296 w 1641"/>
                  <a:gd name="T11" fmla="*/ 243 h 1115"/>
                  <a:gd name="T12" fmla="*/ 1432 w 1641"/>
                  <a:gd name="T13" fmla="*/ 67 h 1115"/>
                  <a:gd name="T14" fmla="*/ 1569 w 1641"/>
                  <a:gd name="T15" fmla="*/ 10 h 1115"/>
                  <a:gd name="T16" fmla="*/ 1641 w 1641"/>
                  <a:gd name="T17" fmla="*/ 4 h 11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1"/>
                  <a:gd name="T28" fmla="*/ 0 h 1115"/>
                  <a:gd name="T29" fmla="*/ 1641 w 1641"/>
                  <a:gd name="T30" fmla="*/ 1115 h 11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1" h="1115">
                    <a:moveTo>
                      <a:pt x="0" y="1115"/>
                    </a:moveTo>
                    <a:cubicBezTo>
                      <a:pt x="120" y="1108"/>
                      <a:pt x="241" y="1102"/>
                      <a:pt x="352" y="1083"/>
                    </a:cubicBezTo>
                    <a:cubicBezTo>
                      <a:pt x="463" y="1064"/>
                      <a:pt x="565" y="1054"/>
                      <a:pt x="664" y="1003"/>
                    </a:cubicBezTo>
                    <a:cubicBezTo>
                      <a:pt x="763" y="952"/>
                      <a:pt x="861" y="867"/>
                      <a:pt x="944" y="779"/>
                    </a:cubicBezTo>
                    <a:cubicBezTo>
                      <a:pt x="1027" y="691"/>
                      <a:pt x="1101" y="564"/>
                      <a:pt x="1160" y="475"/>
                    </a:cubicBezTo>
                    <a:cubicBezTo>
                      <a:pt x="1219" y="386"/>
                      <a:pt x="1251" y="311"/>
                      <a:pt x="1296" y="243"/>
                    </a:cubicBezTo>
                    <a:cubicBezTo>
                      <a:pt x="1341" y="175"/>
                      <a:pt x="1387" y="106"/>
                      <a:pt x="1432" y="67"/>
                    </a:cubicBezTo>
                    <a:cubicBezTo>
                      <a:pt x="1477" y="28"/>
                      <a:pt x="1534" y="20"/>
                      <a:pt x="1569" y="10"/>
                    </a:cubicBezTo>
                    <a:cubicBezTo>
                      <a:pt x="1604" y="0"/>
                      <a:pt x="1626" y="5"/>
                      <a:pt x="1641" y="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14">
                <a:extLst>
                  <a:ext uri="{FF2B5EF4-FFF2-40B4-BE49-F238E27FC236}">
                    <a16:creationId xmlns:a16="http://schemas.microsoft.com/office/drawing/2014/main" id="{8268F677-D1C6-6A72-6602-6623A004594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437" y="2355"/>
                <a:ext cx="1641" cy="1115"/>
              </a:xfrm>
              <a:custGeom>
                <a:avLst/>
                <a:gdLst>
                  <a:gd name="T0" fmla="*/ 0 w 1641"/>
                  <a:gd name="T1" fmla="*/ 1115 h 1115"/>
                  <a:gd name="T2" fmla="*/ 352 w 1641"/>
                  <a:gd name="T3" fmla="*/ 1083 h 1115"/>
                  <a:gd name="T4" fmla="*/ 664 w 1641"/>
                  <a:gd name="T5" fmla="*/ 1003 h 1115"/>
                  <a:gd name="T6" fmla="*/ 944 w 1641"/>
                  <a:gd name="T7" fmla="*/ 779 h 1115"/>
                  <a:gd name="T8" fmla="*/ 1160 w 1641"/>
                  <a:gd name="T9" fmla="*/ 475 h 1115"/>
                  <a:gd name="T10" fmla="*/ 1296 w 1641"/>
                  <a:gd name="T11" fmla="*/ 243 h 1115"/>
                  <a:gd name="T12" fmla="*/ 1432 w 1641"/>
                  <a:gd name="T13" fmla="*/ 67 h 1115"/>
                  <a:gd name="T14" fmla="*/ 1569 w 1641"/>
                  <a:gd name="T15" fmla="*/ 10 h 1115"/>
                  <a:gd name="T16" fmla="*/ 1641 w 1641"/>
                  <a:gd name="T17" fmla="*/ 4 h 11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1"/>
                  <a:gd name="T28" fmla="*/ 0 h 1115"/>
                  <a:gd name="T29" fmla="*/ 1641 w 1641"/>
                  <a:gd name="T30" fmla="*/ 1115 h 11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1" h="1115">
                    <a:moveTo>
                      <a:pt x="0" y="1115"/>
                    </a:moveTo>
                    <a:cubicBezTo>
                      <a:pt x="120" y="1108"/>
                      <a:pt x="241" y="1102"/>
                      <a:pt x="352" y="1083"/>
                    </a:cubicBezTo>
                    <a:cubicBezTo>
                      <a:pt x="463" y="1064"/>
                      <a:pt x="565" y="1054"/>
                      <a:pt x="664" y="1003"/>
                    </a:cubicBezTo>
                    <a:cubicBezTo>
                      <a:pt x="763" y="952"/>
                      <a:pt x="861" y="867"/>
                      <a:pt x="944" y="779"/>
                    </a:cubicBezTo>
                    <a:cubicBezTo>
                      <a:pt x="1027" y="691"/>
                      <a:pt x="1101" y="564"/>
                      <a:pt x="1160" y="475"/>
                    </a:cubicBezTo>
                    <a:cubicBezTo>
                      <a:pt x="1219" y="386"/>
                      <a:pt x="1251" y="311"/>
                      <a:pt x="1296" y="243"/>
                    </a:cubicBezTo>
                    <a:cubicBezTo>
                      <a:pt x="1341" y="175"/>
                      <a:pt x="1387" y="106"/>
                      <a:pt x="1432" y="67"/>
                    </a:cubicBezTo>
                    <a:cubicBezTo>
                      <a:pt x="1477" y="28"/>
                      <a:pt x="1534" y="20"/>
                      <a:pt x="1569" y="10"/>
                    </a:cubicBezTo>
                    <a:cubicBezTo>
                      <a:pt x="1604" y="0"/>
                      <a:pt x="1626" y="5"/>
                      <a:pt x="1641" y="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10" name="Object 15">
              <a:extLst>
                <a:ext uri="{FF2B5EF4-FFF2-40B4-BE49-F238E27FC236}">
                  <a16:creationId xmlns:a16="http://schemas.microsoft.com/office/drawing/2014/main" id="{B283120B-76B9-232D-52B9-FFF2B63746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62423" y="5706631"/>
            <a:ext cx="330200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03040" imgH="228600" progId="Equation.DSMT4">
                    <p:embed/>
                  </p:oleObj>
                </mc:Choice>
                <mc:Fallback>
                  <p:oleObj name="Equation" r:id="rId6" imgW="203040" imgH="228600" progId="Equation.DSMT4">
                    <p:embed/>
                    <p:pic>
                      <p:nvPicPr>
                        <p:cNvPr id="10" name="Object 15">
                          <a:extLst>
                            <a:ext uri="{FF2B5EF4-FFF2-40B4-BE49-F238E27FC236}">
                              <a16:creationId xmlns:a16="http://schemas.microsoft.com/office/drawing/2014/main" id="{B283120B-76B9-232D-52B9-FFF2B63746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2423" y="5706631"/>
                          <a:ext cx="330200" cy="371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17">
              <a:extLst>
                <a:ext uri="{FF2B5EF4-FFF2-40B4-BE49-F238E27FC236}">
                  <a16:creationId xmlns:a16="http://schemas.microsoft.com/office/drawing/2014/main" id="{4E059847-030B-D898-ACFE-20A6E11BC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0475" y="5583891"/>
              <a:ext cx="685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8">
              <a:extLst>
                <a:ext uri="{FF2B5EF4-FFF2-40B4-BE49-F238E27FC236}">
                  <a16:creationId xmlns:a16="http://schemas.microsoft.com/office/drawing/2014/main" id="{F4662F72-285B-ADE6-93CA-9A64963AC7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0475" y="5183841"/>
              <a:ext cx="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3" name="Object 19">
              <a:extLst>
                <a:ext uri="{FF2B5EF4-FFF2-40B4-BE49-F238E27FC236}">
                  <a16:creationId xmlns:a16="http://schemas.microsoft.com/office/drawing/2014/main" id="{A38C2A77-8BD1-3B2F-98C4-1F2A141337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14775" y="5272741"/>
            <a:ext cx="428625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42751" imgH="241195" progId="Equation.DSMT4">
                    <p:embed/>
                  </p:oleObj>
                </mc:Choice>
                <mc:Fallback>
                  <p:oleObj name="Equation" r:id="rId8" imgW="342751" imgH="241195" progId="Equation.DSMT4">
                    <p:embed/>
                    <p:pic>
                      <p:nvPicPr>
                        <p:cNvPr id="13" name="Object 19">
                          <a:extLst>
                            <a:ext uri="{FF2B5EF4-FFF2-40B4-BE49-F238E27FC236}">
                              <a16:creationId xmlns:a16="http://schemas.microsoft.com/office/drawing/2014/main" id="{A38C2A77-8BD1-3B2F-98C4-1F2A141337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4775" y="5272741"/>
                          <a:ext cx="428625" cy="30162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lg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20">
              <a:extLst>
                <a:ext uri="{FF2B5EF4-FFF2-40B4-BE49-F238E27FC236}">
                  <a16:creationId xmlns:a16="http://schemas.microsoft.com/office/drawing/2014/main" id="{31A35F51-005A-922B-E591-927383C51A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338" y="5204479"/>
              <a:ext cx="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C9924A5-429D-C8E9-AFBB-D033B44E543A}"/>
              </a:ext>
            </a:extLst>
          </p:cNvPr>
          <p:cNvSpPr/>
          <p:nvPr/>
        </p:nvSpPr>
        <p:spPr>
          <a:xfrm>
            <a:off x="1226774" y="3044214"/>
            <a:ext cx="9280590" cy="165135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7A5FCB-82B0-D1C1-716F-4BFBC9152AD2}"/>
                  </a:ext>
                </a:extLst>
              </p:cNvPr>
              <p:cNvSpPr txBox="1"/>
              <p:nvPr/>
            </p:nvSpPr>
            <p:spPr>
              <a:xfrm>
                <a:off x="3046102" y="5486514"/>
                <a:ext cx="5391028" cy="4281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en-US" sz="20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000" i="0" dirty="0"/>
                  <a:t>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dirty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200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dirty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p>
                          <m:sSupPr>
                            <m:ctrlPr>
                              <a:rPr lang="en-US" sz="200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𝑇𝑆</m:t>
                            </m:r>
                          </m:sup>
                        </m:sSup>
                        <m:acc>
                          <m:accPr>
                            <m:chr m:val="̅"/>
                            <m:ctrlPr>
                              <a:rPr lang="en-US" sz="200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102" y="5486514"/>
                <a:ext cx="5391028" cy="428131"/>
              </a:xfrm>
              <a:prstGeom prst="rect">
                <a:avLst/>
              </a:prstGeom>
              <a:blipFill>
                <a:blip r:embed="rId11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1CA83782-B416-7911-3C47-74B6DDE4E329}"/>
              </a:ext>
            </a:extLst>
          </p:cNvPr>
          <p:cNvSpPr/>
          <p:nvPr/>
        </p:nvSpPr>
        <p:spPr>
          <a:xfrm>
            <a:off x="7694528" y="3700789"/>
            <a:ext cx="896222" cy="433218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E18CF74-94DC-A184-5686-183E283F04B3}"/>
              </a:ext>
            </a:extLst>
          </p:cNvPr>
          <p:cNvSpPr/>
          <p:nvPr/>
        </p:nvSpPr>
        <p:spPr>
          <a:xfrm>
            <a:off x="5263562" y="2337410"/>
            <a:ext cx="1029661" cy="433218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F78ABD3-EFEE-D42A-E679-E0BC062E4BB6}"/>
              </a:ext>
            </a:extLst>
          </p:cNvPr>
          <p:cNvSpPr/>
          <p:nvPr/>
        </p:nvSpPr>
        <p:spPr>
          <a:xfrm>
            <a:off x="3726755" y="5538371"/>
            <a:ext cx="1021977" cy="433218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E1A5FB-6506-660A-009E-66AADC6ED660}"/>
              </a:ext>
            </a:extLst>
          </p:cNvPr>
          <p:cNvSpPr/>
          <p:nvPr/>
        </p:nvSpPr>
        <p:spPr>
          <a:xfrm>
            <a:off x="6985810" y="2227347"/>
            <a:ext cx="536859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5D8E56-0640-A272-5C1D-69D6207A4B94}"/>
              </a:ext>
            </a:extLst>
          </p:cNvPr>
          <p:cNvSpPr/>
          <p:nvPr/>
        </p:nvSpPr>
        <p:spPr>
          <a:xfrm>
            <a:off x="9196251" y="3573571"/>
            <a:ext cx="348597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87A867B-7C94-624E-67EA-86D4BB251AE7}"/>
              </a:ext>
            </a:extLst>
          </p:cNvPr>
          <p:cNvSpPr/>
          <p:nvPr/>
        </p:nvSpPr>
        <p:spPr>
          <a:xfrm>
            <a:off x="7359280" y="5390725"/>
            <a:ext cx="382920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A4BD02B-42BC-DF13-DDB3-5CF43C0E602E}"/>
              </a:ext>
            </a:extLst>
          </p:cNvPr>
          <p:cNvSpPr/>
          <p:nvPr/>
        </p:nvSpPr>
        <p:spPr>
          <a:xfrm>
            <a:off x="6400799" y="2218383"/>
            <a:ext cx="376519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50D0BDB-DA98-B4CA-CAB9-AD519CB72903}"/>
              </a:ext>
            </a:extLst>
          </p:cNvPr>
          <p:cNvSpPr/>
          <p:nvPr/>
        </p:nvSpPr>
        <p:spPr>
          <a:xfrm>
            <a:off x="8703196" y="3579975"/>
            <a:ext cx="348596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75CE90A-C502-F60F-B9C1-0FE30CB70405}"/>
              </a:ext>
            </a:extLst>
          </p:cNvPr>
          <p:cNvSpPr/>
          <p:nvPr/>
        </p:nvSpPr>
        <p:spPr>
          <a:xfrm>
            <a:off x="6985810" y="5397129"/>
            <a:ext cx="302404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08F5AA2-C2D3-9B44-DD94-B10DA0DAD629}"/>
              </a:ext>
            </a:extLst>
          </p:cNvPr>
          <p:cNvSpPr/>
          <p:nvPr/>
        </p:nvSpPr>
        <p:spPr>
          <a:xfrm>
            <a:off x="7570275" y="2100516"/>
            <a:ext cx="866854" cy="943697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BD43CC-45DD-544C-6E03-3D9C87824924}"/>
              </a:ext>
            </a:extLst>
          </p:cNvPr>
          <p:cNvSpPr/>
          <p:nvPr/>
        </p:nvSpPr>
        <p:spPr>
          <a:xfrm>
            <a:off x="9579172" y="3587659"/>
            <a:ext cx="264076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EAEC0D2-7322-C124-7C20-AD314C34E7D0}"/>
              </a:ext>
            </a:extLst>
          </p:cNvPr>
          <p:cNvSpPr/>
          <p:nvPr/>
        </p:nvSpPr>
        <p:spPr>
          <a:xfrm>
            <a:off x="7742199" y="5404813"/>
            <a:ext cx="533505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8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C84A8-9AA9-108D-D2EA-A2DDB9526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098" name="Slide Number Placeholder 5">
            <a:extLst>
              <a:ext uri="{FF2B5EF4-FFF2-40B4-BE49-F238E27FC236}">
                <a16:creationId xmlns:a16="http://schemas.microsoft.com/office/drawing/2014/main" id="{5D9D2FC4-2BFD-B937-4CE5-DADB7B767974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553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7646BDFE-20C8-40E8-A939-72D38791AD93}" type="slidenum">
              <a:rPr lang="en-US">
                <a:latin typeface="Times New Roman" pitchFamily="18" charset="0"/>
              </a:rPr>
              <a:pPr algn="r" eaLnBrk="0" hangingPunct="0"/>
              <a:t>26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284099" name="Rectangle 2">
            <a:extLst>
              <a:ext uri="{FF2B5EF4-FFF2-40B4-BE49-F238E27FC236}">
                <a16:creationId xmlns:a16="http://schemas.microsoft.com/office/drawing/2014/main" id="{DDD58519-DEC0-04A5-C737-3418CE162C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300" dirty="0">
                <a:latin typeface="Oswald" panose="00000500000000000000" pitchFamily="2" charset="0"/>
              </a:rPr>
              <a:t>Cost function approximations: Discrete choices</a:t>
            </a:r>
          </a:p>
        </p:txBody>
      </p:sp>
      <p:sp>
        <p:nvSpPr>
          <p:cNvPr id="1284101" name="Line 4">
            <a:extLst>
              <a:ext uri="{FF2B5EF4-FFF2-40B4-BE49-F238E27FC236}">
                <a16:creationId xmlns:a16="http://schemas.microsoft.com/office/drawing/2014/main" id="{36F98482-87C2-F94B-2998-55717026AB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1350" y="4643220"/>
            <a:ext cx="620354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4102" name="Rectangle 5" descr="Dark upward diagonal">
            <a:extLst>
              <a:ext uri="{FF2B5EF4-FFF2-40B4-BE49-F238E27FC236}">
                <a16:creationId xmlns:a16="http://schemas.microsoft.com/office/drawing/2014/main" id="{0174B5CA-7403-9C94-6CD6-5387C3646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690721"/>
            <a:ext cx="227012" cy="9366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3" name="Rectangle 6" descr="Dark upward diagonal">
            <a:extLst>
              <a:ext uri="{FF2B5EF4-FFF2-40B4-BE49-F238E27FC236}">
                <a16:creationId xmlns:a16="http://schemas.microsoft.com/office/drawing/2014/main" id="{4D06B5DB-6AE7-8F89-4ACC-BBD335939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3428783"/>
            <a:ext cx="227012" cy="1198563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4" name="Rectangle 7" descr="Dark upward diagonal">
            <a:extLst>
              <a:ext uri="{FF2B5EF4-FFF2-40B4-BE49-F238E27FC236}">
                <a16:creationId xmlns:a16="http://schemas.microsoft.com/office/drawing/2014/main" id="{6E88AE46-F9AB-29FA-9774-BD0C5B519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3220821"/>
            <a:ext cx="227012" cy="14065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5" name="Rectangle 8" descr="Dark upward diagonal">
            <a:extLst>
              <a:ext uri="{FF2B5EF4-FFF2-40B4-BE49-F238E27FC236}">
                <a16:creationId xmlns:a16="http://schemas.microsoft.com/office/drawing/2014/main" id="{2BD9150F-C079-C5D8-C583-DE91619C9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3023970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7" name="Text Box 10">
            <a:extLst>
              <a:ext uri="{FF2B5EF4-FFF2-40B4-BE49-F238E27FC236}">
                <a16:creationId xmlns:a16="http://schemas.microsoft.com/office/drawing/2014/main" id="{2585C42E-61EF-D3FF-894E-7495E2EA9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1088" y="464639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1</a:t>
            </a:r>
          </a:p>
        </p:txBody>
      </p:sp>
      <p:sp>
        <p:nvSpPr>
          <p:cNvPr id="1284108" name="Text Box 11">
            <a:extLst>
              <a:ext uri="{FF2B5EF4-FFF2-40B4-BE49-F238E27FC236}">
                <a16:creationId xmlns:a16="http://schemas.microsoft.com/office/drawing/2014/main" id="{3BBAFDE9-283B-E620-E0BB-A2D52CB46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163" y="464639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2</a:t>
            </a:r>
          </a:p>
        </p:txBody>
      </p:sp>
      <p:sp>
        <p:nvSpPr>
          <p:cNvPr id="1284109" name="Text Box 12">
            <a:extLst>
              <a:ext uri="{FF2B5EF4-FFF2-40B4-BE49-F238E27FC236}">
                <a16:creationId xmlns:a16="http://schemas.microsoft.com/office/drawing/2014/main" id="{6DD1A258-B264-6849-991C-A6D576EC2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226" y="464639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3</a:t>
            </a:r>
          </a:p>
        </p:txBody>
      </p:sp>
      <p:sp>
        <p:nvSpPr>
          <p:cNvPr id="1284110" name="Text Box 13">
            <a:extLst>
              <a:ext uri="{FF2B5EF4-FFF2-40B4-BE49-F238E27FC236}">
                <a16:creationId xmlns:a16="http://schemas.microsoft.com/office/drawing/2014/main" id="{58DD781E-7709-E39A-8485-EEA3BC931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826" y="464639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grpSp>
        <p:nvGrpSpPr>
          <p:cNvPr id="1284119" name="Group 20">
            <a:extLst>
              <a:ext uri="{FF2B5EF4-FFF2-40B4-BE49-F238E27FC236}">
                <a16:creationId xmlns:a16="http://schemas.microsoft.com/office/drawing/2014/main" id="{A1DD2EB6-37F8-E3F6-9D88-5BB691CCF500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2484221"/>
            <a:ext cx="609600" cy="1068387"/>
            <a:chOff x="3511" y="2056"/>
            <a:chExt cx="342" cy="1051"/>
          </a:xfrm>
        </p:grpSpPr>
        <p:sp>
          <p:nvSpPr>
            <p:cNvPr id="1284120" name="Line 21">
              <a:extLst>
                <a:ext uri="{FF2B5EF4-FFF2-40B4-BE49-F238E27FC236}">
                  <a16:creationId xmlns:a16="http://schemas.microsoft.com/office/drawing/2014/main" id="{D446145B-BAD0-75BF-821A-3E86CA46CD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1" name="Group 22">
              <a:extLst>
                <a:ext uri="{FF2B5EF4-FFF2-40B4-BE49-F238E27FC236}">
                  <a16:creationId xmlns:a16="http://schemas.microsoft.com/office/drawing/2014/main" id="{6ACBC192-0066-3698-50D6-8A639B02721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2" name="Freeform 23">
                <a:extLst>
                  <a:ext uri="{FF2B5EF4-FFF2-40B4-BE49-F238E27FC236}">
                    <a16:creationId xmlns:a16="http://schemas.microsoft.com/office/drawing/2014/main" id="{45A1103C-5772-DF60-210C-1786691E8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3" name="Freeform 24">
                <a:extLst>
                  <a:ext uri="{FF2B5EF4-FFF2-40B4-BE49-F238E27FC236}">
                    <a16:creationId xmlns:a16="http://schemas.microsoft.com/office/drawing/2014/main" id="{2B4094F2-F643-38AC-D2B6-A900513B33D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4" name="Group 25">
            <a:extLst>
              <a:ext uri="{FF2B5EF4-FFF2-40B4-BE49-F238E27FC236}">
                <a16:creationId xmlns:a16="http://schemas.microsoft.com/office/drawing/2014/main" id="{3FBF9430-0FC5-ED13-86EB-11D55477AB78}"/>
              </a:ext>
            </a:extLst>
          </p:cNvPr>
          <p:cNvGrpSpPr>
            <a:grpSpLocks/>
          </p:cNvGrpSpPr>
          <p:nvPr/>
        </p:nvGrpSpPr>
        <p:grpSpPr bwMode="auto">
          <a:xfrm>
            <a:off x="5367339" y="2914433"/>
            <a:ext cx="714375" cy="630237"/>
            <a:chOff x="3511" y="2056"/>
            <a:chExt cx="342" cy="1051"/>
          </a:xfrm>
        </p:grpSpPr>
        <p:sp>
          <p:nvSpPr>
            <p:cNvPr id="1284125" name="Line 26">
              <a:extLst>
                <a:ext uri="{FF2B5EF4-FFF2-40B4-BE49-F238E27FC236}">
                  <a16:creationId xmlns:a16="http://schemas.microsoft.com/office/drawing/2014/main" id="{656B6B57-23B4-E1C9-F9F5-2F54B165AA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6" name="Group 27">
              <a:extLst>
                <a:ext uri="{FF2B5EF4-FFF2-40B4-BE49-F238E27FC236}">
                  <a16:creationId xmlns:a16="http://schemas.microsoft.com/office/drawing/2014/main" id="{C6B7BDC7-E4C5-D856-3571-31FC7CA0168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7" name="Freeform 28">
                <a:extLst>
                  <a:ext uri="{FF2B5EF4-FFF2-40B4-BE49-F238E27FC236}">
                    <a16:creationId xmlns:a16="http://schemas.microsoft.com/office/drawing/2014/main" id="{99DED6AD-AA99-6912-FB4C-275EA9934D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8" name="Freeform 29">
                <a:extLst>
                  <a:ext uri="{FF2B5EF4-FFF2-40B4-BE49-F238E27FC236}">
                    <a16:creationId xmlns:a16="http://schemas.microsoft.com/office/drawing/2014/main" id="{BC663DB0-E08B-7ED9-D613-974E362F1BA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9" name="Group 46">
            <a:extLst>
              <a:ext uri="{FF2B5EF4-FFF2-40B4-BE49-F238E27FC236}">
                <a16:creationId xmlns:a16="http://schemas.microsoft.com/office/drawing/2014/main" id="{62A0480A-C6FC-6D6E-A8B1-9AD0152AC25E}"/>
              </a:ext>
            </a:extLst>
          </p:cNvPr>
          <p:cNvGrpSpPr>
            <a:grpSpLocks/>
          </p:cNvGrpSpPr>
          <p:nvPr/>
        </p:nvGrpSpPr>
        <p:grpSpPr bwMode="auto">
          <a:xfrm>
            <a:off x="3635376" y="3233521"/>
            <a:ext cx="581025" cy="896937"/>
            <a:chOff x="3511" y="2056"/>
            <a:chExt cx="342" cy="1051"/>
          </a:xfrm>
        </p:grpSpPr>
        <p:sp>
          <p:nvSpPr>
            <p:cNvPr id="1284130" name="Line 47">
              <a:extLst>
                <a:ext uri="{FF2B5EF4-FFF2-40B4-BE49-F238E27FC236}">
                  <a16:creationId xmlns:a16="http://schemas.microsoft.com/office/drawing/2014/main" id="{A6FD1A0C-AB99-4E49-59B0-A4876FC15B2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1" name="Group 48">
              <a:extLst>
                <a:ext uri="{FF2B5EF4-FFF2-40B4-BE49-F238E27FC236}">
                  <a16:creationId xmlns:a16="http://schemas.microsoft.com/office/drawing/2014/main" id="{78149C94-FDF7-2F6F-A860-2C4DEB1FEA1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2" name="Freeform 49">
                <a:extLst>
                  <a:ext uri="{FF2B5EF4-FFF2-40B4-BE49-F238E27FC236}">
                    <a16:creationId xmlns:a16="http://schemas.microsoft.com/office/drawing/2014/main" id="{A9DA0D4A-3294-C5A3-1BB8-6CB599F84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3" name="Freeform 50">
                <a:extLst>
                  <a:ext uri="{FF2B5EF4-FFF2-40B4-BE49-F238E27FC236}">
                    <a16:creationId xmlns:a16="http://schemas.microsoft.com/office/drawing/2014/main" id="{157C3554-C9A6-4F79-C452-A2496031CF0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34" name="Group 51">
            <a:extLst>
              <a:ext uri="{FF2B5EF4-FFF2-40B4-BE49-F238E27FC236}">
                <a16:creationId xmlns:a16="http://schemas.microsoft.com/office/drawing/2014/main" id="{B1F2CE58-8CAD-63C2-2EC1-B4EA56FDB58F}"/>
              </a:ext>
            </a:extLst>
          </p:cNvPr>
          <p:cNvGrpSpPr>
            <a:grpSpLocks/>
          </p:cNvGrpSpPr>
          <p:nvPr/>
        </p:nvGrpSpPr>
        <p:grpSpPr bwMode="auto">
          <a:xfrm>
            <a:off x="4505326" y="2265145"/>
            <a:ext cx="276225" cy="2316162"/>
            <a:chOff x="3511" y="2056"/>
            <a:chExt cx="342" cy="1051"/>
          </a:xfrm>
        </p:grpSpPr>
        <p:sp>
          <p:nvSpPr>
            <p:cNvPr id="1284135" name="Line 52">
              <a:extLst>
                <a:ext uri="{FF2B5EF4-FFF2-40B4-BE49-F238E27FC236}">
                  <a16:creationId xmlns:a16="http://schemas.microsoft.com/office/drawing/2014/main" id="{28892565-1012-A924-73FD-BE5B8C6876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6" name="Group 53">
              <a:extLst>
                <a:ext uri="{FF2B5EF4-FFF2-40B4-BE49-F238E27FC236}">
                  <a16:creationId xmlns:a16="http://schemas.microsoft.com/office/drawing/2014/main" id="{71D22CB8-7CEC-DFE6-D691-E2513A80109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7" name="Freeform 54">
                <a:extLst>
                  <a:ext uri="{FF2B5EF4-FFF2-40B4-BE49-F238E27FC236}">
                    <a16:creationId xmlns:a16="http://schemas.microsoft.com/office/drawing/2014/main" id="{CE573F31-99F4-6AEB-2AD6-37AE5D1FBD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8" name="Freeform 55">
                <a:extLst>
                  <a:ext uri="{FF2B5EF4-FFF2-40B4-BE49-F238E27FC236}">
                    <a16:creationId xmlns:a16="http://schemas.microsoft.com/office/drawing/2014/main" id="{09DD2E67-1D81-92B0-DE56-7B221E9EAA1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86" name="Rectangle 8" descr="Dark upward diagonal">
            <a:extLst>
              <a:ext uri="{FF2B5EF4-FFF2-40B4-BE49-F238E27FC236}">
                <a16:creationId xmlns:a16="http://schemas.microsoft.com/office/drawing/2014/main" id="{2D400273-F21D-9EDA-EB06-74262754A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549" y="3028890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87" name="Text Box 13">
            <a:extLst>
              <a:ext uri="{FF2B5EF4-FFF2-40B4-BE49-F238E27FC236}">
                <a16:creationId xmlns:a16="http://schemas.microsoft.com/office/drawing/2014/main" id="{2A770E05-3821-2246-6DB0-79DBCF546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262" y="465131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sp>
        <p:nvSpPr>
          <p:cNvPr id="91" name="Rectangle 9" descr="Dark upward diagonal">
            <a:extLst>
              <a:ext uri="{FF2B5EF4-FFF2-40B4-BE49-F238E27FC236}">
                <a16:creationId xmlns:a16="http://schemas.microsoft.com/office/drawing/2014/main" id="{B3AED57A-AF33-8EF8-C21F-B7A240640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3229" y="3148923"/>
            <a:ext cx="227012" cy="146367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92" name="Text Box 14">
            <a:extLst>
              <a:ext uri="{FF2B5EF4-FFF2-40B4-BE49-F238E27FC236}">
                <a16:creationId xmlns:a16="http://schemas.microsoft.com/office/drawing/2014/main" id="{3548EBC8-EFC2-4FC8-94BD-C4FF7245A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6879" y="4623709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5</a:t>
            </a:r>
          </a:p>
        </p:txBody>
      </p:sp>
      <p:grpSp>
        <p:nvGrpSpPr>
          <p:cNvPr id="93" name="Group 15">
            <a:extLst>
              <a:ext uri="{FF2B5EF4-FFF2-40B4-BE49-F238E27FC236}">
                <a16:creationId xmlns:a16="http://schemas.microsoft.com/office/drawing/2014/main" id="{3990EE33-FC6B-249B-46D1-A18E36ED2AFB}"/>
              </a:ext>
            </a:extLst>
          </p:cNvPr>
          <p:cNvGrpSpPr>
            <a:grpSpLocks/>
          </p:cNvGrpSpPr>
          <p:nvPr/>
        </p:nvGrpSpPr>
        <p:grpSpPr bwMode="auto">
          <a:xfrm>
            <a:off x="8823229" y="2081486"/>
            <a:ext cx="400050" cy="2092856"/>
            <a:chOff x="3511" y="2056"/>
            <a:chExt cx="342" cy="1051"/>
          </a:xfrm>
        </p:grpSpPr>
        <p:sp>
          <p:nvSpPr>
            <p:cNvPr id="94" name="Line 16">
              <a:extLst>
                <a:ext uri="{FF2B5EF4-FFF2-40B4-BE49-F238E27FC236}">
                  <a16:creationId xmlns:a16="http://schemas.microsoft.com/office/drawing/2014/main" id="{944FD22D-D168-DBAE-6DFB-AFAF892EAE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" name="Group 17">
              <a:extLst>
                <a:ext uri="{FF2B5EF4-FFF2-40B4-BE49-F238E27FC236}">
                  <a16:creationId xmlns:a16="http://schemas.microsoft.com/office/drawing/2014/main" id="{513147B3-1974-530C-4D23-3B7C0A89BE8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96" name="Freeform 18">
                <a:extLst>
                  <a:ext uri="{FF2B5EF4-FFF2-40B4-BE49-F238E27FC236}">
                    <a16:creationId xmlns:a16="http://schemas.microsoft.com/office/drawing/2014/main" id="{A0F82F66-D603-016E-FD6F-87FC4431F5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7" name="Freeform 19">
                <a:extLst>
                  <a:ext uri="{FF2B5EF4-FFF2-40B4-BE49-F238E27FC236}">
                    <a16:creationId xmlns:a16="http://schemas.microsoft.com/office/drawing/2014/main" id="{4FF678F0-91BD-F02D-2C31-8D4B3DD4A0D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615DD7A-B50A-1CA5-D99C-5AE1D2FE4C7B}"/>
              </a:ext>
            </a:extLst>
          </p:cNvPr>
          <p:cNvSpPr/>
          <p:nvPr/>
        </p:nvSpPr>
        <p:spPr bwMode="auto">
          <a:xfrm>
            <a:off x="3028335" y="4675891"/>
            <a:ext cx="6459794" cy="44865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0D834-BBCC-0958-C947-4F4A724C8FA8}"/>
              </a:ext>
            </a:extLst>
          </p:cNvPr>
          <p:cNvSpPr txBox="1"/>
          <p:nvPr/>
        </p:nvSpPr>
        <p:spPr>
          <a:xfrm rot="19002662">
            <a:off x="2929670" y="4992098"/>
            <a:ext cx="989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1.4 nm Fe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AA3D40F-419F-0D2F-E4CF-D3CAECE06F1C}"/>
              </a:ext>
            </a:extLst>
          </p:cNvPr>
          <p:cNvSpPr txBox="1"/>
          <p:nvPr/>
        </p:nvSpPr>
        <p:spPr>
          <a:xfrm rot="19002662">
            <a:off x="3879261" y="4967522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nm Fe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5C626E1-7639-13F9-65A0-ABBA92E9C4E8}"/>
              </a:ext>
            </a:extLst>
          </p:cNvPr>
          <p:cNvSpPr txBox="1"/>
          <p:nvPr/>
        </p:nvSpPr>
        <p:spPr>
          <a:xfrm rot="19002662">
            <a:off x="4110976" y="5577920"/>
            <a:ext cx="2499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AI+1.2 nm 1BSFe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6430BC7-9B1D-4380-07F5-CA40BF5EC731}"/>
              </a:ext>
            </a:extLst>
          </p:cNvPr>
          <p:cNvSpPr txBox="1"/>
          <p:nvPr/>
        </p:nvSpPr>
        <p:spPr>
          <a:xfrm rot="19002662">
            <a:off x="4813579" y="4933118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Fe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C23D97-0F30-F81C-97C7-C6826AC4626E}"/>
              </a:ext>
            </a:extLst>
          </p:cNvPr>
          <p:cNvSpPr txBox="1"/>
          <p:nvPr/>
        </p:nvSpPr>
        <p:spPr>
          <a:xfrm rot="19002662">
            <a:off x="7378241" y="4938038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 0.6 nm</a:t>
            </a:r>
          </a:p>
        </p:txBody>
      </p:sp>
      <p:sp>
        <p:nvSpPr>
          <p:cNvPr id="106" name="Rectangle 8" descr="Dark upward diagonal">
            <a:extLst>
              <a:ext uri="{FF2B5EF4-FFF2-40B4-BE49-F238E27FC236}">
                <a16:creationId xmlns:a16="http://schemas.microsoft.com/office/drawing/2014/main" id="{447369F0-2B90-B73C-C7F3-9F8A98EA2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9165" y="2813538"/>
            <a:ext cx="257322" cy="1828252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260ABF1-727A-B1BC-5103-FD909F73B239}"/>
              </a:ext>
            </a:extLst>
          </p:cNvPr>
          <p:cNvSpPr txBox="1"/>
          <p:nvPr/>
        </p:nvSpPr>
        <p:spPr>
          <a:xfrm rot="19002662">
            <a:off x="6880835" y="5586950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AI203+1 nm Ni</a:t>
            </a:r>
          </a:p>
        </p:txBody>
      </p:sp>
      <p:grpSp>
        <p:nvGrpSpPr>
          <p:cNvPr id="110" name="Group 20">
            <a:extLst>
              <a:ext uri="{FF2B5EF4-FFF2-40B4-BE49-F238E27FC236}">
                <a16:creationId xmlns:a16="http://schemas.microsoft.com/office/drawing/2014/main" id="{51CDBF85-1C13-53C4-5BEC-ADE64B5D45EE}"/>
              </a:ext>
            </a:extLst>
          </p:cNvPr>
          <p:cNvGrpSpPr>
            <a:grpSpLocks/>
          </p:cNvGrpSpPr>
          <p:nvPr/>
        </p:nvGrpSpPr>
        <p:grpSpPr bwMode="auto">
          <a:xfrm>
            <a:off x="7962961" y="2474393"/>
            <a:ext cx="609600" cy="1068387"/>
            <a:chOff x="3511" y="2056"/>
            <a:chExt cx="342" cy="1051"/>
          </a:xfrm>
        </p:grpSpPr>
        <p:sp>
          <p:nvSpPr>
            <p:cNvPr id="111" name="Line 21">
              <a:extLst>
                <a:ext uri="{FF2B5EF4-FFF2-40B4-BE49-F238E27FC236}">
                  <a16:creationId xmlns:a16="http://schemas.microsoft.com/office/drawing/2014/main" id="{257AE8CF-4604-51C3-4DB6-48BC753F28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2" name="Group 22">
              <a:extLst>
                <a:ext uri="{FF2B5EF4-FFF2-40B4-BE49-F238E27FC236}">
                  <a16:creationId xmlns:a16="http://schemas.microsoft.com/office/drawing/2014/main" id="{5028E3CD-D1D6-CF4F-C579-7DD816B2F87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13" name="Freeform 23">
                <a:extLst>
                  <a:ext uri="{FF2B5EF4-FFF2-40B4-BE49-F238E27FC236}">
                    <a16:creationId xmlns:a16="http://schemas.microsoft.com/office/drawing/2014/main" id="{20C11265-3FB3-B4AB-FD0E-B0582CB4D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4" name="Freeform 24">
                <a:extLst>
                  <a:ext uri="{FF2B5EF4-FFF2-40B4-BE49-F238E27FC236}">
                    <a16:creationId xmlns:a16="http://schemas.microsoft.com/office/drawing/2014/main" id="{E4DB7276-6997-15CB-77CF-BA5DF0CBF37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447BBF10-2A9E-21E4-9BDC-14E8995175F4}"/>
              </a:ext>
            </a:extLst>
          </p:cNvPr>
          <p:cNvSpPr txBox="1"/>
          <p:nvPr/>
        </p:nvSpPr>
        <p:spPr>
          <a:xfrm rot="19002662">
            <a:off x="6577999" y="4923290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Ni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BDACDA1-3DA9-0220-0BBA-9F5641ACD8A3}"/>
              </a:ext>
            </a:extLst>
          </p:cNvPr>
          <p:cNvGrpSpPr/>
          <p:nvPr/>
        </p:nvGrpSpPr>
        <p:grpSpPr>
          <a:xfrm>
            <a:off x="3463334" y="2812493"/>
            <a:ext cx="5998846" cy="877547"/>
            <a:chOff x="1939334" y="2541189"/>
            <a:chExt cx="5998846" cy="87754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282652C-2269-1286-41B8-DC627CD89CFD}"/>
                </a:ext>
              </a:extLst>
            </p:cNvPr>
            <p:cNvCxnSpPr/>
            <p:nvPr/>
          </p:nvCxnSpPr>
          <p:spPr bwMode="auto">
            <a:xfrm>
              <a:off x="1939334" y="3418736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44747D4D-8281-90E6-D950-A53C4F947BDC}"/>
                </a:ext>
              </a:extLst>
            </p:cNvPr>
            <p:cNvCxnSpPr/>
            <p:nvPr/>
          </p:nvCxnSpPr>
          <p:spPr bwMode="auto">
            <a:xfrm>
              <a:off x="2815210" y="3159153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9CF3429B-0653-7A29-D469-127A178CBE3F}"/>
                </a:ext>
              </a:extLst>
            </p:cNvPr>
            <p:cNvCxnSpPr/>
            <p:nvPr/>
          </p:nvCxnSpPr>
          <p:spPr bwMode="auto">
            <a:xfrm>
              <a:off x="3731283" y="2949809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3E5AE7D-AAEF-7138-E12B-59C0E7BB518D}"/>
                </a:ext>
              </a:extLst>
            </p:cNvPr>
            <p:cNvCxnSpPr/>
            <p:nvPr/>
          </p:nvCxnSpPr>
          <p:spPr bwMode="auto">
            <a:xfrm>
              <a:off x="4617207" y="2750524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253C325E-D524-264D-1200-2D895FA8A07C}"/>
                </a:ext>
              </a:extLst>
            </p:cNvPr>
            <p:cNvCxnSpPr/>
            <p:nvPr/>
          </p:nvCxnSpPr>
          <p:spPr bwMode="auto">
            <a:xfrm>
              <a:off x="5462941" y="2541189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44456697-EF76-A008-53E3-C3EDC006BE91}"/>
                </a:ext>
              </a:extLst>
            </p:cNvPr>
            <p:cNvCxnSpPr/>
            <p:nvPr/>
          </p:nvCxnSpPr>
          <p:spPr bwMode="auto">
            <a:xfrm>
              <a:off x="6328772" y="2763928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DE15222A-8FB6-FEB5-7BFB-0885C75DF054}"/>
                </a:ext>
              </a:extLst>
            </p:cNvPr>
            <p:cNvCxnSpPr/>
            <p:nvPr/>
          </p:nvCxnSpPr>
          <p:spPr bwMode="auto">
            <a:xfrm>
              <a:off x="7154408" y="2876140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1" name="Group 20">
            <a:extLst>
              <a:ext uri="{FF2B5EF4-FFF2-40B4-BE49-F238E27FC236}">
                <a16:creationId xmlns:a16="http://schemas.microsoft.com/office/drawing/2014/main" id="{B8110DBA-BC34-ADF2-8D49-91AE4D36521D}"/>
              </a:ext>
            </a:extLst>
          </p:cNvPr>
          <p:cNvGrpSpPr>
            <a:grpSpLocks/>
          </p:cNvGrpSpPr>
          <p:nvPr/>
        </p:nvGrpSpPr>
        <p:grpSpPr bwMode="auto">
          <a:xfrm>
            <a:off x="7112497" y="2293351"/>
            <a:ext cx="609600" cy="1064080"/>
            <a:chOff x="3511" y="2056"/>
            <a:chExt cx="342" cy="1051"/>
          </a:xfrm>
        </p:grpSpPr>
        <p:sp>
          <p:nvSpPr>
            <p:cNvPr id="72" name="Line 21">
              <a:extLst>
                <a:ext uri="{FF2B5EF4-FFF2-40B4-BE49-F238E27FC236}">
                  <a16:creationId xmlns:a16="http://schemas.microsoft.com/office/drawing/2014/main" id="{196B2D1A-CB6F-8534-C99F-4B3FEC98F4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3" name="Group 22">
              <a:extLst>
                <a:ext uri="{FF2B5EF4-FFF2-40B4-BE49-F238E27FC236}">
                  <a16:creationId xmlns:a16="http://schemas.microsoft.com/office/drawing/2014/main" id="{4EE63D3F-1E8E-6BE5-0C88-363A71B1D17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74" name="Freeform 23">
                <a:extLst>
                  <a:ext uri="{FF2B5EF4-FFF2-40B4-BE49-F238E27FC236}">
                    <a16:creationId xmlns:a16="http://schemas.microsoft.com/office/drawing/2014/main" id="{A9BBB613-9734-D280-8C13-DD010D51E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76" name="Freeform 24">
                <a:extLst>
                  <a:ext uri="{FF2B5EF4-FFF2-40B4-BE49-F238E27FC236}">
                    <a16:creationId xmlns:a16="http://schemas.microsoft.com/office/drawing/2014/main" id="{25F2B784-F2F7-937B-8200-525EDEB2A5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F0F8B270-86ED-8702-9685-3F464E82F6A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33539" y="1199733"/>
                <a:ext cx="9868993" cy="389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Times New Roman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r>
                  <a:rPr lang="en-US" dirty="0">
                    <a:latin typeface="Raleway" pitchFamily="2" charset="0"/>
                  </a:rPr>
                  <a:t>Picking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  <m:r>
                      <a:rPr lang="en-US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Raleway" pitchFamily="2" charset="0"/>
                  </a:rPr>
                  <a:t> means we are evaluating each choice at the mean.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69A35B85-1B72-C447-8D19-4029A1AB7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39" y="1199733"/>
                <a:ext cx="9868993" cy="389036"/>
              </a:xfrm>
              <a:prstGeom prst="rect">
                <a:avLst/>
              </a:prstGeom>
              <a:blipFill>
                <a:blip r:embed="rId3"/>
                <a:stretch>
                  <a:fillRect r="-1297" b="-20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C99D49AE-89C8-1E68-2B48-D28B3EB4599C}"/>
              </a:ext>
            </a:extLst>
          </p:cNvPr>
          <p:cNvSpPr/>
          <p:nvPr/>
        </p:nvSpPr>
        <p:spPr>
          <a:xfrm>
            <a:off x="2789304" y="4762895"/>
            <a:ext cx="6954051" cy="1789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9B36723-4769-DAB8-6E0C-A7C56D171DAB}"/>
              </a:ext>
            </a:extLst>
          </p:cNvPr>
          <p:cNvSpPr txBox="1"/>
          <p:nvPr/>
        </p:nvSpPr>
        <p:spPr>
          <a:xfrm rot="18791278">
            <a:off x="2940263" y="490906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0B35E9C-FD84-0F33-61EC-146D1E75842F}"/>
              </a:ext>
            </a:extLst>
          </p:cNvPr>
          <p:cNvSpPr txBox="1"/>
          <p:nvPr/>
        </p:nvSpPr>
        <p:spPr>
          <a:xfrm rot="18791278">
            <a:off x="3784223" y="4915465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82AFC9-C713-EB08-01F0-5A81458BF609}"/>
              </a:ext>
            </a:extLst>
          </p:cNvPr>
          <p:cNvSpPr txBox="1"/>
          <p:nvPr/>
        </p:nvSpPr>
        <p:spPr>
          <a:xfrm rot="18791278">
            <a:off x="4638419" y="492314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C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6D5C04-07A4-DD96-1946-D050206CD824}"/>
              </a:ext>
            </a:extLst>
          </p:cNvPr>
          <p:cNvSpPr txBox="1"/>
          <p:nvPr/>
        </p:nvSpPr>
        <p:spPr>
          <a:xfrm rot="18791278">
            <a:off x="5514395" y="4915465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85628A-B79B-FE24-EB5D-357412C35ABA}"/>
              </a:ext>
            </a:extLst>
          </p:cNvPr>
          <p:cNvSpPr txBox="1"/>
          <p:nvPr/>
        </p:nvSpPr>
        <p:spPr>
          <a:xfrm rot="18791278">
            <a:off x="6365629" y="492078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A98CB2-E63B-254D-C6F5-C37C8581469E}"/>
              </a:ext>
            </a:extLst>
          </p:cNvPr>
          <p:cNvSpPr txBox="1"/>
          <p:nvPr/>
        </p:nvSpPr>
        <p:spPr>
          <a:xfrm rot="18791278">
            <a:off x="7231787" y="49295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C540A7-044F-40BB-AD2F-93BFE43630D9}"/>
              </a:ext>
            </a:extLst>
          </p:cNvPr>
          <p:cNvSpPr txBox="1"/>
          <p:nvPr/>
        </p:nvSpPr>
        <p:spPr>
          <a:xfrm rot="18791278">
            <a:off x="8102615" y="492058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C4C39C-677C-6400-78CE-E8278897C633}"/>
              </a:ext>
            </a:extLst>
          </p:cNvPr>
          <p:cNvSpPr/>
          <p:nvPr/>
        </p:nvSpPr>
        <p:spPr>
          <a:xfrm>
            <a:off x="6842126" y="2082482"/>
            <a:ext cx="928583" cy="255664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5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5152E-FF35-8316-A08F-A6C054E5F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098" name="Slide Number Placeholder 5">
            <a:extLst>
              <a:ext uri="{FF2B5EF4-FFF2-40B4-BE49-F238E27FC236}">
                <a16:creationId xmlns:a16="http://schemas.microsoft.com/office/drawing/2014/main" id="{C86372BA-81A1-F1B0-142F-528D7B388C23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553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7646BDFE-20C8-40E8-A939-72D38791AD93}" type="slidenum">
              <a:rPr lang="en-US">
                <a:latin typeface="Times New Roman" pitchFamily="18" charset="0"/>
              </a:rPr>
              <a:pPr algn="r" eaLnBrk="0" hangingPunct="0"/>
              <a:t>27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284099" name="Rectangle 2">
            <a:extLst>
              <a:ext uri="{FF2B5EF4-FFF2-40B4-BE49-F238E27FC236}">
                <a16:creationId xmlns:a16="http://schemas.microsoft.com/office/drawing/2014/main" id="{984D6943-B283-E584-40DD-C7A5D863B11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300" dirty="0">
                <a:latin typeface="Oswald" panose="00000500000000000000" pitchFamily="2" charset="0"/>
              </a:rPr>
              <a:t>Cost function approximations: Discrete choices</a:t>
            </a:r>
          </a:p>
        </p:txBody>
      </p:sp>
      <p:sp>
        <p:nvSpPr>
          <p:cNvPr id="1284101" name="Line 4">
            <a:extLst>
              <a:ext uri="{FF2B5EF4-FFF2-40B4-BE49-F238E27FC236}">
                <a16:creationId xmlns:a16="http://schemas.microsoft.com/office/drawing/2014/main" id="{3E8C4A45-AE94-384F-FC54-09DCD0B35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1350" y="4643220"/>
            <a:ext cx="620354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4102" name="Rectangle 5" descr="Dark upward diagonal">
            <a:extLst>
              <a:ext uri="{FF2B5EF4-FFF2-40B4-BE49-F238E27FC236}">
                <a16:creationId xmlns:a16="http://schemas.microsoft.com/office/drawing/2014/main" id="{2D4A2401-B080-E88D-7780-A50DBB32B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690721"/>
            <a:ext cx="227012" cy="9366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3" name="Rectangle 6" descr="Dark upward diagonal">
            <a:extLst>
              <a:ext uri="{FF2B5EF4-FFF2-40B4-BE49-F238E27FC236}">
                <a16:creationId xmlns:a16="http://schemas.microsoft.com/office/drawing/2014/main" id="{FCC471DA-7B0B-0685-9296-C4478F273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3428783"/>
            <a:ext cx="227012" cy="1198563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4" name="Rectangle 7" descr="Dark upward diagonal">
            <a:extLst>
              <a:ext uri="{FF2B5EF4-FFF2-40B4-BE49-F238E27FC236}">
                <a16:creationId xmlns:a16="http://schemas.microsoft.com/office/drawing/2014/main" id="{BD017E70-01B9-3599-7247-DDAC8EAD1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3220821"/>
            <a:ext cx="227012" cy="14065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5" name="Rectangle 8" descr="Dark upward diagonal">
            <a:extLst>
              <a:ext uri="{FF2B5EF4-FFF2-40B4-BE49-F238E27FC236}">
                <a16:creationId xmlns:a16="http://schemas.microsoft.com/office/drawing/2014/main" id="{39498358-7B9E-D675-299A-B3AD93F34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3023970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7" name="Text Box 10">
            <a:extLst>
              <a:ext uri="{FF2B5EF4-FFF2-40B4-BE49-F238E27FC236}">
                <a16:creationId xmlns:a16="http://schemas.microsoft.com/office/drawing/2014/main" id="{2AC354B1-4623-B169-90C2-5610F502F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1088" y="464639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1</a:t>
            </a:r>
          </a:p>
        </p:txBody>
      </p:sp>
      <p:sp>
        <p:nvSpPr>
          <p:cNvPr id="1284108" name="Text Box 11">
            <a:extLst>
              <a:ext uri="{FF2B5EF4-FFF2-40B4-BE49-F238E27FC236}">
                <a16:creationId xmlns:a16="http://schemas.microsoft.com/office/drawing/2014/main" id="{C56F4AC6-49D3-20FA-132A-7AC8A6BA8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163" y="464639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2</a:t>
            </a:r>
          </a:p>
        </p:txBody>
      </p:sp>
      <p:sp>
        <p:nvSpPr>
          <p:cNvPr id="1284109" name="Text Box 12">
            <a:extLst>
              <a:ext uri="{FF2B5EF4-FFF2-40B4-BE49-F238E27FC236}">
                <a16:creationId xmlns:a16="http://schemas.microsoft.com/office/drawing/2014/main" id="{A07C5A47-2D76-20D9-F77E-E0E16271D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226" y="464639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3</a:t>
            </a:r>
          </a:p>
        </p:txBody>
      </p:sp>
      <p:sp>
        <p:nvSpPr>
          <p:cNvPr id="1284110" name="Text Box 13">
            <a:extLst>
              <a:ext uri="{FF2B5EF4-FFF2-40B4-BE49-F238E27FC236}">
                <a16:creationId xmlns:a16="http://schemas.microsoft.com/office/drawing/2014/main" id="{D5B31238-7AD2-9A33-15C6-D907EFAE8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826" y="464639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grpSp>
        <p:nvGrpSpPr>
          <p:cNvPr id="1284119" name="Group 20">
            <a:extLst>
              <a:ext uri="{FF2B5EF4-FFF2-40B4-BE49-F238E27FC236}">
                <a16:creationId xmlns:a16="http://schemas.microsoft.com/office/drawing/2014/main" id="{493CBF1F-D673-4B11-E1D5-B574EDAB9501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2484221"/>
            <a:ext cx="609600" cy="1068387"/>
            <a:chOff x="3511" y="2056"/>
            <a:chExt cx="342" cy="1051"/>
          </a:xfrm>
        </p:grpSpPr>
        <p:sp>
          <p:nvSpPr>
            <p:cNvPr id="1284120" name="Line 21">
              <a:extLst>
                <a:ext uri="{FF2B5EF4-FFF2-40B4-BE49-F238E27FC236}">
                  <a16:creationId xmlns:a16="http://schemas.microsoft.com/office/drawing/2014/main" id="{4A2EA263-F472-ACBE-0117-0AA274FB4D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1" name="Group 22">
              <a:extLst>
                <a:ext uri="{FF2B5EF4-FFF2-40B4-BE49-F238E27FC236}">
                  <a16:creationId xmlns:a16="http://schemas.microsoft.com/office/drawing/2014/main" id="{B076BD7E-C1F8-D8D1-4C49-F67386BF8AD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2" name="Freeform 23">
                <a:extLst>
                  <a:ext uri="{FF2B5EF4-FFF2-40B4-BE49-F238E27FC236}">
                    <a16:creationId xmlns:a16="http://schemas.microsoft.com/office/drawing/2014/main" id="{D8D4489C-8D01-4EDF-BB00-9F96B515C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3" name="Freeform 24">
                <a:extLst>
                  <a:ext uri="{FF2B5EF4-FFF2-40B4-BE49-F238E27FC236}">
                    <a16:creationId xmlns:a16="http://schemas.microsoft.com/office/drawing/2014/main" id="{CED77FFE-4A6B-D10B-A6CE-1A4F0FF48F8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4" name="Group 25">
            <a:extLst>
              <a:ext uri="{FF2B5EF4-FFF2-40B4-BE49-F238E27FC236}">
                <a16:creationId xmlns:a16="http://schemas.microsoft.com/office/drawing/2014/main" id="{9E6B344B-9107-D56A-F323-13510C439F17}"/>
              </a:ext>
            </a:extLst>
          </p:cNvPr>
          <p:cNvGrpSpPr>
            <a:grpSpLocks/>
          </p:cNvGrpSpPr>
          <p:nvPr/>
        </p:nvGrpSpPr>
        <p:grpSpPr bwMode="auto">
          <a:xfrm>
            <a:off x="5367339" y="2914433"/>
            <a:ext cx="714375" cy="630237"/>
            <a:chOff x="3511" y="2056"/>
            <a:chExt cx="342" cy="1051"/>
          </a:xfrm>
        </p:grpSpPr>
        <p:sp>
          <p:nvSpPr>
            <p:cNvPr id="1284125" name="Line 26">
              <a:extLst>
                <a:ext uri="{FF2B5EF4-FFF2-40B4-BE49-F238E27FC236}">
                  <a16:creationId xmlns:a16="http://schemas.microsoft.com/office/drawing/2014/main" id="{234945DF-4BC2-B75A-C21A-C81256ED1B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6" name="Group 27">
              <a:extLst>
                <a:ext uri="{FF2B5EF4-FFF2-40B4-BE49-F238E27FC236}">
                  <a16:creationId xmlns:a16="http://schemas.microsoft.com/office/drawing/2014/main" id="{9107233D-B94C-3EC0-CBAA-E8A9CAD62D91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7" name="Freeform 28">
                <a:extLst>
                  <a:ext uri="{FF2B5EF4-FFF2-40B4-BE49-F238E27FC236}">
                    <a16:creationId xmlns:a16="http://schemas.microsoft.com/office/drawing/2014/main" id="{7B6F8710-49ED-355F-418C-DB0176786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8" name="Freeform 29">
                <a:extLst>
                  <a:ext uri="{FF2B5EF4-FFF2-40B4-BE49-F238E27FC236}">
                    <a16:creationId xmlns:a16="http://schemas.microsoft.com/office/drawing/2014/main" id="{2627FF25-0FDF-53B0-BAEA-ABA2A5D1237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9" name="Group 46">
            <a:extLst>
              <a:ext uri="{FF2B5EF4-FFF2-40B4-BE49-F238E27FC236}">
                <a16:creationId xmlns:a16="http://schemas.microsoft.com/office/drawing/2014/main" id="{FC68E626-3781-5DA4-3D3D-952297602B3A}"/>
              </a:ext>
            </a:extLst>
          </p:cNvPr>
          <p:cNvGrpSpPr>
            <a:grpSpLocks/>
          </p:cNvGrpSpPr>
          <p:nvPr/>
        </p:nvGrpSpPr>
        <p:grpSpPr bwMode="auto">
          <a:xfrm>
            <a:off x="3635376" y="3233521"/>
            <a:ext cx="581025" cy="896937"/>
            <a:chOff x="3511" y="2056"/>
            <a:chExt cx="342" cy="1051"/>
          </a:xfrm>
        </p:grpSpPr>
        <p:sp>
          <p:nvSpPr>
            <p:cNvPr id="1284130" name="Line 47">
              <a:extLst>
                <a:ext uri="{FF2B5EF4-FFF2-40B4-BE49-F238E27FC236}">
                  <a16:creationId xmlns:a16="http://schemas.microsoft.com/office/drawing/2014/main" id="{D16CC12F-A1BA-F544-8E2A-29316B3E8F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1" name="Group 48">
              <a:extLst>
                <a:ext uri="{FF2B5EF4-FFF2-40B4-BE49-F238E27FC236}">
                  <a16:creationId xmlns:a16="http://schemas.microsoft.com/office/drawing/2014/main" id="{0B1DBCA0-38D0-3FCC-62CD-7871D07F684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2" name="Freeform 49">
                <a:extLst>
                  <a:ext uri="{FF2B5EF4-FFF2-40B4-BE49-F238E27FC236}">
                    <a16:creationId xmlns:a16="http://schemas.microsoft.com/office/drawing/2014/main" id="{74F35DD0-A975-BAF6-6349-7346AEC95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3" name="Freeform 50">
                <a:extLst>
                  <a:ext uri="{FF2B5EF4-FFF2-40B4-BE49-F238E27FC236}">
                    <a16:creationId xmlns:a16="http://schemas.microsoft.com/office/drawing/2014/main" id="{7ECCF887-0F8B-36B0-F3C1-2A0CF7393B3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34" name="Group 51">
            <a:extLst>
              <a:ext uri="{FF2B5EF4-FFF2-40B4-BE49-F238E27FC236}">
                <a16:creationId xmlns:a16="http://schemas.microsoft.com/office/drawing/2014/main" id="{7986C516-9FD6-BAB3-1367-2A635C9E69C7}"/>
              </a:ext>
            </a:extLst>
          </p:cNvPr>
          <p:cNvGrpSpPr>
            <a:grpSpLocks/>
          </p:cNvGrpSpPr>
          <p:nvPr/>
        </p:nvGrpSpPr>
        <p:grpSpPr bwMode="auto">
          <a:xfrm>
            <a:off x="4505326" y="2265145"/>
            <a:ext cx="276225" cy="2316162"/>
            <a:chOff x="3511" y="2056"/>
            <a:chExt cx="342" cy="1051"/>
          </a:xfrm>
        </p:grpSpPr>
        <p:sp>
          <p:nvSpPr>
            <p:cNvPr id="1284135" name="Line 52">
              <a:extLst>
                <a:ext uri="{FF2B5EF4-FFF2-40B4-BE49-F238E27FC236}">
                  <a16:creationId xmlns:a16="http://schemas.microsoft.com/office/drawing/2014/main" id="{E77BB3D3-ED7C-D4F5-A87A-D4243732248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6" name="Group 53">
              <a:extLst>
                <a:ext uri="{FF2B5EF4-FFF2-40B4-BE49-F238E27FC236}">
                  <a16:creationId xmlns:a16="http://schemas.microsoft.com/office/drawing/2014/main" id="{D06A647C-D353-8A37-ECDB-B095D699063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7" name="Freeform 54">
                <a:extLst>
                  <a:ext uri="{FF2B5EF4-FFF2-40B4-BE49-F238E27FC236}">
                    <a16:creationId xmlns:a16="http://schemas.microsoft.com/office/drawing/2014/main" id="{C807F79D-3BD7-C996-F045-BC495C8BA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8" name="Freeform 55">
                <a:extLst>
                  <a:ext uri="{FF2B5EF4-FFF2-40B4-BE49-F238E27FC236}">
                    <a16:creationId xmlns:a16="http://schemas.microsoft.com/office/drawing/2014/main" id="{40FF2681-4EEF-6489-C545-ACD18EB8DD8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86" name="Rectangle 8" descr="Dark upward diagonal">
            <a:extLst>
              <a:ext uri="{FF2B5EF4-FFF2-40B4-BE49-F238E27FC236}">
                <a16:creationId xmlns:a16="http://schemas.microsoft.com/office/drawing/2014/main" id="{5D43B61B-BEF7-2ED0-6159-268D4276F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549" y="3028890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87" name="Text Box 13">
            <a:extLst>
              <a:ext uri="{FF2B5EF4-FFF2-40B4-BE49-F238E27FC236}">
                <a16:creationId xmlns:a16="http://schemas.microsoft.com/office/drawing/2014/main" id="{9AE12AD0-520E-CBD7-0F2C-10C2C7EE3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262" y="465131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sp>
        <p:nvSpPr>
          <p:cNvPr id="91" name="Rectangle 9" descr="Dark upward diagonal">
            <a:extLst>
              <a:ext uri="{FF2B5EF4-FFF2-40B4-BE49-F238E27FC236}">
                <a16:creationId xmlns:a16="http://schemas.microsoft.com/office/drawing/2014/main" id="{8871EFD4-E3BE-C340-D81A-A0F218439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3229" y="3164163"/>
            <a:ext cx="227012" cy="146367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92" name="Text Box 14">
            <a:extLst>
              <a:ext uri="{FF2B5EF4-FFF2-40B4-BE49-F238E27FC236}">
                <a16:creationId xmlns:a16="http://schemas.microsoft.com/office/drawing/2014/main" id="{8AE6FBDE-7927-CF24-7D02-A9D46D53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6879" y="4623709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5</a:t>
            </a:r>
          </a:p>
        </p:txBody>
      </p:sp>
      <p:grpSp>
        <p:nvGrpSpPr>
          <p:cNvPr id="93" name="Group 15">
            <a:extLst>
              <a:ext uri="{FF2B5EF4-FFF2-40B4-BE49-F238E27FC236}">
                <a16:creationId xmlns:a16="http://schemas.microsoft.com/office/drawing/2014/main" id="{98D68BC2-783B-3AF3-B9F1-905DC5E1698E}"/>
              </a:ext>
            </a:extLst>
          </p:cNvPr>
          <p:cNvGrpSpPr>
            <a:grpSpLocks/>
          </p:cNvGrpSpPr>
          <p:nvPr/>
        </p:nvGrpSpPr>
        <p:grpSpPr bwMode="auto">
          <a:xfrm>
            <a:off x="8823229" y="2081486"/>
            <a:ext cx="400050" cy="2092856"/>
            <a:chOff x="3511" y="2056"/>
            <a:chExt cx="342" cy="1051"/>
          </a:xfrm>
        </p:grpSpPr>
        <p:sp>
          <p:nvSpPr>
            <p:cNvPr id="94" name="Line 16">
              <a:extLst>
                <a:ext uri="{FF2B5EF4-FFF2-40B4-BE49-F238E27FC236}">
                  <a16:creationId xmlns:a16="http://schemas.microsoft.com/office/drawing/2014/main" id="{99F0CF18-7485-D66E-7019-E70663195C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" name="Group 17">
              <a:extLst>
                <a:ext uri="{FF2B5EF4-FFF2-40B4-BE49-F238E27FC236}">
                  <a16:creationId xmlns:a16="http://schemas.microsoft.com/office/drawing/2014/main" id="{094C7D64-C6A0-04EA-76D3-E58688F9F2C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96" name="Freeform 18">
                <a:extLst>
                  <a:ext uri="{FF2B5EF4-FFF2-40B4-BE49-F238E27FC236}">
                    <a16:creationId xmlns:a16="http://schemas.microsoft.com/office/drawing/2014/main" id="{0A5CD9A8-4E6E-21FB-EE8D-6EC673957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7" name="Freeform 19">
                <a:extLst>
                  <a:ext uri="{FF2B5EF4-FFF2-40B4-BE49-F238E27FC236}">
                    <a16:creationId xmlns:a16="http://schemas.microsoft.com/office/drawing/2014/main" id="{866737BC-4C79-5691-9D9D-23ED96A9968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79BAA96-0E43-0ED1-E329-0CA76B4C3235}"/>
              </a:ext>
            </a:extLst>
          </p:cNvPr>
          <p:cNvSpPr/>
          <p:nvPr/>
        </p:nvSpPr>
        <p:spPr bwMode="auto">
          <a:xfrm>
            <a:off x="3028335" y="4675891"/>
            <a:ext cx="6459794" cy="44865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ED8BE-446D-B0E6-B199-C911DCE9DFF7}"/>
              </a:ext>
            </a:extLst>
          </p:cNvPr>
          <p:cNvSpPr txBox="1"/>
          <p:nvPr/>
        </p:nvSpPr>
        <p:spPr>
          <a:xfrm rot="19002662">
            <a:off x="2929670" y="4992098"/>
            <a:ext cx="989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1.4 nm Fe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DFFA5D-ABA4-8AC2-E46F-810CDE51BD87}"/>
              </a:ext>
            </a:extLst>
          </p:cNvPr>
          <p:cNvSpPr txBox="1"/>
          <p:nvPr/>
        </p:nvSpPr>
        <p:spPr>
          <a:xfrm rot="19002662">
            <a:off x="3879261" y="4967522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nm Fe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8E0810-E1B6-C005-4A2E-D3A5934D9E49}"/>
              </a:ext>
            </a:extLst>
          </p:cNvPr>
          <p:cNvSpPr txBox="1"/>
          <p:nvPr/>
        </p:nvSpPr>
        <p:spPr>
          <a:xfrm rot="19002662">
            <a:off x="4110976" y="5577920"/>
            <a:ext cx="2499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AI+1.2 nm 1BSFe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CCD3AD-8E0D-2C99-1ECD-C7032F81D4E2}"/>
              </a:ext>
            </a:extLst>
          </p:cNvPr>
          <p:cNvSpPr txBox="1"/>
          <p:nvPr/>
        </p:nvSpPr>
        <p:spPr>
          <a:xfrm rot="19002662">
            <a:off x="4813579" y="4933118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Fe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14C5E4B-F7AE-0500-D384-C448F9417D35}"/>
              </a:ext>
            </a:extLst>
          </p:cNvPr>
          <p:cNvSpPr txBox="1"/>
          <p:nvPr/>
        </p:nvSpPr>
        <p:spPr>
          <a:xfrm rot="19002662">
            <a:off x="7378241" y="4938038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 0.6 nm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6ECA9BA-C719-8934-912A-7A58B2C0A5DC}"/>
              </a:ext>
            </a:extLst>
          </p:cNvPr>
          <p:cNvSpPr txBox="1"/>
          <p:nvPr/>
        </p:nvSpPr>
        <p:spPr>
          <a:xfrm rot="19002662">
            <a:off x="6880835" y="5586950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AI203+1 nm Ni</a:t>
            </a:r>
          </a:p>
        </p:txBody>
      </p:sp>
      <p:grpSp>
        <p:nvGrpSpPr>
          <p:cNvPr id="110" name="Group 20">
            <a:extLst>
              <a:ext uri="{FF2B5EF4-FFF2-40B4-BE49-F238E27FC236}">
                <a16:creationId xmlns:a16="http://schemas.microsoft.com/office/drawing/2014/main" id="{A8481480-A869-1FB0-FB57-9E776ACDB46C}"/>
              </a:ext>
            </a:extLst>
          </p:cNvPr>
          <p:cNvGrpSpPr>
            <a:grpSpLocks/>
          </p:cNvGrpSpPr>
          <p:nvPr/>
        </p:nvGrpSpPr>
        <p:grpSpPr bwMode="auto">
          <a:xfrm>
            <a:off x="7962961" y="2474393"/>
            <a:ext cx="609600" cy="1068387"/>
            <a:chOff x="3511" y="2056"/>
            <a:chExt cx="342" cy="1051"/>
          </a:xfrm>
        </p:grpSpPr>
        <p:sp>
          <p:nvSpPr>
            <p:cNvPr id="111" name="Line 21">
              <a:extLst>
                <a:ext uri="{FF2B5EF4-FFF2-40B4-BE49-F238E27FC236}">
                  <a16:creationId xmlns:a16="http://schemas.microsoft.com/office/drawing/2014/main" id="{319FEDE7-B7DA-03D6-1FC1-6FBB68CFBC8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2" name="Group 22">
              <a:extLst>
                <a:ext uri="{FF2B5EF4-FFF2-40B4-BE49-F238E27FC236}">
                  <a16:creationId xmlns:a16="http://schemas.microsoft.com/office/drawing/2014/main" id="{43C4BB2B-9F6D-25F5-53D1-CF392D35E59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13" name="Freeform 23">
                <a:extLst>
                  <a:ext uri="{FF2B5EF4-FFF2-40B4-BE49-F238E27FC236}">
                    <a16:creationId xmlns:a16="http://schemas.microsoft.com/office/drawing/2014/main" id="{EABC041A-550A-E247-1FB9-35CFFBC0D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4" name="Freeform 24">
                <a:extLst>
                  <a:ext uri="{FF2B5EF4-FFF2-40B4-BE49-F238E27FC236}">
                    <a16:creationId xmlns:a16="http://schemas.microsoft.com/office/drawing/2014/main" id="{83161EAA-5E01-C3B9-2DFB-1DAFCC6AB7E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6D2C1292-F60D-C93B-676E-DB06BC32FBCD}"/>
              </a:ext>
            </a:extLst>
          </p:cNvPr>
          <p:cNvSpPr txBox="1"/>
          <p:nvPr/>
        </p:nvSpPr>
        <p:spPr>
          <a:xfrm rot="19002662">
            <a:off x="6577999" y="4923290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Ni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969AE0B-CEAE-0361-38E0-2FACA68B6025}"/>
              </a:ext>
            </a:extLst>
          </p:cNvPr>
          <p:cNvGrpSpPr/>
          <p:nvPr/>
        </p:nvGrpSpPr>
        <p:grpSpPr>
          <a:xfrm>
            <a:off x="3463334" y="2363672"/>
            <a:ext cx="5998846" cy="1065110"/>
            <a:chOff x="1939334" y="2092369"/>
            <a:chExt cx="5998846" cy="106511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E83859E-DA9C-CA4D-2D5A-64B304D6D2A4}"/>
                </a:ext>
              </a:extLst>
            </p:cNvPr>
            <p:cNvCxnSpPr/>
            <p:nvPr/>
          </p:nvCxnSpPr>
          <p:spPr bwMode="auto">
            <a:xfrm>
              <a:off x="1939334" y="3157479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A200E9E-B42E-9F7D-E1F1-94D7812831BA}"/>
                </a:ext>
              </a:extLst>
            </p:cNvPr>
            <p:cNvCxnSpPr/>
            <p:nvPr/>
          </p:nvCxnSpPr>
          <p:spPr bwMode="auto">
            <a:xfrm>
              <a:off x="2815210" y="2506014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23F4E053-BEF7-F61E-6BBE-2497B38D059D}"/>
                </a:ext>
              </a:extLst>
            </p:cNvPr>
            <p:cNvCxnSpPr/>
            <p:nvPr/>
          </p:nvCxnSpPr>
          <p:spPr bwMode="auto">
            <a:xfrm>
              <a:off x="3731283" y="2768942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803FC36-ABCE-4280-CD9B-CACF80A5A916}"/>
                </a:ext>
              </a:extLst>
            </p:cNvPr>
            <p:cNvCxnSpPr/>
            <p:nvPr/>
          </p:nvCxnSpPr>
          <p:spPr bwMode="auto">
            <a:xfrm>
              <a:off x="4617207" y="2408884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A045B06-E172-2BD8-F4C7-88BC4C5A4A21}"/>
                </a:ext>
              </a:extLst>
            </p:cNvPr>
            <p:cNvCxnSpPr/>
            <p:nvPr/>
          </p:nvCxnSpPr>
          <p:spPr bwMode="auto">
            <a:xfrm>
              <a:off x="5462941" y="2259837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48C1EA7C-C8A6-D7A4-F9BE-80C86985C9AD}"/>
                </a:ext>
              </a:extLst>
            </p:cNvPr>
            <p:cNvCxnSpPr/>
            <p:nvPr/>
          </p:nvCxnSpPr>
          <p:spPr bwMode="auto">
            <a:xfrm>
              <a:off x="6328772" y="2412237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7CA8034D-FD02-DD71-6C9A-048133086024}"/>
                </a:ext>
              </a:extLst>
            </p:cNvPr>
            <p:cNvCxnSpPr/>
            <p:nvPr/>
          </p:nvCxnSpPr>
          <p:spPr bwMode="auto">
            <a:xfrm>
              <a:off x="7154408" y="2092369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1" name="Rectangle 8" descr="Dark upward diagonal">
            <a:extLst>
              <a:ext uri="{FF2B5EF4-FFF2-40B4-BE49-F238E27FC236}">
                <a16:creationId xmlns:a16="http://schemas.microsoft.com/office/drawing/2014/main" id="{830F33A5-D45E-B164-B79F-16BD2891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9165" y="2813538"/>
            <a:ext cx="257322" cy="1828252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grpSp>
        <p:nvGrpSpPr>
          <p:cNvPr id="72" name="Group 20">
            <a:extLst>
              <a:ext uri="{FF2B5EF4-FFF2-40B4-BE49-F238E27FC236}">
                <a16:creationId xmlns:a16="http://schemas.microsoft.com/office/drawing/2014/main" id="{3BBCE7D2-50CD-2726-3A87-152133ED0A7A}"/>
              </a:ext>
            </a:extLst>
          </p:cNvPr>
          <p:cNvGrpSpPr>
            <a:grpSpLocks/>
          </p:cNvGrpSpPr>
          <p:nvPr/>
        </p:nvGrpSpPr>
        <p:grpSpPr bwMode="auto">
          <a:xfrm>
            <a:off x="7112497" y="2293351"/>
            <a:ext cx="609600" cy="1064080"/>
            <a:chOff x="3511" y="2056"/>
            <a:chExt cx="342" cy="1051"/>
          </a:xfrm>
        </p:grpSpPr>
        <p:sp>
          <p:nvSpPr>
            <p:cNvPr id="73" name="Line 21">
              <a:extLst>
                <a:ext uri="{FF2B5EF4-FFF2-40B4-BE49-F238E27FC236}">
                  <a16:creationId xmlns:a16="http://schemas.microsoft.com/office/drawing/2014/main" id="{6F5F9F6C-6306-1AF8-8BE0-FADDF9CE8D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" name="Group 22">
              <a:extLst>
                <a:ext uri="{FF2B5EF4-FFF2-40B4-BE49-F238E27FC236}">
                  <a16:creationId xmlns:a16="http://schemas.microsoft.com/office/drawing/2014/main" id="{DF302A7A-1FE3-0B78-E656-73378EAB733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76" name="Freeform 23">
                <a:extLst>
                  <a:ext uri="{FF2B5EF4-FFF2-40B4-BE49-F238E27FC236}">
                    <a16:creationId xmlns:a16="http://schemas.microsoft.com/office/drawing/2014/main" id="{328252BE-BCA3-DA4E-398F-B718B96F5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77" name="Freeform 24">
                <a:extLst>
                  <a:ext uri="{FF2B5EF4-FFF2-40B4-BE49-F238E27FC236}">
                    <a16:creationId xmlns:a16="http://schemas.microsoft.com/office/drawing/2014/main" id="{100D8469-BA37-62E7-8A07-79673FBFD8E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E8C2C17-36CC-86C9-DAE7-2E230DFF6675}"/>
              </a:ext>
            </a:extLst>
          </p:cNvPr>
          <p:cNvSpPr/>
          <p:nvPr/>
        </p:nvSpPr>
        <p:spPr>
          <a:xfrm>
            <a:off x="2789304" y="4762895"/>
            <a:ext cx="6954051" cy="1789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027B4A-86FF-6901-6921-0D35CA9B9224}"/>
              </a:ext>
            </a:extLst>
          </p:cNvPr>
          <p:cNvSpPr txBox="1"/>
          <p:nvPr/>
        </p:nvSpPr>
        <p:spPr>
          <a:xfrm rot="18791278">
            <a:off x="2940263" y="490906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B6E8DD-C33D-7BCD-40CC-137D6B5940EF}"/>
              </a:ext>
            </a:extLst>
          </p:cNvPr>
          <p:cNvSpPr txBox="1"/>
          <p:nvPr/>
        </p:nvSpPr>
        <p:spPr>
          <a:xfrm rot="18791278">
            <a:off x="3784223" y="4915465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39FD27-299A-0A72-958E-46FA1C3E5E08}"/>
              </a:ext>
            </a:extLst>
          </p:cNvPr>
          <p:cNvSpPr txBox="1"/>
          <p:nvPr/>
        </p:nvSpPr>
        <p:spPr>
          <a:xfrm rot="18791278">
            <a:off x="4638419" y="492314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913F54-DA62-1ABE-0A4B-9B2DC09EAEC4}"/>
              </a:ext>
            </a:extLst>
          </p:cNvPr>
          <p:cNvSpPr txBox="1"/>
          <p:nvPr/>
        </p:nvSpPr>
        <p:spPr>
          <a:xfrm rot="18791278">
            <a:off x="5514395" y="4915465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2E134A-8A71-C907-7770-19A1D5F0408E}"/>
              </a:ext>
            </a:extLst>
          </p:cNvPr>
          <p:cNvSpPr txBox="1"/>
          <p:nvPr/>
        </p:nvSpPr>
        <p:spPr>
          <a:xfrm rot="18791278">
            <a:off x="6365629" y="492078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D091AC-CE3B-F6F6-026A-D40984F46059}"/>
              </a:ext>
            </a:extLst>
          </p:cNvPr>
          <p:cNvSpPr txBox="1"/>
          <p:nvPr/>
        </p:nvSpPr>
        <p:spPr>
          <a:xfrm rot="18791278">
            <a:off x="7231787" y="49295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633DBC-98E9-481B-53EE-750821F44911}"/>
              </a:ext>
            </a:extLst>
          </p:cNvPr>
          <p:cNvSpPr txBox="1"/>
          <p:nvPr/>
        </p:nvSpPr>
        <p:spPr>
          <a:xfrm rot="18791278">
            <a:off x="8102615" y="492058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Choice 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2B4399-101D-C040-510F-0B8704E960FA}"/>
              </a:ext>
            </a:extLst>
          </p:cNvPr>
          <p:cNvSpPr/>
          <p:nvPr/>
        </p:nvSpPr>
        <p:spPr>
          <a:xfrm>
            <a:off x="8632498" y="2013219"/>
            <a:ext cx="928583" cy="262590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D7BCCD08-DCCD-FF78-5244-50807A38F3D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33543" y="1194055"/>
                <a:ext cx="9929951" cy="389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Times New Roman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r>
                  <a:rPr lang="en-US" dirty="0">
                    <a:latin typeface="Raleway" pitchFamily="2" charset="0"/>
                  </a:rPr>
                  <a:t>Picking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  <m:r>
                      <a:rPr lang="en-US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latin typeface="Raleway" pitchFamily="2" charset="0"/>
                  </a:rPr>
                  <a:t> means we are evaluating each choice at the 95</a:t>
                </a:r>
                <a:r>
                  <a:rPr lang="en-US" baseline="30000" dirty="0">
                    <a:latin typeface="Raleway" pitchFamily="2" charset="0"/>
                  </a:rPr>
                  <a:t>th</a:t>
                </a:r>
                <a:r>
                  <a:rPr lang="en-US" dirty="0">
                    <a:latin typeface="Raleway" pitchFamily="2" charset="0"/>
                  </a:rPr>
                  <a:t> percentile.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D7BCCD08-DCCD-FF78-5244-50807A38F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43" y="1194055"/>
                <a:ext cx="9929951" cy="389036"/>
              </a:xfrm>
              <a:prstGeom prst="rect">
                <a:avLst/>
              </a:prstGeom>
              <a:blipFill>
                <a:blip r:embed="rId3"/>
                <a:stretch>
                  <a:fillRect r="-675" b="-20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72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84A0C-4299-01E9-85DB-89801AE8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19" name="Rectangle 15">
            <a:extLst>
              <a:ext uri="{FF2B5EF4-FFF2-40B4-BE49-F238E27FC236}">
                <a16:creationId xmlns:a16="http://schemas.microsoft.com/office/drawing/2014/main" id="{F740A79E-D936-090C-577C-1D75E2411D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Cost function approximations: Discrete choices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3507" name="Rectangle 3">
                <a:extLst>
                  <a:ext uri="{FF2B5EF4-FFF2-40B4-BE49-F238E27FC236}">
                    <a16:creationId xmlns:a16="http://schemas.microsoft.com/office/drawing/2014/main" id="{8E9997C0-7ACF-E470-8FA6-23F4B5FFCAC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3679" y="1143000"/>
                <a:ext cx="5725725" cy="4953000"/>
              </a:xfrm>
            </p:spPr>
            <p:txBody>
              <a:bodyPr/>
              <a:lstStyle/>
              <a:p>
                <a:r>
                  <a:rPr lang="en-US" sz="2400" dirty="0"/>
                  <a:t>Optimizing the policy</a:t>
                </a:r>
              </a:p>
              <a:p>
                <a:pPr lvl="1"/>
                <a:r>
                  <a:rPr lang="en-US" sz="2000" dirty="0"/>
                  <a:t>We optimize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</m:oMath>
                </a14:m>
                <a:r>
                  <a:rPr lang="en-US" sz="2000" dirty="0"/>
                  <a:t> to maximize: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pPr marL="457200" lvl="1" indent="0">
                  <a:buNone/>
                </a:pPr>
                <a:r>
                  <a:rPr lang="en-US" sz="2000" dirty="0"/>
                  <a:t>    where</a:t>
                </a:r>
              </a:p>
              <a:p>
                <a:pPr lvl="1"/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sz="2400" dirty="0"/>
                  <a:t>Notes:</a:t>
                </a:r>
              </a:p>
              <a:p>
                <a:pPr lvl="1"/>
                <a:r>
                  <a:rPr lang="en-US" sz="2000" dirty="0"/>
                  <a:t>This can handle any belief model, including correlated beliefs, nonlinear belief models.</a:t>
                </a:r>
              </a:p>
              <a:p>
                <a:pPr lvl="1"/>
                <a:r>
                  <a:rPr lang="en-US" sz="2000" dirty="0"/>
                  <a:t>Tuning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</m:oMath>
                </a14:m>
                <a:r>
                  <a:rPr lang="en-US" sz="2000" dirty="0"/>
                  <a:t> is hard because the simulations are very noisy.</a:t>
                </a:r>
              </a:p>
            </p:txBody>
          </p:sp>
        </mc:Choice>
        <mc:Fallback xmlns="">
          <p:sp>
            <p:nvSpPr>
              <p:cNvPr id="533507" name="Rectangle 3">
                <a:extLst>
                  <a:ext uri="{FF2B5EF4-FFF2-40B4-BE49-F238E27FC236}">
                    <a16:creationId xmlns:a16="http://schemas.microsoft.com/office/drawing/2014/main" id="{8E9997C0-7ACF-E470-8FA6-23F4B5FFC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3679" y="1143000"/>
                <a:ext cx="5725725" cy="49530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6">
                <a:extLst>
                  <a:ext uri="{FF2B5EF4-FFF2-40B4-BE49-F238E27FC236}">
                    <a16:creationId xmlns:a16="http://schemas.microsoft.com/office/drawing/2014/main" id="{DC35EC6F-E0DC-756C-15FB-44676B2CD6B0}"/>
                  </a:ext>
                </a:extLst>
              </p:cNvPr>
              <p:cNvSpPr txBox="1"/>
              <p:nvPr/>
            </p:nvSpPr>
            <p:spPr>
              <a:xfrm>
                <a:off x="1677496" y="3179762"/>
                <a:ext cx="4923801" cy="43973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/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𝐼𝐸</m:t>
                          </m:r>
                        </m:sup>
                      </m:sSub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𝐼𝐸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̄"/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𝐼𝐸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̄"/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496" y="3179762"/>
                <a:ext cx="4923801" cy="439738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BA5DB5A0-87FB-58CC-9DDF-75F2271246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0638" y="2070894"/>
          <a:ext cx="3833812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62040" imgH="241200" progId="Equation.DSMT4">
                  <p:embed/>
                </p:oleObj>
              </mc:Choice>
              <mc:Fallback>
                <p:oleObj name="Equation" r:id="rId5" imgW="1562040" imgH="2412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BA5DB5A0-87FB-58CC-9DDF-75F2271246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638" y="2070894"/>
                        <a:ext cx="3833812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3C194A1-CB63-B3A9-AEFE-99F311496FA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0065"/>
          <a:stretch/>
        </p:blipFill>
        <p:spPr>
          <a:xfrm>
            <a:off x="6759345" y="1528477"/>
            <a:ext cx="5400254" cy="38941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D660C7-4200-287B-6E0D-07CFE3467331}"/>
              </a:ext>
            </a:extLst>
          </p:cNvPr>
          <p:cNvSpPr txBox="1"/>
          <p:nvPr/>
        </p:nvSpPr>
        <p:spPr>
          <a:xfrm>
            <a:off x="10573199" y="4410772"/>
            <a:ext cx="112082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Knowledge </a:t>
            </a:r>
          </a:p>
          <a:p>
            <a:r>
              <a:rPr lang="en-US" dirty="0"/>
              <a:t>gradient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742F45-C364-DC19-F3E3-8F6B78C87A91}"/>
              </a:ext>
            </a:extLst>
          </p:cNvPr>
          <p:cNvSpPr txBox="1"/>
          <p:nvPr/>
        </p:nvSpPr>
        <p:spPr>
          <a:xfrm>
            <a:off x="10173869" y="2454357"/>
            <a:ext cx="100059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Interval 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5116C9-4485-7EA0-2582-2F2B0EA30042}"/>
                  </a:ext>
                </a:extLst>
              </p:cNvPr>
              <p:cNvSpPr txBox="1"/>
              <p:nvPr/>
            </p:nvSpPr>
            <p:spPr>
              <a:xfrm>
                <a:off x="8410091" y="5477047"/>
                <a:ext cx="21034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IE parameter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35024F-A7D7-90DD-A005-7FAEEBBF5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091" y="5477047"/>
                <a:ext cx="2103461" cy="400110"/>
              </a:xfrm>
              <a:prstGeom prst="rect">
                <a:avLst/>
              </a:prstGeom>
              <a:blipFill>
                <a:blip r:embed="rId8"/>
                <a:stretch>
                  <a:fillRect l="-3188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1FEC602-3193-2BA7-7ED6-29814475BEE5}"/>
              </a:ext>
            </a:extLst>
          </p:cNvPr>
          <p:cNvSpPr txBox="1"/>
          <p:nvPr/>
        </p:nvSpPr>
        <p:spPr>
          <a:xfrm rot="16200000">
            <a:off x="5651725" y="3272890"/>
            <a:ext cx="268374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    Opportunity cost    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6B06DEE-4616-852D-CDAB-C317A149EFF2}"/>
              </a:ext>
            </a:extLst>
          </p:cNvPr>
          <p:cNvGrpSpPr/>
          <p:nvPr/>
        </p:nvGrpSpPr>
        <p:grpSpPr>
          <a:xfrm>
            <a:off x="7402769" y="4410772"/>
            <a:ext cx="4447814" cy="551572"/>
            <a:chOff x="7113321" y="4200264"/>
            <a:chExt cx="4447814" cy="551572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1B9A334-D5AA-6147-ACE9-B1BF8846579E}"/>
                </a:ext>
              </a:extLst>
            </p:cNvPr>
            <p:cNvCxnSpPr/>
            <p:nvPr/>
          </p:nvCxnSpPr>
          <p:spPr>
            <a:xfrm>
              <a:off x="7113321" y="4751836"/>
              <a:ext cx="4447814" cy="0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1A8999A-F438-A831-BCB7-C8A319D58411}"/>
                </a:ext>
              </a:extLst>
            </p:cNvPr>
            <p:cNvSpPr/>
            <p:nvPr/>
          </p:nvSpPr>
          <p:spPr>
            <a:xfrm>
              <a:off x="10224104" y="4200264"/>
              <a:ext cx="1180467" cy="4971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7F65A2F-9764-80E1-8563-7054B872A153}"/>
              </a:ext>
            </a:extLst>
          </p:cNvPr>
          <p:cNvSpPr/>
          <p:nvPr/>
        </p:nvSpPr>
        <p:spPr>
          <a:xfrm>
            <a:off x="9021466" y="4943282"/>
            <a:ext cx="184219" cy="45719"/>
          </a:xfrm>
          <a:custGeom>
            <a:avLst/>
            <a:gdLst>
              <a:gd name="connsiteX0" fmla="*/ 0 w 184219"/>
              <a:gd name="connsiteY0" fmla="*/ 0 h 30145"/>
              <a:gd name="connsiteX1" fmla="*/ 184219 w 184219"/>
              <a:gd name="connsiteY1" fmla="*/ 30145 h 30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4219" h="30145">
                <a:moveTo>
                  <a:pt x="0" y="0"/>
                </a:moveTo>
                <a:lnTo>
                  <a:pt x="184219" y="30145"/>
                </a:lnTo>
              </a:path>
            </a:pathLst>
          </a:custGeom>
          <a:noFill/>
          <a:ln w="12700">
            <a:solidFill>
              <a:srgbClr val="76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5EBB420-CB53-51AA-A56A-F6DB95DE1FD9}"/>
              </a:ext>
            </a:extLst>
          </p:cNvPr>
          <p:cNvSpPr/>
          <p:nvPr/>
        </p:nvSpPr>
        <p:spPr>
          <a:xfrm flipV="1">
            <a:off x="9460662" y="4933993"/>
            <a:ext cx="101600" cy="45719"/>
          </a:xfrm>
          <a:custGeom>
            <a:avLst/>
            <a:gdLst>
              <a:gd name="connsiteX0" fmla="*/ 0 w 184219"/>
              <a:gd name="connsiteY0" fmla="*/ 0 h 30145"/>
              <a:gd name="connsiteX1" fmla="*/ 184219 w 184219"/>
              <a:gd name="connsiteY1" fmla="*/ 30145 h 30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4219" h="30145">
                <a:moveTo>
                  <a:pt x="0" y="0"/>
                </a:moveTo>
                <a:lnTo>
                  <a:pt x="184219" y="30145"/>
                </a:lnTo>
              </a:path>
            </a:pathLst>
          </a:custGeom>
          <a:noFill/>
          <a:ln w="12700">
            <a:solidFill>
              <a:srgbClr val="76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4C87DA1-162A-E3EA-6436-5D099D06D4E4}"/>
              </a:ext>
            </a:extLst>
          </p:cNvPr>
          <p:cNvGrpSpPr/>
          <p:nvPr/>
        </p:nvGrpSpPr>
        <p:grpSpPr>
          <a:xfrm>
            <a:off x="7402769" y="1719315"/>
            <a:ext cx="2634908" cy="3500202"/>
            <a:chOff x="7113321" y="1508807"/>
            <a:chExt cx="2634908" cy="350020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A9884D-7C0F-EB5E-BCD1-EECB8FE7FB65}"/>
                </a:ext>
              </a:extLst>
            </p:cNvPr>
            <p:cNvSpPr/>
            <p:nvPr/>
          </p:nvSpPr>
          <p:spPr>
            <a:xfrm>
              <a:off x="7113321" y="1508807"/>
              <a:ext cx="153841" cy="3500202"/>
            </a:xfrm>
            <a:prstGeom prst="rect">
              <a:avLst/>
            </a:prstGeom>
            <a:solidFill>
              <a:schemeClr val="tx2">
                <a:lumMod val="50000"/>
                <a:alpha val="23137"/>
              </a:schemeClr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A42528C-F3D6-CF4C-15CB-A650C8E65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7905" y="2565993"/>
              <a:ext cx="677473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C67281-14B2-77CA-FCC7-E7B7676D1487}"/>
                </a:ext>
              </a:extLst>
            </p:cNvPr>
            <p:cNvSpPr txBox="1"/>
            <p:nvPr/>
          </p:nvSpPr>
          <p:spPr>
            <a:xfrm>
              <a:off x="7984451" y="2298308"/>
              <a:ext cx="17637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just use the point estimate.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F958887F-925B-3A25-8D5B-C81DE5B23AD4}"/>
              </a:ext>
            </a:extLst>
          </p:cNvPr>
          <p:cNvSpPr/>
          <p:nvPr/>
        </p:nvSpPr>
        <p:spPr>
          <a:xfrm>
            <a:off x="2756359" y="2290304"/>
            <a:ext cx="439738" cy="439738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E178D91-9905-C5D8-35A6-275D46FBBFF3}"/>
              </a:ext>
            </a:extLst>
          </p:cNvPr>
          <p:cNvGrpSpPr/>
          <p:nvPr/>
        </p:nvGrpSpPr>
        <p:grpSpPr>
          <a:xfrm>
            <a:off x="9210552" y="1729823"/>
            <a:ext cx="2634908" cy="3500202"/>
            <a:chOff x="7113321" y="1508807"/>
            <a:chExt cx="2634908" cy="350020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BC7D7A6-C19E-9221-6319-8E9CA01BD8CB}"/>
                </a:ext>
              </a:extLst>
            </p:cNvPr>
            <p:cNvSpPr/>
            <p:nvPr/>
          </p:nvSpPr>
          <p:spPr>
            <a:xfrm>
              <a:off x="7113321" y="1508807"/>
              <a:ext cx="153841" cy="3500202"/>
            </a:xfrm>
            <a:prstGeom prst="rect">
              <a:avLst/>
            </a:prstGeom>
            <a:solidFill>
              <a:srgbClr val="262699">
                <a:alpha val="22745"/>
              </a:srgb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860B11C-9514-C9E0-0990-4B0CC115A9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7905" y="2565993"/>
              <a:ext cx="677473" cy="0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BC7D5D-73A7-C0C1-3C97-04B4148D6478}"/>
                </a:ext>
              </a:extLst>
            </p:cNvPr>
            <p:cNvSpPr txBox="1"/>
            <p:nvPr/>
          </p:nvSpPr>
          <p:spPr>
            <a:xfrm>
              <a:off x="7984451" y="2416552"/>
              <a:ext cx="17637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Optimized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64228B5-970E-B3CB-FC09-B1A8D27010EF}"/>
              </a:ext>
            </a:extLst>
          </p:cNvPr>
          <p:cNvSpPr txBox="1"/>
          <p:nvPr/>
        </p:nvSpPr>
        <p:spPr>
          <a:xfrm>
            <a:off x="1715675" y="6070859"/>
            <a:ext cx="8622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See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https://tinyurl.com/LearningWhileDoing/</a:t>
            </a:r>
            <a:r>
              <a:rPr lang="en-US" sz="1800" dirty="0">
                <a:latin typeface="Raleway" pitchFamily="2" charset="0"/>
              </a:rPr>
              <a:t> for a video on learning a policy. </a:t>
            </a:r>
          </a:p>
        </p:txBody>
      </p:sp>
    </p:spTree>
    <p:extLst>
      <p:ext uri="{BB962C8B-B14F-4D97-AF65-F5344CB8AC3E}">
        <p14:creationId xmlns:p14="http://schemas.microsoft.com/office/powerpoint/2010/main" val="64094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2E35-D346-DF38-A647-99090AC3E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Cost function approximations: Discrete choices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9F2664-61C5-6902-BADB-0B1E835CB11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4168" y="1043820"/>
                <a:ext cx="6034659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Note: Tuning is hard!</a:t>
                </a:r>
              </a:p>
              <a:p>
                <a:pPr marL="86360" indent="0">
                  <a:buNone/>
                </a:pPr>
                <a:endParaRPr lang="en-US" sz="1050" dirty="0"/>
              </a:p>
              <a:p>
                <a:pPr lvl="1"/>
                <a:r>
                  <a:rPr lang="en-US" sz="2200" dirty="0"/>
                  <a:t>Optimizing tunable parameters 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</m:oMath>
                </a14:m>
                <a:r>
                  <a:rPr lang="en-US" sz="2200" dirty="0"/>
                  <a:t> seems like a straightforward exercise, but in practice, it can be quite difficult.</a:t>
                </a:r>
              </a:p>
              <a:p>
                <a:pPr lvl="1"/>
                <a:r>
                  <a:rPr lang="en-US" sz="2200" dirty="0"/>
                  <a:t>The “opportunity cost” curve for this exercise required discretizing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</m:oMath>
                </a14:m>
                <a:r>
                  <a:rPr lang="en-US" sz="2200" dirty="0"/>
                  <a:t> into 100 intervals, and simulating each 10,000 times!</a:t>
                </a:r>
              </a:p>
              <a:p>
                <a:pPr lvl="1"/>
                <a:r>
                  <a:rPr lang="en-US" sz="2200" dirty="0"/>
                  <a:t>The reason is that simulating policies is very noisy. This seems to be a common experience when simulating policies.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9F2664-61C5-6902-BADB-0B1E835CB1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4168" y="1043820"/>
                <a:ext cx="6034659" cy="4401600"/>
              </a:xfrm>
              <a:blipFill>
                <a:blip r:embed="rId2"/>
                <a:stretch>
                  <a:fillRect l="-606" r="-1515" b="-16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D8F7BD5-54BC-997C-AC81-4128E1C79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545" y="1618759"/>
            <a:ext cx="5169070" cy="432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65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7D88C8E-8AC0-4560-2BF5-B9BBD2BC3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5911DE-9033-AC40-8BFD-55A7A7108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85522166-B41C-24A1-9B26-F3D3DBFFC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6" name="Google Shape;247;p26">
            <a:extLst>
              <a:ext uri="{FF2B5EF4-FFF2-40B4-BE49-F238E27FC236}">
                <a16:creationId xmlns:a16="http://schemas.microsoft.com/office/drawing/2014/main" id="{0CC3A253-6930-6B7E-6EFA-850E58DB67D7}"/>
              </a:ext>
            </a:extLst>
          </p:cNvPr>
          <p:cNvSpPr txBox="1">
            <a:spLocks/>
          </p:cNvSpPr>
          <p:nvPr/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buClr>
                <a:schemeClr val="lt1"/>
              </a:buClr>
              <a:buFont typeface="Raleway"/>
              <a:buNone/>
            </a:pPr>
            <a:r>
              <a:rPr lang="en-US" dirty="0">
                <a:solidFill>
                  <a:schemeClr val="bg1"/>
                </a:solidFill>
              </a:rPr>
              <a:t>2) Cost function approximations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Discrete choices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Continuous vectors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221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E465C-F817-BD51-C2DF-F0A0B9857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69612-CFFD-B0A7-BD18-9CD23ED8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approximations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6A7ED-7601-3FA1-1525-6444FDB3E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Discrete decisions</a:t>
            </a:r>
          </a:p>
          <a:p>
            <a:pPr lvl="1"/>
            <a:r>
              <a:rPr lang="en-US" sz="1800" dirty="0"/>
              <a:t>Best drug?</a:t>
            </a:r>
          </a:p>
          <a:p>
            <a:pPr lvl="1"/>
            <a:r>
              <a:rPr lang="en-US" sz="1800" dirty="0"/>
              <a:t>Best price?</a:t>
            </a:r>
          </a:p>
          <a:p>
            <a:pPr lvl="1"/>
            <a:r>
              <a:rPr lang="en-US" sz="1800" dirty="0"/>
              <a:t>Best supplier</a:t>
            </a:r>
            <a:endParaRPr lang="en-US" dirty="0"/>
          </a:p>
          <a:p>
            <a:pPr marL="8636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Vector-valued decisions</a:t>
            </a:r>
          </a:p>
          <a:p>
            <a:pPr lvl="1"/>
            <a:r>
              <a:rPr lang="en-US" sz="1800" dirty="0"/>
              <a:t>Allocating funds to investments</a:t>
            </a:r>
          </a:p>
          <a:p>
            <a:pPr lvl="1"/>
            <a:r>
              <a:rPr lang="en-US" sz="1800" dirty="0"/>
              <a:t>Assigning machines to tasks</a:t>
            </a:r>
          </a:p>
          <a:p>
            <a:pPr lvl="1"/>
            <a:r>
              <a:rPr lang="en-US" sz="1800" dirty="0"/>
              <a:t>Leasing warehouses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306B9EBA-EE95-BD07-8E2D-F278DB3B8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738" y="3986784"/>
            <a:ext cx="4725910" cy="1661304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7C37AA0A-1638-E047-D472-793C3C485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306" y="1489308"/>
            <a:ext cx="4725910" cy="1894466"/>
          </a:xfrm>
          <a:prstGeom prst="rect">
            <a:avLst/>
          </a:prstGeom>
        </p:spPr>
      </p:pic>
      <p:sp>
        <p:nvSpPr>
          <p:cNvPr id="4" name="Google Shape;3373;p69">
            <a:extLst>
              <a:ext uri="{FF2B5EF4-FFF2-40B4-BE49-F238E27FC236}">
                <a16:creationId xmlns:a16="http://schemas.microsoft.com/office/drawing/2014/main" id="{647E7046-064A-56EC-C269-96C6C81B272A}"/>
              </a:ext>
            </a:extLst>
          </p:cNvPr>
          <p:cNvSpPr/>
          <p:nvPr/>
        </p:nvSpPr>
        <p:spPr>
          <a:xfrm rot="10800000">
            <a:off x="7090" y="3758165"/>
            <a:ext cx="12206400" cy="2337599"/>
          </a:xfrm>
          <a:prstGeom prst="rect">
            <a:avLst/>
          </a:prstGeom>
          <a:solidFill>
            <a:srgbClr val="8585E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77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55402-9C61-6AD7-385D-E037E7436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BA05-6F09-8F8A-F17B-108EC1696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approximations: Continuous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7291-C7B1-373B-3A67-B6572D69C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12" y="1023000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Portfolio optimization:</a:t>
            </a:r>
          </a:p>
          <a:p>
            <a:pPr marL="801688" indent="-369888">
              <a:buFont typeface="Wingdings" panose="05000000000000000000" pitchFamily="2" charset="2"/>
              <a:buChar char="Ø"/>
            </a:pPr>
            <a:r>
              <a:rPr lang="en-US" sz="2000" dirty="0"/>
              <a:t>We are going to describe a portfolio optimization strategy used by one of the largest hedge funds on Wall St.</a:t>
            </a:r>
          </a:p>
          <a:p>
            <a:pPr marL="801688" indent="-369888">
              <a:buFont typeface="Wingdings" panose="05000000000000000000" pitchFamily="2" charset="2"/>
              <a:buChar char="Ø"/>
            </a:pPr>
            <a:r>
              <a:rPr lang="en-US" sz="2000" dirty="0"/>
              <a:t>It involves solving a series of static nonlinear portfolio optimization problems: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2A293D-95F9-B526-5C65-97DB78285B75}"/>
                  </a:ext>
                </a:extLst>
              </p:cNvPr>
              <p:cNvSpPr txBox="1"/>
              <p:nvPr/>
            </p:nvSpPr>
            <p:spPr>
              <a:xfrm>
                <a:off x="708358" y="3006970"/>
                <a:ext cx="9985362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𝑡𝑟𝑎𝑛𝑠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𝑡𝑖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DB545E-92A2-A50B-4118-5F782FC07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58" y="3006970"/>
                <a:ext cx="9985362" cy="984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8518748"/>
      </p:ext>
    </p:extLst>
  </p:cSld>
  <p:clrMapOvr>
    <a:masterClrMapping/>
  </p:clrMapOvr>
  <p:transition spd="slow">
    <p:wipe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EE35-58BA-23BF-F8CD-90A56E1A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approximations: Continuous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6A17E-DF72-7E82-1BC2-E741FC4A3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12" y="1023000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Portfolio optimization: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3371FD-183C-D51A-C876-B2C0500FC5D7}"/>
                  </a:ext>
                </a:extLst>
              </p:cNvPr>
              <p:cNvSpPr txBox="1"/>
              <p:nvPr/>
            </p:nvSpPr>
            <p:spPr>
              <a:xfrm>
                <a:off x="708358" y="3006970"/>
                <a:ext cx="9985362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𝑡𝑟𝑎𝑛𝑠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𝑡𝑖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3371FD-183C-D51A-C876-B2C0500FC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58" y="3006970"/>
                <a:ext cx="9985362" cy="984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5587E488-D8AE-627A-4EED-5005BB292DFC}"/>
              </a:ext>
            </a:extLst>
          </p:cNvPr>
          <p:cNvGrpSpPr/>
          <p:nvPr/>
        </p:nvGrpSpPr>
        <p:grpSpPr>
          <a:xfrm>
            <a:off x="8407633" y="2179775"/>
            <a:ext cx="1627369" cy="1721665"/>
            <a:chOff x="8315484" y="1737815"/>
            <a:chExt cx="1627369" cy="1721665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93A1ED4-0C56-D9BA-1CEE-E5720CA879F8}"/>
                </a:ext>
              </a:extLst>
            </p:cNvPr>
            <p:cNvSpPr/>
            <p:nvPr/>
          </p:nvSpPr>
          <p:spPr>
            <a:xfrm>
              <a:off x="8965792" y="2682240"/>
              <a:ext cx="307748" cy="777240"/>
            </a:xfrm>
            <a:prstGeom prst="ellipse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EDF8BE-C0C2-C935-1186-39026C7EFCE3}"/>
                </a:ext>
              </a:extLst>
            </p:cNvPr>
            <p:cNvSpPr txBox="1"/>
            <p:nvPr/>
          </p:nvSpPr>
          <p:spPr>
            <a:xfrm>
              <a:off x="8315484" y="1737815"/>
              <a:ext cx="1627369" cy="30777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Covariance matrix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778A504-D85D-C9A5-7CDB-2F1217D78233}"/>
                </a:ext>
              </a:extLst>
            </p:cNvPr>
            <p:cNvCxnSpPr>
              <a:cxnSpLocks/>
              <a:stCxn id="12" idx="2"/>
              <a:endCxn id="11" idx="0"/>
            </p:cNvCxnSpPr>
            <p:nvPr/>
          </p:nvCxnSpPr>
          <p:spPr>
            <a:xfrm flipH="1">
              <a:off x="9119666" y="2045592"/>
              <a:ext cx="9503" cy="636648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8BBE79-3F65-4FE3-DB30-14DDEA434015}"/>
              </a:ext>
            </a:extLst>
          </p:cNvPr>
          <p:cNvGrpSpPr/>
          <p:nvPr/>
        </p:nvGrpSpPr>
        <p:grpSpPr>
          <a:xfrm>
            <a:off x="6334918" y="2219665"/>
            <a:ext cx="1589851" cy="1702584"/>
            <a:chOff x="8051783" y="1756896"/>
            <a:chExt cx="1589851" cy="170258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59366E7-C48A-53DE-5A5A-E1D04886C28D}"/>
                </a:ext>
              </a:extLst>
            </p:cNvPr>
            <p:cNvSpPr/>
            <p:nvPr/>
          </p:nvSpPr>
          <p:spPr>
            <a:xfrm>
              <a:off x="8051783" y="2682240"/>
              <a:ext cx="1422242" cy="777240"/>
            </a:xfrm>
            <a:prstGeom prst="ellipse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AE06B30-2814-A441-537C-D259F1446897}"/>
                </a:ext>
              </a:extLst>
            </p:cNvPr>
            <p:cNvSpPr txBox="1"/>
            <p:nvPr/>
          </p:nvSpPr>
          <p:spPr>
            <a:xfrm>
              <a:off x="8054340" y="1756896"/>
              <a:ext cx="1587294" cy="30777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Transaction costs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C0117C1-0C9C-17BA-9836-A8631CF14E44}"/>
                </a:ext>
              </a:extLst>
            </p:cNvPr>
            <p:cNvCxnSpPr>
              <a:cxnSpLocks/>
              <a:stCxn id="18" idx="2"/>
              <a:endCxn id="17" idx="0"/>
            </p:cNvCxnSpPr>
            <p:nvPr/>
          </p:nvCxnSpPr>
          <p:spPr>
            <a:xfrm flipH="1">
              <a:off x="8762904" y="2064673"/>
              <a:ext cx="85083" cy="617567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100C2DE-0CF7-374E-9E0D-213DFE3A46AD}"/>
              </a:ext>
            </a:extLst>
          </p:cNvPr>
          <p:cNvGrpSpPr/>
          <p:nvPr/>
        </p:nvGrpSpPr>
        <p:grpSpPr>
          <a:xfrm>
            <a:off x="3293447" y="2198856"/>
            <a:ext cx="901209" cy="1877844"/>
            <a:chOff x="8054340" y="1756896"/>
            <a:chExt cx="901209" cy="187784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2AC4400-18C3-94F3-6A9C-9A02B532003F}"/>
                </a:ext>
              </a:extLst>
            </p:cNvPr>
            <p:cNvSpPr/>
            <p:nvPr/>
          </p:nvSpPr>
          <p:spPr>
            <a:xfrm>
              <a:off x="8054340" y="2565010"/>
              <a:ext cx="447973" cy="1069730"/>
            </a:xfrm>
            <a:prstGeom prst="ellipse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B8BAED8-2ECF-BDBC-7B70-F3AB42DE001E}"/>
                </a:ext>
              </a:extLst>
            </p:cNvPr>
            <p:cNvSpPr txBox="1"/>
            <p:nvPr/>
          </p:nvSpPr>
          <p:spPr>
            <a:xfrm>
              <a:off x="8054340" y="1756896"/>
              <a:ext cx="901209" cy="30777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M assets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1F43C7A-F4A4-F2F4-7E53-EE2EF46B16FE}"/>
                </a:ext>
              </a:extLst>
            </p:cNvPr>
            <p:cNvCxnSpPr>
              <a:cxnSpLocks/>
              <a:stCxn id="24" idx="2"/>
              <a:endCxn id="23" idx="0"/>
            </p:cNvCxnSpPr>
            <p:nvPr/>
          </p:nvCxnSpPr>
          <p:spPr>
            <a:xfrm flipH="1">
              <a:off x="8278327" y="2064673"/>
              <a:ext cx="226618" cy="500337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267694C-F4C8-9C7C-E050-392522877668}"/>
              </a:ext>
            </a:extLst>
          </p:cNvPr>
          <p:cNvGrpSpPr/>
          <p:nvPr/>
        </p:nvGrpSpPr>
        <p:grpSpPr>
          <a:xfrm>
            <a:off x="3644043" y="3112239"/>
            <a:ext cx="2987712" cy="3006213"/>
            <a:chOff x="3644043" y="2670279"/>
            <a:chExt cx="2987712" cy="300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34A3821-200C-8C50-B2EE-FE6BB2266A2D}"/>
                    </a:ext>
                  </a:extLst>
                </p:cNvPr>
                <p:cNvSpPr txBox="1"/>
                <p:nvPr/>
              </p:nvSpPr>
              <p:spPr>
                <a:xfrm>
                  <a:off x="4145429" y="3960864"/>
                  <a:ext cx="2216761" cy="6898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𝑡𝑖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𝒦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𝑘𝑖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34A3821-200C-8C50-B2EE-FE6BB2266A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5429" y="3960864"/>
                  <a:ext cx="2216761" cy="68980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2F1768D-6A58-62DD-65F5-C7363FF563E7}"/>
                </a:ext>
              </a:extLst>
            </p:cNvPr>
            <p:cNvCxnSpPr>
              <a:cxnSpLocks/>
              <a:stCxn id="39" idx="0"/>
              <a:endCxn id="35" idx="4"/>
            </p:cNvCxnSpPr>
            <p:nvPr/>
          </p:nvCxnSpPr>
          <p:spPr>
            <a:xfrm flipH="1" flipV="1">
              <a:off x="5132282" y="4704479"/>
              <a:ext cx="5617" cy="448793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D93F400-D7FD-9735-A900-13132F0B5BF3}"/>
                </a:ext>
              </a:extLst>
            </p:cNvPr>
            <p:cNvSpPr/>
            <p:nvPr/>
          </p:nvSpPr>
          <p:spPr>
            <a:xfrm>
              <a:off x="4785779" y="2670279"/>
              <a:ext cx="681014" cy="777240"/>
            </a:xfrm>
            <a:prstGeom prst="ellipse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9A2C344-F681-5367-7F46-82E6DAB68B60}"/>
                </a:ext>
              </a:extLst>
            </p:cNvPr>
            <p:cNvSpPr/>
            <p:nvPr/>
          </p:nvSpPr>
          <p:spPr>
            <a:xfrm>
              <a:off x="4023901" y="3893211"/>
              <a:ext cx="2216761" cy="811268"/>
            </a:xfrm>
            <a:prstGeom prst="ellipse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8424F09-C012-9A46-E1D7-4905E6CC8DDE}"/>
                </a:ext>
              </a:extLst>
            </p:cNvPr>
            <p:cNvCxnSpPr>
              <a:cxnSpLocks/>
              <a:stCxn id="34" idx="4"/>
              <a:endCxn id="35" idx="0"/>
            </p:cNvCxnSpPr>
            <p:nvPr/>
          </p:nvCxnSpPr>
          <p:spPr>
            <a:xfrm>
              <a:off x="5126286" y="3447519"/>
              <a:ext cx="5996" cy="445692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B0EFFCD-8F1B-E1AD-4B63-1D2D3882A40F}"/>
                </a:ext>
              </a:extLst>
            </p:cNvPr>
            <p:cNvSpPr txBox="1"/>
            <p:nvPr/>
          </p:nvSpPr>
          <p:spPr>
            <a:xfrm>
              <a:off x="3644043" y="5153272"/>
              <a:ext cx="2987712" cy="523220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Adjustment based on assorted features of the economy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8F0DA73-BA0C-EA9A-4C3F-3F95FEC7E654}"/>
              </a:ext>
            </a:extLst>
          </p:cNvPr>
          <p:cNvGrpSpPr/>
          <p:nvPr/>
        </p:nvGrpSpPr>
        <p:grpSpPr>
          <a:xfrm>
            <a:off x="4875633" y="2228819"/>
            <a:ext cx="1218603" cy="1584145"/>
            <a:chOff x="7202098" y="1766050"/>
            <a:chExt cx="1218603" cy="1584145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D2B0B2C-D79C-2E20-3F08-9005B0E8FA4E}"/>
                </a:ext>
              </a:extLst>
            </p:cNvPr>
            <p:cNvSpPr/>
            <p:nvPr/>
          </p:nvSpPr>
          <p:spPr>
            <a:xfrm>
              <a:off x="8009124" y="2804071"/>
              <a:ext cx="348849" cy="546124"/>
            </a:xfrm>
            <a:prstGeom prst="ellipse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FF6E222-4767-0161-FA46-623EA377E0E6}"/>
                </a:ext>
              </a:extLst>
            </p:cNvPr>
            <p:cNvSpPr txBox="1"/>
            <p:nvPr/>
          </p:nvSpPr>
          <p:spPr>
            <a:xfrm>
              <a:off x="7202098" y="1766050"/>
              <a:ext cx="1218603" cy="30777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Current price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0CF121E-1D0E-CC68-3631-956649DDFC68}"/>
                </a:ext>
              </a:extLst>
            </p:cNvPr>
            <p:cNvCxnSpPr>
              <a:cxnSpLocks/>
              <a:stCxn id="49" idx="2"/>
              <a:endCxn id="48" idx="0"/>
            </p:cNvCxnSpPr>
            <p:nvPr/>
          </p:nvCxnSpPr>
          <p:spPr>
            <a:xfrm>
              <a:off x="7811400" y="2073827"/>
              <a:ext cx="372149" cy="730244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77C2BAB-E2BD-B602-EA2F-827BB821CCF0}"/>
              </a:ext>
            </a:extLst>
          </p:cNvPr>
          <p:cNvGrpSpPr/>
          <p:nvPr/>
        </p:nvGrpSpPr>
        <p:grpSpPr>
          <a:xfrm>
            <a:off x="3136859" y="1734036"/>
            <a:ext cx="2670924" cy="2130725"/>
            <a:chOff x="7421880" y="1292076"/>
            <a:chExt cx="2670924" cy="2130725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BB32550-6846-5250-4052-C63EE4786D7E}"/>
                </a:ext>
              </a:extLst>
            </p:cNvPr>
            <p:cNvSpPr/>
            <p:nvPr/>
          </p:nvSpPr>
          <p:spPr>
            <a:xfrm>
              <a:off x="8051783" y="2743200"/>
              <a:ext cx="1018397" cy="679601"/>
            </a:xfrm>
            <a:prstGeom prst="ellipse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5FF8F08-A1B0-F28B-5405-0873709634D2}"/>
                </a:ext>
              </a:extLst>
            </p:cNvPr>
            <p:cNvSpPr txBox="1"/>
            <p:nvPr/>
          </p:nvSpPr>
          <p:spPr>
            <a:xfrm>
              <a:off x="7421880" y="1292076"/>
              <a:ext cx="2670924" cy="30777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Current and bought/sold assets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2BB13E5-A610-3F74-1287-5DE4B4A9C95D}"/>
                </a:ext>
              </a:extLst>
            </p:cNvPr>
            <p:cNvCxnSpPr>
              <a:cxnSpLocks/>
              <a:stCxn id="59" idx="2"/>
              <a:endCxn id="58" idx="0"/>
            </p:cNvCxnSpPr>
            <p:nvPr/>
          </p:nvCxnSpPr>
          <p:spPr>
            <a:xfrm flipH="1">
              <a:off x="8560982" y="1599853"/>
              <a:ext cx="196360" cy="1143347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BE70894-6D6C-F54B-6097-89A13C20A789}"/>
              </a:ext>
            </a:extLst>
          </p:cNvPr>
          <p:cNvGrpSpPr/>
          <p:nvPr/>
        </p:nvGrpSpPr>
        <p:grpSpPr>
          <a:xfrm>
            <a:off x="7870637" y="3046861"/>
            <a:ext cx="2382383" cy="2063206"/>
            <a:chOff x="7749588" y="265968"/>
            <a:chExt cx="2382383" cy="2063206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3D13D89-167C-7962-72AF-C2B68C440948}"/>
                </a:ext>
              </a:extLst>
            </p:cNvPr>
            <p:cNvSpPr/>
            <p:nvPr/>
          </p:nvSpPr>
          <p:spPr>
            <a:xfrm>
              <a:off x="8027620" y="265968"/>
              <a:ext cx="2050219" cy="944162"/>
            </a:xfrm>
            <a:prstGeom prst="ellipse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E707A9C-616D-421F-5911-9CDBF2E668CC}"/>
                </a:ext>
              </a:extLst>
            </p:cNvPr>
            <p:cNvSpPr txBox="1"/>
            <p:nvPr/>
          </p:nvSpPr>
          <p:spPr>
            <a:xfrm>
              <a:off x="7749588" y="2021397"/>
              <a:ext cx="2382383" cy="30777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Variance of portfolio returns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7FD67ED-C490-04F7-A88C-8C1FBDD4B3FC}"/>
                </a:ext>
              </a:extLst>
            </p:cNvPr>
            <p:cNvCxnSpPr>
              <a:cxnSpLocks/>
              <a:stCxn id="65" idx="0"/>
              <a:endCxn id="64" idx="4"/>
            </p:cNvCxnSpPr>
            <p:nvPr/>
          </p:nvCxnSpPr>
          <p:spPr>
            <a:xfrm flipV="1">
              <a:off x="8940780" y="1210130"/>
              <a:ext cx="111950" cy="811267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938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2F226-88FC-D67A-F7E5-7F9FE4E49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EFC16-91F6-984A-DED7-02C749B5B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approximations: Continuous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BE00A-59ED-342D-1D18-F417F9080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12" y="1023000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Portfolio optimization: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D3D297-FB85-6144-E072-3540535463B7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H="1" flipV="1">
            <a:off x="1745491" y="3841306"/>
            <a:ext cx="2024619" cy="1185029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0B6EFCED-0487-579E-08DA-4BB583E03E6C}"/>
              </a:ext>
            </a:extLst>
          </p:cNvPr>
          <p:cNvSpPr/>
          <p:nvPr/>
        </p:nvSpPr>
        <p:spPr>
          <a:xfrm>
            <a:off x="1623271" y="3294434"/>
            <a:ext cx="244440" cy="546872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90EF94-306D-3E7C-C969-A3D9658CE6DB}"/>
              </a:ext>
            </a:extLst>
          </p:cNvPr>
          <p:cNvSpPr txBox="1"/>
          <p:nvPr/>
        </p:nvSpPr>
        <p:spPr>
          <a:xfrm>
            <a:off x="2832033" y="5026335"/>
            <a:ext cx="1876154" cy="30777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Tunable parameters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48CA84C-ED6D-D100-19B7-72920015ED85}"/>
              </a:ext>
            </a:extLst>
          </p:cNvPr>
          <p:cNvSpPr/>
          <p:nvPr/>
        </p:nvSpPr>
        <p:spPr>
          <a:xfrm>
            <a:off x="5160897" y="3283587"/>
            <a:ext cx="244440" cy="546872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704270A-37F3-6400-AD34-1B9EB9328901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3770110" y="3830459"/>
            <a:ext cx="1513007" cy="1195876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DB545E-92A2-A50B-4118-5F782FC07D65}"/>
                  </a:ext>
                </a:extLst>
              </p:cNvPr>
              <p:cNvSpPr txBox="1"/>
              <p:nvPr/>
            </p:nvSpPr>
            <p:spPr>
              <a:xfrm>
                <a:off x="708358" y="3006970"/>
                <a:ext cx="9985362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𝑡𝑟𝑎𝑛𝑠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𝑡𝑖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DB545E-92A2-A50B-4118-5F782FC07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58" y="3006970"/>
                <a:ext cx="9985362" cy="984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5807493"/>
      </p:ext>
    </p:extLst>
  </p:cSld>
  <p:clrMapOvr>
    <a:masterClrMapping/>
  </p:clrMapOvr>
  <p:transition spd="slow">
    <p:wipe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17A99-5086-6C0E-1F0F-95AAF7DEE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42" y="1032414"/>
            <a:ext cx="7127956" cy="763497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Evaluating performance over time:</a:t>
            </a:r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1600" dirty="0"/>
          </a:p>
          <a:p>
            <a:pPr marL="86360" indent="0">
              <a:buNone/>
            </a:pPr>
            <a:r>
              <a:rPr lang="en-US" sz="2000" dirty="0"/>
              <a:t>	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DDB6E0-38BA-48F0-D46D-9A6317B38A2C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440071" y="4533090"/>
            <a:ext cx="8085290" cy="348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521444-E1D2-12D3-C84E-8C5D423136C9}"/>
              </a:ext>
            </a:extLst>
          </p:cNvPr>
          <p:cNvCxnSpPr/>
          <p:nvPr/>
        </p:nvCxnSpPr>
        <p:spPr>
          <a:xfrm>
            <a:off x="2440074" y="4414659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96360D-3F19-295A-7708-816641070318}"/>
              </a:ext>
            </a:extLst>
          </p:cNvPr>
          <p:cNvCxnSpPr/>
          <p:nvPr/>
        </p:nvCxnSpPr>
        <p:spPr>
          <a:xfrm>
            <a:off x="2440071" y="4428202"/>
            <a:ext cx="16256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F822947-83DC-64D4-8BAB-DFF10554A41B}"/>
              </a:ext>
            </a:extLst>
          </p:cNvPr>
          <p:cNvGrpSpPr/>
          <p:nvPr/>
        </p:nvGrpSpPr>
        <p:grpSpPr>
          <a:xfrm>
            <a:off x="2258424" y="3109526"/>
            <a:ext cx="499817" cy="1272954"/>
            <a:chOff x="2474602" y="2919256"/>
            <a:chExt cx="499817" cy="127295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F56BE68-4DE0-5093-B22B-CF7948A8643D}"/>
                </a:ext>
              </a:extLst>
            </p:cNvPr>
            <p:cNvCxnSpPr>
              <a:cxnSpLocks/>
            </p:cNvCxnSpPr>
            <p:nvPr/>
          </p:nvCxnSpPr>
          <p:spPr>
            <a:xfrm>
              <a:off x="2657261" y="3299634"/>
              <a:ext cx="0" cy="89257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5DF836C-C317-9B0E-D20C-D8180FCC634E}"/>
                    </a:ext>
                  </a:extLst>
                </p:cNvPr>
                <p:cNvSpPr txBox="1"/>
                <p:nvPr/>
              </p:nvSpPr>
              <p:spPr>
                <a:xfrm>
                  <a:off x="2474602" y="2919256"/>
                  <a:ext cx="49981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5DF836C-C317-9B0E-D20C-D8180FCC6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4602" y="2919256"/>
                  <a:ext cx="499817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70CA9CF-2584-0D82-DFFD-83B43505E5F0}"/>
              </a:ext>
            </a:extLst>
          </p:cNvPr>
          <p:cNvGrpSpPr/>
          <p:nvPr/>
        </p:nvGrpSpPr>
        <p:grpSpPr>
          <a:xfrm>
            <a:off x="2353032" y="3441978"/>
            <a:ext cx="1684243" cy="952359"/>
            <a:chOff x="2569210" y="3251708"/>
            <a:chExt cx="1684243" cy="952359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E10C72A-D433-06E9-0059-F41332638804}"/>
                </a:ext>
              </a:extLst>
            </p:cNvPr>
            <p:cNvCxnSpPr>
              <a:cxnSpLocks/>
            </p:cNvCxnSpPr>
            <p:nvPr/>
          </p:nvCxnSpPr>
          <p:spPr>
            <a:xfrm>
              <a:off x="2789342" y="3621040"/>
              <a:ext cx="0" cy="58302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EDE9190-0AC0-8B08-0F9F-A6ABA2FF74B8}"/>
                    </a:ext>
                  </a:extLst>
                </p:cNvPr>
                <p:cNvSpPr txBox="1"/>
                <p:nvPr/>
              </p:nvSpPr>
              <p:spPr>
                <a:xfrm>
                  <a:off x="2569210" y="3251708"/>
                  <a:ext cx="16842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EDE9190-0AC0-8B08-0F9F-A6ABA2FF7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210" y="3251708"/>
                  <a:ext cx="1684243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D11361-881A-5AD9-9688-EC5BF5478DB4}"/>
              </a:ext>
            </a:extLst>
          </p:cNvPr>
          <p:cNvCxnSpPr/>
          <p:nvPr/>
        </p:nvCxnSpPr>
        <p:spPr>
          <a:xfrm>
            <a:off x="4072749" y="4414658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CA436B-C8F6-56D2-769D-5659B76279EB}"/>
              </a:ext>
            </a:extLst>
          </p:cNvPr>
          <p:cNvCxnSpPr/>
          <p:nvPr/>
        </p:nvCxnSpPr>
        <p:spPr>
          <a:xfrm>
            <a:off x="5705424" y="4421635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06A4C4-61C0-195A-CA2D-F301F5B165FA}"/>
                  </a:ext>
                </a:extLst>
              </p:cNvPr>
              <p:cNvSpPr txBox="1"/>
              <p:nvPr/>
            </p:nvSpPr>
            <p:spPr>
              <a:xfrm>
                <a:off x="4604563" y="4104378"/>
                <a:ext cx="532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06A4C4-61C0-195A-CA2D-F301F5B16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563" y="4104378"/>
                <a:ext cx="53251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905434E5-04E4-6AA3-53A0-961B740EE3A8}"/>
              </a:ext>
            </a:extLst>
          </p:cNvPr>
          <p:cNvGrpSpPr/>
          <p:nvPr/>
        </p:nvGrpSpPr>
        <p:grpSpPr>
          <a:xfrm>
            <a:off x="2602940" y="3872818"/>
            <a:ext cx="1531060" cy="693224"/>
            <a:chOff x="2819118" y="3682548"/>
            <a:chExt cx="1531060" cy="693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D0B9D22-4319-DCEB-9AE3-78B1B1106A0F}"/>
                    </a:ext>
                  </a:extLst>
                </p:cNvPr>
                <p:cNvSpPr txBox="1"/>
                <p:nvPr/>
              </p:nvSpPr>
              <p:spPr>
                <a:xfrm rot="5400000">
                  <a:off x="3323454" y="3349049"/>
                  <a:ext cx="522387" cy="1531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D0B9D22-4319-DCEB-9AE3-78B1B1106A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323454" y="3349049"/>
                  <a:ext cx="522387" cy="15310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745CBA5-9EB1-0E89-D817-3EABADF96415}"/>
                    </a:ext>
                  </a:extLst>
                </p:cNvPr>
                <p:cNvSpPr txBox="1"/>
                <p:nvPr/>
              </p:nvSpPr>
              <p:spPr>
                <a:xfrm>
                  <a:off x="3368861" y="3682548"/>
                  <a:ext cx="5397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745CBA5-9EB1-0E89-D817-3EABADF96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861" y="3682548"/>
                  <a:ext cx="53976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391FE69-CA2E-29BD-26E5-01889DB60EA2}"/>
              </a:ext>
            </a:extLst>
          </p:cNvPr>
          <p:cNvCxnSpPr/>
          <p:nvPr/>
        </p:nvCxnSpPr>
        <p:spPr>
          <a:xfrm>
            <a:off x="7338145" y="4407284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0979314-13C0-623E-2520-6C842AD5F2B7}"/>
              </a:ext>
            </a:extLst>
          </p:cNvPr>
          <p:cNvGrpSpPr/>
          <p:nvPr/>
        </p:nvGrpSpPr>
        <p:grpSpPr>
          <a:xfrm>
            <a:off x="5523820" y="3102152"/>
            <a:ext cx="1739737" cy="1284811"/>
            <a:chOff x="5739998" y="2911882"/>
            <a:chExt cx="1739737" cy="1284811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7E9A2D7-D865-6E70-8B1F-25E1B07668F7}"/>
                </a:ext>
              </a:extLst>
            </p:cNvPr>
            <p:cNvCxnSpPr>
              <a:cxnSpLocks/>
            </p:cNvCxnSpPr>
            <p:nvPr/>
          </p:nvCxnSpPr>
          <p:spPr>
            <a:xfrm>
              <a:off x="5922657" y="3292260"/>
              <a:ext cx="0" cy="89257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F029730-3D33-882F-A784-C8989311AF7D}"/>
                    </a:ext>
                  </a:extLst>
                </p:cNvPr>
                <p:cNvSpPr txBox="1"/>
                <p:nvPr/>
              </p:nvSpPr>
              <p:spPr>
                <a:xfrm>
                  <a:off x="5739998" y="2911882"/>
                  <a:ext cx="47756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F029730-3D33-882F-A784-C8989311A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998" y="2911882"/>
                  <a:ext cx="477567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3905546-6C8B-A61E-9FB3-655B2D653BE0}"/>
                </a:ext>
              </a:extLst>
            </p:cNvPr>
            <p:cNvCxnSpPr>
              <a:cxnSpLocks/>
            </p:cNvCxnSpPr>
            <p:nvPr/>
          </p:nvCxnSpPr>
          <p:spPr>
            <a:xfrm>
              <a:off x="6054738" y="3613666"/>
              <a:ext cx="0" cy="58302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EDBE034-6F74-60B3-3130-C0FFDE7F3C99}"/>
                    </a:ext>
                  </a:extLst>
                </p:cNvPr>
                <p:cNvSpPr txBox="1"/>
                <p:nvPr/>
              </p:nvSpPr>
              <p:spPr>
                <a:xfrm>
                  <a:off x="5834606" y="3244334"/>
                  <a:ext cx="16451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EDBE034-6F74-60B3-3130-C0FFDE7F3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4606" y="3244334"/>
                  <a:ext cx="1645129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F350788-B68C-CB58-6DBA-C6B1A9438014}"/>
                  </a:ext>
                </a:extLst>
              </p:cNvPr>
              <p:cNvSpPr txBox="1"/>
              <p:nvPr/>
            </p:nvSpPr>
            <p:spPr>
              <a:xfrm>
                <a:off x="7880811" y="4102823"/>
                <a:ext cx="532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F350788-B68C-CB58-6DBA-C6B1A9438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811" y="4102823"/>
                <a:ext cx="532518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1AACDAA-C93C-9145-7ECC-B527D26AAD4F}"/>
              </a:ext>
            </a:extLst>
          </p:cNvPr>
          <p:cNvCxnSpPr/>
          <p:nvPr/>
        </p:nvCxnSpPr>
        <p:spPr>
          <a:xfrm>
            <a:off x="8970866" y="4410836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D8A3284-39C7-771A-F2AF-7B4C35A35108}"/>
              </a:ext>
            </a:extLst>
          </p:cNvPr>
          <p:cNvCxnSpPr/>
          <p:nvPr/>
        </p:nvCxnSpPr>
        <p:spPr>
          <a:xfrm>
            <a:off x="8968545" y="4411730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DAA171-F0D7-272B-165E-ED4C935DFBE2}"/>
              </a:ext>
            </a:extLst>
          </p:cNvPr>
          <p:cNvGrpSpPr/>
          <p:nvPr/>
        </p:nvGrpSpPr>
        <p:grpSpPr>
          <a:xfrm>
            <a:off x="8786941" y="3092247"/>
            <a:ext cx="1866375" cy="1284811"/>
            <a:chOff x="9003119" y="2901977"/>
            <a:chExt cx="1866375" cy="1284811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C2925E1-07CB-F30C-8672-794037BB380F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78" y="3282355"/>
              <a:ext cx="0" cy="89257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BF18C17-90D6-5149-F8E0-B2BB7CBC2CBB}"/>
                    </a:ext>
                  </a:extLst>
                </p:cNvPr>
                <p:cNvSpPr txBox="1"/>
                <p:nvPr/>
              </p:nvSpPr>
              <p:spPr>
                <a:xfrm>
                  <a:off x="9003119" y="2901977"/>
                  <a:ext cx="52104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BF18C17-90D6-5149-F8E0-B2BB7CBC2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3119" y="2901977"/>
                  <a:ext cx="521040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FAF795C-0331-4489-1A8C-9C255124BBC1}"/>
                </a:ext>
              </a:extLst>
            </p:cNvPr>
            <p:cNvCxnSpPr>
              <a:cxnSpLocks/>
            </p:cNvCxnSpPr>
            <p:nvPr/>
          </p:nvCxnSpPr>
          <p:spPr>
            <a:xfrm>
              <a:off x="9317859" y="3603761"/>
              <a:ext cx="0" cy="58302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1C83698-321B-1D01-2239-CDBE7B8C8B28}"/>
                    </a:ext>
                  </a:extLst>
                </p:cNvPr>
                <p:cNvSpPr txBox="1"/>
                <p:nvPr/>
              </p:nvSpPr>
              <p:spPr>
                <a:xfrm>
                  <a:off x="9097727" y="3234429"/>
                  <a:ext cx="17717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1C83698-321B-1D01-2239-CDBE7B8C8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7727" y="3234429"/>
                  <a:ext cx="1771767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FCAB8CC-CE2F-BEB7-95F6-C51033FC7B49}"/>
                  </a:ext>
                </a:extLst>
              </p:cNvPr>
              <p:cNvSpPr txBox="1"/>
              <p:nvPr/>
            </p:nvSpPr>
            <p:spPr>
              <a:xfrm>
                <a:off x="1932528" y="4735104"/>
                <a:ext cx="11232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FCAB8CC-CE2F-BEB7-95F6-C51033FC7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528" y="4735104"/>
                <a:ext cx="1123256" cy="369332"/>
              </a:xfrm>
              <a:prstGeom prst="rect">
                <a:avLst/>
              </a:prstGeom>
              <a:blipFill>
                <a:blip r:embed="rId1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E1DC825-8C3A-9F23-57E3-76CB586B60F9}"/>
                  </a:ext>
                </a:extLst>
              </p:cNvPr>
              <p:cNvSpPr txBox="1"/>
              <p:nvPr/>
            </p:nvSpPr>
            <p:spPr>
              <a:xfrm>
                <a:off x="5150649" y="4738526"/>
                <a:ext cx="1084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E1DC825-8C3A-9F23-57E3-76CB586B6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649" y="4738526"/>
                <a:ext cx="1084143" cy="369332"/>
              </a:xfrm>
              <a:prstGeom prst="rect">
                <a:avLst/>
              </a:prstGeom>
              <a:blipFill>
                <a:blip r:embed="rId1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295AADB-FA76-7144-F417-EDDD072383E6}"/>
                  </a:ext>
                </a:extLst>
              </p:cNvPr>
              <p:cNvSpPr txBox="1"/>
              <p:nvPr/>
            </p:nvSpPr>
            <p:spPr>
              <a:xfrm>
                <a:off x="8439653" y="4735926"/>
                <a:ext cx="1202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295AADB-FA76-7144-F417-EDDD07238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653" y="4735926"/>
                <a:ext cx="1202893" cy="369332"/>
              </a:xfrm>
              <a:prstGeom prst="rect">
                <a:avLst/>
              </a:prstGeom>
              <a:blipFill>
                <a:blip r:embed="rId1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DA15860-0BF0-8E9A-73A4-8D1DFBF1469B}"/>
                  </a:ext>
                </a:extLst>
              </p:cNvPr>
              <p:cNvSpPr txBox="1"/>
              <p:nvPr/>
            </p:nvSpPr>
            <p:spPr>
              <a:xfrm>
                <a:off x="619365" y="4743094"/>
                <a:ext cx="95675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                   +                      ⋯          +                  +                        ⋯         + 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DA15860-0BF0-8E9A-73A4-8D1DFBF14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65" y="4743094"/>
                <a:ext cx="956757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584BDB-B04F-CE58-EDC5-99F6C98CCB5E}"/>
                  </a:ext>
                </a:extLst>
              </p:cNvPr>
              <p:cNvSpPr txBox="1"/>
              <p:nvPr/>
            </p:nvSpPr>
            <p:spPr>
              <a:xfrm>
                <a:off x="1291839" y="5211209"/>
                <a:ext cx="3845242" cy="871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584BDB-B04F-CE58-EDC5-99F6C98CC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839" y="5211209"/>
                <a:ext cx="3845242" cy="8714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36095B5-1C1D-DFDA-314A-313BBD7EFDFA}"/>
              </a:ext>
            </a:extLst>
          </p:cNvPr>
          <p:cNvSpPr txBox="1"/>
          <p:nvPr/>
        </p:nvSpPr>
        <p:spPr>
          <a:xfrm>
            <a:off x="10525361" y="434842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Time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BDB2F1-F1C7-FFF2-91E9-98BD7E24F5F6}"/>
              </a:ext>
            </a:extLst>
          </p:cNvPr>
          <p:cNvGrpSpPr/>
          <p:nvPr/>
        </p:nvGrpSpPr>
        <p:grpSpPr>
          <a:xfrm>
            <a:off x="5705467" y="3865444"/>
            <a:ext cx="1693929" cy="693224"/>
            <a:chOff x="6165910" y="3579446"/>
            <a:chExt cx="1693929" cy="693224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223FBB9-0077-110B-3C16-C68316840E6D}"/>
                </a:ext>
              </a:extLst>
            </p:cNvPr>
            <p:cNvCxnSpPr/>
            <p:nvPr/>
          </p:nvCxnSpPr>
          <p:spPr>
            <a:xfrm>
              <a:off x="6165910" y="4134830"/>
              <a:ext cx="1625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B1321B0-3AC9-680A-11FD-8EEF600B7BF4}"/>
                    </a:ext>
                  </a:extLst>
                </p:cNvPr>
                <p:cNvSpPr txBox="1"/>
                <p:nvPr/>
              </p:nvSpPr>
              <p:spPr>
                <a:xfrm rot="5400000">
                  <a:off x="6833115" y="3245947"/>
                  <a:ext cx="522387" cy="1531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B1321B0-3AC9-680A-11FD-8EEF600B7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833115" y="3245947"/>
                  <a:ext cx="522387" cy="153106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EE63406-0F36-1031-16F3-46496D3F92E7}"/>
                    </a:ext>
                  </a:extLst>
                </p:cNvPr>
                <p:cNvSpPr txBox="1"/>
                <p:nvPr/>
              </p:nvSpPr>
              <p:spPr>
                <a:xfrm>
                  <a:off x="6878522" y="3579446"/>
                  <a:ext cx="7451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EE63406-0F36-1031-16F3-46496D3F9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8522" y="3579446"/>
                  <a:ext cx="745140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05E91C-F8F8-6FA0-0DF0-835A9FF1396C}"/>
                  </a:ext>
                </a:extLst>
              </p:cNvPr>
              <p:cNvSpPr txBox="1"/>
              <p:nvPr/>
            </p:nvSpPr>
            <p:spPr>
              <a:xfrm>
                <a:off x="3917747" y="5469005"/>
                <a:ext cx="4051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1800" dirty="0">
                    <a:latin typeface="Raleway" pitchFamily="2" charset="0"/>
                  </a:rPr>
                  <a:t>performance of policy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dirty="0">
                    <a:latin typeface="Raleway" pitchFamily="2" charset="0"/>
                  </a:rPr>
                  <a:t> over time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05E91C-F8F8-6FA0-0DF0-835A9FF13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747" y="5469005"/>
                <a:ext cx="4051237" cy="369332"/>
              </a:xfrm>
              <a:prstGeom prst="rect">
                <a:avLst/>
              </a:prstGeom>
              <a:blipFill>
                <a:blip r:embed="rId24"/>
                <a:stretch>
                  <a:fillRect t="-8197" r="-45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1">
            <a:extLst>
              <a:ext uri="{FF2B5EF4-FFF2-40B4-BE49-F238E27FC236}">
                <a16:creationId xmlns:a16="http://schemas.microsoft.com/office/drawing/2014/main" id="{60C80D26-9343-B189-A65B-4C06ABAE3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Cost function approximations: Continuous vectors</a:t>
            </a:r>
            <a:endParaRPr lang="en-US" dirty="0">
              <a:latin typeface="Oswald" panose="00000500000000000000" pitchFamily="2" charset="0"/>
            </a:endParaRPr>
          </a:p>
        </p:txBody>
      </p:sp>
      <p:grpSp>
        <p:nvGrpSpPr>
          <p:cNvPr id="10" name="Google Shape;2128;p56">
            <a:extLst>
              <a:ext uri="{FF2B5EF4-FFF2-40B4-BE49-F238E27FC236}">
                <a16:creationId xmlns:a16="http://schemas.microsoft.com/office/drawing/2014/main" id="{48246382-EA0F-F552-B003-BD309441DA27}"/>
              </a:ext>
            </a:extLst>
          </p:cNvPr>
          <p:cNvGrpSpPr/>
          <p:nvPr/>
        </p:nvGrpSpPr>
        <p:grpSpPr>
          <a:xfrm>
            <a:off x="3070230" y="2005516"/>
            <a:ext cx="762741" cy="1270236"/>
            <a:chOff x="1809750" y="2197100"/>
            <a:chExt cx="1085850" cy="2019300"/>
          </a:xfrm>
        </p:grpSpPr>
        <p:sp>
          <p:nvSpPr>
            <p:cNvPr id="11" name="Google Shape;2129;p56">
              <a:extLst>
                <a:ext uri="{FF2B5EF4-FFF2-40B4-BE49-F238E27FC236}">
                  <a16:creationId xmlns:a16="http://schemas.microsoft.com/office/drawing/2014/main" id="{F66C214F-4230-000C-64D1-0654CE04DA14}"/>
                </a:ext>
              </a:extLst>
            </p:cNvPr>
            <p:cNvSpPr/>
            <p:nvPr/>
          </p:nvSpPr>
          <p:spPr>
            <a:xfrm>
              <a:off x="1816100" y="21971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" name="Google Shape;2130;p56">
              <a:extLst>
                <a:ext uri="{FF2B5EF4-FFF2-40B4-BE49-F238E27FC236}">
                  <a16:creationId xmlns:a16="http://schemas.microsoft.com/office/drawing/2014/main" id="{DF0A624B-F8A5-A813-3516-D2701AC5479D}"/>
                </a:ext>
              </a:extLst>
            </p:cNvPr>
            <p:cNvSpPr/>
            <p:nvPr/>
          </p:nvSpPr>
          <p:spPr>
            <a:xfrm>
              <a:off x="1822450" y="26416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" name="Google Shape;2131;p56">
              <a:extLst>
                <a:ext uri="{FF2B5EF4-FFF2-40B4-BE49-F238E27FC236}">
                  <a16:creationId xmlns:a16="http://schemas.microsoft.com/office/drawing/2014/main" id="{F7FA9865-7CF5-2425-7F44-398298787971}"/>
                </a:ext>
              </a:extLst>
            </p:cNvPr>
            <p:cNvSpPr/>
            <p:nvPr/>
          </p:nvSpPr>
          <p:spPr>
            <a:xfrm>
              <a:off x="1822450" y="31242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2132;p56">
              <a:extLst>
                <a:ext uri="{FF2B5EF4-FFF2-40B4-BE49-F238E27FC236}">
                  <a16:creationId xmlns:a16="http://schemas.microsoft.com/office/drawing/2014/main" id="{0E7168D3-19DF-A4E2-2F9F-33587FD6E535}"/>
                </a:ext>
              </a:extLst>
            </p:cNvPr>
            <p:cNvSpPr/>
            <p:nvPr/>
          </p:nvSpPr>
          <p:spPr>
            <a:xfrm>
              <a:off x="1816100" y="35814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" name="Google Shape;2133;p56">
              <a:extLst>
                <a:ext uri="{FF2B5EF4-FFF2-40B4-BE49-F238E27FC236}">
                  <a16:creationId xmlns:a16="http://schemas.microsoft.com/office/drawing/2014/main" id="{5B4D7CE5-7FD2-96BA-48C7-9F9E4FB3755E}"/>
                </a:ext>
              </a:extLst>
            </p:cNvPr>
            <p:cNvSpPr/>
            <p:nvPr/>
          </p:nvSpPr>
          <p:spPr>
            <a:xfrm>
              <a:off x="1809750" y="40640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" name="Google Shape;2134;p56">
              <a:extLst>
                <a:ext uri="{FF2B5EF4-FFF2-40B4-BE49-F238E27FC236}">
                  <a16:creationId xmlns:a16="http://schemas.microsoft.com/office/drawing/2014/main" id="{BD80DAEB-A423-AA0F-69AB-BDB115DCD66B}"/>
                </a:ext>
              </a:extLst>
            </p:cNvPr>
            <p:cNvSpPr/>
            <p:nvPr/>
          </p:nvSpPr>
          <p:spPr>
            <a:xfrm>
              <a:off x="2743200" y="22034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" name="Google Shape;2135;p56">
              <a:extLst>
                <a:ext uri="{FF2B5EF4-FFF2-40B4-BE49-F238E27FC236}">
                  <a16:creationId xmlns:a16="http://schemas.microsoft.com/office/drawing/2014/main" id="{14A05DFB-56D2-0148-7206-BB1E571F362B}"/>
                </a:ext>
              </a:extLst>
            </p:cNvPr>
            <p:cNvSpPr/>
            <p:nvPr/>
          </p:nvSpPr>
          <p:spPr>
            <a:xfrm>
              <a:off x="2749550" y="26479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" name="Google Shape;2136;p56">
              <a:extLst>
                <a:ext uri="{FF2B5EF4-FFF2-40B4-BE49-F238E27FC236}">
                  <a16:creationId xmlns:a16="http://schemas.microsoft.com/office/drawing/2014/main" id="{7A46AF58-59E6-5174-26B2-97D7023B6892}"/>
                </a:ext>
              </a:extLst>
            </p:cNvPr>
            <p:cNvSpPr/>
            <p:nvPr/>
          </p:nvSpPr>
          <p:spPr>
            <a:xfrm>
              <a:off x="2749550" y="31305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" name="Google Shape;2137;p56">
              <a:extLst>
                <a:ext uri="{FF2B5EF4-FFF2-40B4-BE49-F238E27FC236}">
                  <a16:creationId xmlns:a16="http://schemas.microsoft.com/office/drawing/2014/main" id="{13BCEF96-7E15-DBCA-2BE5-C8C9BA73A0E3}"/>
                </a:ext>
              </a:extLst>
            </p:cNvPr>
            <p:cNvSpPr/>
            <p:nvPr/>
          </p:nvSpPr>
          <p:spPr>
            <a:xfrm>
              <a:off x="2743200" y="35877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" name="Google Shape;2138;p56">
              <a:extLst>
                <a:ext uri="{FF2B5EF4-FFF2-40B4-BE49-F238E27FC236}">
                  <a16:creationId xmlns:a16="http://schemas.microsoft.com/office/drawing/2014/main" id="{93F2BD8D-1A71-1D56-8225-920DE7B17C46}"/>
                </a:ext>
              </a:extLst>
            </p:cNvPr>
            <p:cNvSpPr/>
            <p:nvPr/>
          </p:nvSpPr>
          <p:spPr>
            <a:xfrm>
              <a:off x="2736850" y="40703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" name="Google Shape;2139;p56">
              <a:extLst>
                <a:ext uri="{FF2B5EF4-FFF2-40B4-BE49-F238E27FC236}">
                  <a16:creationId xmlns:a16="http://schemas.microsoft.com/office/drawing/2014/main" id="{B6ABDF50-2787-8AC4-4A74-AB9FE7ECADE2}"/>
                </a:ext>
              </a:extLst>
            </p:cNvPr>
            <p:cNvCxnSpPr>
              <a:stCxn id="11" idx="6"/>
              <a:endCxn id="18" idx="2"/>
            </p:cNvCxnSpPr>
            <p:nvPr/>
          </p:nvCxnSpPr>
          <p:spPr>
            <a:xfrm>
              <a:off x="1962150" y="2270125"/>
              <a:ext cx="780900" cy="63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2" name="Google Shape;2140;p56">
              <a:extLst>
                <a:ext uri="{FF2B5EF4-FFF2-40B4-BE49-F238E27FC236}">
                  <a16:creationId xmlns:a16="http://schemas.microsoft.com/office/drawing/2014/main" id="{92B36726-E644-59AA-0A5A-508A0B53F1C1}"/>
                </a:ext>
              </a:extLst>
            </p:cNvPr>
            <p:cNvCxnSpPr>
              <a:stCxn id="11" idx="6"/>
              <a:endCxn id="19" idx="2"/>
            </p:cNvCxnSpPr>
            <p:nvPr/>
          </p:nvCxnSpPr>
          <p:spPr>
            <a:xfrm>
              <a:off x="1962150" y="2270125"/>
              <a:ext cx="787500" cy="4509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3" name="Google Shape;2141;p56">
              <a:extLst>
                <a:ext uri="{FF2B5EF4-FFF2-40B4-BE49-F238E27FC236}">
                  <a16:creationId xmlns:a16="http://schemas.microsoft.com/office/drawing/2014/main" id="{E504BF13-E9F7-56E6-9647-7278917309AB}"/>
                </a:ext>
              </a:extLst>
            </p:cNvPr>
            <p:cNvCxnSpPr>
              <a:stCxn id="11" idx="6"/>
              <a:endCxn id="22" idx="2"/>
            </p:cNvCxnSpPr>
            <p:nvPr/>
          </p:nvCxnSpPr>
          <p:spPr>
            <a:xfrm>
              <a:off x="1962150" y="2270125"/>
              <a:ext cx="787500" cy="9336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" name="Google Shape;2142;p56">
              <a:extLst>
                <a:ext uri="{FF2B5EF4-FFF2-40B4-BE49-F238E27FC236}">
                  <a16:creationId xmlns:a16="http://schemas.microsoft.com/office/drawing/2014/main" id="{0C3383E1-ABF9-D269-FBB7-24CBCB9019C7}"/>
                </a:ext>
              </a:extLst>
            </p:cNvPr>
            <p:cNvCxnSpPr>
              <a:stCxn id="11" idx="6"/>
              <a:endCxn id="26" idx="2"/>
            </p:cNvCxnSpPr>
            <p:nvPr/>
          </p:nvCxnSpPr>
          <p:spPr>
            <a:xfrm>
              <a:off x="1962150" y="2270125"/>
              <a:ext cx="780900" cy="13908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6" name="Google Shape;2143;p56">
              <a:extLst>
                <a:ext uri="{FF2B5EF4-FFF2-40B4-BE49-F238E27FC236}">
                  <a16:creationId xmlns:a16="http://schemas.microsoft.com/office/drawing/2014/main" id="{9D719193-B689-D167-2073-694B00628048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>
              <a:off x="1962150" y="2270125"/>
              <a:ext cx="774600" cy="18732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7" name="Google Shape;2144;p56">
              <a:extLst>
                <a:ext uri="{FF2B5EF4-FFF2-40B4-BE49-F238E27FC236}">
                  <a16:creationId xmlns:a16="http://schemas.microsoft.com/office/drawing/2014/main" id="{2AD7F04A-C4D5-24B3-1AA7-CA83D3DFBF2D}"/>
                </a:ext>
              </a:extLst>
            </p:cNvPr>
            <p:cNvCxnSpPr/>
            <p:nvPr/>
          </p:nvCxnSpPr>
          <p:spPr>
            <a:xfrm>
              <a:off x="1974850" y="2714625"/>
              <a:ext cx="781050" cy="63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8" name="Google Shape;2145;p56">
              <a:extLst>
                <a:ext uri="{FF2B5EF4-FFF2-40B4-BE49-F238E27FC236}">
                  <a16:creationId xmlns:a16="http://schemas.microsoft.com/office/drawing/2014/main" id="{AA15F175-1476-1E19-392E-ADCA0B32E345}"/>
                </a:ext>
              </a:extLst>
            </p:cNvPr>
            <p:cNvCxnSpPr/>
            <p:nvPr/>
          </p:nvCxnSpPr>
          <p:spPr>
            <a:xfrm>
              <a:off x="1974850" y="2714625"/>
              <a:ext cx="787400" cy="4508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1" name="Google Shape;2146;p56">
              <a:extLst>
                <a:ext uri="{FF2B5EF4-FFF2-40B4-BE49-F238E27FC236}">
                  <a16:creationId xmlns:a16="http://schemas.microsoft.com/office/drawing/2014/main" id="{9035448D-8C0D-4903-644A-009E1534C046}"/>
                </a:ext>
              </a:extLst>
            </p:cNvPr>
            <p:cNvCxnSpPr/>
            <p:nvPr/>
          </p:nvCxnSpPr>
          <p:spPr>
            <a:xfrm>
              <a:off x="1974850" y="2714625"/>
              <a:ext cx="787400" cy="9334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2" name="Google Shape;2147;p56">
              <a:extLst>
                <a:ext uri="{FF2B5EF4-FFF2-40B4-BE49-F238E27FC236}">
                  <a16:creationId xmlns:a16="http://schemas.microsoft.com/office/drawing/2014/main" id="{1275EC40-A872-3BA5-2057-BEF62681B452}"/>
                </a:ext>
              </a:extLst>
            </p:cNvPr>
            <p:cNvCxnSpPr>
              <a:endCxn id="28" idx="2"/>
            </p:cNvCxnSpPr>
            <p:nvPr/>
          </p:nvCxnSpPr>
          <p:spPr>
            <a:xfrm>
              <a:off x="1974850" y="2714475"/>
              <a:ext cx="762000" cy="14289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3" name="Google Shape;2148;p56">
              <a:extLst>
                <a:ext uri="{FF2B5EF4-FFF2-40B4-BE49-F238E27FC236}">
                  <a16:creationId xmlns:a16="http://schemas.microsoft.com/office/drawing/2014/main" id="{949EA202-839E-21EA-0380-45BAFBA24B76}"/>
                </a:ext>
              </a:extLst>
            </p:cNvPr>
            <p:cNvCxnSpPr>
              <a:stCxn id="12" idx="6"/>
              <a:endCxn id="18" idx="2"/>
            </p:cNvCxnSpPr>
            <p:nvPr/>
          </p:nvCxnSpPr>
          <p:spPr>
            <a:xfrm rot="10800000" flipH="1">
              <a:off x="1968500" y="2276625"/>
              <a:ext cx="774600" cy="4380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4" name="Google Shape;2149;p56">
              <a:extLst>
                <a:ext uri="{FF2B5EF4-FFF2-40B4-BE49-F238E27FC236}">
                  <a16:creationId xmlns:a16="http://schemas.microsoft.com/office/drawing/2014/main" id="{C3EB30C0-69CE-5F86-DD94-7C400EA13901}"/>
                </a:ext>
              </a:extLst>
            </p:cNvPr>
            <p:cNvCxnSpPr/>
            <p:nvPr/>
          </p:nvCxnSpPr>
          <p:spPr>
            <a:xfrm>
              <a:off x="1978025" y="3197225"/>
              <a:ext cx="781050" cy="63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5" name="Google Shape;2150;p56">
              <a:extLst>
                <a:ext uri="{FF2B5EF4-FFF2-40B4-BE49-F238E27FC236}">
                  <a16:creationId xmlns:a16="http://schemas.microsoft.com/office/drawing/2014/main" id="{E9FFB5DF-13D1-053E-DCF5-0E4F02457D67}"/>
                </a:ext>
              </a:extLst>
            </p:cNvPr>
            <p:cNvCxnSpPr/>
            <p:nvPr/>
          </p:nvCxnSpPr>
          <p:spPr>
            <a:xfrm>
              <a:off x="1978025" y="3197225"/>
              <a:ext cx="787400" cy="4508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6" name="Google Shape;2151;p56">
              <a:extLst>
                <a:ext uri="{FF2B5EF4-FFF2-40B4-BE49-F238E27FC236}">
                  <a16:creationId xmlns:a16="http://schemas.microsoft.com/office/drawing/2014/main" id="{FBE9F943-83D2-C3BA-8E37-85A87012A064}"/>
                </a:ext>
              </a:extLst>
            </p:cNvPr>
            <p:cNvCxnSpPr>
              <a:endCxn id="28" idx="2"/>
            </p:cNvCxnSpPr>
            <p:nvPr/>
          </p:nvCxnSpPr>
          <p:spPr>
            <a:xfrm>
              <a:off x="1978150" y="3197175"/>
              <a:ext cx="758700" cy="9462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7" name="Google Shape;2152;p56">
              <a:extLst>
                <a:ext uri="{FF2B5EF4-FFF2-40B4-BE49-F238E27FC236}">
                  <a16:creationId xmlns:a16="http://schemas.microsoft.com/office/drawing/2014/main" id="{08AFFDDF-BC0D-8BFE-A037-B2F7DAE8B665}"/>
                </a:ext>
              </a:extLst>
            </p:cNvPr>
            <p:cNvCxnSpPr>
              <a:stCxn id="13" idx="6"/>
              <a:endCxn id="18" idx="2"/>
            </p:cNvCxnSpPr>
            <p:nvPr/>
          </p:nvCxnSpPr>
          <p:spPr>
            <a:xfrm rot="10800000" flipH="1">
              <a:off x="1968500" y="2276525"/>
              <a:ext cx="774600" cy="9207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8" name="Google Shape;2153;p56">
              <a:extLst>
                <a:ext uri="{FF2B5EF4-FFF2-40B4-BE49-F238E27FC236}">
                  <a16:creationId xmlns:a16="http://schemas.microsoft.com/office/drawing/2014/main" id="{690D2C46-7C6A-CBB2-E7D3-F874040803A4}"/>
                </a:ext>
              </a:extLst>
            </p:cNvPr>
            <p:cNvCxnSpPr/>
            <p:nvPr/>
          </p:nvCxnSpPr>
          <p:spPr>
            <a:xfrm rot="10800000" flipH="1">
              <a:off x="1971675" y="2759075"/>
              <a:ext cx="774700" cy="4381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0" name="Google Shape;2154;p56">
              <a:extLst>
                <a:ext uri="{FF2B5EF4-FFF2-40B4-BE49-F238E27FC236}">
                  <a16:creationId xmlns:a16="http://schemas.microsoft.com/office/drawing/2014/main" id="{28A3FA0C-E530-E832-8CF2-FA1DEA3B096F}"/>
                </a:ext>
              </a:extLst>
            </p:cNvPr>
            <p:cNvCxnSpPr>
              <a:endCxn id="26" idx="2"/>
            </p:cNvCxnSpPr>
            <p:nvPr/>
          </p:nvCxnSpPr>
          <p:spPr>
            <a:xfrm rot="10800000" flipH="1">
              <a:off x="1962000" y="3660775"/>
              <a:ext cx="781200" cy="285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1" name="Google Shape;2155;p56">
              <a:extLst>
                <a:ext uri="{FF2B5EF4-FFF2-40B4-BE49-F238E27FC236}">
                  <a16:creationId xmlns:a16="http://schemas.microsoft.com/office/drawing/2014/main" id="{F4C752D4-94A0-3EC3-74ED-1EDFC651590E}"/>
                </a:ext>
              </a:extLst>
            </p:cNvPr>
            <p:cNvCxnSpPr>
              <a:endCxn id="28" idx="2"/>
            </p:cNvCxnSpPr>
            <p:nvPr/>
          </p:nvCxnSpPr>
          <p:spPr>
            <a:xfrm>
              <a:off x="1962250" y="3689475"/>
              <a:ext cx="774600" cy="4539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2" name="Google Shape;2156;p56">
              <a:extLst>
                <a:ext uri="{FF2B5EF4-FFF2-40B4-BE49-F238E27FC236}">
                  <a16:creationId xmlns:a16="http://schemas.microsoft.com/office/drawing/2014/main" id="{3C181392-49F6-8FA5-C437-066D7FF0403D}"/>
                </a:ext>
              </a:extLst>
            </p:cNvPr>
            <p:cNvCxnSpPr>
              <a:endCxn id="18" idx="2"/>
            </p:cNvCxnSpPr>
            <p:nvPr/>
          </p:nvCxnSpPr>
          <p:spPr>
            <a:xfrm rot="10800000" flipH="1">
              <a:off x="1962000" y="2276475"/>
              <a:ext cx="781200" cy="14130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4" name="Google Shape;2157;p56">
              <a:extLst>
                <a:ext uri="{FF2B5EF4-FFF2-40B4-BE49-F238E27FC236}">
                  <a16:creationId xmlns:a16="http://schemas.microsoft.com/office/drawing/2014/main" id="{DED59C4A-B87B-CC93-6CE6-3BCF45987F79}"/>
                </a:ext>
              </a:extLst>
            </p:cNvPr>
            <p:cNvCxnSpPr>
              <a:endCxn id="19" idx="2"/>
            </p:cNvCxnSpPr>
            <p:nvPr/>
          </p:nvCxnSpPr>
          <p:spPr>
            <a:xfrm rot="10800000" flipH="1">
              <a:off x="1952750" y="2720975"/>
              <a:ext cx="796800" cy="9684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60" name="Google Shape;2158;p56">
              <a:extLst>
                <a:ext uri="{FF2B5EF4-FFF2-40B4-BE49-F238E27FC236}">
                  <a16:creationId xmlns:a16="http://schemas.microsoft.com/office/drawing/2014/main" id="{5E3F2708-3757-79AB-73C9-51222B2A8A8B}"/>
                </a:ext>
              </a:extLst>
            </p:cNvPr>
            <p:cNvCxnSpPr>
              <a:endCxn id="22" idx="2"/>
            </p:cNvCxnSpPr>
            <p:nvPr/>
          </p:nvCxnSpPr>
          <p:spPr>
            <a:xfrm rot="10800000" flipH="1">
              <a:off x="1955750" y="3203575"/>
              <a:ext cx="793800" cy="4857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62" name="Google Shape;2159;p56">
              <a:extLst>
                <a:ext uri="{FF2B5EF4-FFF2-40B4-BE49-F238E27FC236}">
                  <a16:creationId xmlns:a16="http://schemas.microsoft.com/office/drawing/2014/main" id="{CFFF2F1E-4CF4-3A0A-82EF-E4157D7CDCE6}"/>
                </a:ext>
              </a:extLst>
            </p:cNvPr>
            <p:cNvCxnSpPr>
              <a:endCxn id="28" idx="2"/>
            </p:cNvCxnSpPr>
            <p:nvPr/>
          </p:nvCxnSpPr>
          <p:spPr>
            <a:xfrm>
              <a:off x="1968550" y="4127475"/>
              <a:ext cx="768300" cy="159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65" name="Google Shape;2160;p56">
              <a:extLst>
                <a:ext uri="{FF2B5EF4-FFF2-40B4-BE49-F238E27FC236}">
                  <a16:creationId xmlns:a16="http://schemas.microsoft.com/office/drawing/2014/main" id="{12F7E2E7-73BC-C308-8C95-BF4C3FACF692}"/>
                </a:ext>
              </a:extLst>
            </p:cNvPr>
            <p:cNvCxnSpPr>
              <a:endCxn id="18" idx="1"/>
            </p:cNvCxnSpPr>
            <p:nvPr/>
          </p:nvCxnSpPr>
          <p:spPr>
            <a:xfrm rot="10800000" flipH="1">
              <a:off x="1968389" y="2224839"/>
              <a:ext cx="796200" cy="19026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66" name="Google Shape;2161;p56">
              <a:extLst>
                <a:ext uri="{FF2B5EF4-FFF2-40B4-BE49-F238E27FC236}">
                  <a16:creationId xmlns:a16="http://schemas.microsoft.com/office/drawing/2014/main" id="{ACC03C53-35BA-730E-2E48-3E79DAE7BDF1}"/>
                </a:ext>
              </a:extLst>
            </p:cNvPr>
            <p:cNvCxnSpPr/>
            <p:nvPr/>
          </p:nvCxnSpPr>
          <p:spPr>
            <a:xfrm rot="10800000" flipH="1">
              <a:off x="1968500" y="2766261"/>
              <a:ext cx="802439" cy="136124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71" name="Google Shape;2162;p56">
              <a:extLst>
                <a:ext uri="{FF2B5EF4-FFF2-40B4-BE49-F238E27FC236}">
                  <a16:creationId xmlns:a16="http://schemas.microsoft.com/office/drawing/2014/main" id="{CEEBD897-287E-79EA-E111-B53322D07065}"/>
                </a:ext>
              </a:extLst>
            </p:cNvPr>
            <p:cNvCxnSpPr/>
            <p:nvPr/>
          </p:nvCxnSpPr>
          <p:spPr>
            <a:xfrm rot="10800000" flipH="1">
              <a:off x="1958975" y="3159125"/>
              <a:ext cx="796925" cy="968376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72" name="Google Shape;2163;p56">
              <a:extLst>
                <a:ext uri="{FF2B5EF4-FFF2-40B4-BE49-F238E27FC236}">
                  <a16:creationId xmlns:a16="http://schemas.microsoft.com/office/drawing/2014/main" id="{51E63610-0C96-062D-D14F-2CBA5C6072FE}"/>
                </a:ext>
              </a:extLst>
            </p:cNvPr>
            <p:cNvCxnSpPr/>
            <p:nvPr/>
          </p:nvCxnSpPr>
          <p:spPr>
            <a:xfrm rot="10800000" flipH="1">
              <a:off x="1962150" y="3641725"/>
              <a:ext cx="793750" cy="485776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73" name="Google Shape;2128;p56">
            <a:extLst>
              <a:ext uri="{FF2B5EF4-FFF2-40B4-BE49-F238E27FC236}">
                <a16:creationId xmlns:a16="http://schemas.microsoft.com/office/drawing/2014/main" id="{2B4DD42C-DBF8-F928-6852-480E9C9577CB}"/>
              </a:ext>
            </a:extLst>
          </p:cNvPr>
          <p:cNvGrpSpPr/>
          <p:nvPr/>
        </p:nvGrpSpPr>
        <p:grpSpPr>
          <a:xfrm>
            <a:off x="6363414" y="1974895"/>
            <a:ext cx="762741" cy="1270236"/>
            <a:chOff x="1809750" y="2197100"/>
            <a:chExt cx="1085850" cy="2019300"/>
          </a:xfrm>
        </p:grpSpPr>
        <p:sp>
          <p:nvSpPr>
            <p:cNvPr id="75" name="Google Shape;2129;p56">
              <a:extLst>
                <a:ext uri="{FF2B5EF4-FFF2-40B4-BE49-F238E27FC236}">
                  <a16:creationId xmlns:a16="http://schemas.microsoft.com/office/drawing/2014/main" id="{AAF5A103-A252-CB50-734B-359A8E8D77A1}"/>
                </a:ext>
              </a:extLst>
            </p:cNvPr>
            <p:cNvSpPr/>
            <p:nvPr/>
          </p:nvSpPr>
          <p:spPr>
            <a:xfrm>
              <a:off x="1816100" y="21971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2130;p56">
              <a:extLst>
                <a:ext uri="{FF2B5EF4-FFF2-40B4-BE49-F238E27FC236}">
                  <a16:creationId xmlns:a16="http://schemas.microsoft.com/office/drawing/2014/main" id="{5293D175-D3D3-11CB-2770-F3524F28A8ED}"/>
                </a:ext>
              </a:extLst>
            </p:cNvPr>
            <p:cNvSpPr/>
            <p:nvPr/>
          </p:nvSpPr>
          <p:spPr>
            <a:xfrm>
              <a:off x="1822450" y="26416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2131;p56">
              <a:extLst>
                <a:ext uri="{FF2B5EF4-FFF2-40B4-BE49-F238E27FC236}">
                  <a16:creationId xmlns:a16="http://schemas.microsoft.com/office/drawing/2014/main" id="{9A295199-9CF8-F35E-360B-A7C38ECDE195}"/>
                </a:ext>
              </a:extLst>
            </p:cNvPr>
            <p:cNvSpPr/>
            <p:nvPr/>
          </p:nvSpPr>
          <p:spPr>
            <a:xfrm>
              <a:off x="1822450" y="31242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2132;p56">
              <a:extLst>
                <a:ext uri="{FF2B5EF4-FFF2-40B4-BE49-F238E27FC236}">
                  <a16:creationId xmlns:a16="http://schemas.microsoft.com/office/drawing/2014/main" id="{E5A507B1-7697-F9A2-1870-04C68C9ADE33}"/>
                </a:ext>
              </a:extLst>
            </p:cNvPr>
            <p:cNvSpPr/>
            <p:nvPr/>
          </p:nvSpPr>
          <p:spPr>
            <a:xfrm>
              <a:off x="1816100" y="35814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2133;p56">
              <a:extLst>
                <a:ext uri="{FF2B5EF4-FFF2-40B4-BE49-F238E27FC236}">
                  <a16:creationId xmlns:a16="http://schemas.microsoft.com/office/drawing/2014/main" id="{82D297B1-DE05-20D3-94E8-918879952D28}"/>
                </a:ext>
              </a:extLst>
            </p:cNvPr>
            <p:cNvSpPr/>
            <p:nvPr/>
          </p:nvSpPr>
          <p:spPr>
            <a:xfrm>
              <a:off x="1809750" y="40640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2134;p56">
              <a:extLst>
                <a:ext uri="{FF2B5EF4-FFF2-40B4-BE49-F238E27FC236}">
                  <a16:creationId xmlns:a16="http://schemas.microsoft.com/office/drawing/2014/main" id="{96DFF3D3-0B81-BB36-AE20-39ECCACC8EB1}"/>
                </a:ext>
              </a:extLst>
            </p:cNvPr>
            <p:cNvSpPr/>
            <p:nvPr/>
          </p:nvSpPr>
          <p:spPr>
            <a:xfrm>
              <a:off x="2743200" y="22034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2135;p56">
              <a:extLst>
                <a:ext uri="{FF2B5EF4-FFF2-40B4-BE49-F238E27FC236}">
                  <a16:creationId xmlns:a16="http://schemas.microsoft.com/office/drawing/2014/main" id="{9C3C38C9-0C18-E8F5-29F4-929608C614EC}"/>
                </a:ext>
              </a:extLst>
            </p:cNvPr>
            <p:cNvSpPr/>
            <p:nvPr/>
          </p:nvSpPr>
          <p:spPr>
            <a:xfrm>
              <a:off x="2749550" y="26479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" name="Google Shape;2136;p56">
              <a:extLst>
                <a:ext uri="{FF2B5EF4-FFF2-40B4-BE49-F238E27FC236}">
                  <a16:creationId xmlns:a16="http://schemas.microsoft.com/office/drawing/2014/main" id="{70B63A49-9CDB-EC2D-5D62-13DE38DE770B}"/>
                </a:ext>
              </a:extLst>
            </p:cNvPr>
            <p:cNvSpPr/>
            <p:nvPr/>
          </p:nvSpPr>
          <p:spPr>
            <a:xfrm>
              <a:off x="2749550" y="31305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" name="Google Shape;2137;p56">
              <a:extLst>
                <a:ext uri="{FF2B5EF4-FFF2-40B4-BE49-F238E27FC236}">
                  <a16:creationId xmlns:a16="http://schemas.microsoft.com/office/drawing/2014/main" id="{0897F80B-8FC7-7232-E5EE-BDCAB9E12C9B}"/>
                </a:ext>
              </a:extLst>
            </p:cNvPr>
            <p:cNvSpPr/>
            <p:nvPr/>
          </p:nvSpPr>
          <p:spPr>
            <a:xfrm>
              <a:off x="2743200" y="35877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" name="Google Shape;2138;p56">
              <a:extLst>
                <a:ext uri="{FF2B5EF4-FFF2-40B4-BE49-F238E27FC236}">
                  <a16:creationId xmlns:a16="http://schemas.microsoft.com/office/drawing/2014/main" id="{2C90EB30-3D4A-5C07-76D4-25503A2DB85B}"/>
                </a:ext>
              </a:extLst>
            </p:cNvPr>
            <p:cNvSpPr/>
            <p:nvPr/>
          </p:nvSpPr>
          <p:spPr>
            <a:xfrm>
              <a:off x="2736850" y="40703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4" name="Google Shape;2139;p56">
              <a:extLst>
                <a:ext uri="{FF2B5EF4-FFF2-40B4-BE49-F238E27FC236}">
                  <a16:creationId xmlns:a16="http://schemas.microsoft.com/office/drawing/2014/main" id="{1E8BE2A6-4E44-665A-8A35-027DA0E51EF5}"/>
                </a:ext>
              </a:extLst>
            </p:cNvPr>
            <p:cNvCxnSpPr>
              <a:stCxn id="75" idx="6"/>
              <a:endCxn id="89" idx="2"/>
            </p:cNvCxnSpPr>
            <p:nvPr/>
          </p:nvCxnSpPr>
          <p:spPr>
            <a:xfrm>
              <a:off x="1962150" y="2270125"/>
              <a:ext cx="780900" cy="63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5" name="Google Shape;2140;p56">
              <a:extLst>
                <a:ext uri="{FF2B5EF4-FFF2-40B4-BE49-F238E27FC236}">
                  <a16:creationId xmlns:a16="http://schemas.microsoft.com/office/drawing/2014/main" id="{200E1C64-E3F4-3326-5890-F549C9B83C47}"/>
                </a:ext>
              </a:extLst>
            </p:cNvPr>
            <p:cNvCxnSpPr>
              <a:stCxn id="75" idx="6"/>
              <a:endCxn id="90" idx="2"/>
            </p:cNvCxnSpPr>
            <p:nvPr/>
          </p:nvCxnSpPr>
          <p:spPr>
            <a:xfrm>
              <a:off x="1962150" y="2270125"/>
              <a:ext cx="787500" cy="4509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6" name="Google Shape;2141;p56">
              <a:extLst>
                <a:ext uri="{FF2B5EF4-FFF2-40B4-BE49-F238E27FC236}">
                  <a16:creationId xmlns:a16="http://schemas.microsoft.com/office/drawing/2014/main" id="{F0C3F10C-D5FE-742D-94A1-A2E450359434}"/>
                </a:ext>
              </a:extLst>
            </p:cNvPr>
            <p:cNvCxnSpPr>
              <a:stCxn id="75" idx="6"/>
              <a:endCxn id="91" idx="2"/>
            </p:cNvCxnSpPr>
            <p:nvPr/>
          </p:nvCxnSpPr>
          <p:spPr>
            <a:xfrm>
              <a:off x="1962150" y="2270125"/>
              <a:ext cx="787500" cy="9336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7" name="Google Shape;2142;p56">
              <a:extLst>
                <a:ext uri="{FF2B5EF4-FFF2-40B4-BE49-F238E27FC236}">
                  <a16:creationId xmlns:a16="http://schemas.microsoft.com/office/drawing/2014/main" id="{64BB1B52-100D-D861-0C0F-BD0B53BD416E}"/>
                </a:ext>
              </a:extLst>
            </p:cNvPr>
            <p:cNvCxnSpPr>
              <a:stCxn id="75" idx="6"/>
              <a:endCxn id="92" idx="2"/>
            </p:cNvCxnSpPr>
            <p:nvPr/>
          </p:nvCxnSpPr>
          <p:spPr>
            <a:xfrm>
              <a:off x="1962150" y="2270125"/>
              <a:ext cx="780900" cy="13908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8" name="Google Shape;2143;p56">
              <a:extLst>
                <a:ext uri="{FF2B5EF4-FFF2-40B4-BE49-F238E27FC236}">
                  <a16:creationId xmlns:a16="http://schemas.microsoft.com/office/drawing/2014/main" id="{5BCA3828-612E-8423-60F1-2E1BB3342599}"/>
                </a:ext>
              </a:extLst>
            </p:cNvPr>
            <p:cNvCxnSpPr>
              <a:stCxn id="75" idx="6"/>
              <a:endCxn id="93" idx="2"/>
            </p:cNvCxnSpPr>
            <p:nvPr/>
          </p:nvCxnSpPr>
          <p:spPr>
            <a:xfrm>
              <a:off x="1962150" y="2270125"/>
              <a:ext cx="774600" cy="18732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9" name="Google Shape;2144;p56">
              <a:extLst>
                <a:ext uri="{FF2B5EF4-FFF2-40B4-BE49-F238E27FC236}">
                  <a16:creationId xmlns:a16="http://schemas.microsoft.com/office/drawing/2014/main" id="{E34CC8D1-3DFE-21EA-3791-F7E19061CB5E}"/>
                </a:ext>
              </a:extLst>
            </p:cNvPr>
            <p:cNvCxnSpPr/>
            <p:nvPr/>
          </p:nvCxnSpPr>
          <p:spPr>
            <a:xfrm>
              <a:off x="1974850" y="2714625"/>
              <a:ext cx="781050" cy="63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0" name="Google Shape;2145;p56">
              <a:extLst>
                <a:ext uri="{FF2B5EF4-FFF2-40B4-BE49-F238E27FC236}">
                  <a16:creationId xmlns:a16="http://schemas.microsoft.com/office/drawing/2014/main" id="{D4FE5DB7-A601-E0EB-6DE8-175764EC68DB}"/>
                </a:ext>
              </a:extLst>
            </p:cNvPr>
            <p:cNvCxnSpPr/>
            <p:nvPr/>
          </p:nvCxnSpPr>
          <p:spPr>
            <a:xfrm>
              <a:off x="1974850" y="2714625"/>
              <a:ext cx="787400" cy="4508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1" name="Google Shape;2146;p56">
              <a:extLst>
                <a:ext uri="{FF2B5EF4-FFF2-40B4-BE49-F238E27FC236}">
                  <a16:creationId xmlns:a16="http://schemas.microsoft.com/office/drawing/2014/main" id="{62B44735-86DE-9D8B-8AE0-B59651D0ADC1}"/>
                </a:ext>
              </a:extLst>
            </p:cNvPr>
            <p:cNvCxnSpPr/>
            <p:nvPr/>
          </p:nvCxnSpPr>
          <p:spPr>
            <a:xfrm>
              <a:off x="1974850" y="2714625"/>
              <a:ext cx="787400" cy="9334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2" name="Google Shape;2147;p56">
              <a:extLst>
                <a:ext uri="{FF2B5EF4-FFF2-40B4-BE49-F238E27FC236}">
                  <a16:creationId xmlns:a16="http://schemas.microsoft.com/office/drawing/2014/main" id="{F16FF293-61E5-E6CF-4959-00CB11DAA9A6}"/>
                </a:ext>
              </a:extLst>
            </p:cNvPr>
            <p:cNvCxnSpPr>
              <a:endCxn id="93" idx="2"/>
            </p:cNvCxnSpPr>
            <p:nvPr/>
          </p:nvCxnSpPr>
          <p:spPr>
            <a:xfrm>
              <a:off x="1974850" y="2714475"/>
              <a:ext cx="762000" cy="14289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3" name="Google Shape;2148;p56">
              <a:extLst>
                <a:ext uri="{FF2B5EF4-FFF2-40B4-BE49-F238E27FC236}">
                  <a16:creationId xmlns:a16="http://schemas.microsoft.com/office/drawing/2014/main" id="{319C04DD-F94D-E95F-03AF-3A1B06035984}"/>
                </a:ext>
              </a:extLst>
            </p:cNvPr>
            <p:cNvCxnSpPr>
              <a:stCxn id="77" idx="6"/>
              <a:endCxn id="89" idx="2"/>
            </p:cNvCxnSpPr>
            <p:nvPr/>
          </p:nvCxnSpPr>
          <p:spPr>
            <a:xfrm rot="10800000" flipH="1">
              <a:off x="1968500" y="2276625"/>
              <a:ext cx="774600" cy="4380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4" name="Google Shape;2149;p56">
              <a:extLst>
                <a:ext uri="{FF2B5EF4-FFF2-40B4-BE49-F238E27FC236}">
                  <a16:creationId xmlns:a16="http://schemas.microsoft.com/office/drawing/2014/main" id="{91BEF00D-9444-6700-2155-8EEAB1BC795C}"/>
                </a:ext>
              </a:extLst>
            </p:cNvPr>
            <p:cNvCxnSpPr/>
            <p:nvPr/>
          </p:nvCxnSpPr>
          <p:spPr>
            <a:xfrm>
              <a:off x="1978025" y="3197225"/>
              <a:ext cx="781050" cy="63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5" name="Google Shape;2150;p56">
              <a:extLst>
                <a:ext uri="{FF2B5EF4-FFF2-40B4-BE49-F238E27FC236}">
                  <a16:creationId xmlns:a16="http://schemas.microsoft.com/office/drawing/2014/main" id="{AA487F8E-930B-CF6C-CA06-76428EAFAD37}"/>
                </a:ext>
              </a:extLst>
            </p:cNvPr>
            <p:cNvCxnSpPr/>
            <p:nvPr/>
          </p:nvCxnSpPr>
          <p:spPr>
            <a:xfrm>
              <a:off x="1978025" y="3197225"/>
              <a:ext cx="787400" cy="4508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6" name="Google Shape;2151;p56">
              <a:extLst>
                <a:ext uri="{FF2B5EF4-FFF2-40B4-BE49-F238E27FC236}">
                  <a16:creationId xmlns:a16="http://schemas.microsoft.com/office/drawing/2014/main" id="{3B765BB7-C4A2-1196-E708-2DED74666FF4}"/>
                </a:ext>
              </a:extLst>
            </p:cNvPr>
            <p:cNvCxnSpPr>
              <a:endCxn id="93" idx="2"/>
            </p:cNvCxnSpPr>
            <p:nvPr/>
          </p:nvCxnSpPr>
          <p:spPr>
            <a:xfrm>
              <a:off x="1978150" y="3197175"/>
              <a:ext cx="758700" cy="9462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7" name="Google Shape;2152;p56">
              <a:extLst>
                <a:ext uri="{FF2B5EF4-FFF2-40B4-BE49-F238E27FC236}">
                  <a16:creationId xmlns:a16="http://schemas.microsoft.com/office/drawing/2014/main" id="{168DFB62-FBFE-7467-F7B7-A848B83B8400}"/>
                </a:ext>
              </a:extLst>
            </p:cNvPr>
            <p:cNvCxnSpPr>
              <a:stCxn id="86" idx="6"/>
              <a:endCxn id="89" idx="2"/>
            </p:cNvCxnSpPr>
            <p:nvPr/>
          </p:nvCxnSpPr>
          <p:spPr>
            <a:xfrm rot="10800000" flipH="1">
              <a:off x="1968500" y="2276525"/>
              <a:ext cx="774600" cy="9207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8" name="Google Shape;2153;p56">
              <a:extLst>
                <a:ext uri="{FF2B5EF4-FFF2-40B4-BE49-F238E27FC236}">
                  <a16:creationId xmlns:a16="http://schemas.microsoft.com/office/drawing/2014/main" id="{02D12F16-C0BF-EF76-EE0E-ACD66E3F62E2}"/>
                </a:ext>
              </a:extLst>
            </p:cNvPr>
            <p:cNvCxnSpPr/>
            <p:nvPr/>
          </p:nvCxnSpPr>
          <p:spPr>
            <a:xfrm rot="10800000" flipH="1">
              <a:off x="1971675" y="2759075"/>
              <a:ext cx="774700" cy="4381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9" name="Google Shape;2154;p56">
              <a:extLst>
                <a:ext uri="{FF2B5EF4-FFF2-40B4-BE49-F238E27FC236}">
                  <a16:creationId xmlns:a16="http://schemas.microsoft.com/office/drawing/2014/main" id="{0E503AFE-C96E-4313-7DE0-FAEA510CFBEE}"/>
                </a:ext>
              </a:extLst>
            </p:cNvPr>
            <p:cNvCxnSpPr>
              <a:endCxn id="92" idx="2"/>
            </p:cNvCxnSpPr>
            <p:nvPr/>
          </p:nvCxnSpPr>
          <p:spPr>
            <a:xfrm rot="10800000" flipH="1">
              <a:off x="1962000" y="3660775"/>
              <a:ext cx="781200" cy="285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0" name="Google Shape;2155;p56">
              <a:extLst>
                <a:ext uri="{FF2B5EF4-FFF2-40B4-BE49-F238E27FC236}">
                  <a16:creationId xmlns:a16="http://schemas.microsoft.com/office/drawing/2014/main" id="{2BED0E89-EEA8-2E5B-7EB7-3A9930D0F199}"/>
                </a:ext>
              </a:extLst>
            </p:cNvPr>
            <p:cNvCxnSpPr>
              <a:endCxn id="93" idx="2"/>
            </p:cNvCxnSpPr>
            <p:nvPr/>
          </p:nvCxnSpPr>
          <p:spPr>
            <a:xfrm>
              <a:off x="1962250" y="3689475"/>
              <a:ext cx="774600" cy="4539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" name="Google Shape;2156;p56">
              <a:extLst>
                <a:ext uri="{FF2B5EF4-FFF2-40B4-BE49-F238E27FC236}">
                  <a16:creationId xmlns:a16="http://schemas.microsoft.com/office/drawing/2014/main" id="{D40C08FB-0634-B43E-67B8-652814AEE01B}"/>
                </a:ext>
              </a:extLst>
            </p:cNvPr>
            <p:cNvCxnSpPr>
              <a:endCxn id="89" idx="2"/>
            </p:cNvCxnSpPr>
            <p:nvPr/>
          </p:nvCxnSpPr>
          <p:spPr>
            <a:xfrm rot="10800000" flipH="1">
              <a:off x="1962000" y="2276475"/>
              <a:ext cx="781200" cy="14130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2" name="Google Shape;2157;p56">
              <a:extLst>
                <a:ext uri="{FF2B5EF4-FFF2-40B4-BE49-F238E27FC236}">
                  <a16:creationId xmlns:a16="http://schemas.microsoft.com/office/drawing/2014/main" id="{003DB825-7962-DEF0-6E73-74129707DF0E}"/>
                </a:ext>
              </a:extLst>
            </p:cNvPr>
            <p:cNvCxnSpPr>
              <a:endCxn id="90" idx="2"/>
            </p:cNvCxnSpPr>
            <p:nvPr/>
          </p:nvCxnSpPr>
          <p:spPr>
            <a:xfrm rot="10800000" flipH="1">
              <a:off x="1952750" y="2720975"/>
              <a:ext cx="796800" cy="9684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3" name="Google Shape;2158;p56">
              <a:extLst>
                <a:ext uri="{FF2B5EF4-FFF2-40B4-BE49-F238E27FC236}">
                  <a16:creationId xmlns:a16="http://schemas.microsoft.com/office/drawing/2014/main" id="{988FA13C-62A5-0D81-16E7-874BE8E9E746}"/>
                </a:ext>
              </a:extLst>
            </p:cNvPr>
            <p:cNvCxnSpPr>
              <a:endCxn id="91" idx="2"/>
            </p:cNvCxnSpPr>
            <p:nvPr/>
          </p:nvCxnSpPr>
          <p:spPr>
            <a:xfrm rot="10800000" flipH="1">
              <a:off x="1955750" y="3203575"/>
              <a:ext cx="793800" cy="4857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4" name="Google Shape;2159;p56">
              <a:extLst>
                <a:ext uri="{FF2B5EF4-FFF2-40B4-BE49-F238E27FC236}">
                  <a16:creationId xmlns:a16="http://schemas.microsoft.com/office/drawing/2014/main" id="{E4582A97-F436-5E33-2789-91D66E4A70AB}"/>
                </a:ext>
              </a:extLst>
            </p:cNvPr>
            <p:cNvCxnSpPr>
              <a:endCxn id="93" idx="2"/>
            </p:cNvCxnSpPr>
            <p:nvPr/>
          </p:nvCxnSpPr>
          <p:spPr>
            <a:xfrm>
              <a:off x="1968550" y="4127475"/>
              <a:ext cx="768300" cy="159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5" name="Google Shape;2160;p56">
              <a:extLst>
                <a:ext uri="{FF2B5EF4-FFF2-40B4-BE49-F238E27FC236}">
                  <a16:creationId xmlns:a16="http://schemas.microsoft.com/office/drawing/2014/main" id="{66160D9C-FC07-9A51-21CE-694BE272E7DF}"/>
                </a:ext>
              </a:extLst>
            </p:cNvPr>
            <p:cNvCxnSpPr>
              <a:endCxn id="89" idx="1"/>
            </p:cNvCxnSpPr>
            <p:nvPr/>
          </p:nvCxnSpPr>
          <p:spPr>
            <a:xfrm rot="10800000" flipH="1">
              <a:off x="1968389" y="2224839"/>
              <a:ext cx="796200" cy="19026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6" name="Google Shape;2161;p56">
              <a:extLst>
                <a:ext uri="{FF2B5EF4-FFF2-40B4-BE49-F238E27FC236}">
                  <a16:creationId xmlns:a16="http://schemas.microsoft.com/office/drawing/2014/main" id="{819105C9-DC0B-75F7-1511-B4401E46269F}"/>
                </a:ext>
              </a:extLst>
            </p:cNvPr>
            <p:cNvCxnSpPr/>
            <p:nvPr/>
          </p:nvCxnSpPr>
          <p:spPr>
            <a:xfrm rot="10800000" flipH="1">
              <a:off x="1968500" y="2766261"/>
              <a:ext cx="802439" cy="136124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7" name="Google Shape;2162;p56">
              <a:extLst>
                <a:ext uri="{FF2B5EF4-FFF2-40B4-BE49-F238E27FC236}">
                  <a16:creationId xmlns:a16="http://schemas.microsoft.com/office/drawing/2014/main" id="{C8F02FA5-1180-EEA4-9B58-926054D49332}"/>
                </a:ext>
              </a:extLst>
            </p:cNvPr>
            <p:cNvCxnSpPr/>
            <p:nvPr/>
          </p:nvCxnSpPr>
          <p:spPr>
            <a:xfrm rot="10800000" flipH="1">
              <a:off x="1958975" y="3159125"/>
              <a:ext cx="796925" cy="968376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8" name="Google Shape;2163;p56">
              <a:extLst>
                <a:ext uri="{FF2B5EF4-FFF2-40B4-BE49-F238E27FC236}">
                  <a16:creationId xmlns:a16="http://schemas.microsoft.com/office/drawing/2014/main" id="{38999E32-143C-82DF-40C0-BCF3D1875D01}"/>
                </a:ext>
              </a:extLst>
            </p:cNvPr>
            <p:cNvCxnSpPr/>
            <p:nvPr/>
          </p:nvCxnSpPr>
          <p:spPr>
            <a:xfrm rot="10800000" flipH="1">
              <a:off x="1962150" y="3641725"/>
              <a:ext cx="793750" cy="485776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119" name="Google Shape;2128;p56">
            <a:extLst>
              <a:ext uri="{FF2B5EF4-FFF2-40B4-BE49-F238E27FC236}">
                <a16:creationId xmlns:a16="http://schemas.microsoft.com/office/drawing/2014/main" id="{920DA05E-AFB8-1F99-CA4B-3E5033D00AC6}"/>
              </a:ext>
            </a:extLst>
          </p:cNvPr>
          <p:cNvGrpSpPr/>
          <p:nvPr/>
        </p:nvGrpSpPr>
        <p:grpSpPr>
          <a:xfrm>
            <a:off x="9642546" y="1923975"/>
            <a:ext cx="762741" cy="1270236"/>
            <a:chOff x="1809750" y="2197100"/>
            <a:chExt cx="1085850" cy="2019300"/>
          </a:xfrm>
        </p:grpSpPr>
        <p:sp>
          <p:nvSpPr>
            <p:cNvPr id="120" name="Google Shape;2129;p56">
              <a:extLst>
                <a:ext uri="{FF2B5EF4-FFF2-40B4-BE49-F238E27FC236}">
                  <a16:creationId xmlns:a16="http://schemas.microsoft.com/office/drawing/2014/main" id="{87805E44-DF76-A149-9C84-C97A0DDD04CA}"/>
                </a:ext>
              </a:extLst>
            </p:cNvPr>
            <p:cNvSpPr/>
            <p:nvPr/>
          </p:nvSpPr>
          <p:spPr>
            <a:xfrm>
              <a:off x="1816100" y="21971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" name="Google Shape;2130;p56">
              <a:extLst>
                <a:ext uri="{FF2B5EF4-FFF2-40B4-BE49-F238E27FC236}">
                  <a16:creationId xmlns:a16="http://schemas.microsoft.com/office/drawing/2014/main" id="{98BE3201-E93F-F8A2-2541-3D46A871B85C}"/>
                </a:ext>
              </a:extLst>
            </p:cNvPr>
            <p:cNvSpPr/>
            <p:nvPr/>
          </p:nvSpPr>
          <p:spPr>
            <a:xfrm>
              <a:off x="1822450" y="26416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" name="Google Shape;2131;p56">
              <a:extLst>
                <a:ext uri="{FF2B5EF4-FFF2-40B4-BE49-F238E27FC236}">
                  <a16:creationId xmlns:a16="http://schemas.microsoft.com/office/drawing/2014/main" id="{7CD8B17A-0720-B3FC-0789-3CFFB0932FED}"/>
                </a:ext>
              </a:extLst>
            </p:cNvPr>
            <p:cNvSpPr/>
            <p:nvPr/>
          </p:nvSpPr>
          <p:spPr>
            <a:xfrm>
              <a:off x="1822450" y="31242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" name="Google Shape;2132;p56">
              <a:extLst>
                <a:ext uri="{FF2B5EF4-FFF2-40B4-BE49-F238E27FC236}">
                  <a16:creationId xmlns:a16="http://schemas.microsoft.com/office/drawing/2014/main" id="{30D2A17D-3E2D-557A-FFA4-427F89EE1920}"/>
                </a:ext>
              </a:extLst>
            </p:cNvPr>
            <p:cNvSpPr/>
            <p:nvPr/>
          </p:nvSpPr>
          <p:spPr>
            <a:xfrm>
              <a:off x="1816100" y="35814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" name="Google Shape;2133;p56">
              <a:extLst>
                <a:ext uri="{FF2B5EF4-FFF2-40B4-BE49-F238E27FC236}">
                  <a16:creationId xmlns:a16="http://schemas.microsoft.com/office/drawing/2014/main" id="{78A1B760-20BE-5CA0-7AD0-B09CC1942B19}"/>
                </a:ext>
              </a:extLst>
            </p:cNvPr>
            <p:cNvSpPr/>
            <p:nvPr/>
          </p:nvSpPr>
          <p:spPr>
            <a:xfrm>
              <a:off x="1809750" y="406400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" name="Google Shape;2134;p56">
              <a:extLst>
                <a:ext uri="{FF2B5EF4-FFF2-40B4-BE49-F238E27FC236}">
                  <a16:creationId xmlns:a16="http://schemas.microsoft.com/office/drawing/2014/main" id="{44602ACF-1993-B9FA-C60A-10BFE5029F62}"/>
                </a:ext>
              </a:extLst>
            </p:cNvPr>
            <p:cNvSpPr/>
            <p:nvPr/>
          </p:nvSpPr>
          <p:spPr>
            <a:xfrm>
              <a:off x="2743200" y="22034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" name="Google Shape;2135;p56">
              <a:extLst>
                <a:ext uri="{FF2B5EF4-FFF2-40B4-BE49-F238E27FC236}">
                  <a16:creationId xmlns:a16="http://schemas.microsoft.com/office/drawing/2014/main" id="{C99F9148-F8BE-4701-846D-EA60524DEA09}"/>
                </a:ext>
              </a:extLst>
            </p:cNvPr>
            <p:cNvSpPr/>
            <p:nvPr/>
          </p:nvSpPr>
          <p:spPr>
            <a:xfrm>
              <a:off x="2749550" y="26479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" name="Google Shape;2136;p56">
              <a:extLst>
                <a:ext uri="{FF2B5EF4-FFF2-40B4-BE49-F238E27FC236}">
                  <a16:creationId xmlns:a16="http://schemas.microsoft.com/office/drawing/2014/main" id="{EED39C44-8EED-D7A4-837C-C5477F8C5FAF}"/>
                </a:ext>
              </a:extLst>
            </p:cNvPr>
            <p:cNvSpPr/>
            <p:nvPr/>
          </p:nvSpPr>
          <p:spPr>
            <a:xfrm>
              <a:off x="2749550" y="31305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" name="Google Shape;2137;p56">
              <a:extLst>
                <a:ext uri="{FF2B5EF4-FFF2-40B4-BE49-F238E27FC236}">
                  <a16:creationId xmlns:a16="http://schemas.microsoft.com/office/drawing/2014/main" id="{C312A32B-C833-A51D-2259-A4EA55273A7B}"/>
                </a:ext>
              </a:extLst>
            </p:cNvPr>
            <p:cNvSpPr/>
            <p:nvPr/>
          </p:nvSpPr>
          <p:spPr>
            <a:xfrm>
              <a:off x="2743200" y="35877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" name="Google Shape;2138;p56">
              <a:extLst>
                <a:ext uri="{FF2B5EF4-FFF2-40B4-BE49-F238E27FC236}">
                  <a16:creationId xmlns:a16="http://schemas.microsoft.com/office/drawing/2014/main" id="{41760374-3F2E-3AD2-D300-51BF318C1756}"/>
                </a:ext>
              </a:extLst>
            </p:cNvPr>
            <p:cNvSpPr/>
            <p:nvPr/>
          </p:nvSpPr>
          <p:spPr>
            <a:xfrm>
              <a:off x="2736850" y="4070350"/>
              <a:ext cx="146050" cy="146050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0" name="Google Shape;2139;p56">
              <a:extLst>
                <a:ext uri="{FF2B5EF4-FFF2-40B4-BE49-F238E27FC236}">
                  <a16:creationId xmlns:a16="http://schemas.microsoft.com/office/drawing/2014/main" id="{F5A38BD3-64CE-4BB8-284C-7764E9EDC836}"/>
                </a:ext>
              </a:extLst>
            </p:cNvPr>
            <p:cNvCxnSpPr>
              <a:stCxn id="120" idx="6"/>
              <a:endCxn id="125" idx="2"/>
            </p:cNvCxnSpPr>
            <p:nvPr/>
          </p:nvCxnSpPr>
          <p:spPr>
            <a:xfrm>
              <a:off x="1962150" y="2270125"/>
              <a:ext cx="780900" cy="63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31" name="Google Shape;2140;p56">
              <a:extLst>
                <a:ext uri="{FF2B5EF4-FFF2-40B4-BE49-F238E27FC236}">
                  <a16:creationId xmlns:a16="http://schemas.microsoft.com/office/drawing/2014/main" id="{D4969412-C765-091F-9909-FBEFFD47AF02}"/>
                </a:ext>
              </a:extLst>
            </p:cNvPr>
            <p:cNvCxnSpPr>
              <a:stCxn id="120" idx="6"/>
              <a:endCxn id="126" idx="2"/>
            </p:cNvCxnSpPr>
            <p:nvPr/>
          </p:nvCxnSpPr>
          <p:spPr>
            <a:xfrm>
              <a:off x="1962150" y="2270125"/>
              <a:ext cx="787500" cy="4509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32" name="Google Shape;2141;p56">
              <a:extLst>
                <a:ext uri="{FF2B5EF4-FFF2-40B4-BE49-F238E27FC236}">
                  <a16:creationId xmlns:a16="http://schemas.microsoft.com/office/drawing/2014/main" id="{149F2C68-6AAD-3A1F-1D3F-9B453644B6C5}"/>
                </a:ext>
              </a:extLst>
            </p:cNvPr>
            <p:cNvCxnSpPr>
              <a:stCxn id="120" idx="6"/>
              <a:endCxn id="127" idx="2"/>
            </p:cNvCxnSpPr>
            <p:nvPr/>
          </p:nvCxnSpPr>
          <p:spPr>
            <a:xfrm>
              <a:off x="1962150" y="2270125"/>
              <a:ext cx="787500" cy="9336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33" name="Google Shape;2142;p56">
              <a:extLst>
                <a:ext uri="{FF2B5EF4-FFF2-40B4-BE49-F238E27FC236}">
                  <a16:creationId xmlns:a16="http://schemas.microsoft.com/office/drawing/2014/main" id="{59C9006B-D5FB-D8BC-15CB-66489BF70994}"/>
                </a:ext>
              </a:extLst>
            </p:cNvPr>
            <p:cNvCxnSpPr>
              <a:stCxn id="120" idx="6"/>
              <a:endCxn id="128" idx="2"/>
            </p:cNvCxnSpPr>
            <p:nvPr/>
          </p:nvCxnSpPr>
          <p:spPr>
            <a:xfrm>
              <a:off x="1962150" y="2270125"/>
              <a:ext cx="780900" cy="13908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34" name="Google Shape;2143;p56">
              <a:extLst>
                <a:ext uri="{FF2B5EF4-FFF2-40B4-BE49-F238E27FC236}">
                  <a16:creationId xmlns:a16="http://schemas.microsoft.com/office/drawing/2014/main" id="{4DC0631A-5B23-0595-94E0-465E173E3097}"/>
                </a:ext>
              </a:extLst>
            </p:cNvPr>
            <p:cNvCxnSpPr>
              <a:stCxn id="120" idx="6"/>
              <a:endCxn id="129" idx="2"/>
            </p:cNvCxnSpPr>
            <p:nvPr/>
          </p:nvCxnSpPr>
          <p:spPr>
            <a:xfrm>
              <a:off x="1962150" y="2270125"/>
              <a:ext cx="774600" cy="18732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35" name="Google Shape;2144;p56">
              <a:extLst>
                <a:ext uri="{FF2B5EF4-FFF2-40B4-BE49-F238E27FC236}">
                  <a16:creationId xmlns:a16="http://schemas.microsoft.com/office/drawing/2014/main" id="{72F46470-38AC-1A3D-1B14-4B982CC1D5B0}"/>
                </a:ext>
              </a:extLst>
            </p:cNvPr>
            <p:cNvCxnSpPr/>
            <p:nvPr/>
          </p:nvCxnSpPr>
          <p:spPr>
            <a:xfrm>
              <a:off x="1974850" y="2714625"/>
              <a:ext cx="781050" cy="63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36" name="Google Shape;2145;p56">
              <a:extLst>
                <a:ext uri="{FF2B5EF4-FFF2-40B4-BE49-F238E27FC236}">
                  <a16:creationId xmlns:a16="http://schemas.microsoft.com/office/drawing/2014/main" id="{FBBA635C-7713-D6E3-733A-6D71F36FB168}"/>
                </a:ext>
              </a:extLst>
            </p:cNvPr>
            <p:cNvCxnSpPr/>
            <p:nvPr/>
          </p:nvCxnSpPr>
          <p:spPr>
            <a:xfrm>
              <a:off x="1974850" y="2714625"/>
              <a:ext cx="787400" cy="4508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37" name="Google Shape;2146;p56">
              <a:extLst>
                <a:ext uri="{FF2B5EF4-FFF2-40B4-BE49-F238E27FC236}">
                  <a16:creationId xmlns:a16="http://schemas.microsoft.com/office/drawing/2014/main" id="{2DA1F6A3-0F20-58B4-B04C-E55CC234EB5C}"/>
                </a:ext>
              </a:extLst>
            </p:cNvPr>
            <p:cNvCxnSpPr/>
            <p:nvPr/>
          </p:nvCxnSpPr>
          <p:spPr>
            <a:xfrm>
              <a:off x="1974850" y="2714625"/>
              <a:ext cx="787400" cy="9334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38" name="Google Shape;2147;p56">
              <a:extLst>
                <a:ext uri="{FF2B5EF4-FFF2-40B4-BE49-F238E27FC236}">
                  <a16:creationId xmlns:a16="http://schemas.microsoft.com/office/drawing/2014/main" id="{7F1AC134-6F3D-2925-114A-43A7F31B85E6}"/>
                </a:ext>
              </a:extLst>
            </p:cNvPr>
            <p:cNvCxnSpPr>
              <a:endCxn id="129" idx="2"/>
            </p:cNvCxnSpPr>
            <p:nvPr/>
          </p:nvCxnSpPr>
          <p:spPr>
            <a:xfrm>
              <a:off x="1974850" y="2714475"/>
              <a:ext cx="762000" cy="14289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39" name="Google Shape;2148;p56">
              <a:extLst>
                <a:ext uri="{FF2B5EF4-FFF2-40B4-BE49-F238E27FC236}">
                  <a16:creationId xmlns:a16="http://schemas.microsoft.com/office/drawing/2014/main" id="{1E174541-27E4-B6FA-16EA-38EE698CEE62}"/>
                </a:ext>
              </a:extLst>
            </p:cNvPr>
            <p:cNvCxnSpPr>
              <a:stCxn id="121" idx="6"/>
              <a:endCxn id="125" idx="2"/>
            </p:cNvCxnSpPr>
            <p:nvPr/>
          </p:nvCxnSpPr>
          <p:spPr>
            <a:xfrm rot="10800000" flipH="1">
              <a:off x="1968500" y="2276625"/>
              <a:ext cx="774600" cy="4380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40" name="Google Shape;2149;p56">
              <a:extLst>
                <a:ext uri="{FF2B5EF4-FFF2-40B4-BE49-F238E27FC236}">
                  <a16:creationId xmlns:a16="http://schemas.microsoft.com/office/drawing/2014/main" id="{193CE53D-A91A-2EF4-F9AA-E8DD69CFDAF1}"/>
                </a:ext>
              </a:extLst>
            </p:cNvPr>
            <p:cNvCxnSpPr/>
            <p:nvPr/>
          </p:nvCxnSpPr>
          <p:spPr>
            <a:xfrm>
              <a:off x="1978025" y="3197225"/>
              <a:ext cx="781050" cy="63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41" name="Google Shape;2150;p56">
              <a:extLst>
                <a:ext uri="{FF2B5EF4-FFF2-40B4-BE49-F238E27FC236}">
                  <a16:creationId xmlns:a16="http://schemas.microsoft.com/office/drawing/2014/main" id="{F3812DBD-ACA6-327B-4499-15F8004997DC}"/>
                </a:ext>
              </a:extLst>
            </p:cNvPr>
            <p:cNvCxnSpPr/>
            <p:nvPr/>
          </p:nvCxnSpPr>
          <p:spPr>
            <a:xfrm>
              <a:off x="1978025" y="3197225"/>
              <a:ext cx="787400" cy="4508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42" name="Google Shape;2151;p56">
              <a:extLst>
                <a:ext uri="{FF2B5EF4-FFF2-40B4-BE49-F238E27FC236}">
                  <a16:creationId xmlns:a16="http://schemas.microsoft.com/office/drawing/2014/main" id="{0B4500E9-14A8-54F2-8271-573A2A9D5898}"/>
                </a:ext>
              </a:extLst>
            </p:cNvPr>
            <p:cNvCxnSpPr>
              <a:endCxn id="129" idx="2"/>
            </p:cNvCxnSpPr>
            <p:nvPr/>
          </p:nvCxnSpPr>
          <p:spPr>
            <a:xfrm>
              <a:off x="1978150" y="3197175"/>
              <a:ext cx="758700" cy="9462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43" name="Google Shape;2152;p56">
              <a:extLst>
                <a:ext uri="{FF2B5EF4-FFF2-40B4-BE49-F238E27FC236}">
                  <a16:creationId xmlns:a16="http://schemas.microsoft.com/office/drawing/2014/main" id="{546EFF4A-8F1B-0E64-36D7-99FF47DF887D}"/>
                </a:ext>
              </a:extLst>
            </p:cNvPr>
            <p:cNvCxnSpPr>
              <a:stCxn id="122" idx="6"/>
              <a:endCxn id="125" idx="2"/>
            </p:cNvCxnSpPr>
            <p:nvPr/>
          </p:nvCxnSpPr>
          <p:spPr>
            <a:xfrm rot="10800000" flipH="1">
              <a:off x="1968500" y="2276525"/>
              <a:ext cx="774600" cy="9207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44" name="Google Shape;2153;p56">
              <a:extLst>
                <a:ext uri="{FF2B5EF4-FFF2-40B4-BE49-F238E27FC236}">
                  <a16:creationId xmlns:a16="http://schemas.microsoft.com/office/drawing/2014/main" id="{EDF3179F-4117-B29A-28EF-0EAFB3B47E36}"/>
                </a:ext>
              </a:extLst>
            </p:cNvPr>
            <p:cNvCxnSpPr/>
            <p:nvPr/>
          </p:nvCxnSpPr>
          <p:spPr>
            <a:xfrm rot="10800000" flipH="1">
              <a:off x="1971675" y="2759075"/>
              <a:ext cx="774700" cy="43815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45" name="Google Shape;2154;p56">
              <a:extLst>
                <a:ext uri="{FF2B5EF4-FFF2-40B4-BE49-F238E27FC236}">
                  <a16:creationId xmlns:a16="http://schemas.microsoft.com/office/drawing/2014/main" id="{D6299762-622B-E487-C308-6D8CE802C47C}"/>
                </a:ext>
              </a:extLst>
            </p:cNvPr>
            <p:cNvCxnSpPr>
              <a:endCxn id="128" idx="2"/>
            </p:cNvCxnSpPr>
            <p:nvPr/>
          </p:nvCxnSpPr>
          <p:spPr>
            <a:xfrm rot="10800000" flipH="1">
              <a:off x="1962000" y="3660775"/>
              <a:ext cx="781200" cy="285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46" name="Google Shape;2155;p56">
              <a:extLst>
                <a:ext uri="{FF2B5EF4-FFF2-40B4-BE49-F238E27FC236}">
                  <a16:creationId xmlns:a16="http://schemas.microsoft.com/office/drawing/2014/main" id="{A6FAA0B4-8990-8E68-5A83-9FAF2226C76B}"/>
                </a:ext>
              </a:extLst>
            </p:cNvPr>
            <p:cNvCxnSpPr>
              <a:endCxn id="129" idx="2"/>
            </p:cNvCxnSpPr>
            <p:nvPr/>
          </p:nvCxnSpPr>
          <p:spPr>
            <a:xfrm>
              <a:off x="1962250" y="3689475"/>
              <a:ext cx="774600" cy="4539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47" name="Google Shape;2156;p56">
              <a:extLst>
                <a:ext uri="{FF2B5EF4-FFF2-40B4-BE49-F238E27FC236}">
                  <a16:creationId xmlns:a16="http://schemas.microsoft.com/office/drawing/2014/main" id="{8B92959E-133F-105B-9385-38C5D8EA256A}"/>
                </a:ext>
              </a:extLst>
            </p:cNvPr>
            <p:cNvCxnSpPr>
              <a:endCxn id="125" idx="2"/>
            </p:cNvCxnSpPr>
            <p:nvPr/>
          </p:nvCxnSpPr>
          <p:spPr>
            <a:xfrm rot="10800000" flipH="1">
              <a:off x="1962000" y="2276475"/>
              <a:ext cx="781200" cy="14130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48" name="Google Shape;2157;p56">
              <a:extLst>
                <a:ext uri="{FF2B5EF4-FFF2-40B4-BE49-F238E27FC236}">
                  <a16:creationId xmlns:a16="http://schemas.microsoft.com/office/drawing/2014/main" id="{54E6DF5B-D477-1381-4450-05A8F3887047}"/>
                </a:ext>
              </a:extLst>
            </p:cNvPr>
            <p:cNvCxnSpPr>
              <a:endCxn id="126" idx="2"/>
            </p:cNvCxnSpPr>
            <p:nvPr/>
          </p:nvCxnSpPr>
          <p:spPr>
            <a:xfrm rot="10800000" flipH="1">
              <a:off x="1952750" y="2720975"/>
              <a:ext cx="796800" cy="9684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49" name="Google Shape;2158;p56">
              <a:extLst>
                <a:ext uri="{FF2B5EF4-FFF2-40B4-BE49-F238E27FC236}">
                  <a16:creationId xmlns:a16="http://schemas.microsoft.com/office/drawing/2014/main" id="{38F8D71F-9896-128C-78E4-F68D0B002547}"/>
                </a:ext>
              </a:extLst>
            </p:cNvPr>
            <p:cNvCxnSpPr>
              <a:endCxn id="127" idx="2"/>
            </p:cNvCxnSpPr>
            <p:nvPr/>
          </p:nvCxnSpPr>
          <p:spPr>
            <a:xfrm rot="10800000" flipH="1">
              <a:off x="1955750" y="3203575"/>
              <a:ext cx="793800" cy="4857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50" name="Google Shape;2159;p56">
              <a:extLst>
                <a:ext uri="{FF2B5EF4-FFF2-40B4-BE49-F238E27FC236}">
                  <a16:creationId xmlns:a16="http://schemas.microsoft.com/office/drawing/2014/main" id="{06032144-1598-5DB9-D144-871569C0C6C7}"/>
                </a:ext>
              </a:extLst>
            </p:cNvPr>
            <p:cNvCxnSpPr>
              <a:endCxn id="129" idx="2"/>
            </p:cNvCxnSpPr>
            <p:nvPr/>
          </p:nvCxnSpPr>
          <p:spPr>
            <a:xfrm>
              <a:off x="1968550" y="4127475"/>
              <a:ext cx="768300" cy="159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51" name="Google Shape;2160;p56">
              <a:extLst>
                <a:ext uri="{FF2B5EF4-FFF2-40B4-BE49-F238E27FC236}">
                  <a16:creationId xmlns:a16="http://schemas.microsoft.com/office/drawing/2014/main" id="{38A508D9-4395-FDF4-3BD1-28FE7B471A27}"/>
                </a:ext>
              </a:extLst>
            </p:cNvPr>
            <p:cNvCxnSpPr>
              <a:endCxn id="125" idx="1"/>
            </p:cNvCxnSpPr>
            <p:nvPr/>
          </p:nvCxnSpPr>
          <p:spPr>
            <a:xfrm rot="10800000" flipH="1">
              <a:off x="1968389" y="2224839"/>
              <a:ext cx="796200" cy="190260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52" name="Google Shape;2161;p56">
              <a:extLst>
                <a:ext uri="{FF2B5EF4-FFF2-40B4-BE49-F238E27FC236}">
                  <a16:creationId xmlns:a16="http://schemas.microsoft.com/office/drawing/2014/main" id="{6C09200C-6626-900C-DAD4-0A86C8D6FF03}"/>
                </a:ext>
              </a:extLst>
            </p:cNvPr>
            <p:cNvCxnSpPr/>
            <p:nvPr/>
          </p:nvCxnSpPr>
          <p:spPr>
            <a:xfrm rot="10800000" flipH="1">
              <a:off x="1968500" y="2766261"/>
              <a:ext cx="802439" cy="1361240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53" name="Google Shape;2162;p56">
              <a:extLst>
                <a:ext uri="{FF2B5EF4-FFF2-40B4-BE49-F238E27FC236}">
                  <a16:creationId xmlns:a16="http://schemas.microsoft.com/office/drawing/2014/main" id="{A3E6D731-810C-5438-7BD6-EBD07BEDBC35}"/>
                </a:ext>
              </a:extLst>
            </p:cNvPr>
            <p:cNvCxnSpPr/>
            <p:nvPr/>
          </p:nvCxnSpPr>
          <p:spPr>
            <a:xfrm rot="10800000" flipH="1">
              <a:off x="1958975" y="3159125"/>
              <a:ext cx="796925" cy="968376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54" name="Google Shape;2163;p56">
              <a:extLst>
                <a:ext uri="{FF2B5EF4-FFF2-40B4-BE49-F238E27FC236}">
                  <a16:creationId xmlns:a16="http://schemas.microsoft.com/office/drawing/2014/main" id="{9DED40B0-FEA9-43B7-AE77-AFF62D9B5E3E}"/>
                </a:ext>
              </a:extLst>
            </p:cNvPr>
            <p:cNvCxnSpPr/>
            <p:nvPr/>
          </p:nvCxnSpPr>
          <p:spPr>
            <a:xfrm rot="10800000" flipH="1">
              <a:off x="1962150" y="3641725"/>
              <a:ext cx="793750" cy="485776"/>
            </a:xfrm>
            <a:prstGeom prst="straightConnector1">
              <a:avLst/>
            </a:prstGeom>
            <a:noFill/>
            <a:ln w="12700" cap="flat" cmpd="sng">
              <a:solidFill>
                <a:srgbClr val="0033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67028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61" grpId="0"/>
      <p:bldP spid="74" grpId="0"/>
      <p:bldP spid="76" grpId="0"/>
      <p:bldP spid="78" grpId="0"/>
      <p:bldP spid="79" grpId="0"/>
      <p:bldP spid="85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B9407-C7D2-B1FE-F9DF-7127FB71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F18DB-3D6B-2B8F-9C56-06DF5D0F9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107104"/>
            <a:ext cx="10827432" cy="4401600"/>
          </a:xfrm>
        </p:spPr>
        <p:txBody>
          <a:bodyPr/>
          <a:lstStyle/>
          <a:p>
            <a:r>
              <a:rPr lang="en-US" sz="2400" dirty="0"/>
              <a:t>The policy (deterministic nonlinear program)</a:t>
            </a:r>
          </a:p>
          <a:p>
            <a:pPr lvl="1"/>
            <a:endParaRPr lang="en-US" sz="20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r>
              <a:rPr lang="en-US" sz="2400" dirty="0"/>
              <a:t>The objective function (evaluated using simulation)</a:t>
            </a:r>
          </a:p>
          <a:p>
            <a:endParaRPr lang="en-US" sz="2400" dirty="0"/>
          </a:p>
          <a:p>
            <a:pPr marL="86360" indent="0">
              <a:buNone/>
            </a:pPr>
            <a:endParaRPr lang="en-US" sz="2400" dirty="0"/>
          </a:p>
          <a:p>
            <a:r>
              <a:rPr lang="en-US" sz="2400" dirty="0"/>
              <a:t>Stochastic optimization problem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Stochastic gradient algorithm </a:t>
            </a:r>
          </a:p>
          <a:p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1D62D7-63DB-258B-A4B4-D85629F78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approximations: Continuous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E2867894-6706-C679-C875-1505584FBF39}"/>
                  </a:ext>
                </a:extLst>
              </p:cNvPr>
              <p:cNvSpPr txBox="1"/>
              <p:nvPr/>
            </p:nvSpPr>
            <p:spPr bwMode="auto">
              <a:xfrm>
                <a:off x="861773" y="3132974"/>
                <a:ext cx="11330227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b/>
                        </m:sSub>
                      </m:e>
                    </m:nary>
                  </m:oMath>
                </a14:m>
                <a:r>
                  <a:rPr lang="en-US" sz="2000" dirty="0"/>
                  <a:t>  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b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7420A7F0-2CF0-58D9-8BB7-B6CFF631B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1773" y="3132974"/>
                <a:ext cx="11330227" cy="801687"/>
              </a:xfrm>
              <a:prstGeom prst="rect">
                <a:avLst/>
              </a:prstGeom>
              <a:blipFill>
                <a:blip r:embed="rId3"/>
                <a:stretch>
                  <a:fillRect t="-60305" b="-435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4FB915-13BA-242F-B54C-497E65D27C70}"/>
                  </a:ext>
                </a:extLst>
              </p:cNvPr>
              <p:cNvSpPr txBox="1"/>
              <p:nvPr/>
            </p:nvSpPr>
            <p:spPr>
              <a:xfrm>
                <a:off x="1693889" y="5771690"/>
                <a:ext cx="43327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A64DC6-67BF-CB09-38F9-E0A9819D9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889" y="5771690"/>
                <a:ext cx="4332725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BBD91F90-E0A3-5C43-6D69-D8A8B7C77DA1}"/>
                  </a:ext>
                </a:extLst>
              </p:cNvPr>
              <p:cNvSpPr txBox="1"/>
              <p:nvPr/>
            </p:nvSpPr>
            <p:spPr bwMode="auto">
              <a:xfrm>
                <a:off x="1014173" y="4555009"/>
                <a:ext cx="3742023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=(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7102D800-2BB8-B211-3D50-B2AC63FBC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4173" y="4555009"/>
                <a:ext cx="3742023" cy="8016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rapezoid 8">
            <a:extLst>
              <a:ext uri="{FF2B5EF4-FFF2-40B4-BE49-F238E27FC236}">
                <a16:creationId xmlns:a16="http://schemas.microsoft.com/office/drawing/2014/main" id="{731BE81F-E2A8-F021-79AF-0C3A7EB68BF4}"/>
              </a:ext>
            </a:extLst>
          </p:cNvPr>
          <p:cNvSpPr/>
          <p:nvPr/>
        </p:nvSpPr>
        <p:spPr>
          <a:xfrm>
            <a:off x="0" y="2598612"/>
            <a:ext cx="12199632" cy="1197135"/>
          </a:xfrm>
          <a:prstGeom prst="trapezoid">
            <a:avLst>
              <a:gd name="adj" fmla="val 0"/>
            </a:avLst>
          </a:prstGeom>
          <a:solidFill>
            <a:srgbClr val="8585E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FA062F0E-929F-136D-689D-5CE2DEAD9CDD}"/>
              </a:ext>
            </a:extLst>
          </p:cNvPr>
          <p:cNvSpPr/>
          <p:nvPr/>
        </p:nvSpPr>
        <p:spPr>
          <a:xfrm>
            <a:off x="0" y="1139826"/>
            <a:ext cx="12192000" cy="1458197"/>
          </a:xfrm>
          <a:prstGeom prst="trapezoid">
            <a:avLst>
              <a:gd name="adj" fmla="val 0"/>
            </a:avLst>
          </a:prstGeom>
          <a:solidFill>
            <a:schemeClr val="accent2">
              <a:lumMod val="60000"/>
              <a:lumOff val="40000"/>
              <a:alpha val="2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720A9E7E-0E36-D67B-7013-46E40D8BEE56}"/>
              </a:ext>
            </a:extLst>
          </p:cNvPr>
          <p:cNvSpPr/>
          <p:nvPr/>
        </p:nvSpPr>
        <p:spPr>
          <a:xfrm>
            <a:off x="-1881" y="3809028"/>
            <a:ext cx="12199632" cy="1366093"/>
          </a:xfrm>
          <a:prstGeom prst="trapezoid">
            <a:avLst>
              <a:gd name="adj" fmla="val 0"/>
            </a:avLst>
          </a:prstGeom>
          <a:solidFill>
            <a:srgbClr val="8585E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06895774-F895-1917-E150-D715254BA308}"/>
              </a:ext>
            </a:extLst>
          </p:cNvPr>
          <p:cNvSpPr/>
          <p:nvPr/>
        </p:nvSpPr>
        <p:spPr>
          <a:xfrm>
            <a:off x="-7632" y="5187959"/>
            <a:ext cx="12199632" cy="1316191"/>
          </a:xfrm>
          <a:prstGeom prst="trapezoid">
            <a:avLst>
              <a:gd name="adj" fmla="val 0"/>
            </a:avLst>
          </a:prstGeom>
          <a:solidFill>
            <a:srgbClr val="5C5CD6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05DA2A-3F71-D55E-82A2-93BCEFD45B07}"/>
                  </a:ext>
                </a:extLst>
              </p:cNvPr>
              <p:cNvSpPr txBox="1"/>
              <p:nvPr/>
            </p:nvSpPr>
            <p:spPr>
              <a:xfrm>
                <a:off x="1269686" y="1559455"/>
                <a:ext cx="9985362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𝑡𝑟𝑎𝑛𝑠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𝑡𝑖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05DA2A-3F71-D55E-82A2-93BCEFD45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686" y="1559455"/>
                <a:ext cx="9985362" cy="9840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84DD5D0-67EF-95DB-989D-D83BDADAE74B}"/>
              </a:ext>
            </a:extLst>
          </p:cNvPr>
          <p:cNvGrpSpPr/>
          <p:nvPr/>
        </p:nvGrpSpPr>
        <p:grpSpPr>
          <a:xfrm>
            <a:off x="2055044" y="3162919"/>
            <a:ext cx="9358835" cy="1184247"/>
            <a:chOff x="2055044" y="3162919"/>
            <a:chExt cx="9358835" cy="118424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91008C2-71F0-4633-0EAA-2C17D07CB98A}"/>
                </a:ext>
              </a:extLst>
            </p:cNvPr>
            <p:cNvGrpSpPr/>
            <p:nvPr/>
          </p:nvGrpSpPr>
          <p:grpSpPr>
            <a:xfrm>
              <a:off x="2055044" y="3172745"/>
              <a:ext cx="7009553" cy="1174421"/>
              <a:chOff x="1363916" y="5041431"/>
              <a:chExt cx="7009553" cy="1174421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C4BE2D9-7076-98B8-4476-25FCE9E567CE}"/>
                  </a:ext>
                </a:extLst>
              </p:cNvPr>
              <p:cNvSpPr/>
              <p:nvPr/>
            </p:nvSpPr>
            <p:spPr>
              <a:xfrm>
                <a:off x="1363916" y="5041431"/>
                <a:ext cx="388480" cy="388480"/>
              </a:xfrm>
              <a:prstGeom prst="ellipse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8DB2C6BF-B42D-F7DE-D883-9F321C0BE909}"/>
                  </a:ext>
                </a:extLst>
              </p:cNvPr>
              <p:cNvCxnSpPr>
                <a:cxnSpLocks/>
                <a:stCxn id="4" idx="6"/>
                <a:endCxn id="16" idx="1"/>
              </p:cNvCxnSpPr>
              <p:nvPr/>
            </p:nvCxnSpPr>
            <p:spPr>
              <a:xfrm>
                <a:off x="1752396" y="5235671"/>
                <a:ext cx="4990498" cy="810904"/>
              </a:xfrm>
              <a:prstGeom prst="straightConnector1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337DFC-4782-4991-EBAE-48C082E322CC}"/>
                  </a:ext>
                </a:extLst>
              </p:cNvPr>
              <p:cNvSpPr txBox="1"/>
              <p:nvPr/>
            </p:nvSpPr>
            <p:spPr>
              <a:xfrm>
                <a:off x="6742894" y="5877298"/>
                <a:ext cx="1630575" cy="338554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Historical prices</a:t>
                </a:r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8932EEB-DAB0-233E-B419-A4D49E664C92}"/>
                </a:ext>
              </a:extLst>
            </p:cNvPr>
            <p:cNvSpPr/>
            <p:nvPr/>
          </p:nvSpPr>
          <p:spPr>
            <a:xfrm>
              <a:off x="10388813" y="3162919"/>
              <a:ext cx="1025066" cy="38848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31788B5-E21E-425D-7308-29C16AFC6AD6}"/>
                </a:ext>
              </a:extLst>
            </p:cNvPr>
            <p:cNvCxnSpPr>
              <a:cxnSpLocks/>
              <a:stCxn id="23" idx="4"/>
              <a:endCxn id="16" idx="3"/>
            </p:cNvCxnSpPr>
            <p:nvPr/>
          </p:nvCxnSpPr>
          <p:spPr>
            <a:xfrm flipH="1">
              <a:off x="9064597" y="3551399"/>
              <a:ext cx="1836749" cy="626490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85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5B4FC-BF94-BEF3-4462-EB33385B4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C6F850A-318E-A22A-4904-D5E51BBFC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2E44ED-8B2F-4658-B068-0509F35C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04116-8CC2-9F23-7FA3-24AF70D06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2C4C10-EDE4-78E2-6E8E-28B2F3740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15887-A421-9E6C-22A7-3C027DE17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C963F00-DE4D-6F25-9387-906FF6AB0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C075B5-7613-9A2A-CA6C-D9FF4D83DC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C3CC31-A750-FFDB-9B4E-615A2A3B68D4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cost function approximations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Cost function approximations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4812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34814D3-F114-412D-2BBB-48C856DA8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29E6CF1-0491-9953-4BC8-73F21D1EF03C}"/>
              </a:ext>
            </a:extLst>
          </p:cNvPr>
          <p:cNvGrpSpPr/>
          <p:nvPr/>
        </p:nvGrpSpPr>
        <p:grpSpPr>
          <a:xfrm>
            <a:off x="-57955" y="-51515"/>
            <a:ext cx="12249955" cy="6909515"/>
            <a:chOff x="8614" y="0"/>
            <a:chExt cx="12150322" cy="6858000"/>
          </a:xfrm>
        </p:grpSpPr>
        <p:pic>
          <p:nvPicPr>
            <p:cNvPr id="7" name="Picture 6" descr="Shape&#10;&#10;Description automatically generated">
              <a:extLst>
                <a:ext uri="{FF2B5EF4-FFF2-40B4-BE49-F238E27FC236}">
                  <a16:creationId xmlns:a16="http://schemas.microsoft.com/office/drawing/2014/main" id="{3E56020A-9543-3A9B-7619-EB01790A4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4" y="0"/>
              <a:ext cx="12150322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7E6D8DC-AA6C-8740-2E9E-B96A98BE1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0487" y="677453"/>
              <a:ext cx="2527430" cy="1130358"/>
            </a:xfrm>
            <a:prstGeom prst="rect">
              <a:avLst/>
            </a:prstGeom>
          </p:spPr>
        </p:pic>
      </p:grpSp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65503477-3E43-B2CA-EA30-3823741EE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57406035-E815-C1AA-D6BD-60F60DAF1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725240"/>
            <a:ext cx="10856871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3) VFA I – Introduction to Dynamic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1800" dirty="0">
                <a:solidFill>
                  <a:schemeClr val="bg1"/>
                </a:solidFill>
              </a:rPr>
              <a:t>Exact dynamic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1800" dirty="0">
                <a:solidFill>
                  <a:schemeClr val="bg1"/>
                </a:solidFill>
              </a:rPr>
              <a:t>Backward MDP and the curses of dimensionality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 – VFA-based policies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1800" dirty="0">
                <a:solidFill>
                  <a:schemeClr val="bg1"/>
                </a:solidFill>
              </a:rPr>
              <a:t>Value iteration</a:t>
            </a:r>
          </a:p>
          <a:p>
            <a:pPr marL="1257300" lvl="2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nomadic trucker</a:t>
            </a:r>
          </a:p>
          <a:p>
            <a:pPr marL="1257300" lvl="2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exploration vs. exploitation problem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1800" dirty="0">
                <a:solidFill>
                  <a:schemeClr val="bg1"/>
                </a:solidFill>
              </a:rPr>
              <a:t>Backward ADP</a:t>
            </a:r>
          </a:p>
          <a:p>
            <a:pPr marL="1257300" lvl="2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Basic steps</a:t>
            </a:r>
          </a:p>
          <a:p>
            <a:pPr marL="1257300" lvl="2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African resource allocation demonstration</a:t>
            </a:r>
            <a:endParaRPr lang="en-US" sz="2000" dirty="0">
              <a:solidFill>
                <a:schemeClr val="bg1"/>
              </a:solidFill>
            </a:endParaRPr>
          </a:p>
          <a:p>
            <a:pPr marL="342900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III - “Reinforcement learning” in the style of computer science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1600" dirty="0">
                <a:solidFill>
                  <a:schemeClr val="bg1"/>
                </a:solidFill>
              </a:rPr>
              <a:t>Temporal-difference learning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1600" dirty="0">
                <a:solidFill>
                  <a:schemeClr val="bg1"/>
                </a:solidFill>
              </a:rPr>
              <a:t>Q-learning/SARSA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1600" dirty="0">
                <a:solidFill>
                  <a:schemeClr val="bg1"/>
                </a:solidFill>
              </a:rPr>
              <a:t>The deadly triad</a:t>
            </a:r>
          </a:p>
          <a:p>
            <a:pPr marL="342900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200" dirty="0">
                <a:solidFill>
                  <a:schemeClr val="bg1"/>
                </a:solidFill>
              </a:rPr>
              <a:t>VFA IV - Forward ADP and linear VFAs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V - Applications of ADP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1600" dirty="0">
                <a:solidFill>
                  <a:schemeClr val="bg1"/>
                </a:solidFill>
              </a:rPr>
              <a:t>Truckload fleet management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1600" dirty="0">
                <a:solidFill>
                  <a:schemeClr val="bg1"/>
                </a:solidFill>
              </a:rPr>
              <a:t>A financial application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DB2E84-EBD5-D04A-7B8F-1948C7E3EF87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610277252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67f89-7d7d-48be-9399-9713d9f75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6" ma:contentTypeDescription="Create a new document." ma:contentTypeScope="" ma:versionID="6a273f09d10aeeee6a70496a6e8b3e1f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55a4f175a1c67e7eff53bb36c6c03921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a67f89-7d7d-48be-9399-9713d9f7587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65DD70-CE85-45EB-8875-37DB516A6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469097</TotalTime>
  <Words>17887</Words>
  <Application>Microsoft Office PowerPoint</Application>
  <PresentationFormat>Widescreen</PresentationFormat>
  <Paragraphs>4380</Paragraphs>
  <Slides>386</Slides>
  <Notes>216</Notes>
  <HiddenSlides>0</HiddenSlides>
  <MMClips>3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386</vt:i4>
      </vt:variant>
    </vt:vector>
  </HeadingPairs>
  <TitlesOfParts>
    <vt:vector size="400" baseType="lpstr">
      <vt:lpstr>Oswald Regular</vt:lpstr>
      <vt:lpstr>Cambria Math</vt:lpstr>
      <vt:lpstr>Wingdings</vt:lpstr>
      <vt:lpstr>Oswald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Clip</vt:lpstr>
      <vt:lpstr>Chart</vt:lpstr>
      <vt:lpstr>PowerPoint Presentation</vt:lpstr>
      <vt:lpstr>OUTLINE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OUTLINE</vt:lpstr>
      <vt:lpstr>Bridging Machine Learning and Sequential Decision Problems</vt:lpstr>
      <vt:lpstr>OUTLINE</vt:lpstr>
      <vt:lpstr>Policy evaluation</vt:lpstr>
      <vt:lpstr>Policy evaluation</vt:lpstr>
      <vt:lpstr>Thank you!</vt:lpstr>
      <vt:lpstr>PowerPoint Presentation</vt:lpstr>
      <vt:lpstr>OUTLINE</vt:lpstr>
      <vt:lpstr>OUTLINE</vt:lpstr>
      <vt:lpstr>Cost function approximations: Discrete choices</vt:lpstr>
      <vt:lpstr>PowerPoint Presentation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OUTLINE</vt:lpstr>
      <vt:lpstr>Cost function approximations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Thank you!</vt:lpstr>
      <vt:lpstr>OUTLINE</vt:lpstr>
      <vt:lpstr>PowerPoint Presentation</vt:lpstr>
      <vt:lpstr>OUTLINE</vt:lpstr>
      <vt:lpstr>OUTLINE</vt:lpstr>
      <vt:lpstr>OUTLINE</vt:lpstr>
      <vt:lpstr>VFA policies: Exact dynamic programming</vt:lpstr>
      <vt:lpstr>VFA policies: Exact dynamic programming</vt:lpstr>
      <vt:lpstr>PowerPoint Presentation</vt:lpstr>
      <vt:lpstr>VFA policies: Exact dynamic programming</vt:lpstr>
      <vt:lpstr>VFA policies: Exact dynamic programming</vt:lpstr>
      <vt:lpstr>VFA policies: Exact dynamic programming</vt:lpstr>
      <vt:lpstr>OUTLINE</vt:lpstr>
      <vt:lpstr>VFA policies: Backward MDP and curses of dimensionality</vt:lpstr>
      <vt:lpstr>VFA policies: Backward MDP and curses of dimensionality</vt:lpstr>
      <vt:lpstr>VFA policies: Backward MDP and curses of dimensionality</vt:lpstr>
      <vt:lpstr>VFA policies: Backward MDP and curses of dimensionality</vt:lpstr>
      <vt:lpstr>OUTLINE</vt:lpstr>
      <vt:lpstr>VFA policies: Exact dynamic programming</vt:lpstr>
      <vt:lpstr>VFA policies: Exact dynamic programming</vt:lpstr>
      <vt:lpstr>VFA policies: Exact dynamic programming</vt:lpstr>
      <vt:lpstr>VFA policies: Exact dynamic programming</vt:lpstr>
      <vt:lpstr>Thank you!</vt:lpstr>
      <vt:lpstr>PowerPoint Presentation</vt:lpstr>
      <vt:lpstr>OUTLINE</vt:lpstr>
      <vt:lpstr>OUTLINE</vt:lpstr>
      <vt:lpstr>VFA policies</vt:lpstr>
      <vt:lpstr>VFA policies</vt:lpstr>
      <vt:lpstr>VFA policies</vt:lpstr>
      <vt:lpstr>VFA policies</vt:lpstr>
      <vt:lpstr>VFA policies</vt:lpstr>
      <vt:lpstr>OUTLINE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OUTLINE</vt:lpstr>
      <vt:lpstr>Value iteration: The nomadic trucker</vt:lpstr>
      <vt:lpstr>Value iteration: Exploration vs. exploitation</vt:lpstr>
      <vt:lpstr>Value iteration: Exploration vs. exploitation</vt:lpstr>
      <vt:lpstr>Value iteration: Exploration vs. exploitation</vt:lpstr>
      <vt:lpstr>PowerPoint Presentation</vt:lpstr>
      <vt:lpstr>PowerPoint Presentation</vt:lpstr>
      <vt:lpstr>Value iteration: Exploration vs. exploitation</vt:lpstr>
      <vt:lpstr>OUTLINE</vt:lpstr>
      <vt:lpstr>Backward approximate dynamic programming</vt:lpstr>
      <vt:lpstr>Backward approximate dynamic programming</vt:lpstr>
      <vt:lpstr>Backward approximate dynamic programming</vt:lpstr>
      <vt:lpstr>Backward approximate dynamic programming</vt:lpstr>
      <vt:lpstr>Thank you!</vt:lpstr>
      <vt:lpstr>PowerPoint Presentation</vt:lpstr>
      <vt:lpstr>OUTLINE</vt:lpstr>
      <vt:lpstr>OUTLINE</vt:lpstr>
      <vt:lpstr>Reinforcement learning: TD learning</vt:lpstr>
      <vt:lpstr>Reinforcement learning: TD learning</vt:lpstr>
      <vt:lpstr>Reinforcement learning: TD learning</vt:lpstr>
      <vt:lpstr>OUTLINE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OUTLINE</vt:lpstr>
      <vt:lpstr>VFA: The deadly triad </vt:lpstr>
      <vt:lpstr>VFA: The deadly triad </vt:lpstr>
      <vt:lpstr>Thank you!</vt:lpstr>
      <vt:lpstr>PowerPoint Presentation</vt:lpstr>
      <vt:lpstr>OUTLINE</vt:lpstr>
      <vt:lpstr>OUTLINE</vt:lpstr>
      <vt:lpstr>OUTLINE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OUTLINE</vt:lpstr>
      <vt:lpstr>PowerPoint Presentation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OUTLINE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Thank you!</vt:lpstr>
      <vt:lpstr>PowerPoint Presentation</vt:lpstr>
      <vt:lpstr>OUTLINE</vt:lpstr>
      <vt:lpstr>OUTLINE</vt:lpstr>
      <vt:lpstr>OUTLINE</vt:lpstr>
      <vt:lpstr>Blood management</vt:lpstr>
      <vt:lpstr>Blood management</vt:lpstr>
      <vt:lpstr>Blood management</vt:lpstr>
      <vt:lpstr>Blood management</vt:lpstr>
      <vt:lpstr>Blood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OUTLINE</vt:lpstr>
      <vt:lpstr>Grid level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OUTLINE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OUTLINE</vt:lpstr>
      <vt:lpstr>Locomotive planning at Norfolk Southern</vt:lpstr>
      <vt:lpstr>PowerPoint Presentation</vt:lpstr>
      <vt:lpstr>PowerPoint Presentation</vt:lpstr>
      <vt:lpstr>PowerPoint Presentation</vt:lpstr>
      <vt:lpstr>PowerPoint Presentation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Thank you!</vt:lpstr>
      <vt:lpstr>OUTLINE</vt:lpstr>
      <vt:lpstr>PowerPoint Presentation</vt:lpstr>
      <vt:lpstr>OUTLINE</vt:lpstr>
      <vt:lpstr>OUTLINE</vt:lpstr>
      <vt:lpstr>OUTLINE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OUTLINE</vt:lpstr>
      <vt:lpstr>The policy-within-a-policy</vt:lpstr>
      <vt:lpstr>The policy-within-a-policy</vt:lpstr>
      <vt:lpstr>The policy-within-a-policy</vt:lpstr>
      <vt:lpstr>Thank you!</vt:lpstr>
      <vt:lpstr>PowerPoint Presentation</vt:lpstr>
      <vt:lpstr>OUTLINE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Cost function approximations: Parameterized LP</vt:lpstr>
      <vt:lpstr>Cost function approximations: Parameterized LP</vt:lpstr>
      <vt:lpstr>Thank you!</vt:lpstr>
      <vt:lpstr>PowerPoint Presentation</vt:lpstr>
      <vt:lpstr>OUTLINE</vt:lpstr>
      <vt:lpstr>OUTLINE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OUTLINE</vt:lpstr>
      <vt:lpstr>Direct lookahead policies</vt:lpstr>
      <vt:lpstr>Dynamic shortest paths</vt:lpstr>
      <vt:lpstr>Dynamic shortest paths</vt:lpstr>
      <vt:lpstr>Parameterized deterministic lookahead</vt:lpstr>
      <vt:lpstr>Dynamic shortest paths</vt:lpstr>
      <vt:lpstr>Dynamic shortest paths</vt:lpstr>
      <vt:lpstr>Dynamic shortest paths</vt:lpstr>
      <vt:lpstr>Dynamic shortest paths</vt:lpstr>
      <vt:lpstr>Designing policies</vt:lpstr>
      <vt:lpstr>Policy search</vt:lpstr>
      <vt:lpstr>OUTLINE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Thank you!</vt:lpstr>
      <vt:lpstr>PowerPoint Presentation</vt:lpstr>
      <vt:lpstr>OUTLINE</vt:lpstr>
      <vt:lpstr>OUTLINE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PowerPoint Presentation</vt:lpstr>
      <vt:lpstr>PowerPoint Presentation</vt:lpstr>
      <vt:lpstr>PowerPoint Presentation</vt:lpstr>
      <vt:lpstr>PowerPoint Presentation</vt:lpstr>
      <vt:lpstr>OUTLINE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Thank you!</vt:lpstr>
      <vt:lpstr>PowerPoint Presentation</vt:lpstr>
      <vt:lpstr>OUTLINE</vt:lpstr>
      <vt:lpstr>OUTLINE</vt:lpstr>
      <vt:lpstr>PowerPoint Presentation</vt:lpstr>
      <vt:lpstr>PowerPoint Presentation</vt:lpstr>
      <vt:lpstr>The timing of decisions</vt:lpstr>
      <vt:lpstr>The timing of decisions</vt:lpstr>
      <vt:lpstr>The timing of decisions</vt:lpstr>
      <vt:lpstr>PowerPoint Presentation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OUTLINE</vt:lpstr>
      <vt:lpstr>DLA-Stochastic search</vt:lpstr>
      <vt:lpstr>DLA-Stochastic search</vt:lpstr>
      <vt:lpstr>Thank you!</vt:lpstr>
      <vt:lpstr>PowerPoint Presentation</vt:lpstr>
      <vt:lpstr>OUTLINE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Derivative-free</vt:lpstr>
      <vt:lpstr>Policy search: Derivative-free</vt:lpstr>
      <vt:lpstr>Policy search: Derivative-free</vt:lpstr>
      <vt:lpstr>OUTLINE</vt:lpstr>
      <vt:lpstr>Policy search: Derivative-based</vt:lpstr>
      <vt:lpstr>The universal modeling framework</vt:lpstr>
      <vt:lpstr>Policy search: as a SDP</vt:lpstr>
      <vt:lpstr>OUTLINE</vt:lpstr>
      <vt:lpstr>PowerPoint Presentation</vt:lpstr>
      <vt:lpstr>PowerPoint Presentation</vt:lpstr>
      <vt:lpstr>Policy search: Derivative-free</vt:lpstr>
      <vt:lpstr>Policy search: Derivative-free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801</cp:revision>
  <cp:lastPrinted>2025-05-20T14:08:40Z</cp:lastPrinted>
  <dcterms:modified xsi:type="dcterms:W3CDTF">2026-09-06T14:28:49Z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