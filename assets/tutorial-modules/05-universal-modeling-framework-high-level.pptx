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30"/>
  </p:notesMasterIdLst>
  <p:sldIdLst>
    <p:sldId id="10744" r:id="rId127"/>
    <p:sldId id="10185" r:id="rId128"/>
    <p:sldId id="10070" r:id="rId129"/>
    <p:sldId id="10071" r:id="rId130"/>
    <p:sldId id="10166" r:id="rId131"/>
    <p:sldId id="10887" r:id="rId132"/>
    <p:sldId id="10888" r:id="rId133"/>
    <p:sldId id="10176" r:id="rId134"/>
    <p:sldId id="10685" r:id="rId135"/>
    <p:sldId id="9586" r:id="rId136"/>
    <p:sldId id="10696" r:id="rId137"/>
    <p:sldId id="10966" r:id="rId138"/>
  </p:sldIdLst>
  <p:sldSz cx="12192000" cy="6858000"/>
  <p:notesSz cx="7102475" cy="9388475"/>
  <p:embeddedFontLst>
    <p:embeddedFont>
      <p:font typeface="Cambria Math" panose="02040503050406030204" pitchFamily="18" charset="0"/>
      <p:regular r:id="rId331"/>
    </p:embeddedFont>
    <p:embeddedFont>
      <p:font typeface="Oswald" panose="00000500000000000000" pitchFamily="2" charset="0"/>
      <p:regular r:id="rId332"/>
      <p:bold r:id="rId333"/>
    </p:embeddedFont>
    <p:embeddedFont>
      <p:font typeface="Oswald Regular" panose="00000500000000000000" charset="0"/>
      <p:regular r:id="rId334"/>
      <p:bold r:id="rId335"/>
    </p:embeddedFont>
    <p:embeddedFont>
      <p:font typeface="Playfair Display" panose="00000500000000000000" pitchFamily="2" charset="0"/>
      <p:regular r:id="rId336"/>
      <p:bold r:id="rId337"/>
      <p:italic r:id="rId338"/>
      <p:boldItalic r:id="rId339"/>
    </p:embeddedFont>
    <p:embeddedFont>
      <p:font typeface="Raleway" pitchFamily="2" charset="0"/>
      <p:regular r:id="rId340"/>
      <p:bold r:id="rId341"/>
      <p:italic r:id="rId342"/>
      <p:boldItalic r:id="rId343"/>
    </p:embeddedFont>
    <p:embeddedFont>
      <p:font typeface="Raleway Thin" pitchFamily="2" charset="0"/>
      <p:regular r:id="rId344"/>
      <p:bold r:id="rId345"/>
      <p:italic r:id="rId346"/>
      <p:boldItalic r:id="rId3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Opening" id="{15E8A6E9-652B-44EF-A433-602AA2C0CF1D}">
          <p14:sldIdLst/>
        </p14:section>
        <p14:section name="Background for this tutorial" id="{9E777E73-11DD-4A73-81F1-368F6E4B7E85}">
          <p14:sldIdLst>
            <p14:sldId id="10779"/>
            <p14:sldId id="9124"/>
            <p14:sldId id="8947"/>
            <p14:sldId id="9364"/>
            <p14:sldId id="8505"/>
            <p14:sldId id="258"/>
            <p14:sldId id="7813"/>
            <p14:sldId id="9228"/>
            <p14:sldId id="9227"/>
            <p14:sldId id="10645"/>
            <p14:sldId id="10330"/>
            <p14:sldId id="9922"/>
            <p14:sldId id="10477"/>
            <p14:sldId id="10174"/>
            <p14:sldId id="10022"/>
            <p14:sldId id="10173"/>
            <p14:sldId id="10172"/>
            <p14:sldId id="10419"/>
            <p14:sldId id="10907"/>
          </p14:sldIdLst>
        </p14:section>
        <p14:section name="History of RL (short)" id="{A11ABB24-D8C5-421E-8D7B-89403AEF34B0}">
          <p14:sldIdLst>
            <p14:sldId id="10742"/>
            <p14:sldId id="10530"/>
            <p14:sldId id="10481"/>
            <p14:sldId id="8657"/>
            <p14:sldId id="10483"/>
            <p14:sldId id="10657"/>
            <p14:sldId id="10531"/>
            <p14:sldId id="10679"/>
            <p14:sldId id="10488"/>
            <p14:sldId id="10489"/>
            <p14:sldId id="10654"/>
            <p14:sldId id="10491"/>
            <p14:sldId id="10492"/>
            <p14:sldId id="10658"/>
            <p14:sldId id="10494"/>
            <p14:sldId id="10721"/>
            <p14:sldId id="10577"/>
            <p14:sldId id="10660"/>
            <p14:sldId id="10838"/>
            <p14:sldId id="10840"/>
            <p14:sldId id="10499"/>
            <p14:sldId id="10500"/>
            <p14:sldId id="10576"/>
            <p14:sldId id="10501"/>
            <p14:sldId id="10502"/>
            <p14:sldId id="10503"/>
            <p14:sldId id="10575"/>
            <p14:sldId id="10963"/>
          </p14:sldIdLst>
        </p14:section>
        <p14:section name="Sequential decision problems" id="{ACC58C93-CA30-44E4-A6F7-33A7A138D8CC}">
          <p14:sldIdLst>
            <p14:sldId id="10743"/>
            <p14:sldId id="8053"/>
            <p14:sldId id="8621"/>
            <p14:sldId id="8630"/>
            <p14:sldId id="9224"/>
            <p14:sldId id="8650"/>
            <p14:sldId id="8284"/>
            <p14:sldId id="294"/>
            <p14:sldId id="293"/>
            <p14:sldId id="10064"/>
            <p14:sldId id="10065"/>
            <p14:sldId id="4727"/>
            <p14:sldId id="4732"/>
            <p14:sldId id="4600"/>
            <p14:sldId id="10451"/>
            <p14:sldId id="10714"/>
            <p14:sldId id="10465"/>
            <p14:sldId id="10591"/>
            <p14:sldId id="10728"/>
            <p14:sldId id="10729"/>
            <p14:sldId id="10964"/>
          </p14:sldIdLst>
        </p14:section>
        <p14:section name="Framing the problem" id="{D8CB74C6-BADA-4949-8842-1630826271F0}">
          <p14:sldIdLst>
            <p14:sldId id="10870"/>
            <p14:sldId id="10872"/>
            <p14:sldId id="10873"/>
            <p14:sldId id="10843"/>
            <p14:sldId id="10844"/>
            <p14:sldId id="10845"/>
            <p14:sldId id="10846"/>
            <p14:sldId id="10847"/>
            <p14:sldId id="10874"/>
            <p14:sldId id="10852"/>
            <p14:sldId id="10853"/>
            <p14:sldId id="10882"/>
            <p14:sldId id="10854"/>
            <p14:sldId id="10855"/>
            <p14:sldId id="9931"/>
            <p14:sldId id="9946"/>
            <p14:sldId id="10875"/>
            <p14:sldId id="10541"/>
            <p14:sldId id="10639"/>
            <p14:sldId id="9559"/>
            <p14:sldId id="10661"/>
            <p14:sldId id="10655"/>
            <p14:sldId id="10533"/>
            <p14:sldId id="10656"/>
            <p14:sldId id="10581"/>
            <p14:sldId id="10364"/>
            <p14:sldId id="10858"/>
            <p14:sldId id="9791"/>
            <p14:sldId id="9935"/>
            <p14:sldId id="10876"/>
            <p14:sldId id="10863"/>
            <p14:sldId id="10864"/>
            <p14:sldId id="10347"/>
            <p14:sldId id="10663"/>
            <p14:sldId id="10662"/>
            <p14:sldId id="10582"/>
            <p14:sldId id="10583"/>
            <p14:sldId id="10349"/>
            <p14:sldId id="10879"/>
            <p14:sldId id="10848"/>
            <p14:sldId id="10849"/>
            <p14:sldId id="10850"/>
            <p14:sldId id="10135"/>
            <p14:sldId id="10118"/>
            <p14:sldId id="10119"/>
            <p14:sldId id="10880"/>
            <p14:sldId id="10883"/>
            <p14:sldId id="10881"/>
            <p14:sldId id="10859"/>
            <p14:sldId id="10860"/>
            <p14:sldId id="10861"/>
            <p14:sldId id="10868"/>
            <p14:sldId id="10869"/>
            <p14:sldId id="10965"/>
          </p14:sldIdLst>
        </p14:section>
        <p14:section name="The universal modeling framework (high level)" id="{B4EDCA7E-9BFF-4C15-9330-9A564F4DF9C2}">
          <p14:sldIdLst>
            <p14:sldId id="10744"/>
            <p14:sldId id="10185"/>
            <p14:sldId id="10070"/>
            <p14:sldId id="10071"/>
            <p14:sldId id="10166"/>
            <p14:sldId id="10887"/>
            <p14:sldId id="10888"/>
            <p14:sldId id="10176"/>
            <p14:sldId id="10685"/>
            <p14:sldId id="9586"/>
            <p14:sldId id="10696"/>
            <p14:sldId id="10966"/>
          </p14:sldIdLst>
        </p14:section>
        <p14:section name="Estimation methods" id="{DD45CA11-C71B-4DFB-931F-CCF5075140C5}">
          <p14:sldIdLst>
            <p14:sldId id="10745"/>
            <p14:sldId id="10555"/>
            <p14:sldId id="10841"/>
            <p14:sldId id="5161"/>
            <p14:sldId id="10556"/>
            <p14:sldId id="10731"/>
            <p14:sldId id="3326"/>
            <p14:sldId id="3327"/>
            <p14:sldId id="3328"/>
            <p14:sldId id="10402"/>
            <p14:sldId id="7482"/>
            <p14:sldId id="7492"/>
            <p14:sldId id="10557"/>
            <p14:sldId id="6635"/>
            <p14:sldId id="6636"/>
            <p14:sldId id="6651"/>
            <p14:sldId id="6641"/>
            <p14:sldId id="6642"/>
            <p14:sldId id="6643"/>
            <p14:sldId id="6644"/>
            <p14:sldId id="6645"/>
            <p14:sldId id="6646"/>
            <p14:sldId id="6647"/>
            <p14:sldId id="6599"/>
            <p14:sldId id="6600"/>
            <p14:sldId id="6601"/>
            <p14:sldId id="5763"/>
            <p14:sldId id="10579"/>
            <p14:sldId id="10580"/>
            <p14:sldId id="10558"/>
            <p14:sldId id="10682"/>
            <p14:sldId id="5435"/>
            <p14:sldId id="10681"/>
            <p14:sldId id="10967"/>
          </p14:sldIdLst>
        </p14:section>
        <p14:section name="The universal modeling framework (detailed)" id="{821755DE-5A4C-4C1D-9ABA-B5A3E99D2088}">
          <p14:sldIdLst>
            <p14:sldId id="10746"/>
            <p14:sldId id="10345"/>
            <p14:sldId id="10698"/>
            <p14:sldId id="10703"/>
            <p14:sldId id="10706"/>
            <p14:sldId id="10704"/>
            <p14:sldId id="10697"/>
            <p14:sldId id="10471"/>
            <p14:sldId id="10562"/>
            <p14:sldId id="6101"/>
            <p14:sldId id="5410"/>
            <p14:sldId id="10724"/>
            <p14:sldId id="10563"/>
            <p14:sldId id="5354"/>
            <p14:sldId id="10885"/>
            <p14:sldId id="10564"/>
            <p14:sldId id="5355"/>
            <p14:sldId id="5356"/>
            <p14:sldId id="10565"/>
            <p14:sldId id="5357"/>
            <p14:sldId id="10346"/>
            <p14:sldId id="10886"/>
            <p14:sldId id="10386"/>
            <p14:sldId id="10566"/>
            <p14:sldId id="5358"/>
            <p14:sldId id="10584"/>
            <p14:sldId id="10567"/>
            <p14:sldId id="5359"/>
            <p14:sldId id="10192"/>
            <p14:sldId id="10585"/>
            <p14:sldId id="10249"/>
            <p14:sldId id="10193"/>
            <p14:sldId id="10194"/>
            <p14:sldId id="10195"/>
            <p14:sldId id="10570"/>
            <p14:sldId id="10367"/>
            <p14:sldId id="10191"/>
            <p14:sldId id="10969"/>
          </p14:sldIdLst>
        </p14:section>
        <p14:section name="State variables" id="{EF92328B-1E57-457D-B684-87CD0E42401A}">
          <p14:sldIdLst>
            <p14:sldId id="10747"/>
            <p14:sldId id="9925"/>
            <p14:sldId id="10442"/>
            <p14:sldId id="10707"/>
            <p14:sldId id="10231"/>
            <p14:sldId id="5340"/>
            <p14:sldId id="5341"/>
            <p14:sldId id="5343"/>
            <p14:sldId id="10359"/>
            <p14:sldId id="10713"/>
            <p14:sldId id="10411"/>
            <p14:sldId id="10537"/>
            <p14:sldId id="10587"/>
            <p14:sldId id="8003"/>
            <p14:sldId id="5345"/>
            <p14:sldId id="5346"/>
            <p14:sldId id="5347"/>
            <p14:sldId id="5806"/>
            <p14:sldId id="5348"/>
            <p14:sldId id="5349"/>
            <p14:sldId id="10538"/>
            <p14:sldId id="5397"/>
            <p14:sldId id="10708"/>
            <p14:sldId id="10709"/>
            <p14:sldId id="6049"/>
            <p14:sldId id="6050"/>
            <p14:sldId id="6040"/>
            <p14:sldId id="10390"/>
            <p14:sldId id="10539"/>
            <p14:sldId id="10444"/>
            <p14:sldId id="5386"/>
            <p14:sldId id="10445"/>
            <p14:sldId id="5389"/>
            <p14:sldId id="5390"/>
            <p14:sldId id="5391"/>
            <p14:sldId id="5373"/>
            <p14:sldId id="10970"/>
          </p14:sldIdLst>
        </p14:section>
        <p14:section name="Modeling uncertainty" id="{273EC5AA-4BFE-49D9-AEE9-6F0DCC951FB4}">
          <p14:sldIdLst>
            <p14:sldId id="10973"/>
            <p14:sldId id="10975"/>
            <p14:sldId id="11002"/>
            <p14:sldId id="10992"/>
            <p14:sldId id="10976"/>
            <p14:sldId id="10997"/>
            <p14:sldId id="10990"/>
            <p14:sldId id="10980"/>
            <p14:sldId id="11020"/>
            <p14:sldId id="11003"/>
            <p14:sldId id="10977"/>
            <p14:sldId id="10981"/>
            <p14:sldId id="10982"/>
            <p14:sldId id="10983"/>
            <p14:sldId id="10984"/>
            <p14:sldId id="10985"/>
            <p14:sldId id="11004"/>
            <p14:sldId id="10986"/>
            <p14:sldId id="10998"/>
            <p14:sldId id="10999"/>
            <p14:sldId id="11000"/>
            <p14:sldId id="11005"/>
            <p14:sldId id="10979"/>
            <p14:sldId id="11007"/>
            <p14:sldId id="11008"/>
            <p14:sldId id="11013"/>
            <p14:sldId id="11014"/>
            <p14:sldId id="11016"/>
            <p14:sldId id="11017"/>
            <p14:sldId id="11009"/>
            <p14:sldId id="6048"/>
            <p14:sldId id="11015"/>
            <p14:sldId id="5487"/>
            <p14:sldId id="11018"/>
            <p14:sldId id="11021"/>
            <p14:sldId id="11019"/>
            <p14:sldId id="10974"/>
          </p14:sldIdLst>
        </p14:section>
        <p14:section name="Designing policies - overview" id="{41540112-45D0-49AB-B584-51A2771BCDA9}">
          <p14:sldIdLst>
            <p14:sldId id="10748"/>
            <p14:sldId id="7834"/>
            <p14:sldId id="7835"/>
            <p14:sldId id="307"/>
            <p14:sldId id="9747"/>
            <p14:sldId id="9748"/>
            <p14:sldId id="10504"/>
            <p14:sldId id="9767"/>
            <p14:sldId id="9856"/>
            <p14:sldId id="9750"/>
            <p14:sldId id="9751"/>
            <p14:sldId id="10669"/>
            <p14:sldId id="10672"/>
            <p14:sldId id="9763"/>
            <p14:sldId id="10040"/>
            <p14:sldId id="9873"/>
            <p14:sldId id="10391"/>
            <p14:sldId id="10392"/>
            <p14:sldId id="10393"/>
            <p14:sldId id="10394"/>
            <p14:sldId id="9836"/>
            <p14:sldId id="9758"/>
            <p14:sldId id="10041"/>
            <p14:sldId id="9760"/>
            <p14:sldId id="9768"/>
            <p14:sldId id="9950"/>
            <p14:sldId id="10686"/>
            <p14:sldId id="10726"/>
            <p14:sldId id="10687"/>
            <p14:sldId id="8862"/>
            <p14:sldId id="10189"/>
            <p14:sldId id="5775"/>
            <p14:sldId id="10971"/>
          </p14:sldIdLst>
        </p14:section>
        <p14:section name="Choosing policies" id="{E08E9834-D518-4D97-8BC2-73F067E8DD93}">
          <p14:sldIdLst>
            <p14:sldId id="10780"/>
            <p14:sldId id="10890"/>
            <p14:sldId id="10889"/>
            <p14:sldId id="10099"/>
            <p14:sldId id="10100"/>
            <p14:sldId id="10110"/>
            <p14:sldId id="9548"/>
            <p14:sldId id="9837"/>
            <p14:sldId id="7930"/>
            <p14:sldId id="8043"/>
            <p14:sldId id="9284"/>
            <p14:sldId id="10972"/>
          </p14:sldIdLst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4651" autoAdjust="0"/>
    <p:restoredTop sz="94699" autoAdjust="0"/>
  </p:normalViewPr>
  <p:slideViewPr>
    <p:cSldViewPr snapToGrid="0">
      <p:cViewPr varScale="1">
        <p:scale>
          <a:sx n="81" d="100"/>
          <a:sy n="81" d="100"/>
        </p:scale>
        <p:origin x="17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0187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128" Type="http://schemas.openxmlformats.org/officeDocument/2006/relationships/slide" Target="slides/slide124.xml"/><Relationship Id="rId335" Type="http://schemas.openxmlformats.org/officeDocument/2006/relationships/font" Target="fonts/font5.fntdata"/><Relationship Id="rId346" Type="http://schemas.openxmlformats.org/officeDocument/2006/relationships/font" Target="fonts/font16.fntdata"/><Relationship Id="rId130" Type="http://schemas.openxmlformats.org/officeDocument/2006/relationships/slide" Target="slides/slide126.xml"/><Relationship Id="rId337" Type="http://schemas.openxmlformats.org/officeDocument/2006/relationships/font" Target="fonts/font7.fntdata"/><Relationship Id="rId348" Type="http://schemas.openxmlformats.org/officeDocument/2006/relationships/presProps" Target="presProps.xml"/><Relationship Id="rId349" Type="http://schemas.openxmlformats.org/officeDocument/2006/relationships/viewProps" Target="viewProps.xml"/><Relationship Id="rId132" Type="http://schemas.openxmlformats.org/officeDocument/2006/relationships/slide" Target="slides/slide128.xml"/><Relationship Id="rId339" Type="http://schemas.openxmlformats.org/officeDocument/2006/relationships/font" Target="fonts/font9.fntdata"/><Relationship Id="rId350" Type="http://schemas.openxmlformats.org/officeDocument/2006/relationships/theme" Target="theme/theme1.xml"/><Relationship Id="rId133" Type="http://schemas.openxmlformats.org/officeDocument/2006/relationships/slide" Target="slides/slide129.xml"/><Relationship Id="rId340" Type="http://schemas.openxmlformats.org/officeDocument/2006/relationships/font" Target="fonts/font10.fntdata"/><Relationship Id="rId330" Type="http://schemas.openxmlformats.org/officeDocument/2006/relationships/notesMaster" Target="notesMasters/notesMaster1.xml"/><Relationship Id="rId351" Type="http://schemas.openxmlformats.org/officeDocument/2006/relationships/tableStyles" Target="tableStyles.xml"/><Relationship Id="rId134" Type="http://schemas.openxmlformats.org/officeDocument/2006/relationships/slide" Target="slides/slide130.xml"/><Relationship Id="rId341" Type="http://schemas.openxmlformats.org/officeDocument/2006/relationships/font" Target="fonts/font11.fntdata"/><Relationship Id="rId331" Type="http://schemas.openxmlformats.org/officeDocument/2006/relationships/font" Target="fonts/font1.fntdata"/><Relationship Id="rId1" Type="http://schemas.openxmlformats.org/officeDocument/2006/relationships/customXml" Target="../customXml/item1.xml"/><Relationship Id="rId135" Type="http://schemas.openxmlformats.org/officeDocument/2006/relationships/slide" Target="slides/slide131.xml"/><Relationship Id="rId342" Type="http://schemas.openxmlformats.org/officeDocument/2006/relationships/font" Target="fonts/font12.fntdata"/><Relationship Id="rId332" Type="http://schemas.openxmlformats.org/officeDocument/2006/relationships/font" Target="fonts/font2.fntdata"/><Relationship Id="rId2" Type="http://schemas.openxmlformats.org/officeDocument/2006/relationships/customXml" Target="../customXml/item2.xml"/><Relationship Id="rId136" Type="http://schemas.openxmlformats.org/officeDocument/2006/relationships/slide" Target="slides/slide132.xml"/><Relationship Id="rId343" Type="http://schemas.openxmlformats.org/officeDocument/2006/relationships/font" Target="fonts/font13.fntdata"/><Relationship Id="rId333" Type="http://schemas.openxmlformats.org/officeDocument/2006/relationships/font" Target="fonts/font3.fntdata"/><Relationship Id="rId3" Type="http://schemas.openxmlformats.org/officeDocument/2006/relationships/customXml" Target="../customXml/item3.xml"/><Relationship Id="rId137" Type="http://schemas.openxmlformats.org/officeDocument/2006/relationships/slide" Target="slides/slide133.xml"/><Relationship Id="rId344" Type="http://schemas.openxmlformats.org/officeDocument/2006/relationships/font" Target="fonts/font14.fntdata"/><Relationship Id="rId127" Type="http://schemas.openxmlformats.org/officeDocument/2006/relationships/slide" Target="slides/slide123.xml"/><Relationship Id="rId334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138" Type="http://schemas.openxmlformats.org/officeDocument/2006/relationships/slide" Target="slides/slide134.xml"/><Relationship Id="rId345" Type="http://schemas.openxmlformats.org/officeDocument/2006/relationships/font" Target="fonts/font15.fntdata"/><Relationship Id="rId129" Type="http://schemas.openxmlformats.org/officeDocument/2006/relationships/slide" Target="slides/slide125.xml"/><Relationship Id="rId336" Type="http://schemas.openxmlformats.org/officeDocument/2006/relationships/font" Target="fonts/font6.fntdata"/><Relationship Id="rId347" Type="http://schemas.openxmlformats.org/officeDocument/2006/relationships/font" Target="fonts/font17.fntdata"/><Relationship Id="rId131" Type="http://schemas.openxmlformats.org/officeDocument/2006/relationships/slide" Target="slides/slide127.xml"/><Relationship Id="rId3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8">
          <a:extLst>
            <a:ext uri="{FF2B5EF4-FFF2-40B4-BE49-F238E27FC236}">
              <a16:creationId xmlns:a16="http://schemas.microsoft.com/office/drawing/2014/main" id="{9D31E49F-7135-4306-DBA2-845B49638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40:notes">
            <a:extLst>
              <a:ext uri="{FF2B5EF4-FFF2-40B4-BE49-F238E27FC236}">
                <a16:creationId xmlns:a16="http://schemas.microsoft.com/office/drawing/2014/main" id="{956467B6-B0C7-18B6-61AB-905A46042B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1910" name="Google Shape;1910;p40:notes">
            <a:extLst>
              <a:ext uri="{FF2B5EF4-FFF2-40B4-BE49-F238E27FC236}">
                <a16:creationId xmlns:a16="http://schemas.microsoft.com/office/drawing/2014/main" id="{9CE3D2FA-666E-B4F3-4A95-8078BA72E6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23199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0">
          <a:extLst>
            <a:ext uri="{FF2B5EF4-FFF2-40B4-BE49-F238E27FC236}">
              <a16:creationId xmlns:a16="http://schemas.microsoft.com/office/drawing/2014/main" id="{D30652F8-E945-26AE-C425-665DAC9D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1" name="Google Shape;3291;p53:notes">
            <a:extLst>
              <a:ext uri="{FF2B5EF4-FFF2-40B4-BE49-F238E27FC236}">
                <a16:creationId xmlns:a16="http://schemas.microsoft.com/office/drawing/2014/main" id="{4D8149E2-8DCD-2542-75C7-3987EAD4CB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2" name="Google Shape;3292;p53:notes">
            <a:extLst>
              <a:ext uri="{FF2B5EF4-FFF2-40B4-BE49-F238E27FC236}">
                <a16:creationId xmlns:a16="http://schemas.microsoft.com/office/drawing/2014/main" id="{6156DD83-0B5D-E874-9B56-86D9E51310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003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bg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57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7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18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9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811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811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tinyurl.com/SDAwebsite/" TargetMode="Externa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811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82.png"/><Relationship Id="rId4" Type="http://schemas.openxmlformats.org/officeDocument/2006/relationships/image" Target="../media/image1473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9.png"/><Relationship Id="rId5" Type="http://schemas.openxmlformats.org/officeDocument/2006/relationships/image" Target="../media/image228.png"/><Relationship Id="rId4" Type="http://schemas.openxmlformats.org/officeDocument/2006/relationships/image" Target="../media/image22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D7248-55F3-858E-F988-88240AAB8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B4BD7A1-F6D1-2864-3F8B-168FB8A0F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797579D-0051-18FF-5DA7-3DF80B83C1F3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67FDB40-90EE-98D9-BCFE-69491CD91B25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BB89AB-E468-414A-9AE6-AD1974AC7F98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98C592-6681-8D78-F597-6EDD0F2F0DDF}"/>
              </a:ext>
            </a:extLst>
          </p:cNvPr>
          <p:cNvSpPr txBox="1">
            <a:spLocks/>
          </p:cNvSpPr>
          <p:nvPr/>
        </p:nvSpPr>
        <p:spPr>
          <a:xfrm>
            <a:off x="1212348" y="2751400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</a:t>
            </a:r>
            <a:r>
              <a:rPr lang="en-US" sz="2400" dirty="0">
                <a:solidFill>
                  <a:schemeClr val="bg1"/>
                </a:solidFill>
              </a:rPr>
              <a:t>The universal modeling framework (high level)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This module provides a high-level overview of the universal modeling framework.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75E353-F3DE-C077-BCA2-988C9230D75B}"/>
              </a:ext>
            </a:extLst>
          </p:cNvPr>
          <p:cNvSpPr txBox="1">
            <a:spLocks/>
          </p:cNvSpPr>
          <p:nvPr/>
        </p:nvSpPr>
        <p:spPr>
          <a:xfrm>
            <a:off x="1214274" y="5160862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Minimal mathematics – This module introduces the basic mathematical modeling behind the universal modeling framework.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A1444E-3420-884D-27C0-2008D37A48B8}"/>
              </a:ext>
            </a:extLst>
          </p:cNvPr>
          <p:cNvSpPr txBox="1">
            <a:spLocks/>
          </p:cNvSpPr>
          <p:nvPr/>
        </p:nvSpPr>
        <p:spPr>
          <a:xfrm>
            <a:off x="1214274" y="3887648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 </a:t>
            </a:r>
            <a:r>
              <a:rPr lang="en-US" sz="2400" dirty="0">
                <a:solidFill>
                  <a:schemeClr val="bg1"/>
                </a:solidFill>
              </a:rPr>
              <a:t>Introduction to sequential decision problems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5D4EAD-FBAB-EA03-EBBE-7DAC9FB13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93882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1">
          <a:extLst>
            <a:ext uri="{FF2B5EF4-FFF2-40B4-BE49-F238E27FC236}">
              <a16:creationId xmlns:a16="http://schemas.microsoft.com/office/drawing/2014/main" id="{2427E14C-3240-E270-7B28-915CD387E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52">
            <a:extLst>
              <a:ext uri="{FF2B5EF4-FFF2-40B4-BE49-F238E27FC236}">
                <a16:creationId xmlns:a16="http://schemas.microsoft.com/office/drawing/2014/main" id="{C73EAE69-D4CE-E4DF-C4AC-624BF9BC86C3}"/>
              </a:ext>
            </a:extLst>
          </p:cNvPr>
          <p:cNvSpPr/>
          <p:nvPr/>
        </p:nvSpPr>
        <p:spPr>
          <a:xfrm rot="10800000">
            <a:off x="150" y="2143575"/>
            <a:ext cx="12200100" cy="2654100"/>
          </a:xfrm>
          <a:prstGeom prst="rect">
            <a:avLst/>
          </a:prstGeom>
          <a:solidFill>
            <a:srgbClr val="8585E0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3" name="Google Shape;1913;p52">
            <a:extLst>
              <a:ext uri="{FF2B5EF4-FFF2-40B4-BE49-F238E27FC236}">
                <a16:creationId xmlns:a16="http://schemas.microsoft.com/office/drawing/2014/main" id="{22FC1F5E-3726-2DC0-51CE-1BBE9E09C6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universal modeling framework</a:t>
            </a:r>
            <a:endParaRPr dirty="0"/>
          </a:p>
        </p:txBody>
      </p:sp>
      <p:sp>
        <p:nvSpPr>
          <p:cNvPr id="1914" name="Google Shape;1914;p52">
            <a:extLst>
              <a:ext uri="{FF2B5EF4-FFF2-40B4-BE49-F238E27FC236}">
                <a16:creationId xmlns:a16="http://schemas.microsoft.com/office/drawing/2014/main" id="{E2CC5E5D-8A45-30CA-D0E7-D5DB0DC37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15650" y="1383800"/>
            <a:ext cx="102960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Raleway" pitchFamily="2" charset="0"/>
                <a:ea typeface="Raleway Thin"/>
                <a:cs typeface="Raleway Thin"/>
                <a:sym typeface="Raleway Thin"/>
              </a:rPr>
              <a:t>In most settings, decisions are made over time…</a:t>
            </a:r>
            <a:endParaRPr sz="2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1915" name="Google Shape;1915;p52">
            <a:extLst>
              <a:ext uri="{FF2B5EF4-FFF2-40B4-BE49-F238E27FC236}">
                <a16:creationId xmlns:a16="http://schemas.microsoft.com/office/drawing/2014/main" id="{74382D07-8587-BD1F-4612-A53A6BFEB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89164" y="5167475"/>
            <a:ext cx="9125082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dirty="0">
                <a:latin typeface="Raleway" pitchFamily="2" charset="0"/>
                <a:ea typeface="Raleway Thin"/>
                <a:cs typeface="Raleway Thin"/>
                <a:sym typeface="Raleway Thin"/>
              </a:rPr>
              <a:t>Information that arrives after a decision is made is not known when we made the decision.</a:t>
            </a:r>
            <a:endParaRPr sz="24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1916" name="Google Shape;1916;p52">
            <a:extLst>
              <a:ext uri="{FF2B5EF4-FFF2-40B4-BE49-F238E27FC236}">
                <a16:creationId xmlns:a16="http://schemas.microsoft.com/office/drawing/2014/main" id="{C7349FB9-9746-9C79-9790-90DA41B2DD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461849" y="3063450"/>
            <a:ext cx="2126700" cy="7311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Decisions</a:t>
            </a:r>
            <a:endParaRPr sz="1800" b="1" dirty="0">
              <a:solidFill>
                <a:srgbClr val="FFFFFF"/>
              </a:solidFill>
            </a:endParaRPr>
          </a:p>
        </p:txBody>
      </p:sp>
      <p:sp>
        <p:nvSpPr>
          <p:cNvPr id="1917" name="Google Shape;1917;p52">
            <a:extLst>
              <a:ext uri="{FF2B5EF4-FFF2-40B4-BE49-F238E27FC236}">
                <a16:creationId xmlns:a16="http://schemas.microsoft.com/office/drawing/2014/main" id="{D89F3A4E-3DF9-D850-4C1F-1F92F46E9D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64839" y="3063450"/>
            <a:ext cx="2333100" cy="7311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</a:rPr>
              <a:t>Information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918" name="Google Shape;1918;p52">
            <a:extLst>
              <a:ext uri="{FF2B5EF4-FFF2-40B4-BE49-F238E27FC236}">
                <a16:creationId xmlns:a16="http://schemas.microsoft.com/office/drawing/2014/main" id="{20BC2B09-E967-FEA3-BC6C-AEADA6FD6B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97826" y="3063450"/>
            <a:ext cx="2126700" cy="7311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Decisions</a:t>
            </a:r>
            <a:endParaRPr sz="1800" b="1" dirty="0">
              <a:solidFill>
                <a:srgbClr val="FFFFFF"/>
              </a:solidFill>
            </a:endParaRPr>
          </a:p>
        </p:txBody>
      </p:sp>
      <p:sp>
        <p:nvSpPr>
          <p:cNvPr id="1919" name="Google Shape;1919;p52">
            <a:extLst>
              <a:ext uri="{FF2B5EF4-FFF2-40B4-BE49-F238E27FC236}">
                <a16:creationId xmlns:a16="http://schemas.microsoft.com/office/drawing/2014/main" id="{6477EB80-5DFB-1D04-AD21-165C71C55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24514" y="3063450"/>
            <a:ext cx="2333100" cy="7311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Information</a:t>
            </a:r>
            <a:endParaRPr sz="1800" b="1" dirty="0">
              <a:solidFill>
                <a:srgbClr val="FFFFFF"/>
              </a:solidFill>
            </a:endParaRPr>
          </a:p>
        </p:txBody>
      </p:sp>
      <p:sp>
        <p:nvSpPr>
          <p:cNvPr id="1920" name="Google Shape;1920;p52">
            <a:extLst>
              <a:ext uri="{FF2B5EF4-FFF2-40B4-BE49-F238E27FC236}">
                <a16:creationId xmlns:a16="http://schemas.microsoft.com/office/drawing/2014/main" id="{440D5283-F046-74E9-EE51-939D5CECFA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57501" y="3063450"/>
            <a:ext cx="2126700" cy="7311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Decisions</a:t>
            </a:r>
            <a:endParaRPr sz="1800" b="1" dirty="0">
              <a:solidFill>
                <a:srgbClr val="FFFFFF"/>
              </a:solidFill>
            </a:endParaRPr>
          </a:p>
        </p:txBody>
      </p:sp>
      <p:sp>
        <p:nvSpPr>
          <p:cNvPr id="1921" name="Google Shape;1921;p52">
            <a:extLst>
              <a:ext uri="{FF2B5EF4-FFF2-40B4-BE49-F238E27FC236}">
                <a16:creationId xmlns:a16="http://schemas.microsoft.com/office/drawing/2014/main" id="{F9C75D5E-C295-8C71-298D-5A8F4F995D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84188" y="3063450"/>
            <a:ext cx="2234100" cy="7311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</a:rPr>
              <a:t>Information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922" name="Google Shape;1922;p52">
            <a:extLst>
              <a:ext uri="{FF2B5EF4-FFF2-40B4-BE49-F238E27FC236}">
                <a16:creationId xmlns:a16="http://schemas.microsoft.com/office/drawing/2014/main" id="{ABFC33E8-78C9-2FE3-4752-943938F1F771}"/>
              </a:ext>
            </a:extLst>
          </p:cNvPr>
          <p:cNvSpPr/>
          <p:nvPr/>
        </p:nvSpPr>
        <p:spPr>
          <a:xfrm>
            <a:off x="1247739" y="3057036"/>
            <a:ext cx="726000" cy="737514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923" name="Google Shape;1923;p52">
            <a:extLst>
              <a:ext uri="{FF2B5EF4-FFF2-40B4-BE49-F238E27FC236}">
                <a16:creationId xmlns:a16="http://schemas.microsoft.com/office/drawing/2014/main" id="{A4F22307-DF62-346B-476A-7D84E592AE40}"/>
              </a:ext>
            </a:extLst>
          </p:cNvPr>
          <p:cNvSpPr/>
          <p:nvPr/>
        </p:nvSpPr>
        <p:spPr>
          <a:xfrm>
            <a:off x="3613589" y="3057036"/>
            <a:ext cx="726000" cy="756722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924" name="Google Shape;1924;p52">
            <a:extLst>
              <a:ext uri="{FF2B5EF4-FFF2-40B4-BE49-F238E27FC236}">
                <a16:creationId xmlns:a16="http://schemas.microsoft.com/office/drawing/2014/main" id="{18463A46-57F5-2857-3BA4-91B44DC86E5B}"/>
              </a:ext>
            </a:extLst>
          </p:cNvPr>
          <p:cNvSpPr/>
          <p:nvPr/>
        </p:nvSpPr>
        <p:spPr>
          <a:xfrm>
            <a:off x="5690939" y="3049352"/>
            <a:ext cx="726000" cy="756722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925" name="Google Shape;1925;p52">
            <a:extLst>
              <a:ext uri="{FF2B5EF4-FFF2-40B4-BE49-F238E27FC236}">
                <a16:creationId xmlns:a16="http://schemas.microsoft.com/office/drawing/2014/main" id="{801A1076-2792-2B8D-9267-83A695786F0D}"/>
              </a:ext>
            </a:extLst>
          </p:cNvPr>
          <p:cNvSpPr/>
          <p:nvPr/>
        </p:nvSpPr>
        <p:spPr>
          <a:xfrm>
            <a:off x="8056789" y="3049352"/>
            <a:ext cx="726000" cy="756722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926" name="Google Shape;1926;p52">
            <a:extLst>
              <a:ext uri="{FF2B5EF4-FFF2-40B4-BE49-F238E27FC236}">
                <a16:creationId xmlns:a16="http://schemas.microsoft.com/office/drawing/2014/main" id="{808343A5-A486-4549-B993-C6C0AC7C9CC2}"/>
              </a:ext>
            </a:extLst>
          </p:cNvPr>
          <p:cNvSpPr/>
          <p:nvPr/>
        </p:nvSpPr>
        <p:spPr>
          <a:xfrm>
            <a:off x="10183589" y="3049352"/>
            <a:ext cx="726000" cy="756722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" name="Google Shape;1922;p52">
            <a:extLst>
              <a:ext uri="{FF2B5EF4-FFF2-40B4-BE49-F238E27FC236}">
                <a16:creationId xmlns:a16="http://schemas.microsoft.com/office/drawing/2014/main" id="{FA7EF73D-70D0-47BE-BA54-B075C10B059E}"/>
              </a:ext>
            </a:extLst>
          </p:cNvPr>
          <p:cNvSpPr/>
          <p:nvPr/>
        </p:nvSpPr>
        <p:spPr>
          <a:xfrm>
            <a:off x="1400138" y="3055756"/>
            <a:ext cx="2735073" cy="756722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" name="Google Shape;1922;p52">
            <a:extLst>
              <a:ext uri="{FF2B5EF4-FFF2-40B4-BE49-F238E27FC236}">
                <a16:creationId xmlns:a16="http://schemas.microsoft.com/office/drawing/2014/main" id="{5AFDAF24-38F6-9C38-208C-F78A2027BEE3}"/>
              </a:ext>
            </a:extLst>
          </p:cNvPr>
          <p:cNvSpPr/>
          <p:nvPr/>
        </p:nvSpPr>
        <p:spPr>
          <a:xfrm>
            <a:off x="3481222" y="3062160"/>
            <a:ext cx="2735073" cy="737514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" name="Google Shape;1922;p52">
            <a:extLst>
              <a:ext uri="{FF2B5EF4-FFF2-40B4-BE49-F238E27FC236}">
                <a16:creationId xmlns:a16="http://schemas.microsoft.com/office/drawing/2014/main" id="{6DA569DB-D1F6-B11C-874B-D5A8B4AD33C0}"/>
              </a:ext>
            </a:extLst>
          </p:cNvPr>
          <p:cNvSpPr/>
          <p:nvPr/>
        </p:nvSpPr>
        <p:spPr>
          <a:xfrm>
            <a:off x="5846614" y="3053196"/>
            <a:ext cx="2735073" cy="747758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5" name="Google Shape;1922;p52">
            <a:extLst>
              <a:ext uri="{FF2B5EF4-FFF2-40B4-BE49-F238E27FC236}">
                <a16:creationId xmlns:a16="http://schemas.microsoft.com/office/drawing/2014/main" id="{28FF7640-28AF-8E1D-CB07-960BF28CDC82}"/>
              </a:ext>
            </a:extLst>
          </p:cNvPr>
          <p:cNvSpPr/>
          <p:nvPr/>
        </p:nvSpPr>
        <p:spPr>
          <a:xfrm>
            <a:off x="7966118" y="3051916"/>
            <a:ext cx="2735073" cy="747758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6" name="Google Shape;1922;p52">
            <a:extLst>
              <a:ext uri="{FF2B5EF4-FFF2-40B4-BE49-F238E27FC236}">
                <a16:creationId xmlns:a16="http://schemas.microsoft.com/office/drawing/2014/main" id="{3AD41C57-04CC-6210-6042-6F6E39EBA6D4}"/>
              </a:ext>
            </a:extLst>
          </p:cNvPr>
          <p:cNvSpPr/>
          <p:nvPr/>
        </p:nvSpPr>
        <p:spPr>
          <a:xfrm>
            <a:off x="10454454" y="3042952"/>
            <a:ext cx="2735073" cy="756722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2917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3">
          <a:extLst>
            <a:ext uri="{FF2B5EF4-FFF2-40B4-BE49-F238E27FC236}">
              <a16:creationId xmlns:a16="http://schemas.microsoft.com/office/drawing/2014/main" id="{9DF6668F-AE43-986F-8999-6A002600C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491D91D-18C4-F146-1246-C19870FC445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04548" y="1045009"/>
                <a:ext cx="11319290" cy="4401600"/>
              </a:xfrm>
            </p:spPr>
            <p:txBody>
              <a:bodyPr/>
              <a:lstStyle/>
              <a:p>
                <a:r>
                  <a:rPr lang="en-US" sz="2400" dirty="0"/>
                  <a:t>Any sequential decision problem can be written:</a:t>
                </a:r>
              </a:p>
              <a:p>
                <a:pPr lvl="1"/>
                <a:endParaRPr lang="en-US" sz="1100" dirty="0"/>
              </a:p>
              <a:p>
                <a:pPr marL="86360" indent="0">
                  <a:buNone/>
                </a:pPr>
                <a:r>
                  <a:rPr lang="en-US" sz="2400" dirty="0"/>
                  <a:t>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lvl="1"/>
                <a:endParaRPr lang="en-US" sz="650" dirty="0"/>
              </a:p>
              <a:p>
                <a:pPr lvl="1"/>
                <a:endParaRPr lang="en-US" sz="1000" dirty="0"/>
              </a:p>
              <a:p>
                <a:r>
                  <a:rPr lang="en-US" sz="2400" dirty="0"/>
                  <a:t>Each time we make a decision, we compute performance metrics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endParaRPr lang="en-US" sz="700" dirty="0"/>
              </a:p>
              <a:p>
                <a:r>
                  <a:rPr lang="en-US" sz="2400" dirty="0"/>
                  <a:t>Decisions are made with a method or </a:t>
                </a:r>
                <a:r>
                  <a:rPr lang="en-US" sz="2400" i="1" dirty="0"/>
                  <a:t>policy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US" sz="2400" i="1" dirty="0"/>
                  <a:t>which we design later</a:t>
                </a:r>
                <a:r>
                  <a:rPr lang="en-US" sz="2400" dirty="0"/>
                  <a:t>.</a:t>
                </a:r>
              </a:p>
              <a:p>
                <a:endParaRPr lang="en-US" sz="600" dirty="0"/>
              </a:p>
              <a:p>
                <a:r>
                  <a:rPr lang="en-US" sz="2400" dirty="0"/>
                  <a:t>State variables evolve using a transition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1"/>
                <a:endParaRPr lang="en-US" sz="600" dirty="0"/>
              </a:p>
              <a:p>
                <a:r>
                  <a:rPr lang="en-US" sz="2400" dirty="0"/>
                  <a:t>The goal is to find the policy that optimizes performance over time: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E80F2B7-E055-5ADC-1B97-C659CD490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4548" y="1045009"/>
                <a:ext cx="11319290" cy="4401600"/>
              </a:xfrm>
              <a:blipFill>
                <a:blip r:embed="rId3"/>
                <a:stretch>
                  <a:fillRect b="-7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4" name="Google Shape;3294;p65">
            <a:extLst>
              <a:ext uri="{FF2B5EF4-FFF2-40B4-BE49-F238E27FC236}">
                <a16:creationId xmlns:a16="http://schemas.microsoft.com/office/drawing/2014/main" id="{7D16215F-9338-A3E4-CB3D-6F7C594AE392}"/>
              </a:ext>
            </a:extLst>
          </p:cNvPr>
          <p:cNvSpPr/>
          <p:nvPr/>
        </p:nvSpPr>
        <p:spPr>
          <a:xfrm rot="10800000">
            <a:off x="-184723" y="1602179"/>
            <a:ext cx="12206400" cy="1776021"/>
          </a:xfrm>
          <a:prstGeom prst="rect">
            <a:avLst/>
          </a:prstGeom>
          <a:solidFill>
            <a:schemeClr val="accent2">
              <a:lumMod val="75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96" name="Google Shape;3296;p65">
            <a:extLst>
              <a:ext uri="{FF2B5EF4-FFF2-40B4-BE49-F238E27FC236}">
                <a16:creationId xmlns:a16="http://schemas.microsoft.com/office/drawing/2014/main" id="{85626679-BA0A-9D23-FFDE-86E8853AF9B3}"/>
              </a:ext>
            </a:extLst>
          </p:cNvPr>
          <p:cNvGrpSpPr/>
          <p:nvPr/>
        </p:nvGrpSpPr>
        <p:grpSpPr>
          <a:xfrm>
            <a:off x="2162950" y="1718389"/>
            <a:ext cx="3579185" cy="1140807"/>
            <a:chOff x="1053775" y="2084832"/>
            <a:chExt cx="3579185" cy="1140807"/>
          </a:xfrm>
        </p:grpSpPr>
        <p:sp>
          <p:nvSpPr>
            <p:cNvPr id="3297" name="Google Shape;3297;p65">
              <a:extLst>
                <a:ext uri="{FF2B5EF4-FFF2-40B4-BE49-F238E27FC236}">
                  <a16:creationId xmlns:a16="http://schemas.microsoft.com/office/drawing/2014/main" id="{94E8421C-1057-9F4C-AD7C-0E1765B4E086}"/>
                </a:ext>
              </a:extLst>
            </p:cNvPr>
            <p:cNvSpPr/>
            <p:nvPr/>
          </p:nvSpPr>
          <p:spPr>
            <a:xfrm>
              <a:off x="4255008" y="2084832"/>
              <a:ext cx="377952" cy="707136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8" name="Google Shape;3298;p65">
              <a:extLst>
                <a:ext uri="{FF2B5EF4-FFF2-40B4-BE49-F238E27FC236}">
                  <a16:creationId xmlns:a16="http://schemas.microsoft.com/office/drawing/2014/main" id="{FD26D93B-FAC4-0854-A03E-22DD09B3CB7C}"/>
                </a:ext>
              </a:extLst>
            </p:cNvPr>
            <p:cNvSpPr txBox="1"/>
            <p:nvPr/>
          </p:nvSpPr>
          <p:spPr>
            <a:xfrm>
              <a:off x="1053775" y="2840739"/>
              <a:ext cx="3422100" cy="3849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1" i="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What we know (or believe)</a:t>
              </a:r>
              <a:endParaRPr sz="13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299" name="Google Shape;3299;p65">
            <a:extLst>
              <a:ext uri="{FF2B5EF4-FFF2-40B4-BE49-F238E27FC236}">
                <a16:creationId xmlns:a16="http://schemas.microsoft.com/office/drawing/2014/main" id="{9763A208-2B94-3E90-B9AB-B04E042275DC}"/>
              </a:ext>
            </a:extLst>
          </p:cNvPr>
          <p:cNvGrpSpPr/>
          <p:nvPr/>
        </p:nvGrpSpPr>
        <p:grpSpPr>
          <a:xfrm>
            <a:off x="6150223" y="1731952"/>
            <a:ext cx="2897921" cy="1146899"/>
            <a:chOff x="5047487" y="2072640"/>
            <a:chExt cx="2897921" cy="1146899"/>
          </a:xfrm>
        </p:grpSpPr>
        <p:sp>
          <p:nvSpPr>
            <p:cNvPr id="3300" name="Google Shape;3300;p65">
              <a:extLst>
                <a:ext uri="{FF2B5EF4-FFF2-40B4-BE49-F238E27FC236}">
                  <a16:creationId xmlns:a16="http://schemas.microsoft.com/office/drawing/2014/main" id="{5D190AD2-8CAD-89F3-2AEB-5562579ED861}"/>
                </a:ext>
              </a:extLst>
            </p:cNvPr>
            <p:cNvSpPr txBox="1"/>
            <p:nvPr/>
          </p:nvSpPr>
          <p:spPr>
            <a:xfrm>
              <a:off x="5285225" y="2834639"/>
              <a:ext cx="2660183" cy="3849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1" i="0" dirty="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New information</a:t>
              </a:r>
              <a:endParaRPr sz="19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301" name="Google Shape;3301;p65">
              <a:extLst>
                <a:ext uri="{FF2B5EF4-FFF2-40B4-BE49-F238E27FC236}">
                  <a16:creationId xmlns:a16="http://schemas.microsoft.com/office/drawing/2014/main" id="{0C5FCF12-3004-A440-4147-3ED7F00D35FB}"/>
                </a:ext>
              </a:extLst>
            </p:cNvPr>
            <p:cNvSpPr/>
            <p:nvPr/>
          </p:nvSpPr>
          <p:spPr>
            <a:xfrm>
              <a:off x="5047487" y="2072640"/>
              <a:ext cx="840302" cy="707136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02" name="Google Shape;3302;p65">
            <a:extLst>
              <a:ext uri="{FF2B5EF4-FFF2-40B4-BE49-F238E27FC236}">
                <a16:creationId xmlns:a16="http://schemas.microsoft.com/office/drawing/2014/main" id="{B63CB97B-AD1B-DC14-709A-CFA4BB3FF285}"/>
              </a:ext>
            </a:extLst>
          </p:cNvPr>
          <p:cNvGrpSpPr/>
          <p:nvPr/>
        </p:nvGrpSpPr>
        <p:grpSpPr>
          <a:xfrm>
            <a:off x="5000692" y="1712297"/>
            <a:ext cx="1887300" cy="1618259"/>
            <a:chOff x="3872199" y="2078736"/>
            <a:chExt cx="1887300" cy="1618259"/>
          </a:xfrm>
        </p:grpSpPr>
        <p:sp>
          <p:nvSpPr>
            <p:cNvPr id="3303" name="Google Shape;3303;p65">
              <a:extLst>
                <a:ext uri="{FF2B5EF4-FFF2-40B4-BE49-F238E27FC236}">
                  <a16:creationId xmlns:a16="http://schemas.microsoft.com/office/drawing/2014/main" id="{F007E582-2722-40BA-BF38-BC80573ED719}"/>
                </a:ext>
              </a:extLst>
            </p:cNvPr>
            <p:cNvSpPr txBox="1"/>
            <p:nvPr/>
          </p:nvSpPr>
          <p:spPr>
            <a:xfrm>
              <a:off x="3872199" y="3312095"/>
              <a:ext cx="1887300" cy="3849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1" i="0" dirty="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The decisions</a:t>
              </a:r>
              <a:endParaRPr sz="13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304" name="Google Shape;3304;p65">
              <a:extLst>
                <a:ext uri="{FF2B5EF4-FFF2-40B4-BE49-F238E27FC236}">
                  <a16:creationId xmlns:a16="http://schemas.microsoft.com/office/drawing/2014/main" id="{A2E446B6-6894-8519-6DEE-B9A03BBE0E27}"/>
                </a:ext>
              </a:extLst>
            </p:cNvPr>
            <p:cNvSpPr/>
            <p:nvPr/>
          </p:nvSpPr>
          <p:spPr>
            <a:xfrm>
              <a:off x="4626864" y="2078736"/>
              <a:ext cx="377952" cy="707136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05" name="Google Shape;3305;p65">
              <a:extLst>
                <a:ext uri="{FF2B5EF4-FFF2-40B4-BE49-F238E27FC236}">
                  <a16:creationId xmlns:a16="http://schemas.microsoft.com/office/drawing/2014/main" id="{2B5F32BE-7DFD-62C8-F2C1-E0B98C861A23}"/>
                </a:ext>
              </a:extLst>
            </p:cNvPr>
            <p:cNvCxnSpPr>
              <a:stCxn id="3304" idx="4"/>
              <a:endCxn id="3303" idx="0"/>
            </p:cNvCxnSpPr>
            <p:nvPr/>
          </p:nvCxnSpPr>
          <p:spPr>
            <a:xfrm>
              <a:off x="4815840" y="2785872"/>
              <a:ext cx="9" cy="526223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06" name="Google Shape;3306;p65">
            <a:extLst>
              <a:ext uri="{FF2B5EF4-FFF2-40B4-BE49-F238E27FC236}">
                <a16:creationId xmlns:a16="http://schemas.microsoft.com/office/drawing/2014/main" id="{3CC601E3-71E1-3C8F-9CDA-44873952D3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The universal modeling framework</a:t>
            </a:r>
            <a:endParaRPr dirty="0"/>
          </a:p>
        </p:txBody>
      </p:sp>
      <p:sp>
        <p:nvSpPr>
          <p:cNvPr id="15" name="Google Shape;3318;p66">
            <a:extLst>
              <a:ext uri="{FF2B5EF4-FFF2-40B4-BE49-F238E27FC236}">
                <a16:creationId xmlns:a16="http://schemas.microsoft.com/office/drawing/2014/main" id="{69FC92B1-E2A2-F61E-B267-850003F58919}"/>
              </a:ext>
            </a:extLst>
          </p:cNvPr>
          <p:cNvSpPr/>
          <p:nvPr/>
        </p:nvSpPr>
        <p:spPr>
          <a:xfrm>
            <a:off x="1873260" y="6027798"/>
            <a:ext cx="362196" cy="362196"/>
          </a:xfrm>
          <a:prstGeom prst="ellipse">
            <a:avLst/>
          </a:prstGeom>
          <a:noFill/>
          <a:ln w="2857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3319;p66">
            <a:extLst>
              <a:ext uri="{FF2B5EF4-FFF2-40B4-BE49-F238E27FC236}">
                <a16:creationId xmlns:a16="http://schemas.microsoft.com/office/drawing/2014/main" id="{422F9F1D-1C63-F564-9EBF-C473D5A997A6}"/>
              </a:ext>
            </a:extLst>
          </p:cNvPr>
          <p:cNvSpPr/>
          <p:nvPr/>
        </p:nvSpPr>
        <p:spPr>
          <a:xfrm>
            <a:off x="10320762" y="3317677"/>
            <a:ext cx="1190560" cy="533107"/>
          </a:xfrm>
          <a:prstGeom prst="ellipse">
            <a:avLst/>
          </a:prstGeom>
          <a:noFill/>
          <a:ln w="2857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3319;p66">
            <a:extLst>
              <a:ext uri="{FF2B5EF4-FFF2-40B4-BE49-F238E27FC236}">
                <a16:creationId xmlns:a16="http://schemas.microsoft.com/office/drawing/2014/main" id="{F5C5C393-4F24-E0CF-8C8E-4E60F06B32C6}"/>
              </a:ext>
            </a:extLst>
          </p:cNvPr>
          <p:cNvSpPr/>
          <p:nvPr/>
        </p:nvSpPr>
        <p:spPr>
          <a:xfrm>
            <a:off x="7199289" y="3946596"/>
            <a:ext cx="1023871" cy="533107"/>
          </a:xfrm>
          <a:prstGeom prst="ellipse">
            <a:avLst/>
          </a:prstGeom>
          <a:noFill/>
          <a:ln w="2857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3319;p66">
            <a:extLst>
              <a:ext uri="{FF2B5EF4-FFF2-40B4-BE49-F238E27FC236}">
                <a16:creationId xmlns:a16="http://schemas.microsoft.com/office/drawing/2014/main" id="{7D360097-BF41-5D1B-8A14-F1293B040CD9}"/>
              </a:ext>
            </a:extLst>
          </p:cNvPr>
          <p:cNvSpPr/>
          <p:nvPr/>
        </p:nvSpPr>
        <p:spPr>
          <a:xfrm>
            <a:off x="7841086" y="4521758"/>
            <a:ext cx="3234745" cy="655549"/>
          </a:xfrm>
          <a:prstGeom prst="ellipse">
            <a:avLst/>
          </a:prstGeom>
          <a:noFill/>
          <a:ln w="2857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3294;p65">
            <a:extLst>
              <a:ext uri="{FF2B5EF4-FFF2-40B4-BE49-F238E27FC236}">
                <a16:creationId xmlns:a16="http://schemas.microsoft.com/office/drawing/2014/main" id="{3F600677-4358-B477-BAE4-6CABA6D37C09}"/>
              </a:ext>
            </a:extLst>
          </p:cNvPr>
          <p:cNvSpPr/>
          <p:nvPr/>
        </p:nvSpPr>
        <p:spPr>
          <a:xfrm rot="10800000">
            <a:off x="-14400" y="3834715"/>
            <a:ext cx="12206400" cy="686361"/>
          </a:xfrm>
          <a:prstGeom prst="rect">
            <a:avLst/>
          </a:prstGeom>
          <a:solidFill>
            <a:schemeClr val="accent2">
              <a:lumMod val="75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FDEF0D-A918-4FF0-AE3A-A69E447CEE22}"/>
                  </a:ext>
                </a:extLst>
              </p:cNvPr>
              <p:cNvSpPr txBox="1"/>
              <p:nvPr/>
            </p:nvSpPr>
            <p:spPr>
              <a:xfrm>
                <a:off x="1612417" y="5715932"/>
                <a:ext cx="9349226" cy="601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lim>
                          </m:limLow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+⋯+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fName>
                        <m:e/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78362F-FE33-327C-1099-5188A045C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417" y="5715932"/>
                <a:ext cx="9349226" cy="601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3319;p66">
            <a:extLst>
              <a:ext uri="{FF2B5EF4-FFF2-40B4-BE49-F238E27FC236}">
                <a16:creationId xmlns:a16="http://schemas.microsoft.com/office/drawing/2014/main" id="{92E44C6A-E659-29B5-4361-08D8E601ECEE}"/>
              </a:ext>
            </a:extLst>
          </p:cNvPr>
          <p:cNvSpPr/>
          <p:nvPr/>
        </p:nvSpPr>
        <p:spPr>
          <a:xfrm>
            <a:off x="4378178" y="5723420"/>
            <a:ext cx="1018663" cy="533107"/>
          </a:xfrm>
          <a:prstGeom prst="ellipse">
            <a:avLst/>
          </a:prstGeom>
          <a:noFill/>
          <a:ln w="2857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3319;p66">
            <a:extLst>
              <a:ext uri="{FF2B5EF4-FFF2-40B4-BE49-F238E27FC236}">
                <a16:creationId xmlns:a16="http://schemas.microsoft.com/office/drawing/2014/main" id="{31914BEB-6CE8-B663-93AA-2DD5A9865479}"/>
              </a:ext>
            </a:extLst>
          </p:cNvPr>
          <p:cNvSpPr/>
          <p:nvPr/>
        </p:nvSpPr>
        <p:spPr>
          <a:xfrm>
            <a:off x="6522662" y="5723421"/>
            <a:ext cx="1018663" cy="533107"/>
          </a:xfrm>
          <a:prstGeom prst="ellipse">
            <a:avLst/>
          </a:prstGeom>
          <a:noFill/>
          <a:ln w="2857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3319;p66">
            <a:extLst>
              <a:ext uri="{FF2B5EF4-FFF2-40B4-BE49-F238E27FC236}">
                <a16:creationId xmlns:a16="http://schemas.microsoft.com/office/drawing/2014/main" id="{5C999AB3-E0DE-B046-5555-9F1CC04B602E}"/>
              </a:ext>
            </a:extLst>
          </p:cNvPr>
          <p:cNvSpPr/>
          <p:nvPr/>
        </p:nvSpPr>
        <p:spPr>
          <a:xfrm>
            <a:off x="9320289" y="5723421"/>
            <a:ext cx="1018663" cy="533107"/>
          </a:xfrm>
          <a:prstGeom prst="ellipse">
            <a:avLst/>
          </a:prstGeom>
          <a:noFill/>
          <a:ln w="2857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5847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32CC1-C8FD-B287-769C-8BA225CA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23;p66">
            <a:extLst>
              <a:ext uri="{FF2B5EF4-FFF2-40B4-BE49-F238E27FC236}">
                <a16:creationId xmlns:a16="http://schemas.microsoft.com/office/drawing/2014/main" id="{AA4848C7-67C1-C151-8AC7-93E7037FB492}"/>
              </a:ext>
            </a:extLst>
          </p:cNvPr>
          <p:cNvSpPr/>
          <p:nvPr/>
        </p:nvSpPr>
        <p:spPr>
          <a:xfrm rot="10800000">
            <a:off x="-8150" y="2046335"/>
            <a:ext cx="12206400" cy="3887547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F60A3-B6A0-AA41-68A1-172521EF2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modeling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B9E9B57-3FD9-97EF-9637-2E614A22E0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3647" y="2046337"/>
                <a:ext cx="105156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7084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240"/>
                  <a:buFont typeface="Raleway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4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9pPr>
              </a:lstStyle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State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Physical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, other information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, beliefs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Decision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(or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, or control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Decisions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 are determined by a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800" dirty="0"/>
              </a:p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Exogenous information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This is new information that arrives between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Transition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sz="200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This is how our state variable evolves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Objective function for finding the best policy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func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sz="18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25F2D3B-7E15-0523-532D-AA006314E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47" y="2046337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4AFCE76-B401-9D06-FE90-8352151CE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091" y="2917371"/>
            <a:ext cx="3978518" cy="2217909"/>
          </a:xfrm>
          <a:prstGeom prst="rect">
            <a:avLst/>
          </a:prstGeom>
        </p:spPr>
      </p:pic>
      <p:sp>
        <p:nvSpPr>
          <p:cNvPr id="8" name="Google Shape;3322;p66">
            <a:extLst>
              <a:ext uri="{FF2B5EF4-FFF2-40B4-BE49-F238E27FC236}">
                <a16:creationId xmlns:a16="http://schemas.microsoft.com/office/drawing/2014/main" id="{A3D55E26-D844-53E5-FBFE-152F07681A76}"/>
              </a:ext>
            </a:extLst>
          </p:cNvPr>
          <p:cNvSpPr txBox="1">
            <a:spLocks/>
          </p:cNvSpPr>
          <p:nvPr/>
        </p:nvSpPr>
        <p:spPr>
          <a:xfrm>
            <a:off x="316672" y="1379654"/>
            <a:ext cx="11432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>
              <a:spcBef>
                <a:spcPts val="0"/>
              </a:spcBef>
              <a:buFont typeface="Raleway"/>
              <a:buNone/>
            </a:pPr>
            <a:r>
              <a:rPr lang="en-US" sz="2400" dirty="0">
                <a:latin typeface="Raleway" pitchFamily="2" charset="0"/>
                <a:ea typeface="Raleway Thin"/>
                <a:cs typeface="Raleway Thin"/>
                <a:sym typeface="Raleway Thin"/>
              </a:rPr>
              <a:t>Every sequential decision problem can be modeled using 5 core components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86EA01-E421-979D-1F5F-8C8777DC6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091" y="2915414"/>
            <a:ext cx="3978518" cy="224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4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38095-A357-D5E6-9C4D-A46F864AF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23;p66">
            <a:extLst>
              <a:ext uri="{FF2B5EF4-FFF2-40B4-BE49-F238E27FC236}">
                <a16:creationId xmlns:a16="http://schemas.microsoft.com/office/drawing/2014/main" id="{417A013F-2FB2-66C0-02C4-030669F405C7}"/>
              </a:ext>
            </a:extLst>
          </p:cNvPr>
          <p:cNvSpPr/>
          <p:nvPr/>
        </p:nvSpPr>
        <p:spPr>
          <a:xfrm rot="10800000">
            <a:off x="-8150" y="2046335"/>
            <a:ext cx="12206400" cy="3887547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CCEEB0-E370-8F3A-70B2-EE3E8C31D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modeling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84A58B7-F293-3455-ED4E-781CD2A93B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3647" y="2046337"/>
                <a:ext cx="105156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7084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240"/>
                  <a:buFont typeface="Raleway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4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9pPr>
              </a:lstStyle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State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Physical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, other information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, beliefs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Decision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(or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, or control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Decisions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 are determined by a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800" dirty="0"/>
              </a:p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Exogenous information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This is new information that arrives between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Transition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sz="200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This is how our state variable evolves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Objective function for finding the best policy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func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sz="18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25F2D3B-7E15-0523-532D-AA006314E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47" y="2046337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3322;p66">
            <a:extLst>
              <a:ext uri="{FF2B5EF4-FFF2-40B4-BE49-F238E27FC236}">
                <a16:creationId xmlns:a16="http://schemas.microsoft.com/office/drawing/2014/main" id="{5DAD5CD1-98E4-0982-547B-737F4F41B663}"/>
              </a:ext>
            </a:extLst>
          </p:cNvPr>
          <p:cNvSpPr txBox="1">
            <a:spLocks/>
          </p:cNvSpPr>
          <p:nvPr/>
        </p:nvSpPr>
        <p:spPr>
          <a:xfrm>
            <a:off x="316672" y="1379654"/>
            <a:ext cx="11432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>
              <a:spcBef>
                <a:spcPts val="0"/>
              </a:spcBef>
              <a:buFont typeface="Raleway"/>
              <a:buNone/>
            </a:pPr>
            <a:r>
              <a:rPr lang="en-US" sz="2400" dirty="0">
                <a:latin typeface="Raleway" pitchFamily="2" charset="0"/>
                <a:ea typeface="Raleway Thin"/>
                <a:cs typeface="Raleway Thin"/>
                <a:sym typeface="Raleway Thin"/>
              </a:rPr>
              <a:t>Every sequential decision problem can be modeled using 5 core components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3A5F58-E27B-8B21-DC49-F0C0EF208B9A}"/>
              </a:ext>
            </a:extLst>
          </p:cNvPr>
          <p:cNvSpPr txBox="1"/>
          <p:nvPr/>
        </p:nvSpPr>
        <p:spPr>
          <a:xfrm>
            <a:off x="8074669" y="6134027"/>
            <a:ext cx="3411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https://tinyurl.com/RLandSO/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F9BC237-F929-DA20-70FB-C15C9E9406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30"/>
          <a:stretch/>
        </p:blipFill>
        <p:spPr>
          <a:xfrm>
            <a:off x="8261296" y="1889376"/>
            <a:ext cx="2946473" cy="416861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2972D6C-2914-2307-538C-C411FC09D384}"/>
              </a:ext>
            </a:extLst>
          </p:cNvPr>
          <p:cNvSpPr txBox="1"/>
          <p:nvPr/>
        </p:nvSpPr>
        <p:spPr>
          <a:xfrm>
            <a:off x="8937603" y="4909801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Raleway" pitchFamily="2" charset="0"/>
              </a:rPr>
              <a:t>Chapter 9</a:t>
            </a:r>
          </a:p>
        </p:txBody>
      </p:sp>
    </p:spTree>
    <p:extLst>
      <p:ext uri="{BB962C8B-B14F-4D97-AF65-F5344CB8AC3E}">
        <p14:creationId xmlns:p14="http://schemas.microsoft.com/office/powerpoint/2010/main" val="2368261373"/>
      </p:ext>
    </p:extLst>
  </p:cSld>
  <p:clrMapOvr>
    <a:masterClrMapping/>
  </p:clrMapOvr>
  <p:transition spd="slow">
    <p:wipe dir="r"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14AD2-CA85-E3B8-28C1-4E1EFE31D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23;p66">
            <a:extLst>
              <a:ext uri="{FF2B5EF4-FFF2-40B4-BE49-F238E27FC236}">
                <a16:creationId xmlns:a16="http://schemas.microsoft.com/office/drawing/2014/main" id="{7C77ABC3-BF62-DDFE-745A-69989154D97F}"/>
              </a:ext>
            </a:extLst>
          </p:cNvPr>
          <p:cNvSpPr/>
          <p:nvPr/>
        </p:nvSpPr>
        <p:spPr>
          <a:xfrm rot="10800000">
            <a:off x="-8150" y="2046335"/>
            <a:ext cx="12206400" cy="3887547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8BB4B-F8A0-FBDB-A6B3-5E3F6356E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Modeling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3BAC604-0FC9-27EF-0438-AF33713137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3647" y="2046337"/>
                <a:ext cx="105156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7084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240"/>
                  <a:buFont typeface="Raleway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4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9pPr>
              </a:lstStyle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State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Physical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, other information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, beliefs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Decision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(or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, or control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Decisions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 are determined by a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800" dirty="0"/>
              </a:p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Exogenous information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This is new information that arrives between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Transition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sz="200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This is how our state variable evolves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Objective function for finding the best policy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func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sz="18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20CC910-18BB-D63F-2D1B-96E52908F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47" y="2046337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3322;p66">
            <a:extLst>
              <a:ext uri="{FF2B5EF4-FFF2-40B4-BE49-F238E27FC236}">
                <a16:creationId xmlns:a16="http://schemas.microsoft.com/office/drawing/2014/main" id="{6E6E0A68-1E8A-7501-E8E7-4B61FC000879}"/>
              </a:ext>
            </a:extLst>
          </p:cNvPr>
          <p:cNvSpPr txBox="1">
            <a:spLocks/>
          </p:cNvSpPr>
          <p:nvPr/>
        </p:nvSpPr>
        <p:spPr>
          <a:xfrm>
            <a:off x="316672" y="1379654"/>
            <a:ext cx="11432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>
              <a:spcBef>
                <a:spcPts val="0"/>
              </a:spcBef>
              <a:buFont typeface="Raleway"/>
              <a:buNone/>
            </a:pPr>
            <a:r>
              <a:rPr lang="en-US" sz="2400" dirty="0">
                <a:latin typeface="Raleway" pitchFamily="2" charset="0"/>
                <a:ea typeface="Raleway Thin"/>
                <a:cs typeface="Raleway Thin"/>
                <a:sym typeface="Raleway Thin"/>
              </a:rPr>
              <a:t>Every sequential decision problem can be modeled using 5 core components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859120-6DBD-F969-D273-B90D720F79AA}"/>
              </a:ext>
            </a:extLst>
          </p:cNvPr>
          <p:cNvGrpSpPr/>
          <p:nvPr/>
        </p:nvGrpSpPr>
        <p:grpSpPr>
          <a:xfrm>
            <a:off x="433633" y="4949073"/>
            <a:ext cx="7178817" cy="820132"/>
            <a:chOff x="433633" y="4949073"/>
            <a:chExt cx="7178817" cy="8201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8291A-6B3C-024F-BE35-D706ED4C7F16}"/>
                </a:ext>
              </a:extLst>
            </p:cNvPr>
            <p:cNvSpPr/>
            <p:nvPr/>
          </p:nvSpPr>
          <p:spPr>
            <a:xfrm>
              <a:off x="433633" y="4949073"/>
              <a:ext cx="7178817" cy="820132"/>
            </a:xfrm>
            <a:prstGeom prst="rect">
              <a:avLst/>
            </a:prstGeom>
            <a:solidFill>
              <a:srgbClr val="D6D6F5">
                <a:alpha val="50196"/>
              </a:srgb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ED1E729-3CBE-7FF2-D4AA-8788AB2B8010}"/>
                </a:ext>
              </a:extLst>
            </p:cNvPr>
            <p:cNvSpPr txBox="1"/>
            <p:nvPr/>
          </p:nvSpPr>
          <p:spPr>
            <a:xfrm>
              <a:off x="2931734" y="5047861"/>
              <a:ext cx="182133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Metrics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05C044E-85DC-CAB6-CFB7-C2A5A9D51166}"/>
              </a:ext>
            </a:extLst>
          </p:cNvPr>
          <p:cNvGrpSpPr/>
          <p:nvPr/>
        </p:nvGrpSpPr>
        <p:grpSpPr>
          <a:xfrm>
            <a:off x="444630" y="2862411"/>
            <a:ext cx="7178817" cy="651239"/>
            <a:chOff x="433633" y="4972446"/>
            <a:chExt cx="7178817" cy="6512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430030E-8DE8-02D7-8D1B-7E992F0F59D9}"/>
                </a:ext>
              </a:extLst>
            </p:cNvPr>
            <p:cNvSpPr/>
            <p:nvPr/>
          </p:nvSpPr>
          <p:spPr>
            <a:xfrm>
              <a:off x="433633" y="4977354"/>
              <a:ext cx="7178817" cy="646331"/>
            </a:xfrm>
            <a:prstGeom prst="rect">
              <a:avLst/>
            </a:prstGeom>
            <a:solidFill>
              <a:srgbClr val="D6D6F5">
                <a:alpha val="50196"/>
              </a:srgb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3A58016-21BE-6B5E-024A-DD2E39052051}"/>
                </a:ext>
              </a:extLst>
            </p:cNvPr>
            <p:cNvSpPr txBox="1"/>
            <p:nvPr/>
          </p:nvSpPr>
          <p:spPr>
            <a:xfrm>
              <a:off x="2931734" y="4972446"/>
              <a:ext cx="230063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Decisions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4D358C8-58A4-B2A3-B17C-8741D5D2EEA8}"/>
              </a:ext>
            </a:extLst>
          </p:cNvPr>
          <p:cNvGrpSpPr/>
          <p:nvPr/>
        </p:nvGrpSpPr>
        <p:grpSpPr>
          <a:xfrm>
            <a:off x="431857" y="3527608"/>
            <a:ext cx="7178817" cy="679130"/>
            <a:chOff x="433633" y="4991300"/>
            <a:chExt cx="7178817" cy="67913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A1277E7-0589-8F38-39D4-68D971D8878C}"/>
                </a:ext>
              </a:extLst>
            </p:cNvPr>
            <p:cNvSpPr/>
            <p:nvPr/>
          </p:nvSpPr>
          <p:spPr>
            <a:xfrm>
              <a:off x="433633" y="5013890"/>
              <a:ext cx="7178817" cy="656540"/>
            </a:xfrm>
            <a:prstGeom prst="rect">
              <a:avLst/>
            </a:prstGeom>
            <a:solidFill>
              <a:srgbClr val="D6D6F5">
                <a:alpha val="50196"/>
              </a:srgb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44BB33A-9170-3081-21DB-0E7E810B07DE}"/>
                </a:ext>
              </a:extLst>
            </p:cNvPr>
            <p:cNvSpPr txBox="1"/>
            <p:nvPr/>
          </p:nvSpPr>
          <p:spPr>
            <a:xfrm>
              <a:off x="2422688" y="4991300"/>
              <a:ext cx="31630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Uncertainties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B7FCB5DF-6A4E-4BF3-67CD-AC70C74B7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562" y="1891317"/>
            <a:ext cx="2791182" cy="418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97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26962-8CD5-5A18-3E91-B7E616811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497;p100">
            <a:extLst>
              <a:ext uri="{FF2B5EF4-FFF2-40B4-BE49-F238E27FC236}">
                <a16:creationId xmlns:a16="http://schemas.microsoft.com/office/drawing/2014/main" id="{8A6BDF0E-F141-A9F9-A007-4EB10208AABE}"/>
              </a:ext>
            </a:extLst>
          </p:cNvPr>
          <p:cNvSpPr/>
          <p:nvPr/>
        </p:nvSpPr>
        <p:spPr>
          <a:xfrm rot="10800000">
            <a:off x="-12600" y="1114924"/>
            <a:ext cx="12204600" cy="5347147"/>
          </a:xfrm>
          <a:prstGeom prst="rect">
            <a:avLst/>
          </a:prstGeom>
          <a:solidFill>
            <a:schemeClr val="accent2">
              <a:lumMod val="75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1E6D0C3-70C9-A468-5372-CE8E82E92EF4}"/>
              </a:ext>
            </a:extLst>
          </p:cNvPr>
          <p:cNvSpPr txBox="1">
            <a:spLocks/>
          </p:cNvSpPr>
          <p:nvPr/>
        </p:nvSpPr>
        <p:spPr>
          <a:xfrm>
            <a:off x="259548" y="1168229"/>
            <a:ext cx="7000787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spcBef>
                <a:spcPts val="0"/>
              </a:spcBef>
              <a:buFont typeface="Raleway"/>
              <a:buNone/>
            </a:pPr>
            <a:r>
              <a:rPr lang="en-US" sz="2500" b="1" dirty="0">
                <a:latin typeface="Raleway" pitchFamily="2" charset="0"/>
              </a:rPr>
              <a:t>Bridging Decision Problems:</a:t>
            </a:r>
          </a:p>
          <a:p>
            <a:pPr marL="0" indent="0">
              <a:spcBef>
                <a:spcPts val="0"/>
              </a:spcBef>
              <a:buFont typeface="Raleway"/>
              <a:buNone/>
            </a:pPr>
            <a:r>
              <a:rPr lang="en-US" sz="2500" dirty="0">
                <a:latin typeface="Raleway" pitchFamily="2" charset="0"/>
                <a:ea typeface="Raleway Thin"/>
                <a:cs typeface="Raleway Thin"/>
                <a:sym typeface="Raleway Thin"/>
              </a:rPr>
              <a:t>Volume I: Framing the Problem</a:t>
            </a:r>
          </a:p>
          <a:p>
            <a:pPr marL="86360" indent="0">
              <a:buFont typeface="Raleway"/>
              <a:buNone/>
            </a:pPr>
            <a:endParaRPr lang="en-US" sz="1100" dirty="0"/>
          </a:p>
          <a:p>
            <a:pPr marL="86360" indent="0">
              <a:buFont typeface="Raleway"/>
              <a:buNone/>
            </a:pPr>
            <a:r>
              <a:rPr lang="en-US" sz="2000" dirty="0"/>
              <a:t>Chapter 1 – Fundamentals of Framing</a:t>
            </a:r>
            <a:endParaRPr lang="en-US" sz="1100" dirty="0"/>
          </a:p>
          <a:p>
            <a:pPr marL="86360" indent="0">
              <a:buFont typeface="Raleway"/>
              <a:buNone/>
            </a:pPr>
            <a:r>
              <a:rPr lang="en-US" sz="2000" dirty="0"/>
              <a:t>Chapter 2 – Applications</a:t>
            </a:r>
            <a:endParaRPr lang="en-US" sz="1100" dirty="0"/>
          </a:p>
          <a:p>
            <a:pPr marL="86360" indent="0">
              <a:buFont typeface="Raleway"/>
              <a:buNone/>
            </a:pPr>
            <a:r>
              <a:rPr lang="en-US" sz="2000" dirty="0"/>
              <a:t>Chapter 3 – Metrics</a:t>
            </a:r>
            <a:endParaRPr lang="en-US" sz="1100" dirty="0"/>
          </a:p>
          <a:p>
            <a:pPr marL="86360" indent="0">
              <a:buFont typeface="Raleway"/>
              <a:buNone/>
            </a:pPr>
            <a:r>
              <a:rPr lang="en-US" sz="2000" dirty="0"/>
              <a:t>Chapter 4 – Decisions</a:t>
            </a:r>
            <a:endParaRPr lang="en-US" sz="1100" dirty="0"/>
          </a:p>
          <a:p>
            <a:pPr marL="86360" indent="0">
              <a:buFont typeface="Raleway"/>
              <a:buNone/>
            </a:pPr>
            <a:r>
              <a:rPr lang="en-US" sz="2000" dirty="0"/>
              <a:t>Chapter 5 – Uncertainties</a:t>
            </a:r>
            <a:endParaRPr lang="en-US" sz="1100" dirty="0"/>
          </a:p>
          <a:p>
            <a:pPr marL="86360" indent="0">
              <a:buFont typeface="Raleway"/>
              <a:buNone/>
            </a:pPr>
            <a:r>
              <a:rPr lang="en-US" sz="2000" dirty="0"/>
              <a:t>Chapter 6 – Closing Notes</a:t>
            </a:r>
          </a:p>
          <a:p>
            <a:pPr marL="86360" indent="0">
              <a:buFont typeface="Raleway"/>
              <a:buNone/>
            </a:pPr>
            <a:endParaRPr lang="en-US" sz="1000" dirty="0"/>
          </a:p>
          <a:p>
            <a:pPr marL="86360" indent="0">
              <a:buFont typeface="Raleway"/>
              <a:buNone/>
            </a:pPr>
            <a:r>
              <a:rPr lang="en-US" sz="2000" i="1" dirty="0"/>
              <a:t>Now available on Amazon Kindle ($5) or download from:</a:t>
            </a:r>
            <a:endParaRPr lang="en-US" sz="2000" dirty="0"/>
          </a:p>
          <a:p>
            <a:pPr marL="86360" indent="0">
              <a:buFont typeface="Raleway"/>
              <a:buNone/>
            </a:pPr>
            <a:endParaRPr lang="en-US" sz="2000" dirty="0"/>
          </a:p>
        </p:txBody>
      </p:sp>
      <p:sp>
        <p:nvSpPr>
          <p:cNvPr id="5" name="Google Shape;4500;p100">
            <a:extLst>
              <a:ext uri="{FF2B5EF4-FFF2-40B4-BE49-F238E27FC236}">
                <a16:creationId xmlns:a16="http://schemas.microsoft.com/office/drawing/2014/main" id="{0A000120-7BE5-9006-EC41-7365E8734A85}"/>
              </a:ext>
            </a:extLst>
          </p:cNvPr>
          <p:cNvSpPr/>
          <p:nvPr/>
        </p:nvSpPr>
        <p:spPr>
          <a:xfrm rot="10800000">
            <a:off x="-15200" y="5314683"/>
            <a:ext cx="8142000" cy="810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501;p100">
            <a:extLst>
              <a:ext uri="{FF2B5EF4-FFF2-40B4-BE49-F238E27FC236}">
                <a16:creationId xmlns:a16="http://schemas.microsoft.com/office/drawing/2014/main" id="{D6A4BC05-65A1-0F1A-2565-4B83160A0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3449" y="5525258"/>
            <a:ext cx="6727197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u="sng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22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tinyurl.com/SDAwebsite/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endParaRPr sz="22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3383BC-D2B0-479F-5FB3-8AF62FF9A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38" y="999438"/>
            <a:ext cx="3564765" cy="5347148"/>
          </a:xfrm>
          <a:prstGeom prst="rect">
            <a:avLst/>
          </a:prstGeom>
        </p:spPr>
      </p:pic>
      <p:sp>
        <p:nvSpPr>
          <p:cNvPr id="12" name="Google Shape;4498;p100">
            <a:extLst>
              <a:ext uri="{FF2B5EF4-FFF2-40B4-BE49-F238E27FC236}">
                <a16:creationId xmlns:a16="http://schemas.microsoft.com/office/drawing/2014/main" id="{3127855A-72A6-9AF4-EB99-6B5C0CC6A8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3200" dirty="0"/>
              <a:t>Teaching materials</a:t>
            </a: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DEDCC-1B54-E808-30B2-F3E3AC4A14BD}"/>
              </a:ext>
            </a:extLst>
          </p:cNvPr>
          <p:cNvSpPr txBox="1"/>
          <p:nvPr/>
        </p:nvSpPr>
        <p:spPr>
          <a:xfrm>
            <a:off x="4610444" y="3138457"/>
            <a:ext cx="12522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Raleway" pitchFamily="2" charset="0"/>
              </a:rPr>
              <a:t>No math!</a:t>
            </a:r>
          </a:p>
        </p:txBody>
      </p:sp>
    </p:spTree>
    <p:extLst>
      <p:ext uri="{BB962C8B-B14F-4D97-AF65-F5344CB8AC3E}">
        <p14:creationId xmlns:p14="http://schemas.microsoft.com/office/powerpoint/2010/main" val="129891328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AE3E2-4DF6-D6A3-B6A1-C060105B2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23;p66">
            <a:extLst>
              <a:ext uri="{FF2B5EF4-FFF2-40B4-BE49-F238E27FC236}">
                <a16:creationId xmlns:a16="http://schemas.microsoft.com/office/drawing/2014/main" id="{7B94C580-D830-369A-A2C5-D252DF1E5A08}"/>
              </a:ext>
            </a:extLst>
          </p:cNvPr>
          <p:cNvSpPr/>
          <p:nvPr/>
        </p:nvSpPr>
        <p:spPr>
          <a:xfrm rot="10800000">
            <a:off x="-8150" y="2046335"/>
            <a:ext cx="12206400" cy="3887547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1668D-1B29-11E7-A626-6DF135DC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modeling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E586215-B0C4-3F56-3C19-5A9860139E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3647" y="2046337"/>
                <a:ext cx="105156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7084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240"/>
                  <a:buFont typeface="Raleway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4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9pPr>
              </a:lstStyle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State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Physical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, other information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, beliefs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Decision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(or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, or control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Decisions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 are determined by a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800" dirty="0"/>
              </a:p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Exogenous information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This is new information that arrives between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Transition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sz="200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This is how our state variable evolves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:pPr marL="543560" indent="-457200">
                  <a:buFont typeface="+mj-lt"/>
                  <a:buAutoNum type="arabicPeriod"/>
                </a:pPr>
                <a:r>
                  <a:rPr lang="en-US" sz="2000" dirty="0"/>
                  <a:t>Objective function for finding the best policy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func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sz="18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25F2D3B-7E15-0523-532D-AA006314E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47" y="2046337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3322;p66">
            <a:extLst>
              <a:ext uri="{FF2B5EF4-FFF2-40B4-BE49-F238E27FC236}">
                <a16:creationId xmlns:a16="http://schemas.microsoft.com/office/drawing/2014/main" id="{371D8D34-113F-A2FE-C776-78D22594465E}"/>
              </a:ext>
            </a:extLst>
          </p:cNvPr>
          <p:cNvSpPr txBox="1">
            <a:spLocks/>
          </p:cNvSpPr>
          <p:nvPr/>
        </p:nvSpPr>
        <p:spPr>
          <a:xfrm>
            <a:off x="316672" y="1379654"/>
            <a:ext cx="11432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>
              <a:spcBef>
                <a:spcPts val="0"/>
              </a:spcBef>
              <a:buFont typeface="Raleway"/>
              <a:buNone/>
            </a:pPr>
            <a:r>
              <a:rPr lang="en-US" sz="2400" dirty="0">
                <a:latin typeface="Raleway" pitchFamily="2" charset="0"/>
                <a:ea typeface="Raleway Thin"/>
                <a:cs typeface="Raleway Thin"/>
                <a:sym typeface="Raleway Thin"/>
              </a:rPr>
              <a:t>Every sequential decision problem can be modeled using 5 core components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9327CE-6F37-1736-7145-7D23F8033426}"/>
              </a:ext>
            </a:extLst>
          </p:cNvPr>
          <p:cNvSpPr txBox="1"/>
          <p:nvPr/>
        </p:nvSpPr>
        <p:spPr>
          <a:xfrm>
            <a:off x="8644007" y="6194316"/>
            <a:ext cx="206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Raleway" pitchFamily="2" charset="0"/>
              </a:rPr>
              <a:t>Forthcoming 2026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716B297-10EF-AFB3-12BC-02713977B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562" y="1891317"/>
            <a:ext cx="2788704" cy="418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834446"/>
      </p:ext>
    </p:extLst>
  </p:cSld>
  <p:clrMapOvr>
    <a:masterClrMapping/>
  </p:clrMapOvr>
  <p:transition spd="slow">
    <p:wipe dir="r"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F687-EEE1-943F-558C-0B271BA91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23;p66">
            <a:extLst>
              <a:ext uri="{FF2B5EF4-FFF2-40B4-BE49-F238E27FC236}">
                <a16:creationId xmlns:a16="http://schemas.microsoft.com/office/drawing/2014/main" id="{A37AAD3E-E767-0CB6-E12F-DEDA235F357C}"/>
              </a:ext>
            </a:extLst>
          </p:cNvPr>
          <p:cNvSpPr/>
          <p:nvPr/>
        </p:nvSpPr>
        <p:spPr>
          <a:xfrm rot="10800000">
            <a:off x="-8150" y="1747105"/>
            <a:ext cx="12206400" cy="4443178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FBC0C5-1FD4-C03E-FFBA-241E5766ECC5}"/>
              </a:ext>
            </a:extLst>
          </p:cNvPr>
          <p:cNvGrpSpPr/>
          <p:nvPr/>
        </p:nvGrpSpPr>
        <p:grpSpPr>
          <a:xfrm>
            <a:off x="8783810" y="1750748"/>
            <a:ext cx="3059847" cy="4329019"/>
            <a:chOff x="8783810" y="1750748"/>
            <a:chExt cx="3059847" cy="432901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E638BE3-1C5F-34E3-FDFC-C7322A3C32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230"/>
            <a:stretch/>
          </p:blipFill>
          <p:spPr>
            <a:xfrm>
              <a:off x="8783810" y="1750748"/>
              <a:ext cx="3059847" cy="432901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7F0F766-631A-180F-70EE-F30B626B6086}"/>
                </a:ext>
              </a:extLst>
            </p:cNvPr>
            <p:cNvSpPr txBox="1"/>
            <p:nvPr/>
          </p:nvSpPr>
          <p:spPr>
            <a:xfrm>
              <a:off x="9460117" y="4930437"/>
              <a:ext cx="15453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Raleway" pitchFamily="2" charset="0"/>
                </a:rPr>
                <a:t>Chapter 11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80271D-636B-4807-A8F4-6A372E7A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modeling framework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746285-9FCA-B716-147A-B7D5AA3FA58F}"/>
              </a:ext>
            </a:extLst>
          </p:cNvPr>
          <p:cNvSpPr txBox="1">
            <a:spLocks/>
          </p:cNvSpPr>
          <p:nvPr/>
        </p:nvSpPr>
        <p:spPr>
          <a:xfrm>
            <a:off x="523647" y="1838946"/>
            <a:ext cx="7734233" cy="4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None/>
            </a:pPr>
            <a:r>
              <a:rPr lang="en-US" sz="2000" b="1" dirty="0"/>
              <a:t>Policy search methods </a:t>
            </a:r>
            <a:r>
              <a:rPr lang="en-US" sz="2000" dirty="0"/>
              <a:t>– These are methods that do not explicitly plan into the future, but are designed to perform well over time:</a:t>
            </a:r>
          </a:p>
          <a:p>
            <a:pPr marL="543560" indent="-457200">
              <a:buFont typeface="+mj-lt"/>
              <a:buAutoNum type="arabicPeriod"/>
            </a:pPr>
            <a:r>
              <a:rPr lang="en-US" sz="2000" dirty="0"/>
              <a:t>Policy function approximations (PFAs) – Chapter 1`2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Analytical functions that map state variables to decisions.</a:t>
            </a:r>
          </a:p>
          <a:p>
            <a:pPr marL="543560" indent="-457200">
              <a:buFont typeface="+mj-lt"/>
              <a:buAutoNum type="arabicPeriod"/>
            </a:pPr>
            <a:r>
              <a:rPr lang="en-US" sz="2000" dirty="0"/>
              <a:t>Cost function approximations (CFAs) – Chapter 13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Deterministic optimization models that are tuned to work well over time.</a:t>
            </a:r>
            <a:endParaRPr lang="en-US" sz="2200" dirty="0"/>
          </a:p>
          <a:p>
            <a:pPr marL="86360" indent="0">
              <a:buNone/>
            </a:pPr>
            <a:r>
              <a:rPr lang="en-US" sz="2000" b="1" dirty="0"/>
              <a:t>Lookahead methods </a:t>
            </a:r>
            <a:r>
              <a:rPr lang="en-US" sz="2000" dirty="0"/>
              <a:t>– These are methods that plan into the future to make better decisions now.</a:t>
            </a:r>
          </a:p>
          <a:p>
            <a:pPr marL="519113" indent="-433388">
              <a:buNone/>
            </a:pPr>
            <a:r>
              <a:rPr lang="en-US" sz="2000" dirty="0"/>
              <a:t>3.	Value function approximations (VFAs) – Chapters 14-18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These use approximations of the value of landing in a downstream state from a decision made now.</a:t>
            </a:r>
          </a:p>
          <a:p>
            <a:pPr marL="542925" indent="-457200">
              <a:buAutoNum type="arabicPeriod" startAt="4"/>
            </a:pPr>
            <a:r>
              <a:rPr lang="en-US" sz="2000" dirty="0"/>
              <a:t>Direct lookahead approximations (DLAs) – Chapter 19</a:t>
            </a:r>
          </a:p>
          <a:p>
            <a:pPr marL="1000125" lvl="1" indent="-457200">
              <a:buFont typeface="Wingdings" panose="05000000000000000000" pitchFamily="2" charset="2"/>
              <a:buChar char="§"/>
            </a:pPr>
            <a:r>
              <a:rPr lang="en-US" sz="1700" dirty="0"/>
              <a:t>These explicit plan into the future, deterministically or stochastically, to make better decisions now.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800" dirty="0"/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sp>
        <p:nvSpPr>
          <p:cNvPr id="8" name="Google Shape;3322;p66">
            <a:extLst>
              <a:ext uri="{FF2B5EF4-FFF2-40B4-BE49-F238E27FC236}">
                <a16:creationId xmlns:a16="http://schemas.microsoft.com/office/drawing/2014/main" id="{67F328D6-AC42-BD83-0F2A-F30F2B373DBF}"/>
              </a:ext>
            </a:extLst>
          </p:cNvPr>
          <p:cNvSpPr txBox="1">
            <a:spLocks/>
          </p:cNvSpPr>
          <p:nvPr/>
        </p:nvSpPr>
        <p:spPr>
          <a:xfrm>
            <a:off x="316672" y="1162838"/>
            <a:ext cx="11432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>
              <a:spcBef>
                <a:spcPts val="0"/>
              </a:spcBef>
              <a:buFont typeface="Raleway"/>
              <a:buNone/>
            </a:pPr>
            <a:r>
              <a:rPr lang="en-US" sz="2400" dirty="0">
                <a:latin typeface="Raleway" pitchFamily="2" charset="0"/>
                <a:ea typeface="Raleway Thin"/>
                <a:cs typeface="Raleway Thin"/>
                <a:sym typeface="Raleway Thin"/>
              </a:rPr>
              <a:t>Decisions are made using the four classes of policies: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24E986E-857C-BCF1-BF51-D56B71301834}"/>
              </a:ext>
            </a:extLst>
          </p:cNvPr>
          <p:cNvGrpSpPr/>
          <p:nvPr/>
        </p:nvGrpSpPr>
        <p:grpSpPr>
          <a:xfrm>
            <a:off x="8773939" y="1701321"/>
            <a:ext cx="3069718" cy="4862327"/>
            <a:chOff x="8806596" y="1701321"/>
            <a:chExt cx="3069718" cy="486232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F72ED35-C0CE-0E09-2ECD-C07044A00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06596" y="1701321"/>
              <a:ext cx="3069718" cy="439859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4F6DA32-CA38-D989-6FC7-07EDFEB08D6D}"/>
                </a:ext>
              </a:extLst>
            </p:cNvPr>
            <p:cNvSpPr txBox="1"/>
            <p:nvPr/>
          </p:nvSpPr>
          <p:spPr>
            <a:xfrm>
              <a:off x="9501850" y="6194316"/>
              <a:ext cx="17732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1" dirty="0">
                  <a:latin typeface="Raleway" pitchFamily="2" charset="0"/>
                </a:rPr>
                <a:t>January , 2027?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561500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146E0-00F2-0928-6A7D-8A6CE64B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76F18-52A8-0FFE-997C-F447EE5C1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modeling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FEADF-3F00-5B14-9536-92A87CC55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092" y="1078524"/>
            <a:ext cx="10363200" cy="622460"/>
          </a:xfrm>
        </p:spPr>
        <p:txBody>
          <a:bodyPr/>
          <a:lstStyle/>
          <a:p>
            <a:pPr marL="86360" indent="0" algn="ctr">
              <a:buNone/>
            </a:pPr>
            <a:r>
              <a:rPr lang="en-US" dirty="0"/>
              <a:t>Canonical frameworks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F9D20F2-674B-EE0C-3D7F-6343EF9C3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981" y="2764622"/>
            <a:ext cx="6036717" cy="31520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EE9980-01C7-0040-9AC5-A0E509D3144E}"/>
              </a:ext>
            </a:extLst>
          </p:cNvPr>
          <p:cNvSpPr txBox="1"/>
          <p:nvPr/>
        </p:nvSpPr>
        <p:spPr>
          <a:xfrm>
            <a:off x="7094772" y="2100955"/>
            <a:ext cx="3533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aleway" pitchFamily="2" charset="0"/>
              </a:rPr>
              <a:t>Universal Modeling 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5B4D30-1007-14D3-2F85-4BD94220E413}"/>
              </a:ext>
            </a:extLst>
          </p:cNvPr>
          <p:cNvSpPr txBox="1"/>
          <p:nvPr/>
        </p:nvSpPr>
        <p:spPr>
          <a:xfrm>
            <a:off x="1106625" y="1976728"/>
            <a:ext cx="3587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aleway" pitchFamily="2" charset="0"/>
              </a:rPr>
              <a:t>Markov decision process model</a:t>
            </a:r>
          </a:p>
          <a:p>
            <a:pPr algn="ctr"/>
            <a:r>
              <a:rPr lang="en-US" sz="1800" dirty="0">
                <a:latin typeface="Raleway" pitchFamily="2" charset="0"/>
              </a:rPr>
              <a:t>(</a:t>
            </a:r>
            <a:r>
              <a:rPr lang="en-US" sz="1800" dirty="0" err="1">
                <a:latin typeface="Raleway" pitchFamily="2" charset="0"/>
              </a:rPr>
              <a:t>Puterman</a:t>
            </a:r>
            <a:r>
              <a:rPr lang="en-US" sz="1800" dirty="0">
                <a:latin typeface="Raleway" pitchFamily="2" charset="0"/>
              </a:rPr>
              <a:t>, 1994)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E165F3D-2381-2E79-E241-56283B96E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48" y="2764622"/>
            <a:ext cx="5010299" cy="3152083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179CD8-7379-CAA1-A047-487BA871071B}"/>
                  </a:ext>
                </a:extLst>
              </p:cNvPr>
              <p:cNvSpPr txBox="1"/>
              <p:nvPr/>
            </p:nvSpPr>
            <p:spPr>
              <a:xfrm>
                <a:off x="1000125" y="4514850"/>
                <a:ext cx="7379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179CD8-7379-CAA1-A047-487BA8710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25" y="4514850"/>
                <a:ext cx="737959" cy="307777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A2DF21-A698-D994-D5FC-2C52E3AC26D8}"/>
                  </a:ext>
                </a:extLst>
              </p:cNvPr>
              <p:cNvSpPr txBox="1"/>
              <p:nvPr/>
            </p:nvSpPr>
            <p:spPr>
              <a:xfrm>
                <a:off x="1866900" y="5048250"/>
                <a:ext cx="94282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A2DF21-A698-D994-D5FC-2C52E3AC2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00" y="5048250"/>
                <a:ext cx="942822" cy="307777"/>
              </a:xfrm>
              <a:prstGeom prst="rect">
                <a:avLst/>
              </a:prstGeom>
              <a:blipFill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0630195"/>
      </p:ext>
    </p:extLst>
  </p:cSld>
  <p:clrMapOvr>
    <a:masterClrMapping/>
  </p:clrMapOvr>
  <p:transition spd="slow">
    <p:wipe dir="r"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77F9B-DDE7-A27E-B1C5-7AF3B410C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A25A8-95FC-796E-E4CA-ACCF234B9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modeling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C58E6-6F30-80CA-DB1E-BA1F9A694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125" y="1069939"/>
            <a:ext cx="5705475" cy="4401600"/>
          </a:xfrm>
        </p:spPr>
        <p:txBody>
          <a:bodyPr/>
          <a:lstStyle/>
          <a:p>
            <a:pPr marL="86360" indent="0">
              <a:buNone/>
            </a:pPr>
            <a:r>
              <a:rPr lang="en-US" sz="2000" dirty="0"/>
              <a:t>Objective function as stated in Princeton RL course:</a:t>
            </a:r>
            <a:endParaRPr lang="en-US" dirty="0"/>
          </a:p>
          <a:p>
            <a:pPr lvl="1">
              <a:buSzPct val="90000"/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US" sz="1800" dirty="0"/>
              <a:t>Sums over rewards, but does not specify what they are optimizing over (should be policies).</a:t>
            </a:r>
          </a:p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US" sz="1800" dirty="0"/>
              <a:t>They make the default assumption that policies are stochastic. This is one strategy for exploration, but only useful for special cases.</a:t>
            </a:r>
          </a:p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US" sz="1800" dirty="0"/>
              <a:t>Should take expectation over the sum, but fail to model the random variables.</a:t>
            </a:r>
          </a:p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US" sz="1800" dirty="0"/>
              <a:t>Assumes unknown “dynamics function” – while there are problems where it is unknown, there are many problems where it is known.</a:t>
            </a:r>
          </a:p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US" sz="1800" dirty="0"/>
              <a:t>RL literature never defines state variables (I don’t think they know what it is).</a:t>
            </a:r>
          </a:p>
          <a:p>
            <a:pPr marL="86360" indent="0">
              <a:buNone/>
            </a:pP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4196ABE-9BD9-5AC5-884E-04890C97DFB3}"/>
              </a:ext>
            </a:extLst>
          </p:cNvPr>
          <p:cNvGrpSpPr/>
          <p:nvPr/>
        </p:nvGrpSpPr>
        <p:grpSpPr>
          <a:xfrm>
            <a:off x="5943600" y="2053316"/>
            <a:ext cx="6085913" cy="3925661"/>
            <a:chOff x="4920423" y="1820636"/>
            <a:chExt cx="6902261" cy="418011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8D77F29-4E24-2BCF-51BC-DA7ABC251EF8}"/>
                </a:ext>
              </a:extLst>
            </p:cNvPr>
            <p:cNvSpPr/>
            <p:nvPr/>
          </p:nvSpPr>
          <p:spPr>
            <a:xfrm>
              <a:off x="4920423" y="1847850"/>
              <a:ext cx="6902261" cy="4152900"/>
            </a:xfrm>
            <a:prstGeom prst="rect">
              <a:avLst/>
            </a:prstGeom>
            <a:solidFill>
              <a:schemeClr val="bg1"/>
            </a:solidFill>
            <a:ln w="127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DF069BA-5426-739D-AFCF-49F3516ECAA6}"/>
                </a:ext>
              </a:extLst>
            </p:cNvPr>
            <p:cNvGrpSpPr/>
            <p:nvPr/>
          </p:nvGrpSpPr>
          <p:grpSpPr>
            <a:xfrm>
              <a:off x="4920423" y="1820636"/>
              <a:ext cx="6900576" cy="4161064"/>
              <a:chOff x="3692291" y="898491"/>
              <a:chExt cx="8130406" cy="4860930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43B7F90D-32CC-4357-98F1-9CB8D35838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69151" y="1212601"/>
                <a:ext cx="7783231" cy="679599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F334E72-1083-25C1-3A94-E6159EFFD4CB}"/>
                  </a:ext>
                </a:extLst>
              </p:cNvPr>
              <p:cNvSpPr txBox="1"/>
              <p:nvPr/>
            </p:nvSpPr>
            <p:spPr>
              <a:xfrm>
                <a:off x="3692291" y="898491"/>
                <a:ext cx="20890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Objective function:</a:t>
                </a:r>
              </a:p>
            </p:txBody>
          </p: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7B968DDA-D46C-AADB-8BC9-DB7C5439C7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892" b="37952"/>
              <a:stretch>
                <a:fillRect/>
              </a:stretch>
            </p:blipFill>
            <p:spPr>
              <a:xfrm>
                <a:off x="3769150" y="1855655"/>
                <a:ext cx="7976500" cy="2240095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1A32A39F-FB06-369E-BD08-D5040452B3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9150" y="4113359"/>
                <a:ext cx="8053547" cy="1646062"/>
              </a:xfrm>
              <a:prstGeom prst="rect">
                <a:avLst/>
              </a:prstGeom>
            </p:spPr>
          </p:pic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BED75DC-3C72-C4DF-8682-F0E42CC272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262" y="3275423"/>
            <a:ext cx="11525066" cy="76833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88A2A5-32A7-1C31-ABC2-7F83F5A0F1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261" y="4287243"/>
            <a:ext cx="11614013" cy="97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4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C8342-ABDB-F429-7121-CAD8263DE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7BACF7B-97DB-677A-8E5D-5CC6E847F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C49A6F-EC31-A35A-5919-F282A319A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683917-085D-B836-56C0-E3E83C884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3FC898-7772-DB66-44C8-7DE769851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A10D0-791A-03A1-EB8F-D439AEC7F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5F3D5B-6CF3-5CA2-B003-827EA7DC3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F7F70E3-406A-CE88-4B78-06094F8D47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6C9D14-218F-2500-5892-4F86702C5CFB}"/>
              </a:ext>
            </a:extLst>
          </p:cNvPr>
          <p:cNvSpPr txBox="1"/>
          <p:nvPr/>
        </p:nvSpPr>
        <p:spPr>
          <a:xfrm>
            <a:off x="3854573" y="3563240"/>
            <a:ext cx="80631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the universal modeling framework: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Modeling → The Universal Modeling Framework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Teaching materials → Books: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Sequential Decision Analytics and Modeling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Chapter 9 of Reinforcement Learning and Stochastic Optimization 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02936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4" ma:contentTypeDescription="Create a new document." ma:contentTypeScope="" ma:versionID="5a821b418db10c4a560eab9e32ac3723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42462b3b3e84324c9aaf61227d41f6c0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purl.org/dc/terms/"/>
    <ds:schemaRef ds:uri="b9a67f89-7d7d-48be-9399-9713d9f7587c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9AAD22F-0715-4457-A130-80773E09E4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463730</TotalTime>
  <Words>19706</Words>
  <Application>Microsoft Office PowerPoint</Application>
  <PresentationFormat>Widescreen</PresentationFormat>
  <Paragraphs>4554</Paragraphs>
  <Slides>325</Slides>
  <Notes>107</Notes>
  <HiddenSlides>0</HiddenSlides>
  <MMClips>3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325</vt:i4>
      </vt:variant>
    </vt:vector>
  </HeadingPairs>
  <TitlesOfParts>
    <vt:vector size="338" baseType="lpstr">
      <vt:lpstr>Oswald Regular</vt:lpstr>
      <vt:lpstr>Wingdings</vt:lpstr>
      <vt:lpstr>Cambria Math</vt:lpstr>
      <vt:lpstr>Oswald</vt:lpstr>
      <vt:lpstr>Courier New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PowerPoint Presentation</vt:lpstr>
      <vt:lpstr>PowerPoint Presentation</vt:lpstr>
      <vt:lpstr>CASTLE Laboratory</vt:lpstr>
      <vt:lpstr>PowerPoint Presentation</vt:lpstr>
      <vt:lpstr>CASTLE Lab March, 2019</vt:lpstr>
      <vt:lpstr>Human processes</vt:lpstr>
      <vt:lpstr>Performance metrics</vt:lpstr>
      <vt:lpstr>Framing the problem</vt:lpstr>
      <vt:lpstr>Framing the problem</vt:lpstr>
      <vt:lpstr>Application domains</vt:lpstr>
      <vt:lpstr>PowerPoint Presentation</vt:lpstr>
      <vt:lpstr>PowerPoint Presentation</vt:lpstr>
      <vt:lpstr>Relevant courses I taught at Princeton</vt:lpstr>
      <vt:lpstr>Teaching materials</vt:lpstr>
      <vt:lpstr>Teaching materials</vt:lpstr>
      <vt:lpstr>Teaching materials</vt:lpstr>
      <vt:lpstr>Teaching materials</vt:lpstr>
      <vt:lpstr>Teaching materials</vt:lpstr>
      <vt:lpstr>Thank you!</vt:lpstr>
      <vt:lpstr>PowerPoint Presentation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PowerPoint Presentation</vt:lpstr>
      <vt:lpstr>PowerPoint Presentation</vt:lpstr>
      <vt:lpstr>Brief history of sequential decision problems</vt:lpstr>
      <vt:lpstr>PowerPoint Presentation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PowerPoint Presentation</vt:lpstr>
      <vt:lpstr>Decisions</vt:lpstr>
      <vt:lpstr>Brief history of seq. decision problems</vt:lpstr>
      <vt:lpstr>PowerPoint Presentation</vt:lpstr>
      <vt:lpstr>Thank you!</vt:lpstr>
      <vt:lpstr>PowerPoint Presentation</vt:lpstr>
      <vt:lpstr>PowerPoint Presentation</vt:lpstr>
      <vt:lpstr>Decisions</vt:lpstr>
      <vt:lpstr>Information</vt:lpstr>
      <vt:lpstr>Sequential decision problems</vt:lpstr>
      <vt:lpstr>Sequential decision problems</vt:lpstr>
      <vt:lpstr>Sequential decision problems</vt:lpstr>
      <vt:lpstr>Sequential decision problems</vt:lpstr>
      <vt:lpstr>Sequential decision problems</vt:lpstr>
      <vt:lpstr>PowerPoint Presentation</vt:lpstr>
      <vt:lpstr>Sequential decision problems</vt:lpstr>
      <vt:lpstr>Sequential decision problems</vt:lpstr>
      <vt:lpstr>Sequential decision problems</vt:lpstr>
      <vt:lpstr>Sequential decision problems</vt:lpstr>
      <vt:lpstr>Sequential decision problems</vt:lpstr>
      <vt:lpstr>Teaching materials</vt:lpstr>
      <vt:lpstr>PowerPoint Presentation</vt:lpstr>
      <vt:lpstr>PowerPoint Presentation</vt:lpstr>
      <vt:lpstr>Sequential decision problems</vt:lpstr>
      <vt:lpstr>Sequential decision problems</vt:lpstr>
      <vt:lpstr>Thank you!</vt:lpstr>
      <vt:lpstr>PowerPoint Presentation</vt:lpstr>
      <vt:lpstr>OUTLINE</vt:lpstr>
      <vt:lpstr>OUTLINE</vt:lpstr>
      <vt:lpstr>Framing the problem</vt:lpstr>
      <vt:lpstr>Framing the problem</vt:lpstr>
      <vt:lpstr>PowerPoint Presentation</vt:lpstr>
      <vt:lpstr>Framing the problem</vt:lpstr>
      <vt:lpstr>Framing the problem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Framing: Metrics</vt:lpstr>
      <vt:lpstr>Framing: Metrics</vt:lpstr>
      <vt:lpstr>OUTLINE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OUTLINE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OUTLINE</vt:lpstr>
      <vt:lpstr>PowerPoint Presentation</vt:lpstr>
      <vt:lpstr>PowerPoint Presentation</vt:lpstr>
      <vt:lpstr>PowerPoint Presentation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Thank you!</vt:lpstr>
      <vt:lpstr>PowerPoint Presentation</vt:lpstr>
      <vt:lpstr>The universal modeling framework</vt:lpstr>
      <vt:lpstr>The universal modeling framework</vt:lpstr>
      <vt:lpstr>The universal modeling framework</vt:lpstr>
      <vt:lpstr>The universal modeling framework</vt:lpstr>
      <vt:lpstr>The Universal Modeling Framework</vt:lpstr>
      <vt:lpstr>Teaching materials</vt:lpstr>
      <vt:lpstr>The universal modeling framework</vt:lpstr>
      <vt:lpstr>The universal modeling framework</vt:lpstr>
      <vt:lpstr>The universal modeling framework</vt:lpstr>
      <vt:lpstr>The universal modeling framework</vt:lpstr>
      <vt:lpstr>Thank you!</vt:lpstr>
      <vt:lpstr>PowerPoint Presentation</vt:lpstr>
      <vt:lpstr>OUTLINE</vt:lpstr>
      <vt:lpstr>OUTLINE</vt:lpstr>
      <vt:lpstr>Estimation: Learning problems</vt:lpstr>
      <vt:lpstr>OUTLINE</vt:lpstr>
      <vt:lpstr>Estimation: Approximation strategies</vt:lpstr>
      <vt:lpstr>Estimation: Approximation strategies</vt:lpstr>
      <vt:lpstr>Estimation: Approximation strategies</vt:lpstr>
      <vt:lpstr>Estimation: Approximation strategies</vt:lpstr>
      <vt:lpstr>Estimation: Neural networks</vt:lpstr>
      <vt:lpstr>Estimation: Neural networks</vt:lpstr>
      <vt:lpstr>Estimation: Neural networks</vt:lpstr>
      <vt:lpstr>OUTLINE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PowerPoint Presentation</vt:lpstr>
      <vt:lpstr>PowerPoint Presentation</vt:lpstr>
      <vt:lpstr>OUTLINE</vt:lpstr>
      <vt:lpstr>Estimation: Batch vs. recursive learning</vt:lpstr>
      <vt:lpstr>Estimation: Batch vs. recursive learning</vt:lpstr>
      <vt:lpstr>Estimation: Batch vs. recursive learning</vt:lpstr>
      <vt:lpstr>Thank you!</vt:lpstr>
      <vt:lpstr>PowerPoint Presentation</vt:lpstr>
      <vt:lpstr>OUTLINE</vt:lpstr>
      <vt:lpstr>OUTLINE</vt:lpstr>
      <vt:lpstr>Modeling – Textbook modeling styles</vt:lpstr>
      <vt:lpstr>Modeling – Textbook modeling styles</vt:lpstr>
      <vt:lpstr>Modeling – Textbook modeling styles</vt:lpstr>
      <vt:lpstr>Modeling – Textbook modeling styles</vt:lpstr>
      <vt:lpstr>Modeling – Textbook modeling styles</vt:lpstr>
      <vt:lpstr>OUTLINE</vt:lpstr>
      <vt:lpstr>Time scales in energy</vt:lpstr>
      <vt:lpstr>Modeling: Time</vt:lpstr>
      <vt:lpstr>Modeling: Time</vt:lpstr>
      <vt:lpstr>OUTLINE</vt:lpstr>
      <vt:lpstr>Modeling: State variables</vt:lpstr>
      <vt:lpstr>Modeling: State variables</vt:lpstr>
      <vt:lpstr>OUTLINE</vt:lpstr>
      <vt:lpstr>Modeling: Decisions</vt:lpstr>
      <vt:lpstr>Modeling: Decisions</vt:lpstr>
      <vt:lpstr>OUTLINE</vt:lpstr>
      <vt:lpstr>Modeling: Exogenous information</vt:lpstr>
      <vt:lpstr>Modeling: Exogenous information</vt:lpstr>
      <vt:lpstr>Modeling: Exogenous information</vt:lpstr>
      <vt:lpstr>Modeling: Exogenous information</vt:lpstr>
      <vt:lpstr>OUTLINE</vt:lpstr>
      <vt:lpstr>Modeling: Transition function</vt:lpstr>
      <vt:lpstr>Modeling: Transition function</vt:lpstr>
      <vt:lpstr>OUTLINE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Thank you!</vt:lpstr>
      <vt:lpstr>PowerPoint Presentation</vt:lpstr>
      <vt:lpstr>OUTLINE</vt:lpstr>
      <vt:lpstr>OUTLINE</vt:lpstr>
      <vt:lpstr>State variables</vt:lpstr>
      <vt:lpstr>PowerPoint Presentation</vt:lpstr>
      <vt:lpstr>State variables: Definition</vt:lpstr>
      <vt:lpstr>State variables: Definition</vt:lpstr>
      <vt:lpstr>State variables: Definition</vt:lpstr>
      <vt:lpstr>State variables: Definition</vt:lpstr>
      <vt:lpstr>State variables: Definition</vt:lpstr>
      <vt:lpstr>State variables: Definition</vt:lpstr>
      <vt:lpstr>OUTLINE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OUTLINE</vt:lpstr>
      <vt:lpstr>State variables: Belief states</vt:lpstr>
      <vt:lpstr>State variables: Belief states</vt:lpstr>
      <vt:lpstr>OUTLINE</vt:lpstr>
      <vt:lpstr>State variables: Pre- and post-decision states</vt:lpstr>
      <vt:lpstr>State variables: Pre- and post-decision states</vt:lpstr>
      <vt:lpstr>State variables: Pre- and post-decision states</vt:lpstr>
      <vt:lpstr>State variables: Pre- and post-decision states</vt:lpstr>
      <vt:lpstr>OUTLINE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Thank you!</vt:lpstr>
      <vt:lpstr>PowerPoint Presentation</vt:lpstr>
      <vt:lpstr>OUTLINE</vt:lpstr>
      <vt:lpstr>OUTLINE</vt:lpstr>
      <vt:lpstr>Modeling exogenous information</vt:lpstr>
      <vt:lpstr>Modeling exogenous information</vt:lpstr>
      <vt:lpstr>Modeling exogenous information</vt:lpstr>
      <vt:lpstr>Modeling exogenous information</vt:lpstr>
      <vt:lpstr>Modeling exogenous information</vt:lpstr>
      <vt:lpstr>Modeling exogenous information</vt:lpstr>
      <vt:lpstr>OUTLINE</vt:lpstr>
      <vt:lpstr>The 12 categories of uncertainty</vt:lpstr>
      <vt:lpstr>The 12 categories of uncertainty</vt:lpstr>
      <vt:lpstr>The 12 categories of uncertainty</vt:lpstr>
      <vt:lpstr>The 12 categories of uncertainty</vt:lpstr>
      <vt:lpstr>The 12 categories of uncertainty</vt:lpstr>
      <vt:lpstr>The 12 categories of uncertainty</vt:lpstr>
      <vt:lpstr>OUTLINE</vt:lpstr>
      <vt:lpstr>Different flavors of uncertainty</vt:lpstr>
      <vt:lpstr>Different flavors of uncertainty</vt:lpstr>
      <vt:lpstr>Different flavors of uncertainty</vt:lpstr>
      <vt:lpstr>Different flavors of uncertainty</vt:lpstr>
      <vt:lpstr>OUTLINE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Thank you!</vt:lpstr>
      <vt:lpstr>PowerPoint Presentation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VFA policies</vt:lpstr>
      <vt:lpstr>PowerPoint Presentation</vt:lpstr>
      <vt:lpstr>PowerPoint Presentation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PowerPoint Presentation</vt:lpstr>
      <vt:lpstr>Designing policies I - Overview</vt:lpstr>
      <vt:lpstr>Modeling: Objective function</vt:lpstr>
      <vt:lpstr>Modeling: Objective function</vt:lpstr>
      <vt:lpstr>Modeling: Objective function</vt:lpstr>
      <vt:lpstr>Designing policies I - Overview</vt:lpstr>
      <vt:lpstr>Designing policies I - Overview</vt:lpstr>
      <vt:lpstr>Designing policies I - Overview</vt:lpstr>
      <vt:lpstr>Thank you!</vt:lpstr>
      <vt:lpstr>PowerPoint Presentation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795</cp:revision>
  <cp:lastPrinted>2025-05-20T14:08:40Z</cp:lastPrinted>
  <dcterms:modified xsi:type="dcterms:W3CDTF">2026-09-07T19:33:09Z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