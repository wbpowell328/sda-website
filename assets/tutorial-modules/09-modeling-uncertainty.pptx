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973" r:id="rId248"/>
    <p:sldId id="10975" r:id="rId249"/>
    <p:sldId id="11002" r:id="rId250"/>
    <p:sldId id="10992" r:id="rId251"/>
    <p:sldId id="10976" r:id="rId252"/>
    <p:sldId id="10997" r:id="rId253"/>
    <p:sldId id="10990" r:id="rId254"/>
    <p:sldId id="10980" r:id="rId255"/>
    <p:sldId id="11020" r:id="rId256"/>
    <p:sldId id="11003" r:id="rId257"/>
    <p:sldId id="10977" r:id="rId258"/>
    <p:sldId id="10981" r:id="rId259"/>
    <p:sldId id="10982" r:id="rId260"/>
    <p:sldId id="10983" r:id="rId261"/>
    <p:sldId id="10984" r:id="rId262"/>
    <p:sldId id="10985" r:id="rId263"/>
    <p:sldId id="11004" r:id="rId264"/>
    <p:sldId id="10986" r:id="rId265"/>
    <p:sldId id="10998" r:id="rId266"/>
    <p:sldId id="10999" r:id="rId267"/>
    <p:sldId id="11000" r:id="rId268"/>
    <p:sldId id="11005" r:id="rId269"/>
    <p:sldId id="10979" r:id="rId270"/>
    <p:sldId id="11007" r:id="rId271"/>
    <p:sldId id="11008" r:id="rId272"/>
    <p:sldId id="11013" r:id="rId273"/>
    <p:sldId id="11014" r:id="rId274"/>
    <p:sldId id="11016" r:id="rId275"/>
    <p:sldId id="11017" r:id="rId276"/>
    <p:sldId id="11009" r:id="rId277"/>
    <p:sldId id="6048" r:id="rId278"/>
    <p:sldId id="11015" r:id="rId279"/>
    <p:sldId id="5487" r:id="rId280"/>
    <p:sldId id="11018" r:id="rId281"/>
    <p:sldId id="11021" r:id="rId282"/>
    <p:sldId id="11019" r:id="rId283"/>
    <p:sldId id="10974" r:id="rId284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68" Type="http://schemas.openxmlformats.org/officeDocument/2006/relationships/slide" Target="slides/slide264.xml"/><Relationship Id="rId335" Type="http://schemas.openxmlformats.org/officeDocument/2006/relationships/font" Target="fonts/font5.fntdata"/><Relationship Id="rId279" Type="http://schemas.openxmlformats.org/officeDocument/2006/relationships/slide" Target="slides/slide275.xml"/><Relationship Id="rId346" Type="http://schemas.openxmlformats.org/officeDocument/2006/relationships/font" Target="fonts/font16.fntdata"/><Relationship Id="rId248" Type="http://schemas.openxmlformats.org/officeDocument/2006/relationships/slide" Target="slides/slide244.xml"/><Relationship Id="rId259" Type="http://schemas.openxmlformats.org/officeDocument/2006/relationships/slide" Target="slides/slide255.xml"/><Relationship Id="rId270" Type="http://schemas.openxmlformats.org/officeDocument/2006/relationships/slide" Target="slides/slide266.xml"/><Relationship Id="rId281" Type="http://schemas.openxmlformats.org/officeDocument/2006/relationships/slide" Target="slides/slide277.xml"/><Relationship Id="rId337" Type="http://schemas.openxmlformats.org/officeDocument/2006/relationships/font" Target="fonts/font7.fntdata"/><Relationship Id="rId250" Type="http://schemas.openxmlformats.org/officeDocument/2006/relationships/slide" Target="slides/slide246.xml"/><Relationship Id="rId348" Type="http://schemas.openxmlformats.org/officeDocument/2006/relationships/presProps" Target="presProps.xml"/><Relationship Id="rId261" Type="http://schemas.openxmlformats.org/officeDocument/2006/relationships/slide" Target="slides/slide257.xml"/><Relationship Id="rId251" Type="http://schemas.openxmlformats.org/officeDocument/2006/relationships/slide" Target="slides/slide247.xml"/><Relationship Id="rId272" Type="http://schemas.openxmlformats.org/officeDocument/2006/relationships/slide" Target="slides/slide268.xml"/><Relationship Id="rId349" Type="http://schemas.openxmlformats.org/officeDocument/2006/relationships/viewProps" Target="viewProps.xml"/><Relationship Id="rId262" Type="http://schemas.openxmlformats.org/officeDocument/2006/relationships/slide" Target="slides/slide258.xml"/><Relationship Id="rId283" Type="http://schemas.openxmlformats.org/officeDocument/2006/relationships/slide" Target="slides/slide279.xml"/><Relationship Id="rId339" Type="http://schemas.openxmlformats.org/officeDocument/2006/relationships/font" Target="fonts/font9.fntdata"/><Relationship Id="rId350" Type="http://schemas.openxmlformats.org/officeDocument/2006/relationships/theme" Target="theme/theme1.xml"/><Relationship Id="rId252" Type="http://schemas.openxmlformats.org/officeDocument/2006/relationships/slide" Target="slides/slide248.xml"/><Relationship Id="rId273" Type="http://schemas.openxmlformats.org/officeDocument/2006/relationships/slide" Target="slides/slide269.xml"/><Relationship Id="rId340" Type="http://schemas.openxmlformats.org/officeDocument/2006/relationships/font" Target="fonts/font10.fntdata"/><Relationship Id="rId263" Type="http://schemas.openxmlformats.org/officeDocument/2006/relationships/slide" Target="slides/slide259.xml"/><Relationship Id="rId284" Type="http://schemas.openxmlformats.org/officeDocument/2006/relationships/slide" Target="slides/slide280.xml"/><Relationship Id="rId330" Type="http://schemas.openxmlformats.org/officeDocument/2006/relationships/notesMaster" Target="notesMasters/notesMaster1.xml"/><Relationship Id="rId351" Type="http://schemas.openxmlformats.org/officeDocument/2006/relationships/tableStyles" Target="tableStyles.xml"/><Relationship Id="rId253" Type="http://schemas.openxmlformats.org/officeDocument/2006/relationships/slide" Target="slides/slide249.xml"/><Relationship Id="rId274" Type="http://schemas.openxmlformats.org/officeDocument/2006/relationships/slide" Target="slides/slide270.xml"/><Relationship Id="rId341" Type="http://schemas.openxmlformats.org/officeDocument/2006/relationships/font" Target="fonts/font11.fntdata"/><Relationship Id="rId264" Type="http://schemas.openxmlformats.org/officeDocument/2006/relationships/slide" Target="slides/slide260.xml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254" Type="http://schemas.openxmlformats.org/officeDocument/2006/relationships/slide" Target="slides/slide250.xml"/><Relationship Id="rId275" Type="http://schemas.openxmlformats.org/officeDocument/2006/relationships/slide" Target="slides/slide271.xml"/><Relationship Id="rId342" Type="http://schemas.openxmlformats.org/officeDocument/2006/relationships/font" Target="fonts/font12.fntdata"/><Relationship Id="rId265" Type="http://schemas.openxmlformats.org/officeDocument/2006/relationships/slide" Target="slides/slide261.xml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255" Type="http://schemas.openxmlformats.org/officeDocument/2006/relationships/slide" Target="slides/slide251.xml"/><Relationship Id="rId276" Type="http://schemas.openxmlformats.org/officeDocument/2006/relationships/slide" Target="slides/slide272.xml"/><Relationship Id="rId343" Type="http://schemas.openxmlformats.org/officeDocument/2006/relationships/font" Target="fonts/font13.fntdata"/><Relationship Id="rId266" Type="http://schemas.openxmlformats.org/officeDocument/2006/relationships/slide" Target="slides/slide262.xml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256" Type="http://schemas.openxmlformats.org/officeDocument/2006/relationships/slide" Target="slides/slide252.xml"/><Relationship Id="rId277" Type="http://schemas.openxmlformats.org/officeDocument/2006/relationships/slide" Target="slides/slide273.xml"/><Relationship Id="rId344" Type="http://schemas.openxmlformats.org/officeDocument/2006/relationships/font" Target="fonts/font14.fntdata"/><Relationship Id="rId267" Type="http://schemas.openxmlformats.org/officeDocument/2006/relationships/slide" Target="slides/slide263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257" Type="http://schemas.openxmlformats.org/officeDocument/2006/relationships/slide" Target="slides/slide253.xml"/><Relationship Id="rId278" Type="http://schemas.openxmlformats.org/officeDocument/2006/relationships/slide" Target="slides/slide274.xml"/><Relationship Id="rId345" Type="http://schemas.openxmlformats.org/officeDocument/2006/relationships/font" Target="fonts/font15.fntdata"/><Relationship Id="rId258" Type="http://schemas.openxmlformats.org/officeDocument/2006/relationships/slide" Target="slides/slide254.xml"/><Relationship Id="rId269" Type="http://schemas.openxmlformats.org/officeDocument/2006/relationships/slide" Target="slides/slide265.xml"/><Relationship Id="rId280" Type="http://schemas.openxmlformats.org/officeDocument/2006/relationships/slide" Target="slides/slide276.xml"/><Relationship Id="rId336" Type="http://schemas.openxmlformats.org/officeDocument/2006/relationships/font" Target="fonts/font6.fntdata"/><Relationship Id="rId347" Type="http://schemas.openxmlformats.org/officeDocument/2006/relationships/font" Target="fonts/font17.fntdata"/><Relationship Id="rId249" Type="http://schemas.openxmlformats.org/officeDocument/2006/relationships/slide" Target="slides/slide245.xml"/><Relationship Id="rId260" Type="http://schemas.openxmlformats.org/officeDocument/2006/relationships/slide" Target="slides/slide256.xml"/><Relationship Id="rId271" Type="http://schemas.openxmlformats.org/officeDocument/2006/relationships/slide" Target="slides/slide267.xml"/><Relationship Id="rId282" Type="http://schemas.openxmlformats.org/officeDocument/2006/relationships/slide" Target="slides/slide278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5B4DEF2-73E3-0B88-4F8C-4788B1DF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157713E-3F1C-D127-2FC0-BCAD6EB78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2A8D404-F617-0A67-5637-EC22645BB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850130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46607B3-9ECF-E8C7-02EE-18D1BBC6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8B9CB42-666F-0BCD-322A-A4E28DDAB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64BD2542-99A1-C1FE-7E46-9DD0F975A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47711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CD5D-6803-27FA-7FDB-41D3D372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EBB6E8A-52C4-9409-C5EE-A3A0AD77D3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94095-CF1F-48D6-AF5D-67110DA8A981}" type="slidenum">
              <a:rPr lang="en-US"/>
              <a:pPr/>
              <a:t>247</a:t>
            </a:fld>
            <a:endParaRPr 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931F53AE-6C7C-9427-8132-20B1CF09E9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82F1A3E0-3910-ECDF-E259-C82834E28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1" y="4561226"/>
            <a:ext cx="5364480" cy="43185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9535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51BF-AB81-DB45-F41B-011F3BCC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7">
            <a:extLst>
              <a:ext uri="{FF2B5EF4-FFF2-40B4-BE49-F238E27FC236}">
                <a16:creationId xmlns:a16="http://schemas.microsoft.com/office/drawing/2014/main" id="{19C9DEFA-811B-8D02-9B5D-E01F0084AA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79DA9D5A-2258-4D2D-8529-72D2E57FDF3B}" type="slidenum">
              <a:rPr lang="en-US" sz="1300" i="0"/>
              <a:pPr algn="r"/>
              <a:t>248</a:t>
            </a:fld>
            <a:endParaRPr lang="en-US" sz="1300" i="0"/>
          </a:p>
        </p:txBody>
      </p:sp>
      <p:sp>
        <p:nvSpPr>
          <p:cNvPr id="536579" name="Rectangle 2">
            <a:extLst>
              <a:ext uri="{FF2B5EF4-FFF2-40B4-BE49-F238E27FC236}">
                <a16:creationId xmlns:a16="http://schemas.microsoft.com/office/drawing/2014/main" id="{556C0465-4EB5-9075-8EAA-B21666D09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80" name="Rectangle 3">
            <a:extLst>
              <a:ext uri="{FF2B5EF4-FFF2-40B4-BE49-F238E27FC236}">
                <a16:creationId xmlns:a16="http://schemas.microsoft.com/office/drawing/2014/main" id="{8C3497DA-9E3E-52EF-F491-851E05DF0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935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857D-D944-C4B0-9754-F2AA5797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FACABF1-1665-7311-A614-5FD663422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94095-CF1F-48D6-AF5D-67110DA8A981}" type="slidenum">
              <a:rPr lang="en-US"/>
              <a:pPr/>
              <a:t>251</a:t>
            </a:fld>
            <a:endParaRPr 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3929DDBF-827D-1E77-F5AB-702BCA6BB9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DD826E31-4FFC-2D74-3BE2-27923EFEBC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1" y="4561226"/>
            <a:ext cx="5364480" cy="43185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6745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D61C-ED15-53FB-C9FF-A15FB437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0072F4D-7AA4-FC30-6C6B-271A6754BA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94095-CF1F-48D6-AF5D-67110DA8A981}" type="slidenum">
              <a:rPr lang="en-US"/>
              <a:pPr/>
              <a:t>252</a:t>
            </a:fld>
            <a:endParaRPr 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2C3F655D-C01D-5173-CD05-7E31654ED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F5C0D7DE-7A83-BE50-E021-A4D807643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1" y="4561226"/>
            <a:ext cx="5364480" cy="43185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2036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49AF023-EB70-8BDE-4DC4-5E10043D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00CEF48-4CB8-BE6E-F45B-4693684F7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81639E35-900B-F3CB-C1D6-BCB93ACA1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38455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21EA112-EE7D-ABBF-2FD8-9B7D7BCD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5EA4652-16A6-8241-008F-0E1AA690B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E0F60A49-B79E-6FBD-FA6C-A601DD4B6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80236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B12426D-4CCD-B73A-37C8-B0260C20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88494E9-5CBF-1156-E1E6-CC0CA1F56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76225BA-B155-8CEA-B712-ED79A1885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980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16.bin"/><Relationship Id="rId39" Type="http://schemas.openxmlformats.org/officeDocument/2006/relationships/image" Target="../media/image284.wmf"/><Relationship Id="rId34" Type="http://schemas.openxmlformats.org/officeDocument/2006/relationships/oleObject" Target="../embeddings/oleObject20.bin"/><Relationship Id="rId42" Type="http://schemas.openxmlformats.org/officeDocument/2006/relationships/oleObject" Target="../embeddings/oleObject24.bin"/><Relationship Id="rId47" Type="http://schemas.openxmlformats.org/officeDocument/2006/relationships/image" Target="../media/image286.wmf"/><Relationship Id="rId50" Type="http://schemas.openxmlformats.org/officeDocument/2006/relationships/image" Target="../media/image2262.png"/><Relationship Id="rId7" Type="http://schemas.openxmlformats.org/officeDocument/2006/relationships/image" Target="../media/image272.wmf"/><Relationship Id="rId2" Type="http://schemas.openxmlformats.org/officeDocument/2006/relationships/notesSlide" Target="../notesSlides/notesSlide77.xml"/><Relationship Id="rId16" Type="http://schemas.openxmlformats.org/officeDocument/2006/relationships/oleObject" Target="../embeddings/oleObject14.bin"/><Relationship Id="rId29" Type="http://schemas.openxmlformats.org/officeDocument/2006/relationships/image" Target="../media/image27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73.wmf"/><Relationship Id="rId24" Type="http://schemas.openxmlformats.org/officeDocument/2006/relationships/oleObject" Target="../embeddings/oleObject18.bin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83.wmf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285.wmf"/><Relationship Id="rId53" Type="http://schemas.openxmlformats.org/officeDocument/2006/relationships/image" Target="../media/image2290.png"/><Relationship Id="rId5" Type="http://schemas.openxmlformats.org/officeDocument/2006/relationships/image" Target="../media/image272.wmf"/><Relationship Id="rId23" Type="http://schemas.openxmlformats.org/officeDocument/2006/relationships/image" Target="../media/image275.wmf"/><Relationship Id="rId28" Type="http://schemas.openxmlformats.org/officeDocument/2006/relationships/oleObject" Target="../embeddings/oleObject18.bin"/><Relationship Id="rId36" Type="http://schemas.openxmlformats.org/officeDocument/2006/relationships/oleObject" Target="../embeddings/oleObject20.bin"/><Relationship Id="rId49" Type="http://schemas.openxmlformats.org/officeDocument/2006/relationships/image" Target="../media/image286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275.wmf"/><Relationship Id="rId31" Type="http://schemas.openxmlformats.org/officeDocument/2006/relationships/image" Target="../media/image282.wmf"/><Relationship Id="rId44" Type="http://schemas.openxmlformats.org/officeDocument/2006/relationships/oleObject" Target="../embeddings/oleObject24.bin"/><Relationship Id="rId52" Type="http://schemas.openxmlformats.org/officeDocument/2006/relationships/image" Target="../media/image2282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73.wmf"/><Relationship Id="rId22" Type="http://schemas.openxmlformats.org/officeDocument/2006/relationships/oleObject" Target="../embeddings/oleObject16.bin"/><Relationship Id="rId30" Type="http://schemas.openxmlformats.org/officeDocument/2006/relationships/oleObject" Target="../embeddings/oleObject19.bin"/><Relationship Id="rId35" Type="http://schemas.openxmlformats.org/officeDocument/2006/relationships/image" Target="../media/image283.wmf"/><Relationship Id="rId43" Type="http://schemas.openxmlformats.org/officeDocument/2006/relationships/image" Target="../media/image285.wmf"/><Relationship Id="rId48" Type="http://schemas.openxmlformats.org/officeDocument/2006/relationships/oleObject" Target="../embeddings/oleObject25.bin"/><Relationship Id="rId8" Type="http://schemas.openxmlformats.org/officeDocument/2006/relationships/oleObject" Target="../embeddings/oleObject12.bin"/><Relationship Id="rId51" Type="http://schemas.openxmlformats.org/officeDocument/2006/relationships/image" Target="../media/image2272.png"/><Relationship Id="rId3" Type="http://schemas.openxmlformats.org/officeDocument/2006/relationships/image" Target="../media/image377.png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74.wmf"/><Relationship Id="rId25" Type="http://schemas.openxmlformats.org/officeDocument/2006/relationships/image" Target="../media/image276.wmf"/><Relationship Id="rId33" Type="http://schemas.openxmlformats.org/officeDocument/2006/relationships/image" Target="../media/image282.wmf"/><Relationship Id="rId38" Type="http://schemas.openxmlformats.org/officeDocument/2006/relationships/oleObject" Target="../embeddings/oleObject23.bin"/><Relationship Id="rId46" Type="http://schemas.openxmlformats.org/officeDocument/2006/relationships/oleObject" Target="../embeddings/oleObject25.bin"/><Relationship Id="rId41" Type="http://schemas.openxmlformats.org/officeDocument/2006/relationships/image" Target="../media/image284.wmf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378.png"/><Relationship Id="rId7" Type="http://schemas.openxmlformats.org/officeDocument/2006/relationships/image" Target="../media/image38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81.png"/><Relationship Id="rId5" Type="http://schemas.openxmlformats.org/officeDocument/2006/relationships/image" Target="../media/image380.png"/><Relationship Id="rId10" Type="http://schemas.openxmlformats.org/officeDocument/2006/relationships/image" Target="../media/image385.png"/><Relationship Id="rId4" Type="http://schemas.openxmlformats.org/officeDocument/2006/relationships/image" Target="../media/image379.png"/><Relationship Id="rId9" Type="http://schemas.openxmlformats.org/officeDocument/2006/relationships/image" Target="../media/image384.png"/></Relationships>
</file>

<file path=ppt/slides/_rels/slide2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png"/><Relationship Id="rId3" Type="http://schemas.openxmlformats.org/officeDocument/2006/relationships/image" Target="../media/image378.png"/><Relationship Id="rId7" Type="http://schemas.openxmlformats.org/officeDocument/2006/relationships/image" Target="../media/image38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5" Type="http://schemas.openxmlformats.org/officeDocument/2006/relationships/image" Target="../media/image380.png"/><Relationship Id="rId10" Type="http://schemas.openxmlformats.org/officeDocument/2006/relationships/image" Target="../media/image391.png"/><Relationship Id="rId4" Type="http://schemas.openxmlformats.org/officeDocument/2006/relationships/image" Target="../media/image379.png"/><Relationship Id="rId9" Type="http://schemas.openxmlformats.org/officeDocument/2006/relationships/image" Target="../media/image39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image" Target="../media/image39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4.png"/><Relationship Id="rId4" Type="http://schemas.openxmlformats.org/officeDocument/2006/relationships/image" Target="../media/image393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LearningWhileDoing/" TargetMode="External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3.png"/><Relationship Id="rId5" Type="http://schemas.openxmlformats.org/officeDocument/2006/relationships/image" Target="../media/image402.png"/><Relationship Id="rId4" Type="http://schemas.openxmlformats.org/officeDocument/2006/relationships/image" Target="../media/image399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png"/><Relationship Id="rId3" Type="http://schemas.openxmlformats.org/officeDocument/2006/relationships/image" Target="../media/image404.png"/><Relationship Id="rId7" Type="http://schemas.openxmlformats.org/officeDocument/2006/relationships/image" Target="../media/image412.png"/><Relationship Id="rId12" Type="http://schemas.openxmlformats.org/officeDocument/2006/relationships/image" Target="../media/image417.png"/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1.png"/><Relationship Id="rId11" Type="http://schemas.openxmlformats.org/officeDocument/2006/relationships/image" Target="../media/image416.png"/><Relationship Id="rId5" Type="http://schemas.openxmlformats.org/officeDocument/2006/relationships/image" Target="../media/image410.png"/><Relationship Id="rId10" Type="http://schemas.openxmlformats.org/officeDocument/2006/relationships/image" Target="../media/image415.png"/><Relationship Id="rId4" Type="http://schemas.openxmlformats.org/officeDocument/2006/relationships/image" Target="../media/image405.png"/><Relationship Id="rId9" Type="http://schemas.openxmlformats.org/officeDocument/2006/relationships/image" Target="../media/image414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hyperlink" Target="Spreadsheets/Empirical%20distribution.xls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60.png"/><Relationship Id="rId4" Type="http://schemas.openxmlformats.org/officeDocument/2006/relationships/image" Target="../media/image405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png"/><Relationship Id="rId2" Type="http://schemas.openxmlformats.org/officeDocument/2006/relationships/image" Target="../media/image419.png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8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2.png"/><Relationship Id="rId4" Type="http://schemas.openxmlformats.org/officeDocument/2006/relationships/image" Target="../media/image420.png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0.png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3.png"/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4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7.png"/><Relationship Id="rId2" Type="http://schemas.openxmlformats.org/officeDocument/2006/relationships/image" Target="../media/image426.png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D8574-58F6-209C-A3F0-CA13C4EE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B1974-2598-20E0-A49D-BAE786A83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F15AAF4-6A5A-6043-C20A-B9B944DD0ACF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153732A-1333-C62E-1111-CEB55887D7D1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5F3017-890E-0791-5255-91E3AF0051FA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 September xx,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76A12F-B043-C71A-3527-90FEF3D43BBF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Modeling uncertainty – Sequential decision problems have to deal with exogenous information that arrives from outside our “system” (and beyond our control).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9EBE5DE-6E4D-5260-1EA7-76F4EB28748B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Low to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oderate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8E6CF-54AE-D55C-DAA1-B904363D8606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Introduction to sequential decision problems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universal modeling framework – High level or detailed.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4A592-F545-6F00-B93A-A94D33CEF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277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1AED60-1F6D-61D9-69E1-BE453B6B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C94A3-18C6-09BF-2EB7-E5C73BDBA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7CC5369-0525-4C08-880D-E238562C6C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43830917-116C-F2A6-DE47-DAE79101F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 uncertainty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Modeling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12 categories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flavors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Generating samples of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87459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9EDD784-1678-8CC7-19EE-D64320CB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6BEE5-4090-C1C6-0DFA-7DDEA13B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97DDF7D-C307-7C26-F5DF-4E36BC5DF6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9C250C5A-DDB5-D092-FBA5-6865709E8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 uncertainty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Modeling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12 categories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Different flavors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Generating samples of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95115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8A66-3EC5-6E46-F4C9-9339D619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BBEAA93E-DCBD-E1FA-9094-6C8EC95EB4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D49E68A5-C651-4B23-82BF-3139F9109B65}" type="slidenum">
              <a:rPr lang="en-US"/>
              <a:pPr/>
              <a:t>247</a:t>
            </a:fld>
            <a:endParaRPr lang="en-US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3956A16E-DFCF-7085-861D-186D34B37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 exogenous information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948EA572-B224-3A9C-D223-DEB02233CC3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0982" y="1100378"/>
                <a:ext cx="10363200" cy="5253287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Modeling the flow of information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We start by showing how to model time:</a:t>
                </a:r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000" b="1" i="1" dirty="0">
                  <a:latin typeface="Raleway" pitchFamily="2" charset="0"/>
                </a:endParaRP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b="1" i="1" dirty="0">
                    <a:latin typeface="Raleway" pitchFamily="2" charset="0"/>
                  </a:rPr>
                  <a:t>At time t, any variable indexed by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i="1" dirty="0">
                    <a:latin typeface="Raleway" pitchFamily="2" charset="0"/>
                  </a:rPr>
                  <a:t>  is known; if  t’ &gt; t  it is unknown. </a:t>
                </a:r>
              </a:p>
              <a:p>
                <a:pPr marL="1030288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000" i="1" dirty="0">
                  <a:latin typeface="Raleway" pitchFamily="2" charset="0"/>
                </a:endParaRPr>
              </a:p>
              <a:p>
                <a:pPr marL="8636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948EA572-B224-3A9C-D223-DEB02233C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982" y="1100378"/>
                <a:ext cx="10363200" cy="5253287"/>
              </a:xfrm>
              <a:blipFill>
                <a:blip r:embed="rId3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1252" name="Group 4">
            <a:extLst>
              <a:ext uri="{FF2B5EF4-FFF2-40B4-BE49-F238E27FC236}">
                <a16:creationId xmlns:a16="http://schemas.microsoft.com/office/drawing/2014/main" id="{F7FC7A35-DA88-2C5F-F0BD-ABF06D61BFCC}"/>
              </a:ext>
            </a:extLst>
          </p:cNvPr>
          <p:cNvGrpSpPr>
            <a:grpSpLocks/>
          </p:cNvGrpSpPr>
          <p:nvPr/>
        </p:nvGrpSpPr>
        <p:grpSpPr bwMode="auto">
          <a:xfrm>
            <a:off x="1275615" y="2572835"/>
            <a:ext cx="8629651" cy="2017713"/>
            <a:chOff x="87" y="1574"/>
            <a:chExt cx="5436" cy="1271"/>
          </a:xfrm>
        </p:grpSpPr>
        <p:grpSp>
          <p:nvGrpSpPr>
            <p:cNvPr id="181253" name="Group 5">
              <a:extLst>
                <a:ext uri="{FF2B5EF4-FFF2-40B4-BE49-F238E27FC236}">
                  <a16:creationId xmlns:a16="http://schemas.microsoft.com/office/drawing/2014/main" id="{0091A982-D912-8112-8FA0-B5259DAC85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2015"/>
              <a:ext cx="4380" cy="728"/>
              <a:chOff x="670" y="3087"/>
              <a:chExt cx="4380" cy="728"/>
            </a:xfrm>
          </p:grpSpPr>
          <p:sp>
            <p:nvSpPr>
              <p:cNvPr id="181254" name="Line 6">
                <a:extLst>
                  <a:ext uri="{FF2B5EF4-FFF2-40B4-BE49-F238E27FC236}">
                    <a16:creationId xmlns:a16="http://schemas.microsoft.com/office/drawing/2014/main" id="{CF47D578-9BB2-4FD4-D924-92DD66DAC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5" y="3480"/>
                <a:ext cx="42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255" name="Line 7">
                <a:extLst>
                  <a:ext uri="{FF2B5EF4-FFF2-40B4-BE49-F238E27FC236}">
                    <a16:creationId xmlns:a16="http://schemas.microsoft.com/office/drawing/2014/main" id="{EBA50C47-A366-43B3-B6CB-C538F445D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6" y="3389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56" name="Object 8">
                    <a:extLst>
                      <a:ext uri="{FF2B5EF4-FFF2-40B4-BE49-F238E27FC236}">
                        <a16:creationId xmlns:a16="http://schemas.microsoft.com/office/drawing/2014/main" id="{61F7973C-265A-1C47-E61A-11C459E524C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838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" imgW="1002960" imgH="368280" progId="Equation.DSMT4">
                          <p:embed/>
                        </p:oleObj>
                      </mc:Choice>
                      <mc:Fallback>
                        <p:oleObj name="Equation" r:id="rId4" imgW="1002960" imgH="368280" progId="Equation.DSMT4">
                          <p:embed/>
                          <p:pic>
                            <p:nvPicPr>
                              <p:cNvPr id="181256" name="Object 8">
                                <a:extLst>
                                  <a:ext uri="{FF2B5EF4-FFF2-40B4-BE49-F238E27FC236}">
                                    <a16:creationId xmlns:a16="http://schemas.microsoft.com/office/drawing/2014/main" id="{99FCCCDC-AE20-74B9-A093-ACD5EC767D9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38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56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838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6" imgW="1002960" imgH="368280" progId="Equation.DSMT4">
                          <p:embed/>
                        </p:oleObj>
                      </mc:Choice>
                      <mc:Fallback>
                        <p:oleObj name="Equation" r:id="rId6" imgW="1002960" imgH="368280" progId="Equation.DSMT4">
                          <p:embed/>
                          <p:pic>
                            <p:nvPicPr>
                              <p:cNvPr id="181256" name="Object 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38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57" name="Object 9">
                    <a:extLst>
                      <a:ext uri="{FF2B5EF4-FFF2-40B4-BE49-F238E27FC236}">
                        <a16:creationId xmlns:a16="http://schemas.microsoft.com/office/drawing/2014/main" id="{3495BF08-B6CB-6A4D-1E6F-74C52B03526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146" y="3093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8" imgW="304560" imgH="177480" progId="Equation.DSMT4">
                          <p:embed/>
                        </p:oleObj>
                      </mc:Choice>
                      <mc:Fallback>
                        <p:oleObj name="Equation" r:id="rId8" imgW="304560" imgH="177480" progId="Equation.DSMT4">
                          <p:embed/>
                          <p:pic>
                            <p:nvPicPr>
                              <p:cNvPr id="181257" name="Object 9">
                                <a:extLst>
                                  <a:ext uri="{FF2B5EF4-FFF2-40B4-BE49-F238E27FC236}">
                                    <a16:creationId xmlns:a16="http://schemas.microsoft.com/office/drawing/2014/main" id="{FBAFD465-7DE5-DECD-CB84-8DC0DF951353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46" y="3093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57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1146" y="3093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304560" imgH="177480" progId="Equation.DSMT4">
                          <p:embed/>
                        </p:oleObj>
                      </mc:Choice>
                      <mc:Fallback>
                        <p:oleObj name="Equation" r:id="rId10" imgW="304560" imgH="177480" progId="Equation.DSMT4">
                          <p:embed/>
                          <p:pic>
                            <p:nvPicPr>
                              <p:cNvPr id="181257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46" y="3093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58" name="Line 10">
                <a:extLst>
                  <a:ext uri="{FF2B5EF4-FFF2-40B4-BE49-F238E27FC236}">
                    <a16:creationId xmlns:a16="http://schemas.microsoft.com/office/drawing/2014/main" id="{122DCCEB-2448-ED5D-3218-5BFB310AD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7" y="3386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0" name="Object 12">
                    <a:extLst>
                      <a:ext uri="{FF2B5EF4-FFF2-40B4-BE49-F238E27FC236}">
                        <a16:creationId xmlns:a16="http://schemas.microsoft.com/office/drawing/2014/main" id="{29D6EA97-CB51-5E1B-B491-9D478E08B00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082" y="3090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2" imgW="330120" imgH="177480" progId="Equation.DSMT4">
                          <p:embed/>
                        </p:oleObj>
                      </mc:Choice>
                      <mc:Fallback>
                        <p:oleObj name="Equation" r:id="rId12" imgW="330120" imgH="177480" progId="Equation.DSMT4">
                          <p:embed/>
                          <p:pic>
                            <p:nvPicPr>
                              <p:cNvPr id="181260" name="Object 12">
                                <a:extLst>
                                  <a:ext uri="{FF2B5EF4-FFF2-40B4-BE49-F238E27FC236}">
                                    <a16:creationId xmlns:a16="http://schemas.microsoft.com/office/drawing/2014/main" id="{38FD2060-C21E-DDCE-566B-6A48C164D0F9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82" y="3090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0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082" y="3090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6" imgW="330120" imgH="177480" progId="Equation.DSMT4">
                          <p:embed/>
                        </p:oleObj>
                      </mc:Choice>
                      <mc:Fallback>
                        <p:oleObj name="Equation" r:id="rId16" imgW="330120" imgH="177480" progId="Equation.DSMT4">
                          <p:embed/>
                          <p:pic>
                            <p:nvPicPr>
                              <p:cNvPr id="18126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82" y="3090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1" name="Line 13">
                <a:extLst>
                  <a:ext uri="{FF2B5EF4-FFF2-40B4-BE49-F238E27FC236}">
                    <a16:creationId xmlns:a16="http://schemas.microsoft.com/office/drawing/2014/main" id="{561D5340-EC89-D32A-0DD5-5CE8157CA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7" y="3383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3" name="Object 15">
                    <a:extLst>
                      <a:ext uri="{FF2B5EF4-FFF2-40B4-BE49-F238E27FC236}">
                        <a16:creationId xmlns:a16="http://schemas.microsoft.com/office/drawing/2014/main" id="{89E4AC9C-D34D-9911-2F7E-5CAFAA2F2A0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050" y="3087"/>
                  <a:ext cx="365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8" imgW="317160" imgH="177480" progId="Equation.DSMT4">
                          <p:embed/>
                        </p:oleObj>
                      </mc:Choice>
                      <mc:Fallback>
                        <p:oleObj name="Equation" r:id="rId18" imgW="317160" imgH="177480" progId="Equation.DSMT4">
                          <p:embed/>
                          <p:pic>
                            <p:nvPicPr>
                              <p:cNvPr id="181263" name="Object 15">
                                <a:extLst>
                                  <a:ext uri="{FF2B5EF4-FFF2-40B4-BE49-F238E27FC236}">
                                    <a16:creationId xmlns:a16="http://schemas.microsoft.com/office/drawing/2014/main" id="{5E444E3F-38C3-5690-E4B9-734D1446336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050" y="3087"/>
                                <a:ext cx="365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3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3050" y="3087"/>
                  <a:ext cx="365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2" imgW="317160" imgH="177480" progId="Equation.DSMT4">
                          <p:embed/>
                        </p:oleObj>
                      </mc:Choice>
                      <mc:Fallback>
                        <p:oleObj name="Equation" r:id="rId22" imgW="317160" imgH="177480" progId="Equation.DSMT4">
                          <p:embed/>
                          <p:pic>
                            <p:nvPicPr>
                              <p:cNvPr id="181263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050" y="3087"/>
                                <a:ext cx="365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4" name="Line 16">
                <a:extLst>
                  <a:ext uri="{FF2B5EF4-FFF2-40B4-BE49-F238E27FC236}">
                    <a16:creationId xmlns:a16="http://schemas.microsoft.com/office/drawing/2014/main" id="{4180B483-669B-D5D2-A87F-2FFEBBF2F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5" y="3389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6" name="Object 18">
                    <a:extLst>
                      <a:ext uri="{FF2B5EF4-FFF2-40B4-BE49-F238E27FC236}">
                        <a16:creationId xmlns:a16="http://schemas.microsoft.com/office/drawing/2014/main" id="{9E9BA6EE-41C9-46AB-0B7F-6CE35058F10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21" y="3093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4" imgW="330120" imgH="177480" progId="Equation.DSMT4">
                          <p:embed/>
                        </p:oleObj>
                      </mc:Choice>
                      <mc:Fallback>
                        <p:oleObj name="Equation" r:id="rId24" imgW="330120" imgH="177480" progId="Equation.DSMT4">
                          <p:embed/>
                          <p:pic>
                            <p:nvPicPr>
                              <p:cNvPr id="181266" name="Object 18">
                                <a:extLst>
                                  <a:ext uri="{FF2B5EF4-FFF2-40B4-BE49-F238E27FC236}">
                                    <a16:creationId xmlns:a16="http://schemas.microsoft.com/office/drawing/2014/main" id="{4F2BBED7-232A-C4F2-4F0C-80AE7354717B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1" y="3093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6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4021" y="3093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8" imgW="330120" imgH="177480" progId="Equation.DSMT4">
                          <p:embed/>
                        </p:oleObj>
                      </mc:Choice>
                      <mc:Fallback>
                        <p:oleObj name="Equation" r:id="rId28" imgW="330120" imgH="177480" progId="Equation.DSMT4">
                          <p:embed/>
                          <p:pic>
                            <p:nvPicPr>
                              <p:cNvPr id="181266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1" y="3093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7" name="Line 19">
                <a:extLst>
                  <a:ext uri="{FF2B5EF4-FFF2-40B4-BE49-F238E27FC236}">
                    <a16:creationId xmlns:a16="http://schemas.microsoft.com/office/drawing/2014/main" id="{2B989A8B-795E-C510-7D16-8587C9402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7" y="3386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8" name="Object 20">
                    <a:extLst>
                      <a:ext uri="{FF2B5EF4-FFF2-40B4-BE49-F238E27FC236}">
                        <a16:creationId xmlns:a16="http://schemas.microsoft.com/office/drawing/2014/main" id="{30990CC5-B45B-27B5-DB65-3EE019BABD7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70" y="3601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0" imgW="330120" imgH="177480" progId="Equation.DSMT4">
                          <p:embed/>
                        </p:oleObj>
                      </mc:Choice>
                      <mc:Fallback>
                        <p:oleObj name="Equation" r:id="rId30" imgW="330120" imgH="177480" progId="Equation.DSMT4">
                          <p:embed/>
                          <p:pic>
                            <p:nvPicPr>
                              <p:cNvPr id="181268" name="Object 20">
                                <a:extLst>
                                  <a:ext uri="{FF2B5EF4-FFF2-40B4-BE49-F238E27FC236}">
                                    <a16:creationId xmlns:a16="http://schemas.microsoft.com/office/drawing/2014/main" id="{0271765B-9C69-4387-392E-C33B33A877B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70" y="3601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8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670" y="3601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2" imgW="330120" imgH="177480" progId="Equation.DSMT4">
                          <p:embed/>
                        </p:oleObj>
                      </mc:Choice>
                      <mc:Fallback>
                        <p:oleObj name="Equation" r:id="rId32" imgW="330120" imgH="177480" progId="Equation.DSMT4">
                          <p:embed/>
                          <p:pic>
                            <p:nvPicPr>
                              <p:cNvPr id="181268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70" y="3601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9" name="Object 21">
                    <a:extLst>
                      <a:ext uri="{FF2B5EF4-FFF2-40B4-BE49-F238E27FC236}">
                        <a16:creationId xmlns:a16="http://schemas.microsoft.com/office/drawing/2014/main" id="{7F07AE82-4925-15E2-8719-8A237916A58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620" y="3607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4" imgW="304560" imgH="177480" progId="Equation.DSMT4">
                          <p:embed/>
                        </p:oleObj>
                      </mc:Choice>
                      <mc:Fallback>
                        <p:oleObj name="Equation" r:id="rId34" imgW="304560" imgH="177480" progId="Equation.DSMT4">
                          <p:embed/>
                          <p:pic>
                            <p:nvPicPr>
                              <p:cNvPr id="181269" name="Object 21">
                                <a:extLst>
                                  <a:ext uri="{FF2B5EF4-FFF2-40B4-BE49-F238E27FC236}">
                                    <a16:creationId xmlns:a16="http://schemas.microsoft.com/office/drawing/2014/main" id="{E7896935-4C4B-DBFB-2777-726B15A128A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20" y="3607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9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1620" y="3607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6" imgW="304560" imgH="177480" progId="Equation.DSMT4">
                          <p:embed/>
                        </p:oleObj>
                      </mc:Choice>
                      <mc:Fallback>
                        <p:oleObj name="Equation" r:id="rId36" imgW="304560" imgH="177480" progId="Equation.DSMT4">
                          <p:embed/>
                          <p:pic>
                            <p:nvPicPr>
                              <p:cNvPr id="181269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20" y="3607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0" name="Object 22">
                    <a:extLst>
                      <a:ext uri="{FF2B5EF4-FFF2-40B4-BE49-F238E27FC236}">
                        <a16:creationId xmlns:a16="http://schemas.microsoft.com/office/drawing/2014/main" id="{224867CB-7EC2-D3A1-CF73-FC39F384D06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557" y="3604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8" imgW="330120" imgH="177480" progId="Equation.DSMT4">
                          <p:embed/>
                        </p:oleObj>
                      </mc:Choice>
                      <mc:Fallback>
                        <p:oleObj name="Equation" r:id="rId38" imgW="330120" imgH="177480" progId="Equation.DSMT4">
                          <p:embed/>
                          <p:pic>
                            <p:nvPicPr>
                              <p:cNvPr id="181270" name="Object 22">
                                <a:extLst>
                                  <a:ext uri="{FF2B5EF4-FFF2-40B4-BE49-F238E27FC236}">
                                    <a16:creationId xmlns:a16="http://schemas.microsoft.com/office/drawing/2014/main" id="{41DAFBED-FB9B-8706-1921-F533229F7A6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57" y="3604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0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2557" y="3604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0" imgW="330120" imgH="177480" progId="Equation.DSMT4">
                          <p:embed/>
                        </p:oleObj>
                      </mc:Choice>
                      <mc:Fallback>
                        <p:oleObj name="Equation" r:id="rId40" imgW="330120" imgH="177480" progId="Equation.DSMT4">
                          <p:embed/>
                          <p:pic>
                            <p:nvPicPr>
                              <p:cNvPr id="181270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57" y="3604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1" name="Object 23">
                    <a:extLst>
                      <a:ext uri="{FF2B5EF4-FFF2-40B4-BE49-F238E27FC236}">
                        <a16:creationId xmlns:a16="http://schemas.microsoft.com/office/drawing/2014/main" id="{E6E2BCE2-7C6B-25A0-6CDC-5C6156641AC7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551" y="3610"/>
                  <a:ext cx="366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2" imgW="317160" imgH="177480" progId="Equation.DSMT4">
                          <p:embed/>
                        </p:oleObj>
                      </mc:Choice>
                      <mc:Fallback>
                        <p:oleObj name="Equation" r:id="rId42" imgW="317160" imgH="177480" progId="Equation.DSMT4">
                          <p:embed/>
                          <p:pic>
                            <p:nvPicPr>
                              <p:cNvPr id="181271" name="Object 23">
                                <a:extLst>
                                  <a:ext uri="{FF2B5EF4-FFF2-40B4-BE49-F238E27FC236}">
                                    <a16:creationId xmlns:a16="http://schemas.microsoft.com/office/drawing/2014/main" id="{304819B6-BF0C-93FF-C672-CD2D5810F87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51" y="3610"/>
                                <a:ext cx="366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1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3551" y="3610"/>
                  <a:ext cx="366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4" imgW="317160" imgH="177480" progId="Equation.DSMT4">
                          <p:embed/>
                        </p:oleObj>
                      </mc:Choice>
                      <mc:Fallback>
                        <p:oleObj name="Equation" r:id="rId44" imgW="317160" imgH="177480" progId="Equation.DSMT4">
                          <p:embed/>
                          <p:pic>
                            <p:nvPicPr>
                              <p:cNvPr id="181271" name="Object 2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51" y="3610"/>
                                <a:ext cx="366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2" name="Object 24">
                    <a:extLst>
                      <a:ext uri="{FF2B5EF4-FFF2-40B4-BE49-F238E27FC236}">
                        <a16:creationId xmlns:a16="http://schemas.microsoft.com/office/drawing/2014/main" id="{C6DAE22B-3F41-38C6-E60A-0433FE0F03C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486" y="3607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6" imgW="330120" imgH="177480" progId="Equation.DSMT4">
                          <p:embed/>
                        </p:oleObj>
                      </mc:Choice>
                      <mc:Fallback>
                        <p:oleObj name="Equation" r:id="rId46" imgW="330120" imgH="177480" progId="Equation.DSMT4">
                          <p:embed/>
                          <p:pic>
                            <p:nvPicPr>
                              <p:cNvPr id="181272" name="Object 24">
                                <a:extLst>
                                  <a:ext uri="{FF2B5EF4-FFF2-40B4-BE49-F238E27FC236}">
                                    <a16:creationId xmlns:a16="http://schemas.microsoft.com/office/drawing/2014/main" id="{463C13B8-1D92-2387-DD08-1FC55F0AE6E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86" y="3607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2" name="Object 24"/>
                  <p:cNvGraphicFramePr>
                    <a:graphicFrameLocks noChangeAspect="1"/>
                  </p:cNvGraphicFramePr>
                  <p:nvPr/>
                </p:nvGraphicFramePr>
                <p:xfrm>
                  <a:off x="4486" y="3607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8" imgW="330120" imgH="177480" progId="Equation.DSMT4">
                          <p:embed/>
                        </p:oleObj>
                      </mc:Choice>
                      <mc:Fallback>
                        <p:oleObj name="Equation" r:id="rId48" imgW="330120" imgH="177480" progId="Equation.DSMT4">
                          <p:embed/>
                          <p:pic>
                            <p:nvPicPr>
                              <p:cNvPr id="181272" name="Object 2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86" y="3607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3" name="Object 25">
                  <a:extLst>
                    <a:ext uri="{FF2B5EF4-FFF2-40B4-BE49-F238E27FC236}">
                      <a16:creationId xmlns:a16="http://schemas.microsoft.com/office/drawing/2014/main" id="{9E02D34A-58C1-540A-272E-1923281F8ECA}"/>
                    </a:ext>
                  </a:extLst>
                </p:cNvPr>
                <p:cNvSpPr txBox="1"/>
                <p:nvPr/>
              </p:nvSpPr>
              <p:spPr bwMode="auto">
                <a:xfrm>
                  <a:off x="1669" y="1654"/>
                  <a:ext cx="227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3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69" y="1654"/>
                  <a:ext cx="227" cy="303"/>
                </a:xfrm>
                <a:prstGeom prst="rect">
                  <a:avLst/>
                </a:prstGeom>
                <a:blipFill>
                  <a:blip r:embed="rId50"/>
                  <a:stretch>
                    <a:fillRect r="-2711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4" name="Object 26">
                  <a:extLst>
                    <a:ext uri="{FF2B5EF4-FFF2-40B4-BE49-F238E27FC236}">
                      <a16:creationId xmlns:a16="http://schemas.microsoft.com/office/drawing/2014/main" id="{CCD15219-A08B-2C2F-572C-E50ED4A9E966}"/>
                    </a:ext>
                  </a:extLst>
                </p:cNvPr>
                <p:cNvSpPr txBox="1"/>
                <p:nvPr/>
              </p:nvSpPr>
              <p:spPr bwMode="auto">
                <a:xfrm>
                  <a:off x="2613" y="1660"/>
                  <a:ext cx="24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4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3" y="1660"/>
                  <a:ext cx="242" cy="302"/>
                </a:xfrm>
                <a:prstGeom prst="rect">
                  <a:avLst/>
                </a:prstGeom>
                <a:blipFill>
                  <a:blip r:embed="rId51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5" name="Object 27">
                  <a:extLst>
                    <a:ext uri="{FF2B5EF4-FFF2-40B4-BE49-F238E27FC236}">
                      <a16:creationId xmlns:a16="http://schemas.microsoft.com/office/drawing/2014/main" id="{B9D8F448-B60B-31C0-BBCE-BD1B18C5C880}"/>
                    </a:ext>
                  </a:extLst>
                </p:cNvPr>
                <p:cNvSpPr txBox="1"/>
                <p:nvPr/>
              </p:nvSpPr>
              <p:spPr bwMode="auto">
                <a:xfrm>
                  <a:off x="3582" y="1657"/>
                  <a:ext cx="24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5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2" y="1657"/>
                  <a:ext cx="242" cy="302"/>
                </a:xfrm>
                <a:prstGeom prst="rect">
                  <a:avLst/>
                </a:prstGeom>
                <a:blipFill>
                  <a:blip r:embed="rId52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6" name="Object 28">
                  <a:extLst>
                    <a:ext uri="{FF2B5EF4-FFF2-40B4-BE49-F238E27FC236}">
                      <a16:creationId xmlns:a16="http://schemas.microsoft.com/office/drawing/2014/main" id="{D0C7588A-719E-E96C-C3C7-DA5876C5182E}"/>
                    </a:ext>
                  </a:extLst>
                </p:cNvPr>
                <p:cNvSpPr txBox="1"/>
                <p:nvPr/>
              </p:nvSpPr>
              <p:spPr bwMode="auto">
                <a:xfrm>
                  <a:off x="4578" y="1654"/>
                  <a:ext cx="242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6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8" y="1654"/>
                  <a:ext cx="242" cy="303"/>
                </a:xfrm>
                <a:prstGeom prst="rect">
                  <a:avLst/>
                </a:prstGeom>
                <a:blipFill>
                  <a:blip r:embed="rId53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282" name="Text Box 34">
              <a:extLst>
                <a:ext uri="{FF2B5EF4-FFF2-40B4-BE49-F238E27FC236}">
                  <a16:creationId xmlns:a16="http://schemas.microsoft.com/office/drawing/2014/main" id="{4B04F147-DFD4-3238-07DF-81F5EE6F7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" y="1574"/>
              <a:ext cx="967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Raleway" pitchFamily="2" charset="0"/>
                </a:rPr>
                <a:t>Continuous</a:t>
              </a:r>
            </a:p>
            <a:p>
              <a:pPr algn="ctr"/>
              <a:r>
                <a:rPr lang="en-US" sz="2000" dirty="0">
                  <a:latin typeface="Raleway" pitchFamily="2" charset="0"/>
                </a:rPr>
                <a:t>time</a:t>
              </a:r>
            </a:p>
          </p:txBody>
        </p:sp>
        <p:sp>
          <p:nvSpPr>
            <p:cNvPr id="181283" name="Text Box 35">
              <a:extLst>
                <a:ext uri="{FF2B5EF4-FFF2-40B4-BE49-F238E27FC236}">
                  <a16:creationId xmlns:a16="http://schemas.microsoft.com/office/drawing/2014/main" id="{83C1A492-E589-FB14-907D-A120E2AFC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" y="2399"/>
              <a:ext cx="76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Raleway" pitchFamily="2" charset="0"/>
                </a:rPr>
                <a:t>Discrete</a:t>
              </a:r>
            </a:p>
            <a:p>
              <a:pPr algn="ctr"/>
              <a:r>
                <a:rPr lang="en-US" sz="2000" dirty="0">
                  <a:latin typeface="Raleway" pitchFamily="2" charset="0"/>
                </a:rPr>
                <a:t>time</a:t>
              </a:r>
            </a:p>
          </p:txBody>
        </p:sp>
      </p:grp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95A67D7F-E6DE-3656-BD32-282F2EE62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919116"/>
              </p:ext>
            </p:extLst>
          </p:nvPr>
        </p:nvGraphicFramePr>
        <p:xfrm>
          <a:off x="4737999" y="3476104"/>
          <a:ext cx="1557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368280" progId="Equation.DSMT4">
                  <p:embed/>
                </p:oleObj>
              </mc:Choice>
              <mc:Fallback>
                <p:oleObj name="Equation" r:id="rId4" imgW="1002960" imgH="368280" progId="Equation.DSMT4">
                  <p:embed/>
                  <p:pic>
                    <p:nvPicPr>
                      <p:cNvPr id="181256" name="Object 8">
                        <a:extLst>
                          <a:ext uri="{FF2B5EF4-FFF2-40B4-BE49-F238E27FC236}">
                            <a16:creationId xmlns:a16="http://schemas.microsoft.com/office/drawing/2014/main" id="{61F7973C-265A-1C47-E61A-11C459E52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999" y="3476104"/>
                        <a:ext cx="15573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9A853C40-D51A-AC45-6AA2-435385D2C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090163"/>
              </p:ext>
            </p:extLst>
          </p:nvPr>
        </p:nvGraphicFramePr>
        <p:xfrm>
          <a:off x="6266712" y="3468247"/>
          <a:ext cx="1557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368280" progId="Equation.DSMT4">
                  <p:embed/>
                </p:oleObj>
              </mc:Choice>
              <mc:Fallback>
                <p:oleObj name="Equation" r:id="rId6" imgW="1002960" imgH="368280" progId="Equation.DSMT4">
                  <p:embed/>
                  <p:pic>
                    <p:nvPicPr>
                      <p:cNvPr id="3" name="Object 8">
                        <a:extLst>
                          <a:ext uri="{FF2B5EF4-FFF2-40B4-BE49-F238E27FC236}">
                            <a16:creationId xmlns:a16="http://schemas.microsoft.com/office/drawing/2014/main" id="{95A67D7F-E6DE-3656-BD32-282F2EE621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6712" y="3468247"/>
                        <a:ext cx="15573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ADA0AEC6-F736-C0D9-F817-1F3486D19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896728"/>
              </p:ext>
            </p:extLst>
          </p:nvPr>
        </p:nvGraphicFramePr>
        <p:xfrm>
          <a:off x="7814281" y="3469818"/>
          <a:ext cx="1557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368280" progId="Equation.DSMT4">
                  <p:embed/>
                </p:oleObj>
              </mc:Choice>
              <mc:Fallback>
                <p:oleObj name="Equation" r:id="rId6" imgW="1002960" imgH="36828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9A853C40-D51A-AC45-6AA2-435385D2C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4281" y="3469818"/>
                        <a:ext cx="15573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3506370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2A6F-B51C-93C7-0609-F58B3B1A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6" name="Rectangle 2">
            <a:extLst>
              <a:ext uri="{FF2B5EF4-FFF2-40B4-BE49-F238E27FC236}">
                <a16:creationId xmlns:a16="http://schemas.microsoft.com/office/drawing/2014/main" id="{6BDCDB6B-C247-344C-C1AF-FE66E64F54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Modeling exogenous information</a:t>
            </a:r>
          </a:p>
        </p:txBody>
      </p:sp>
      <p:sp>
        <p:nvSpPr>
          <p:cNvPr id="535557" name="Rectangle 3">
            <a:extLst>
              <a:ext uri="{FF2B5EF4-FFF2-40B4-BE49-F238E27FC236}">
                <a16:creationId xmlns:a16="http://schemas.microsoft.com/office/drawing/2014/main" id="{3D4D2C46-5963-B6EC-D2AE-947A591B8B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8249" y="1038022"/>
            <a:ext cx="7772400" cy="533400"/>
          </a:xfrm>
        </p:spPr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We write the exogenous information using: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5564" name="Object 10">
                <a:extLst>
                  <a:ext uri="{FF2B5EF4-FFF2-40B4-BE49-F238E27FC236}">
                    <a16:creationId xmlns:a16="http://schemas.microsoft.com/office/drawing/2014/main" id="{FF97B2D3-EF1D-6B1A-6EA6-996040FFD667}"/>
                  </a:ext>
                </a:extLst>
              </p:cNvPr>
              <p:cNvSpPr txBox="1"/>
              <p:nvPr/>
            </p:nvSpPr>
            <p:spPr bwMode="auto">
              <a:xfrm>
                <a:off x="1231832" y="1765976"/>
                <a:ext cx="7683373" cy="2928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New information that first became known at time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br>
                  <a:rPr lang="en-US" i="1" dirty="0">
                    <a:solidFill>
                      <a:srgbClr val="000000"/>
                    </a:solidFill>
                    <a:latin typeface="Raleway" pitchFamily="2" charset="0"/>
                  </a:rPr>
                </a:br>
                <a:endParaRPr lang="en-US" i="1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quipment failures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, theft, exogenous deliveries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</m:oMath>
                  </m:oMathPara>
                </a14:m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</a:p>
              <a:p>
                <a: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New customer demands</m:t>
                    </m:r>
                  </m:oMath>
                </a14:m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0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   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Changes in prices</m:t>
                    </m:r>
                  </m:oMath>
                </a14:m>
                <a: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0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Information about the environment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temperature, ...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  <a:p>
                <a:endParaRPr lang="en-US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35564" name="Object 10">
                <a:extLst>
                  <a:ext uri="{FF2B5EF4-FFF2-40B4-BE49-F238E27FC236}">
                    <a16:creationId xmlns:a16="http://schemas.microsoft.com/office/drawing/2014/main" id="{FF97B2D3-EF1D-6B1A-6EA6-996040FFD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1832" y="1765976"/>
                <a:ext cx="7683373" cy="2928937"/>
              </a:xfrm>
              <a:prstGeom prst="rect">
                <a:avLst/>
              </a:prstGeom>
              <a:blipFill>
                <a:blip r:embed="rId3"/>
                <a:stretch>
                  <a:fillRect b="-160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77730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32B6-8BDC-4559-4F74-4D232B2E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 exogenous information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CCC4BF-B9B0-5C24-1720-93EA0B4615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8434" y="1039663"/>
                <a:ext cx="11115706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Purely exogenous information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𝑖𝑛𝑓</m:t>
                        </m:r>
                      </m:sup>
                    </m:sSup>
                  </m:oMath>
                </a14:m>
                <a:r>
                  <a:rPr lang="en-US" dirty="0"/>
                  <a:t> where: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𝑖𝑛𝑓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𝑡𝑒𝑚𝑝𝑒𝑟𝑎𝑡𝑢𝑟𝑒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𝑚𝑎𝑟𝑘𝑒𝑡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𝑟𝑎𝑖𝑛𝑓𝑎𝑙𝑙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be a sample realization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. These can be created in advance and stored in a file.</a:t>
                </a:r>
              </a:p>
              <a:p>
                <a:pPr lvl="2"/>
                <a:endParaRPr lang="en-US" sz="1600" dirty="0"/>
              </a:p>
              <a:p>
                <a:pPr marL="86360" indent="0">
                  <a:buNone/>
                </a:pPr>
                <a:r>
                  <a:rPr lang="en-US" dirty="0"/>
                  <a:t>Exogenous information we may influence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𝑖𝑛𝑓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State-dependent (which can depend on previous decisions)</a:t>
                </a:r>
              </a:p>
              <a:p>
                <a:pPr lvl="2"/>
                <a:r>
                  <a:rPr lang="en-US" dirty="0"/>
                  <a:t>Time-series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endParaRPr lang="en-US" sz="1200" dirty="0"/>
              </a:p>
              <a:p>
                <a:pPr lvl="1"/>
                <a:r>
                  <a:rPr lang="en-US" dirty="0"/>
                  <a:t>Decision-dependent</a:t>
                </a:r>
              </a:p>
              <a:p>
                <a:pPr lvl="2"/>
                <a:r>
                  <a:rPr lang="en-US" dirty="0"/>
                  <a:t>Market response to prices, advertising</a:t>
                </a:r>
              </a:p>
              <a:p>
                <a:pPr lvl="2"/>
                <a:r>
                  <a:rPr lang="en-US" dirty="0"/>
                  <a:t>Health response to medication</a:t>
                </a:r>
              </a:p>
              <a:p>
                <a:pPr lvl="2"/>
                <a:r>
                  <a:rPr lang="en-US" dirty="0"/>
                  <a:t>Arrival time after a trip depends on the route chosen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CCC4BF-B9B0-5C24-1720-93EA0B4615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8434" y="1039663"/>
                <a:ext cx="11115706" cy="4401600"/>
              </a:xfrm>
              <a:blipFill>
                <a:blip r:embed="rId2"/>
                <a:stretch>
                  <a:fillRect l="-384" r="-549" b="-20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90480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68E3-4576-4DB9-6342-8AE4F11B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 exogenous information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8B33A-EE9C-F756-EEF6-A74EF6E7B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90" y="1100379"/>
            <a:ext cx="10363200" cy="4757495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Evolution of knowledge and information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What we know (or believe) at a point in time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information we control (the decision we make)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Information we do not control (the exogenous information):</a:t>
            </a:r>
          </a:p>
          <a:p>
            <a:pPr lvl="2"/>
            <a:r>
              <a:rPr lang="en-US" dirty="0"/>
              <a:t>Completely beyond human control</a:t>
            </a:r>
          </a:p>
          <a:p>
            <a:pPr lvl="3"/>
            <a:r>
              <a:rPr lang="en-US" dirty="0"/>
              <a:t>Weather, earthquakes, emergence of new diseases</a:t>
            </a:r>
          </a:p>
          <a:p>
            <a:pPr lvl="2"/>
            <a:r>
              <a:rPr lang="en-US" dirty="0"/>
              <a:t>Population behaviors (spread of information, diseases)</a:t>
            </a:r>
          </a:p>
          <a:p>
            <a:pPr lvl="2"/>
            <a:r>
              <a:rPr lang="en-US" dirty="0"/>
              <a:t>Market behavior</a:t>
            </a:r>
          </a:p>
          <a:p>
            <a:pPr lvl="2"/>
            <a:r>
              <a:rPr lang="en-US" dirty="0"/>
              <a:t>Corporate behavior</a:t>
            </a:r>
          </a:p>
          <a:p>
            <a:pPr lvl="2"/>
            <a:r>
              <a:rPr lang="en-US" dirty="0"/>
              <a:t>Decisions made by other people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02748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DE91-D08C-40F1-CAEC-DA77E5B29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17FF8F70-2940-D3A9-7075-BDDB5C4229F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0982" y="1053243"/>
                <a:ext cx="10363200" cy="5300421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Information evolves in three stages: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What we know (or believe) at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New information we control, which is the decision we make at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New information we do not control, which arrives in the interval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1260475" lvl="1">
                  <a:buSzPct val="90000"/>
                  <a:buFont typeface="Wingdings" panose="05000000000000000000" pitchFamily="2" charset="2"/>
                  <a:buChar char="Ø"/>
                </a:pPr>
                <a:endParaRPr lang="en-US" sz="18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The only difference between decisions and exogenous information is who controls it.</a:t>
                </a:r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687388" indent="0">
                  <a:buSzPct val="90000"/>
                  <a:buNone/>
                </a:pPr>
                <a:endParaRPr lang="en-US" sz="2000" i="1" dirty="0">
                  <a:latin typeface="Raleway" pitchFamily="2" charset="0"/>
                </a:endParaRPr>
              </a:p>
              <a:p>
                <a:pPr marL="8636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17FF8F70-2940-D3A9-7075-BDDB5C422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982" y="1053243"/>
                <a:ext cx="10363200" cy="5300421"/>
              </a:xfrm>
              <a:blipFill>
                <a:blip r:embed="rId3"/>
                <a:stretch>
                  <a:fillRect l="-412" r="-412" b="-3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24301FC6-A356-1429-D05D-5FF1C72D00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EA6328C8-7285-722C-5D0D-6AF35276D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 exogenous information</a:t>
            </a:r>
            <a:endParaRPr lang="en-US" dirty="0"/>
          </a:p>
        </p:txBody>
      </p:sp>
      <p:sp>
        <p:nvSpPr>
          <p:cNvPr id="181254" name="Line 6">
            <a:extLst>
              <a:ext uri="{FF2B5EF4-FFF2-40B4-BE49-F238E27FC236}">
                <a16:creationId xmlns:a16="http://schemas.microsoft.com/office/drawing/2014/main" id="{8A0A679C-0D95-80C4-DECA-BA1E23D37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228" y="4851327"/>
            <a:ext cx="6675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55" name="Line 7">
            <a:extLst>
              <a:ext uri="{FF2B5EF4-FFF2-40B4-BE49-F238E27FC236}">
                <a16:creationId xmlns:a16="http://schemas.microsoft.com/office/drawing/2014/main" id="{BC2D4109-7376-5D57-E212-B517F4DA5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815" y="4706864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61" name="Line 13">
            <a:extLst>
              <a:ext uri="{FF2B5EF4-FFF2-40B4-BE49-F238E27FC236}">
                <a16:creationId xmlns:a16="http://schemas.microsoft.com/office/drawing/2014/main" id="{DD4A7429-FA83-F992-4403-F6A5230DE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1440" y="4697339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68" name="Object 20">
                <a:extLst>
                  <a:ext uri="{FF2B5EF4-FFF2-40B4-BE49-F238E27FC236}">
                    <a16:creationId xmlns:a16="http://schemas.microsoft.com/office/drawing/2014/main" id="{0271765B-9C69-4387-392E-C33B33A877B0}"/>
                  </a:ext>
                </a:extLst>
              </p:cNvPr>
              <p:cNvSpPr txBox="1"/>
              <p:nvPr/>
            </p:nvSpPr>
            <p:spPr bwMode="auto">
              <a:xfrm>
                <a:off x="2452125" y="5015635"/>
                <a:ext cx="875559" cy="325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268" name="Object 20">
                <a:extLst>
                  <a:ext uri="{FF2B5EF4-FFF2-40B4-BE49-F238E27FC236}">
                    <a16:creationId xmlns:a16="http://schemas.microsoft.com/office/drawing/2014/main" id="{0271765B-9C69-4387-392E-C33B33A87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2125" y="5015635"/>
                <a:ext cx="875559" cy="325438"/>
              </a:xfrm>
              <a:prstGeom prst="rect">
                <a:avLst/>
              </a:prstGeom>
              <a:blipFill>
                <a:blip r:embed="rId4"/>
                <a:stretch>
                  <a:fillRect b="-150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70" name="Object 22">
                <a:extLst>
                  <a:ext uri="{FF2B5EF4-FFF2-40B4-BE49-F238E27FC236}">
                    <a16:creationId xmlns:a16="http://schemas.microsoft.com/office/drawing/2014/main" id="{41DAFBED-FB9B-8706-1921-F533229F7A60}"/>
                  </a:ext>
                </a:extLst>
              </p:cNvPr>
              <p:cNvSpPr txBox="1"/>
              <p:nvPr/>
            </p:nvSpPr>
            <p:spPr bwMode="auto">
              <a:xfrm>
                <a:off x="5232123" y="5029825"/>
                <a:ext cx="875559" cy="325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270" name="Object 22">
                <a:extLst>
                  <a:ext uri="{FF2B5EF4-FFF2-40B4-BE49-F238E27FC236}">
                    <a16:creationId xmlns:a16="http://schemas.microsoft.com/office/drawing/2014/main" id="{41DAFBED-FB9B-8706-1921-F533229F7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2123" y="5029825"/>
                <a:ext cx="875559" cy="325437"/>
              </a:xfrm>
              <a:prstGeom prst="rect">
                <a:avLst/>
              </a:prstGeom>
              <a:blipFill>
                <a:blip r:embed="rId5"/>
                <a:stretch>
                  <a:fillRect b="-207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73" name="Object 25">
                <a:extLst>
                  <a:ext uri="{FF2B5EF4-FFF2-40B4-BE49-F238E27FC236}">
                    <a16:creationId xmlns:a16="http://schemas.microsoft.com/office/drawing/2014/main" id="{6E0F37DF-E14E-AE93-A82B-E05953E9C9E6}"/>
                  </a:ext>
                </a:extLst>
              </p:cNvPr>
              <p:cNvSpPr txBox="1"/>
              <p:nvPr/>
            </p:nvSpPr>
            <p:spPr bwMode="auto">
              <a:xfrm>
                <a:off x="3965430" y="3828273"/>
                <a:ext cx="4945108" cy="481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Exogenous information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181273" name="Object 25">
                <a:extLst>
                  <a:ext uri="{FF2B5EF4-FFF2-40B4-BE49-F238E27FC236}">
                    <a16:creationId xmlns:a16="http://schemas.microsoft.com/office/drawing/2014/main" id="{6E0F37DF-E14E-AE93-A82B-E05953E9C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5430" y="3828273"/>
                <a:ext cx="4945108" cy="481013"/>
              </a:xfrm>
              <a:prstGeom prst="rect">
                <a:avLst/>
              </a:prstGeom>
              <a:blipFill>
                <a:blip r:embed="rId7"/>
                <a:stretch>
                  <a:fillRect t="-7595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F361D1-1F1C-A2A9-E29A-523D857DD761}"/>
                  </a:ext>
                </a:extLst>
              </p:cNvPr>
              <p:cNvSpPr txBox="1"/>
              <p:nvPr/>
            </p:nvSpPr>
            <p:spPr>
              <a:xfrm>
                <a:off x="2271962" y="3086204"/>
                <a:ext cx="623625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State of knowledge (what we know or believe)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F361D1-1F1C-A2A9-E29A-523D857DD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62" y="3086204"/>
                <a:ext cx="6236259" cy="400110"/>
              </a:xfrm>
              <a:prstGeom prst="rect">
                <a:avLst/>
              </a:prstGeom>
              <a:blipFill>
                <a:blip r:embed="rId8"/>
                <a:stretch>
                  <a:fillRect t="-7576" r="-9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897F8A-EE59-BB46-0ED6-3A08DCDEB03F}"/>
              </a:ext>
            </a:extLst>
          </p:cNvPr>
          <p:cNvCxnSpPr>
            <a:cxnSpLocks/>
          </p:cNvCxnSpPr>
          <p:nvPr/>
        </p:nvCxnSpPr>
        <p:spPr>
          <a:xfrm>
            <a:off x="2452125" y="3535052"/>
            <a:ext cx="137263" cy="115295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84534D-AE8A-FEBF-9F4E-BC08EF2270D3}"/>
                  </a:ext>
                </a:extLst>
              </p:cNvPr>
              <p:cNvSpPr txBox="1"/>
              <p:nvPr/>
            </p:nvSpPr>
            <p:spPr>
              <a:xfrm>
                <a:off x="2631756" y="3464849"/>
                <a:ext cx="4632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Decision (using information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84534D-AE8A-FEBF-9F4E-BC08EF227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756" y="3464849"/>
                <a:ext cx="4632487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8D51C9-82EC-AC39-1B2E-44A18413593C}"/>
              </a:ext>
            </a:extLst>
          </p:cNvPr>
          <p:cNvCxnSpPr>
            <a:cxnSpLocks/>
          </p:cNvCxnSpPr>
          <p:nvPr/>
        </p:nvCxnSpPr>
        <p:spPr>
          <a:xfrm flipH="1">
            <a:off x="2635378" y="3865951"/>
            <a:ext cx="137263" cy="9536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4F1303-8A56-7EE7-FB78-E4EA22C8DFDA}"/>
                  </a:ext>
                </a:extLst>
              </p:cNvPr>
              <p:cNvSpPr txBox="1"/>
              <p:nvPr/>
            </p:nvSpPr>
            <p:spPr>
              <a:xfrm rot="5400000">
                <a:off x="3892851" y="3261398"/>
                <a:ext cx="522387" cy="3168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/>
                                              </m:mr>
                                              <m:mr>
                                                <m:e/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4F1303-8A56-7EE7-FB78-E4EA22C8D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892851" y="3261398"/>
                <a:ext cx="522387" cy="31682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C4355A-D6CB-7645-26C1-287960B0CF95}"/>
              </a:ext>
            </a:extLst>
          </p:cNvPr>
          <p:cNvCxnSpPr>
            <a:cxnSpLocks/>
          </p:cNvCxnSpPr>
          <p:nvPr/>
        </p:nvCxnSpPr>
        <p:spPr>
          <a:xfrm>
            <a:off x="4152300" y="4232636"/>
            <a:ext cx="0" cy="4229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ine 19">
            <a:extLst>
              <a:ext uri="{FF2B5EF4-FFF2-40B4-BE49-F238E27FC236}">
                <a16:creationId xmlns:a16="http://schemas.microsoft.com/office/drawing/2014/main" id="{52E10A4C-4ED6-C6BC-FD84-03A1FD116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7663" y="4702102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4">
                <a:extLst>
                  <a:ext uri="{FF2B5EF4-FFF2-40B4-BE49-F238E27FC236}">
                    <a16:creationId xmlns:a16="http://schemas.microsoft.com/office/drawing/2014/main" id="{0E0453A2-6552-CB94-2288-71148BBFEA44}"/>
                  </a:ext>
                </a:extLst>
              </p:cNvPr>
              <p:cNvSpPr txBox="1"/>
              <p:nvPr/>
            </p:nvSpPr>
            <p:spPr bwMode="auto">
              <a:xfrm>
                <a:off x="8368622" y="5053441"/>
                <a:ext cx="894615" cy="325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24">
                <a:extLst>
                  <a:ext uri="{FF2B5EF4-FFF2-40B4-BE49-F238E27FC236}">
                    <a16:creationId xmlns:a16="http://schemas.microsoft.com/office/drawing/2014/main" id="{0E0453A2-6552-CB94-2288-71148BBFE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8622" y="5053441"/>
                <a:ext cx="894615" cy="325438"/>
              </a:xfrm>
              <a:prstGeom prst="rect">
                <a:avLst/>
              </a:prstGeom>
              <a:blipFill>
                <a:blip r:embed="rId11"/>
                <a:stretch>
                  <a:fillRect b="-188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85681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226C-8CD2-8B3B-3B72-2953AA9D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08D34AC4-7399-A526-42B3-66AA27CBDEE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0982" y="1053243"/>
                <a:ext cx="10363200" cy="5300421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Information evolves in three stages: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What we know (or believe) at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New information we control, which is the decision we make at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New information we do not control, which arrives in the interval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200" dirty="0"/>
              </a:p>
              <a:p>
                <a:pPr marL="1260475" lvl="1">
                  <a:buSzPct val="90000"/>
                  <a:buFont typeface="Wingdings" panose="05000000000000000000" pitchFamily="2" charset="2"/>
                  <a:buChar char="Ø"/>
                </a:pPr>
                <a:endParaRPr lang="en-US" sz="18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The only difference between decisions and exogenous information is who controls it.</a:t>
                </a:r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687388" indent="0">
                  <a:buSzPct val="90000"/>
                  <a:buNone/>
                </a:pPr>
                <a:endParaRPr lang="en-US" sz="2000" i="1" dirty="0">
                  <a:latin typeface="Raleway" pitchFamily="2" charset="0"/>
                </a:endParaRPr>
              </a:p>
              <a:p>
                <a:pPr marL="8636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1251" name="Rectangle 3">
                <a:extLst>
                  <a:ext uri="{FF2B5EF4-FFF2-40B4-BE49-F238E27FC236}">
                    <a16:creationId xmlns:a16="http://schemas.microsoft.com/office/drawing/2014/main" id="{17FF8F70-2940-D3A9-7075-BDDB5C422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982" y="1053243"/>
                <a:ext cx="10363200" cy="5300421"/>
              </a:xfrm>
              <a:blipFill>
                <a:blip r:embed="rId3"/>
                <a:stretch>
                  <a:fillRect l="-412" r="-412" b="-3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AF575063-7411-94CB-FF17-D01DFDE717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66655434-A866-C6D0-29DE-059D09E79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 exogenous information</a:t>
            </a:r>
            <a:endParaRPr lang="en-US" dirty="0"/>
          </a:p>
        </p:txBody>
      </p:sp>
      <p:sp>
        <p:nvSpPr>
          <p:cNvPr id="181254" name="Line 6">
            <a:extLst>
              <a:ext uri="{FF2B5EF4-FFF2-40B4-BE49-F238E27FC236}">
                <a16:creationId xmlns:a16="http://schemas.microsoft.com/office/drawing/2014/main" id="{D2D4AE6D-CDBF-220F-D3FA-71BA658C7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228" y="4851327"/>
            <a:ext cx="6675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55" name="Line 7">
            <a:extLst>
              <a:ext uri="{FF2B5EF4-FFF2-40B4-BE49-F238E27FC236}">
                <a16:creationId xmlns:a16="http://schemas.microsoft.com/office/drawing/2014/main" id="{AF70F3DA-5C4A-1508-631E-89C05556D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815" y="4706864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61" name="Line 13">
            <a:extLst>
              <a:ext uri="{FF2B5EF4-FFF2-40B4-BE49-F238E27FC236}">
                <a16:creationId xmlns:a16="http://schemas.microsoft.com/office/drawing/2014/main" id="{F3759A14-96C5-E047-AB84-6C4131ED4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1440" y="4697339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67" name="Line 19">
            <a:extLst>
              <a:ext uri="{FF2B5EF4-FFF2-40B4-BE49-F238E27FC236}">
                <a16:creationId xmlns:a16="http://schemas.microsoft.com/office/drawing/2014/main" id="{BFD7C43F-89C9-DD51-A5CE-C4B78B425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7663" y="4702102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68" name="Object 20">
                <a:extLst>
                  <a:ext uri="{FF2B5EF4-FFF2-40B4-BE49-F238E27FC236}">
                    <a16:creationId xmlns:a16="http://schemas.microsoft.com/office/drawing/2014/main" id="{1BEA5D74-C163-0B66-C6FC-790F7210FB32}"/>
                  </a:ext>
                </a:extLst>
              </p:cNvPr>
              <p:cNvSpPr txBox="1"/>
              <p:nvPr/>
            </p:nvSpPr>
            <p:spPr bwMode="auto">
              <a:xfrm>
                <a:off x="2452125" y="5015635"/>
                <a:ext cx="875559" cy="325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268" name="Object 20">
                <a:extLst>
                  <a:ext uri="{FF2B5EF4-FFF2-40B4-BE49-F238E27FC236}">
                    <a16:creationId xmlns:a16="http://schemas.microsoft.com/office/drawing/2014/main" id="{0271765B-9C69-4387-392E-C33B33A87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2125" y="5015635"/>
                <a:ext cx="875559" cy="325438"/>
              </a:xfrm>
              <a:prstGeom prst="rect">
                <a:avLst/>
              </a:prstGeom>
              <a:blipFill>
                <a:blip r:embed="rId4"/>
                <a:stretch>
                  <a:fillRect b="-150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70" name="Object 22">
                <a:extLst>
                  <a:ext uri="{FF2B5EF4-FFF2-40B4-BE49-F238E27FC236}">
                    <a16:creationId xmlns:a16="http://schemas.microsoft.com/office/drawing/2014/main" id="{517226E4-FE07-8B2E-DF9D-4FA36E6FA4F4}"/>
                  </a:ext>
                </a:extLst>
              </p:cNvPr>
              <p:cNvSpPr txBox="1"/>
              <p:nvPr/>
            </p:nvSpPr>
            <p:spPr bwMode="auto">
              <a:xfrm>
                <a:off x="5232123" y="5029825"/>
                <a:ext cx="875559" cy="325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270" name="Object 22">
                <a:extLst>
                  <a:ext uri="{FF2B5EF4-FFF2-40B4-BE49-F238E27FC236}">
                    <a16:creationId xmlns:a16="http://schemas.microsoft.com/office/drawing/2014/main" id="{41DAFBED-FB9B-8706-1921-F533229F7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2123" y="5029825"/>
                <a:ext cx="875559" cy="325437"/>
              </a:xfrm>
              <a:prstGeom prst="rect">
                <a:avLst/>
              </a:prstGeom>
              <a:blipFill>
                <a:blip r:embed="rId5"/>
                <a:stretch>
                  <a:fillRect b="-207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72" name="Object 24">
                <a:extLst>
                  <a:ext uri="{FF2B5EF4-FFF2-40B4-BE49-F238E27FC236}">
                    <a16:creationId xmlns:a16="http://schemas.microsoft.com/office/drawing/2014/main" id="{9294D5C5-BB3F-5FEE-1020-7075BB87C9C0}"/>
                  </a:ext>
                </a:extLst>
              </p:cNvPr>
              <p:cNvSpPr txBox="1"/>
              <p:nvPr/>
            </p:nvSpPr>
            <p:spPr bwMode="auto">
              <a:xfrm>
                <a:off x="8368622" y="5053441"/>
                <a:ext cx="894615" cy="325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272" name="Object 24">
                <a:extLst>
                  <a:ext uri="{FF2B5EF4-FFF2-40B4-BE49-F238E27FC236}">
                    <a16:creationId xmlns:a16="http://schemas.microsoft.com/office/drawing/2014/main" id="{9294D5C5-BB3F-5FEE-1020-7075BB87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8622" y="5053441"/>
                <a:ext cx="894615" cy="325438"/>
              </a:xfrm>
              <a:prstGeom prst="rect">
                <a:avLst/>
              </a:prstGeom>
              <a:blipFill>
                <a:blip r:embed="rId6"/>
                <a:stretch>
                  <a:fillRect b="-188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73" name="Object 25">
                <a:extLst>
                  <a:ext uri="{FF2B5EF4-FFF2-40B4-BE49-F238E27FC236}">
                    <a16:creationId xmlns:a16="http://schemas.microsoft.com/office/drawing/2014/main" id="{79D8B601-69FE-59F1-1656-7417BB120036}"/>
                  </a:ext>
                </a:extLst>
              </p:cNvPr>
              <p:cNvSpPr txBox="1"/>
              <p:nvPr/>
            </p:nvSpPr>
            <p:spPr bwMode="auto">
              <a:xfrm>
                <a:off x="7029142" y="3828273"/>
                <a:ext cx="4945108" cy="481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Exogenous information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181273" name="Object 25">
                <a:extLst>
                  <a:ext uri="{FF2B5EF4-FFF2-40B4-BE49-F238E27FC236}">
                    <a16:creationId xmlns:a16="http://schemas.microsoft.com/office/drawing/2014/main" id="{79D8B601-69FE-59F1-1656-7417BB120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9142" y="3828273"/>
                <a:ext cx="4945108" cy="481013"/>
              </a:xfrm>
              <a:prstGeom prst="rect">
                <a:avLst/>
              </a:prstGeom>
              <a:blipFill>
                <a:blip r:embed="rId7"/>
                <a:stretch>
                  <a:fillRect t="-7595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611D55-889F-808F-A0B4-BD015DB46585}"/>
                  </a:ext>
                </a:extLst>
              </p:cNvPr>
              <p:cNvSpPr txBox="1"/>
              <p:nvPr/>
            </p:nvSpPr>
            <p:spPr>
              <a:xfrm>
                <a:off x="5335674" y="3086204"/>
                <a:ext cx="64815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State of knowledge (what we know or believe)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611D55-889F-808F-A0B4-BD015DB46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674" y="3086204"/>
                <a:ext cx="6481518" cy="400110"/>
              </a:xfrm>
              <a:prstGeom prst="rect">
                <a:avLst/>
              </a:prstGeom>
              <a:blipFill>
                <a:blip r:embed="rId8"/>
                <a:stretch>
                  <a:fillRect t="-7576" r="-9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DE5D67-A690-FDB7-09A3-8E27BE4B156A}"/>
              </a:ext>
            </a:extLst>
          </p:cNvPr>
          <p:cNvCxnSpPr>
            <a:cxnSpLocks/>
          </p:cNvCxnSpPr>
          <p:nvPr/>
        </p:nvCxnSpPr>
        <p:spPr>
          <a:xfrm>
            <a:off x="5515837" y="3535052"/>
            <a:ext cx="137263" cy="115295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F10AFD-B034-BB93-9F8B-77289B9BFECA}"/>
                  </a:ext>
                </a:extLst>
              </p:cNvPr>
              <p:cNvSpPr txBox="1"/>
              <p:nvPr/>
            </p:nvSpPr>
            <p:spPr>
              <a:xfrm>
                <a:off x="5695468" y="3464849"/>
                <a:ext cx="48259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Decision (using information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F10AFD-B034-BB93-9F8B-77289B9B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468" y="3464849"/>
                <a:ext cx="4825937" cy="400110"/>
              </a:xfrm>
              <a:prstGeom prst="rect">
                <a:avLst/>
              </a:prstGeom>
              <a:blipFill>
                <a:blip r:embed="rId9"/>
                <a:stretch>
                  <a:fillRect t="-7576" r="-25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6056E7-F537-C26E-B9D4-6463FB6CCA8F}"/>
              </a:ext>
            </a:extLst>
          </p:cNvPr>
          <p:cNvCxnSpPr>
            <a:cxnSpLocks/>
          </p:cNvCxnSpPr>
          <p:nvPr/>
        </p:nvCxnSpPr>
        <p:spPr>
          <a:xfrm flipH="1">
            <a:off x="5699090" y="3865951"/>
            <a:ext cx="137263" cy="9536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2615EC-C577-BED7-F790-F226F38E4ED1}"/>
                  </a:ext>
                </a:extLst>
              </p:cNvPr>
              <p:cNvSpPr txBox="1"/>
              <p:nvPr/>
            </p:nvSpPr>
            <p:spPr>
              <a:xfrm rot="5400000">
                <a:off x="6956563" y="3261398"/>
                <a:ext cx="522387" cy="3168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/>
                                              </m:mr>
                                              <m:mr>
                                                <m:e/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2615EC-C577-BED7-F790-F226F38E4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56563" y="3261398"/>
                <a:ext cx="522387" cy="31682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E0D034-06CA-A19F-5418-6B2E77374046}"/>
              </a:ext>
            </a:extLst>
          </p:cNvPr>
          <p:cNvCxnSpPr>
            <a:cxnSpLocks/>
          </p:cNvCxnSpPr>
          <p:nvPr/>
        </p:nvCxnSpPr>
        <p:spPr>
          <a:xfrm>
            <a:off x="7216012" y="4232636"/>
            <a:ext cx="0" cy="4229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464E73-3826-F3BA-D97F-5E667B0A9E1F}"/>
              </a:ext>
            </a:extLst>
          </p:cNvPr>
          <p:cNvSpPr txBox="1"/>
          <p:nvPr/>
        </p:nvSpPr>
        <p:spPr>
          <a:xfrm>
            <a:off x="10972800" y="682500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56756"/>
      </p:ext>
    </p:extLst>
  </p:cSld>
  <p:clrMapOvr>
    <a:masterClrMapping/>
  </p:clrMapOvr>
  <p:transition spd="slow">
    <p:wipe dir="r"/>
  </p:transition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376BA2A-D7A6-1227-9D9F-EEA053DC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F8277-DC71-0E68-0A15-321D1EB7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BE599167-7B16-5884-B4DB-E85D91AF0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51ADFEB9-CD51-D832-C1A1-AB7A9E3A8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 uncertainty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12 categories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Different flavors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Generating samples of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94343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0767-A7A9-2718-2B6F-E6AAB3CE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260D-568D-EB8A-8057-9C6336FD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12 categories of uncertainty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7E09B-6513-3B52-5B97-DF2705BE9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5" y="2111604"/>
            <a:ext cx="6287478" cy="42891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714F54-08B5-5C98-DC12-8C6AF16940F0}"/>
              </a:ext>
            </a:extLst>
          </p:cNvPr>
          <p:cNvSpPr txBox="1"/>
          <p:nvPr/>
        </p:nvSpPr>
        <p:spPr>
          <a:xfrm>
            <a:off x="1775644" y="1603000"/>
            <a:ext cx="2643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Language of models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E99391-C2CA-8F01-5B2B-A9089B7FC0F5}"/>
              </a:ext>
            </a:extLst>
          </p:cNvPr>
          <p:cNvSpPr txBox="1">
            <a:spLocks/>
          </p:cNvSpPr>
          <p:nvPr/>
        </p:nvSpPr>
        <p:spPr>
          <a:xfrm>
            <a:off x="351435" y="2226355"/>
            <a:ext cx="3176427" cy="320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Clr>
                <a:schemeClr val="accent2">
                  <a:lumMod val="75000"/>
                </a:schemeClr>
              </a:buClr>
              <a:buFont typeface="Raleway"/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12 classes of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Observational errors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Exogenous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Prognostic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Inferential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Experimental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Model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Transitional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Implementation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Communication errors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Algorithmic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Goal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Environmental uncertainty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75E08-4F7F-5E2C-08B6-AA5D3A777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377" y="2780905"/>
            <a:ext cx="1851676" cy="2793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03A25C-A58B-4DB0-47B0-B8195AF2DCF9}"/>
              </a:ext>
            </a:extLst>
          </p:cNvPr>
          <p:cNvSpPr txBox="1"/>
          <p:nvPr/>
        </p:nvSpPr>
        <p:spPr>
          <a:xfrm>
            <a:off x="4083120" y="4740428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Chapter 10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AF0D795-2A84-EFB4-7552-9A1630E7A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6790" y="1668985"/>
            <a:ext cx="4304090" cy="5024563"/>
          </a:xfrm>
          <a:solidFill>
            <a:schemeClr val="bg1"/>
          </a:solidFill>
        </p:spPr>
        <p:txBody>
          <a:bodyPr/>
          <a:lstStyle/>
          <a:p>
            <a:pPr marL="86360" indent="0">
              <a:buNone/>
            </a:pPr>
            <a:endParaRPr lang="en-US" sz="2000" dirty="0"/>
          </a:p>
          <a:p>
            <a:pPr lvl="1"/>
            <a:r>
              <a:rPr lang="en-US" sz="1800" dirty="0"/>
              <a:t>Suppliers:</a:t>
            </a:r>
          </a:p>
          <a:p>
            <a:pPr lvl="2"/>
            <a:r>
              <a:rPr lang="en-US" sz="1400" dirty="0"/>
              <a:t>Daily production, yield</a:t>
            </a:r>
          </a:p>
          <a:p>
            <a:pPr lvl="2"/>
            <a:r>
              <a:rPr lang="en-US" sz="1400" dirty="0"/>
              <a:t>Future commitments</a:t>
            </a:r>
          </a:p>
          <a:p>
            <a:pPr lvl="2"/>
            <a:r>
              <a:rPr lang="en-US" sz="1400" dirty="0"/>
              <a:t>Delivery times</a:t>
            </a:r>
          </a:p>
          <a:p>
            <a:pPr lvl="2"/>
            <a:r>
              <a:rPr lang="en-US" sz="1400" dirty="0"/>
              <a:t>Costs</a:t>
            </a:r>
          </a:p>
          <a:p>
            <a:pPr lvl="1"/>
            <a:r>
              <a:rPr lang="en-US" sz="1800" dirty="0"/>
              <a:t>Market/customers</a:t>
            </a:r>
          </a:p>
          <a:p>
            <a:pPr lvl="2"/>
            <a:r>
              <a:rPr lang="en-US" sz="1400" dirty="0"/>
              <a:t>Orders, returns</a:t>
            </a:r>
          </a:p>
          <a:p>
            <a:pPr lvl="2"/>
            <a:r>
              <a:rPr lang="en-US" sz="1400" dirty="0"/>
              <a:t>Price paid</a:t>
            </a:r>
          </a:p>
          <a:p>
            <a:pPr lvl="2"/>
            <a:r>
              <a:rPr lang="en-US" sz="1400" dirty="0"/>
              <a:t>Service requirements</a:t>
            </a:r>
          </a:p>
          <a:p>
            <a:pPr lvl="1"/>
            <a:r>
              <a:rPr lang="en-US" sz="1800" dirty="0"/>
              <a:t>Personnel</a:t>
            </a:r>
          </a:p>
          <a:p>
            <a:pPr lvl="2"/>
            <a:r>
              <a:rPr lang="en-US" sz="1400" dirty="0"/>
              <a:t>Availability</a:t>
            </a:r>
          </a:p>
          <a:p>
            <a:pPr lvl="2"/>
            <a:r>
              <a:rPr lang="en-US" sz="1400" dirty="0"/>
              <a:t>Departures, hiring</a:t>
            </a:r>
          </a:p>
          <a:p>
            <a:pPr lvl="2"/>
            <a:r>
              <a:rPr lang="en-US" sz="1400" dirty="0"/>
              <a:t>Performance</a:t>
            </a:r>
          </a:p>
          <a:p>
            <a:pPr lvl="1"/>
            <a:r>
              <a:rPr lang="en-US" sz="1600" dirty="0"/>
              <a:t>Equipment</a:t>
            </a:r>
          </a:p>
          <a:p>
            <a:pPr lvl="2"/>
            <a:r>
              <a:rPr lang="en-US" sz="1200" dirty="0"/>
              <a:t>Up-time, failures</a:t>
            </a:r>
          </a:p>
          <a:p>
            <a:pPr lvl="2"/>
            <a:r>
              <a:rPr lang="en-US" sz="1200" dirty="0"/>
              <a:t>Productivity</a:t>
            </a:r>
          </a:p>
          <a:p>
            <a:pPr lvl="1"/>
            <a:r>
              <a:rPr lang="en-US" sz="1800" dirty="0"/>
              <a:t>Network</a:t>
            </a:r>
          </a:p>
          <a:p>
            <a:pPr lvl="2"/>
            <a:r>
              <a:rPr lang="en-US" sz="1400" dirty="0"/>
              <a:t>Transit times</a:t>
            </a:r>
          </a:p>
          <a:p>
            <a:pPr lvl="2"/>
            <a:r>
              <a:rPr lang="en-US" sz="1400" dirty="0"/>
              <a:t>Weather, earthquakes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F92C7-8B59-610A-5A2B-51D8D863A416}"/>
              </a:ext>
            </a:extLst>
          </p:cNvPr>
          <p:cNvSpPr txBox="1"/>
          <p:nvPr/>
        </p:nvSpPr>
        <p:spPr>
          <a:xfrm>
            <a:off x="7078342" y="1590916"/>
            <a:ext cx="4177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Language of the problem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4E826-B9C2-583D-9BDD-93B3389123CF}"/>
              </a:ext>
            </a:extLst>
          </p:cNvPr>
          <p:cNvSpPr txBox="1">
            <a:spLocks/>
          </p:cNvSpPr>
          <p:nvPr/>
        </p:nvSpPr>
        <p:spPr>
          <a:xfrm>
            <a:off x="78858" y="1046029"/>
            <a:ext cx="10363200" cy="67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We have to identify the different classes of uncertainty:</a:t>
            </a:r>
          </a:p>
        </p:txBody>
      </p:sp>
    </p:spTree>
    <p:extLst>
      <p:ext uri="{BB962C8B-B14F-4D97-AF65-F5344CB8AC3E}">
        <p14:creationId xmlns:p14="http://schemas.microsoft.com/office/powerpoint/2010/main" val="892981508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1E44-17F4-6619-2402-81859D66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C83E9D-58DE-BB2F-BBA3-F9C797909FB2}"/>
              </a:ext>
            </a:extLst>
          </p:cNvPr>
          <p:cNvSpPr txBox="1"/>
          <p:nvPr/>
        </p:nvSpPr>
        <p:spPr>
          <a:xfrm>
            <a:off x="6147652" y="1356006"/>
            <a:ext cx="500295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Chess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Opponent behavior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C9C060-0DDE-EDDD-F53C-A0A590EF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The 12 categories of uncertainty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92852-828B-6C2D-C8D9-F98698C191C4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</p:spTree>
    <p:extLst>
      <p:ext uri="{BB962C8B-B14F-4D97-AF65-F5344CB8AC3E}">
        <p14:creationId xmlns:p14="http://schemas.microsoft.com/office/powerpoint/2010/main" val="218840114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D8D9-77B0-F515-7472-089F0E1D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4021B-FF86-E518-5FBE-501968D6951E}"/>
              </a:ext>
            </a:extLst>
          </p:cNvPr>
          <p:cNvSpPr txBox="1"/>
          <p:nvPr/>
        </p:nvSpPr>
        <p:spPr>
          <a:xfrm>
            <a:off x="6147652" y="1356006"/>
            <a:ext cx="500295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Mutual fund cash management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Deposits, redemptions, markets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Forecasts of deposits, </a:t>
            </a:r>
            <a:r>
              <a:rPr lang="en-US" sz="2200" dirty="0" err="1">
                <a:latin typeface="Raleway" pitchFamily="2" charset="0"/>
              </a:rPr>
              <a:t>redempt</a:t>
            </a:r>
            <a:r>
              <a:rPr lang="en-US" sz="2200" dirty="0">
                <a:latin typeface="Raleway" pitchFamily="2" charset="0"/>
              </a:rPr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Performance of different policies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Updating cash on hand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Max. returns, min. stock sales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 Changes in interest rates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17D61E-C79F-985C-A752-97A7A54B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The 12 categories of uncertainty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C9FE9-C6AD-CDA0-A34D-B04DDEC74418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</p:spTree>
    <p:extLst>
      <p:ext uri="{BB962C8B-B14F-4D97-AF65-F5344CB8AC3E}">
        <p14:creationId xmlns:p14="http://schemas.microsoft.com/office/powerpoint/2010/main" val="3174664622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869A-1D44-4268-D712-6FB01766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5D3142-801D-BC93-A417-BECA9B81E924}"/>
              </a:ext>
            </a:extLst>
          </p:cNvPr>
          <p:cNvSpPr txBox="1"/>
          <p:nvPr/>
        </p:nvSpPr>
        <p:spPr>
          <a:xfrm>
            <a:off x="6147652" y="1356006"/>
            <a:ext cx="500295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Supply chain management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Measuring inventory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Market demand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Forecasting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Market response to price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Test market variations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Modeling spread of information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Updating inventories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Failure to follow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Incorrect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Variations in optimal solution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Differences in service priority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Changes in tariffs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0DF0CB-84BA-FCE8-001A-D787D131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The 12 categories of uncertainty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56158-1A3E-971E-7263-3D219BC4CF95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</p:spTree>
    <p:extLst>
      <p:ext uri="{BB962C8B-B14F-4D97-AF65-F5344CB8AC3E}">
        <p14:creationId xmlns:p14="http://schemas.microsoft.com/office/powerpoint/2010/main" val="3130678758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9B64-F020-8677-1026-56891E26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D66E7-4C40-FFCA-A1D5-290ADC861525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713C4-0805-2614-6A4F-B1A3D1137193}"/>
              </a:ext>
            </a:extLst>
          </p:cNvPr>
          <p:cNvSpPr txBox="1"/>
          <p:nvPr/>
        </p:nvSpPr>
        <p:spPr>
          <a:xfrm>
            <a:off x="6147652" y="1356006"/>
            <a:ext cx="500295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Electric power grid operation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Observing voltages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Wind and cloud cover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Weather forecasting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Generator response to signals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Simulation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of voltages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Generator outputs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Failure to follow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Incorrect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Variations solving large IP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Minimizing cost vs. buffers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Focus on green energy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4382AA-23FC-0128-1594-EDA07827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The 12 categories of uncertainty</a:t>
            </a:r>
          </a:p>
        </p:txBody>
      </p:sp>
    </p:spTree>
    <p:extLst>
      <p:ext uri="{BB962C8B-B14F-4D97-AF65-F5344CB8AC3E}">
        <p14:creationId xmlns:p14="http://schemas.microsoft.com/office/powerpoint/2010/main" val="3104453980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95E4-C21A-95F2-C15F-A77A4AA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B5448B-AABC-FA97-05AF-60DC01A299CA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1FE53-AB0D-B35F-EBAF-97B5ECCC3521}"/>
              </a:ext>
            </a:extLst>
          </p:cNvPr>
          <p:cNvSpPr txBox="1"/>
          <p:nvPr/>
        </p:nvSpPr>
        <p:spPr>
          <a:xfrm>
            <a:off x="6147652" y="1356006"/>
            <a:ext cx="516539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Public health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What are infection rates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Mutations of the virus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Forecasting prevalent flu this fall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Estimating transmission rates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Testing dosages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Modeling spread of disease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Actual disease transitions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Failure to get vaccinated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Lack of clarity in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Variations in algorithmic results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Minimize infections? Costs?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Changing policies on vaccinations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672957-10FC-5957-8932-BF227BA7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The 12 categories of uncertainty</a:t>
            </a:r>
          </a:p>
        </p:txBody>
      </p:sp>
    </p:spTree>
    <p:extLst>
      <p:ext uri="{BB962C8B-B14F-4D97-AF65-F5344CB8AC3E}">
        <p14:creationId xmlns:p14="http://schemas.microsoft.com/office/powerpoint/2010/main" val="4043057824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53F0CAD-A6DA-D68C-7E51-D2D7B0F4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8FB5A-BB01-A239-B70D-0C3A46E9F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F8BCA10-3F43-5940-E684-24914331F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A7379D35-9A0C-C3D3-07D7-D72FB7002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 uncertainty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12 categories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flavors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Generating samples of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212458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D452-5E00-5258-F6E3-8B3653D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5051-89EE-C227-B1E4-8D69BF6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Different flavors of uncertainty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34871-D4BB-5305-50DD-D300EDD5A677}"/>
              </a:ext>
            </a:extLst>
          </p:cNvPr>
          <p:cNvSpPr txBox="1"/>
          <p:nvPr/>
        </p:nvSpPr>
        <p:spPr>
          <a:xfrm>
            <a:off x="3364777" y="1091180"/>
            <a:ext cx="557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behaviors of information 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7384D-087A-452D-4A1E-5964D8AF2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116" y="1579017"/>
            <a:ext cx="4993468" cy="4401600"/>
          </a:xfrm>
        </p:spPr>
        <p:txBody>
          <a:bodyPr/>
          <a:lstStyle/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Hourly-daily variations in demands, prices, …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Bursts, spikes, intermittent demands …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Periodic changes from market shifts, competitive behavior, …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Regional events (political, regulatory, weather, earthquakes, disease)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Systemic events (cyber attacks, public perception, tariffs)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Black swan events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Contingencies of events that might happen, but have not happened in the past.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D6A3C5-681A-7984-4E89-55C778DF1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584" y="4203369"/>
            <a:ext cx="5416266" cy="23630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FAAEFF-22D5-5E73-956E-88CA3EDB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034" y="2955200"/>
            <a:ext cx="3691849" cy="21852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3C3D265-070F-5AD2-67C2-BC79832E8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508" y="1628121"/>
            <a:ext cx="4502594" cy="18877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769970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4049-9CD5-F2F7-EE3C-1F09775D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Different flavors of uncertainty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DB97A-6A0B-FD2E-14A3-9AB770E7E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78" y="1053243"/>
            <a:ext cx="6081794" cy="5215579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Correlations over time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Temporal correlations typically reflect depends on unobservable processes.</a:t>
            </a:r>
          </a:p>
          <a:p>
            <a:pPr lvl="2"/>
            <a:endParaRPr lang="en-US" sz="1600" dirty="0"/>
          </a:p>
          <a:p>
            <a:pPr lvl="1"/>
            <a:r>
              <a:rPr lang="en-US" sz="2000" dirty="0"/>
              <a:t>The graph to the right showing energy from a wind farm reflects unobservable shifts in high- and low-pressure systems.</a:t>
            </a:r>
          </a:p>
          <a:p>
            <a:pPr lvl="2"/>
            <a:endParaRPr lang="en-US" sz="1600" dirty="0"/>
          </a:p>
          <a:p>
            <a:pPr lvl="1"/>
            <a:r>
              <a:rPr lang="en-US" sz="2000" dirty="0"/>
              <a:t>Since wind energy is not affected by decisions, we can use samples from history to run simulations.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We can also use the idea of “hidden state variables” to model the dynamics of unobservable processes.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EEBE3-0727-FB0B-C290-53C77447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317" y="2468836"/>
            <a:ext cx="5900940" cy="2574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CB081-1F07-9949-D952-1C9DB619DE0E}"/>
              </a:ext>
            </a:extLst>
          </p:cNvPr>
          <p:cNvSpPr txBox="1"/>
          <p:nvPr/>
        </p:nvSpPr>
        <p:spPr>
          <a:xfrm>
            <a:off x="7880807" y="2161060"/>
            <a:ext cx="2534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Raleway" pitchFamily="2" charset="0"/>
              </a:rPr>
              <a:t>Energy from a wind farm</a:t>
            </a:r>
          </a:p>
        </p:txBody>
      </p:sp>
    </p:spTree>
    <p:extLst>
      <p:ext uri="{BB962C8B-B14F-4D97-AF65-F5344CB8AC3E}">
        <p14:creationId xmlns:p14="http://schemas.microsoft.com/office/powerpoint/2010/main" val="361613408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BDBC-8261-5A1F-94A3-856602F5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C60C-87B8-3830-0B76-2AF5D7F1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Different flavors of uncertainty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A6060A4-CF6A-C5C1-BAC9-9B6F50C23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78" y="1053243"/>
            <a:ext cx="6081794" cy="5215579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Correlations over space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Spatial flows reflect population densities, manufacturing centers, as well as shipping locations like ports.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Consumption patterns can reflect incomes which tend to fall in geographical clusters.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Activities also reflect weather which depends on latitude, proximity to oceans, and the presence of mountains and rivers.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A4D2880-E678-3F4F-1150-94D7C0F3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6" r="7544"/>
          <a:stretch>
            <a:fillRect/>
          </a:stretch>
        </p:blipFill>
        <p:spPr bwMode="auto">
          <a:xfrm>
            <a:off x="6438507" y="1761732"/>
            <a:ext cx="5583026" cy="415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811519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1D7E-C085-6054-0A50-246CF301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92F4-946D-534A-5829-B46ADF9B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Different flavors of uncertainty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E7A3B28-C79B-4BC6-BEC2-4EA560B47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78" y="1053243"/>
            <a:ext cx="6081794" cy="5215579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Correlations over attributes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Activities can be described by a vector of attributes, such as purchases of retail goods.</a:t>
            </a:r>
          </a:p>
          <a:p>
            <a:pPr lvl="2"/>
            <a:endParaRPr lang="en-US" sz="1600" dirty="0"/>
          </a:p>
          <a:p>
            <a:pPr lvl="1"/>
            <a:r>
              <a:rPr lang="en-US" sz="2000" dirty="0"/>
              <a:t>Every item can be organized by high level attributes (clothing, food, household, hardware, sports, toys, …), followed by more specialized attributes.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Seasonal patterns will drive demands for entire product classes creating correlations by attributes.</a:t>
            </a:r>
          </a:p>
          <a:p>
            <a:pPr lvl="1"/>
            <a:endParaRPr lang="en-US" sz="2000" dirty="0"/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FF5C0-554D-BFD3-3B98-DA7755F8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923" y="2253007"/>
            <a:ext cx="5606899" cy="312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98856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6F38C96-904E-22DC-C1CB-3B48840A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A72EA-04BD-22AA-8996-C8EB0B27F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290E8DE-107B-D2D6-E4FA-318E5ADCF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4C4463FB-8D7C-E8FF-2909-D09184797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 uncertainty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12 categories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Different flavors of uncertainty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Generating samples of exogenous information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15253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4E53-3C34-F629-EF85-0EF976F9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B1E3-53C1-20FB-9234-4C28CFF8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BF8BF5-EBA0-1A32-1DC2-AD49F0D54E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3909" y="1037891"/>
                <a:ext cx="6449437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Generating sample observations</a:t>
                </a:r>
              </a:p>
              <a:p>
                <a:pPr lvl="2"/>
                <a:endParaRPr lang="en-US" sz="1600" dirty="0"/>
              </a:p>
              <a:p>
                <a:pPr lvl="1"/>
                <a:r>
                  <a:rPr lang="en-US" dirty="0"/>
                  <a:t>From history</a:t>
                </a:r>
              </a:p>
              <a:p>
                <a:pPr marL="1141413" lvl="2" indent="-230188"/>
                <a:r>
                  <a:rPr lang="en-US" dirty="0"/>
                  <a:t>Use observations from the past</a:t>
                </a:r>
              </a:p>
              <a:p>
                <a:pPr marL="1141413" lvl="2" indent="-230188"/>
                <a:r>
                  <a:rPr lang="en-US" dirty="0"/>
                  <a:t>Assumes that these are not affected by the decisions under our control. </a:t>
                </a:r>
              </a:p>
              <a:p>
                <a:pPr marL="1141413" lvl="2" indent="-230188"/>
                <a:r>
                  <a:rPr lang="en-US" dirty="0"/>
                  <a:t>Avoids the need for the highly technical modeling that we will describe below.</a:t>
                </a:r>
              </a:p>
              <a:p>
                <a:pPr marL="1141413" lvl="2" indent="-230188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be a sample path of observations:</a:t>
                </a:r>
              </a:p>
              <a:p>
                <a:pPr marL="1141413" lvl="2" indent="-230188"/>
                <a:endParaRPr lang="en-US" dirty="0"/>
              </a:p>
              <a:p>
                <a:pPr marL="1141413" lvl="2" indent="-230188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1413" lvl="2" indent="-230188"/>
                <a:endParaRPr lang="en-US" dirty="0"/>
              </a:p>
              <a:p>
                <a:pPr marL="1141413" lvl="2" indent="-230188"/>
                <a:r>
                  <a:rPr lang="en-US" dirty="0"/>
                  <a:t>Performance of a policy is given by</a:t>
                </a:r>
              </a:p>
              <a:p>
                <a:pPr lvl="2"/>
                <a:endParaRPr lang="en-US" dirty="0"/>
              </a:p>
              <a:p>
                <a:pPr marL="1028700" lvl="2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m:rPr>
                            <m:nor/>
                          </m:rPr>
                          <a:rPr lang="en-US" i="0" dirty="0"/>
                          <m:t>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)))</m:t>
                        </m:r>
                        <m:r>
                          <m:rPr>
                            <m:nor/>
                          </m:rPr>
                          <a:rPr lang="en-US" i="0" dirty="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BF8BF5-EBA0-1A32-1DC2-AD49F0D54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909" y="1037891"/>
                <a:ext cx="6449437" cy="4401600"/>
              </a:xfrm>
              <a:blipFill>
                <a:blip r:embed="rId2"/>
                <a:stretch>
                  <a:fillRect l="-567" r="-95" b="-28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9980F86-ADBD-AEBF-BE6B-35DF78BD8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1" r="20859"/>
          <a:stretch>
            <a:fillRect/>
          </a:stretch>
        </p:blipFill>
        <p:spPr>
          <a:xfrm>
            <a:off x="6460770" y="1360630"/>
            <a:ext cx="4807305" cy="1626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23433-479D-7EDD-12EE-C4926287BA75}"/>
              </a:ext>
            </a:extLst>
          </p:cNvPr>
          <p:cNvPicPr/>
          <p:nvPr/>
        </p:nvPicPr>
        <p:blipFill>
          <a:blip r:embed="rId4"/>
          <a:srcRect t="6714" b="12373"/>
          <a:stretch>
            <a:fillRect/>
          </a:stretch>
        </p:blipFill>
        <p:spPr>
          <a:xfrm>
            <a:off x="6570481" y="3001522"/>
            <a:ext cx="4707953" cy="1609781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EC035CC-2A2C-33FC-FFF6-869110E224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1"/>
          <a:stretch>
            <a:fillRect/>
          </a:stretch>
        </p:blipFill>
        <p:spPr bwMode="auto">
          <a:xfrm>
            <a:off x="6556020" y="4640529"/>
            <a:ext cx="4707953" cy="1833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FB2720-0A32-0EC2-6101-227BA463CDF3}"/>
              </a:ext>
            </a:extLst>
          </p:cNvPr>
          <p:cNvSpPr txBox="1"/>
          <p:nvPr/>
        </p:nvSpPr>
        <p:spPr>
          <a:xfrm>
            <a:off x="7013541" y="1521550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prices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15140-D8C9-599A-F753-C5AD65C0BE1F}"/>
              </a:ext>
            </a:extLst>
          </p:cNvPr>
          <p:cNvSpPr txBox="1"/>
          <p:nvPr/>
        </p:nvSpPr>
        <p:spPr>
          <a:xfrm>
            <a:off x="6827952" y="3121223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Electricity prices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3B6C9-730C-6212-BA33-5F2D9977EF0F}"/>
              </a:ext>
            </a:extLst>
          </p:cNvPr>
          <p:cNvSpPr txBox="1"/>
          <p:nvPr/>
        </p:nvSpPr>
        <p:spPr>
          <a:xfrm>
            <a:off x="6827952" y="4623929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from windfarm</a:t>
            </a:r>
          </a:p>
        </p:txBody>
      </p:sp>
    </p:spTree>
    <p:extLst>
      <p:ext uri="{BB962C8B-B14F-4D97-AF65-F5344CB8AC3E}">
        <p14:creationId xmlns:p14="http://schemas.microsoft.com/office/powerpoint/2010/main" val="3403527069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FEF8B-342A-134B-0A73-973150A5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0D9B-58F2-256D-7B49-FD02DD10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D5506-7ACC-C144-A2A7-F51F2643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15"/>
          <a:stretch>
            <a:fillRect/>
          </a:stretch>
        </p:blipFill>
        <p:spPr>
          <a:xfrm>
            <a:off x="6559270" y="2092751"/>
            <a:ext cx="5495421" cy="34802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16E55A3-673F-6E5F-5A98-FFA7C011E444}"/>
              </a:ext>
            </a:extLst>
          </p:cNvPr>
          <p:cNvSpPr txBox="1">
            <a:spLocks/>
          </p:cNvSpPr>
          <p:nvPr/>
        </p:nvSpPr>
        <p:spPr>
          <a:xfrm>
            <a:off x="87265" y="1037891"/>
            <a:ext cx="658513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Generating sample observations</a:t>
            </a:r>
          </a:p>
          <a:p>
            <a:pPr lvl="2"/>
            <a:endParaRPr lang="en-US" sz="1800" dirty="0"/>
          </a:p>
          <a:p>
            <a:pPr lvl="1"/>
            <a:r>
              <a:rPr lang="en-US" dirty="0"/>
              <a:t>Learning while doing</a:t>
            </a:r>
          </a:p>
          <a:p>
            <a:pPr marL="1141413" lvl="2" indent="-230188"/>
            <a:r>
              <a:rPr lang="en-US" dirty="0"/>
              <a:t>Optimize in the field as decisions are being made, as a mutual fund manager would do to determine how much cash to keep on hand for redemptions (see video):</a:t>
            </a:r>
          </a:p>
          <a:p>
            <a:pPr marL="1141413" lvl="2" indent="-230188">
              <a:buFont typeface="Raleway"/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141413" lvl="2" indent="-230188">
              <a:buFont typeface="Raleway"/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https://tinyurl.com/LearningWhileDoing/</a:t>
            </a:r>
            <a:r>
              <a:rPr lang="en-US" dirty="0"/>
              <a:t> </a:t>
            </a:r>
          </a:p>
          <a:p>
            <a:pPr marL="1141413" lvl="2" indent="-230188"/>
            <a:endParaRPr lang="en-US" dirty="0"/>
          </a:p>
          <a:p>
            <a:pPr marL="1141413" lvl="2" indent="-230188"/>
            <a:r>
              <a:rPr lang="en-US" dirty="0"/>
              <a:t>No modeling of the exogenous information process is required.</a:t>
            </a:r>
          </a:p>
          <a:p>
            <a:pPr marL="1141413" lvl="2" indent="-230188"/>
            <a:r>
              <a:rPr lang="en-US" dirty="0"/>
              <a:t>Very slow – it takes a day to observe a day</a:t>
            </a:r>
          </a:p>
          <a:p>
            <a:pPr marL="1141413" lvl="2" indent="-230188"/>
            <a:r>
              <a:rPr lang="en-US" dirty="0"/>
              <a:t>Mistakes are made in the field, so you have to experience poor decisions.</a:t>
            </a:r>
          </a:p>
          <a:p>
            <a:pPr lvl="2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74EAC-F564-8D3A-7041-ED9D8BD7093C}"/>
              </a:ext>
            </a:extLst>
          </p:cNvPr>
          <p:cNvSpPr txBox="1"/>
          <p:nvPr/>
        </p:nvSpPr>
        <p:spPr>
          <a:xfrm>
            <a:off x="7307710" y="2988797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Cash balance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1CBD6-A87A-F618-FBBB-889C62B960B8}"/>
              </a:ext>
            </a:extLst>
          </p:cNvPr>
          <p:cNvSpPr txBox="1"/>
          <p:nvPr/>
        </p:nvSpPr>
        <p:spPr>
          <a:xfrm>
            <a:off x="9122566" y="2834908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Institutional deposits/redemptions</a:t>
            </a:r>
          </a:p>
        </p:txBody>
      </p:sp>
    </p:spTree>
    <p:extLst>
      <p:ext uri="{BB962C8B-B14F-4D97-AF65-F5344CB8AC3E}">
        <p14:creationId xmlns:p14="http://schemas.microsoft.com/office/powerpoint/2010/main" val="2538194820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2BA9-1EDA-8796-FDFE-29D3D91C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2C6F-7284-7787-683A-D49F4036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CAB984-05B0-D856-9AC2-D6DB5500E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65" y="1037891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Generating sample observations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Create samples from a model</a:t>
            </a:r>
          </a:p>
          <a:p>
            <a:pPr marL="1141413" lvl="2" indent="-230188"/>
            <a:r>
              <a:rPr lang="en-US" dirty="0"/>
              <a:t>Requires creating a mathematical model that captures actual behaviors</a:t>
            </a:r>
          </a:p>
          <a:p>
            <a:pPr marL="1141413" lvl="2" indent="-230188"/>
            <a:r>
              <a:rPr lang="en-US" dirty="0"/>
              <a:t>Allows us to capture the effect of state/decision on observations</a:t>
            </a:r>
          </a:p>
          <a:p>
            <a:pPr marL="1141413" lvl="2" indent="-230188"/>
            <a:r>
              <a:rPr lang="en-US" dirty="0"/>
              <a:t>We can also create thousands of samples, making it possible to study the effect of rare or infrequent events.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… but</a:t>
            </a:r>
          </a:p>
          <a:p>
            <a:pPr marL="1141413" lvl="2" indent="-230188"/>
            <a:r>
              <a:rPr lang="en-US" dirty="0"/>
              <a:t>Information processes can be incredibly subtle.</a:t>
            </a:r>
          </a:p>
          <a:p>
            <a:pPr marL="1141413" lvl="2" indent="-230188"/>
            <a:r>
              <a:rPr lang="en-US" dirty="0"/>
              <a:t>There are complex behaviors over time…</a:t>
            </a:r>
          </a:p>
          <a:p>
            <a:pPr marL="1141413" lvl="2" indent="-230188"/>
            <a:r>
              <a:rPr lang="en-US" dirty="0"/>
              <a:t>… and complex correlations over space and parallel information processes (e.g. sales of similar products, performance of related drugs, the yield of competing manufacturing processes). </a:t>
            </a:r>
          </a:p>
        </p:txBody>
      </p:sp>
    </p:spTree>
    <p:extLst>
      <p:ext uri="{BB962C8B-B14F-4D97-AF65-F5344CB8AC3E}">
        <p14:creationId xmlns:p14="http://schemas.microsoft.com/office/powerpoint/2010/main" val="2266425112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D3E4-F7C6-7858-8C6B-9AA190E4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496E-32CB-EFAD-40AC-3B7AF28F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2">
                <a:extLst>
                  <a:ext uri="{FF2B5EF4-FFF2-40B4-BE49-F238E27FC236}">
                    <a16:creationId xmlns:a16="http://schemas.microsoft.com/office/drawing/2014/main" id="{87A016DB-3F02-17BA-CD6A-60751E9CCD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265" y="103789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Generating sample observations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Two of our most powerful tools for generating random samples:</a:t>
                </a:r>
              </a:p>
              <a:p>
                <a:pPr lvl="2"/>
                <a:r>
                  <a:rPr lang="en-US" dirty="0"/>
                  <a:t>Generating random 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that are:</a:t>
                </a:r>
              </a:p>
              <a:p>
                <a:pPr lvl="3"/>
                <a:r>
                  <a:rPr lang="en-US" sz="1800" dirty="0"/>
                  <a:t>Uniformly distributed between 0 and 1 (this is easy)</a:t>
                </a:r>
              </a:p>
              <a:p>
                <a:pPr lvl="3"/>
                <a:r>
                  <a:rPr lang="en-US" sz="1800" dirty="0"/>
                  <a:t>Independent from one another (this is hard).</a:t>
                </a:r>
              </a:p>
              <a:p>
                <a:pPr lvl="3"/>
                <a:r>
                  <a:rPr lang="en-US" sz="1800" dirty="0"/>
                  <a:t>Good news – all computer libraries have built-in random number generators.</a:t>
                </a: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Given a random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that is uniform between 0 and 1, we can create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with any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800" dirty="0"/>
                  <a:t> be the cumulative distribution.</a:t>
                </a:r>
              </a:p>
              <a:p>
                <a:pPr lvl="3"/>
                <a:r>
                  <a:rPr lang="en-US" sz="1800" dirty="0"/>
                  <a:t>If we generate a random variable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/>
                  <a:t> with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and cumulative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1800" dirty="0"/>
                  <a:t> produces a random variable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/>
                  <a:t> that is uniform between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3"/>
                <a:r>
                  <a:rPr lang="en-US" sz="1800" dirty="0"/>
                  <a:t>This also means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1800" dirty="0"/>
                  <a:t>, which is the inverse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1800" dirty="0"/>
                  <a:t>, produces a random variable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/>
                  <a:t> with cumulative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14" name="Text Placeholder 2">
                <a:extLst>
                  <a:ext uri="{FF2B5EF4-FFF2-40B4-BE49-F238E27FC236}">
                    <a16:creationId xmlns:a16="http://schemas.microsoft.com/office/drawing/2014/main" id="{87A016DB-3F02-17BA-CD6A-60751E9CC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265" y="1037891"/>
                <a:ext cx="10363200" cy="4401600"/>
              </a:xfrm>
              <a:blipFill>
                <a:blip r:embed="rId2"/>
                <a:stretch>
                  <a:fillRect l="-353" b="-15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258233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BCE1-3D58-0577-7386-BE81365F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4FEB-C0A5-110D-F1B5-41500AB8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22B5102-7EB6-8E59-0D0A-9139176DA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65" y="1037891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Generating sample observations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F43DEF-9CB6-8A48-1EDA-91AB4D3F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10" y="4901938"/>
            <a:ext cx="6975835" cy="14045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85923B-9229-A5FF-BAE8-F093390C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45243" y="2778992"/>
            <a:ext cx="3149545" cy="909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52651F-8E4C-5EE3-4BA5-40C55D012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336" y="1765369"/>
            <a:ext cx="6670231" cy="3250685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8EA323-2141-9D5E-229F-6915B0255883}"/>
              </a:ext>
            </a:extLst>
          </p:cNvPr>
          <p:cNvCxnSpPr>
            <a:cxnSpLocks/>
          </p:cNvCxnSpPr>
          <p:nvPr/>
        </p:nvCxnSpPr>
        <p:spPr>
          <a:xfrm>
            <a:off x="2130458" y="4430598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18C30D-F923-0035-45A1-A9C0E36A781E}"/>
              </a:ext>
            </a:extLst>
          </p:cNvPr>
          <p:cNvCxnSpPr>
            <a:cxnSpLocks/>
          </p:cNvCxnSpPr>
          <p:nvPr/>
        </p:nvCxnSpPr>
        <p:spPr>
          <a:xfrm>
            <a:off x="3171448" y="4432168"/>
            <a:ext cx="13252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9C82D3-75FF-EE35-BB56-CA659EC82D4F}"/>
              </a:ext>
            </a:extLst>
          </p:cNvPr>
          <p:cNvCxnSpPr>
            <a:cxnSpLocks/>
          </p:cNvCxnSpPr>
          <p:nvPr/>
        </p:nvCxnSpPr>
        <p:spPr>
          <a:xfrm>
            <a:off x="4488970" y="4440025"/>
            <a:ext cx="0" cy="17062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931A21-D2C7-AD2C-33E5-8609B9CD727B}"/>
              </a:ext>
            </a:extLst>
          </p:cNvPr>
          <p:cNvCxnSpPr>
            <a:cxnSpLocks/>
          </p:cNvCxnSpPr>
          <p:nvPr/>
        </p:nvCxnSpPr>
        <p:spPr>
          <a:xfrm>
            <a:off x="2143007" y="4152690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A3926B-8BF3-B2C5-153A-3BF7A103782A}"/>
              </a:ext>
            </a:extLst>
          </p:cNvPr>
          <p:cNvCxnSpPr>
            <a:cxnSpLocks/>
          </p:cNvCxnSpPr>
          <p:nvPr/>
        </p:nvCxnSpPr>
        <p:spPr>
          <a:xfrm>
            <a:off x="3153463" y="4154260"/>
            <a:ext cx="217638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1C41BF-FD2A-D51E-BE85-B37813BF9ABD}"/>
              </a:ext>
            </a:extLst>
          </p:cNvPr>
          <p:cNvCxnSpPr>
            <a:cxnSpLocks/>
          </p:cNvCxnSpPr>
          <p:nvPr/>
        </p:nvCxnSpPr>
        <p:spPr>
          <a:xfrm>
            <a:off x="5329850" y="4162117"/>
            <a:ext cx="0" cy="19841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5CC7EC-D496-CE57-DCE3-1597B03F510D}"/>
              </a:ext>
            </a:extLst>
          </p:cNvPr>
          <p:cNvCxnSpPr>
            <a:cxnSpLocks/>
          </p:cNvCxnSpPr>
          <p:nvPr/>
        </p:nvCxnSpPr>
        <p:spPr>
          <a:xfrm>
            <a:off x="2144797" y="3853267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AE0DBA-9973-188B-B251-F1B62E170016}"/>
              </a:ext>
            </a:extLst>
          </p:cNvPr>
          <p:cNvCxnSpPr>
            <a:cxnSpLocks/>
          </p:cNvCxnSpPr>
          <p:nvPr/>
        </p:nvCxnSpPr>
        <p:spPr>
          <a:xfrm>
            <a:off x="3153463" y="3854837"/>
            <a:ext cx="251165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A4BAB0-10FC-0AD2-FF37-A55C6E62932A}"/>
              </a:ext>
            </a:extLst>
          </p:cNvPr>
          <p:cNvCxnSpPr>
            <a:cxnSpLocks/>
          </p:cNvCxnSpPr>
          <p:nvPr/>
        </p:nvCxnSpPr>
        <p:spPr>
          <a:xfrm>
            <a:off x="5665120" y="3862694"/>
            <a:ext cx="0" cy="228358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05D7C-5938-C4D9-5E2E-22470F3D1F56}"/>
              </a:ext>
            </a:extLst>
          </p:cNvPr>
          <p:cNvCxnSpPr>
            <a:cxnSpLocks/>
          </p:cNvCxnSpPr>
          <p:nvPr/>
        </p:nvCxnSpPr>
        <p:spPr>
          <a:xfrm>
            <a:off x="2125073" y="3553847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ED0C968-0E07-F08D-A422-2D11B5CFF640}"/>
              </a:ext>
            </a:extLst>
          </p:cNvPr>
          <p:cNvCxnSpPr>
            <a:cxnSpLocks/>
          </p:cNvCxnSpPr>
          <p:nvPr/>
        </p:nvCxnSpPr>
        <p:spPr>
          <a:xfrm>
            <a:off x="3171448" y="3555417"/>
            <a:ext cx="280744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0D2824-6FAC-10DB-EF83-384622899729}"/>
              </a:ext>
            </a:extLst>
          </p:cNvPr>
          <p:cNvCxnSpPr>
            <a:cxnSpLocks/>
          </p:cNvCxnSpPr>
          <p:nvPr/>
        </p:nvCxnSpPr>
        <p:spPr>
          <a:xfrm>
            <a:off x="5978888" y="3563274"/>
            <a:ext cx="0" cy="258300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884DCE-F1E6-E82A-4A3D-A9D07251B258}"/>
              </a:ext>
            </a:extLst>
          </p:cNvPr>
          <p:cNvCxnSpPr>
            <a:cxnSpLocks/>
          </p:cNvCxnSpPr>
          <p:nvPr/>
        </p:nvCxnSpPr>
        <p:spPr>
          <a:xfrm>
            <a:off x="2126866" y="3254424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5628AD-1267-202F-E2CF-8229D67CD001}"/>
              </a:ext>
            </a:extLst>
          </p:cNvPr>
          <p:cNvCxnSpPr>
            <a:cxnSpLocks/>
          </p:cNvCxnSpPr>
          <p:nvPr/>
        </p:nvCxnSpPr>
        <p:spPr>
          <a:xfrm>
            <a:off x="3171448" y="3255994"/>
            <a:ext cx="307817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69EDBB-5794-2DBF-67D2-76228E9C01E1}"/>
              </a:ext>
            </a:extLst>
          </p:cNvPr>
          <p:cNvCxnSpPr>
            <a:cxnSpLocks/>
          </p:cNvCxnSpPr>
          <p:nvPr/>
        </p:nvCxnSpPr>
        <p:spPr>
          <a:xfrm>
            <a:off x="6249622" y="3263851"/>
            <a:ext cx="0" cy="28824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F98E5B3-220A-BEBC-7503-AA2C8FF50712}"/>
              </a:ext>
            </a:extLst>
          </p:cNvPr>
          <p:cNvCxnSpPr>
            <a:cxnSpLocks/>
          </p:cNvCxnSpPr>
          <p:nvPr/>
        </p:nvCxnSpPr>
        <p:spPr>
          <a:xfrm>
            <a:off x="2128660" y="2998032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4E09472-07A8-644B-8EA2-303B5CBC53D4}"/>
              </a:ext>
            </a:extLst>
          </p:cNvPr>
          <p:cNvCxnSpPr>
            <a:cxnSpLocks/>
          </p:cNvCxnSpPr>
          <p:nvPr/>
        </p:nvCxnSpPr>
        <p:spPr>
          <a:xfrm>
            <a:off x="3171448" y="3007459"/>
            <a:ext cx="329333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CAA6B00-B65E-5E47-DDAA-935176BA4120}"/>
              </a:ext>
            </a:extLst>
          </p:cNvPr>
          <p:cNvCxnSpPr>
            <a:cxnSpLocks/>
          </p:cNvCxnSpPr>
          <p:nvPr/>
        </p:nvCxnSpPr>
        <p:spPr>
          <a:xfrm>
            <a:off x="6464785" y="3007459"/>
            <a:ext cx="0" cy="31388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FA8F1A-481B-6024-2B9B-DADD50D21B25}"/>
              </a:ext>
            </a:extLst>
          </p:cNvPr>
          <p:cNvCxnSpPr>
            <a:cxnSpLocks/>
          </p:cNvCxnSpPr>
          <p:nvPr/>
        </p:nvCxnSpPr>
        <p:spPr>
          <a:xfrm>
            <a:off x="2130451" y="2741636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2FF1EB-0849-FAC4-C9F6-8F14A78CAA7E}"/>
              </a:ext>
            </a:extLst>
          </p:cNvPr>
          <p:cNvCxnSpPr>
            <a:cxnSpLocks/>
          </p:cNvCxnSpPr>
          <p:nvPr/>
        </p:nvCxnSpPr>
        <p:spPr>
          <a:xfrm>
            <a:off x="3153463" y="2751063"/>
            <a:ext cx="35811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E49A20-F048-C7E4-8D06-B1C7E26B4C4C}"/>
              </a:ext>
            </a:extLst>
          </p:cNvPr>
          <p:cNvCxnSpPr>
            <a:cxnSpLocks/>
          </p:cNvCxnSpPr>
          <p:nvPr/>
        </p:nvCxnSpPr>
        <p:spPr>
          <a:xfrm>
            <a:off x="6734636" y="2751063"/>
            <a:ext cx="0" cy="33952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EC808A-1EF6-7571-48A5-5835BE2E3B03}"/>
              </a:ext>
            </a:extLst>
          </p:cNvPr>
          <p:cNvCxnSpPr>
            <a:cxnSpLocks/>
          </p:cNvCxnSpPr>
          <p:nvPr/>
        </p:nvCxnSpPr>
        <p:spPr>
          <a:xfrm>
            <a:off x="2142999" y="2495999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AD73DD-4627-F86C-C961-CA19BD4E2889}"/>
              </a:ext>
            </a:extLst>
          </p:cNvPr>
          <p:cNvCxnSpPr>
            <a:cxnSpLocks/>
          </p:cNvCxnSpPr>
          <p:nvPr/>
        </p:nvCxnSpPr>
        <p:spPr>
          <a:xfrm>
            <a:off x="3153463" y="2497569"/>
            <a:ext cx="397289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F45117-BE41-272B-E6BF-82F8B3FCDA53}"/>
              </a:ext>
            </a:extLst>
          </p:cNvPr>
          <p:cNvCxnSpPr>
            <a:cxnSpLocks/>
          </p:cNvCxnSpPr>
          <p:nvPr/>
        </p:nvCxnSpPr>
        <p:spPr>
          <a:xfrm>
            <a:off x="7126358" y="2505426"/>
            <a:ext cx="0" cy="36408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36904B-7CE5-6F02-1C6B-058F754D2C5B}"/>
              </a:ext>
            </a:extLst>
          </p:cNvPr>
          <p:cNvCxnSpPr>
            <a:cxnSpLocks/>
          </p:cNvCxnSpPr>
          <p:nvPr/>
        </p:nvCxnSpPr>
        <p:spPr>
          <a:xfrm>
            <a:off x="2144790" y="2304154"/>
            <a:ext cx="54675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BB19893-0D77-E290-24D4-63BEFBCF8B6D}"/>
              </a:ext>
            </a:extLst>
          </p:cNvPr>
          <p:cNvCxnSpPr>
            <a:cxnSpLocks/>
          </p:cNvCxnSpPr>
          <p:nvPr/>
        </p:nvCxnSpPr>
        <p:spPr>
          <a:xfrm>
            <a:off x="3153463" y="2305724"/>
            <a:ext cx="474924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904F8B-64F9-41B4-8B1B-E325FE3CAAC6}"/>
              </a:ext>
            </a:extLst>
          </p:cNvPr>
          <p:cNvCxnSpPr>
            <a:cxnSpLocks/>
          </p:cNvCxnSpPr>
          <p:nvPr/>
        </p:nvCxnSpPr>
        <p:spPr>
          <a:xfrm>
            <a:off x="7902706" y="2313581"/>
            <a:ext cx="0" cy="383269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168EE9A-7F0F-5383-857B-B69C01B48B0F}"/>
              </a:ext>
            </a:extLst>
          </p:cNvPr>
          <p:cNvSpPr/>
          <p:nvPr/>
        </p:nvSpPr>
        <p:spPr>
          <a:xfrm>
            <a:off x="4141694" y="1765369"/>
            <a:ext cx="4152444" cy="386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581459B-76EC-A56F-B42A-A58C9FC83D17}"/>
                  </a:ext>
                </a:extLst>
              </p:cNvPr>
              <p:cNvSpPr txBox="1"/>
              <p:nvPr/>
            </p:nvSpPr>
            <p:spPr>
              <a:xfrm>
                <a:off x="9782378" y="5016054"/>
                <a:ext cx="1861073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Normal density</a:t>
                </a:r>
              </a:p>
              <a:p>
                <a:endParaRPr lang="en-US" sz="1100" dirty="0"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581459B-76EC-A56F-B42A-A58C9FC8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378" y="5016054"/>
                <a:ext cx="1861073" cy="815608"/>
              </a:xfrm>
              <a:prstGeom prst="rect">
                <a:avLst/>
              </a:prstGeom>
              <a:blipFill>
                <a:blip r:embed="rId5"/>
                <a:stretch>
                  <a:fillRect l="-2951" t="-4478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B9C987C9-ECDB-7026-BD5E-79A74C312B1A}"/>
              </a:ext>
            </a:extLst>
          </p:cNvPr>
          <p:cNvSpPr txBox="1"/>
          <p:nvPr/>
        </p:nvSpPr>
        <p:spPr>
          <a:xfrm rot="16200000">
            <a:off x="829976" y="3241426"/>
            <a:ext cx="186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Uniform [0,1] density.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448588-8DED-256F-FA28-D322FBEFC112}"/>
              </a:ext>
            </a:extLst>
          </p:cNvPr>
          <p:cNvCxnSpPr>
            <a:cxnSpLocks/>
          </p:cNvCxnSpPr>
          <p:nvPr/>
        </p:nvCxnSpPr>
        <p:spPr>
          <a:xfrm flipV="1">
            <a:off x="2619402" y="2152220"/>
            <a:ext cx="0" cy="2330439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7F16A4-7D9F-9815-666F-F2F7623BEA5F}"/>
                  </a:ext>
                </a:extLst>
              </p:cNvPr>
              <p:cNvSpPr txBox="1"/>
              <p:nvPr/>
            </p:nvSpPr>
            <p:spPr>
              <a:xfrm>
                <a:off x="9293691" y="2073737"/>
                <a:ext cx="2701381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Cumulative distribution:</a:t>
                </a:r>
              </a:p>
              <a:p>
                <a:endParaRPr lang="en-US" sz="12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𝑃𝑟𝑜𝑏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7F16A4-7D9F-9815-666F-F2F7623BE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691" y="2073737"/>
                <a:ext cx="2701381" cy="861774"/>
              </a:xfrm>
              <a:prstGeom prst="rect">
                <a:avLst/>
              </a:prstGeom>
              <a:blipFill>
                <a:blip r:embed="rId6"/>
                <a:stretch>
                  <a:fillRect l="-2032" t="-3521" r="-1354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1E0E16-1BFC-210C-AB63-D6193CE7CB97}"/>
              </a:ext>
            </a:extLst>
          </p:cNvPr>
          <p:cNvCxnSpPr>
            <a:cxnSpLocks/>
          </p:cNvCxnSpPr>
          <p:nvPr/>
        </p:nvCxnSpPr>
        <p:spPr>
          <a:xfrm>
            <a:off x="2134040" y="3398758"/>
            <a:ext cx="52882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7975DB-EC32-29EB-18A0-CFE22D50DEE5}"/>
              </a:ext>
            </a:extLst>
          </p:cNvPr>
          <p:cNvCxnSpPr>
            <a:cxnSpLocks/>
          </p:cNvCxnSpPr>
          <p:nvPr/>
        </p:nvCxnSpPr>
        <p:spPr>
          <a:xfrm>
            <a:off x="3140963" y="3395844"/>
            <a:ext cx="297956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779E36-375E-EF85-C883-53F64C13485F}"/>
              </a:ext>
            </a:extLst>
          </p:cNvPr>
          <p:cNvCxnSpPr>
            <a:cxnSpLocks/>
          </p:cNvCxnSpPr>
          <p:nvPr/>
        </p:nvCxnSpPr>
        <p:spPr>
          <a:xfrm>
            <a:off x="6120530" y="3394274"/>
            <a:ext cx="0" cy="275200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25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3D387E59-A473-F9DA-1888-1C567BB86947}"/>
              </a:ext>
            </a:extLst>
          </p:cNvPr>
          <p:cNvSpPr txBox="1">
            <a:spLocks/>
          </p:cNvSpPr>
          <p:nvPr/>
        </p:nvSpPr>
        <p:spPr>
          <a:xfrm>
            <a:off x="87265" y="1033093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We can use this idea to transform any random variables</a:t>
            </a:r>
          </a:p>
          <a:p>
            <a:pPr lvl="1"/>
            <a:r>
              <a:rPr lang="en-US" sz="2000" dirty="0"/>
              <a:t>We can transform any random variable to a uniform, and then transform the generated uniform random variable to normal… and back again.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80" y="3406109"/>
            <a:ext cx="3090456" cy="2500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268" y="3400801"/>
            <a:ext cx="3368664" cy="2505572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4142434" y="4047376"/>
            <a:ext cx="0" cy="1463040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52425" y="4041768"/>
            <a:ext cx="6297347" cy="5608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8649771" y="4047378"/>
            <a:ext cx="0" cy="1525329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88049" y="3262097"/>
            <a:ext cx="225574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Historical cumulative </a:t>
            </a:r>
            <a:r>
              <a:rPr lang="en-US" dirty="0" err="1"/>
              <a:t>distn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695809" y="5611372"/>
            <a:ext cx="23946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Observed random variable (any distribution)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825" y="3260122"/>
            <a:ext cx="19351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Standard normal </a:t>
            </a:r>
            <a:r>
              <a:rPr lang="en-US" dirty="0" err="1"/>
              <a:t>distn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4142434" y="4047378"/>
            <a:ext cx="0" cy="146303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>
            <a:off x="2340549" y="4040672"/>
            <a:ext cx="179518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915882" y="3533247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0157" y="5371897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0.0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2362325" y="4050572"/>
            <a:ext cx="6287447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649771" y="4050573"/>
            <a:ext cx="0" cy="146303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343282" y="3531272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7557" y="5369922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10" y="5588829"/>
            <a:ext cx="229261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Standard normal deviate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B12488-80E9-A899-DE58-9EEA607AA6DF}"/>
              </a:ext>
            </a:extLst>
          </p:cNvPr>
          <p:cNvSpPr txBox="1"/>
          <p:nvPr/>
        </p:nvSpPr>
        <p:spPr>
          <a:xfrm rot="16200000">
            <a:off x="515663" y="4229649"/>
            <a:ext cx="2191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Uniform distribution.</a:t>
            </a:r>
          </a:p>
        </p:txBody>
      </p:sp>
    </p:spTree>
    <p:extLst>
      <p:ext uri="{BB962C8B-B14F-4D97-AF65-F5344CB8AC3E}">
        <p14:creationId xmlns:p14="http://schemas.microsoft.com/office/powerpoint/2010/main" val="94445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B7FE6-231F-7186-C334-65E50BCF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38D2D05-AB70-ED43-A25F-08D3A400CB6C}"/>
              </a:ext>
            </a:extLst>
          </p:cNvPr>
          <p:cNvSpPr txBox="1">
            <a:spLocks/>
          </p:cNvSpPr>
          <p:nvPr/>
        </p:nvSpPr>
        <p:spPr>
          <a:xfrm>
            <a:off x="87265" y="1033093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We can use this idea to transform any random variables</a:t>
            </a:r>
          </a:p>
          <a:p>
            <a:pPr lvl="1"/>
            <a:r>
              <a:rPr lang="en-US" sz="2000" dirty="0"/>
              <a:t>We can transform any random variable to a uniform, and then transform the generated uniform random variable to normal… and back again.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EB624-EC2C-2EC9-CD8C-D1948E31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D13C6-906C-8A2F-2465-1DEB95B9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80" y="3406109"/>
            <a:ext cx="3090456" cy="2500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00D3C-DEC5-A280-A54F-2F2F90AC8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268" y="3400801"/>
            <a:ext cx="3368664" cy="25055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B257C5-F346-7BAC-C334-A6F94126FA4C}"/>
              </a:ext>
            </a:extLst>
          </p:cNvPr>
          <p:cNvCxnSpPr/>
          <p:nvPr/>
        </p:nvCxnSpPr>
        <p:spPr>
          <a:xfrm flipV="1">
            <a:off x="4142434" y="4047376"/>
            <a:ext cx="0" cy="1463040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F8E1AB-39E4-FA51-8615-F216D78B579C}"/>
              </a:ext>
            </a:extLst>
          </p:cNvPr>
          <p:cNvCxnSpPr/>
          <p:nvPr/>
        </p:nvCxnSpPr>
        <p:spPr>
          <a:xfrm>
            <a:off x="2352425" y="4041768"/>
            <a:ext cx="6297347" cy="5608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EBD5F3-1865-7BA3-F67B-879001FD5927}"/>
              </a:ext>
            </a:extLst>
          </p:cNvPr>
          <p:cNvCxnSpPr/>
          <p:nvPr/>
        </p:nvCxnSpPr>
        <p:spPr>
          <a:xfrm flipV="1">
            <a:off x="8649771" y="4047378"/>
            <a:ext cx="0" cy="1525329"/>
          </a:xfrm>
          <a:prstGeom prst="line">
            <a:avLst/>
          </a:prstGeom>
          <a:ln w="222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EF24B5-444B-8AAA-6CE5-F44674347D71}"/>
              </a:ext>
            </a:extLst>
          </p:cNvPr>
          <p:cNvSpPr txBox="1"/>
          <p:nvPr/>
        </p:nvSpPr>
        <p:spPr>
          <a:xfrm>
            <a:off x="2388049" y="3262097"/>
            <a:ext cx="225574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Historical cumulative </a:t>
            </a:r>
            <a:r>
              <a:rPr lang="en-US" dirty="0" err="1"/>
              <a:t>distn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797CC-F88B-1619-9A12-C68E8B70C729}"/>
              </a:ext>
            </a:extLst>
          </p:cNvPr>
          <p:cNvSpPr txBox="1"/>
          <p:nvPr/>
        </p:nvSpPr>
        <p:spPr>
          <a:xfrm>
            <a:off x="2695809" y="5611372"/>
            <a:ext cx="23946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Observed random variable (any distribution)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5466C-0F56-BD47-40C3-4D0493E65022}"/>
              </a:ext>
            </a:extLst>
          </p:cNvPr>
          <p:cNvSpPr txBox="1"/>
          <p:nvPr/>
        </p:nvSpPr>
        <p:spPr>
          <a:xfrm>
            <a:off x="7159825" y="3260122"/>
            <a:ext cx="19351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Standard normal </a:t>
            </a:r>
            <a:r>
              <a:rPr lang="en-US" dirty="0" err="1"/>
              <a:t>distn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16B7D0-1607-8782-ABC6-6E6D766C3366}"/>
              </a:ext>
            </a:extLst>
          </p:cNvPr>
          <p:cNvCxnSpPr/>
          <p:nvPr/>
        </p:nvCxnSpPr>
        <p:spPr bwMode="auto">
          <a:xfrm flipV="1">
            <a:off x="8648443" y="4047378"/>
            <a:ext cx="0" cy="146303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47E731-1BD1-CA7A-D0D5-7B0947841C19}"/>
              </a:ext>
            </a:extLst>
          </p:cNvPr>
          <p:cNvCxnSpPr>
            <a:cxnSpLocks/>
          </p:cNvCxnSpPr>
          <p:nvPr/>
        </p:nvCxnSpPr>
        <p:spPr bwMode="auto">
          <a:xfrm flipH="1">
            <a:off x="2340549" y="4040672"/>
            <a:ext cx="6309222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AF671E-97BC-350A-10C0-1C3E6C843218}"/>
              </a:ext>
            </a:extLst>
          </p:cNvPr>
          <p:cNvSpPr txBox="1"/>
          <p:nvPr/>
        </p:nvSpPr>
        <p:spPr>
          <a:xfrm>
            <a:off x="1915882" y="3533247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DBFF5E-5E61-1547-4376-8437E8DC16F0}"/>
              </a:ext>
            </a:extLst>
          </p:cNvPr>
          <p:cNvSpPr txBox="1"/>
          <p:nvPr/>
        </p:nvSpPr>
        <p:spPr>
          <a:xfrm>
            <a:off x="1890157" y="5371897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0.0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037476-A73F-B093-F330-98BD4E4464C1}"/>
              </a:ext>
            </a:extLst>
          </p:cNvPr>
          <p:cNvCxnSpPr>
            <a:cxnSpLocks/>
          </p:cNvCxnSpPr>
          <p:nvPr/>
        </p:nvCxnSpPr>
        <p:spPr bwMode="auto">
          <a:xfrm>
            <a:off x="2362325" y="4041146"/>
            <a:ext cx="1780109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95EB6-C4B9-FB44-F766-EA1CEBB1DD33}"/>
              </a:ext>
            </a:extLst>
          </p:cNvPr>
          <p:cNvCxnSpPr/>
          <p:nvPr/>
        </p:nvCxnSpPr>
        <p:spPr bwMode="auto">
          <a:xfrm>
            <a:off x="4142434" y="4050573"/>
            <a:ext cx="0" cy="146303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94ACBA-664E-9741-3389-E6073084E083}"/>
              </a:ext>
            </a:extLst>
          </p:cNvPr>
          <p:cNvSpPr txBox="1"/>
          <p:nvPr/>
        </p:nvSpPr>
        <p:spPr>
          <a:xfrm>
            <a:off x="6343282" y="3531272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50F9EF-638A-485D-1F26-504338809E0D}"/>
              </a:ext>
            </a:extLst>
          </p:cNvPr>
          <p:cNvSpPr txBox="1"/>
          <p:nvPr/>
        </p:nvSpPr>
        <p:spPr>
          <a:xfrm>
            <a:off x="6317557" y="5369922"/>
            <a:ext cx="4331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0.0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691AB0-AF5C-348E-88C5-7CF47B4E9D40}"/>
              </a:ext>
            </a:extLst>
          </p:cNvPr>
          <p:cNvSpPr txBox="1"/>
          <p:nvPr/>
        </p:nvSpPr>
        <p:spPr>
          <a:xfrm>
            <a:off x="7010410" y="5588829"/>
            <a:ext cx="229261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Standard normal deviate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AB86EA-6D5F-128B-5A61-FAEB518F1215}"/>
              </a:ext>
            </a:extLst>
          </p:cNvPr>
          <p:cNvSpPr txBox="1"/>
          <p:nvPr/>
        </p:nvSpPr>
        <p:spPr>
          <a:xfrm rot="16200000">
            <a:off x="515663" y="4229649"/>
            <a:ext cx="2191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Uniform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01827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3CB0431-45DC-54AC-DEED-EF151E6C584A}"/>
              </a:ext>
            </a:extLst>
          </p:cNvPr>
          <p:cNvSpPr txBox="1">
            <a:spLocks/>
          </p:cNvSpPr>
          <p:nvPr/>
        </p:nvSpPr>
        <p:spPr>
          <a:xfrm>
            <a:off x="87265" y="10329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r>
              <a:rPr lang="en-US" dirty="0"/>
              <a:t>There are two popular ways of creating distributions</a:t>
            </a:r>
          </a:p>
          <a:p>
            <a:pPr lvl="1"/>
            <a:r>
              <a:rPr lang="en-US" dirty="0"/>
              <a:t>Parametric distributions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Normal distribution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Uniform distribution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Beta distribution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AC7DB-62F6-963E-F16A-D78A9A76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CAB5F2-D5E2-A8C4-B585-CD2719EF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054" y="2057394"/>
            <a:ext cx="3616140" cy="9599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E0355-A1FF-7138-5213-F5AB7B69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813" y="4550484"/>
            <a:ext cx="3356386" cy="1854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B40910-6EFC-8E52-7009-BE5FE7EA9D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85" t="9726" r="20831"/>
          <a:stretch>
            <a:fillRect/>
          </a:stretch>
        </p:blipFill>
        <p:spPr>
          <a:xfrm>
            <a:off x="7336716" y="3311937"/>
            <a:ext cx="4272357" cy="8281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BFB9D4-70F7-9108-5BC9-ED3F4225402D}"/>
              </a:ext>
            </a:extLst>
          </p:cNvPr>
          <p:cNvSpPr/>
          <p:nvPr/>
        </p:nvSpPr>
        <p:spPr>
          <a:xfrm>
            <a:off x="8326419" y="3178742"/>
            <a:ext cx="2366683" cy="27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600C53-2890-1671-7FD1-37E1278C2C75}"/>
              </a:ext>
            </a:extLst>
          </p:cNvPr>
          <p:cNvSpPr/>
          <p:nvPr/>
        </p:nvSpPr>
        <p:spPr>
          <a:xfrm>
            <a:off x="6069111" y="3247391"/>
            <a:ext cx="761012" cy="99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BAA0DD-5868-7CAA-221D-79CAD99D3AB4}"/>
                  </a:ext>
                </a:extLst>
              </p:cNvPr>
              <p:cNvSpPr txBox="1"/>
              <p:nvPr/>
            </p:nvSpPr>
            <p:spPr>
              <a:xfrm>
                <a:off x="4423146" y="2180423"/>
                <a:ext cx="2928879" cy="647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BAA0DD-5868-7CAA-221D-79CAD99D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146" y="2180423"/>
                <a:ext cx="2928879" cy="6479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36D2D3-47FB-2A4A-AF66-09CD02000D3E}"/>
                  </a:ext>
                </a:extLst>
              </p:cNvPr>
              <p:cNvSpPr txBox="1"/>
              <p:nvPr/>
            </p:nvSpPr>
            <p:spPr>
              <a:xfrm>
                <a:off x="4640092" y="3421403"/>
                <a:ext cx="2138278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36D2D3-47FB-2A4A-AF66-09CD02000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092" y="3421403"/>
                <a:ext cx="2138278" cy="441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5">
                <a:extLst>
                  <a:ext uri="{FF2B5EF4-FFF2-40B4-BE49-F238E27FC236}">
                    <a16:creationId xmlns:a16="http://schemas.microsoft.com/office/drawing/2014/main" id="{4C58E6AA-13FE-B77B-50C3-27A9EFE21D14}"/>
                  </a:ext>
                </a:extLst>
              </p:cNvPr>
              <p:cNvSpPr txBox="1"/>
              <p:nvPr/>
            </p:nvSpPr>
            <p:spPr>
              <a:xfrm>
                <a:off x="4063347" y="4749772"/>
                <a:ext cx="3604358" cy="66449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Object 5">
                <a:extLst>
                  <a:ext uri="{FF2B5EF4-FFF2-40B4-BE49-F238E27FC236}">
                    <a16:creationId xmlns:a16="http://schemas.microsoft.com/office/drawing/2014/main" id="{4C58E6AA-13FE-B77B-50C3-27A9EFE2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47" y="4749772"/>
                <a:ext cx="3604358" cy="6644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913BD5-CFB0-2F28-D4FC-B2F368632B77}"/>
                  </a:ext>
                </a:extLst>
              </p:cNvPr>
              <p:cNvSpPr txBox="1"/>
              <p:nvPr/>
            </p:nvSpPr>
            <p:spPr>
              <a:xfrm>
                <a:off x="2225379" y="2950370"/>
                <a:ext cx="2422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Mean: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, Variance: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913BD5-CFB0-2F28-D4FC-B2F368632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379" y="2950370"/>
                <a:ext cx="2422907" cy="369332"/>
              </a:xfrm>
              <a:prstGeom prst="rect">
                <a:avLst/>
              </a:prstGeom>
              <a:blipFill>
                <a:blip r:embed="rId8"/>
                <a:stretch>
                  <a:fillRect l="-201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FACDB3-731C-9C25-788A-80D9559078E6}"/>
                  </a:ext>
                </a:extLst>
              </p:cNvPr>
              <p:cNvSpPr txBox="1"/>
              <p:nvPr/>
            </p:nvSpPr>
            <p:spPr>
              <a:xfrm>
                <a:off x="2225379" y="4055132"/>
                <a:ext cx="3174843" cy="522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Mean: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latin typeface="Raleway" pitchFamily="2" charset="0"/>
                  </a:rPr>
                  <a:t>,   Variance: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FACDB3-731C-9C25-788A-80D955907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379" y="4055132"/>
                <a:ext cx="3174843" cy="522707"/>
              </a:xfrm>
              <a:prstGeom prst="rect">
                <a:avLst/>
              </a:prstGeom>
              <a:blipFill>
                <a:blip r:embed="rId9"/>
                <a:stretch>
                  <a:fillRect l="-1536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09734C09-2398-0B4A-041C-1544A9780831}"/>
                  </a:ext>
                </a:extLst>
              </p:cNvPr>
              <p:cNvSpPr txBox="1"/>
              <p:nvPr/>
            </p:nvSpPr>
            <p:spPr>
              <a:xfrm>
                <a:off x="2253903" y="5601652"/>
                <a:ext cx="4357941" cy="77265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sz="1800" dirty="0">
                    <a:solidFill>
                      <a:srgbClr val="000000"/>
                    </a:solidFill>
                    <a:latin typeface="Raleway" pitchFamily="2" charset="0"/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1800" dirty="0">
                    <a:latin typeface="Raleway" pitchFamily="2" charset="0"/>
                  </a:rPr>
                  <a:t>  Variance: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𝛼𝛽</m:t>
                        </m:r>
                      </m:num>
                      <m:den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09734C09-2398-0B4A-041C-1544A9780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903" y="5601652"/>
                <a:ext cx="4357941" cy="772655"/>
              </a:xfrm>
              <a:prstGeom prst="rect">
                <a:avLst/>
              </a:prstGeom>
              <a:blipFill>
                <a:blip r:embed="rId10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279944-EFC1-BD77-E8E6-3422A821511B}"/>
                  </a:ext>
                </a:extLst>
              </p:cNvPr>
              <p:cNvSpPr txBox="1"/>
              <p:nvPr/>
            </p:nvSpPr>
            <p:spPr>
              <a:xfrm>
                <a:off x="8429503" y="3887368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279944-EFC1-BD77-E8E6-3422A8215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503" y="3887368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9BDB4-10EA-0968-608C-C246ED32F5F1}"/>
                  </a:ext>
                </a:extLst>
              </p:cNvPr>
              <p:cNvSpPr txBox="1"/>
              <p:nvPr/>
            </p:nvSpPr>
            <p:spPr>
              <a:xfrm>
                <a:off x="11144824" y="3893245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9BDB4-10EA-0968-608C-C246ED32F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824" y="3893245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1695A54-A426-DA62-9913-EBCC7FB88CF8}"/>
              </a:ext>
            </a:extLst>
          </p:cNvPr>
          <p:cNvSpPr/>
          <p:nvPr/>
        </p:nvSpPr>
        <p:spPr>
          <a:xfrm>
            <a:off x="7810054" y="3980229"/>
            <a:ext cx="379901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84574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pic>
        <p:nvPicPr>
          <p:cNvPr id="6" name="Picture 5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rcRect r="13946"/>
          <a:stretch>
            <a:fillRect/>
          </a:stretch>
        </p:blipFill>
        <p:spPr>
          <a:xfrm>
            <a:off x="6095999" y="1929248"/>
            <a:ext cx="5769685" cy="419898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D57C7C3-E91C-CE9C-7AD1-BEDE73E53AA7}"/>
              </a:ext>
            </a:extLst>
          </p:cNvPr>
          <p:cNvSpPr txBox="1">
            <a:spLocks/>
          </p:cNvSpPr>
          <p:nvPr/>
        </p:nvSpPr>
        <p:spPr>
          <a:xfrm>
            <a:off x="87265" y="1038240"/>
            <a:ext cx="10363200" cy="1449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r>
              <a:rPr lang="en-US" dirty="0"/>
              <a:t>There are two popular ways of creating distributions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888DBBE-CAB6-4438-ABCD-DC4DD1AF1A8F}"/>
              </a:ext>
            </a:extLst>
          </p:cNvPr>
          <p:cNvSpPr txBox="1">
            <a:spLocks/>
          </p:cNvSpPr>
          <p:nvPr/>
        </p:nvSpPr>
        <p:spPr>
          <a:xfrm>
            <a:off x="87265" y="1038240"/>
            <a:ext cx="6098382" cy="373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endParaRPr lang="en-US" dirty="0"/>
          </a:p>
          <a:p>
            <a:pPr lvl="1"/>
            <a:r>
              <a:rPr lang="en-US" dirty="0"/>
              <a:t>Empirical cumulative distributions: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Collect observations in a spreadsheet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Sort the data from smallest to largest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Count the observations in order of their values.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Compute fraction of observations that are equal to or smaller than a chosen observation.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This is known as an empirical cumulative distribution. 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514DEA-CEAA-B892-D87E-386E8AE1715A}"/>
              </a:ext>
            </a:extLst>
          </p:cNvPr>
          <p:cNvCxnSpPr>
            <a:cxnSpLocks/>
          </p:cNvCxnSpPr>
          <p:nvPr/>
        </p:nvCxnSpPr>
        <p:spPr>
          <a:xfrm>
            <a:off x="6540384" y="3320540"/>
            <a:ext cx="231316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78D64C-443B-F702-1812-2E5121F4F3DF}"/>
              </a:ext>
            </a:extLst>
          </p:cNvPr>
          <p:cNvCxnSpPr>
            <a:cxnSpLocks/>
          </p:cNvCxnSpPr>
          <p:nvPr/>
        </p:nvCxnSpPr>
        <p:spPr>
          <a:xfrm>
            <a:off x="8840423" y="3320540"/>
            <a:ext cx="0" cy="2251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2659BF-D826-F2EC-A973-6C1EBF0F6F61}"/>
                  </a:ext>
                </a:extLst>
              </p:cNvPr>
              <p:cNvSpPr txBox="1"/>
              <p:nvPr/>
            </p:nvSpPr>
            <p:spPr>
              <a:xfrm>
                <a:off x="6917167" y="2907317"/>
                <a:ext cx="1017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2659BF-D826-F2EC-A973-6C1EBF0F6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167" y="2907317"/>
                <a:ext cx="101790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154F7E-D850-46D7-656F-B40AF08442B8}"/>
                  </a:ext>
                </a:extLst>
              </p:cNvPr>
              <p:cNvSpPr txBox="1"/>
              <p:nvPr/>
            </p:nvSpPr>
            <p:spPr>
              <a:xfrm>
                <a:off x="8851745" y="5049882"/>
                <a:ext cx="960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=44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154F7E-D850-46D7-656F-B40AF0844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45" y="5049882"/>
                <a:ext cx="9608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15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CAF5-163C-FCE6-FDDF-07F3E3CC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3BF6-5D34-B91C-AC07-AC327B5C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D2EE1-23EE-8461-0684-1784C0413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2194" y="1035596"/>
                <a:ext cx="10808255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Generating correlated random variables</a:t>
                </a:r>
              </a:p>
              <a:p>
                <a:pPr lvl="1"/>
                <a:r>
                  <a:rPr lang="en-US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</m:t>
                        </m:r>
                      </m:sub>
                    </m:sSub>
                  </m:oMath>
                </a14:m>
                <a:r>
                  <a:rPr lang="en-US" dirty="0"/>
                  <a:t> be the activity level with attribute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with average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covariance of activities with attributes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𝑡𝑎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“covariance matrix”</a:t>
                </a:r>
              </a:p>
              <a:p>
                <a:pPr lvl="1"/>
                <a:r>
                  <a:rPr lang="en-US" dirty="0"/>
                  <a:t>Now let: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“Cholesky decomposition” of the covariance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which satisfies:</a:t>
                </a:r>
              </a:p>
              <a:p>
                <a:pPr marL="1485900" lvl="3" indent="0">
                  <a:buNone/>
                </a:pPr>
                <a:r>
                  <a:rPr lang="en-US" sz="800" b="0" dirty="0"/>
                  <a:t> </a:t>
                </a:r>
              </a:p>
              <a:p>
                <a:pPr marL="1485900" lvl="3" indent="0">
                  <a:buNone/>
                </a:pPr>
                <a:r>
                  <a:rPr lang="en-US" b="0" dirty="0"/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sometimes called the “square root”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.)</a:t>
                </a:r>
              </a:p>
              <a:p>
                <a:pPr marL="1485900" lvl="3" indent="0">
                  <a:buNone/>
                </a:pPr>
                <a:endParaRPr lang="en-US" sz="120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=Normally distributed random variable with mean 0, variance 1.</a:t>
                </a:r>
              </a:p>
              <a:p>
                <a:pPr lvl="2"/>
                <a:r>
                  <a:rPr lang="en-US" dirty="0"/>
                  <a:t>We can generate a correlated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using: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D2EE1-23EE-8461-0684-1784C0413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2194" y="1035596"/>
                <a:ext cx="10808255" cy="4401600"/>
              </a:xfrm>
              <a:blipFill>
                <a:blip r:embed="rId2"/>
                <a:stretch>
                  <a:fillRect l="-395" b="-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4C6AFA9-18BE-33D6-66A0-E37A1FDB7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92" t="76588" r="23927"/>
          <a:stretch>
            <a:fillRect/>
          </a:stretch>
        </p:blipFill>
        <p:spPr>
          <a:xfrm>
            <a:off x="2931735" y="5269584"/>
            <a:ext cx="4545389" cy="130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3748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3D486E2-B39D-BD6C-F154-50EEAAE9A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194" y="1035596"/>
                <a:ext cx="10363200" cy="44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86360" indent="0">
                  <a:buNone/>
                </a:pPr>
                <a:r>
                  <a:rPr lang="en-US" dirty="0"/>
                  <a:t>Generating correlated random variables</a:t>
                </a:r>
              </a:p>
              <a:p>
                <a:pPr lvl="1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given by </a:t>
                </a:r>
              </a:p>
              <a:p>
                <a:pPr lvl="1"/>
                <a:endParaRPr lang="en-US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dirty="0"/>
                  <a:t>Using a utility, we can find the Cholesky decomposition:</a:t>
                </a:r>
              </a:p>
              <a:p>
                <a:pPr lvl="1"/>
                <a:endParaRPr lang="en-US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dirty="0"/>
                  <a:t>Now generate a vector of standard normal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variables:</a:t>
                </a:r>
              </a:p>
              <a:p>
                <a:pPr lvl="1"/>
                <a:endParaRPr lang="en-US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dirty="0"/>
                  <a:t>Our formula gives us a correlated set of observations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3D486E2-B39D-BD6C-F154-50EEAAE9A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94" y="1035596"/>
                <a:ext cx="10363200" cy="4401600"/>
              </a:xfrm>
              <a:prstGeom prst="rect">
                <a:avLst/>
              </a:prstGeom>
              <a:blipFill>
                <a:blip r:embed="rId2"/>
                <a:stretch>
                  <a:fillRect l="-412" b="-72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EB0B8D-1391-71F9-C5B4-7B0E1E8AB1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89" t="5614" r="21533" b="75777"/>
          <a:stretch>
            <a:fillRect/>
          </a:stretch>
        </p:blipFill>
        <p:spPr>
          <a:xfrm>
            <a:off x="1596747" y="1943548"/>
            <a:ext cx="3324226" cy="923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C7BB0E-ED7B-62A6-BC7D-DD31CC07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35" t="31385" b="51697"/>
          <a:stretch>
            <a:fillRect/>
          </a:stretch>
        </p:blipFill>
        <p:spPr>
          <a:xfrm>
            <a:off x="1707093" y="3193920"/>
            <a:ext cx="4369858" cy="8399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362969-A7DC-6F32-21F2-D239C860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68" t="57107" r="29187" b="25975"/>
          <a:stretch>
            <a:fillRect/>
          </a:stretch>
        </p:blipFill>
        <p:spPr>
          <a:xfrm>
            <a:off x="2021700" y="4397821"/>
            <a:ext cx="1981201" cy="8399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2DD58F-E43F-60A2-9989-00D5844D9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004" y="1914875"/>
            <a:ext cx="1291291" cy="9833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F4E5D0-B61A-643D-7722-34141E77E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955" y="5671135"/>
            <a:ext cx="5351226" cy="7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12300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BF2F-C518-2325-D8C1-0EA01008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3F27F1-4D59-F748-487D-A5722D208B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39592" y="1069939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Modeling over time</a:t>
                </a:r>
              </a:p>
              <a:p>
                <a:pPr lvl="1"/>
                <a:r>
                  <a:rPr lang="en-US" dirty="0"/>
                  <a:t>Traditional time series models:</a:t>
                </a:r>
              </a:p>
              <a:p>
                <a:pPr marL="1028700" lvl="2" indent="0">
                  <a:buNone/>
                </a:pPr>
                <a:endParaRPr lang="en-US" sz="1600" dirty="0"/>
              </a:p>
              <a:p>
                <a:pPr marL="1028700" lvl="2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2"/>
                <a:endParaRPr lang="en-US" sz="1800" dirty="0"/>
              </a:p>
              <a:p>
                <a:pPr lvl="2"/>
                <a:r>
                  <a:rPr lang="en-US" sz="1800" dirty="0"/>
                  <a:t>Since the model is linear in the parameters, can make use of powerful recursive least squares updating (see Estimation video module).</a:t>
                </a:r>
              </a:p>
              <a:p>
                <a:pPr lvl="2"/>
                <a:r>
                  <a:rPr lang="en-US" sz="1800" dirty="0"/>
                  <a:t>Deep, rich literature on this class of models.</a:t>
                </a:r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Basic mean reverting model (Ornstein-</a:t>
                </a:r>
                <a:r>
                  <a:rPr lang="en-US" dirty="0" err="1"/>
                  <a:t>Uhlenbeck</a:t>
                </a:r>
                <a:r>
                  <a:rPr lang="en-US" dirty="0"/>
                  <a:t> process)</a:t>
                </a:r>
              </a:p>
              <a:p>
                <a:pPr lvl="3"/>
                <a:endParaRPr lang="en-US" sz="1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lvl="3"/>
                <a:endParaRPr lang="en-US" sz="1600" dirty="0"/>
              </a:p>
              <a:p>
                <a:pPr marL="571500" lvl="1" indent="0">
                  <a:buNone/>
                </a:pPr>
                <a:r>
                  <a:rPr lang="en-US" sz="1800" dirty="0"/>
                  <a:t>	where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3F27F1-4D59-F748-487D-A5722D208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9592" y="1069939"/>
                <a:ext cx="10363200" cy="4401600"/>
              </a:xfrm>
              <a:blipFill>
                <a:blip r:embed="rId2"/>
                <a:stretch>
                  <a:fillRect l="-353" b="-6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382861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0B48-026B-ECA0-12FD-A77857A5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EA63D-9722-96E0-BF4A-85E85EEB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E41DA7-B3E3-938C-B98B-3832B8C4C06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39592" y="1069939"/>
                <a:ext cx="7034689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Modeling over time</a:t>
                </a:r>
              </a:p>
              <a:p>
                <a:pPr lvl="1"/>
                <a:r>
                  <a:rPr lang="en-US" dirty="0"/>
                  <a:t>Mean reverting with jump diffusion:</a:t>
                </a:r>
              </a:p>
              <a:p>
                <a:pPr marL="457200" lvl="1" indent="0">
                  <a:buNone/>
                </a:pPr>
                <a:endParaRPr lang="en-US" sz="1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  <a:p>
                <a:pPr lvl="2"/>
                <a:endParaRPr lang="en-US" dirty="0"/>
              </a:p>
              <a:p>
                <a:pPr marL="971550" lvl="1" indent="0">
                  <a:buNone/>
                </a:pPr>
                <a:r>
                  <a:rPr lang="en-US" sz="1800" dirty="0"/>
                  <a:t>where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. 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bSup>
                  </m:oMath>
                </a14:m>
                <a:r>
                  <a:rPr lang="en-US" sz="2000" dirty="0"/>
                  <a:t> is a jump term,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if a jump occurs.</a:t>
                </a:r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971550" lvl="2"/>
                <a:r>
                  <a:rPr lang="en-US" sz="1800" dirty="0"/>
                  <a:t>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800" dirty="0"/>
                  <a:t>, pass through data 2-3 times, discarding data that is more than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</m:oMath>
                </a14:m>
                <a:r>
                  <a:rPr lang="en-US" sz="1800" dirty="0"/>
                  <a:t> from the mean.  Then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800" dirty="0"/>
                  <a:t> is the fraction of data we have discarded. </a:t>
                </a:r>
              </a:p>
              <a:p>
                <a:pPr marL="971550" lvl="2"/>
                <a:r>
                  <a:rPr lang="en-US" sz="1800" dirty="0"/>
                  <a:t>Fit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dirty="0"/>
                  <a:t> so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variance of the discarded data.</a:t>
                </a:r>
              </a:p>
              <a:p>
                <a:endParaRPr lang="en-US" sz="240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E41DA7-B3E3-938C-B98B-3832B8C4C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9592" y="1069939"/>
                <a:ext cx="7034689" cy="4401600"/>
              </a:xfrm>
              <a:blipFill>
                <a:blip r:embed="rId2"/>
                <a:stretch>
                  <a:fillRect l="-520" r="-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D64213-56DA-2F58-5F9F-306EEEC8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516" y="2318994"/>
            <a:ext cx="4323143" cy="25864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D05889F-1850-FD57-37D1-038B76FF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488" y="2221657"/>
            <a:ext cx="4785512" cy="277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6474023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2889-87C2-B4E7-DED8-7340CB08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3D65-9AB7-6B22-B096-26E1D486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of exogenous information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B08C5-AFBB-4BAB-BFFC-A300FA66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76" b="11840"/>
          <a:stretch>
            <a:fillRect/>
          </a:stretch>
        </p:blipFill>
        <p:spPr>
          <a:xfrm>
            <a:off x="310314" y="3772649"/>
            <a:ext cx="5288738" cy="223523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AF74128-253D-E075-BB55-B6A96F673B2E}"/>
              </a:ext>
            </a:extLst>
          </p:cNvPr>
          <p:cNvSpPr txBox="1">
            <a:spLocks/>
          </p:cNvSpPr>
          <p:nvPr/>
        </p:nvSpPr>
        <p:spPr>
          <a:xfrm>
            <a:off x="239567" y="1098514"/>
            <a:ext cx="10363200" cy="223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Hidden state variables</a:t>
            </a:r>
          </a:p>
          <a:p>
            <a:pPr lvl="2"/>
            <a:endParaRPr lang="en-US" sz="1600" dirty="0"/>
          </a:p>
          <a:p>
            <a:pPr lvl="1"/>
            <a:r>
              <a:rPr lang="en-US" sz="2000" dirty="0"/>
              <a:t>Complex behaviors over time typically reflect unobservable processes.</a:t>
            </a:r>
          </a:p>
          <a:p>
            <a:pPr lvl="2"/>
            <a:endParaRPr lang="en-US" sz="1600" dirty="0"/>
          </a:p>
          <a:p>
            <a:pPr lvl="1"/>
            <a:r>
              <a:rPr lang="en-US" sz="2000" dirty="0"/>
              <a:t>We can handle this by modeling the evolution of a “hidden state” which would change the behavior of a process.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B0A1B4-1AB5-9BB9-1784-824116B7E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78379"/>
            <a:ext cx="5288738" cy="20811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CBAAAD-7C94-B7B6-283B-EAB8DD2B0C58}"/>
              </a:ext>
            </a:extLst>
          </p:cNvPr>
          <p:cNvSpPr txBox="1"/>
          <p:nvPr/>
        </p:nvSpPr>
        <p:spPr>
          <a:xfrm>
            <a:off x="1783529" y="3523270"/>
            <a:ext cx="234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Transitions for hidden state</a:t>
            </a:r>
          </a:p>
        </p:txBody>
      </p:sp>
    </p:spTree>
    <p:extLst>
      <p:ext uri="{BB962C8B-B14F-4D97-AF65-F5344CB8AC3E}">
        <p14:creationId xmlns:p14="http://schemas.microsoft.com/office/powerpoint/2010/main" val="270595485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AD00-7415-51B0-D2F0-5A00AD31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115CA4-F567-D914-B415-68A37CDF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35EC3-AAA6-6A29-79C3-27F70892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E5769-CC53-2DF4-C63C-832BAC0B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5F4704-3467-3169-F5CF-E64A9DC36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301F3-1B48-F898-2A5B-1FC0004A7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6316F6-8757-08E4-4BA9-FE3348E41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EB08F3-692A-10D8-CA70-E900B2DA2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FC29A-E244-B887-6265-1BD7D4E9B648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policies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Modeling → Modeling uncertainty 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0263216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