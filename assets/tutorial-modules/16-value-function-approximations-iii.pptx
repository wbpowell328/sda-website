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70" r:id="rId102"/>
    <p:sldId id="11008" r:id="rId103"/>
    <p:sldId id="10996" r:id="rId104"/>
    <p:sldId id="6387" r:id="rId105"/>
    <p:sldId id="6388" r:id="rId106"/>
    <p:sldId id="6389" r:id="rId107"/>
    <p:sldId id="10997" r:id="rId108"/>
    <p:sldId id="5774" r:id="rId109"/>
    <p:sldId id="5777" r:id="rId110"/>
    <p:sldId id="5782" r:id="rId111"/>
    <p:sldId id="5783" r:id="rId112"/>
    <p:sldId id="10593" r:id="rId113"/>
    <p:sldId id="5780" r:id="rId114"/>
    <p:sldId id="10998" r:id="rId115"/>
    <p:sldId id="10641" r:id="rId116"/>
    <p:sldId id="9560" r:id="rId117"/>
    <p:sldId id="10993" r:id="rId118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17" Type="http://schemas.openxmlformats.org/officeDocument/2006/relationships/slide" Target="slides/slide113.xml"/><Relationship Id="rId402" Type="http://schemas.openxmlformats.org/officeDocument/2006/relationships/font" Target="fonts/font11.fntdata"/><Relationship Id="rId108" Type="http://schemas.openxmlformats.org/officeDocument/2006/relationships/slide" Target="slides/slide104.xml"/><Relationship Id="rId399" Type="http://schemas.openxmlformats.org/officeDocument/2006/relationships/font" Target="fonts/font8.fntdata"/><Relationship Id="rId404" Type="http://schemas.openxmlformats.org/officeDocument/2006/relationships/font" Target="fonts/font13.fntdata"/><Relationship Id="rId110" Type="http://schemas.openxmlformats.org/officeDocument/2006/relationships/slide" Target="slides/slide106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112" Type="http://schemas.openxmlformats.org/officeDocument/2006/relationships/slide" Target="slides/slide108.xml"/><Relationship Id="rId113" Type="http://schemas.openxmlformats.org/officeDocument/2006/relationships/slide" Target="slides/slide109.xml"/><Relationship Id="rId103" Type="http://schemas.openxmlformats.org/officeDocument/2006/relationships/slide" Target="slides/slide99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114" Type="http://schemas.openxmlformats.org/officeDocument/2006/relationships/slide" Target="slides/slide110.xml"/><Relationship Id="rId104" Type="http://schemas.openxmlformats.org/officeDocument/2006/relationships/slide" Target="slides/slide100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115" Type="http://schemas.openxmlformats.org/officeDocument/2006/relationships/slide" Target="slides/slide111.xml"/><Relationship Id="rId410" Type="http://schemas.openxmlformats.org/officeDocument/2006/relationships/viewProps" Target="viewProps.xml"/><Relationship Id="rId105" Type="http://schemas.openxmlformats.org/officeDocument/2006/relationships/slide" Target="slides/slide101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400" Type="http://schemas.openxmlformats.org/officeDocument/2006/relationships/font" Target="fonts/font9.fntdata"/><Relationship Id="rId116" Type="http://schemas.openxmlformats.org/officeDocument/2006/relationships/slide" Target="slides/slide112.xml"/><Relationship Id="rId411" Type="http://schemas.openxmlformats.org/officeDocument/2006/relationships/theme" Target="theme/theme1.xml"/><Relationship Id="rId106" Type="http://schemas.openxmlformats.org/officeDocument/2006/relationships/slide" Target="slides/slide102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401" Type="http://schemas.openxmlformats.org/officeDocument/2006/relationships/font" Target="fonts/font10.fntdata"/><Relationship Id="rId412" Type="http://schemas.openxmlformats.org/officeDocument/2006/relationships/tableStyles" Target="tableStyles.xml"/><Relationship Id="rId107" Type="http://schemas.openxmlformats.org/officeDocument/2006/relationships/slide" Target="slides/slide103.xml"/><Relationship Id="rId398" Type="http://schemas.openxmlformats.org/officeDocument/2006/relationships/font" Target="fonts/font7.fntdata"/><Relationship Id="rId118" Type="http://schemas.openxmlformats.org/officeDocument/2006/relationships/slide" Target="slides/slide114.xml"/><Relationship Id="rId403" Type="http://schemas.openxmlformats.org/officeDocument/2006/relationships/font" Target="fonts/font12.fntdata"/><Relationship Id="rId109" Type="http://schemas.openxmlformats.org/officeDocument/2006/relationships/slide" Target="slides/slide105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111" Type="http://schemas.openxmlformats.org/officeDocument/2006/relationships/slide" Target="slides/slide107.xml"/><Relationship Id="rId102" Type="http://schemas.openxmlformats.org/officeDocument/2006/relationships/slide" Target="slides/slide98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A289CAB-FF23-C0D9-59B2-F4425B1B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FF415DD6-81F4-A557-3B1B-C8E2B5A67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6FA91683-482F-694D-531C-9C2D4DA57F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401380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B897BB5-B31E-D4C7-AD96-8EF4280C1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68B92FE4-5474-C93E-EA70-C54D59FE6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028E41EB-6769-655C-3B7A-0220E86DE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062490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B445D91-9C9C-5060-4B26-EAC6B646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9DECD443-1302-3921-167A-26922DF81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5332B9DF-A97F-AD3E-2A05-0987930CD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07581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C29B92A-0B87-98E9-265C-8AE45A41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5833468A-FA8F-3C33-13A3-7ED3FDF89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C5662D79-1DDC-26CB-92A2-2636980EB6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6424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1.png"/><Relationship Id="rId2" Type="http://schemas.openxmlformats.org/officeDocument/2006/relationships/image" Target="../media/image423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microsoft.com/office/2007/relationships/hdphoto" Target="../media/hdphoto4.wdp"/><Relationship Id="rId4" Type="http://schemas.openxmlformats.org/officeDocument/2006/relationships/image" Target="../media/image61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9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9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40.png"/><Relationship Id="rId2" Type="http://schemas.openxmlformats.org/officeDocument/2006/relationships/image" Target="../media/image421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70.png"/><Relationship Id="rId2" Type="http://schemas.openxmlformats.org/officeDocument/2006/relationships/image" Target="../media/image4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8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50.png"/><Relationship Id="rId2" Type="http://schemas.openxmlformats.org/officeDocument/2006/relationships/image" Target="../media/image422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41CC-DD61-639D-C0B1-64391E92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E69C68F-7A7F-4E03-EB3F-25C87C65F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95D6008-659C-0CC4-2299-B3C3ABF8FCA2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C7D360A-4CD3-E312-334C-0224D494D56A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0A687D-F842-E43D-336D-745CF7C2E57E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D56587-520B-5809-7D4B-36D6CBAFB233}"/>
              </a:ext>
            </a:extLst>
          </p:cNvPr>
          <p:cNvSpPr txBox="1">
            <a:spLocks/>
          </p:cNvSpPr>
          <p:nvPr/>
        </p:nvSpPr>
        <p:spPr>
          <a:xfrm>
            <a:off x="1212347" y="3222743"/>
            <a:ext cx="8308725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Value function approximations III – “Reinforcement learning” 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Temporal difference learning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Q-learning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deadly triad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1CE31ED-A4AB-4C3F-7EA6-E5BF1F49520C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Advanced. The presentation depends heavily on the mathematics of Bellman’s equation.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27ABC8-C72E-62BF-8416-4F9D68C9769A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function approximations I and II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354C9F-2690-48BE-BED1-CB9CE458F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8198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AB07AC7-FB19-8717-F465-3C4A16E1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9966F7-0888-B2F1-392E-92618001F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A146041C-6F8E-A3FB-51F6-222A3128FA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1E43806B-8A58-9621-1DEE-B0F9DD20B8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Value function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 – Introduction to Dynamic Programming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II – VFA-based policies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III - “Reinforcement learning” in the style of computer science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IV - Forward ADP and linear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V - Applications of ADP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B3E442-B408-D3B8-B74E-F7DAD166C76E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0934957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F6A161F-3B16-D4EE-C55B-BA3B9DF9D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F78CAA-9FC4-E50C-97C5-3673570EA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38DA6864-2744-76A7-097B-F9FB509994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9411EE26-6B23-1712-36DD-52FB55BEF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III - “Reinforcement learning” in the style of computer science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Temporal-difference learning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Q-learning/SARSA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deadly triad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B6F31-3EDE-B0A6-65BA-62978B763D13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9575988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learning: TD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63803" y="1114720"/>
                <a:ext cx="10737621" cy="49530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Temporal difference learning (aka approximate value iteration)</a:t>
                </a:r>
              </a:p>
              <a:p>
                <a:pPr lvl="1"/>
                <a:r>
                  <a:rPr lang="en-US" sz="2000" dirty="0"/>
                  <a:t>The “temporal difference” is given by</a:t>
                </a:r>
              </a:p>
              <a:p>
                <a:pPr marL="457200" lvl="1" indent="0"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1141413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1141413" lvl="1" indent="0">
                  <a:buNone/>
                </a:pPr>
                <a:endParaRPr lang="en-US" sz="1800" dirty="0"/>
              </a:p>
              <a:p>
                <a:pPr marL="1141413" lvl="1" indent="0">
                  <a:buNone/>
                </a:pPr>
                <a:r>
                  <a:rPr lang="en-US" sz="1800" dirty="0"/>
                  <a:t>              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             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                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en-US" sz="1800" dirty="0"/>
              </a:p>
              <a:p>
                <a:pPr marL="457200" lvl="1" indent="0">
                  <a:buNone/>
                </a:pPr>
                <a:endParaRPr lang="en-US" sz="1400" dirty="0"/>
              </a:p>
              <a:p>
                <a:pPr lvl="1"/>
                <a:r>
                  <a:rPr lang="en-US" sz="2000" dirty="0"/>
                  <a:t>In other words, this is “old estimate minus new estimate”.  We can update our value function approximation using</a:t>
                </a:r>
              </a:p>
              <a:p>
                <a:pPr lvl="2"/>
                <a:endParaRPr lang="en-US" sz="1600" dirty="0"/>
              </a:p>
              <a:p>
                <a:pPr marL="457200" lvl="1" indent="0">
                  <a:buNone/>
                </a:pPr>
                <a:r>
                  <a:rPr lang="en-US" sz="1800" dirty="0"/>
                  <a:t>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</m:oMath>
                </a14:m>
                <a:endParaRPr lang="en-US" sz="1800" dirty="0"/>
              </a:p>
              <a:p>
                <a:pPr marL="457200" lvl="1" indent="0">
                  <a:buNone/>
                </a:pPr>
                <a:r>
                  <a:rPr lang="en-US" sz="1800" dirty="0"/>
                  <a:t>                     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en-US" sz="1400" dirty="0"/>
              </a:p>
              <a:p>
                <a:pPr lvl="2"/>
                <a:endParaRPr lang="en-US" sz="1600" dirty="0"/>
              </a:p>
              <a:p>
                <a:pPr lvl="1"/>
                <a:r>
                  <a:rPr lang="en-US" sz="2000" dirty="0"/>
                  <a:t>This is a basic form of “temporal difference learning” known as TD(0). The “temporal difference” reflects learning from one decision to the next (which occurs over time).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3803" y="1114720"/>
                <a:ext cx="10737621" cy="4953000"/>
              </a:xfrm>
              <a:blipFill>
                <a:blip r:embed="rId2"/>
                <a:stretch>
                  <a:fillRect l="-398" b="-8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D49A34-1E77-76D1-0F56-7F3F4CF8297A}"/>
                  </a:ext>
                </a:extLst>
              </p:cNvPr>
              <p:cNvSpPr txBox="1"/>
              <p:nvPr/>
            </p:nvSpPr>
            <p:spPr>
              <a:xfrm rot="16200000">
                <a:off x="5978206" y="1012075"/>
                <a:ext cx="522387" cy="35756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</m:mr>
                                      <m:mr>
                                        <m:e/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/>
                                            </m:mr>
                                            <m:mr>
                                              <m:e/>
                                            </m:mr>
                                            <m:mr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1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/>
                                                  </m:mr>
                                                  <m:mr>
                                                    <m:e/>
                                                  </m:mr>
                                                  <m:mr>
                                                    <m:e>
                                                      <m:m>
                                                        <m:mPr>
                                                          <m:mcs>
                                                            <m:mc>
                                                              <m:mcPr>
                                                                <m:count m:val="1"/>
                                                                <m:mcJc m:val="center"/>
                                                              </m:mcPr>
                                                            </m:mc>
                                                          </m:mcs>
                                                          <m:ctrlPr>
                                                            <a:rPr lang="en-US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mPr>
                                                        <m:mr>
                                                          <m:e/>
                                                        </m:mr>
                                                        <m:mr>
                                                          <m:e/>
                                                        </m:mr>
                                                        <m:mr>
                                                          <m:e>
                                                            <m:m>
                                                              <m:mPr>
                                                                <m:mcs>
                                                                  <m:mc>
                                                                    <m:mcPr>
                                                                      <m:count m:val="1"/>
                                                                      <m:mcJc m:val="center"/>
                                                                    </m:mcPr>
                                                                  </m:mc>
                                                                </m:mcs>
                                                                <m:ctrlPr>
                                                                  <a:rPr lang="en-US" i="1" smtClean="0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mPr>
                                                              <m:mr>
                                                                <m:e/>
                                                              </m:mr>
                                                              <m:mr>
                                                                <m:e/>
                                                              </m:mr>
                                                              <m:mr>
                                                                <m:e>
                                                                  <m:m>
                                                                    <m:mPr>
                                                                      <m:mcs>
                                                                        <m:mc>
                                                                          <m:mcPr>
                                                                            <m:count m:val="1"/>
                                                                            <m:mcJc m:val="center"/>
                                                                          </m:mcPr>
                                                                        </m:mc>
                                                                      </m:mcs>
                                                                      <m:ctrlPr>
                                                                        <a:rPr lang="en-US" i="1" smtClean="0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</m:ctrlPr>
                                                                    </m:mPr>
                                                                    <m:mr>
                                                                      <m:e/>
                                                                    </m:mr>
                                                                    <m:mr>
                                                                      <m:e/>
                                                                    </m:mr>
                                                                    <m:mr>
                                                                      <m:e/>
                                                                    </m:mr>
                                                                  </m:m>
                                                                </m:e>
                                                              </m:mr>
                                                            </m:m>
                                                          </m:e>
                                                        </m:mr>
                                                      </m:m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D49A34-1E77-76D1-0F56-7F3F4CF82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78206" y="1012075"/>
                <a:ext cx="522387" cy="35756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78761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5414" y="1048730"/>
                <a:ext cx="8682087" cy="49530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TD(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more general form of TD-learning uses discounted costs over the entire trajectory.</a:t>
                </a:r>
              </a:p>
              <a:p>
                <a:pPr lvl="1"/>
                <a:endParaRPr lang="en-US" dirty="0"/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5715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Think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as an “algorithmic discount factor” that helps to give credit for downstream rewards to earlier decisions.  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is a basic one-step ahead updating policy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The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has to be carefully tuned.</a:t>
                </a:r>
              </a:p>
              <a:p>
                <a:pPr marL="457200" lvl="1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14" y="1048730"/>
                <a:ext cx="8682087" cy="4953000"/>
              </a:xfrm>
              <a:blipFill>
                <a:blip r:embed="rId2"/>
                <a:stretch>
                  <a:fillRect l="-421" r="-1684" b="-5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learning: TD learning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20A239-C0B8-0734-DD50-2D5D9B010741}"/>
              </a:ext>
            </a:extLst>
          </p:cNvPr>
          <p:cNvGrpSpPr/>
          <p:nvPr/>
        </p:nvGrpSpPr>
        <p:grpSpPr>
          <a:xfrm>
            <a:off x="4593836" y="2106858"/>
            <a:ext cx="4163665" cy="1219827"/>
            <a:chOff x="4933200" y="2201128"/>
            <a:chExt cx="4366770" cy="1219827"/>
          </a:xfrm>
        </p:grpSpPr>
        <p:sp>
          <p:nvSpPr>
            <p:cNvPr id="10" name="Google Shape;3987;p81">
              <a:extLst>
                <a:ext uri="{FF2B5EF4-FFF2-40B4-BE49-F238E27FC236}">
                  <a16:creationId xmlns:a16="http://schemas.microsoft.com/office/drawing/2014/main" id="{290D648C-5D38-C7BF-0BD9-0FB266429CE1}"/>
                </a:ext>
              </a:extLst>
            </p:cNvPr>
            <p:cNvSpPr/>
            <p:nvPr/>
          </p:nvSpPr>
          <p:spPr>
            <a:xfrm>
              <a:off x="4933200" y="2724348"/>
              <a:ext cx="2240598" cy="696607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D31F757-3E7E-20F2-F1A5-1DCA84CE50AC}"/>
                </a:ext>
              </a:extLst>
            </p:cNvPr>
            <p:cNvSpPr txBox="1"/>
            <p:nvPr/>
          </p:nvSpPr>
          <p:spPr>
            <a:xfrm>
              <a:off x="6138000" y="2201128"/>
              <a:ext cx="31619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Executed by doing a forward simulation following some policy.</a:t>
              </a:r>
            </a:p>
          </p:txBody>
        </p:sp>
      </p:grpSp>
      <p:pic>
        <p:nvPicPr>
          <p:cNvPr id="4" name="Picture 3" descr="A maze with a person in the middle&#10;&#10;AI-generated content may be incorrect.">
            <a:extLst>
              <a:ext uri="{FF2B5EF4-FFF2-40B4-BE49-F238E27FC236}">
                <a16:creationId xmlns:a16="http://schemas.microsoft.com/office/drawing/2014/main" id="{2B1DBBBB-CA2C-4FED-6017-C16EA5933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953" y="1997614"/>
            <a:ext cx="3452253" cy="264037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742373-55E5-A70F-C4DD-27107A692221}"/>
              </a:ext>
            </a:extLst>
          </p:cNvPr>
          <p:cNvCxnSpPr>
            <a:cxnSpLocks/>
          </p:cNvCxnSpPr>
          <p:nvPr/>
        </p:nvCxnSpPr>
        <p:spPr>
          <a:xfrm>
            <a:off x="10114282" y="3643087"/>
            <a:ext cx="40676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316BC92-8EDD-8642-BE81-00A040687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35" b="93805" l="9346" r="89720">
                        <a14:foregroundMark x1="14019" y1="61947" x2="14019" y2="61947"/>
                        <a14:foregroundMark x1="90654" y1="34513" x2="90654" y2="34513"/>
                        <a14:foregroundMark x1="82243" y1="63717" x2="82243" y2="63717"/>
                        <a14:foregroundMark x1="82243" y1="93805" x2="82243" y2="93805"/>
                        <a14:foregroundMark x1="65421" y1="39823" x2="65421" y2="39823"/>
                        <a14:foregroundMark x1="71963" y1="40708" x2="71963" y2="40708"/>
                        <a14:foregroundMark x1="33645" y1="85841" x2="33645" y2="858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23699" y="3326685"/>
            <a:ext cx="381762" cy="403169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861741-1F83-01A8-2FAA-38238C5856DE}"/>
              </a:ext>
            </a:extLst>
          </p:cNvPr>
          <p:cNvCxnSpPr>
            <a:cxnSpLocks/>
          </p:cNvCxnSpPr>
          <p:nvPr/>
        </p:nvCxnSpPr>
        <p:spPr>
          <a:xfrm>
            <a:off x="10579467" y="3643087"/>
            <a:ext cx="0" cy="1799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53E7531-4969-C6DA-E975-046B56442403}"/>
              </a:ext>
            </a:extLst>
          </p:cNvPr>
          <p:cNvSpPr/>
          <p:nvPr/>
        </p:nvSpPr>
        <p:spPr>
          <a:xfrm>
            <a:off x="10586720" y="3393440"/>
            <a:ext cx="340360" cy="406400"/>
          </a:xfrm>
          <a:custGeom>
            <a:avLst/>
            <a:gdLst>
              <a:gd name="csX0" fmla="*/ 0 w 340360"/>
              <a:gd name="csY0" fmla="*/ 406400 h 406400"/>
              <a:gd name="csX1" fmla="*/ 340360 w 340360"/>
              <a:gd name="csY1" fmla="*/ 406400 h 406400"/>
              <a:gd name="csX2" fmla="*/ 340360 w 340360"/>
              <a:gd name="csY2" fmla="*/ 0 h 40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40360" h="406400">
                <a:moveTo>
                  <a:pt x="0" y="406400"/>
                </a:moveTo>
                <a:lnTo>
                  <a:pt x="340360" y="406400"/>
                </a:lnTo>
                <a:lnTo>
                  <a:pt x="340360" y="0"/>
                </a:lnTo>
              </a:path>
            </a:pathLst>
          </a:custGeom>
          <a:noFill/>
          <a:ln w="38100"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D7AF40-6270-F246-8061-FF76A3462612}"/>
              </a:ext>
            </a:extLst>
          </p:cNvPr>
          <p:cNvSpPr/>
          <p:nvPr/>
        </p:nvSpPr>
        <p:spPr>
          <a:xfrm>
            <a:off x="10911840" y="3332480"/>
            <a:ext cx="477520" cy="162560"/>
          </a:xfrm>
          <a:custGeom>
            <a:avLst/>
            <a:gdLst>
              <a:gd name="csX0" fmla="*/ 0 w 477520"/>
              <a:gd name="csY0" fmla="*/ 0 h 162560"/>
              <a:gd name="csX1" fmla="*/ 477520 w 477520"/>
              <a:gd name="csY1" fmla="*/ 0 h 162560"/>
              <a:gd name="csX2" fmla="*/ 477520 w 477520"/>
              <a:gd name="csY2" fmla="*/ 162560 h 162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77520" h="162560">
                <a:moveTo>
                  <a:pt x="0" y="0"/>
                </a:moveTo>
                <a:lnTo>
                  <a:pt x="477520" y="0"/>
                </a:lnTo>
                <a:lnTo>
                  <a:pt x="477520" y="162560"/>
                </a:lnTo>
              </a:path>
            </a:pathLst>
          </a:custGeom>
          <a:noFill/>
          <a:ln w="38100"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234D03-5EBE-90CE-5B2D-B897F16E0067}"/>
              </a:ext>
            </a:extLst>
          </p:cNvPr>
          <p:cNvSpPr/>
          <p:nvPr/>
        </p:nvSpPr>
        <p:spPr>
          <a:xfrm>
            <a:off x="11394440" y="3556000"/>
            <a:ext cx="157480" cy="375920"/>
          </a:xfrm>
          <a:custGeom>
            <a:avLst/>
            <a:gdLst>
              <a:gd name="csX0" fmla="*/ 0 w 157480"/>
              <a:gd name="csY0" fmla="*/ 0 h 375920"/>
              <a:gd name="csX1" fmla="*/ 0 w 157480"/>
              <a:gd name="csY1" fmla="*/ 81280 h 375920"/>
              <a:gd name="csX2" fmla="*/ 157480 w 157480"/>
              <a:gd name="csY2" fmla="*/ 81280 h 375920"/>
              <a:gd name="csX3" fmla="*/ 157480 w 157480"/>
              <a:gd name="csY3" fmla="*/ 375920 h 37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7480" h="375920">
                <a:moveTo>
                  <a:pt x="0" y="0"/>
                </a:moveTo>
                <a:lnTo>
                  <a:pt x="0" y="81280"/>
                </a:lnTo>
                <a:lnTo>
                  <a:pt x="157480" y="81280"/>
                </a:lnTo>
                <a:lnTo>
                  <a:pt x="157480" y="375920"/>
                </a:lnTo>
              </a:path>
            </a:pathLst>
          </a:custGeom>
          <a:noFill/>
          <a:ln w="38100"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1171F3C-8C08-444A-C3D0-2CE269F0A231}"/>
              </a:ext>
            </a:extLst>
          </p:cNvPr>
          <p:cNvSpPr/>
          <p:nvPr/>
        </p:nvSpPr>
        <p:spPr>
          <a:xfrm>
            <a:off x="11541760" y="3997960"/>
            <a:ext cx="157480" cy="304800"/>
          </a:xfrm>
          <a:custGeom>
            <a:avLst/>
            <a:gdLst>
              <a:gd name="csX0" fmla="*/ 0 w 157480"/>
              <a:gd name="csY0" fmla="*/ 0 h 304800"/>
              <a:gd name="csX1" fmla="*/ 0 w 157480"/>
              <a:gd name="csY1" fmla="*/ 127000 h 304800"/>
              <a:gd name="csX2" fmla="*/ 157480 w 157480"/>
              <a:gd name="csY2" fmla="*/ 127000 h 304800"/>
              <a:gd name="csX3" fmla="*/ 157480 w 157480"/>
              <a:gd name="csY3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7480" h="304800">
                <a:moveTo>
                  <a:pt x="0" y="0"/>
                </a:moveTo>
                <a:lnTo>
                  <a:pt x="0" y="127000"/>
                </a:lnTo>
                <a:lnTo>
                  <a:pt x="157480" y="127000"/>
                </a:lnTo>
                <a:lnTo>
                  <a:pt x="157480" y="304800"/>
                </a:lnTo>
              </a:path>
            </a:pathLst>
          </a:custGeom>
          <a:noFill/>
          <a:ln w="38100"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2EFA79B-0702-52B2-590A-A3DDA48F33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465" y="1962478"/>
            <a:ext cx="516870" cy="46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2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1" grpId="0" animBg="1"/>
      <p:bldP spid="23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learning: TD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003" y="1023490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Approximating the value function</a:t>
            </a:r>
          </a:p>
          <a:p>
            <a:pPr lvl="1"/>
            <a:r>
              <a:rPr lang="en-US" dirty="0"/>
              <a:t>Temporal difference updates can be paired with any recursive estimation algorithm for a linear or locally linear model:</a:t>
            </a:r>
          </a:p>
          <a:p>
            <a:pPr lvl="2"/>
            <a:r>
              <a:rPr lang="en-US" dirty="0"/>
              <a:t>Lookup tables</a:t>
            </a:r>
          </a:p>
          <a:p>
            <a:pPr lvl="3"/>
            <a:r>
              <a:rPr lang="en-US" dirty="0"/>
              <a:t>Independent beliefs</a:t>
            </a:r>
          </a:p>
          <a:p>
            <a:pPr lvl="3"/>
            <a:r>
              <a:rPr lang="en-US" dirty="0"/>
              <a:t>Correlated beliefs</a:t>
            </a:r>
          </a:p>
          <a:p>
            <a:pPr lvl="3"/>
            <a:r>
              <a:rPr lang="en-US" dirty="0"/>
              <a:t>Hierarchical beliefs</a:t>
            </a:r>
          </a:p>
          <a:p>
            <a:pPr lvl="2"/>
            <a:endParaRPr lang="en-US" sz="1200" dirty="0"/>
          </a:p>
          <a:p>
            <a:pPr lvl="2"/>
            <a:r>
              <a:rPr lang="en-US" dirty="0"/>
              <a:t>Linear parametric models</a:t>
            </a:r>
          </a:p>
          <a:p>
            <a:pPr lvl="2"/>
            <a:endParaRPr lang="en-US" sz="1200" dirty="0"/>
          </a:p>
          <a:p>
            <a:pPr lvl="2"/>
            <a:r>
              <a:rPr lang="en-US" dirty="0"/>
              <a:t>Nonparametric models</a:t>
            </a:r>
          </a:p>
          <a:p>
            <a:pPr lvl="3"/>
            <a:r>
              <a:rPr lang="en-US" dirty="0"/>
              <a:t>Kernel regression</a:t>
            </a:r>
          </a:p>
          <a:p>
            <a:pPr lvl="3"/>
            <a:r>
              <a:rPr lang="en-US" dirty="0"/>
              <a:t>Locally linear</a:t>
            </a:r>
          </a:p>
          <a:p>
            <a:pPr lvl="3"/>
            <a:endParaRPr lang="en-US" sz="1200" dirty="0"/>
          </a:p>
          <a:p>
            <a:pPr lvl="1"/>
            <a:r>
              <a:rPr lang="en-US" dirty="0"/>
              <a:t>Nonlinear models for VFAs require specialized algorithms for doing incremental updates.</a:t>
            </a:r>
          </a:p>
        </p:txBody>
      </p:sp>
    </p:spTree>
    <p:extLst>
      <p:ext uri="{BB962C8B-B14F-4D97-AF65-F5344CB8AC3E}">
        <p14:creationId xmlns:p14="http://schemas.microsoft.com/office/powerpoint/2010/main" val="3876922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8EAAE09-652E-9166-F065-A3CD53CCE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6B9915-B1FF-FB59-4E23-20154FB5F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B3CE8396-13ED-D86C-41B2-6D585D3EEF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855EB996-0F53-BD85-5AA9-DBD9B44B76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III - “Reinforcement learning” in the style of computer science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Temporal-difference learning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Q-learning/SARSA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deadly triad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92C778-D8C1-80E6-083F-DE6D2569C048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7798740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learning: Q-learning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542" y="1094593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Mouse in a maze problem</a:t>
            </a:r>
          </a:p>
          <a:p>
            <a:pPr lvl="1"/>
            <a:r>
              <a:rPr lang="en-US" dirty="0"/>
              <a:t>Original motivating application for Sutton and Barto: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dirty="0"/>
              <a:t>Important element is a mouse whose behavior is unknown to us.</a:t>
            </a:r>
          </a:p>
        </p:txBody>
      </p:sp>
      <p:pic>
        <p:nvPicPr>
          <p:cNvPr id="4" name="Picture 3" descr="A maze with a person in the middle&#10;&#10;AI-generated content may be incorrect.">
            <a:extLst>
              <a:ext uri="{FF2B5EF4-FFF2-40B4-BE49-F238E27FC236}">
                <a16:creationId xmlns:a16="http://schemas.microsoft.com/office/drawing/2014/main" id="{2711ACDF-B4F3-F3E0-7906-1ADA03F4C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6" y="2277013"/>
            <a:ext cx="4124314" cy="315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7067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learning: Q-learning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24965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Some terms from Sutton and Barto:</a:t>
            </a:r>
          </a:p>
          <a:p>
            <a:pPr lvl="1"/>
            <a:r>
              <a:rPr lang="en-US" sz="2000" dirty="0"/>
              <a:t>“Behavior policy” is the policy used to choose actions</a:t>
            </a:r>
          </a:p>
          <a:p>
            <a:pPr lvl="2"/>
            <a:r>
              <a:rPr lang="en-US" sz="1800" dirty="0"/>
              <a:t>E.g. these are actions observed by a real system</a:t>
            </a:r>
          </a:p>
          <a:p>
            <a:pPr lvl="1"/>
            <a:r>
              <a:rPr lang="en-US" sz="2000" dirty="0"/>
              <a:t>“Target policy” is the policy that we are trying to learn, which is to say the policy we want to implement.</a:t>
            </a:r>
          </a:p>
          <a:p>
            <a:pPr lvl="1"/>
            <a:r>
              <a:rPr lang="en-US" sz="2000" dirty="0"/>
              <a:t>When the target policy is different from the behavior policy, then this is termed “off policy learning”</a:t>
            </a:r>
          </a:p>
          <a:p>
            <a:pPr lvl="1"/>
            <a:endParaRPr lang="en-US" sz="2000" dirty="0"/>
          </a:p>
          <a:p>
            <a:pPr marL="86360" indent="0">
              <a:buNone/>
            </a:pPr>
            <a:r>
              <a:rPr lang="en-US" dirty="0"/>
              <a:t>My vocabulary:</a:t>
            </a:r>
          </a:p>
          <a:p>
            <a:pPr lvl="1"/>
            <a:r>
              <a:rPr lang="en-US" sz="2000" dirty="0"/>
              <a:t>The “learning policy” is the policy (often called an algorithm) that learns the value functions (or Q-factors)</a:t>
            </a:r>
          </a:p>
          <a:p>
            <a:pPr lvl="1"/>
            <a:r>
              <a:rPr lang="en-US" sz="2000" dirty="0"/>
              <a:t>The “implementation policy” is the policy determined by the value functions (or Q-factors).</a:t>
            </a:r>
          </a:p>
        </p:txBody>
      </p:sp>
    </p:spTree>
    <p:extLst>
      <p:ext uri="{BB962C8B-B14F-4D97-AF65-F5344CB8AC3E}">
        <p14:creationId xmlns:p14="http://schemas.microsoft.com/office/powerpoint/2010/main" val="5491613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learning: Q-learning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141" y="1019568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On- vs off-policy learning:</a:t>
            </a:r>
          </a:p>
          <a:p>
            <a:pPr lvl="1"/>
            <a:r>
              <a:rPr lang="en-US" sz="2000" dirty="0"/>
              <a:t>On-policy learning – Learning the value of the implementation (target) policy: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r>
              <a:rPr lang="en-US" sz="2000" dirty="0"/>
              <a:t>Off-policy learning:</a:t>
            </a:r>
          </a:p>
          <a:p>
            <a:pPr lvl="2"/>
            <a:r>
              <a:rPr lang="en-US" sz="1800" dirty="0"/>
              <a:t>Sample actions according to a </a:t>
            </a:r>
            <a:r>
              <a:rPr lang="en-US" sz="1800" i="1" dirty="0"/>
              <a:t>learning policy</a:t>
            </a:r>
            <a:r>
              <a:rPr lang="en-US" sz="1800" dirty="0"/>
              <a:t> (called “</a:t>
            </a:r>
            <a:r>
              <a:rPr lang="en-US" sz="1800" i="1" dirty="0"/>
              <a:t>behavior policy” </a:t>
            </a:r>
            <a:r>
              <a:rPr lang="en-US" sz="1800" dirty="0"/>
              <a:t>in Sutton &amp; Barto). This is the policy used for learning the </a:t>
            </a:r>
            <a:r>
              <a:rPr lang="en-US" sz="1800" i="1" dirty="0"/>
              <a:t>implementation policy </a:t>
            </a:r>
            <a:r>
              <a:rPr lang="en-US" sz="1800" dirty="0"/>
              <a:t>(called the “target policy” in Sutton &amp; Barto).</a:t>
            </a:r>
          </a:p>
          <a:p>
            <a:pPr lvl="2"/>
            <a:r>
              <a:rPr lang="en-US" sz="1800" dirty="0"/>
              <a:t>Needs to be combined with a state sampling policy.</a:t>
            </a:r>
          </a:p>
          <a:p>
            <a:pPr lvl="2"/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AE1699-6172-442C-4528-6314F0F5E24C}"/>
                  </a:ext>
                </a:extLst>
              </p:cNvPr>
              <p:cNvSpPr txBox="1"/>
              <p:nvPr/>
            </p:nvSpPr>
            <p:spPr>
              <a:xfrm>
                <a:off x="1725104" y="1944503"/>
                <a:ext cx="6564233" cy="25859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Raleway" pitchFamily="2" charset="0"/>
                  </a:rPr>
                  <a:t>From a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>
                    <a:latin typeface="Raleway" pitchFamily="2" charset="0"/>
                  </a:rPr>
                  <a:t>, choose action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>
                    <a:latin typeface="Raleway" pitchFamily="2" charset="0"/>
                  </a:rPr>
                  <a:t> using</a:t>
                </a:r>
              </a:p>
              <a:p>
                <a:endParaRPr lang="en-US" sz="1800" dirty="0">
                  <a:latin typeface="Raleway" pitchFamily="2" charset="0"/>
                </a:endParaRPr>
              </a:p>
              <a:p>
                <a:r>
                  <a:rPr lang="en-US" sz="1800" dirty="0">
                    <a:latin typeface="Raleway" pitchFamily="2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sz="1800" b="0" dirty="0">
                  <a:latin typeface="Raleway" pitchFamily="2" charset="0"/>
                </a:endParaRPr>
              </a:p>
              <a:p>
                <a:r>
                  <a:rPr lang="en-US" sz="1800" dirty="0">
                    <a:latin typeface="Raleway" pitchFamily="2" charset="0"/>
                  </a:rPr>
                  <a:t> </a:t>
                </a:r>
              </a:p>
              <a:p>
                <a:r>
                  <a:rPr lang="en-US" sz="1800" dirty="0">
                    <a:latin typeface="Raleway" pitchFamily="2" charset="0"/>
                  </a:rPr>
                  <a:t>Now go to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1800" dirty="0">
                    <a:latin typeface="Raleway" pitchFamily="2" charset="0"/>
                  </a:rPr>
                  <a:t> given by</a:t>
                </a:r>
              </a:p>
              <a:p>
                <a:endParaRPr lang="en-US" sz="1800" dirty="0">
                  <a:latin typeface="Raleway" pitchFamily="2" charset="0"/>
                </a:endParaRPr>
              </a:p>
              <a:p>
                <a:r>
                  <a:rPr lang="en-US" sz="1800" dirty="0">
                    <a:latin typeface="Raleway" pitchFamily="2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endParaRPr lang="en-US" sz="1800" b="0" dirty="0">
                  <a:latin typeface="Raleway" pitchFamily="2" charset="0"/>
                </a:endParaRPr>
              </a:p>
              <a:p>
                <a:endParaRPr lang="en-US" sz="1800" dirty="0">
                  <a:latin typeface="Raleway" pitchFamily="2" charset="0"/>
                </a:endParaRPr>
              </a:p>
              <a:p>
                <a:r>
                  <a:rPr lang="en-US" sz="1800" dirty="0">
                    <a:latin typeface="Raleway" pitchFamily="2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1800" dirty="0">
                    <a:latin typeface="Raleway" pitchFamily="2" charset="0"/>
                  </a:rPr>
                  <a:t> is observed or sampled from some distribution.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AE1699-6172-442C-4528-6314F0F5E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104" y="1944503"/>
                <a:ext cx="6564233" cy="2585901"/>
              </a:xfrm>
              <a:prstGeom prst="rect">
                <a:avLst/>
              </a:prstGeom>
              <a:blipFill>
                <a:blip r:embed="rId2"/>
                <a:stretch>
                  <a:fillRect l="-836" t="-1415" r="-186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204792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learning: 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2065" y="996096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400" dirty="0"/>
                  <a:t>Model-free vs. model-based</a:t>
                </a:r>
              </a:p>
              <a:p>
                <a:pPr lvl="2"/>
                <a:endParaRPr lang="en-US" sz="1600" dirty="0"/>
              </a:p>
              <a:p>
                <a:pPr lvl="1"/>
                <a:r>
                  <a:rPr lang="en-US" sz="2000" dirty="0"/>
                  <a:t>Model-based means we have a mathematical statement of how the problem evolves that can be simulated in the computer.</a:t>
                </a:r>
              </a:p>
              <a:p>
                <a:pPr lvl="2"/>
                <a:r>
                  <a:rPr lang="en-US" sz="1800" dirty="0"/>
                  <a:t>Known reward function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/>
              </a:p>
              <a:p>
                <a:pPr lvl="2"/>
                <a:r>
                  <a:rPr lang="en-US" sz="1800" dirty="0"/>
                  <a:t>Known transition matrix (or function)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lvl="1"/>
                <a:r>
                  <a:rPr lang="en-US" sz="2000" dirty="0"/>
                  <a:t>Model-free refers to a physical process that can be observed, but where we do not have equations describing the evolution over time.</a:t>
                </a:r>
              </a:p>
              <a:p>
                <a:pPr lvl="2"/>
                <a:r>
                  <a:rPr lang="en-US" sz="1800" dirty="0"/>
                  <a:t>The behavior of a human or animal</a:t>
                </a:r>
              </a:p>
              <a:p>
                <a:pPr lvl="2"/>
                <a:r>
                  <a:rPr lang="en-US" sz="1800" dirty="0"/>
                  <a:t>The behavior of the climate</a:t>
                </a:r>
              </a:p>
              <a:p>
                <a:pPr lvl="2"/>
                <a:r>
                  <a:rPr lang="en-US" sz="1800" dirty="0"/>
                  <a:t>The behavior of a complex system such as a chemical plant</a:t>
                </a:r>
              </a:p>
              <a:p>
                <a:pPr lvl="1"/>
                <a:r>
                  <a:rPr lang="en-US" sz="2000" dirty="0"/>
                  <a:t>Q-learning is often described as “model free” because it can be learned while observing a system, but remember: this is </a:t>
                </a:r>
                <a:r>
                  <a:rPr lang="en-US" sz="2000" i="1" dirty="0"/>
                  <a:t>very slow!</a:t>
                </a:r>
                <a:endParaRPr lang="en-US" sz="2000" dirty="0"/>
              </a:p>
              <a:p>
                <a:pPr lvl="1"/>
                <a:r>
                  <a:rPr lang="en-US" sz="2000" dirty="0"/>
                  <a:t>The resulting policy does not require a model:</a:t>
                </a:r>
              </a:p>
              <a:p>
                <a:pPr lvl="1"/>
                <a:endParaRPr lang="en-US" sz="200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2065" y="996096"/>
                <a:ext cx="10363200" cy="4401600"/>
              </a:xfrm>
              <a:blipFill>
                <a:blip r:embed="rId2"/>
                <a:stretch>
                  <a:fillRect l="-59" b="-18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04709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learning: 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5775" y="1019175"/>
                <a:ext cx="10868025" cy="49530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Basic Q-learning algorithm</a:t>
                </a:r>
              </a:p>
              <a:p>
                <a:pPr lvl="1"/>
                <a:r>
                  <a:rPr lang="en-US" dirty="0"/>
                  <a:t>Basic update (“temporal difference learning”)</a:t>
                </a:r>
              </a:p>
              <a:p>
                <a:pPr lvl="2"/>
                <a:endParaRPr lang="en-US" sz="24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r>
                  <a:rPr lang="en-US" dirty="0"/>
                  <a:t>     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sz="1600" dirty="0"/>
              </a:p>
              <a:p>
                <a:pPr lvl="1"/>
                <a:r>
                  <a:rPr lang="en-US" dirty="0"/>
                  <a:t>Need to determine next state and next action:</a:t>
                </a:r>
              </a:p>
              <a:p>
                <a:pPr lvl="3"/>
                <a:endParaRPr lang="en-US" sz="1400" dirty="0"/>
              </a:p>
              <a:p>
                <a:pPr lvl="2"/>
                <a:r>
                  <a:rPr lang="en-US" dirty="0"/>
                  <a:t>State sampling policy - How to choose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r>
                  <a:rPr lang="en-US" sz="1800" dirty="0"/>
                  <a:t>Choose the state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′=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. This is “trajectory following.</a:t>
                </a:r>
              </a:p>
              <a:p>
                <a:pPr lvl="3"/>
                <a:r>
                  <a:rPr lang="en-US" sz="1800" dirty="0"/>
                  <a:t>Choose next state randomly to encourage exploration.  This is “off-policy”.</a:t>
                </a:r>
                <a:endParaRPr lang="en-US" dirty="0"/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Action sampling policy </a:t>
                </a:r>
              </a:p>
              <a:p>
                <a:pPr lvl="3"/>
                <a:r>
                  <a:rPr lang="en-US" sz="1800" dirty="0"/>
                  <a:t>Trajectory following (on-policy):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𝑎𝑟𝑔𝑚𝑎𝑥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𝛾</m:t>
                        </m:r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Sup>
                              <m:sSubSupPr>
                                <m:ctrlPr>
                                  <a:rPr lang="en-US" sz="180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b>
                              <m:sup/>
                            </m:sSubSup>
                          </m:fName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d>
                  </m:oMath>
                </a14:m>
                <a:endParaRPr lang="en-US" sz="1800" dirty="0"/>
              </a:p>
              <a:p>
                <a:pPr lvl="3"/>
                <a:r>
                  <a:rPr lang="en-US" sz="1800" dirty="0"/>
                  <a:t>The learning policy: Choose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 to explore different parts of the grid (off-policy).</a:t>
                </a:r>
              </a:p>
              <a:p>
                <a:pPr lvl="2"/>
                <a:endParaRPr lang="en-US" dirty="0"/>
              </a:p>
              <a:p>
                <a:pPr lvl="3"/>
                <a:endParaRPr lang="en-US" dirty="0"/>
              </a:p>
              <a:p>
                <a:pPr lvl="2"/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019175"/>
                <a:ext cx="10868025" cy="4953000"/>
              </a:xfrm>
              <a:blipFill>
                <a:blip r:embed="rId2"/>
                <a:stretch>
                  <a:fillRect l="-393" b="-6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4"/>
          <p:cNvSpPr txBox="1"/>
          <p:nvPr/>
        </p:nvSpPr>
        <p:spPr>
          <a:xfrm>
            <a:off x="6312857" y="2915827"/>
            <a:ext cx="3444573" cy="56180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44F178-AAAD-CC0A-17C3-45649124914D}"/>
                  </a:ext>
                </a:extLst>
              </p:cNvPr>
              <p:cNvSpPr txBox="1"/>
              <p:nvPr/>
            </p:nvSpPr>
            <p:spPr>
              <a:xfrm>
                <a:off x="993974" y="2038033"/>
                <a:ext cx="7494424" cy="7349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</m:sSubSup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44F178-AAAD-CC0A-17C3-45649124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974" y="2038033"/>
                <a:ext cx="7494424" cy="734945"/>
              </a:xfrm>
              <a:prstGeom prst="rect">
                <a:avLst/>
              </a:prstGeom>
              <a:blipFill>
                <a:blip r:embed="rId3"/>
                <a:stretch>
                  <a:fillRect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435309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learning: 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0092" y="1134015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400" dirty="0"/>
                  <a:t>Implementation policy</a:t>
                </a:r>
              </a:p>
              <a:p>
                <a:pPr lvl="1"/>
                <a:r>
                  <a:rPr lang="en-US" sz="2000" dirty="0"/>
                  <a:t>This is the policy we are going to follow based on the Q-factors:</a:t>
                </a:r>
              </a:p>
              <a:p>
                <a:pPr lvl="2"/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2"/>
                <a:endParaRPr lang="en-US" sz="1800" dirty="0"/>
              </a:p>
              <a:p>
                <a:pPr marL="86360" indent="0">
                  <a:buNone/>
                </a:pPr>
                <a:r>
                  <a:rPr lang="en-US" sz="2400" dirty="0"/>
                  <a:t>The value of the implementation policy: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dirty="0"/>
              </a:p>
              <a:p>
                <a:pPr marL="571500" lvl="1" indent="0">
                  <a:buNone/>
                </a:pPr>
                <a:r>
                  <a:rPr lang="en-US" sz="2000" dirty="0"/>
                  <a:t>or average over multiple sample paths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marL="86360" indent="0">
                  <a:buNone/>
                </a:pPr>
                <a:endParaRPr lang="en-US" sz="1400" dirty="0"/>
              </a:p>
              <a:p>
                <a:pPr marL="86360" indent="0">
                  <a:buNone/>
                </a:pPr>
                <a:r>
                  <a:rPr lang="en-US" sz="2400" dirty="0"/>
                  <a:t>The goal is to find an effective learning policy so that we obtain the best implementation policy.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092" y="1134015"/>
                <a:ext cx="10363200" cy="4401600"/>
              </a:xfrm>
              <a:blipFill>
                <a:blip r:embed="rId2"/>
                <a:stretch>
                  <a:fillRect l="-59" b="-19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>
              <a:xfrm>
                <a:off x="1638299" y="3194140"/>
                <a:ext cx="9535967" cy="6032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̄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m:rPr>
                              <m:nor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   where 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99" y="3194140"/>
                <a:ext cx="9535967" cy="603250"/>
              </a:xfrm>
              <a:prstGeom prst="rect">
                <a:avLst/>
              </a:prstGeom>
              <a:blipFill>
                <a:blip r:embed="rId3"/>
                <a:stretch>
                  <a:fillRect b="-48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1657350" y="4480790"/>
                <a:ext cx="8426758" cy="6032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̄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  <m:r>
                                <m:rPr>
                                  <m:nor/>
                                </m:rPr>
                                <a:rPr lang="en-US" sz="1800" i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nary>
                        </m:e>
                      </m:nary>
                      <m:r>
                        <m:rPr>
                          <m:nor/>
                        </m:rPr>
                        <a:rPr lang="en-US" sz="1800" i="0">
                          <a:latin typeface="Cambria Math" panose="02040503050406030204" pitchFamily="18" charset="0"/>
                        </a:rPr>
                        <m:t>where 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)))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50" y="4480790"/>
                <a:ext cx="8426758" cy="603250"/>
              </a:xfrm>
              <a:prstGeom prst="rect">
                <a:avLst/>
              </a:prstGeom>
              <a:blipFill>
                <a:blip r:embed="rId4"/>
                <a:stretch>
                  <a:fillRect b="-35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086410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8760912-593E-0600-9F84-13C29C22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6FA24-088D-050F-C512-F70BAC7AA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6C22E318-A9A0-7D63-4B08-0BE4DF9FD0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96F16ECF-C08B-0243-F71C-578D54B58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III - “Reinforcement learning” in the style of computer science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Temporal-difference learning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Q-learning/SARSA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The deadly triad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834B30-4B31-4088-C0F1-867FFC0FEB27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8169151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7B04-60BE-E271-6EC2-44279114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9788-AC18-C9F1-10B6-0CF546B91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VFA: The deadly triad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2FB3AB-B576-A70C-960D-B0DFA43DEAC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4165" y="1053245"/>
                <a:ext cx="1050051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The deadly triad: </a:t>
                </a:r>
              </a:p>
              <a:p>
                <a:pPr marL="1146175" lvl="3" indent="0">
                  <a:buNone/>
                </a:pPr>
                <a:endParaRPr lang="en-US" dirty="0"/>
              </a:p>
              <a:p>
                <a:pPr marL="1146175" lvl="2" indent="-457200">
                  <a:buFont typeface="+mj-lt"/>
                  <a:buAutoNum type="arabicParenR"/>
                </a:pPr>
                <a:r>
                  <a:rPr lang="en-US" dirty="0"/>
                  <a:t>The errors in function approximations: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146175" lvl="2" indent="-457200">
                  <a:buFont typeface="+mj-lt"/>
                  <a:buAutoNum type="arabicParenR"/>
                </a:pPr>
                <a:endParaRPr lang="en-US" dirty="0"/>
              </a:p>
              <a:p>
                <a:pPr marL="1146175" lvl="2" indent="-457200">
                  <a:buFont typeface="+mj-lt"/>
                  <a:buAutoNum type="arabicParenR"/>
                </a:pPr>
                <a:r>
                  <a:rPr lang="en-US" dirty="0"/>
                  <a:t>Bootstrapping: Updates to the estimates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-functions are based on biased estimates.</a:t>
                </a:r>
              </a:p>
              <a:p>
                <a:pPr marL="1146175" lvl="2" indent="-457200">
                  <a:buFont typeface="+mj-lt"/>
                  <a:buAutoNum type="arabicParenR"/>
                </a:pPr>
                <a:endParaRPr lang="en-US" dirty="0"/>
              </a:p>
              <a:p>
                <a:pPr marL="1146175" lvl="2" indent="-457200">
                  <a:buFont typeface="+mj-lt"/>
                  <a:buAutoNum type="arabicParenR"/>
                </a:pPr>
                <a:endParaRPr lang="en-US" dirty="0"/>
              </a:p>
              <a:p>
                <a:pPr marL="1146175" lvl="2" indent="-457200">
                  <a:buFont typeface="+mj-lt"/>
                  <a:buAutoNum type="arabicParenR"/>
                </a:pPr>
                <a:endParaRPr lang="en-US" dirty="0"/>
              </a:p>
              <a:p>
                <a:pPr marL="1146175" lvl="2" indent="-457200">
                  <a:buFont typeface="+mj-lt"/>
                  <a:buAutoNum type="arabicParenR"/>
                </a:pPr>
                <a:r>
                  <a:rPr lang="en-US" dirty="0"/>
                  <a:t>Off-policy learning which encourages exploration means we are evaluating performance based on a different policy.</a:t>
                </a:r>
              </a:p>
              <a:p>
                <a:pPr marL="231775" lvl="1" indent="0">
                  <a:buNone/>
                </a:pPr>
                <a:endParaRPr lang="en-US" sz="1200" dirty="0"/>
              </a:p>
              <a:p>
                <a:pPr marL="574675" lvl="1"/>
                <a:r>
                  <a:rPr lang="en-US" dirty="0"/>
                  <a:t>Sutton and Barto (Ch. 11) </a:t>
                </a:r>
              </a:p>
              <a:p>
                <a:pPr marL="1031875" lvl="2"/>
                <a:endParaRPr lang="en-US" dirty="0"/>
              </a:p>
              <a:p>
                <a:pPr marL="1085850" lvl="2" indent="0">
                  <a:buNone/>
                </a:pPr>
                <a:r>
                  <a:rPr lang="en-US" dirty="0"/>
                  <a:t>“</a:t>
                </a:r>
                <a:r>
                  <a:rPr lang="en-US" i="1" dirty="0"/>
                  <a:t>The potential for off-policy learning remains tantalizing, the best way to achieve it still a mystery</a:t>
                </a:r>
                <a:r>
                  <a:rPr lang="en-US" dirty="0"/>
                  <a:t>.”</a:t>
                </a:r>
              </a:p>
              <a:p>
                <a:pPr marL="574675" lvl="1"/>
                <a:endParaRPr lang="en-US" dirty="0"/>
              </a:p>
              <a:p>
                <a:pPr marL="688975" lvl="1" indent="-457200">
                  <a:buFont typeface="+mj-lt"/>
                  <a:buAutoNum type="arabicParenR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2FB3AB-B576-A70C-960D-B0DFA43DEA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4165" y="1053245"/>
                <a:ext cx="10500510" cy="4401600"/>
              </a:xfrm>
              <a:blipFill>
                <a:blip r:embed="rId2"/>
                <a:stretch>
                  <a:fillRect l="-348" r="-232" b="-20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E45865-0FB8-970F-E2E2-357BC08B88E0}"/>
                  </a:ext>
                </a:extLst>
              </p:cNvPr>
              <p:cNvSpPr txBox="1"/>
              <p:nvPr/>
            </p:nvSpPr>
            <p:spPr>
              <a:xfrm>
                <a:off x="1180159" y="3135099"/>
                <a:ext cx="7494424" cy="7349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</m:sSubSup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E45865-0FB8-970F-E2E2-357BC08B8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159" y="3135099"/>
                <a:ext cx="7494424" cy="734945"/>
              </a:xfrm>
              <a:prstGeom prst="rect">
                <a:avLst/>
              </a:prstGeom>
              <a:blipFill>
                <a:blip r:embed="rId3"/>
                <a:stretch>
                  <a:fillRect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21785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738D-4D92-2CE0-3F18-092A94A4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VFA: The deadly triad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B21D8-0201-9F7A-5034-51DF7009A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305" y="1279489"/>
            <a:ext cx="6149592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Why Bellman does not work</a:t>
            </a:r>
          </a:p>
          <a:p>
            <a:pPr marL="682625" lvl="1"/>
            <a:r>
              <a:rPr lang="en-US" sz="2000" dirty="0"/>
              <a:t>The thousands of papers “demonstrating” various forms of ADP or reinforcement learning all use problems chosen by the developers of the algorithm.</a:t>
            </a:r>
          </a:p>
          <a:p>
            <a:pPr marL="682625" lvl="1"/>
            <a:r>
              <a:rPr lang="en-US" sz="2000" dirty="0"/>
              <a:t>The deadly triad helps explain algorithms for learning VFAs do not work.</a:t>
            </a:r>
          </a:p>
          <a:p>
            <a:pPr marL="682625" lvl="1"/>
            <a:r>
              <a:rPr lang="en-US" sz="2000" dirty="0"/>
              <a:t>Even if a VFA-based algorithm seems to work, it has to be easier to use than any of the other classes of policies.</a:t>
            </a:r>
          </a:p>
          <a:p>
            <a:pPr marL="682625" lvl="1"/>
            <a:endParaRPr lang="en-US" sz="2000" dirty="0"/>
          </a:p>
          <a:p>
            <a:pPr marL="682625" lvl="1"/>
            <a:r>
              <a:rPr lang="en-US" sz="2000" dirty="0"/>
              <a:t>I have summarized my thoughts on this at:</a:t>
            </a:r>
          </a:p>
          <a:p>
            <a:pPr marL="682625" lvl="1"/>
            <a:endParaRPr lang="en-US" sz="2000" dirty="0"/>
          </a:p>
          <a:p>
            <a:pPr marL="0" lvl="1" indent="0"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  https://tinyurl.com/WhyBellmanDoesNotWork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D06F8C-7504-70E0-C11A-05366C2BD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145" y="1517300"/>
            <a:ext cx="4718475" cy="45969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00143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E0608-04AC-872F-6BE1-C65B3FB9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7D30DE-0AC5-23B0-A197-A6BC739D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DB2F77-89B0-BEDA-945D-06B60A354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B0723-1F7E-5901-B24E-D3453C442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7EC4B0-E974-B3A6-9B0C-0231E41A6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4E411-1C43-0852-3ADC-859C1287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076DD9-996A-C731-54EB-640863259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A71775-F97F-D6BE-4276-164E163304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85C39A-1B2C-E6DE-D80A-202E84BB136A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value function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Value function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7182669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