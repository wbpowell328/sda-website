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60" r:id="rId5"/>
    <p:sldId id="10588" r:id="rId6"/>
    <p:sldId id="10374" r:id="rId7"/>
    <p:sldId id="10378" r:id="rId8"/>
    <p:sldId id="10535" r:id="rId9"/>
    <p:sldId id="11054" r:id="rId10"/>
    <p:sldId id="4656" r:id="rId11"/>
    <p:sldId id="4658" r:id="rId12"/>
    <p:sldId id="10375" r:id="rId13"/>
    <p:sldId id="10376" r:id="rId14"/>
    <p:sldId id="10377" r:id="rId15"/>
    <p:sldId id="11051" r:id="rId16"/>
    <p:sldId id="11050" r:id="rId17"/>
    <p:sldId id="11052" r:id="rId18"/>
    <p:sldId id="10543" r:id="rId19"/>
    <p:sldId id="10664" r:id="rId20"/>
    <p:sldId id="11041" r:id="rId21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1" Type="http://schemas.openxmlformats.org/officeDocument/2006/relationships/slide" Target="slides/slide17.xml"/><Relationship Id="rId5" Type="http://schemas.openxmlformats.org/officeDocument/2006/relationships/slide" Target="slides/slide1.xml"/><Relationship Id="rId402" Type="http://schemas.openxmlformats.org/officeDocument/2006/relationships/font" Target="fonts/font11.fntdata"/><Relationship Id="rId12" Type="http://schemas.openxmlformats.org/officeDocument/2006/relationships/slide" Target="slides/slide8.xml"/><Relationship Id="rId399" Type="http://schemas.openxmlformats.org/officeDocument/2006/relationships/font" Target="fonts/font8.fntdata"/><Relationship Id="rId7" Type="http://schemas.openxmlformats.org/officeDocument/2006/relationships/slide" Target="slides/slide3.xml"/><Relationship Id="rId404" Type="http://schemas.openxmlformats.org/officeDocument/2006/relationships/font" Target="fonts/font13.fntdata"/><Relationship Id="rId14" Type="http://schemas.openxmlformats.org/officeDocument/2006/relationships/slide" Target="slides/slide10.xml"/><Relationship Id="rId406" Type="http://schemas.openxmlformats.org/officeDocument/2006/relationships/font" Target="fonts/font15.fntdata"/><Relationship Id="rId9" Type="http://schemas.openxmlformats.org/officeDocument/2006/relationships/slide" Target="slides/slide5.xml"/><Relationship Id="rId392" Type="http://schemas.openxmlformats.org/officeDocument/2006/relationships/font" Target="fonts/font1.fntdata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18" Type="http://schemas.openxmlformats.org/officeDocument/2006/relationships/slide" Target="slides/slide14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19" Type="http://schemas.openxmlformats.org/officeDocument/2006/relationships/slide" Target="slides/slide15.xml"/><Relationship Id="rId410" Type="http://schemas.openxmlformats.org/officeDocument/2006/relationships/viewProps" Target="viewProps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400" Type="http://schemas.openxmlformats.org/officeDocument/2006/relationships/font" Target="fonts/font9.fntdata"/><Relationship Id="rId20" Type="http://schemas.openxmlformats.org/officeDocument/2006/relationships/slide" Target="slides/slide16.xml"/><Relationship Id="rId411" Type="http://schemas.openxmlformats.org/officeDocument/2006/relationships/theme" Target="theme/theme1.xml"/><Relationship Id="rId10" Type="http://schemas.openxmlformats.org/officeDocument/2006/relationships/slide" Target="slides/slide6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401" Type="http://schemas.openxmlformats.org/officeDocument/2006/relationships/font" Target="fonts/font10.fntdata"/><Relationship Id="rId412" Type="http://schemas.openxmlformats.org/officeDocument/2006/relationships/tableStyles" Target="tableStyles.xml"/><Relationship Id="rId11" Type="http://schemas.openxmlformats.org/officeDocument/2006/relationships/slide" Target="slides/slide7.xml"/><Relationship Id="rId398" Type="http://schemas.openxmlformats.org/officeDocument/2006/relationships/font" Target="fonts/font7.fntdata"/><Relationship Id="rId403" Type="http://schemas.openxmlformats.org/officeDocument/2006/relationships/font" Target="fonts/font12.fntdata"/><Relationship Id="rId6" Type="http://schemas.openxmlformats.org/officeDocument/2006/relationships/slide" Target="slides/slide2.xml"/><Relationship Id="rId13" Type="http://schemas.openxmlformats.org/officeDocument/2006/relationships/slide" Target="slides/slide9.xml"/><Relationship Id="rId8" Type="http://schemas.openxmlformats.org/officeDocument/2006/relationships/slide" Target="slides/slide4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15" Type="http://schemas.openxmlformats.org/officeDocument/2006/relationships/slide" Target="slides/slide11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DD81E89-EE88-9CDF-BE74-2BC489A3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348705A7-969B-2BE6-5588-2782A94C6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D66EEB35-5FB9-4CAF-B60E-F92EF3D57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2160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04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3BCA750-2A01-8BF7-3291-C1D70F0C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D91BF359-084A-061F-7140-6185AC84D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910EF2CA-DE93-FCAA-67E9-A94391800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8386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3">
          <a:extLst>
            <a:ext uri="{FF2B5EF4-FFF2-40B4-BE49-F238E27FC236}">
              <a16:creationId xmlns:a16="http://schemas.microsoft.com/office/drawing/2014/main" id="{C7F39627-8B49-586B-4450-5D9CCFA6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p86:notes">
            <a:extLst>
              <a:ext uri="{FF2B5EF4-FFF2-40B4-BE49-F238E27FC236}">
                <a16:creationId xmlns:a16="http://schemas.microsoft.com/office/drawing/2014/main" id="{1DC44C77-383F-8ACA-5663-E3416C2C5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4455" name="Google Shape;4455;p86:notes">
            <a:extLst>
              <a:ext uri="{FF2B5EF4-FFF2-40B4-BE49-F238E27FC236}">
                <a16:creationId xmlns:a16="http://schemas.microsoft.com/office/drawing/2014/main" id="{739F33CB-312C-5ECC-4AE1-4E4EA491A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83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E7E9B71-A015-90FA-28C3-9282D526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D9CE7F2E-2ECB-BEA5-B3C9-D2BD1213D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6197487-A56D-33CE-6379-D0E4B9D67F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621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2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openxmlformats.org/officeDocument/2006/relationships/image" Target="../media/image387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2.png"/><Relationship Id="rId3" Type="http://schemas.openxmlformats.org/officeDocument/2006/relationships/image" Target="../media/image3280.png"/><Relationship Id="rId7" Type="http://schemas.openxmlformats.org/officeDocument/2006/relationships/image" Target="../media/image3641.png"/><Relationship Id="rId2" Type="http://schemas.openxmlformats.org/officeDocument/2006/relationships/image" Target="../media/image36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20.png"/><Relationship Id="rId10" Type="http://schemas.openxmlformats.org/officeDocument/2006/relationships/image" Target="../media/image3850.png"/><Relationship Id="rId4" Type="http://schemas.openxmlformats.org/officeDocument/2006/relationships/image" Target="../media/image3612.png"/><Relationship Id="rId9" Type="http://schemas.openxmlformats.org/officeDocument/2006/relationships/image" Target="../media/image38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0.png"/><Relationship Id="rId3" Type="http://schemas.openxmlformats.org/officeDocument/2006/relationships/image" Target="../media/image16.png"/><Relationship Id="rId7" Type="http://schemas.openxmlformats.org/officeDocument/2006/relationships/image" Target="../media/image28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000.png"/><Relationship Id="rId9" Type="http://schemas.openxmlformats.org/officeDocument/2006/relationships/image" Target="../media/image28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learningwhiledoin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72CD-83D5-2B56-F089-B576954F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7297F7-40C5-F235-1021-449197A4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ED4BA57-802C-4307-831E-66B3DC65D5DF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5CF6E07-991D-5C95-6BB1-C8B7DF371862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413D6F-20DA-70BB-015A-69648ABB5588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3755DC-8C03-E3E7-BCAA-5D77AB29F726}"/>
              </a:ext>
            </a:extLst>
          </p:cNvPr>
          <p:cNvSpPr txBox="1">
            <a:spLocks/>
          </p:cNvSpPr>
          <p:nvPr/>
        </p:nvSpPr>
        <p:spPr>
          <a:xfrm>
            <a:off x="1212348" y="3023962"/>
            <a:ext cx="8648089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Policy function approximations: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the use of parametric models as policies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Policy evaluation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F994E8-79AA-9BCF-2392-5A7140C43DF0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Mathematical description of policy function approximations.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91788D-939A-A957-4BE5-3F1F88D9DC84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642FA6-6674-3F4E-25CD-F4073FFB2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0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2DBAD63-0F09-5D0C-97EB-BBD6FBC9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09F60-151D-AAD7-78CF-932E12E2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F33198BB-8CEC-EB7F-5049-1F086A08C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4" name="Google Shape;247;p26">
            <a:extLst>
              <a:ext uri="{FF2B5EF4-FFF2-40B4-BE49-F238E27FC236}">
                <a16:creationId xmlns:a16="http://schemas.microsoft.com/office/drawing/2014/main" id="{246A037D-2678-5E0D-2603-797FE86F7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dirty="0">
                <a:solidFill>
                  <a:schemeClr val="bg1"/>
                </a:solidFill>
              </a:rPr>
              <a:t>Policy function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Examples of PFAs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From machine learning to PFAs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Policy evaluation</a:t>
            </a:r>
          </a:p>
        </p:txBody>
      </p:sp>
    </p:spTree>
    <p:extLst>
      <p:ext uri="{BB962C8B-B14F-4D97-AF65-F5344CB8AC3E}">
        <p14:creationId xmlns:p14="http://schemas.microsoft.com/office/powerpoint/2010/main" val="341477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9386-3042-7086-19B4-19EBF4BC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9C06C-2C72-D238-0F3F-8FFE9B658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What is a “policy function approximation”?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any analytical function that translates information in the state variable to a decision.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It is the only one of the four classes that does not involve an imbedded optimization problem.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It may include lookup tables, linear or nonlinear functions, nonparametric functions, and deep neural networks – any function that might be used in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320414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E18D-0017-5B32-6A63-4582F6BD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8ECFC85-F315-4BB4-F3CE-A1D014AD3D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Linear decision rules</a:t>
                </a:r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Process control (heating, dosage, … )</a:t>
                </a:r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marL="571500" lvl="1" indent="0">
                  <a:buSzPct val="70000"/>
                  <a:buNone/>
                </a:pPr>
                <a:endParaRPr lang="en-US" sz="20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An inventory control problem with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 = current inventory</a:t>
                </a:r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 = current market price</a:t>
                </a:r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Features: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:endParaRPr lang="en-US" sz="1600" dirty="0"/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func>
                      <m:funcPr>
                        <m:ctrlPr>
                          <a:rPr lang="en-US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endParaRPr lang="en-US" sz="16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sz="2000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pPr marL="86360" indent="0">
                  <a:buNone/>
                </a:pPr>
                <a:endParaRPr lang="en-US" dirty="0"/>
              </a:p>
              <a:p>
                <a:pPr marL="86360" indent="0">
                  <a:buNone/>
                </a:pPr>
                <a:endParaRPr lang="en-US" sz="1400" dirty="0"/>
              </a:p>
              <a:p>
                <a:pPr marL="8636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8ECFC85-F315-4BB4-F3CE-A1D014AD3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353" b="-8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68AC04-3EC0-2770-D0FC-53328F4023D3}"/>
                  </a:ext>
                </a:extLst>
              </p:cNvPr>
              <p:cNvSpPr txBox="1"/>
              <p:nvPr/>
            </p:nvSpPr>
            <p:spPr>
              <a:xfrm>
                <a:off x="2021700" y="2252864"/>
                <a:ext cx="2963632" cy="10196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68AC04-3EC0-2770-D0FC-53328F40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700" y="2252864"/>
                <a:ext cx="2963632" cy="10196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343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5CED-09A1-F77D-C525-4962F33C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FADD1-E043-1BEE-7B02-8026E9CC6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100379"/>
            <a:ext cx="10363200" cy="1837605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PID controllers (proportional-integral-derivative)</a:t>
            </a:r>
          </a:p>
          <a:p>
            <a:pPr marL="68738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Temperature control (furnaces, reactors, ovens) </a:t>
            </a:r>
          </a:p>
          <a:p>
            <a:pPr marL="68738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Flow control (liquids, gases) </a:t>
            </a:r>
          </a:p>
          <a:p>
            <a:pPr marL="68738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Level control (tanks, reservoirs) </a:t>
            </a:r>
          </a:p>
          <a:p>
            <a:pPr marL="68738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Raleway" pitchFamily="2" charset="0"/>
              </a:rPr>
              <a:t>Administering drugs (insulin)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08B372-79DE-D2F2-3408-0A846D2C5CE4}"/>
                  </a:ext>
                </a:extLst>
              </p:cNvPr>
              <p:cNvSpPr txBox="1"/>
              <p:nvPr/>
            </p:nvSpPr>
            <p:spPr>
              <a:xfrm>
                <a:off x="1554975" y="2991744"/>
                <a:ext cx="5097486" cy="3012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endParaRPr lang="en-US" sz="105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endParaRPr lang="en-US" sz="105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105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𝑝𝑟𝑜𝑝</m:t>
                          </m:r>
                        </m:sup>
                      </m:sSup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𝑖𝑛𝑡𝑒𝑔𝑟𝑎𝑙</m:t>
                          </m:r>
                        </m:sup>
                      </m:sSup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𝑑𝑖𝑓𝑓</m:t>
                          </m:r>
                        </m:sup>
                      </m:sSup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08B372-79DE-D2F2-3408-0A846D2C5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975" y="2991744"/>
                <a:ext cx="5097486" cy="30127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E9B1AC4-7CAE-3FE0-C3C6-BF80A0FF79E7}"/>
              </a:ext>
            </a:extLst>
          </p:cNvPr>
          <p:cNvSpPr txBox="1"/>
          <p:nvPr/>
        </p:nvSpPr>
        <p:spPr>
          <a:xfrm>
            <a:off x="6804910" y="3029844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Error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C82A3-BECC-4D2F-B294-BADF4FFEF2CB}"/>
              </a:ext>
            </a:extLst>
          </p:cNvPr>
          <p:cNvSpPr txBox="1"/>
          <p:nvPr/>
        </p:nvSpPr>
        <p:spPr>
          <a:xfrm>
            <a:off x="6803167" y="3483714"/>
            <a:ext cx="28969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Sum of errors (integral)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E1A3D-E038-385B-3457-EE3AB9962DF8}"/>
              </a:ext>
            </a:extLst>
          </p:cNvPr>
          <p:cNvSpPr txBox="1"/>
          <p:nvPr/>
        </p:nvSpPr>
        <p:spPr>
          <a:xfrm>
            <a:off x="6803167" y="4031336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Derivative (change)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93E39-BF57-3344-5689-7207734CAD14}"/>
              </a:ext>
            </a:extLst>
          </p:cNvPr>
          <p:cNvSpPr txBox="1"/>
          <p:nvPr/>
        </p:nvSpPr>
        <p:spPr>
          <a:xfrm>
            <a:off x="6857790" y="5552036"/>
            <a:ext cx="9044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Policy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D4DCB-8681-6591-6B6F-474A546F5859}"/>
              </a:ext>
            </a:extLst>
          </p:cNvPr>
          <p:cNvSpPr txBox="1"/>
          <p:nvPr/>
        </p:nvSpPr>
        <p:spPr>
          <a:xfrm>
            <a:off x="6800640" y="4818611"/>
            <a:ext cx="1810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State variable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87D14B-901E-2F72-16C3-85104FC21161}"/>
              </a:ext>
            </a:extLst>
          </p:cNvPr>
          <p:cNvGrpSpPr/>
          <p:nvPr/>
        </p:nvGrpSpPr>
        <p:grpSpPr>
          <a:xfrm>
            <a:off x="3827282" y="2299881"/>
            <a:ext cx="4547766" cy="1159758"/>
            <a:chOff x="3827282" y="2299881"/>
            <a:chExt cx="4547766" cy="115975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8B49D38-1419-E00E-E076-233BB5057BF8}"/>
                </a:ext>
              </a:extLst>
            </p:cNvPr>
            <p:cNvSpPr/>
            <p:nvPr/>
          </p:nvSpPr>
          <p:spPr>
            <a:xfrm>
              <a:off x="3827282" y="2969444"/>
              <a:ext cx="508998" cy="49019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3DC587-EEB2-EDB9-C982-20A1DC149DB5}"/>
                </a:ext>
              </a:extLst>
            </p:cNvPr>
            <p:cNvSpPr txBox="1"/>
            <p:nvPr/>
          </p:nvSpPr>
          <p:spPr>
            <a:xfrm>
              <a:off x="4929874" y="2299881"/>
              <a:ext cx="3445174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Target value (what we want to achieve)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C2184AA-1840-09E3-08AC-EAB6B9DC59EE}"/>
                </a:ext>
              </a:extLst>
            </p:cNvPr>
            <p:cNvCxnSpPr>
              <a:cxnSpLocks/>
              <a:stCxn id="11" idx="1"/>
              <a:endCxn id="4" idx="7"/>
            </p:cNvCxnSpPr>
            <p:nvPr/>
          </p:nvCxnSpPr>
          <p:spPr>
            <a:xfrm flipH="1">
              <a:off x="4261739" y="2453770"/>
              <a:ext cx="668135" cy="58746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96B77C-EA4A-5327-AE08-ABF8C74037CE}"/>
              </a:ext>
            </a:extLst>
          </p:cNvPr>
          <p:cNvGrpSpPr/>
          <p:nvPr/>
        </p:nvGrpSpPr>
        <p:grpSpPr>
          <a:xfrm>
            <a:off x="4611280" y="2724809"/>
            <a:ext cx="2503033" cy="736400"/>
            <a:chOff x="4488729" y="2724809"/>
            <a:chExt cx="2503033" cy="7364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1CCEA7-77F5-4696-D2F4-69E9C60161C3}"/>
                </a:ext>
              </a:extLst>
            </p:cNvPr>
            <p:cNvSpPr txBox="1"/>
            <p:nvPr/>
          </p:nvSpPr>
          <p:spPr>
            <a:xfrm>
              <a:off x="5337142" y="2724809"/>
              <a:ext cx="1654620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What we observe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F56E569-95A3-72EB-B05F-2C92BB90E8BB}"/>
                </a:ext>
              </a:extLst>
            </p:cNvPr>
            <p:cNvSpPr/>
            <p:nvPr/>
          </p:nvSpPr>
          <p:spPr>
            <a:xfrm>
              <a:off x="4488729" y="2971014"/>
              <a:ext cx="254524" cy="49019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835CB90-1AA0-D9D6-D4C2-89D5BB9C39DB}"/>
                </a:ext>
              </a:extLst>
            </p:cNvPr>
            <p:cNvCxnSpPr>
              <a:cxnSpLocks/>
              <a:stCxn id="12" idx="1"/>
              <a:endCxn id="16" idx="7"/>
            </p:cNvCxnSpPr>
            <p:nvPr/>
          </p:nvCxnSpPr>
          <p:spPr>
            <a:xfrm flipH="1">
              <a:off x="4705979" y="2878698"/>
              <a:ext cx="631163" cy="16410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020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58C5-88A9-F928-FE41-F5047ADA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FCB7-81D0-A8E2-D501-9211A604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589847-7DD9-C1C1-F1D7-EADAEEECD0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30092" y="1279489"/>
                <a:ext cx="11304242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Randomized policies:</a:t>
                </a:r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Epsilon-greedy</a:t>
                </a:r>
              </a:p>
              <a:p>
                <a:pPr marL="571500" lvl="1" indent="0">
                  <a:buSzPct val="70000"/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571500" lvl="1" indent="0">
                  <a:buSzPct val="70000"/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𝑤𝑖𝑡ℎ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𝑝𝑟𝑜𝑏𝑎𝑏𝑖𝑙𝑖𝑡𝑦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𝐶ℎ𝑜𝑜𝑠𝑒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𝑟𝑎𝑛𝑑𝑜𝑚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𝑤𝑖𝑡ℎ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𝑝𝑟𝑜𝑏𝑎𝑏𝑖𝑙𝑖𝑡𝑦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1−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2">
                  <a:buSzPct val="70000"/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lvl="1">
                  <a:buSzPct val="70000"/>
                  <a:buFont typeface="Wingdings" panose="05000000000000000000" pitchFamily="2" charset="2"/>
                  <a:buChar char="Ø"/>
                </a:pPr>
                <a:r>
                  <a:rPr lang="en-US" dirty="0" err="1"/>
                  <a:t>Boltzman</a:t>
                </a:r>
                <a:r>
                  <a:rPr lang="en-US" dirty="0"/>
                  <a:t> policy</a:t>
                </a:r>
              </a:p>
              <a:p>
                <a:endParaRPr lang="en-US" dirty="0"/>
              </a:p>
              <a:p>
                <a:pPr lvl="1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𝑤𝑖𝑡ℎ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𝑝𝑟𝑜𝑏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.∼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800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589847-7DD9-C1C1-F1D7-EADAEEECD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0092" y="1279489"/>
                <a:ext cx="11304242" cy="4401600"/>
              </a:xfrm>
              <a:blipFill>
                <a:blip r:embed="rId2"/>
                <a:stretch>
                  <a:fillRect l="-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73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sz="2400" dirty="0"/>
              <a:t>Battery arbitrage – When to charge, when to discharge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545F8-9BF8-56C0-33D4-5AB3A32A4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63" y="2023871"/>
            <a:ext cx="6968762" cy="413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8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52498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A buy low, sell high policy: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lvl="1">
              <a:buSzPct val="80000"/>
              <a:buBlip>
                <a:blip r:embed="rId2"/>
              </a:buBlip>
            </a:pPr>
            <a:endParaRPr lang="en-US" dirty="0"/>
          </a:p>
          <a:p>
            <a:pPr marL="0" lvl="1" indent="0">
              <a:buSzPct val="80000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>
              <a:xfrm>
                <a:off x="2762161" y="1775991"/>
                <a:ext cx="5448477" cy="158005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/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800" i="0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800" i="0">
                                        <a:latin typeface="Cambria Math" panose="02040503050406030204" pitchFamily="18" charset="0"/>
                                      </a:rPr>
                                      <m:t>charge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800" i="0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800" i="0">
                                        <a:latin typeface="Cambria Math" panose="02040503050406030204" pitchFamily="18" charset="0"/>
                                      </a:rPr>
                                      <m:t>charge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800" i="0">
                                        <a:latin typeface="Cambria Math" panose="02040503050406030204" pitchFamily="18" charset="0"/>
                                      </a:rPr>
                                      <m:t>discharge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800" i="0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sz="1800" i="0">
                                        <a:latin typeface="Cambria Math" panose="02040503050406030204" pitchFamily="18" charset="0"/>
                                      </a:rPr>
                                      <m:t>charge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161" y="1775991"/>
                <a:ext cx="5448477" cy="15800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Energy shifti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6"/>
          <a:stretch/>
        </p:blipFill>
        <p:spPr bwMode="auto">
          <a:xfrm>
            <a:off x="2162174" y="3465212"/>
            <a:ext cx="7343775" cy="260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242188" y="3610153"/>
            <a:ext cx="226376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008000"/>
                </a:solidFill>
              </a:rPr>
              <a:t>Energy in storage: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400" y="4975722"/>
            <a:ext cx="226376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CC0066"/>
                </a:solidFill>
              </a:rPr>
              <a:t>Price of electricity:</a:t>
            </a:r>
          </a:p>
        </p:txBody>
      </p:sp>
    </p:spTree>
    <p:extLst>
      <p:ext uri="{BB962C8B-B14F-4D97-AF65-F5344CB8AC3E}">
        <p14:creationId xmlns:p14="http://schemas.microsoft.com/office/powerpoint/2010/main" val="88102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AA574A5-7110-0909-1F28-2FF6A8DFFBD4}"/>
              </a:ext>
            </a:extLst>
          </p:cNvPr>
          <p:cNvSpPr txBox="1">
            <a:spLocks/>
          </p:cNvSpPr>
          <p:nvPr/>
        </p:nvSpPr>
        <p:spPr>
          <a:xfrm>
            <a:off x="6621317" y="984215"/>
            <a:ext cx="4665808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 algn="ctr">
              <a:buNone/>
            </a:pPr>
            <a:r>
              <a:rPr lang="en-US" dirty="0"/>
              <a:t>Energy control problem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48E84-7C98-62D4-7DB3-3768C96D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6823B-62CC-8283-8CF0-FB3911BBC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4117" y="993740"/>
            <a:ext cx="1665433" cy="854111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Policy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3241733-3D39-26C8-7C33-E78693F18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076" y="3895486"/>
            <a:ext cx="5460145" cy="209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83AD0-BD30-A846-6FA7-EDB5AB61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35" t="21808" r="22004" b="19740"/>
          <a:stretch>
            <a:fillRect/>
          </a:stretch>
        </p:blipFill>
        <p:spPr>
          <a:xfrm>
            <a:off x="0" y="2129282"/>
            <a:ext cx="6185259" cy="224094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A7C7A0F-9B4E-DD05-3D92-93A4ED555D23}"/>
              </a:ext>
            </a:extLst>
          </p:cNvPr>
          <p:cNvSpPr/>
          <p:nvPr/>
        </p:nvSpPr>
        <p:spPr>
          <a:xfrm>
            <a:off x="4667250" y="2495551"/>
            <a:ext cx="342900" cy="352425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348242-CB90-15EB-37DF-9AA2A389762F}"/>
              </a:ext>
            </a:extLst>
          </p:cNvPr>
          <p:cNvSpPr/>
          <p:nvPr/>
        </p:nvSpPr>
        <p:spPr>
          <a:xfrm>
            <a:off x="4695825" y="2809876"/>
            <a:ext cx="342900" cy="352425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336BD1-B934-BE83-4EA7-29CFB5D10EBC}"/>
              </a:ext>
            </a:extLst>
          </p:cNvPr>
          <p:cNvSpPr/>
          <p:nvPr/>
        </p:nvSpPr>
        <p:spPr>
          <a:xfrm>
            <a:off x="5638800" y="3571876"/>
            <a:ext cx="342900" cy="352425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250750-2F8F-0D7E-B2FC-567E4C89E4FD}"/>
              </a:ext>
            </a:extLst>
          </p:cNvPr>
          <p:cNvSpPr/>
          <p:nvPr/>
        </p:nvSpPr>
        <p:spPr>
          <a:xfrm>
            <a:off x="5648325" y="3857626"/>
            <a:ext cx="342900" cy="352425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5C8F34-A1E5-E1E5-582B-063DD1A2EA8C}"/>
                  </a:ext>
                </a:extLst>
              </p:cNvPr>
              <p:cNvSpPr txBox="1"/>
              <p:nvPr/>
            </p:nvSpPr>
            <p:spPr>
              <a:xfrm>
                <a:off x="2552700" y="4591051"/>
                <a:ext cx="1630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5C8F34-A1E5-E1E5-582B-063DD1A2E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700" y="4591051"/>
                <a:ext cx="1630896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2EBD0DE-1F13-299B-C12A-5C6316E68D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b="34289"/>
          <a:stretch>
            <a:fillRect/>
          </a:stretch>
        </p:blipFill>
        <p:spPr>
          <a:xfrm>
            <a:off x="6301468" y="1733814"/>
            <a:ext cx="5532116" cy="18285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472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BEBB-F70D-1B23-FCAC-D03F1B7E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65004-980B-70E5-2309-4BC1DA91A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026" y="1279489"/>
            <a:ext cx="47625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Inventory ordering policy at Amazon</a:t>
            </a:r>
          </a:p>
          <a:p>
            <a:pPr marL="571500" lvl="1"/>
            <a:endParaRPr lang="en-US" sz="2000" dirty="0"/>
          </a:p>
          <a:p>
            <a:pPr marL="571500" lvl="1"/>
            <a:r>
              <a:rPr lang="en-US" sz="2000" dirty="0"/>
              <a:t>Uses deep neural network to place orders.</a:t>
            </a:r>
          </a:p>
          <a:p>
            <a:pPr marL="571500" lvl="1"/>
            <a:endParaRPr lang="en-US" sz="2000" dirty="0"/>
          </a:p>
          <a:p>
            <a:pPr marL="571500" lvl="1"/>
            <a:r>
              <a:rPr lang="en-US" sz="2000" dirty="0"/>
              <a:t>The neural network is trained using history, which means it is incorporating the information that would typically be reflected in forecasts.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A9EC1-5B83-1C59-EF98-757E9CC3E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78550" y="1171050"/>
            <a:ext cx="6277499" cy="54603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60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EF0B5-6687-010F-1BC2-FC728DBA9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582" y="1079793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Goal is to train a neural network to manage thousands of inventories using a single deep neural network: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bject 4">
                <a:extLst>
                  <a:ext uri="{FF2B5EF4-FFF2-40B4-BE49-F238E27FC236}">
                    <a16:creationId xmlns:a16="http://schemas.microsoft.com/office/drawing/2014/main" id="{D264F55D-0AC7-BBB5-19CC-308DBF36A1F8}"/>
                  </a:ext>
                </a:extLst>
              </p:cNvPr>
              <p:cNvSpPr txBox="1"/>
              <p:nvPr/>
            </p:nvSpPr>
            <p:spPr bwMode="auto">
              <a:xfrm>
                <a:off x="1339861" y="2101432"/>
                <a:ext cx="5255194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={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  <m:sSubSup>
                                    <m:sSubSup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/>
                                    <m:sup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7" name="Object 4">
                <a:extLst>
                  <a:ext uri="{FF2B5EF4-FFF2-40B4-BE49-F238E27FC236}">
                    <a16:creationId xmlns:a16="http://schemas.microsoft.com/office/drawing/2014/main" id="{D264F55D-0AC7-BBB5-19CC-308DBF36A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9861" y="2101432"/>
                <a:ext cx="5255194" cy="831850"/>
              </a:xfrm>
              <a:prstGeom prst="rect">
                <a:avLst/>
              </a:prstGeom>
              <a:blipFill>
                <a:blip r:embed="rId2"/>
                <a:stretch>
                  <a:fillRect r="-4176" b="-80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5E4B253-73D3-175C-923A-EE630DBE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function approximations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1FE68DB-1C9C-1E85-D2C2-574F4383AF8B}"/>
              </a:ext>
            </a:extLst>
          </p:cNvPr>
          <p:cNvGrpSpPr/>
          <p:nvPr/>
        </p:nvGrpSpPr>
        <p:grpSpPr>
          <a:xfrm>
            <a:off x="1026116" y="2354732"/>
            <a:ext cx="2255025" cy="1625209"/>
            <a:chOff x="2574150" y="2597375"/>
            <a:chExt cx="2255025" cy="1625209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A2D9131C-4DBA-B907-4D05-903508A6CD7F}"/>
                </a:ext>
              </a:extLst>
            </p:cNvPr>
            <p:cNvSpPr/>
            <p:nvPr/>
          </p:nvSpPr>
          <p:spPr>
            <a:xfrm>
              <a:off x="4533900" y="2597375"/>
              <a:ext cx="209550" cy="50777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A74785B-A436-A5C1-49D7-A31FD04C2A14}"/>
                </a:ext>
              </a:extLst>
            </p:cNvPr>
            <p:cNvSpPr txBox="1"/>
            <p:nvPr/>
          </p:nvSpPr>
          <p:spPr>
            <a:xfrm>
              <a:off x="2574150" y="3699364"/>
              <a:ext cx="2255025" cy="523220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Weights on the neural network (~10-100 million)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C7DFF81E-9E86-142D-D722-A85303F5C244}"/>
                </a:ext>
              </a:extLst>
            </p:cNvPr>
            <p:cNvCxnSpPr>
              <a:stCxn id="134" idx="4"/>
              <a:endCxn id="135" idx="0"/>
            </p:cNvCxnSpPr>
            <p:nvPr/>
          </p:nvCxnSpPr>
          <p:spPr>
            <a:xfrm flipH="1">
              <a:off x="3701663" y="3105150"/>
              <a:ext cx="937012" cy="594214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CC0BFDC-0ECB-4202-E288-BB10BBE1FB49}"/>
              </a:ext>
            </a:extLst>
          </p:cNvPr>
          <p:cNvGrpSpPr/>
          <p:nvPr/>
        </p:nvGrpSpPr>
        <p:grpSpPr>
          <a:xfrm>
            <a:off x="3639530" y="2364160"/>
            <a:ext cx="2255025" cy="1901381"/>
            <a:chOff x="2515580" y="2514990"/>
            <a:chExt cx="2255025" cy="1901381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35A2C2C-B591-257F-A3E3-011BFEAAC686}"/>
                </a:ext>
              </a:extLst>
            </p:cNvPr>
            <p:cNvSpPr/>
            <p:nvPr/>
          </p:nvSpPr>
          <p:spPr>
            <a:xfrm>
              <a:off x="3477348" y="2514990"/>
              <a:ext cx="209550" cy="50777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20D50EA-B1D0-027C-C94B-C589AB5E7AC8}"/>
                </a:ext>
              </a:extLst>
            </p:cNvPr>
            <p:cNvSpPr txBox="1"/>
            <p:nvPr/>
          </p:nvSpPr>
          <p:spPr>
            <a:xfrm>
              <a:off x="2515580" y="3462264"/>
              <a:ext cx="2255025" cy="95410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Inventories, market data, along with historical information that might contribute to forecasts.</a:t>
              </a:r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0E839DEE-DB30-9644-57A9-077CAD8FA5B0}"/>
                </a:ext>
              </a:extLst>
            </p:cNvPr>
            <p:cNvCxnSpPr>
              <a:cxnSpLocks/>
              <a:stCxn id="142" idx="4"/>
              <a:endCxn id="143" idx="0"/>
            </p:cNvCxnSpPr>
            <p:nvPr/>
          </p:nvCxnSpPr>
          <p:spPr>
            <a:xfrm>
              <a:off x="3582123" y="3022765"/>
              <a:ext cx="60970" cy="439499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C14D8FF-FE3B-EB62-F0F3-924A4CBDE8C2}"/>
              </a:ext>
            </a:extLst>
          </p:cNvPr>
          <p:cNvGrpSpPr/>
          <p:nvPr/>
        </p:nvGrpSpPr>
        <p:grpSpPr>
          <a:xfrm>
            <a:off x="153842" y="4501293"/>
            <a:ext cx="4046683" cy="1569660"/>
            <a:chOff x="153842" y="4501293"/>
            <a:chExt cx="4046683" cy="1569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491334AB-5A45-08B3-6E98-DF6E02933772}"/>
                    </a:ext>
                  </a:extLst>
                </p:cNvPr>
                <p:cNvSpPr txBox="1"/>
                <p:nvPr/>
              </p:nvSpPr>
              <p:spPr>
                <a:xfrm>
                  <a:off x="153842" y="4501293"/>
                  <a:ext cx="4046683" cy="1569660"/>
                </a:xfrm>
                <a:prstGeom prst="rect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US" sz="16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endParaRPr>
                </a:p>
                <a:p>
                  <a:endParaRPr lang="en-US" sz="16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endParaRPr>
                </a:p>
                <a:p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The optimization algorithm requires that the policy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 be differentiable in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, which eliminates being able to include fixed order costs. </a:t>
                  </a:r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491334AB-5A45-08B3-6E98-DF6E02933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842" y="4501293"/>
                  <a:ext cx="4046683" cy="1569660"/>
                </a:xfrm>
                <a:prstGeom prst="rect">
                  <a:avLst/>
                </a:prstGeom>
                <a:blipFill>
                  <a:blip r:embed="rId3"/>
                  <a:stretch>
                    <a:fillRect l="-600" r="-300" b="-3065"/>
                  </a:stretch>
                </a:blipFill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0873998D-59AE-053C-2B60-BDA26F52D4C5}"/>
                    </a:ext>
                  </a:extLst>
                </p:cNvPr>
                <p:cNvSpPr txBox="1"/>
                <p:nvPr/>
              </p:nvSpPr>
              <p:spPr>
                <a:xfrm>
                  <a:off x="531798" y="4593264"/>
                  <a:ext cx="2950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0873998D-59AE-053C-2B60-BDA26F52D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98" y="4593264"/>
                  <a:ext cx="295068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CA144677-7928-0EA1-E21C-1617361EB089}"/>
                  </a:ext>
                </a:extLst>
              </p:cNvPr>
              <p:cNvSpPr txBox="1"/>
              <p:nvPr/>
            </p:nvSpPr>
            <p:spPr>
              <a:xfrm>
                <a:off x="6891276" y="2401562"/>
                <a:ext cx="53311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Raleway" pitchFamily="2" charset="0"/>
                  </a:rPr>
                  <a:t>Simulate following historical sample path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CA144677-7928-0EA1-E21C-1617361E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276" y="2401562"/>
                <a:ext cx="5331139" cy="400110"/>
              </a:xfrm>
              <a:prstGeom prst="rect">
                <a:avLst/>
              </a:prstGeom>
              <a:blipFill>
                <a:blip r:embed="rId7"/>
                <a:stretch>
                  <a:fillRect l="-1143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A56A796-7043-6FAA-8739-5409289C80C3}"/>
              </a:ext>
            </a:extLst>
          </p:cNvPr>
          <p:cNvGrpSpPr/>
          <p:nvPr/>
        </p:nvGrpSpPr>
        <p:grpSpPr>
          <a:xfrm>
            <a:off x="5262654" y="2341965"/>
            <a:ext cx="6230670" cy="4106364"/>
            <a:chOff x="5748429" y="2599140"/>
            <a:chExt cx="6230670" cy="4106364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1FCE916-941E-F023-29D0-592D5F3FCDEE}"/>
                </a:ext>
              </a:extLst>
            </p:cNvPr>
            <p:cNvGrpSpPr/>
            <p:nvPr/>
          </p:nvGrpSpPr>
          <p:grpSpPr>
            <a:xfrm>
              <a:off x="5748429" y="2599140"/>
              <a:ext cx="6230670" cy="4106364"/>
              <a:chOff x="5748429" y="2599140"/>
              <a:chExt cx="6230670" cy="4106364"/>
            </a:xfrm>
          </p:grpSpPr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E9AC295D-5AA8-3551-0D46-AEAEADF1275C}"/>
                  </a:ext>
                </a:extLst>
              </p:cNvPr>
              <p:cNvGrpSpPr/>
              <p:nvPr/>
            </p:nvGrpSpPr>
            <p:grpSpPr>
              <a:xfrm>
                <a:off x="5748429" y="2599140"/>
                <a:ext cx="6221706" cy="4106364"/>
                <a:chOff x="5748429" y="2599140"/>
                <a:chExt cx="6221706" cy="4106364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29B3401D-758A-C175-149B-A0EB515C7BCA}"/>
                    </a:ext>
                  </a:extLst>
                </p:cNvPr>
                <p:cNvGrpSpPr/>
                <p:nvPr/>
              </p:nvGrpSpPr>
              <p:grpSpPr>
                <a:xfrm>
                  <a:off x="7602392" y="3701826"/>
                  <a:ext cx="3863590" cy="2599440"/>
                  <a:chOff x="1727057" y="1494308"/>
                  <a:chExt cx="7402703" cy="4318000"/>
                </a:xfrm>
              </p:grpSpPr>
              <p:sp>
                <p:nvSpPr>
                  <p:cNvPr id="7" name="Oval 2">
                    <a:extLst>
                      <a:ext uri="{FF2B5EF4-FFF2-40B4-BE49-F238E27FC236}">
                        <a16:creationId xmlns:a16="http://schemas.microsoft.com/office/drawing/2014/main" id="{8C05A8AA-76CB-B2DE-F98F-355EF93FE7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35057" y="14943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" name="Oval 3">
                    <a:extLst>
                      <a:ext uri="{FF2B5EF4-FFF2-40B4-BE49-F238E27FC236}">
                        <a16:creationId xmlns:a16="http://schemas.microsoft.com/office/drawing/2014/main" id="{724CF066-723C-79BD-5A12-3D78515585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35057" y="22055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9" name="Oval 4">
                    <a:extLst>
                      <a:ext uri="{FF2B5EF4-FFF2-40B4-BE49-F238E27FC236}">
                        <a16:creationId xmlns:a16="http://schemas.microsoft.com/office/drawing/2014/main" id="{7BB1F563-9D92-618E-8C5B-D95819BFDC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35057" y="28786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0" name="Oval 5">
                    <a:extLst>
                      <a:ext uri="{FF2B5EF4-FFF2-40B4-BE49-F238E27FC236}">
                        <a16:creationId xmlns:a16="http://schemas.microsoft.com/office/drawing/2014/main" id="{970756D9-2465-6284-E59A-E9C8A99A97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35057" y="35644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1" name="Oval 6">
                    <a:extLst>
                      <a:ext uri="{FF2B5EF4-FFF2-40B4-BE49-F238E27FC236}">
                        <a16:creationId xmlns:a16="http://schemas.microsoft.com/office/drawing/2014/main" id="{D58ED52C-65AB-5314-62C7-7449B5849C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35057" y="42629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2" name="Oval 7">
                    <a:extLst>
                      <a:ext uri="{FF2B5EF4-FFF2-40B4-BE49-F238E27FC236}">
                        <a16:creationId xmlns:a16="http://schemas.microsoft.com/office/drawing/2014/main" id="{586924A6-3336-AB76-DCBC-3999BC4031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35057" y="49487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3" name="Oval 8">
                    <a:extLst>
                      <a:ext uri="{FF2B5EF4-FFF2-40B4-BE49-F238E27FC236}">
                        <a16:creationId xmlns:a16="http://schemas.microsoft.com/office/drawing/2014/main" id="{2695AFAA-EFCC-73C8-F555-161604D7AC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35057" y="56345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4" name="Oval 9">
                    <a:extLst>
                      <a:ext uri="{FF2B5EF4-FFF2-40B4-BE49-F238E27FC236}">
                        <a16:creationId xmlns:a16="http://schemas.microsoft.com/office/drawing/2014/main" id="{0DAF38FC-03D5-37B2-698B-A7AE9DF93D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74932" y="1834033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5" name="Line 10">
                    <a:extLst>
                      <a:ext uri="{FF2B5EF4-FFF2-40B4-BE49-F238E27FC236}">
                        <a16:creationId xmlns:a16="http://schemas.microsoft.com/office/drawing/2014/main" id="{96F0BA01-A046-B5FB-1280-757493E430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7057" y="1583208"/>
                    <a:ext cx="49530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" name="Line 11">
                    <a:extLst>
                      <a:ext uri="{FF2B5EF4-FFF2-40B4-BE49-F238E27FC236}">
                        <a16:creationId xmlns:a16="http://schemas.microsoft.com/office/drawing/2014/main" id="{48BD8B85-3514-D341-5F98-74E0C690DC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7057" y="2281708"/>
                    <a:ext cx="49530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7" name="Line 12">
                    <a:extLst>
                      <a:ext uri="{FF2B5EF4-FFF2-40B4-BE49-F238E27FC236}">
                        <a16:creationId xmlns:a16="http://schemas.microsoft.com/office/drawing/2014/main" id="{1FCA0308-7E80-6B1A-9667-F9B469277F9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39757" y="2967508"/>
                    <a:ext cx="49530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" name="Line 13">
                    <a:extLst>
                      <a:ext uri="{FF2B5EF4-FFF2-40B4-BE49-F238E27FC236}">
                        <a16:creationId xmlns:a16="http://schemas.microsoft.com/office/drawing/2014/main" id="{D2956EDB-83F9-6ABB-0A4B-0BD1964F3F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7057" y="3653308"/>
                    <a:ext cx="49530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" name="Line 14">
                    <a:extLst>
                      <a:ext uri="{FF2B5EF4-FFF2-40B4-BE49-F238E27FC236}">
                        <a16:creationId xmlns:a16="http://schemas.microsoft.com/office/drawing/2014/main" id="{7D00B500-2396-5B3B-A607-683BC393A3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7057" y="4351808"/>
                    <a:ext cx="49530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" name="Line 15">
                    <a:extLst>
                      <a:ext uri="{FF2B5EF4-FFF2-40B4-BE49-F238E27FC236}">
                        <a16:creationId xmlns:a16="http://schemas.microsoft.com/office/drawing/2014/main" id="{668A029A-DDAE-F1A0-5665-8BFFF8C375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39757" y="5037608"/>
                    <a:ext cx="49530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1" name="Line 16">
                    <a:extLst>
                      <a:ext uri="{FF2B5EF4-FFF2-40B4-BE49-F238E27FC236}">
                        <a16:creationId xmlns:a16="http://schemas.microsoft.com/office/drawing/2014/main" id="{47D312E0-52CA-1EBA-01B9-1434017720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7057" y="5736108"/>
                    <a:ext cx="49530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22" name="AutoShape 17">
                    <a:extLst>
                      <a:ext uri="{FF2B5EF4-FFF2-40B4-BE49-F238E27FC236}">
                        <a16:creationId xmlns:a16="http://schemas.microsoft.com/office/drawing/2014/main" id="{7E8345E1-1AC4-5149-2DF0-275617B33819}"/>
                      </a:ext>
                    </a:extLst>
                  </p:cNvPr>
                  <p:cNvCxnSpPr>
                    <a:cxnSpLocks noChangeShapeType="1"/>
                    <a:stCxn id="13" idx="6"/>
                    <a:endCxn id="14" idx="2"/>
                  </p:cNvCxnSpPr>
                  <p:nvPr/>
                </p:nvCxnSpPr>
                <p:spPr bwMode="auto">
                  <a:xfrm flipV="1">
                    <a:off x="2422382" y="1994370"/>
                    <a:ext cx="1343025" cy="37290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3" name="AutoShape 18">
                    <a:extLst>
                      <a:ext uri="{FF2B5EF4-FFF2-40B4-BE49-F238E27FC236}">
                        <a16:creationId xmlns:a16="http://schemas.microsoft.com/office/drawing/2014/main" id="{FF1000FF-4F11-4F30-01A6-D2BF45ED3037}"/>
                      </a:ext>
                    </a:extLst>
                  </p:cNvPr>
                  <p:cNvCxnSpPr>
                    <a:cxnSpLocks noChangeShapeType="1"/>
                    <a:stCxn id="12" idx="6"/>
                    <a:endCxn id="14" idx="2"/>
                  </p:cNvCxnSpPr>
                  <p:nvPr/>
                </p:nvCxnSpPr>
                <p:spPr bwMode="auto">
                  <a:xfrm flipV="1">
                    <a:off x="2422382" y="1994370"/>
                    <a:ext cx="1343025" cy="30432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4" name="AutoShape 19">
                    <a:extLst>
                      <a:ext uri="{FF2B5EF4-FFF2-40B4-BE49-F238E27FC236}">
                        <a16:creationId xmlns:a16="http://schemas.microsoft.com/office/drawing/2014/main" id="{DC912397-0081-05EE-2D1E-09231F9C1B2A}"/>
                      </a:ext>
                    </a:extLst>
                  </p:cNvPr>
                  <p:cNvCxnSpPr>
                    <a:cxnSpLocks noChangeShapeType="1"/>
                    <a:stCxn id="11" idx="6"/>
                    <a:endCxn id="14" idx="2"/>
                  </p:cNvCxnSpPr>
                  <p:nvPr/>
                </p:nvCxnSpPr>
                <p:spPr bwMode="auto">
                  <a:xfrm flipV="1">
                    <a:off x="2422382" y="1994370"/>
                    <a:ext cx="1343025" cy="23574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5" name="AutoShape 20">
                    <a:extLst>
                      <a:ext uri="{FF2B5EF4-FFF2-40B4-BE49-F238E27FC236}">
                        <a16:creationId xmlns:a16="http://schemas.microsoft.com/office/drawing/2014/main" id="{36155F3E-8635-A5A9-C740-7CBFD07CF1C9}"/>
                      </a:ext>
                    </a:extLst>
                  </p:cNvPr>
                  <p:cNvCxnSpPr>
                    <a:cxnSpLocks noChangeShapeType="1"/>
                    <a:stCxn id="10" idx="6"/>
                    <a:endCxn id="14" idx="2"/>
                  </p:cNvCxnSpPr>
                  <p:nvPr/>
                </p:nvCxnSpPr>
                <p:spPr bwMode="auto">
                  <a:xfrm flipV="1">
                    <a:off x="2422382" y="1994370"/>
                    <a:ext cx="1343025" cy="16589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6" name="AutoShape 21">
                    <a:extLst>
                      <a:ext uri="{FF2B5EF4-FFF2-40B4-BE49-F238E27FC236}">
                        <a16:creationId xmlns:a16="http://schemas.microsoft.com/office/drawing/2014/main" id="{32FA008C-DB53-3487-BD98-6628185CAAE4}"/>
                      </a:ext>
                    </a:extLst>
                  </p:cNvPr>
                  <p:cNvCxnSpPr>
                    <a:cxnSpLocks noChangeShapeType="1"/>
                    <a:stCxn id="9" idx="6"/>
                    <a:endCxn id="14" idx="2"/>
                  </p:cNvCxnSpPr>
                  <p:nvPr/>
                </p:nvCxnSpPr>
                <p:spPr bwMode="auto">
                  <a:xfrm flipV="1">
                    <a:off x="2422382" y="1994370"/>
                    <a:ext cx="1343025" cy="9731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7" name="AutoShape 22">
                    <a:extLst>
                      <a:ext uri="{FF2B5EF4-FFF2-40B4-BE49-F238E27FC236}">
                        <a16:creationId xmlns:a16="http://schemas.microsoft.com/office/drawing/2014/main" id="{4953F99D-FE0E-0FF1-1F12-0E58C2797213}"/>
                      </a:ext>
                    </a:extLst>
                  </p:cNvPr>
                  <p:cNvCxnSpPr>
                    <a:cxnSpLocks noChangeShapeType="1"/>
                    <a:stCxn id="8" idx="6"/>
                    <a:endCxn id="14" idx="2"/>
                  </p:cNvCxnSpPr>
                  <p:nvPr/>
                </p:nvCxnSpPr>
                <p:spPr bwMode="auto">
                  <a:xfrm flipV="1">
                    <a:off x="2422382" y="1994370"/>
                    <a:ext cx="1343025" cy="3000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8" name="AutoShape 23">
                    <a:extLst>
                      <a:ext uri="{FF2B5EF4-FFF2-40B4-BE49-F238E27FC236}">
                        <a16:creationId xmlns:a16="http://schemas.microsoft.com/office/drawing/2014/main" id="{48A6E785-A8E6-264D-92F3-0B0158949D93}"/>
                      </a:ext>
                    </a:extLst>
                  </p:cNvPr>
                  <p:cNvCxnSpPr>
                    <a:cxnSpLocks noChangeShapeType="1"/>
                    <a:stCxn id="7" idx="6"/>
                    <a:endCxn id="14" idx="2"/>
                  </p:cNvCxnSpPr>
                  <p:nvPr/>
                </p:nvCxnSpPr>
                <p:spPr bwMode="auto">
                  <a:xfrm>
                    <a:off x="2422382" y="1583208"/>
                    <a:ext cx="1343025" cy="4111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29" name="Freeform 41">
                    <a:extLst>
                      <a:ext uri="{FF2B5EF4-FFF2-40B4-BE49-F238E27FC236}">
                        <a16:creationId xmlns:a16="http://schemas.microsoft.com/office/drawing/2014/main" id="{256CC8AC-BA5B-2C53-1E68-3825E79B33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14620" y="1938808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0" name="Oval 43">
                    <a:extLst>
                      <a:ext uri="{FF2B5EF4-FFF2-40B4-BE49-F238E27FC236}">
                        <a16:creationId xmlns:a16="http://schemas.microsoft.com/office/drawing/2014/main" id="{4DE04603-5929-E307-6AAA-F8A3D3E96E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71757" y="3011958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cxnSp>
                <p:nvCxnSpPr>
                  <p:cNvPr id="31" name="AutoShape 44">
                    <a:extLst>
                      <a:ext uri="{FF2B5EF4-FFF2-40B4-BE49-F238E27FC236}">
                        <a16:creationId xmlns:a16="http://schemas.microsoft.com/office/drawing/2014/main" id="{A675A9E6-6272-E2DD-73EC-80E358A1F517}"/>
                      </a:ext>
                    </a:extLst>
                  </p:cNvPr>
                  <p:cNvCxnSpPr>
                    <a:cxnSpLocks noChangeShapeType="1"/>
                    <a:stCxn id="13" idx="6"/>
                    <a:endCxn id="30" idx="2"/>
                  </p:cNvCxnSpPr>
                  <p:nvPr/>
                </p:nvCxnSpPr>
                <p:spPr bwMode="auto">
                  <a:xfrm flipV="1">
                    <a:off x="2422382" y="3172295"/>
                    <a:ext cx="1339850" cy="255111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32" name="AutoShape 45">
                    <a:extLst>
                      <a:ext uri="{FF2B5EF4-FFF2-40B4-BE49-F238E27FC236}">
                        <a16:creationId xmlns:a16="http://schemas.microsoft.com/office/drawing/2014/main" id="{EE214019-C66C-2C0A-8AB0-B8F954BBC0CC}"/>
                      </a:ext>
                    </a:extLst>
                  </p:cNvPr>
                  <p:cNvCxnSpPr>
                    <a:cxnSpLocks noChangeShapeType="1"/>
                    <a:stCxn id="12" idx="6"/>
                    <a:endCxn id="30" idx="2"/>
                  </p:cNvCxnSpPr>
                  <p:nvPr/>
                </p:nvCxnSpPr>
                <p:spPr bwMode="auto">
                  <a:xfrm flipV="1">
                    <a:off x="2422382" y="3172295"/>
                    <a:ext cx="1339850" cy="186531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33" name="AutoShape 46">
                    <a:extLst>
                      <a:ext uri="{FF2B5EF4-FFF2-40B4-BE49-F238E27FC236}">
                        <a16:creationId xmlns:a16="http://schemas.microsoft.com/office/drawing/2014/main" id="{8D784513-ADAB-DC16-E885-7D9B865B0D17}"/>
                      </a:ext>
                    </a:extLst>
                  </p:cNvPr>
                  <p:cNvCxnSpPr>
                    <a:cxnSpLocks noChangeShapeType="1"/>
                    <a:stCxn id="11" idx="6"/>
                    <a:endCxn id="30" idx="2"/>
                  </p:cNvCxnSpPr>
                  <p:nvPr/>
                </p:nvCxnSpPr>
                <p:spPr bwMode="auto">
                  <a:xfrm flipV="1">
                    <a:off x="2422382" y="3172295"/>
                    <a:ext cx="1339850" cy="117951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34" name="AutoShape 47">
                    <a:extLst>
                      <a:ext uri="{FF2B5EF4-FFF2-40B4-BE49-F238E27FC236}">
                        <a16:creationId xmlns:a16="http://schemas.microsoft.com/office/drawing/2014/main" id="{65B4FD80-41B3-291C-B4A9-AEA52972C935}"/>
                      </a:ext>
                    </a:extLst>
                  </p:cNvPr>
                  <p:cNvCxnSpPr>
                    <a:cxnSpLocks noChangeShapeType="1"/>
                    <a:stCxn id="10" idx="6"/>
                    <a:endCxn id="30" idx="2"/>
                  </p:cNvCxnSpPr>
                  <p:nvPr/>
                </p:nvCxnSpPr>
                <p:spPr bwMode="auto">
                  <a:xfrm flipV="1">
                    <a:off x="2422382" y="3172295"/>
                    <a:ext cx="1339850" cy="48101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35" name="AutoShape 48">
                    <a:extLst>
                      <a:ext uri="{FF2B5EF4-FFF2-40B4-BE49-F238E27FC236}">
                        <a16:creationId xmlns:a16="http://schemas.microsoft.com/office/drawing/2014/main" id="{204134F3-6916-D830-AECB-67FF4FE1F3A7}"/>
                      </a:ext>
                    </a:extLst>
                  </p:cNvPr>
                  <p:cNvCxnSpPr>
                    <a:cxnSpLocks noChangeShapeType="1"/>
                    <a:stCxn id="9" idx="6"/>
                    <a:endCxn id="30" idx="2"/>
                  </p:cNvCxnSpPr>
                  <p:nvPr/>
                </p:nvCxnSpPr>
                <p:spPr bwMode="auto">
                  <a:xfrm>
                    <a:off x="2422382" y="2967508"/>
                    <a:ext cx="1339850" cy="2047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36" name="AutoShape 49">
                    <a:extLst>
                      <a:ext uri="{FF2B5EF4-FFF2-40B4-BE49-F238E27FC236}">
                        <a16:creationId xmlns:a16="http://schemas.microsoft.com/office/drawing/2014/main" id="{5CB455AA-2012-7829-F611-465CC629A21C}"/>
                      </a:ext>
                    </a:extLst>
                  </p:cNvPr>
                  <p:cNvCxnSpPr>
                    <a:cxnSpLocks noChangeShapeType="1"/>
                    <a:stCxn id="8" idx="6"/>
                    <a:endCxn id="30" idx="2"/>
                  </p:cNvCxnSpPr>
                  <p:nvPr/>
                </p:nvCxnSpPr>
                <p:spPr bwMode="auto">
                  <a:xfrm>
                    <a:off x="2422382" y="2294408"/>
                    <a:ext cx="1339850" cy="8778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37" name="AutoShape 50">
                    <a:extLst>
                      <a:ext uri="{FF2B5EF4-FFF2-40B4-BE49-F238E27FC236}">
                        <a16:creationId xmlns:a16="http://schemas.microsoft.com/office/drawing/2014/main" id="{74AF4E7F-C67E-41B2-8C80-57AE57C57683}"/>
                      </a:ext>
                    </a:extLst>
                  </p:cNvPr>
                  <p:cNvCxnSpPr>
                    <a:cxnSpLocks noChangeShapeType="1"/>
                    <a:stCxn id="7" idx="6"/>
                    <a:endCxn id="30" idx="2"/>
                  </p:cNvCxnSpPr>
                  <p:nvPr/>
                </p:nvCxnSpPr>
                <p:spPr bwMode="auto">
                  <a:xfrm>
                    <a:off x="2422382" y="1583208"/>
                    <a:ext cx="1339850" cy="15890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38" name="Oval 54">
                    <a:extLst>
                      <a:ext uri="{FF2B5EF4-FFF2-40B4-BE49-F238E27FC236}">
                        <a16:creationId xmlns:a16="http://schemas.microsoft.com/office/drawing/2014/main" id="{2D18A955-86EA-7435-877A-8BD2EAB5C1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74932" y="4170833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cxnSp>
                <p:nvCxnSpPr>
                  <p:cNvPr id="39" name="AutoShape 55">
                    <a:extLst>
                      <a:ext uri="{FF2B5EF4-FFF2-40B4-BE49-F238E27FC236}">
                        <a16:creationId xmlns:a16="http://schemas.microsoft.com/office/drawing/2014/main" id="{F3579433-295C-4324-5F34-A91F2D98F33E}"/>
                      </a:ext>
                    </a:extLst>
                  </p:cNvPr>
                  <p:cNvCxnSpPr>
                    <a:cxnSpLocks noChangeShapeType="1"/>
                    <a:stCxn id="13" idx="6"/>
                    <a:endCxn id="38" idx="2"/>
                  </p:cNvCxnSpPr>
                  <p:nvPr/>
                </p:nvCxnSpPr>
                <p:spPr bwMode="auto">
                  <a:xfrm flipV="1">
                    <a:off x="2422382" y="4331170"/>
                    <a:ext cx="1343025" cy="13922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0" name="AutoShape 56">
                    <a:extLst>
                      <a:ext uri="{FF2B5EF4-FFF2-40B4-BE49-F238E27FC236}">
                        <a16:creationId xmlns:a16="http://schemas.microsoft.com/office/drawing/2014/main" id="{3366FEDA-53A5-7FE7-B943-AC2A9A923356}"/>
                      </a:ext>
                    </a:extLst>
                  </p:cNvPr>
                  <p:cNvCxnSpPr>
                    <a:cxnSpLocks noChangeShapeType="1"/>
                    <a:stCxn id="12" idx="6"/>
                    <a:endCxn id="38" idx="2"/>
                  </p:cNvCxnSpPr>
                  <p:nvPr/>
                </p:nvCxnSpPr>
                <p:spPr bwMode="auto">
                  <a:xfrm flipV="1">
                    <a:off x="2422382" y="4331170"/>
                    <a:ext cx="1343025" cy="7064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1" name="AutoShape 57">
                    <a:extLst>
                      <a:ext uri="{FF2B5EF4-FFF2-40B4-BE49-F238E27FC236}">
                        <a16:creationId xmlns:a16="http://schemas.microsoft.com/office/drawing/2014/main" id="{12E47977-31E1-6828-5F86-0F51C8A0E653}"/>
                      </a:ext>
                    </a:extLst>
                  </p:cNvPr>
                  <p:cNvCxnSpPr>
                    <a:cxnSpLocks noChangeShapeType="1"/>
                    <a:stCxn id="11" idx="6"/>
                    <a:endCxn id="38" idx="2"/>
                  </p:cNvCxnSpPr>
                  <p:nvPr/>
                </p:nvCxnSpPr>
                <p:spPr bwMode="auto">
                  <a:xfrm flipV="1">
                    <a:off x="2422382" y="4331170"/>
                    <a:ext cx="1343025" cy="206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2" name="AutoShape 58">
                    <a:extLst>
                      <a:ext uri="{FF2B5EF4-FFF2-40B4-BE49-F238E27FC236}">
                        <a16:creationId xmlns:a16="http://schemas.microsoft.com/office/drawing/2014/main" id="{DF605833-460C-5374-5DB0-7D98E9599D92}"/>
                      </a:ext>
                    </a:extLst>
                  </p:cNvPr>
                  <p:cNvCxnSpPr>
                    <a:cxnSpLocks noChangeShapeType="1"/>
                    <a:stCxn id="10" idx="6"/>
                    <a:endCxn id="38" idx="2"/>
                  </p:cNvCxnSpPr>
                  <p:nvPr/>
                </p:nvCxnSpPr>
                <p:spPr bwMode="auto">
                  <a:xfrm>
                    <a:off x="2422382" y="3653308"/>
                    <a:ext cx="1343025" cy="6778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3" name="AutoShape 59">
                    <a:extLst>
                      <a:ext uri="{FF2B5EF4-FFF2-40B4-BE49-F238E27FC236}">
                        <a16:creationId xmlns:a16="http://schemas.microsoft.com/office/drawing/2014/main" id="{4D663DEB-DA61-354D-A5BE-93B978200836}"/>
                      </a:ext>
                    </a:extLst>
                  </p:cNvPr>
                  <p:cNvCxnSpPr>
                    <a:cxnSpLocks noChangeShapeType="1"/>
                    <a:stCxn id="9" idx="6"/>
                    <a:endCxn id="38" idx="2"/>
                  </p:cNvCxnSpPr>
                  <p:nvPr/>
                </p:nvCxnSpPr>
                <p:spPr bwMode="auto">
                  <a:xfrm>
                    <a:off x="2422382" y="2967508"/>
                    <a:ext cx="1343025" cy="13636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4" name="AutoShape 60">
                    <a:extLst>
                      <a:ext uri="{FF2B5EF4-FFF2-40B4-BE49-F238E27FC236}">
                        <a16:creationId xmlns:a16="http://schemas.microsoft.com/office/drawing/2014/main" id="{B0B26CB9-9256-EEF8-371D-36C7E4CAB5F9}"/>
                      </a:ext>
                    </a:extLst>
                  </p:cNvPr>
                  <p:cNvCxnSpPr>
                    <a:cxnSpLocks noChangeShapeType="1"/>
                    <a:stCxn id="8" idx="6"/>
                    <a:endCxn id="38" idx="2"/>
                  </p:cNvCxnSpPr>
                  <p:nvPr/>
                </p:nvCxnSpPr>
                <p:spPr bwMode="auto">
                  <a:xfrm>
                    <a:off x="2422382" y="2294408"/>
                    <a:ext cx="1343025" cy="20367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5" name="AutoShape 61">
                    <a:extLst>
                      <a:ext uri="{FF2B5EF4-FFF2-40B4-BE49-F238E27FC236}">
                        <a16:creationId xmlns:a16="http://schemas.microsoft.com/office/drawing/2014/main" id="{5F13369D-31EE-5496-96CF-E1FCF9BB8558}"/>
                      </a:ext>
                    </a:extLst>
                  </p:cNvPr>
                  <p:cNvCxnSpPr>
                    <a:cxnSpLocks noChangeShapeType="1"/>
                    <a:stCxn id="7" idx="6"/>
                    <a:endCxn id="38" idx="2"/>
                  </p:cNvCxnSpPr>
                  <p:nvPr/>
                </p:nvCxnSpPr>
                <p:spPr bwMode="auto">
                  <a:xfrm>
                    <a:off x="2422382" y="1583208"/>
                    <a:ext cx="1343025" cy="27479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46" name="Oval 64">
                    <a:extLst>
                      <a:ext uri="{FF2B5EF4-FFF2-40B4-BE49-F238E27FC236}">
                        <a16:creationId xmlns:a16="http://schemas.microsoft.com/office/drawing/2014/main" id="{D24410D3-41E9-1E49-2A0E-5E2E30AD91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8582" y="5339233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cxnSp>
                <p:nvCxnSpPr>
                  <p:cNvPr id="47" name="AutoShape 65">
                    <a:extLst>
                      <a:ext uri="{FF2B5EF4-FFF2-40B4-BE49-F238E27FC236}">
                        <a16:creationId xmlns:a16="http://schemas.microsoft.com/office/drawing/2014/main" id="{50D2DE33-A425-3431-56F3-716FE75CE714}"/>
                      </a:ext>
                    </a:extLst>
                  </p:cNvPr>
                  <p:cNvCxnSpPr>
                    <a:cxnSpLocks noChangeShapeType="1"/>
                    <a:stCxn id="13" idx="6"/>
                    <a:endCxn id="46" idx="2"/>
                  </p:cNvCxnSpPr>
                  <p:nvPr/>
                </p:nvCxnSpPr>
                <p:spPr bwMode="auto">
                  <a:xfrm flipV="1">
                    <a:off x="2422382" y="5499570"/>
                    <a:ext cx="1336675" cy="2238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8" name="AutoShape 66">
                    <a:extLst>
                      <a:ext uri="{FF2B5EF4-FFF2-40B4-BE49-F238E27FC236}">
                        <a16:creationId xmlns:a16="http://schemas.microsoft.com/office/drawing/2014/main" id="{A75AEFA3-705A-AAF7-A5C1-8F019C89EC98}"/>
                      </a:ext>
                    </a:extLst>
                  </p:cNvPr>
                  <p:cNvCxnSpPr>
                    <a:cxnSpLocks noChangeShapeType="1"/>
                    <a:stCxn id="12" idx="6"/>
                    <a:endCxn id="46" idx="2"/>
                  </p:cNvCxnSpPr>
                  <p:nvPr/>
                </p:nvCxnSpPr>
                <p:spPr bwMode="auto">
                  <a:xfrm>
                    <a:off x="2422382" y="5037608"/>
                    <a:ext cx="1336675" cy="4619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9" name="AutoShape 67">
                    <a:extLst>
                      <a:ext uri="{FF2B5EF4-FFF2-40B4-BE49-F238E27FC236}">
                        <a16:creationId xmlns:a16="http://schemas.microsoft.com/office/drawing/2014/main" id="{F72A2773-154C-D1F5-9A42-13D536B68ECF}"/>
                      </a:ext>
                    </a:extLst>
                  </p:cNvPr>
                  <p:cNvCxnSpPr>
                    <a:cxnSpLocks noChangeShapeType="1"/>
                    <a:stCxn id="11" idx="6"/>
                    <a:endCxn id="46" idx="2"/>
                  </p:cNvCxnSpPr>
                  <p:nvPr/>
                </p:nvCxnSpPr>
                <p:spPr bwMode="auto">
                  <a:xfrm>
                    <a:off x="2422382" y="4351808"/>
                    <a:ext cx="1336675" cy="11477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50" name="AutoShape 68">
                    <a:extLst>
                      <a:ext uri="{FF2B5EF4-FFF2-40B4-BE49-F238E27FC236}">
                        <a16:creationId xmlns:a16="http://schemas.microsoft.com/office/drawing/2014/main" id="{896257B0-34CC-A0CC-1251-C5346368B940}"/>
                      </a:ext>
                    </a:extLst>
                  </p:cNvPr>
                  <p:cNvCxnSpPr>
                    <a:cxnSpLocks noChangeShapeType="1"/>
                    <a:stCxn id="10" idx="6"/>
                    <a:endCxn id="46" idx="2"/>
                  </p:cNvCxnSpPr>
                  <p:nvPr/>
                </p:nvCxnSpPr>
                <p:spPr bwMode="auto">
                  <a:xfrm>
                    <a:off x="2422382" y="3653308"/>
                    <a:ext cx="1336675" cy="18462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51" name="AutoShape 69">
                    <a:extLst>
                      <a:ext uri="{FF2B5EF4-FFF2-40B4-BE49-F238E27FC236}">
                        <a16:creationId xmlns:a16="http://schemas.microsoft.com/office/drawing/2014/main" id="{04478285-C012-F7F2-D3A2-7E382CBF81B6}"/>
                      </a:ext>
                    </a:extLst>
                  </p:cNvPr>
                  <p:cNvCxnSpPr>
                    <a:cxnSpLocks noChangeShapeType="1"/>
                    <a:stCxn id="9" idx="6"/>
                    <a:endCxn id="46" idx="2"/>
                  </p:cNvCxnSpPr>
                  <p:nvPr/>
                </p:nvCxnSpPr>
                <p:spPr bwMode="auto">
                  <a:xfrm>
                    <a:off x="2422382" y="2967508"/>
                    <a:ext cx="1336675" cy="25320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52" name="AutoShape 70">
                    <a:extLst>
                      <a:ext uri="{FF2B5EF4-FFF2-40B4-BE49-F238E27FC236}">
                        <a16:creationId xmlns:a16="http://schemas.microsoft.com/office/drawing/2014/main" id="{F1A6431A-E57E-EF49-5B79-20E0AB9D145D}"/>
                      </a:ext>
                    </a:extLst>
                  </p:cNvPr>
                  <p:cNvCxnSpPr>
                    <a:cxnSpLocks noChangeShapeType="1"/>
                    <a:stCxn id="8" idx="6"/>
                    <a:endCxn id="46" idx="2"/>
                  </p:cNvCxnSpPr>
                  <p:nvPr/>
                </p:nvCxnSpPr>
                <p:spPr bwMode="auto">
                  <a:xfrm>
                    <a:off x="2422382" y="2294408"/>
                    <a:ext cx="1336675" cy="32051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53" name="AutoShape 71">
                    <a:extLst>
                      <a:ext uri="{FF2B5EF4-FFF2-40B4-BE49-F238E27FC236}">
                        <a16:creationId xmlns:a16="http://schemas.microsoft.com/office/drawing/2014/main" id="{2D26843E-3630-669A-1741-8ED99F1D915A}"/>
                      </a:ext>
                    </a:extLst>
                  </p:cNvPr>
                  <p:cNvCxnSpPr>
                    <a:cxnSpLocks noChangeShapeType="1"/>
                    <a:stCxn id="7" idx="6"/>
                    <a:endCxn id="46" idx="2"/>
                  </p:cNvCxnSpPr>
                  <p:nvPr/>
                </p:nvCxnSpPr>
                <p:spPr bwMode="auto">
                  <a:xfrm>
                    <a:off x="2422382" y="1583208"/>
                    <a:ext cx="1336675" cy="39163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54" name="Freeform 73">
                    <a:extLst>
                      <a:ext uri="{FF2B5EF4-FFF2-40B4-BE49-F238E27FC236}">
                        <a16:creationId xmlns:a16="http://schemas.microsoft.com/office/drawing/2014/main" id="{3C3F0704-00D0-395F-DF79-6167E402CB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05095" y="3119908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74">
                    <a:extLst>
                      <a:ext uri="{FF2B5EF4-FFF2-40B4-BE49-F238E27FC236}">
                        <a16:creationId xmlns:a16="http://schemas.microsoft.com/office/drawing/2014/main" id="{8988A5DB-CA43-1FBA-8FF2-B8E03A31DD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05095" y="4272433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75">
                    <a:extLst>
                      <a:ext uri="{FF2B5EF4-FFF2-40B4-BE49-F238E27FC236}">
                        <a16:creationId xmlns:a16="http://schemas.microsoft.com/office/drawing/2014/main" id="{FEFB6A7E-26AA-54E8-83EE-3AEF41A6F2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14620" y="5453533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57" name="AutoShape 85">
                    <a:extLst>
                      <a:ext uri="{FF2B5EF4-FFF2-40B4-BE49-F238E27FC236}">
                        <a16:creationId xmlns:a16="http://schemas.microsoft.com/office/drawing/2014/main" id="{BD3DDA2E-AEDD-1F26-C763-3C195A9B0DDE}"/>
                      </a:ext>
                    </a:extLst>
                  </p:cNvPr>
                  <p:cNvCxnSpPr>
                    <a:cxnSpLocks noChangeShapeType="1"/>
                    <a:stCxn id="46" idx="6"/>
                    <a:endCxn id="73" idx="2"/>
                  </p:cNvCxnSpPr>
                  <p:nvPr/>
                </p:nvCxnSpPr>
                <p:spPr bwMode="auto">
                  <a:xfrm flipV="1">
                    <a:off x="4089257" y="2005483"/>
                    <a:ext cx="945769" cy="34940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58" name="AutoShape 86">
                    <a:extLst>
                      <a:ext uri="{FF2B5EF4-FFF2-40B4-BE49-F238E27FC236}">
                        <a16:creationId xmlns:a16="http://schemas.microsoft.com/office/drawing/2014/main" id="{E1615E97-30B6-2570-3BE1-B9A416A1E6A2}"/>
                      </a:ext>
                    </a:extLst>
                  </p:cNvPr>
                  <p:cNvCxnSpPr>
                    <a:cxnSpLocks noChangeShapeType="1"/>
                    <a:stCxn id="38" idx="6"/>
                    <a:endCxn id="73" idx="2"/>
                  </p:cNvCxnSpPr>
                  <p:nvPr/>
                </p:nvCxnSpPr>
                <p:spPr bwMode="auto">
                  <a:xfrm flipV="1">
                    <a:off x="4095607" y="2005483"/>
                    <a:ext cx="939419" cy="23256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59" name="AutoShape 87">
                    <a:extLst>
                      <a:ext uri="{FF2B5EF4-FFF2-40B4-BE49-F238E27FC236}">
                        <a16:creationId xmlns:a16="http://schemas.microsoft.com/office/drawing/2014/main" id="{D58F6FF7-2433-9135-5AC5-1C5EB87E03FF}"/>
                      </a:ext>
                    </a:extLst>
                  </p:cNvPr>
                  <p:cNvCxnSpPr>
                    <a:cxnSpLocks noChangeShapeType="1"/>
                    <a:stCxn id="30" idx="6"/>
                    <a:endCxn id="73" idx="2"/>
                  </p:cNvCxnSpPr>
                  <p:nvPr/>
                </p:nvCxnSpPr>
                <p:spPr bwMode="auto">
                  <a:xfrm flipV="1">
                    <a:off x="4092432" y="2005483"/>
                    <a:ext cx="942594" cy="116681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0" name="AutoShape 88">
                    <a:extLst>
                      <a:ext uri="{FF2B5EF4-FFF2-40B4-BE49-F238E27FC236}">
                        <a16:creationId xmlns:a16="http://schemas.microsoft.com/office/drawing/2014/main" id="{73CE5F7C-CBAB-BC6C-18CF-907182CAA6B3}"/>
                      </a:ext>
                    </a:extLst>
                  </p:cNvPr>
                  <p:cNvCxnSpPr>
                    <a:cxnSpLocks noChangeShapeType="1"/>
                    <a:stCxn id="14" idx="6"/>
                    <a:endCxn id="73" idx="2"/>
                  </p:cNvCxnSpPr>
                  <p:nvPr/>
                </p:nvCxnSpPr>
                <p:spPr bwMode="auto">
                  <a:xfrm>
                    <a:off x="4095607" y="1994371"/>
                    <a:ext cx="939419" cy="1111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1" name="AutoShape 92">
                    <a:extLst>
                      <a:ext uri="{FF2B5EF4-FFF2-40B4-BE49-F238E27FC236}">
                        <a16:creationId xmlns:a16="http://schemas.microsoft.com/office/drawing/2014/main" id="{6B6F25EA-6B0A-CF2E-36E5-33E6F752E01B}"/>
                      </a:ext>
                    </a:extLst>
                  </p:cNvPr>
                  <p:cNvCxnSpPr>
                    <a:cxnSpLocks noChangeShapeType="1"/>
                    <a:stCxn id="46" idx="6"/>
                    <a:endCxn id="74" idx="2"/>
                  </p:cNvCxnSpPr>
                  <p:nvPr/>
                </p:nvCxnSpPr>
                <p:spPr bwMode="auto">
                  <a:xfrm flipV="1">
                    <a:off x="4089257" y="3180233"/>
                    <a:ext cx="926719" cy="23193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2" name="AutoShape 93">
                    <a:extLst>
                      <a:ext uri="{FF2B5EF4-FFF2-40B4-BE49-F238E27FC236}">
                        <a16:creationId xmlns:a16="http://schemas.microsoft.com/office/drawing/2014/main" id="{32F282DA-37FD-A693-52CC-C46D80E37BBD}"/>
                      </a:ext>
                    </a:extLst>
                  </p:cNvPr>
                  <p:cNvCxnSpPr>
                    <a:cxnSpLocks noChangeShapeType="1"/>
                    <a:stCxn id="38" idx="6"/>
                    <a:endCxn id="74" idx="2"/>
                  </p:cNvCxnSpPr>
                  <p:nvPr/>
                </p:nvCxnSpPr>
                <p:spPr bwMode="auto">
                  <a:xfrm flipV="1">
                    <a:off x="4095607" y="3180233"/>
                    <a:ext cx="920369" cy="11509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3" name="AutoShape 94">
                    <a:extLst>
                      <a:ext uri="{FF2B5EF4-FFF2-40B4-BE49-F238E27FC236}">
                        <a16:creationId xmlns:a16="http://schemas.microsoft.com/office/drawing/2014/main" id="{107B44D4-18DA-13E9-E5F1-05E8DFBC1CEE}"/>
                      </a:ext>
                    </a:extLst>
                  </p:cNvPr>
                  <p:cNvCxnSpPr>
                    <a:cxnSpLocks noChangeShapeType="1"/>
                    <a:stCxn id="30" idx="6"/>
                    <a:endCxn id="74" idx="2"/>
                  </p:cNvCxnSpPr>
                  <p:nvPr/>
                </p:nvCxnSpPr>
                <p:spPr bwMode="auto">
                  <a:xfrm>
                    <a:off x="4092432" y="3172296"/>
                    <a:ext cx="923544" cy="7937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4" name="AutoShape 95">
                    <a:extLst>
                      <a:ext uri="{FF2B5EF4-FFF2-40B4-BE49-F238E27FC236}">
                        <a16:creationId xmlns:a16="http://schemas.microsoft.com/office/drawing/2014/main" id="{C610C40E-07C5-DF6C-A21D-C61A79ADDCC6}"/>
                      </a:ext>
                    </a:extLst>
                  </p:cNvPr>
                  <p:cNvCxnSpPr>
                    <a:cxnSpLocks noChangeShapeType="1"/>
                    <a:stCxn id="14" idx="6"/>
                    <a:endCxn id="74" idx="2"/>
                  </p:cNvCxnSpPr>
                  <p:nvPr/>
                </p:nvCxnSpPr>
                <p:spPr bwMode="auto">
                  <a:xfrm>
                    <a:off x="4095607" y="1994371"/>
                    <a:ext cx="920369" cy="118586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5" name="AutoShape 99">
                    <a:extLst>
                      <a:ext uri="{FF2B5EF4-FFF2-40B4-BE49-F238E27FC236}">
                        <a16:creationId xmlns:a16="http://schemas.microsoft.com/office/drawing/2014/main" id="{ACB5F82D-2DE0-5077-9A7B-BD035B8F5D97}"/>
                      </a:ext>
                    </a:extLst>
                  </p:cNvPr>
                  <p:cNvCxnSpPr>
                    <a:cxnSpLocks noChangeShapeType="1"/>
                    <a:stCxn id="46" idx="6"/>
                    <a:endCxn id="75" idx="2"/>
                  </p:cNvCxnSpPr>
                  <p:nvPr/>
                </p:nvCxnSpPr>
                <p:spPr bwMode="auto">
                  <a:xfrm flipV="1">
                    <a:off x="4089257" y="4313708"/>
                    <a:ext cx="936244" cy="11858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6" name="AutoShape 100">
                    <a:extLst>
                      <a:ext uri="{FF2B5EF4-FFF2-40B4-BE49-F238E27FC236}">
                        <a16:creationId xmlns:a16="http://schemas.microsoft.com/office/drawing/2014/main" id="{970C6363-12FF-3F15-2FE4-BDF605A7ADBC}"/>
                      </a:ext>
                    </a:extLst>
                  </p:cNvPr>
                  <p:cNvCxnSpPr>
                    <a:cxnSpLocks noChangeShapeType="1"/>
                    <a:stCxn id="38" idx="6"/>
                    <a:endCxn id="75" idx="2"/>
                  </p:cNvCxnSpPr>
                  <p:nvPr/>
                </p:nvCxnSpPr>
                <p:spPr bwMode="auto">
                  <a:xfrm flipV="1">
                    <a:off x="4095607" y="4313708"/>
                    <a:ext cx="929894" cy="174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7" name="AutoShape 101">
                    <a:extLst>
                      <a:ext uri="{FF2B5EF4-FFF2-40B4-BE49-F238E27FC236}">
                        <a16:creationId xmlns:a16="http://schemas.microsoft.com/office/drawing/2014/main" id="{7D7A2EDA-97E9-8DFD-5F55-849C0E9CE1D3}"/>
                      </a:ext>
                    </a:extLst>
                  </p:cNvPr>
                  <p:cNvCxnSpPr>
                    <a:cxnSpLocks noChangeShapeType="1"/>
                    <a:stCxn id="30" idx="6"/>
                    <a:endCxn id="75" idx="2"/>
                  </p:cNvCxnSpPr>
                  <p:nvPr/>
                </p:nvCxnSpPr>
                <p:spPr bwMode="auto">
                  <a:xfrm>
                    <a:off x="4092432" y="3172296"/>
                    <a:ext cx="933069" cy="114141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8" name="AutoShape 102">
                    <a:extLst>
                      <a:ext uri="{FF2B5EF4-FFF2-40B4-BE49-F238E27FC236}">
                        <a16:creationId xmlns:a16="http://schemas.microsoft.com/office/drawing/2014/main" id="{E68BC4BB-B851-910B-5EA9-7D076D11F449}"/>
                      </a:ext>
                    </a:extLst>
                  </p:cNvPr>
                  <p:cNvCxnSpPr>
                    <a:cxnSpLocks noChangeShapeType="1"/>
                    <a:stCxn id="14" idx="6"/>
                    <a:endCxn id="75" idx="2"/>
                  </p:cNvCxnSpPr>
                  <p:nvPr/>
                </p:nvCxnSpPr>
                <p:spPr bwMode="auto">
                  <a:xfrm>
                    <a:off x="4095607" y="1994371"/>
                    <a:ext cx="929894" cy="2319337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69" name="AutoShape 106">
                    <a:extLst>
                      <a:ext uri="{FF2B5EF4-FFF2-40B4-BE49-F238E27FC236}">
                        <a16:creationId xmlns:a16="http://schemas.microsoft.com/office/drawing/2014/main" id="{69D3B1AB-BF8D-F38E-54F8-B95771860EB8}"/>
                      </a:ext>
                    </a:extLst>
                  </p:cNvPr>
                  <p:cNvCxnSpPr>
                    <a:cxnSpLocks noChangeShapeType="1"/>
                    <a:stCxn id="46" idx="6"/>
                    <a:endCxn id="76" idx="2"/>
                  </p:cNvCxnSpPr>
                  <p:nvPr/>
                </p:nvCxnSpPr>
                <p:spPr bwMode="auto">
                  <a:xfrm flipV="1">
                    <a:off x="4089257" y="5485283"/>
                    <a:ext cx="936244" cy="142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70" name="AutoShape 107">
                    <a:extLst>
                      <a:ext uri="{FF2B5EF4-FFF2-40B4-BE49-F238E27FC236}">
                        <a16:creationId xmlns:a16="http://schemas.microsoft.com/office/drawing/2014/main" id="{133ADA42-F9EA-E51F-99A2-CE916AA9C910}"/>
                      </a:ext>
                    </a:extLst>
                  </p:cNvPr>
                  <p:cNvCxnSpPr>
                    <a:cxnSpLocks noChangeShapeType="1"/>
                    <a:stCxn id="38" idx="6"/>
                    <a:endCxn id="76" idx="2"/>
                  </p:cNvCxnSpPr>
                  <p:nvPr/>
                </p:nvCxnSpPr>
                <p:spPr bwMode="auto">
                  <a:xfrm>
                    <a:off x="4095607" y="4331171"/>
                    <a:ext cx="929894" cy="115411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71" name="AutoShape 108">
                    <a:extLst>
                      <a:ext uri="{FF2B5EF4-FFF2-40B4-BE49-F238E27FC236}">
                        <a16:creationId xmlns:a16="http://schemas.microsoft.com/office/drawing/2014/main" id="{8C90D19D-68A1-7C2E-8DED-D0616CA36302}"/>
                      </a:ext>
                    </a:extLst>
                  </p:cNvPr>
                  <p:cNvCxnSpPr>
                    <a:cxnSpLocks noChangeShapeType="1"/>
                    <a:stCxn id="30" idx="6"/>
                    <a:endCxn id="76" idx="2"/>
                  </p:cNvCxnSpPr>
                  <p:nvPr/>
                </p:nvCxnSpPr>
                <p:spPr bwMode="auto">
                  <a:xfrm>
                    <a:off x="4092432" y="3172296"/>
                    <a:ext cx="933069" cy="2312987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72" name="AutoShape 109">
                    <a:extLst>
                      <a:ext uri="{FF2B5EF4-FFF2-40B4-BE49-F238E27FC236}">
                        <a16:creationId xmlns:a16="http://schemas.microsoft.com/office/drawing/2014/main" id="{21045A2E-F99E-6ADB-4BE7-742FE0C1EAFE}"/>
                      </a:ext>
                    </a:extLst>
                  </p:cNvPr>
                  <p:cNvCxnSpPr>
                    <a:cxnSpLocks noChangeShapeType="1"/>
                    <a:stCxn id="14" idx="6"/>
                    <a:endCxn id="76" idx="3"/>
                  </p:cNvCxnSpPr>
                  <p:nvPr/>
                </p:nvCxnSpPr>
                <p:spPr bwMode="auto">
                  <a:xfrm>
                    <a:off x="4095607" y="1994371"/>
                    <a:ext cx="955932" cy="3553774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73" name="Oval 112">
                    <a:extLst>
                      <a:ext uri="{FF2B5EF4-FFF2-40B4-BE49-F238E27FC236}">
                        <a16:creationId xmlns:a16="http://schemas.microsoft.com/office/drawing/2014/main" id="{4E0F9F8D-77EE-65FA-3B58-2B8DD81C3D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35026" y="1916583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74" name="Oval 113">
                    <a:extLst>
                      <a:ext uri="{FF2B5EF4-FFF2-40B4-BE49-F238E27FC236}">
                        <a16:creationId xmlns:a16="http://schemas.microsoft.com/office/drawing/2014/main" id="{4530283A-B987-0743-E70D-4C6D1122F9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15976" y="3091333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75" name="Oval 114">
                    <a:extLst>
                      <a:ext uri="{FF2B5EF4-FFF2-40B4-BE49-F238E27FC236}">
                        <a16:creationId xmlns:a16="http://schemas.microsoft.com/office/drawing/2014/main" id="{D08D0D38-308C-D7BD-9021-3BB058CA29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25501" y="4224808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76" name="Oval 115">
                    <a:extLst>
                      <a:ext uri="{FF2B5EF4-FFF2-40B4-BE49-F238E27FC236}">
                        <a16:creationId xmlns:a16="http://schemas.microsoft.com/office/drawing/2014/main" id="{D2D28EAA-1975-9977-505E-9BAD5C907D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25501" y="5396383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77" name="Oval 116">
                    <a:extLst>
                      <a:ext uri="{FF2B5EF4-FFF2-40B4-BE49-F238E27FC236}">
                        <a16:creationId xmlns:a16="http://schemas.microsoft.com/office/drawing/2014/main" id="{8120E6C0-C547-61E9-9BB3-7FA36AB219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55085" y="3536976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cxnSp>
                <p:nvCxnSpPr>
                  <p:cNvPr id="78" name="AutoShape 117">
                    <a:extLst>
                      <a:ext uri="{FF2B5EF4-FFF2-40B4-BE49-F238E27FC236}">
                        <a16:creationId xmlns:a16="http://schemas.microsoft.com/office/drawing/2014/main" id="{59627FA8-9F9B-EC82-5B0C-0281C8E8C71B}"/>
                      </a:ext>
                    </a:extLst>
                  </p:cNvPr>
                  <p:cNvCxnSpPr>
                    <a:cxnSpLocks noChangeShapeType="1"/>
                    <a:stCxn id="77" idx="6"/>
                  </p:cNvCxnSpPr>
                  <p:nvPr/>
                </p:nvCxnSpPr>
                <p:spPr bwMode="auto">
                  <a:xfrm>
                    <a:off x="8742410" y="3625876"/>
                    <a:ext cx="387350" cy="15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79" name="AutoShape 125">
                    <a:extLst>
                      <a:ext uri="{FF2B5EF4-FFF2-40B4-BE49-F238E27FC236}">
                        <a16:creationId xmlns:a16="http://schemas.microsoft.com/office/drawing/2014/main" id="{4ACA41DC-589C-7FD8-3E14-F43BFA55014C}"/>
                      </a:ext>
                    </a:extLst>
                  </p:cNvPr>
                  <p:cNvCxnSpPr>
                    <a:cxnSpLocks noChangeShapeType="1"/>
                    <a:stCxn id="123" idx="6"/>
                    <a:endCxn id="77" idx="2"/>
                  </p:cNvCxnSpPr>
                  <p:nvPr/>
                </p:nvCxnSpPr>
                <p:spPr bwMode="auto">
                  <a:xfrm>
                    <a:off x="7751810" y="2002435"/>
                    <a:ext cx="803275" cy="1623441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80" name="AutoShape 126">
                    <a:extLst>
                      <a:ext uri="{FF2B5EF4-FFF2-40B4-BE49-F238E27FC236}">
                        <a16:creationId xmlns:a16="http://schemas.microsoft.com/office/drawing/2014/main" id="{1940FB4F-DFBE-CE1F-B1C2-C5F11C3E4D8A}"/>
                      </a:ext>
                    </a:extLst>
                  </p:cNvPr>
                  <p:cNvCxnSpPr>
                    <a:cxnSpLocks noChangeShapeType="1"/>
                    <a:stCxn id="124" idx="6"/>
                    <a:endCxn id="77" idx="2"/>
                  </p:cNvCxnSpPr>
                  <p:nvPr/>
                </p:nvCxnSpPr>
                <p:spPr bwMode="auto">
                  <a:xfrm>
                    <a:off x="7732760" y="3177185"/>
                    <a:ext cx="822325" cy="448691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81" name="AutoShape 127">
                    <a:extLst>
                      <a:ext uri="{FF2B5EF4-FFF2-40B4-BE49-F238E27FC236}">
                        <a16:creationId xmlns:a16="http://schemas.microsoft.com/office/drawing/2014/main" id="{51047B60-B8F3-F2EB-7F1D-06745413038F}"/>
                      </a:ext>
                    </a:extLst>
                  </p:cNvPr>
                  <p:cNvCxnSpPr>
                    <a:cxnSpLocks noChangeShapeType="1"/>
                    <a:stCxn id="125" idx="6"/>
                    <a:endCxn id="77" idx="2"/>
                  </p:cNvCxnSpPr>
                  <p:nvPr/>
                </p:nvCxnSpPr>
                <p:spPr bwMode="auto">
                  <a:xfrm flipV="1">
                    <a:off x="7742285" y="3625876"/>
                    <a:ext cx="812800" cy="684784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82" name="AutoShape 128">
                    <a:extLst>
                      <a:ext uri="{FF2B5EF4-FFF2-40B4-BE49-F238E27FC236}">
                        <a16:creationId xmlns:a16="http://schemas.microsoft.com/office/drawing/2014/main" id="{6FD13466-0C22-38F0-053B-25AC8F08EB09}"/>
                      </a:ext>
                    </a:extLst>
                  </p:cNvPr>
                  <p:cNvCxnSpPr>
                    <a:cxnSpLocks noChangeShapeType="1"/>
                    <a:stCxn id="126" idx="6"/>
                    <a:endCxn id="77" idx="2"/>
                  </p:cNvCxnSpPr>
                  <p:nvPr/>
                </p:nvCxnSpPr>
                <p:spPr bwMode="auto">
                  <a:xfrm flipV="1">
                    <a:off x="7742285" y="3625876"/>
                    <a:ext cx="812800" cy="1856359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83" name="Oval 9">
                    <a:extLst>
                      <a:ext uri="{FF2B5EF4-FFF2-40B4-BE49-F238E27FC236}">
                        <a16:creationId xmlns:a16="http://schemas.microsoft.com/office/drawing/2014/main" id="{7B20E7FE-CC2F-0347-8268-1061F7AE26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4772" y="1840129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4" name="Freeform 41">
                    <a:extLst>
                      <a:ext uri="{FF2B5EF4-FFF2-40B4-BE49-F238E27FC236}">
                        <a16:creationId xmlns:a16="http://schemas.microsoft.com/office/drawing/2014/main" id="{F3A9DD9E-E93B-FFE6-E3C7-2417A73DF8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44460" y="1944904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5" name="Oval 43">
                    <a:extLst>
                      <a:ext uri="{FF2B5EF4-FFF2-40B4-BE49-F238E27FC236}">
                        <a16:creationId xmlns:a16="http://schemas.microsoft.com/office/drawing/2014/main" id="{0536BAD3-C403-3C66-814F-34DE0C6CB5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1597" y="3018054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6" name="Oval 54">
                    <a:extLst>
                      <a:ext uri="{FF2B5EF4-FFF2-40B4-BE49-F238E27FC236}">
                        <a16:creationId xmlns:a16="http://schemas.microsoft.com/office/drawing/2014/main" id="{881204EB-F79C-7F3B-A345-DDDC1229BC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4772" y="4176929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7" name="Oval 64">
                    <a:extLst>
                      <a:ext uri="{FF2B5EF4-FFF2-40B4-BE49-F238E27FC236}">
                        <a16:creationId xmlns:a16="http://schemas.microsoft.com/office/drawing/2014/main" id="{55B47931-6A52-0592-C7A8-20D3FAC3F0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8422" y="5345329"/>
                    <a:ext cx="320675" cy="320675"/>
                  </a:xfrm>
                  <a:prstGeom prst="ellipse">
                    <a:avLst/>
                  </a:prstGeom>
                  <a:solidFill>
                    <a:srgbClr val="B2B2B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88" name="Freeform 73">
                    <a:extLst>
                      <a:ext uri="{FF2B5EF4-FFF2-40B4-BE49-F238E27FC236}">
                        <a16:creationId xmlns:a16="http://schemas.microsoft.com/office/drawing/2014/main" id="{53D79561-138B-88EB-DB5F-24E580DD1D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34935" y="3126004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9" name="Freeform 74">
                    <a:extLst>
                      <a:ext uri="{FF2B5EF4-FFF2-40B4-BE49-F238E27FC236}">
                        <a16:creationId xmlns:a16="http://schemas.microsoft.com/office/drawing/2014/main" id="{405859F3-6017-24F6-9649-BE4006BD14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34935" y="4278529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0" name="Freeform 75">
                    <a:extLst>
                      <a:ext uri="{FF2B5EF4-FFF2-40B4-BE49-F238E27FC236}">
                        <a16:creationId xmlns:a16="http://schemas.microsoft.com/office/drawing/2014/main" id="{CC433127-D64E-4B39-775E-CE6372C70B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44460" y="5459629"/>
                    <a:ext cx="236537" cy="101600"/>
                  </a:xfrm>
                  <a:custGeom>
                    <a:avLst/>
                    <a:gdLst>
                      <a:gd name="T0" fmla="*/ 0 w 189"/>
                      <a:gd name="T1" fmla="*/ 2 h 81"/>
                      <a:gd name="T2" fmla="*/ 2 w 189"/>
                      <a:gd name="T3" fmla="*/ 2 h 81"/>
                      <a:gd name="T4" fmla="*/ 2 w 189"/>
                      <a:gd name="T5" fmla="*/ 2 h 81"/>
                      <a:gd name="T6" fmla="*/ 2 w 189"/>
                      <a:gd name="T7" fmla="*/ 2 h 81"/>
                      <a:gd name="T8" fmla="*/ 2 w 189"/>
                      <a:gd name="T9" fmla="*/ 2 h 8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89" h="81">
                        <a:moveTo>
                          <a:pt x="0" y="77"/>
                        </a:moveTo>
                        <a:cubicBezTo>
                          <a:pt x="19" y="79"/>
                          <a:pt x="39" y="81"/>
                          <a:pt x="57" y="71"/>
                        </a:cubicBezTo>
                        <a:cubicBezTo>
                          <a:pt x="75" y="61"/>
                          <a:pt x="91" y="28"/>
                          <a:pt x="108" y="17"/>
                        </a:cubicBezTo>
                        <a:cubicBezTo>
                          <a:pt x="125" y="6"/>
                          <a:pt x="146" y="4"/>
                          <a:pt x="159" y="2"/>
                        </a:cubicBezTo>
                        <a:cubicBezTo>
                          <a:pt x="172" y="0"/>
                          <a:pt x="180" y="1"/>
                          <a:pt x="189" y="2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91" name="AutoShape 85">
                    <a:extLst>
                      <a:ext uri="{FF2B5EF4-FFF2-40B4-BE49-F238E27FC236}">
                        <a16:creationId xmlns:a16="http://schemas.microsoft.com/office/drawing/2014/main" id="{9176FD4F-45D0-5AF6-5F9E-91710F3EFFBD}"/>
                      </a:ext>
                    </a:extLst>
                  </p:cNvPr>
                  <p:cNvCxnSpPr>
                    <a:cxnSpLocks noChangeShapeType="1"/>
                    <a:stCxn id="76" idx="6"/>
                    <a:endCxn id="83" idx="2"/>
                  </p:cNvCxnSpPr>
                  <p:nvPr/>
                </p:nvCxnSpPr>
                <p:spPr bwMode="auto">
                  <a:xfrm flipV="1">
                    <a:off x="5203301" y="2000467"/>
                    <a:ext cx="1101471" cy="348481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2" name="AutoShape 86">
                    <a:extLst>
                      <a:ext uri="{FF2B5EF4-FFF2-40B4-BE49-F238E27FC236}">
                        <a16:creationId xmlns:a16="http://schemas.microsoft.com/office/drawing/2014/main" id="{A38AD1C1-0051-6A84-A418-468C9D0E1641}"/>
                      </a:ext>
                    </a:extLst>
                  </p:cNvPr>
                  <p:cNvCxnSpPr>
                    <a:cxnSpLocks noChangeShapeType="1"/>
                    <a:stCxn id="75" idx="6"/>
                    <a:endCxn id="83" idx="2"/>
                  </p:cNvCxnSpPr>
                  <p:nvPr/>
                </p:nvCxnSpPr>
                <p:spPr bwMode="auto">
                  <a:xfrm flipV="1">
                    <a:off x="5203301" y="2000467"/>
                    <a:ext cx="1101471" cy="2313241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3" name="AutoShape 87">
                    <a:extLst>
                      <a:ext uri="{FF2B5EF4-FFF2-40B4-BE49-F238E27FC236}">
                        <a16:creationId xmlns:a16="http://schemas.microsoft.com/office/drawing/2014/main" id="{DA5E8D6B-E7B1-8077-3D1C-21378E382FAC}"/>
                      </a:ext>
                    </a:extLst>
                  </p:cNvPr>
                  <p:cNvCxnSpPr>
                    <a:cxnSpLocks noChangeShapeType="1"/>
                    <a:stCxn id="74" idx="6"/>
                    <a:endCxn id="83" idx="2"/>
                  </p:cNvCxnSpPr>
                  <p:nvPr/>
                </p:nvCxnSpPr>
                <p:spPr bwMode="auto">
                  <a:xfrm flipV="1">
                    <a:off x="5193776" y="2000467"/>
                    <a:ext cx="1110996" cy="117976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4" name="AutoShape 88">
                    <a:extLst>
                      <a:ext uri="{FF2B5EF4-FFF2-40B4-BE49-F238E27FC236}">
                        <a16:creationId xmlns:a16="http://schemas.microsoft.com/office/drawing/2014/main" id="{BAECB5D9-60B9-BAF9-78C3-A70C6CB6C852}"/>
                      </a:ext>
                    </a:extLst>
                  </p:cNvPr>
                  <p:cNvCxnSpPr>
                    <a:cxnSpLocks noChangeShapeType="1"/>
                    <a:stCxn id="73" idx="6"/>
                    <a:endCxn id="83" idx="2"/>
                  </p:cNvCxnSpPr>
                  <p:nvPr/>
                </p:nvCxnSpPr>
                <p:spPr bwMode="auto">
                  <a:xfrm flipV="1">
                    <a:off x="5212826" y="2000467"/>
                    <a:ext cx="1091946" cy="501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5" name="AutoShape 92">
                    <a:extLst>
                      <a:ext uri="{FF2B5EF4-FFF2-40B4-BE49-F238E27FC236}">
                        <a16:creationId xmlns:a16="http://schemas.microsoft.com/office/drawing/2014/main" id="{815308E6-3E3C-EF92-50D9-1D97249ECEA7}"/>
                      </a:ext>
                    </a:extLst>
                  </p:cNvPr>
                  <p:cNvCxnSpPr>
                    <a:cxnSpLocks noChangeShapeType="1"/>
                    <a:stCxn id="76" idx="6"/>
                    <a:endCxn id="85" idx="2"/>
                  </p:cNvCxnSpPr>
                  <p:nvPr/>
                </p:nvCxnSpPr>
                <p:spPr bwMode="auto">
                  <a:xfrm flipV="1">
                    <a:off x="5203301" y="3178392"/>
                    <a:ext cx="1098296" cy="2306891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6" name="AutoShape 93">
                    <a:extLst>
                      <a:ext uri="{FF2B5EF4-FFF2-40B4-BE49-F238E27FC236}">
                        <a16:creationId xmlns:a16="http://schemas.microsoft.com/office/drawing/2014/main" id="{7918B437-FFB3-D46D-D9ED-E4C344E9011D}"/>
                      </a:ext>
                    </a:extLst>
                  </p:cNvPr>
                  <p:cNvCxnSpPr>
                    <a:cxnSpLocks noChangeShapeType="1"/>
                    <a:stCxn id="75" idx="6"/>
                    <a:endCxn id="85" idx="2"/>
                  </p:cNvCxnSpPr>
                  <p:nvPr/>
                </p:nvCxnSpPr>
                <p:spPr bwMode="auto">
                  <a:xfrm flipV="1">
                    <a:off x="5203301" y="3178392"/>
                    <a:ext cx="1098296" cy="113531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7" name="AutoShape 94">
                    <a:extLst>
                      <a:ext uri="{FF2B5EF4-FFF2-40B4-BE49-F238E27FC236}">
                        <a16:creationId xmlns:a16="http://schemas.microsoft.com/office/drawing/2014/main" id="{D2E8863D-A016-C19B-B53E-51B8EDD4C0D4}"/>
                      </a:ext>
                    </a:extLst>
                  </p:cNvPr>
                  <p:cNvCxnSpPr>
                    <a:cxnSpLocks noChangeShapeType="1"/>
                    <a:stCxn id="74" idx="6"/>
                    <a:endCxn id="85" idx="2"/>
                  </p:cNvCxnSpPr>
                  <p:nvPr/>
                </p:nvCxnSpPr>
                <p:spPr bwMode="auto">
                  <a:xfrm flipV="1">
                    <a:off x="5193776" y="3178392"/>
                    <a:ext cx="1107821" cy="1841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8" name="AutoShape 95">
                    <a:extLst>
                      <a:ext uri="{FF2B5EF4-FFF2-40B4-BE49-F238E27FC236}">
                        <a16:creationId xmlns:a16="http://schemas.microsoft.com/office/drawing/2014/main" id="{911EED3F-F783-ABD7-591A-FAA488605A8F}"/>
                      </a:ext>
                    </a:extLst>
                  </p:cNvPr>
                  <p:cNvCxnSpPr>
                    <a:cxnSpLocks noChangeShapeType="1"/>
                    <a:stCxn id="73" idx="6"/>
                    <a:endCxn id="85" idx="2"/>
                  </p:cNvCxnSpPr>
                  <p:nvPr/>
                </p:nvCxnSpPr>
                <p:spPr bwMode="auto">
                  <a:xfrm>
                    <a:off x="5212826" y="2005483"/>
                    <a:ext cx="1088771" cy="1172909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9" name="AutoShape 99">
                    <a:extLst>
                      <a:ext uri="{FF2B5EF4-FFF2-40B4-BE49-F238E27FC236}">
                        <a16:creationId xmlns:a16="http://schemas.microsoft.com/office/drawing/2014/main" id="{FFAC578E-2F36-500A-C42F-FDDB582CEFA7}"/>
                      </a:ext>
                    </a:extLst>
                  </p:cNvPr>
                  <p:cNvCxnSpPr>
                    <a:cxnSpLocks noChangeShapeType="1"/>
                    <a:stCxn id="76" idx="6"/>
                    <a:endCxn id="86" idx="2"/>
                  </p:cNvCxnSpPr>
                  <p:nvPr/>
                </p:nvCxnSpPr>
                <p:spPr bwMode="auto">
                  <a:xfrm flipV="1">
                    <a:off x="5203301" y="4337267"/>
                    <a:ext cx="1101471" cy="1148016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0" name="AutoShape 100">
                    <a:extLst>
                      <a:ext uri="{FF2B5EF4-FFF2-40B4-BE49-F238E27FC236}">
                        <a16:creationId xmlns:a16="http://schemas.microsoft.com/office/drawing/2014/main" id="{0023AE19-063B-9892-64F0-DAF9AD46C153}"/>
                      </a:ext>
                    </a:extLst>
                  </p:cNvPr>
                  <p:cNvCxnSpPr>
                    <a:cxnSpLocks noChangeShapeType="1"/>
                    <a:stCxn id="75" idx="6"/>
                    <a:endCxn id="86" idx="2"/>
                  </p:cNvCxnSpPr>
                  <p:nvPr/>
                </p:nvCxnSpPr>
                <p:spPr bwMode="auto">
                  <a:xfrm>
                    <a:off x="5203301" y="4313708"/>
                    <a:ext cx="1101471" cy="23559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1" name="AutoShape 101">
                    <a:extLst>
                      <a:ext uri="{FF2B5EF4-FFF2-40B4-BE49-F238E27FC236}">
                        <a16:creationId xmlns:a16="http://schemas.microsoft.com/office/drawing/2014/main" id="{EBFB91EE-1F3E-7BC4-100C-78A4E4046DFD}"/>
                      </a:ext>
                    </a:extLst>
                  </p:cNvPr>
                  <p:cNvCxnSpPr>
                    <a:cxnSpLocks noChangeShapeType="1"/>
                    <a:stCxn id="74" idx="6"/>
                    <a:endCxn id="86" idx="2"/>
                  </p:cNvCxnSpPr>
                  <p:nvPr/>
                </p:nvCxnSpPr>
                <p:spPr bwMode="auto">
                  <a:xfrm>
                    <a:off x="5193776" y="3180233"/>
                    <a:ext cx="1110996" cy="1157034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2" name="AutoShape 102">
                    <a:extLst>
                      <a:ext uri="{FF2B5EF4-FFF2-40B4-BE49-F238E27FC236}">
                        <a16:creationId xmlns:a16="http://schemas.microsoft.com/office/drawing/2014/main" id="{FF6CAF58-F759-8B67-2875-0EA456C7AA38}"/>
                      </a:ext>
                    </a:extLst>
                  </p:cNvPr>
                  <p:cNvCxnSpPr>
                    <a:cxnSpLocks noChangeShapeType="1"/>
                    <a:stCxn id="73" idx="6"/>
                    <a:endCxn id="86" idx="2"/>
                  </p:cNvCxnSpPr>
                  <p:nvPr/>
                </p:nvCxnSpPr>
                <p:spPr bwMode="auto">
                  <a:xfrm>
                    <a:off x="5212826" y="2005483"/>
                    <a:ext cx="1091946" cy="2331784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3" name="AutoShape 106">
                    <a:extLst>
                      <a:ext uri="{FF2B5EF4-FFF2-40B4-BE49-F238E27FC236}">
                        <a16:creationId xmlns:a16="http://schemas.microsoft.com/office/drawing/2014/main" id="{136BE491-6AF6-96C8-75D4-14CFD4CDEC13}"/>
                      </a:ext>
                    </a:extLst>
                  </p:cNvPr>
                  <p:cNvCxnSpPr>
                    <a:cxnSpLocks noChangeShapeType="1"/>
                    <a:stCxn id="76" idx="6"/>
                    <a:endCxn id="87" idx="2"/>
                  </p:cNvCxnSpPr>
                  <p:nvPr/>
                </p:nvCxnSpPr>
                <p:spPr bwMode="auto">
                  <a:xfrm>
                    <a:off x="5203301" y="5485283"/>
                    <a:ext cx="1095121" cy="20384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4" name="AutoShape 107">
                    <a:extLst>
                      <a:ext uri="{FF2B5EF4-FFF2-40B4-BE49-F238E27FC236}">
                        <a16:creationId xmlns:a16="http://schemas.microsoft.com/office/drawing/2014/main" id="{6CCA3523-214D-A545-5AD4-ED717CED6B0C}"/>
                      </a:ext>
                    </a:extLst>
                  </p:cNvPr>
                  <p:cNvCxnSpPr>
                    <a:cxnSpLocks noChangeShapeType="1"/>
                    <a:stCxn id="75" idx="6"/>
                    <a:endCxn id="87" idx="2"/>
                  </p:cNvCxnSpPr>
                  <p:nvPr/>
                </p:nvCxnSpPr>
                <p:spPr bwMode="auto">
                  <a:xfrm>
                    <a:off x="5203301" y="4313708"/>
                    <a:ext cx="1095121" cy="1191959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5" name="AutoShape 108">
                    <a:extLst>
                      <a:ext uri="{FF2B5EF4-FFF2-40B4-BE49-F238E27FC236}">
                        <a16:creationId xmlns:a16="http://schemas.microsoft.com/office/drawing/2014/main" id="{F3192868-4C59-4F75-CE38-DB3A9C68F746}"/>
                      </a:ext>
                    </a:extLst>
                  </p:cNvPr>
                  <p:cNvCxnSpPr>
                    <a:cxnSpLocks noChangeShapeType="1"/>
                    <a:endCxn id="87" idx="2"/>
                  </p:cNvCxnSpPr>
                  <p:nvPr/>
                </p:nvCxnSpPr>
                <p:spPr bwMode="auto">
                  <a:xfrm>
                    <a:off x="5204952" y="3169248"/>
                    <a:ext cx="1093470" cy="2336419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6" name="AutoShape 109">
                    <a:extLst>
                      <a:ext uri="{FF2B5EF4-FFF2-40B4-BE49-F238E27FC236}">
                        <a16:creationId xmlns:a16="http://schemas.microsoft.com/office/drawing/2014/main" id="{E1DF5520-7583-1FBA-969F-CB5C11A17953}"/>
                      </a:ext>
                    </a:extLst>
                  </p:cNvPr>
                  <p:cNvCxnSpPr>
                    <a:cxnSpLocks noChangeShapeType="1"/>
                    <a:stCxn id="73" idx="6"/>
                    <a:endCxn id="87" idx="2"/>
                  </p:cNvCxnSpPr>
                  <p:nvPr/>
                </p:nvCxnSpPr>
                <p:spPr bwMode="auto">
                  <a:xfrm>
                    <a:off x="5212826" y="2005483"/>
                    <a:ext cx="1085596" cy="3500184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7" name="AutoShape 85">
                    <a:extLst>
                      <a:ext uri="{FF2B5EF4-FFF2-40B4-BE49-F238E27FC236}">
                        <a16:creationId xmlns:a16="http://schemas.microsoft.com/office/drawing/2014/main" id="{011126CF-B8F2-5732-200A-0F90EBDDC00B}"/>
                      </a:ext>
                    </a:extLst>
                  </p:cNvPr>
                  <p:cNvCxnSpPr>
                    <a:cxnSpLocks noChangeShapeType="1"/>
                    <a:endCxn id="123" idx="2"/>
                  </p:cNvCxnSpPr>
                  <p:nvPr/>
                </p:nvCxnSpPr>
                <p:spPr bwMode="auto">
                  <a:xfrm flipV="1">
                    <a:off x="6628241" y="2002435"/>
                    <a:ext cx="945769" cy="34940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8" name="AutoShape 86">
                    <a:extLst>
                      <a:ext uri="{FF2B5EF4-FFF2-40B4-BE49-F238E27FC236}">
                        <a16:creationId xmlns:a16="http://schemas.microsoft.com/office/drawing/2014/main" id="{18B7071C-09EA-0321-19E9-602D4ED7A070}"/>
                      </a:ext>
                    </a:extLst>
                  </p:cNvPr>
                  <p:cNvCxnSpPr>
                    <a:cxnSpLocks noChangeShapeType="1"/>
                    <a:endCxn id="123" idx="2"/>
                  </p:cNvCxnSpPr>
                  <p:nvPr/>
                </p:nvCxnSpPr>
                <p:spPr bwMode="auto">
                  <a:xfrm flipV="1">
                    <a:off x="6634591" y="2002435"/>
                    <a:ext cx="939419" cy="23256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9" name="AutoShape 87">
                    <a:extLst>
                      <a:ext uri="{FF2B5EF4-FFF2-40B4-BE49-F238E27FC236}">
                        <a16:creationId xmlns:a16="http://schemas.microsoft.com/office/drawing/2014/main" id="{BDB0C645-20D9-1C97-B8A4-B482B6548582}"/>
                      </a:ext>
                    </a:extLst>
                  </p:cNvPr>
                  <p:cNvCxnSpPr>
                    <a:cxnSpLocks noChangeShapeType="1"/>
                    <a:endCxn id="123" idx="2"/>
                  </p:cNvCxnSpPr>
                  <p:nvPr/>
                </p:nvCxnSpPr>
                <p:spPr bwMode="auto">
                  <a:xfrm flipV="1">
                    <a:off x="6631416" y="2002435"/>
                    <a:ext cx="942594" cy="116681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0" name="AutoShape 88">
                    <a:extLst>
                      <a:ext uri="{FF2B5EF4-FFF2-40B4-BE49-F238E27FC236}">
                        <a16:creationId xmlns:a16="http://schemas.microsoft.com/office/drawing/2014/main" id="{FFAED174-F9C2-5E22-2259-E67B202EB806}"/>
                      </a:ext>
                    </a:extLst>
                  </p:cNvPr>
                  <p:cNvCxnSpPr>
                    <a:cxnSpLocks noChangeShapeType="1"/>
                    <a:endCxn id="123" idx="2"/>
                  </p:cNvCxnSpPr>
                  <p:nvPr/>
                </p:nvCxnSpPr>
                <p:spPr bwMode="auto">
                  <a:xfrm>
                    <a:off x="6634591" y="1991323"/>
                    <a:ext cx="939419" cy="1111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1" name="AutoShape 92">
                    <a:extLst>
                      <a:ext uri="{FF2B5EF4-FFF2-40B4-BE49-F238E27FC236}">
                        <a16:creationId xmlns:a16="http://schemas.microsoft.com/office/drawing/2014/main" id="{9E8E95A7-0871-B47F-7035-28E42FB5D29D}"/>
                      </a:ext>
                    </a:extLst>
                  </p:cNvPr>
                  <p:cNvCxnSpPr>
                    <a:cxnSpLocks noChangeShapeType="1"/>
                    <a:endCxn id="124" idx="2"/>
                  </p:cNvCxnSpPr>
                  <p:nvPr/>
                </p:nvCxnSpPr>
                <p:spPr bwMode="auto">
                  <a:xfrm flipV="1">
                    <a:off x="6628241" y="3177185"/>
                    <a:ext cx="926719" cy="23193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2" name="AutoShape 93">
                    <a:extLst>
                      <a:ext uri="{FF2B5EF4-FFF2-40B4-BE49-F238E27FC236}">
                        <a16:creationId xmlns:a16="http://schemas.microsoft.com/office/drawing/2014/main" id="{AB79B122-B627-7267-54C5-F4BC2337F09F}"/>
                      </a:ext>
                    </a:extLst>
                  </p:cNvPr>
                  <p:cNvCxnSpPr>
                    <a:cxnSpLocks noChangeShapeType="1"/>
                    <a:endCxn id="124" idx="2"/>
                  </p:cNvCxnSpPr>
                  <p:nvPr/>
                </p:nvCxnSpPr>
                <p:spPr bwMode="auto">
                  <a:xfrm flipV="1">
                    <a:off x="6634591" y="3177185"/>
                    <a:ext cx="920369" cy="115093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3" name="AutoShape 94">
                    <a:extLst>
                      <a:ext uri="{FF2B5EF4-FFF2-40B4-BE49-F238E27FC236}">
                        <a16:creationId xmlns:a16="http://schemas.microsoft.com/office/drawing/2014/main" id="{71605647-CF91-2EB3-9409-46DC009CD1B8}"/>
                      </a:ext>
                    </a:extLst>
                  </p:cNvPr>
                  <p:cNvCxnSpPr>
                    <a:cxnSpLocks noChangeShapeType="1"/>
                    <a:endCxn id="124" idx="2"/>
                  </p:cNvCxnSpPr>
                  <p:nvPr/>
                </p:nvCxnSpPr>
                <p:spPr bwMode="auto">
                  <a:xfrm>
                    <a:off x="6631416" y="3169248"/>
                    <a:ext cx="923544" cy="7937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4" name="AutoShape 95">
                    <a:extLst>
                      <a:ext uri="{FF2B5EF4-FFF2-40B4-BE49-F238E27FC236}">
                        <a16:creationId xmlns:a16="http://schemas.microsoft.com/office/drawing/2014/main" id="{10B57A98-65D0-A1F9-6CA0-8F55AF428089}"/>
                      </a:ext>
                    </a:extLst>
                  </p:cNvPr>
                  <p:cNvCxnSpPr>
                    <a:cxnSpLocks noChangeShapeType="1"/>
                    <a:endCxn id="124" idx="2"/>
                  </p:cNvCxnSpPr>
                  <p:nvPr/>
                </p:nvCxnSpPr>
                <p:spPr bwMode="auto">
                  <a:xfrm>
                    <a:off x="6634591" y="1991323"/>
                    <a:ext cx="920369" cy="118586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5" name="AutoShape 99">
                    <a:extLst>
                      <a:ext uri="{FF2B5EF4-FFF2-40B4-BE49-F238E27FC236}">
                        <a16:creationId xmlns:a16="http://schemas.microsoft.com/office/drawing/2014/main" id="{13BF70E2-D471-B7AA-6B7A-1A1CEEFFF039}"/>
                      </a:ext>
                    </a:extLst>
                  </p:cNvPr>
                  <p:cNvCxnSpPr>
                    <a:cxnSpLocks noChangeShapeType="1"/>
                    <a:endCxn id="125" idx="2"/>
                  </p:cNvCxnSpPr>
                  <p:nvPr/>
                </p:nvCxnSpPr>
                <p:spPr bwMode="auto">
                  <a:xfrm flipV="1">
                    <a:off x="6628241" y="4310660"/>
                    <a:ext cx="936244" cy="11858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6" name="AutoShape 100">
                    <a:extLst>
                      <a:ext uri="{FF2B5EF4-FFF2-40B4-BE49-F238E27FC236}">
                        <a16:creationId xmlns:a16="http://schemas.microsoft.com/office/drawing/2014/main" id="{46D066E8-65A4-B80E-128D-C30AB1740044}"/>
                      </a:ext>
                    </a:extLst>
                  </p:cNvPr>
                  <p:cNvCxnSpPr>
                    <a:cxnSpLocks noChangeShapeType="1"/>
                    <a:endCxn id="125" idx="2"/>
                  </p:cNvCxnSpPr>
                  <p:nvPr/>
                </p:nvCxnSpPr>
                <p:spPr bwMode="auto">
                  <a:xfrm flipV="1">
                    <a:off x="6634591" y="4310660"/>
                    <a:ext cx="929894" cy="17463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7" name="AutoShape 101">
                    <a:extLst>
                      <a:ext uri="{FF2B5EF4-FFF2-40B4-BE49-F238E27FC236}">
                        <a16:creationId xmlns:a16="http://schemas.microsoft.com/office/drawing/2014/main" id="{7FB5FB30-E136-376B-0DB8-158DFF62969A}"/>
                      </a:ext>
                    </a:extLst>
                  </p:cNvPr>
                  <p:cNvCxnSpPr>
                    <a:cxnSpLocks noChangeShapeType="1"/>
                    <a:endCxn id="125" idx="2"/>
                  </p:cNvCxnSpPr>
                  <p:nvPr/>
                </p:nvCxnSpPr>
                <p:spPr bwMode="auto">
                  <a:xfrm>
                    <a:off x="6631416" y="3169248"/>
                    <a:ext cx="933069" cy="114141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8" name="AutoShape 102">
                    <a:extLst>
                      <a:ext uri="{FF2B5EF4-FFF2-40B4-BE49-F238E27FC236}">
                        <a16:creationId xmlns:a16="http://schemas.microsoft.com/office/drawing/2014/main" id="{78EC153E-0217-1EAB-7B5C-967AC5F7D17D}"/>
                      </a:ext>
                    </a:extLst>
                  </p:cNvPr>
                  <p:cNvCxnSpPr>
                    <a:cxnSpLocks noChangeShapeType="1"/>
                    <a:endCxn id="125" idx="2"/>
                  </p:cNvCxnSpPr>
                  <p:nvPr/>
                </p:nvCxnSpPr>
                <p:spPr bwMode="auto">
                  <a:xfrm>
                    <a:off x="6634591" y="1991323"/>
                    <a:ext cx="929894" cy="2319337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9" name="AutoShape 106">
                    <a:extLst>
                      <a:ext uri="{FF2B5EF4-FFF2-40B4-BE49-F238E27FC236}">
                        <a16:creationId xmlns:a16="http://schemas.microsoft.com/office/drawing/2014/main" id="{B5D15B35-E1AB-7534-5E68-681A939BC091}"/>
                      </a:ext>
                    </a:extLst>
                  </p:cNvPr>
                  <p:cNvCxnSpPr>
                    <a:cxnSpLocks noChangeShapeType="1"/>
                    <a:endCxn id="126" idx="2"/>
                  </p:cNvCxnSpPr>
                  <p:nvPr/>
                </p:nvCxnSpPr>
                <p:spPr bwMode="auto">
                  <a:xfrm flipV="1">
                    <a:off x="6628241" y="5482235"/>
                    <a:ext cx="936244" cy="14288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20" name="AutoShape 107">
                    <a:extLst>
                      <a:ext uri="{FF2B5EF4-FFF2-40B4-BE49-F238E27FC236}">
                        <a16:creationId xmlns:a16="http://schemas.microsoft.com/office/drawing/2014/main" id="{E7F2E9A4-EA07-026B-613F-217ED4BD9C3B}"/>
                      </a:ext>
                    </a:extLst>
                  </p:cNvPr>
                  <p:cNvCxnSpPr>
                    <a:cxnSpLocks noChangeShapeType="1"/>
                    <a:endCxn id="126" idx="2"/>
                  </p:cNvCxnSpPr>
                  <p:nvPr/>
                </p:nvCxnSpPr>
                <p:spPr bwMode="auto">
                  <a:xfrm>
                    <a:off x="6634591" y="4328123"/>
                    <a:ext cx="929894" cy="115411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21" name="AutoShape 108">
                    <a:extLst>
                      <a:ext uri="{FF2B5EF4-FFF2-40B4-BE49-F238E27FC236}">
                        <a16:creationId xmlns:a16="http://schemas.microsoft.com/office/drawing/2014/main" id="{A8F6147F-9446-1E49-172A-D6E8EE99B05B}"/>
                      </a:ext>
                    </a:extLst>
                  </p:cNvPr>
                  <p:cNvCxnSpPr>
                    <a:cxnSpLocks noChangeShapeType="1"/>
                    <a:endCxn id="126" idx="2"/>
                  </p:cNvCxnSpPr>
                  <p:nvPr/>
                </p:nvCxnSpPr>
                <p:spPr bwMode="auto">
                  <a:xfrm>
                    <a:off x="6631416" y="3169248"/>
                    <a:ext cx="933069" cy="2312987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22" name="AutoShape 109">
                    <a:extLst>
                      <a:ext uri="{FF2B5EF4-FFF2-40B4-BE49-F238E27FC236}">
                        <a16:creationId xmlns:a16="http://schemas.microsoft.com/office/drawing/2014/main" id="{E3BA72DE-C469-D175-22D3-295692B2B600}"/>
                      </a:ext>
                    </a:extLst>
                  </p:cNvPr>
                  <p:cNvCxnSpPr>
                    <a:cxnSpLocks noChangeShapeType="1"/>
                    <a:endCxn id="126" idx="3"/>
                  </p:cNvCxnSpPr>
                  <p:nvPr/>
                </p:nvCxnSpPr>
                <p:spPr bwMode="auto">
                  <a:xfrm>
                    <a:off x="6634591" y="1991323"/>
                    <a:ext cx="955932" cy="3553774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stealth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123" name="Oval 112">
                    <a:extLst>
                      <a:ext uri="{FF2B5EF4-FFF2-40B4-BE49-F238E27FC236}">
                        <a16:creationId xmlns:a16="http://schemas.microsoft.com/office/drawing/2014/main" id="{757E20E3-FA2C-BAC3-FB02-46C0B8C312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574010" y="1913535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24" name="Oval 113">
                    <a:extLst>
                      <a:ext uri="{FF2B5EF4-FFF2-40B4-BE49-F238E27FC236}">
                        <a16:creationId xmlns:a16="http://schemas.microsoft.com/office/drawing/2014/main" id="{5625F114-ADDA-06CF-C1EA-D497541C3C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554960" y="3088285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25" name="Oval 114">
                    <a:extLst>
                      <a:ext uri="{FF2B5EF4-FFF2-40B4-BE49-F238E27FC236}">
                        <a16:creationId xmlns:a16="http://schemas.microsoft.com/office/drawing/2014/main" id="{80C4C207-799A-AB89-6BB1-48EDF594F9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564485" y="4221760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26" name="Oval 115">
                    <a:extLst>
                      <a:ext uri="{FF2B5EF4-FFF2-40B4-BE49-F238E27FC236}">
                        <a16:creationId xmlns:a16="http://schemas.microsoft.com/office/drawing/2014/main" id="{8C9F1A63-C5FF-9CB8-F7DC-6AFB837C1B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564485" y="5393335"/>
                    <a:ext cx="177800" cy="17780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4E37EB9D-9D85-F6F2-3F9A-D284D4DC5F1B}"/>
                    </a:ext>
                  </a:extLst>
                </p:cNvPr>
                <p:cNvGrpSpPr/>
                <p:nvPr/>
              </p:nvGrpSpPr>
              <p:grpSpPr>
                <a:xfrm>
                  <a:off x="5748429" y="2599140"/>
                  <a:ext cx="6221706" cy="4106364"/>
                  <a:chOff x="5748429" y="2599140"/>
                  <a:chExt cx="6221706" cy="4106364"/>
                </a:xfrm>
              </p:grpSpPr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8DC291FF-34DF-F3BF-A930-AAFEB4F678E0}"/>
                      </a:ext>
                    </a:extLst>
                  </p:cNvPr>
                  <p:cNvSpPr/>
                  <p:nvPr/>
                </p:nvSpPr>
                <p:spPr>
                  <a:xfrm>
                    <a:off x="5748429" y="2599140"/>
                    <a:ext cx="1534268" cy="507775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206202C6-902C-3EDA-E820-5E69415AA9BF}"/>
                      </a:ext>
                    </a:extLst>
                  </p:cNvPr>
                  <p:cNvSpPr/>
                  <p:nvPr/>
                </p:nvSpPr>
                <p:spPr>
                  <a:xfrm>
                    <a:off x="6847152" y="3268187"/>
                    <a:ext cx="5122983" cy="343731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31" name="Straight Arrow Connector 130">
                    <a:extLst>
                      <a:ext uri="{FF2B5EF4-FFF2-40B4-BE49-F238E27FC236}">
                        <a16:creationId xmlns:a16="http://schemas.microsoft.com/office/drawing/2014/main" id="{F56125E3-CE03-4BB8-3CE0-0DFC5039AA33}"/>
                      </a:ext>
                    </a:extLst>
                  </p:cNvPr>
                  <p:cNvCxnSpPr>
                    <a:cxnSpLocks/>
                    <a:stCxn id="128" idx="5"/>
                    <a:endCxn id="129" idx="1"/>
                  </p:cNvCxnSpPr>
                  <p:nvPr/>
                </p:nvCxnSpPr>
                <p:spPr>
                  <a:xfrm>
                    <a:off x="7058009" y="3032553"/>
                    <a:ext cx="539386" cy="739017"/>
                  </a:xfrm>
                  <a:prstGeom prst="straightConnector1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573BAC33-3C50-BEE1-F4AB-C4FCA102AAB1}"/>
                      </a:ext>
                    </a:extLst>
                  </p:cNvPr>
                  <p:cNvSpPr txBox="1"/>
                  <p:nvPr/>
                </p:nvSpPr>
                <p:spPr>
                  <a:xfrm>
                    <a:off x="6881565" y="4788816"/>
                    <a:ext cx="763607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573BAC33-3C50-BEE1-F4AB-C4FCA102AA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1565" y="4788816"/>
                    <a:ext cx="763607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5FE5A16B-BAA6-31D2-933F-51AE19996E33}"/>
                      </a:ext>
                    </a:extLst>
                  </p:cNvPr>
                  <p:cNvSpPr txBox="1"/>
                  <p:nvPr/>
                </p:nvSpPr>
                <p:spPr>
                  <a:xfrm>
                    <a:off x="11388745" y="4753114"/>
                    <a:ext cx="59035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5FE5A16B-BAA6-31D2-933F-51AE19996E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88745" y="4753114"/>
                    <a:ext cx="590354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AutoShape 125">
              <a:extLst>
                <a:ext uri="{FF2B5EF4-FFF2-40B4-BE49-F238E27FC236}">
                  <a16:creationId xmlns:a16="http://schemas.microsoft.com/office/drawing/2014/main" id="{273277C7-D8DA-0820-07E9-D37AF71CA5E6}"/>
                </a:ext>
              </a:extLst>
            </p:cNvPr>
            <p:cNvCxnSpPr>
              <a:cxnSpLocks noChangeShapeType="1"/>
              <a:stCxn id="123" idx="6"/>
            </p:cNvCxnSpPr>
            <p:nvPr/>
          </p:nvCxnSpPr>
          <p:spPr bwMode="auto">
            <a:xfrm>
              <a:off x="10746808" y="4007719"/>
              <a:ext cx="418733" cy="4935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6" name="Oval 116">
              <a:extLst>
                <a:ext uri="{FF2B5EF4-FFF2-40B4-BE49-F238E27FC236}">
                  <a16:creationId xmlns:a16="http://schemas.microsoft.com/office/drawing/2014/main" id="{DA352BA3-80B0-8FC1-9A5A-D1DDF3F7B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7087" y="4456383"/>
              <a:ext cx="92797" cy="1070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47" name="AutoShape 117">
              <a:extLst>
                <a:ext uri="{FF2B5EF4-FFF2-40B4-BE49-F238E27FC236}">
                  <a16:creationId xmlns:a16="http://schemas.microsoft.com/office/drawing/2014/main" id="{1106B2EE-1650-6B48-DCF1-670479548E55}"/>
                </a:ext>
              </a:extLst>
            </p:cNvPr>
            <p:cNvCxnSpPr>
              <a:cxnSpLocks noChangeShapeType="1"/>
              <a:stCxn id="146" idx="6"/>
            </p:cNvCxnSpPr>
            <p:nvPr/>
          </p:nvCxnSpPr>
          <p:spPr bwMode="auto">
            <a:xfrm>
              <a:off x="11254855" y="4509901"/>
              <a:ext cx="202164" cy="9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892AA82B-A20B-FD6D-A1F9-19EA66283C45}"/>
                    </a:ext>
                  </a:extLst>
                </p:cNvPr>
                <p:cNvSpPr txBox="1"/>
                <p:nvPr/>
              </p:nvSpPr>
              <p:spPr>
                <a:xfrm>
                  <a:off x="11379782" y="4277983"/>
                  <a:ext cx="59035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892AA82B-A20B-FD6D-A1F9-19EA66283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9782" y="4277983"/>
                  <a:ext cx="590354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Oval 116">
              <a:extLst>
                <a:ext uri="{FF2B5EF4-FFF2-40B4-BE49-F238E27FC236}">
                  <a16:creationId xmlns:a16="http://schemas.microsoft.com/office/drawing/2014/main" id="{64753775-278E-6B0F-4596-7756C6152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8121" y="5357336"/>
              <a:ext cx="92797" cy="1070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50" name="AutoShape 117">
              <a:extLst>
                <a:ext uri="{FF2B5EF4-FFF2-40B4-BE49-F238E27FC236}">
                  <a16:creationId xmlns:a16="http://schemas.microsoft.com/office/drawing/2014/main" id="{D0DB32F1-EA32-D63F-432B-BFF70817B328}"/>
                </a:ext>
              </a:extLst>
            </p:cNvPr>
            <p:cNvCxnSpPr>
              <a:cxnSpLocks noChangeShapeType="1"/>
              <a:stCxn id="149" idx="6"/>
            </p:cNvCxnSpPr>
            <p:nvPr/>
          </p:nvCxnSpPr>
          <p:spPr bwMode="auto">
            <a:xfrm>
              <a:off x="11245889" y="5410854"/>
              <a:ext cx="202164" cy="9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545EECA-CE30-E12A-C750-B10E955CC492}"/>
                    </a:ext>
                  </a:extLst>
                </p:cNvPr>
                <p:cNvSpPr txBox="1"/>
                <p:nvPr/>
              </p:nvSpPr>
              <p:spPr>
                <a:xfrm>
                  <a:off x="11370816" y="5178936"/>
                  <a:ext cx="59035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545EECA-CE30-E12A-C750-B10E955CC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0816" y="5178936"/>
                  <a:ext cx="590354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AutoShape 125">
              <a:extLst>
                <a:ext uri="{FF2B5EF4-FFF2-40B4-BE49-F238E27FC236}">
                  <a16:creationId xmlns:a16="http://schemas.microsoft.com/office/drawing/2014/main" id="{C12EBA0D-66FE-2990-1447-2243E66A6CDC}"/>
                </a:ext>
              </a:extLst>
            </p:cNvPr>
            <p:cNvCxnSpPr>
              <a:cxnSpLocks noChangeShapeType="1"/>
              <a:stCxn id="123" idx="6"/>
              <a:endCxn id="149" idx="2"/>
            </p:cNvCxnSpPr>
            <p:nvPr/>
          </p:nvCxnSpPr>
          <p:spPr bwMode="auto">
            <a:xfrm>
              <a:off x="10746808" y="4007719"/>
              <a:ext cx="401313" cy="14031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8" name="AutoShape 126">
              <a:extLst>
                <a:ext uri="{FF2B5EF4-FFF2-40B4-BE49-F238E27FC236}">
                  <a16:creationId xmlns:a16="http://schemas.microsoft.com/office/drawing/2014/main" id="{CD77C70F-DF4C-34E1-7C6D-BD8408380ABD}"/>
                </a:ext>
              </a:extLst>
            </p:cNvPr>
            <p:cNvCxnSpPr>
              <a:cxnSpLocks noChangeShapeType="1"/>
              <a:stCxn id="124" idx="6"/>
              <a:endCxn id="146" idx="1"/>
            </p:cNvCxnSpPr>
            <p:nvPr/>
          </p:nvCxnSpPr>
          <p:spPr bwMode="auto">
            <a:xfrm flipV="1">
              <a:off x="10736866" y="4472058"/>
              <a:ext cx="433811" cy="2428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1" name="AutoShape 126">
              <a:extLst>
                <a:ext uri="{FF2B5EF4-FFF2-40B4-BE49-F238E27FC236}">
                  <a16:creationId xmlns:a16="http://schemas.microsoft.com/office/drawing/2014/main" id="{C3B809ED-F85A-21ED-4012-A4158DF754B4}"/>
                </a:ext>
              </a:extLst>
            </p:cNvPr>
            <p:cNvCxnSpPr>
              <a:cxnSpLocks noChangeShapeType="1"/>
              <a:stCxn id="125" idx="6"/>
              <a:endCxn id="146" idx="1"/>
            </p:cNvCxnSpPr>
            <p:nvPr/>
          </p:nvCxnSpPr>
          <p:spPr bwMode="auto">
            <a:xfrm flipV="1">
              <a:off x="10741837" y="4472058"/>
              <a:ext cx="428840" cy="925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4" name="AutoShape 126">
              <a:extLst>
                <a:ext uri="{FF2B5EF4-FFF2-40B4-BE49-F238E27FC236}">
                  <a16:creationId xmlns:a16="http://schemas.microsoft.com/office/drawing/2014/main" id="{56C3AAE8-4AD2-0A17-1504-8FB70D849585}"/>
                </a:ext>
              </a:extLst>
            </p:cNvPr>
            <p:cNvCxnSpPr>
              <a:cxnSpLocks noChangeShapeType="1"/>
              <a:stCxn id="126" idx="6"/>
              <a:endCxn id="146" idx="2"/>
            </p:cNvCxnSpPr>
            <p:nvPr/>
          </p:nvCxnSpPr>
          <p:spPr bwMode="auto">
            <a:xfrm flipV="1">
              <a:off x="10741837" y="4509901"/>
              <a:ext cx="415250" cy="15926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7" name="AutoShape 125">
              <a:extLst>
                <a:ext uri="{FF2B5EF4-FFF2-40B4-BE49-F238E27FC236}">
                  <a16:creationId xmlns:a16="http://schemas.microsoft.com/office/drawing/2014/main" id="{30D9B761-6515-BC79-9143-DAAF26EB2D90}"/>
                </a:ext>
              </a:extLst>
            </p:cNvPr>
            <p:cNvCxnSpPr>
              <a:cxnSpLocks noChangeShapeType="1"/>
              <a:stCxn id="124" idx="6"/>
              <a:endCxn id="149" idx="2"/>
            </p:cNvCxnSpPr>
            <p:nvPr/>
          </p:nvCxnSpPr>
          <p:spPr bwMode="auto">
            <a:xfrm>
              <a:off x="10736866" y="4714920"/>
              <a:ext cx="411255" cy="6959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0" name="AutoShape 125">
              <a:extLst>
                <a:ext uri="{FF2B5EF4-FFF2-40B4-BE49-F238E27FC236}">
                  <a16:creationId xmlns:a16="http://schemas.microsoft.com/office/drawing/2014/main" id="{4852C4BB-1C30-BD90-69B0-D6E4D2A9B6D8}"/>
                </a:ext>
              </a:extLst>
            </p:cNvPr>
            <p:cNvCxnSpPr>
              <a:cxnSpLocks noChangeShapeType="1"/>
              <a:stCxn id="125" idx="6"/>
              <a:endCxn id="149" idx="2"/>
            </p:cNvCxnSpPr>
            <p:nvPr/>
          </p:nvCxnSpPr>
          <p:spPr bwMode="auto">
            <a:xfrm>
              <a:off x="10741837" y="5397273"/>
              <a:ext cx="406284" cy="1358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3" name="AutoShape 125">
              <a:extLst>
                <a:ext uri="{FF2B5EF4-FFF2-40B4-BE49-F238E27FC236}">
                  <a16:creationId xmlns:a16="http://schemas.microsoft.com/office/drawing/2014/main" id="{6B01BA0C-0937-EC42-F8C0-F6EA9210619F}"/>
                </a:ext>
              </a:extLst>
            </p:cNvPr>
            <p:cNvCxnSpPr>
              <a:cxnSpLocks noChangeShapeType="1"/>
              <a:stCxn id="126" idx="6"/>
              <a:endCxn id="149" idx="2"/>
            </p:cNvCxnSpPr>
            <p:nvPr/>
          </p:nvCxnSpPr>
          <p:spPr bwMode="auto">
            <a:xfrm flipV="1">
              <a:off x="10741837" y="5410854"/>
              <a:ext cx="406284" cy="6917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5562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640B4A6-10EB-4E26-3E50-CFD43716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084B06-F71C-11BF-6DFE-61827ABAF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A22ED225-CEB6-F171-B434-76DD09965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4" name="Google Shape;247;p26">
            <a:extLst>
              <a:ext uri="{FF2B5EF4-FFF2-40B4-BE49-F238E27FC236}">
                <a16:creationId xmlns:a16="http://schemas.microsoft.com/office/drawing/2014/main" id="{27F95011-E7C6-6548-353B-05808DA4D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dirty="0">
                <a:solidFill>
                  <a:schemeClr val="bg1"/>
                </a:solidFill>
              </a:rPr>
              <a:t>Policy function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Examples of PFAs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From machine learning to PFAs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Policy evaluation</a:t>
            </a:r>
          </a:p>
        </p:txBody>
      </p:sp>
    </p:spTree>
    <p:extLst>
      <p:ext uri="{BB962C8B-B14F-4D97-AF65-F5344CB8AC3E}">
        <p14:creationId xmlns:p14="http://schemas.microsoft.com/office/powerpoint/2010/main" val="1905465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6">
          <a:extLst>
            <a:ext uri="{FF2B5EF4-FFF2-40B4-BE49-F238E27FC236}">
              <a16:creationId xmlns:a16="http://schemas.microsoft.com/office/drawing/2014/main" id="{AD38DD0F-9440-8BB6-02E7-759D1969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9" name="Google Shape;4469;p99">
            <a:extLst>
              <a:ext uri="{FF2B5EF4-FFF2-40B4-BE49-F238E27FC236}">
                <a16:creationId xmlns:a16="http://schemas.microsoft.com/office/drawing/2014/main" id="{ECF6288E-01BA-376B-D9BB-B6D5294262F9}"/>
              </a:ext>
            </a:extLst>
          </p:cNvPr>
          <p:cNvSpPr/>
          <p:nvPr/>
        </p:nvSpPr>
        <p:spPr>
          <a:xfrm rot="10800000">
            <a:off x="-12600" y="1782675"/>
            <a:ext cx="12204600" cy="2296800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59" name="Google Shape;4459;p99">
            <a:extLst>
              <a:ext uri="{FF2B5EF4-FFF2-40B4-BE49-F238E27FC236}">
                <a16:creationId xmlns:a16="http://schemas.microsoft.com/office/drawing/2014/main" id="{F04E781A-AAB6-4A78-AE09-5CDD367C4878}"/>
              </a:ext>
            </a:extLst>
          </p:cNvPr>
          <p:cNvSpPr txBox="1"/>
          <p:nvPr/>
        </p:nvSpPr>
        <p:spPr>
          <a:xfrm flipH="1">
            <a:off x="1726626" y="1235950"/>
            <a:ext cx="31311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dirty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Machine learning</a:t>
            </a:r>
            <a:endParaRPr sz="1200"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460" name="Google Shape;4460;p99">
            <a:extLst>
              <a:ext uri="{FF2B5EF4-FFF2-40B4-BE49-F238E27FC236}">
                <a16:creationId xmlns:a16="http://schemas.microsoft.com/office/drawing/2014/main" id="{60568D0C-D705-8439-066F-CD055DF33426}"/>
              </a:ext>
            </a:extLst>
          </p:cNvPr>
          <p:cNvSpPr txBox="1"/>
          <p:nvPr/>
        </p:nvSpPr>
        <p:spPr>
          <a:xfrm flipH="1">
            <a:off x="6624218" y="1235956"/>
            <a:ext cx="390009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Sequential decisions</a:t>
            </a:r>
            <a:endParaRPr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461" name="Google Shape;4461;p99">
            <a:extLst>
              <a:ext uri="{FF2B5EF4-FFF2-40B4-BE49-F238E27FC236}">
                <a16:creationId xmlns:a16="http://schemas.microsoft.com/office/drawing/2014/main" id="{498E248A-8B60-E5CD-6F46-1B219E658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5650" y="353850"/>
            <a:ext cx="8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/>
              <a:t>Bridging Machine Learning and Sequential Decision Problems</a:t>
            </a:r>
            <a:endParaRPr sz="3100" dirty="0"/>
          </a:p>
        </p:txBody>
      </p:sp>
      <p:sp>
        <p:nvSpPr>
          <p:cNvPr id="4462" name="Google Shape;4462;p99">
            <a:extLst>
              <a:ext uri="{FF2B5EF4-FFF2-40B4-BE49-F238E27FC236}">
                <a16:creationId xmlns:a16="http://schemas.microsoft.com/office/drawing/2014/main" id="{DB47FAD5-74CC-96B6-0773-717902DAA6C7}"/>
              </a:ext>
            </a:extLst>
          </p:cNvPr>
          <p:cNvSpPr txBox="1"/>
          <p:nvPr/>
        </p:nvSpPr>
        <p:spPr>
          <a:xfrm>
            <a:off x="5861825" y="4222700"/>
            <a:ext cx="3131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Policy function approximations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468" name="Google Shape;4468;p99">
            <a:extLst>
              <a:ext uri="{FF2B5EF4-FFF2-40B4-BE49-F238E27FC236}">
                <a16:creationId xmlns:a16="http://schemas.microsoft.com/office/drawing/2014/main" id="{126ACE81-09E5-42B0-C239-70FFDCE308DE}"/>
              </a:ext>
            </a:extLst>
          </p:cNvPr>
          <p:cNvSpPr txBox="1"/>
          <p:nvPr/>
        </p:nvSpPr>
        <p:spPr>
          <a:xfrm>
            <a:off x="9617928" y="4227611"/>
            <a:ext cx="2267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Analytical functions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pic>
        <p:nvPicPr>
          <p:cNvPr id="4467" name="Google Shape;4467;p99">
            <a:extLst>
              <a:ext uri="{FF2B5EF4-FFF2-40B4-BE49-F238E27FC236}">
                <a16:creationId xmlns:a16="http://schemas.microsoft.com/office/drawing/2014/main" id="{980EAD74-062F-7DB5-C1B3-B5FA563328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55" b="465"/>
          <a:stretch/>
        </p:blipFill>
        <p:spPr>
          <a:xfrm>
            <a:off x="873884" y="4093750"/>
            <a:ext cx="2107563" cy="2019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78" name="Google Shape;4478;p99">
            <a:extLst>
              <a:ext uri="{FF2B5EF4-FFF2-40B4-BE49-F238E27FC236}">
                <a16:creationId xmlns:a16="http://schemas.microsoft.com/office/drawing/2014/main" id="{F4B6B59E-F39A-61B0-4CCD-57FD144FD85F}"/>
              </a:ext>
            </a:extLst>
          </p:cNvPr>
          <p:cNvGrpSpPr/>
          <p:nvPr/>
        </p:nvGrpSpPr>
        <p:grpSpPr>
          <a:xfrm>
            <a:off x="5836230" y="2430814"/>
            <a:ext cx="3070200" cy="1482632"/>
            <a:chOff x="5066362" y="1469982"/>
            <a:chExt cx="3070200" cy="1482632"/>
          </a:xfrm>
        </p:grpSpPr>
        <p:sp>
          <p:nvSpPr>
            <p:cNvPr id="4479" name="Google Shape;4479;p99">
              <a:extLst>
                <a:ext uri="{FF2B5EF4-FFF2-40B4-BE49-F238E27FC236}">
                  <a16:creationId xmlns:a16="http://schemas.microsoft.com/office/drawing/2014/main" id="{6030BCE9-6A7C-5FCE-A49B-68AFD93282C6}"/>
                </a:ext>
              </a:extLst>
            </p:cNvPr>
            <p:cNvSpPr/>
            <p:nvPr/>
          </p:nvSpPr>
          <p:spPr>
            <a:xfrm>
              <a:off x="5941613" y="1469982"/>
              <a:ext cx="1458030" cy="46262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ln w="19050">
                  <a:solidFill>
                    <a:schemeClr val="tx1"/>
                  </a:solidFill>
                </a:ln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80" name="Google Shape;4480;p99">
              <a:extLst>
                <a:ext uri="{FF2B5EF4-FFF2-40B4-BE49-F238E27FC236}">
                  <a16:creationId xmlns:a16="http://schemas.microsoft.com/office/drawing/2014/main" id="{2115FDAC-CE67-30EF-C89F-2553056CCB22}"/>
                </a:ext>
              </a:extLst>
            </p:cNvPr>
            <p:cNvSpPr txBox="1"/>
            <p:nvPr/>
          </p:nvSpPr>
          <p:spPr>
            <a:xfrm>
              <a:off x="5066362" y="2521814"/>
              <a:ext cx="30702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policies</a:t>
              </a:r>
              <a:endParaRPr sz="2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4481" name="Google Shape;4481;p99">
              <a:extLst>
                <a:ext uri="{FF2B5EF4-FFF2-40B4-BE49-F238E27FC236}">
                  <a16:creationId xmlns:a16="http://schemas.microsoft.com/office/drawing/2014/main" id="{90A2026B-1B9F-5AAD-A8CD-C2F33580B263}"/>
                </a:ext>
              </a:extLst>
            </p:cNvPr>
            <p:cNvCxnSpPr>
              <a:stCxn id="4480" idx="0"/>
              <a:endCxn id="4479" idx="4"/>
            </p:cNvCxnSpPr>
            <p:nvPr/>
          </p:nvCxnSpPr>
          <p:spPr>
            <a:xfrm rot="10800000" flipH="1">
              <a:off x="6601462" y="1932614"/>
              <a:ext cx="69300" cy="5892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89AEC9-FFBE-ABE0-2D17-DB47EF0869DB}"/>
                  </a:ext>
                </a:extLst>
              </p:cNvPr>
              <p:cNvSpPr txBox="1"/>
              <p:nvPr/>
            </p:nvSpPr>
            <p:spPr>
              <a:xfrm>
                <a:off x="7982772" y="2871554"/>
                <a:ext cx="2392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2F7EE7-26C2-4C1F-BA5D-F951505BE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772" y="2871554"/>
                <a:ext cx="2392567" cy="338554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FF7AA54C-C34E-2F9F-E698-E08ED2CD1826}"/>
              </a:ext>
            </a:extLst>
          </p:cNvPr>
          <p:cNvGrpSpPr/>
          <p:nvPr/>
        </p:nvGrpSpPr>
        <p:grpSpPr>
          <a:xfrm>
            <a:off x="8047363" y="2100069"/>
            <a:ext cx="3927729" cy="1818961"/>
            <a:chOff x="7990213" y="2100069"/>
            <a:chExt cx="3927729" cy="1818961"/>
          </a:xfrm>
        </p:grpSpPr>
        <p:grpSp>
          <p:nvGrpSpPr>
            <p:cNvPr id="4470" name="Google Shape;4470;p99">
              <a:extLst>
                <a:ext uri="{FF2B5EF4-FFF2-40B4-BE49-F238E27FC236}">
                  <a16:creationId xmlns:a16="http://schemas.microsoft.com/office/drawing/2014/main" id="{2A4E99D0-7A14-68BB-7FCB-726254DACAA8}"/>
                </a:ext>
              </a:extLst>
            </p:cNvPr>
            <p:cNvGrpSpPr/>
            <p:nvPr/>
          </p:nvGrpSpPr>
          <p:grpSpPr>
            <a:xfrm>
              <a:off x="8439762" y="2100069"/>
              <a:ext cx="3478180" cy="1818961"/>
              <a:chOff x="5778628" y="1423688"/>
              <a:chExt cx="3478180" cy="1818961"/>
            </a:xfrm>
          </p:grpSpPr>
          <p:sp>
            <p:nvSpPr>
              <p:cNvPr id="4471" name="Google Shape;4471;p99">
                <a:extLst>
                  <a:ext uri="{FF2B5EF4-FFF2-40B4-BE49-F238E27FC236}">
                    <a16:creationId xmlns:a16="http://schemas.microsoft.com/office/drawing/2014/main" id="{5205DC27-8B64-CC03-C4C4-BE866B901AB3}"/>
                  </a:ext>
                </a:extLst>
              </p:cNvPr>
              <p:cNvSpPr/>
              <p:nvPr/>
            </p:nvSpPr>
            <p:spPr>
              <a:xfrm>
                <a:off x="5778628" y="1423688"/>
                <a:ext cx="2385656" cy="604044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72" name="Google Shape;4472;p99">
                <a:extLst>
                  <a:ext uri="{FF2B5EF4-FFF2-40B4-BE49-F238E27FC236}">
                    <a16:creationId xmlns:a16="http://schemas.microsoft.com/office/drawing/2014/main" id="{704AD1A3-3CA8-1242-1AF4-D6A1ABEFD3C6}"/>
                  </a:ext>
                </a:extLst>
              </p:cNvPr>
              <p:cNvSpPr txBox="1"/>
              <p:nvPr/>
            </p:nvSpPr>
            <p:spPr>
              <a:xfrm>
                <a:off x="6399908" y="2811849"/>
                <a:ext cx="2856900" cy="430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i="0" dirty="0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Model of problem</a:t>
                </a:r>
                <a:endParaRPr sz="220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cxnSp>
            <p:nvCxnSpPr>
              <p:cNvPr id="4473" name="Google Shape;4473;p99">
                <a:extLst>
                  <a:ext uri="{FF2B5EF4-FFF2-40B4-BE49-F238E27FC236}">
                    <a16:creationId xmlns:a16="http://schemas.microsoft.com/office/drawing/2014/main" id="{B782579B-79EA-6D05-E14F-CDD363B0ED12}"/>
                  </a:ext>
                </a:extLst>
              </p:cNvPr>
              <p:cNvCxnSpPr>
                <a:cxnSpLocks/>
                <a:stCxn id="4472" idx="0"/>
                <a:endCxn id="4471" idx="4"/>
              </p:cNvCxnSpPr>
              <p:nvPr/>
            </p:nvCxnSpPr>
            <p:spPr>
              <a:xfrm flipH="1" flipV="1">
                <a:off x="6971456" y="2027732"/>
                <a:ext cx="856902" cy="78411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42" name="Google Shape;4471;p99">
              <a:extLst>
                <a:ext uri="{FF2B5EF4-FFF2-40B4-BE49-F238E27FC236}">
                  <a16:creationId xmlns:a16="http://schemas.microsoft.com/office/drawing/2014/main" id="{1F39AD3A-175C-FDBE-40FB-C7EFF42AD731}"/>
                </a:ext>
              </a:extLst>
            </p:cNvPr>
            <p:cNvSpPr/>
            <p:nvPr/>
          </p:nvSpPr>
          <p:spPr>
            <a:xfrm>
              <a:off x="7990213" y="2794422"/>
              <a:ext cx="2198652" cy="50760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3" name="Google Shape;4473;p99">
              <a:extLst>
                <a:ext uri="{FF2B5EF4-FFF2-40B4-BE49-F238E27FC236}">
                  <a16:creationId xmlns:a16="http://schemas.microsoft.com/office/drawing/2014/main" id="{7D75F64B-D762-D809-A535-EA080E87F3E2}"/>
                </a:ext>
              </a:extLst>
            </p:cNvPr>
            <p:cNvCxnSpPr>
              <a:cxnSpLocks/>
              <a:stCxn id="4472" idx="0"/>
              <a:endCxn id="42" idx="5"/>
            </p:cNvCxnSpPr>
            <p:nvPr/>
          </p:nvCxnSpPr>
          <p:spPr>
            <a:xfrm flipH="1" flipV="1">
              <a:off x="9866880" y="3227690"/>
              <a:ext cx="622612" cy="26054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CEDD15-E413-EC1D-F95A-079D8508BDEA}"/>
                  </a:ext>
                </a:extLst>
              </p:cNvPr>
              <p:cNvSpPr txBox="1"/>
              <p:nvPr/>
            </p:nvSpPr>
            <p:spPr>
              <a:xfrm>
                <a:off x="1369347" y="1831314"/>
                <a:ext cx="4647491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97586A-93D0-4692-5224-160420EEE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347" y="1831314"/>
                <a:ext cx="4647491" cy="13038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74" name="Google Shape;4474;p99">
            <a:extLst>
              <a:ext uri="{FF2B5EF4-FFF2-40B4-BE49-F238E27FC236}">
                <a16:creationId xmlns:a16="http://schemas.microsoft.com/office/drawing/2014/main" id="{575792EB-C287-5457-6A1F-3F39040F1CD1}"/>
              </a:ext>
            </a:extLst>
          </p:cNvPr>
          <p:cNvGrpSpPr/>
          <p:nvPr/>
        </p:nvGrpSpPr>
        <p:grpSpPr>
          <a:xfrm>
            <a:off x="267147" y="2588866"/>
            <a:ext cx="3259200" cy="1296882"/>
            <a:chOff x="-301043" y="3541785"/>
            <a:chExt cx="3259200" cy="1296882"/>
          </a:xfrm>
        </p:grpSpPr>
        <p:sp>
          <p:nvSpPr>
            <p:cNvPr id="4475" name="Google Shape;4475;p99">
              <a:extLst>
                <a:ext uri="{FF2B5EF4-FFF2-40B4-BE49-F238E27FC236}">
                  <a16:creationId xmlns:a16="http://schemas.microsoft.com/office/drawing/2014/main" id="{F13A37CD-A32C-4F13-99A6-47784C0A5163}"/>
                </a:ext>
              </a:extLst>
            </p:cNvPr>
            <p:cNvSpPr/>
            <p:nvPr/>
          </p:nvSpPr>
          <p:spPr>
            <a:xfrm>
              <a:off x="896551" y="3541785"/>
              <a:ext cx="1331106" cy="46262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ln w="19050">
                  <a:solidFill>
                    <a:schemeClr val="tx1"/>
                  </a:solidFill>
                </a:ln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76" name="Google Shape;4476;p99">
              <a:extLst>
                <a:ext uri="{FF2B5EF4-FFF2-40B4-BE49-F238E27FC236}">
                  <a16:creationId xmlns:a16="http://schemas.microsoft.com/office/drawing/2014/main" id="{9865FC4A-1A26-0FDA-8521-43DDFF49F8D8}"/>
                </a:ext>
              </a:extLst>
            </p:cNvPr>
            <p:cNvSpPr txBox="1"/>
            <p:nvPr/>
          </p:nvSpPr>
          <p:spPr>
            <a:xfrm>
              <a:off x="-301043" y="4407867"/>
              <a:ext cx="32592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functions</a:t>
              </a:r>
              <a:endParaRPr sz="1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4477" name="Google Shape;4477;p99">
              <a:extLst>
                <a:ext uri="{FF2B5EF4-FFF2-40B4-BE49-F238E27FC236}">
                  <a16:creationId xmlns:a16="http://schemas.microsoft.com/office/drawing/2014/main" id="{E9454078-A6FA-6215-56E9-7AA35FD7CDFB}"/>
                </a:ext>
              </a:extLst>
            </p:cNvPr>
            <p:cNvCxnSpPr>
              <a:cxnSpLocks/>
              <a:stCxn id="4476" idx="0"/>
              <a:endCxn id="4475" idx="4"/>
            </p:cNvCxnSpPr>
            <p:nvPr/>
          </p:nvCxnSpPr>
          <p:spPr>
            <a:xfrm flipV="1">
              <a:off x="1328557" y="4004410"/>
              <a:ext cx="233547" cy="403457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4482" name="Google Shape;4482;p99">
            <a:extLst>
              <a:ext uri="{FF2B5EF4-FFF2-40B4-BE49-F238E27FC236}">
                <a16:creationId xmlns:a16="http://schemas.microsoft.com/office/drawing/2014/main" id="{F2577E39-940B-87BD-665E-095E61F1971D}"/>
              </a:ext>
            </a:extLst>
          </p:cNvPr>
          <p:cNvGrpSpPr/>
          <p:nvPr/>
        </p:nvGrpSpPr>
        <p:grpSpPr>
          <a:xfrm>
            <a:off x="3440135" y="2174125"/>
            <a:ext cx="2099597" cy="1723926"/>
            <a:chOff x="4125935" y="3088525"/>
            <a:chExt cx="2099597" cy="1723926"/>
          </a:xfrm>
        </p:grpSpPr>
        <p:grpSp>
          <p:nvGrpSpPr>
            <p:cNvPr id="4483" name="Google Shape;4483;p99">
              <a:extLst>
                <a:ext uri="{FF2B5EF4-FFF2-40B4-BE49-F238E27FC236}">
                  <a16:creationId xmlns:a16="http://schemas.microsoft.com/office/drawing/2014/main" id="{9FBB680C-7A54-4F6F-516C-1FBB3785C320}"/>
                </a:ext>
              </a:extLst>
            </p:cNvPr>
            <p:cNvGrpSpPr/>
            <p:nvPr/>
          </p:nvGrpSpPr>
          <p:grpSpPr>
            <a:xfrm>
              <a:off x="4125935" y="3088525"/>
              <a:ext cx="1580201" cy="1293080"/>
              <a:chOff x="3480194" y="2743384"/>
              <a:chExt cx="1578308" cy="1266236"/>
            </a:xfrm>
          </p:grpSpPr>
          <p:grpSp>
            <p:nvGrpSpPr>
              <p:cNvPr id="4484" name="Google Shape;4484;p99">
                <a:extLst>
                  <a:ext uri="{FF2B5EF4-FFF2-40B4-BE49-F238E27FC236}">
                    <a16:creationId xmlns:a16="http://schemas.microsoft.com/office/drawing/2014/main" id="{BD42075C-ED4E-B83E-FEA4-8F1DDAA2B9FC}"/>
                  </a:ext>
                </a:extLst>
              </p:cNvPr>
              <p:cNvGrpSpPr/>
              <p:nvPr/>
            </p:nvGrpSpPr>
            <p:grpSpPr>
              <a:xfrm>
                <a:off x="3480194" y="2743384"/>
                <a:ext cx="1141826" cy="1266235"/>
                <a:chOff x="1290370" y="3378453"/>
                <a:chExt cx="1141826" cy="1266235"/>
              </a:xfrm>
            </p:grpSpPr>
            <p:sp>
              <p:nvSpPr>
                <p:cNvPr id="4485" name="Google Shape;4485;p99">
                  <a:extLst>
                    <a:ext uri="{FF2B5EF4-FFF2-40B4-BE49-F238E27FC236}">
                      <a16:creationId xmlns:a16="http://schemas.microsoft.com/office/drawing/2014/main" id="{17B14E1D-0B0E-18A5-021D-BB4ECEB63DAC}"/>
                    </a:ext>
                  </a:extLst>
                </p:cNvPr>
                <p:cNvSpPr/>
                <p:nvPr/>
              </p:nvSpPr>
              <p:spPr>
                <a:xfrm>
                  <a:off x="1290370" y="3378453"/>
                  <a:ext cx="424500" cy="7104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accent2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4486" name="Google Shape;4486;p99">
                  <a:extLst>
                    <a:ext uri="{FF2B5EF4-FFF2-40B4-BE49-F238E27FC236}">
                      <a16:creationId xmlns:a16="http://schemas.microsoft.com/office/drawing/2014/main" id="{2DD8AD2E-A4B9-A284-6442-06322E5AD6BF}"/>
                    </a:ext>
                  </a:extLst>
                </p:cNvPr>
                <p:cNvCxnSpPr>
                  <a:cxnSpLocks/>
                  <a:stCxn id="4487" idx="0"/>
                  <a:endCxn id="4485" idx="4"/>
                </p:cNvCxnSpPr>
                <p:nvPr/>
              </p:nvCxnSpPr>
              <p:spPr>
                <a:xfrm flipH="1" flipV="1">
                  <a:off x="1502621" y="4088853"/>
                  <a:ext cx="929575" cy="555835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</p:grpSp>
          <p:sp>
            <p:nvSpPr>
              <p:cNvPr id="4488" name="Google Shape;4488;p99">
                <a:extLst>
                  <a:ext uri="{FF2B5EF4-FFF2-40B4-BE49-F238E27FC236}">
                    <a16:creationId xmlns:a16="http://schemas.microsoft.com/office/drawing/2014/main" id="{72091888-9FE9-7BC4-DFFF-A6814FD49968}"/>
                  </a:ext>
                </a:extLst>
              </p:cNvPr>
              <p:cNvSpPr/>
              <p:nvPr/>
            </p:nvSpPr>
            <p:spPr>
              <a:xfrm>
                <a:off x="4634002" y="2774220"/>
                <a:ext cx="424500" cy="710400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489" name="Google Shape;4489;p99">
                <a:extLst>
                  <a:ext uri="{FF2B5EF4-FFF2-40B4-BE49-F238E27FC236}">
                    <a16:creationId xmlns:a16="http://schemas.microsoft.com/office/drawing/2014/main" id="{BA164FB2-8E17-D781-C774-352E3E8D67D4}"/>
                  </a:ext>
                </a:extLst>
              </p:cNvPr>
              <p:cNvCxnSpPr>
                <a:cxnSpLocks/>
                <a:stCxn id="4487" idx="0"/>
                <a:endCxn id="4488" idx="4"/>
              </p:cNvCxnSpPr>
              <p:nvPr/>
            </p:nvCxnSpPr>
            <p:spPr>
              <a:xfrm flipV="1">
                <a:off x="4622019" y="3484620"/>
                <a:ext cx="224234" cy="525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4487" name="Google Shape;4487;p99">
              <a:extLst>
                <a:ext uri="{FF2B5EF4-FFF2-40B4-BE49-F238E27FC236}">
                  <a16:creationId xmlns:a16="http://schemas.microsoft.com/office/drawing/2014/main" id="{37076D30-A4D9-97E1-5A67-9C619742500E}"/>
                </a:ext>
              </a:extLst>
            </p:cNvPr>
            <p:cNvSpPr txBox="1"/>
            <p:nvPr/>
          </p:nvSpPr>
          <p:spPr>
            <a:xfrm>
              <a:off x="4312728" y="4381604"/>
              <a:ext cx="1912804" cy="43084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training dataset</a:t>
              </a:r>
              <a:endParaRPr sz="1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97A69C-268C-6688-5CC0-B9B8E37B9E6E}"/>
                  </a:ext>
                </a:extLst>
              </p:cNvPr>
              <p:cNvSpPr txBox="1"/>
              <p:nvPr/>
            </p:nvSpPr>
            <p:spPr>
              <a:xfrm>
                <a:off x="6692756" y="1692024"/>
                <a:ext cx="4136710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56881D-5146-81FE-8887-0E2EDA174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756" y="1692024"/>
                <a:ext cx="4136710" cy="13038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21E8994-26D8-3CCD-FA6E-15892D806C20}"/>
              </a:ext>
            </a:extLst>
          </p:cNvPr>
          <p:cNvGrpSpPr/>
          <p:nvPr/>
        </p:nvGrpSpPr>
        <p:grpSpPr>
          <a:xfrm>
            <a:off x="2690094" y="4172359"/>
            <a:ext cx="3171731" cy="1901546"/>
            <a:chOff x="2690094" y="4172359"/>
            <a:chExt cx="3171731" cy="1901546"/>
          </a:xfrm>
        </p:grpSpPr>
        <p:cxnSp>
          <p:nvCxnSpPr>
            <p:cNvPr id="4466" name="Google Shape;4466;p99">
              <a:extLst>
                <a:ext uri="{FF2B5EF4-FFF2-40B4-BE49-F238E27FC236}">
                  <a16:creationId xmlns:a16="http://schemas.microsoft.com/office/drawing/2014/main" id="{CC0922E4-A5BC-9A17-BBFE-30B9D35E1B34}"/>
                </a:ext>
              </a:extLst>
            </p:cNvPr>
            <p:cNvCxnSpPr>
              <a:cxnSpLocks/>
              <a:stCxn id="5" idx="3"/>
              <a:endCxn id="4462" idx="1"/>
            </p:cNvCxnSpPr>
            <p:nvPr/>
          </p:nvCxnSpPr>
          <p:spPr>
            <a:xfrm flipV="1">
              <a:off x="3212481" y="4415150"/>
              <a:ext cx="2649344" cy="70798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AFBD362-034E-6CFB-F970-9A587DDC237B}"/>
                    </a:ext>
                  </a:extLst>
                </p:cNvPr>
                <p:cNvSpPr txBox="1"/>
                <p:nvPr/>
              </p:nvSpPr>
              <p:spPr>
                <a:xfrm>
                  <a:off x="2690094" y="4172359"/>
                  <a:ext cx="522387" cy="19015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D3BB540-7FBE-D636-5793-920E27DAB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0094" y="4172359"/>
                  <a:ext cx="522387" cy="190154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25CFFDA-C91B-9AF9-54C0-982DB22A7BB6}"/>
              </a:ext>
            </a:extLst>
          </p:cNvPr>
          <p:cNvSpPr txBox="1"/>
          <p:nvPr/>
        </p:nvSpPr>
        <p:spPr>
          <a:xfrm>
            <a:off x="5861825" y="5028642"/>
            <a:ext cx="5467546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PFAs represent the entire class of functions used in machine learning. The only difference is: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Machine learning uses a training dataset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PFAs require a model of the underlying decision problem.</a:t>
            </a:r>
          </a:p>
        </p:txBody>
      </p:sp>
    </p:spTree>
    <p:extLst>
      <p:ext uri="{BB962C8B-B14F-4D97-AF65-F5344CB8AC3E}">
        <p14:creationId xmlns:p14="http://schemas.microsoft.com/office/powerpoint/2010/main" val="253592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BBE78E3-D573-B86B-F02C-CF89A9F7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9D86E-C840-11EA-141E-691D7CC7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705C53DE-0CF1-7C62-7AB6-C1EBC3B28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4" name="Google Shape;247;p26">
            <a:extLst>
              <a:ext uri="{FF2B5EF4-FFF2-40B4-BE49-F238E27FC236}">
                <a16:creationId xmlns:a16="http://schemas.microsoft.com/office/drawing/2014/main" id="{53AAE5C9-8043-E53E-FB77-55DB4D9A8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dirty="0">
                <a:solidFill>
                  <a:schemeClr val="bg1"/>
                </a:solidFill>
              </a:rPr>
              <a:t>Policy function approximations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Examples of PFAs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From machine learning to PFAs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Policy evaluation</a:t>
            </a:r>
          </a:p>
        </p:txBody>
      </p:sp>
    </p:spTree>
    <p:extLst>
      <p:ext uri="{BB962C8B-B14F-4D97-AF65-F5344CB8AC3E}">
        <p14:creationId xmlns:p14="http://schemas.microsoft.com/office/powerpoint/2010/main" val="949759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779D-EB33-1CAD-34E8-356E4985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60144-E27D-AAE4-B640-8712AA4FC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129" y="1115078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Ways to evaluate a policy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Back testing using historical data</a:t>
            </a:r>
          </a:p>
          <a:p>
            <a:pPr lvl="2"/>
            <a:r>
              <a:rPr lang="en-US" dirty="0"/>
              <a:t>Widely used in finance, where prices are not affected by decisions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Learning in the field</a:t>
            </a:r>
          </a:p>
          <a:p>
            <a:pPr lvl="2"/>
            <a:r>
              <a:rPr lang="en-US" dirty="0"/>
              <a:t>“Learning while doing” or “online learning”</a:t>
            </a:r>
          </a:p>
          <a:p>
            <a:pPr lvl="2"/>
            <a:r>
              <a:rPr lang="en-US" dirty="0"/>
              <a:t>Requires no modeling assumptions</a:t>
            </a:r>
          </a:p>
          <a:p>
            <a:pPr lvl="2"/>
            <a:r>
              <a:rPr lang="en-US" dirty="0"/>
              <a:t>Very slow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Simulations using manufactured samples</a:t>
            </a:r>
          </a:p>
          <a:p>
            <a:pPr lvl="2"/>
            <a:r>
              <a:rPr lang="en-US" dirty="0"/>
              <a:t>Requires creating mathematical models of stochastic processes</a:t>
            </a:r>
          </a:p>
          <a:p>
            <a:pPr lvl="2"/>
            <a:r>
              <a:rPr lang="en-US" dirty="0"/>
              <a:t>Very easy for toy problems, but can become quite sophisticated</a:t>
            </a:r>
          </a:p>
          <a:p>
            <a:pPr lvl="2"/>
            <a:r>
              <a:rPr lang="en-US" dirty="0"/>
              <a:t>Major issues is capturing different forms of correlations</a:t>
            </a:r>
          </a:p>
        </p:txBody>
      </p:sp>
    </p:spTree>
    <p:extLst>
      <p:ext uri="{BB962C8B-B14F-4D97-AF65-F5344CB8AC3E}">
        <p14:creationId xmlns:p14="http://schemas.microsoft.com/office/powerpoint/2010/main" val="266973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C1F6-5F4E-C507-DAB3-8E9EDDBF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EDF4F-9537-55DD-356F-79631194B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530" y="1090953"/>
            <a:ext cx="10745479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Evaluating policies is hard: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Online policy evaluation is very slow.  I call this “learning while doing” and illustrate it at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https://tinyurl.com/learningwhiledoing/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using the context of optimizing the policy for holding cash for a mutual fund.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This is being developed as a game at </a:t>
            </a:r>
          </a:p>
          <a:p>
            <a:pPr marL="5715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		warrenpowell.org </a:t>
            </a:r>
            <a:r>
              <a:rPr lang="en-US" dirty="0"/>
              <a:t>→ Teaching materials → Games</a:t>
            </a: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Offline simulations can be very noisy, and may be computationally demanding.  </a:t>
            </a:r>
          </a:p>
        </p:txBody>
      </p:sp>
    </p:spTree>
    <p:extLst>
      <p:ext uri="{BB962C8B-B14F-4D97-AF65-F5344CB8AC3E}">
        <p14:creationId xmlns:p14="http://schemas.microsoft.com/office/powerpoint/2010/main" val="2133959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55CD-35CF-01CB-B11E-0EADB989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9958F0-2E46-E01D-9D8B-57F8E391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54C8DA-CCCC-2E9A-7D38-E7553D9B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A96E3-438C-2073-E647-5562D38C2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CE04C-A247-DB85-5074-3BC442C01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25244-2504-AD44-FE25-274856A4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D88336-F3C7-52E8-65DE-61711D908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9D68AF-39EA-1598-642D-CC72F4667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EA4E4C-6BDD-AC33-074A-7C53EFAF8A28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policy function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Policy function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2796678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