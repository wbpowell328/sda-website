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91"/>
  </p:notesMasterIdLst>
  <p:sldIdLst>
    <p:sldId id="10776" r:id="rId312"/>
    <p:sldId id="11020" r:id="rId313"/>
    <p:sldId id="10894" r:id="rId314"/>
    <p:sldId id="11057" r:id="rId315"/>
    <p:sldId id="10897" r:id="rId316"/>
    <p:sldId id="3061" r:id="rId317"/>
    <p:sldId id="6236" r:id="rId318"/>
    <p:sldId id="3038" r:id="rId319"/>
    <p:sldId id="11059" r:id="rId320"/>
    <p:sldId id="11058" r:id="rId321"/>
    <p:sldId id="6238" r:id="rId322"/>
    <p:sldId id="6239" r:id="rId323"/>
    <p:sldId id="6240" r:id="rId324"/>
    <p:sldId id="6241" r:id="rId325"/>
    <p:sldId id="10895" r:id="rId326"/>
    <p:sldId id="10719" r:id="rId327"/>
    <p:sldId id="6671" r:id="rId328"/>
    <p:sldId id="6674" r:id="rId329"/>
    <p:sldId id="6673" r:id="rId330"/>
    <p:sldId id="4634" r:id="rId331"/>
    <p:sldId id="6672" r:id="rId332"/>
    <p:sldId id="9078" r:id="rId333"/>
    <p:sldId id="9079" r:id="rId334"/>
    <p:sldId id="9080" r:id="rId335"/>
    <p:sldId id="6682" r:id="rId336"/>
    <p:sldId id="11026" r:id="rId337"/>
  </p:sldIdLst>
  <p:sldSz cx="12192000" cy="6858000"/>
  <p:notesSz cx="7102475" cy="9388475"/>
  <p:embeddedFontLst>
    <p:embeddedFont>
      <p:font typeface="Cambria Math" panose="02040503050406030204" pitchFamily="18" charset="0"/>
      <p:regular r:id="rId392"/>
    </p:embeddedFont>
    <p:embeddedFont>
      <p:font typeface="Oswald" panose="00000500000000000000" pitchFamily="2" charset="0"/>
      <p:regular r:id="rId393"/>
      <p:bold r:id="rId394"/>
    </p:embeddedFont>
    <p:embeddedFont>
      <p:font typeface="Oswald Regular" panose="00000500000000000000" charset="0"/>
      <p:regular r:id="rId395"/>
      <p:bold r:id="rId396"/>
    </p:embeddedFont>
    <p:embeddedFont>
      <p:font typeface="Playfair Display" panose="00000500000000000000" pitchFamily="2" charset="0"/>
      <p:regular r:id="rId397"/>
      <p:bold r:id="rId398"/>
      <p:italic r:id="rId399"/>
      <p:boldItalic r:id="rId400"/>
    </p:embeddedFont>
    <p:embeddedFont>
      <p:font typeface="Raleway" pitchFamily="2" charset="0"/>
      <p:regular r:id="rId401"/>
      <p:bold r:id="rId402"/>
      <p:italic r:id="rId403"/>
      <p:boldItalic r:id="rId404"/>
    </p:embeddedFont>
    <p:embeddedFont>
      <p:font typeface="Raleway Thin" pitchFamily="2" charset="0"/>
      <p:regular r:id="rId405"/>
      <p:bold r:id="rId406"/>
      <p:italic r:id="rId407"/>
      <p:boldItalic r:id="rId40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Policy function approximations" id="{2968945F-A103-4460-96A7-EAC23413810B}">
          <p14:sldIdLst>
            <p14:sldId id="10760"/>
            <p14:sldId id="10588"/>
            <p14:sldId id="10374"/>
            <p14:sldId id="10378"/>
            <p14:sldId id="10535"/>
            <p14:sldId id="11054"/>
            <p14:sldId id="4656"/>
            <p14:sldId id="4658"/>
            <p14:sldId id="10375"/>
            <p14:sldId id="10376"/>
            <p14:sldId id="10377"/>
            <p14:sldId id="11051"/>
            <p14:sldId id="11050"/>
            <p14:sldId id="11052"/>
            <p14:sldId id="10543"/>
            <p14:sldId id="10664"/>
            <p14:sldId id="11041"/>
          </p14:sldIdLst>
        </p14:section>
        <p14:section name="Cost function approximations" id="{646EA107-656E-4B76-B592-826797412CA6}">
          <p14:sldIdLst>
            <p14:sldId id="10765"/>
            <p14:sldId id="9933"/>
            <p14:sldId id="10270"/>
            <p14:sldId id="10214"/>
            <p14:sldId id="9796"/>
            <p14:sldId id="10207"/>
            <p14:sldId id="10208"/>
            <p14:sldId id="10209"/>
            <p14:sldId id="10210"/>
            <p14:sldId id="10211"/>
            <p14:sldId id="10272"/>
            <p14:sldId id="10891"/>
            <p14:sldId id="10643"/>
            <p14:sldId id="10215"/>
            <p14:sldId id="10589"/>
            <p14:sldId id="9061"/>
            <p14:sldId id="9108"/>
            <p14:sldId id="8939"/>
            <p14:sldId id="9082"/>
            <p14:sldId id="10974"/>
          </p14:sldIdLst>
        </p14:section>
        <p14:section name="Value function approximations (5 parts)" id="{CF00BF4F-5584-4580-9D7B-9D8880ECA957}">
          <p14:sldIdLst>
            <p14:sldId id="10737"/>
            <p14:sldId id="10761"/>
            <p14:sldId id="10975"/>
            <p14:sldId id="11006"/>
            <p14:sldId id="10783"/>
            <p14:sldId id="10699"/>
            <p14:sldId id="10592"/>
            <p14:sldId id="5586"/>
            <p14:sldId id="5576"/>
            <p14:sldId id="10384"/>
            <p14:sldId id="11031"/>
            <p14:sldId id="10985"/>
            <p14:sldId id="6555"/>
            <p14:sldId id="6556"/>
            <p14:sldId id="6557"/>
            <p14:sldId id="6558"/>
            <p14:sldId id="11034"/>
            <p14:sldId id="10423"/>
            <p14:sldId id="11035"/>
            <p14:sldId id="5599"/>
            <p14:sldId id="11056"/>
            <p14:sldId id="10991"/>
            <p14:sldId id="10769"/>
            <p14:sldId id="11007"/>
            <p14:sldId id="10986"/>
            <p14:sldId id="10264"/>
            <p14:sldId id="10265"/>
            <p14:sldId id="10266"/>
            <p14:sldId id="9555"/>
            <p14:sldId id="10688"/>
            <p14:sldId id="10988"/>
            <p14:sldId id="10316"/>
            <p14:sldId id="3309"/>
            <p14:sldId id="10318"/>
            <p14:sldId id="10319"/>
            <p14:sldId id="3311"/>
            <p14:sldId id="3312"/>
            <p14:sldId id="3313"/>
            <p14:sldId id="3314"/>
            <p14:sldId id="10321"/>
            <p14:sldId id="3315"/>
            <p14:sldId id="10322"/>
            <p14:sldId id="3316"/>
            <p14:sldId id="10323"/>
            <p14:sldId id="10595"/>
            <p14:sldId id="11036"/>
            <p14:sldId id="10989"/>
            <p14:sldId id="10717"/>
            <p14:sldId id="6103"/>
            <p14:sldId id="6104"/>
            <p14:sldId id="10528"/>
            <p14:sldId id="6105"/>
            <p14:sldId id="10733"/>
            <p14:sldId id="10326"/>
            <p14:sldId id="10990"/>
            <p14:sldId id="6255"/>
            <p14:sldId id="6256"/>
            <p14:sldId id="6257"/>
            <p14:sldId id="6258"/>
            <p14:sldId id="10992"/>
            <p14:sldId id="10770"/>
            <p14:sldId id="11008"/>
            <p14:sldId id="10996"/>
            <p14:sldId id="6387"/>
            <p14:sldId id="6388"/>
            <p14:sldId id="6389"/>
            <p14:sldId id="10997"/>
            <p14:sldId id="5774"/>
            <p14:sldId id="5777"/>
            <p14:sldId id="5782"/>
            <p14:sldId id="5783"/>
            <p14:sldId id="10593"/>
            <p14:sldId id="5780"/>
            <p14:sldId id="10998"/>
            <p14:sldId id="10641"/>
            <p14:sldId id="9560"/>
            <p14:sldId id="10993"/>
            <p14:sldId id="10772"/>
            <p14:sldId id="11009"/>
            <p14:sldId id="10999"/>
            <p14:sldId id="11101"/>
            <p14:sldId id="10667"/>
            <p14:sldId id="11088"/>
            <p14:sldId id="10958"/>
            <p14:sldId id="11089"/>
            <p14:sldId id="11090"/>
            <p14:sldId id="10956"/>
            <p14:sldId id="5810"/>
            <p14:sldId id="5813"/>
            <p14:sldId id="11091"/>
            <p14:sldId id="11000"/>
            <p14:sldId id="6414"/>
            <p14:sldId id="10959"/>
            <p14:sldId id="10960"/>
            <p14:sldId id="6415"/>
            <p14:sldId id="6416"/>
            <p14:sldId id="6417"/>
            <p14:sldId id="6418"/>
            <p14:sldId id="6419"/>
            <p14:sldId id="11001"/>
            <p14:sldId id="9081"/>
            <p14:sldId id="9088"/>
            <p14:sldId id="9119"/>
            <p14:sldId id="9089"/>
            <p14:sldId id="10947"/>
            <p14:sldId id="10951"/>
            <p14:sldId id="10950"/>
            <p14:sldId id="10949"/>
            <p14:sldId id="10948"/>
            <p14:sldId id="10952"/>
            <p14:sldId id="10476"/>
            <p14:sldId id="10475"/>
            <p14:sldId id="10676"/>
            <p14:sldId id="10677"/>
            <p14:sldId id="10684"/>
            <p14:sldId id="10994"/>
            <p14:sldId id="10771"/>
            <p14:sldId id="11010"/>
            <p14:sldId id="11096"/>
            <p14:sldId id="11097"/>
            <p14:sldId id="413"/>
            <p14:sldId id="414"/>
            <p14:sldId id="416"/>
            <p14:sldId id="11093"/>
            <p14:sldId id="5736"/>
            <p14:sldId id="5737"/>
            <p14:sldId id="5738"/>
            <p14:sldId id="5739"/>
            <p14:sldId id="5740"/>
            <p14:sldId id="5741"/>
            <p14:sldId id="5742"/>
            <p14:sldId id="5743"/>
            <p14:sldId id="5744"/>
            <p14:sldId id="5745"/>
            <p14:sldId id="6099"/>
            <p14:sldId id="5746"/>
            <p14:sldId id="5751"/>
            <p14:sldId id="5752"/>
            <p14:sldId id="5753"/>
            <p14:sldId id="5754"/>
            <p14:sldId id="11098"/>
            <p14:sldId id="5757"/>
            <p14:sldId id="5758"/>
            <p14:sldId id="5759"/>
            <p14:sldId id="5760"/>
            <p14:sldId id="5761"/>
            <p14:sldId id="5762"/>
            <p14:sldId id="10954"/>
            <p14:sldId id="5764"/>
            <p14:sldId id="5765"/>
            <p14:sldId id="5766"/>
            <p14:sldId id="11099"/>
            <p14:sldId id="9936"/>
            <p14:sldId id="9937"/>
            <p14:sldId id="9938"/>
            <p14:sldId id="9939"/>
            <p14:sldId id="9494"/>
            <p14:sldId id="9940"/>
            <p14:sldId id="10730"/>
            <p14:sldId id="9941"/>
            <p14:sldId id="9942"/>
            <p14:sldId id="7912"/>
            <p14:sldId id="9944"/>
            <p14:sldId id="6405"/>
            <p14:sldId id="6407"/>
            <p14:sldId id="6408"/>
            <p14:sldId id="6409"/>
            <p14:sldId id="6410"/>
            <p14:sldId id="6411"/>
            <p14:sldId id="6412"/>
            <p14:sldId id="11100"/>
            <p14:sldId id="11094"/>
            <p14:sldId id="4685"/>
            <p14:sldId id="4686"/>
            <p14:sldId id="4687"/>
            <p14:sldId id="4688"/>
            <p14:sldId id="5909"/>
            <p14:sldId id="5910"/>
            <p14:sldId id="5911"/>
            <p14:sldId id="5912"/>
            <p14:sldId id="5913"/>
            <p14:sldId id="5914"/>
            <p14:sldId id="5915"/>
            <p14:sldId id="5916"/>
            <p14:sldId id="5917"/>
            <p14:sldId id="751"/>
            <p14:sldId id="752"/>
            <p14:sldId id="818"/>
            <p14:sldId id="5923"/>
            <p14:sldId id="817"/>
            <p14:sldId id="5924"/>
            <p14:sldId id="5925"/>
            <p14:sldId id="11095"/>
            <p14:sldId id="10995"/>
          </p14:sldIdLst>
        </p14:section>
        <p14:section name="Direct lookahead approximations (5 parts)" id="{E7718E6B-CD32-432C-BFF1-A2CA0E065725}">
          <p14:sldIdLst>
            <p14:sldId id="10803"/>
            <p14:sldId id="10774"/>
            <p14:sldId id="11012"/>
            <p14:sldId id="11014"/>
            <p14:sldId id="11011"/>
            <p14:sldId id="8804"/>
            <p14:sldId id="8805"/>
            <p14:sldId id="10710"/>
            <p14:sldId id="8809"/>
            <p14:sldId id="8590"/>
            <p14:sldId id="7852"/>
            <p14:sldId id="7853"/>
            <p14:sldId id="7854"/>
            <p14:sldId id="9026"/>
            <p14:sldId id="10644"/>
            <p14:sldId id="11013"/>
            <p14:sldId id="9104"/>
            <p14:sldId id="9105"/>
            <p14:sldId id="9106"/>
            <p14:sldId id="11023"/>
            <p14:sldId id="10773"/>
            <p14:sldId id="11015"/>
            <p14:sldId id="10452"/>
            <p14:sldId id="10453"/>
            <p14:sldId id="10454"/>
            <p14:sldId id="10455"/>
            <p14:sldId id="10456"/>
            <p14:sldId id="10457"/>
            <p14:sldId id="10458"/>
            <p14:sldId id="10459"/>
            <p14:sldId id="10460"/>
            <p14:sldId id="10461"/>
            <p14:sldId id="10462"/>
            <p14:sldId id="10463"/>
            <p14:sldId id="10590"/>
            <p14:sldId id="10601"/>
            <p14:sldId id="10602"/>
            <p14:sldId id="11024"/>
            <p14:sldId id="10775"/>
            <p14:sldId id="11016"/>
            <p14:sldId id="11017"/>
            <p14:sldId id="10277"/>
            <p14:sldId id="8943"/>
            <p14:sldId id="8849"/>
            <p14:sldId id="9059"/>
            <p14:sldId id="933"/>
            <p14:sldId id="934"/>
            <p14:sldId id="944"/>
            <p14:sldId id="7152"/>
            <p14:sldId id="7315"/>
            <p14:sldId id="7310"/>
            <p14:sldId id="9110"/>
            <p14:sldId id="10278"/>
            <p14:sldId id="11018"/>
            <p14:sldId id="10281"/>
            <p14:sldId id="8810"/>
            <p14:sldId id="8811"/>
            <p14:sldId id="8812"/>
            <p14:sldId id="9041"/>
            <p14:sldId id="9042"/>
            <p14:sldId id="10282"/>
            <p14:sldId id="9115"/>
            <p14:sldId id="9085"/>
            <p14:sldId id="8816"/>
            <p14:sldId id="11019"/>
            <p14:sldId id="7561"/>
            <p14:sldId id="10611"/>
            <p14:sldId id="10665"/>
            <p14:sldId id="10612"/>
            <p14:sldId id="7563"/>
            <p14:sldId id="7564"/>
            <p14:sldId id="9116"/>
            <p14:sldId id="10296"/>
            <p14:sldId id="10297"/>
            <p14:sldId id="7568"/>
            <p14:sldId id="11025"/>
            <p14:sldId id="10776"/>
            <p14:sldId id="11020"/>
            <p14:sldId id="10894"/>
            <p14:sldId id="11057"/>
            <p14:sldId id="10897"/>
            <p14:sldId id="3061"/>
            <p14:sldId id="6236"/>
            <p14:sldId id="3038"/>
            <p14:sldId id="11059"/>
            <p14:sldId id="11058"/>
            <p14:sldId id="6238"/>
            <p14:sldId id="6239"/>
            <p14:sldId id="6240"/>
            <p14:sldId id="6241"/>
            <p14:sldId id="10895"/>
            <p14:sldId id="10719"/>
            <p14:sldId id="6671"/>
            <p14:sldId id="6674"/>
            <p14:sldId id="6673"/>
            <p14:sldId id="4634"/>
            <p14:sldId id="6672"/>
            <p14:sldId id="9078"/>
            <p14:sldId id="9079"/>
            <p14:sldId id="9080"/>
            <p14:sldId id="6682"/>
            <p14:sldId id="11026"/>
            <p14:sldId id="10778"/>
            <p14:sldId id="11021"/>
            <p14:sldId id="10898"/>
            <p14:sldId id="3357"/>
            <p14:sldId id="8232"/>
            <p14:sldId id="8233"/>
            <p14:sldId id="8234"/>
            <p14:sldId id="3361"/>
            <p14:sldId id="3972"/>
            <p14:sldId id="6467"/>
            <p14:sldId id="6468"/>
            <p14:sldId id="6472"/>
            <p14:sldId id="6469"/>
            <p14:sldId id="6470"/>
            <p14:sldId id="6471"/>
            <p14:sldId id="6473"/>
            <p14:sldId id="6661"/>
            <p14:sldId id="6474"/>
            <p14:sldId id="6475"/>
            <p14:sldId id="6476"/>
            <p14:sldId id="6479"/>
            <p14:sldId id="10899"/>
            <p14:sldId id="11061"/>
            <p14:sldId id="10931"/>
            <p14:sldId id="11027"/>
          </p14:sldIdLst>
        </p14:section>
        <p14:section name="Policy search" id="{D65F9DCC-2D85-4849-95C7-F79CE871E060}">
          <p14:sldIdLst>
            <p14:sldId id="11038"/>
            <p14:sldId id="11067"/>
            <p14:sldId id="11081"/>
            <p14:sldId id="10407"/>
            <p14:sldId id="10380"/>
            <p14:sldId id="10546"/>
            <p14:sldId id="10381"/>
            <p14:sldId id="11082"/>
            <p14:sldId id="5581"/>
            <p14:sldId id="10568"/>
            <p14:sldId id="11062"/>
            <p14:sldId id="11063"/>
            <p14:sldId id="11064"/>
            <p14:sldId id="10382"/>
            <p14:sldId id="11083"/>
            <p14:sldId id="10642"/>
            <p14:sldId id="10732"/>
            <p14:sldId id="11065"/>
            <p14:sldId id="11084"/>
            <p14:sldId id="11044"/>
            <p14:sldId id="10252"/>
            <p14:sldId id="10548"/>
            <p14:sldId id="11085"/>
            <p14:sldId id="11075"/>
            <p14:sldId id="11077"/>
            <p14:sldId id="11080"/>
            <p14:sldId id="11066"/>
            <p14:sldId id="10973"/>
          </p14:sldIdLst>
        </p14:section>
        <p14:section name="Ending slide" id="{A38FE40B-7866-452A-AB51-D7C6AA82D48C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1" autoAdjust="0"/>
    <p:restoredTop sz="94699" autoAdjust="0"/>
  </p:normalViewPr>
  <p:slideViewPr>
    <p:cSldViewPr snapToGrid="0">
      <p:cViewPr varScale="1">
        <p:scale>
          <a:sx n="73" d="100"/>
          <a:sy n="73" d="100"/>
        </p:scale>
        <p:origin x="88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0061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24" Type="http://schemas.openxmlformats.org/officeDocument/2006/relationships/slide" Target="slides/slide320.xml"/><Relationship Id="rId335" Type="http://schemas.openxmlformats.org/officeDocument/2006/relationships/slide" Target="slides/slide331.xml"/><Relationship Id="rId402" Type="http://schemas.openxmlformats.org/officeDocument/2006/relationships/font" Target="fonts/font11.fntdata"/><Relationship Id="rId315" Type="http://schemas.openxmlformats.org/officeDocument/2006/relationships/slide" Target="slides/slide311.xml"/><Relationship Id="rId399" Type="http://schemas.openxmlformats.org/officeDocument/2006/relationships/font" Target="fonts/font8.fntdata"/><Relationship Id="rId326" Type="http://schemas.openxmlformats.org/officeDocument/2006/relationships/slide" Target="slides/slide322.xml"/><Relationship Id="rId337" Type="http://schemas.openxmlformats.org/officeDocument/2006/relationships/slide" Target="slides/slide333.xml"/><Relationship Id="rId404" Type="http://schemas.openxmlformats.org/officeDocument/2006/relationships/font" Target="fonts/font13.fntdata"/><Relationship Id="rId317" Type="http://schemas.openxmlformats.org/officeDocument/2006/relationships/slide" Target="slides/slide313.xml"/><Relationship Id="rId328" Type="http://schemas.openxmlformats.org/officeDocument/2006/relationships/slide" Target="slides/slide324.xml"/><Relationship Id="rId406" Type="http://schemas.openxmlformats.org/officeDocument/2006/relationships/font" Target="fonts/font15.fntdata"/><Relationship Id="rId392" Type="http://schemas.openxmlformats.org/officeDocument/2006/relationships/font" Target="fonts/font1.fntdata"/><Relationship Id="rId319" Type="http://schemas.openxmlformats.org/officeDocument/2006/relationships/slide" Target="slides/slide315.xml"/><Relationship Id="rId330" Type="http://schemas.openxmlformats.org/officeDocument/2006/relationships/slide" Target="slides/slide326.xml"/><Relationship Id="rId320" Type="http://schemas.openxmlformats.org/officeDocument/2006/relationships/slide" Target="slides/slide316.xml"/><Relationship Id="rId331" Type="http://schemas.openxmlformats.org/officeDocument/2006/relationships/slide" Target="slides/slide327.xml"/><Relationship Id="rId394" Type="http://schemas.openxmlformats.org/officeDocument/2006/relationships/font" Target="fonts/font3.fntdata"/><Relationship Id="rId408" Type="http://schemas.openxmlformats.org/officeDocument/2006/relationships/font" Target="fonts/font17.fntdata"/><Relationship Id="rId1" Type="http://schemas.openxmlformats.org/officeDocument/2006/relationships/customXml" Target="../customXml/item1.xml"/><Relationship Id="rId321" Type="http://schemas.openxmlformats.org/officeDocument/2006/relationships/slide" Target="slides/slide317.xml"/><Relationship Id="rId332" Type="http://schemas.openxmlformats.org/officeDocument/2006/relationships/slide" Target="slides/slide328.xml"/><Relationship Id="rId395" Type="http://schemas.openxmlformats.org/officeDocument/2006/relationships/font" Target="fonts/font4.fntdata"/><Relationship Id="rId409" Type="http://schemas.openxmlformats.org/officeDocument/2006/relationships/presProps" Target="presProps.xml"/><Relationship Id="rId2" Type="http://schemas.openxmlformats.org/officeDocument/2006/relationships/customXml" Target="../customXml/item2.xml"/><Relationship Id="rId322" Type="http://schemas.openxmlformats.org/officeDocument/2006/relationships/slide" Target="slides/slide318.xml"/><Relationship Id="rId410" Type="http://schemas.openxmlformats.org/officeDocument/2006/relationships/viewProps" Target="viewProps.xml"/><Relationship Id="rId312" Type="http://schemas.openxmlformats.org/officeDocument/2006/relationships/slide" Target="slides/slide308.xml"/><Relationship Id="rId333" Type="http://schemas.openxmlformats.org/officeDocument/2006/relationships/slide" Target="slides/slide329.xml"/><Relationship Id="rId396" Type="http://schemas.openxmlformats.org/officeDocument/2006/relationships/font" Target="fonts/font5.fntdata"/><Relationship Id="rId3" Type="http://schemas.openxmlformats.org/officeDocument/2006/relationships/customXml" Target="../customXml/item3.xml"/><Relationship Id="rId400" Type="http://schemas.openxmlformats.org/officeDocument/2006/relationships/font" Target="fonts/font9.fntdata"/><Relationship Id="rId323" Type="http://schemas.openxmlformats.org/officeDocument/2006/relationships/slide" Target="slides/slide319.xml"/><Relationship Id="rId411" Type="http://schemas.openxmlformats.org/officeDocument/2006/relationships/theme" Target="theme/theme1.xml"/><Relationship Id="rId313" Type="http://schemas.openxmlformats.org/officeDocument/2006/relationships/slide" Target="slides/slide309.xml"/><Relationship Id="rId334" Type="http://schemas.openxmlformats.org/officeDocument/2006/relationships/slide" Target="slides/slide330.xml"/><Relationship Id="rId397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401" Type="http://schemas.openxmlformats.org/officeDocument/2006/relationships/font" Target="fonts/font10.fntdata"/><Relationship Id="rId412" Type="http://schemas.openxmlformats.org/officeDocument/2006/relationships/tableStyles" Target="tableStyles.xml"/><Relationship Id="rId314" Type="http://schemas.openxmlformats.org/officeDocument/2006/relationships/slide" Target="slides/slide310.xml"/><Relationship Id="rId398" Type="http://schemas.openxmlformats.org/officeDocument/2006/relationships/font" Target="fonts/font7.fntdata"/><Relationship Id="rId325" Type="http://schemas.openxmlformats.org/officeDocument/2006/relationships/slide" Target="slides/slide321.xml"/><Relationship Id="rId336" Type="http://schemas.openxmlformats.org/officeDocument/2006/relationships/slide" Target="slides/slide332.xml"/><Relationship Id="rId403" Type="http://schemas.openxmlformats.org/officeDocument/2006/relationships/font" Target="fonts/font12.fntdata"/><Relationship Id="rId316" Type="http://schemas.openxmlformats.org/officeDocument/2006/relationships/slide" Target="slides/slide312.xml"/><Relationship Id="rId327" Type="http://schemas.openxmlformats.org/officeDocument/2006/relationships/slide" Target="slides/slide323.xml"/><Relationship Id="rId391" Type="http://schemas.openxmlformats.org/officeDocument/2006/relationships/notesMaster" Target="notesMasters/notesMaster1.xml"/><Relationship Id="rId405" Type="http://schemas.openxmlformats.org/officeDocument/2006/relationships/font" Target="fonts/font14.fntdata"/><Relationship Id="rId318" Type="http://schemas.openxmlformats.org/officeDocument/2006/relationships/slide" Target="slides/slide314.xml"/><Relationship Id="rId329" Type="http://schemas.openxmlformats.org/officeDocument/2006/relationships/slide" Target="slides/slide325.xml"/><Relationship Id="rId393" Type="http://schemas.openxmlformats.org/officeDocument/2006/relationships/font" Target="fonts/font2.fntdata"/><Relationship Id="rId407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9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0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3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5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6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8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9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0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1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2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9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0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1.xml"/><Relationship Id="rId1" Type="http://schemas.openxmlformats.org/officeDocument/2006/relationships/notesMaster" Target="../notesMasters/notesMaster1.xml"/></Relationship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C1B2284-8DB0-AFF4-8A9D-4971AA6DA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89A4C7CC-1D04-44FE-F38F-594F8245CE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293D2A00-DD75-0AA5-6D28-FD47AB91D6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9427802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5D41A98-E92D-7526-9712-03E56E12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2C74F88F-EBB0-F0DB-B038-D1385CA8F3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06DC9AD4-87D7-6BA3-39C9-349210B998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2896519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7798" indent="-287615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50458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10642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70824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31007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91193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51372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11560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CDD14D8-54E5-4235-A572-68F35BA4730D}" type="slidenum">
              <a:rPr lang="en-US" sz="1300"/>
              <a:pPr/>
              <a:t>313</a:t>
            </a:fld>
            <a:endParaRPr lang="en-US" sz="1300"/>
          </a:p>
        </p:txBody>
      </p:sp>
      <p:sp>
        <p:nvSpPr>
          <p:cNvPr id="67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7798" indent="-287615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50458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10642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70824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31007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91193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51372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11560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1AE7E02-8D42-4EE8-A7B0-848E199345B0}" type="slidenum">
              <a:rPr lang="en-US" sz="1300"/>
              <a:pPr/>
              <a:t>315</a:t>
            </a:fld>
            <a:endParaRPr lang="en-US" sz="1300"/>
          </a:p>
        </p:txBody>
      </p:sp>
      <p:sp>
        <p:nvSpPr>
          <p:cNvPr id="68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B9094-31FB-F4AE-F00D-5F471DC3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2" name="Rectangle 7">
            <a:extLst>
              <a:ext uri="{FF2B5EF4-FFF2-40B4-BE49-F238E27FC236}">
                <a16:creationId xmlns:a16="http://schemas.microsoft.com/office/drawing/2014/main" id="{F2EDBCE5-C9A2-9BA4-A822-33E9683D2D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7798" indent="-287615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50458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10642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70824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31007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91193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51372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11560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1AE7E02-8D42-4EE8-A7B0-848E199345B0}" type="slidenum">
              <a:rPr lang="en-US" sz="1300"/>
              <a:pPr/>
              <a:t>316</a:t>
            </a:fld>
            <a:endParaRPr lang="en-US" sz="1300"/>
          </a:p>
        </p:txBody>
      </p:sp>
      <p:sp>
        <p:nvSpPr>
          <p:cNvPr id="680963" name="Rectangle 2">
            <a:extLst>
              <a:ext uri="{FF2B5EF4-FFF2-40B4-BE49-F238E27FC236}">
                <a16:creationId xmlns:a16="http://schemas.microsoft.com/office/drawing/2014/main" id="{BF64B9C6-3709-FF9E-BB35-5F223F623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0964" name="Rectangle 3">
            <a:extLst>
              <a:ext uri="{FF2B5EF4-FFF2-40B4-BE49-F238E27FC236}">
                <a16:creationId xmlns:a16="http://schemas.microsoft.com/office/drawing/2014/main" id="{9B68DE18-A738-5277-604A-69993BB014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59720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1pPr>
            <a:lvl2pPr marL="805097" indent="-309652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2pPr>
            <a:lvl3pPr marL="1238609" indent="-247721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3pPr>
            <a:lvl4pPr marL="1734052" indent="-247721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4pPr>
            <a:lvl5pPr marL="2229496" indent="-247721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5pPr>
            <a:lvl6pPr marL="2724938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6pPr>
            <a:lvl7pPr marL="3220384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7pPr>
            <a:lvl8pPr marL="3715824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8pPr>
            <a:lvl9pPr marL="4211272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C24869D-FBAD-4CE2-9025-FB99AB74734C}" type="slidenum">
              <a:rPr lang="en-US" sz="1300"/>
              <a:pPr/>
              <a:t>318</a:t>
            </a:fld>
            <a:endParaRPr lang="en-US" sz="1300"/>
          </a:p>
        </p:txBody>
      </p:sp>
      <p:sp>
        <p:nvSpPr>
          <p:cNvPr id="68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12763" y="744538"/>
            <a:ext cx="6608762" cy="3717925"/>
          </a:xfrm>
          <a:ln/>
        </p:spPr>
      </p:sp>
      <p:sp>
        <p:nvSpPr>
          <p:cNvPr id="68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4214" y="4710783"/>
            <a:ext cx="6104841" cy="4460166"/>
          </a:xfr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688214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1pPr>
            <a:lvl2pPr marL="805097" indent="-309652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2pPr>
            <a:lvl3pPr marL="1238609" indent="-247721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3pPr>
            <a:lvl4pPr marL="1734052" indent="-247721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4pPr>
            <a:lvl5pPr marL="2229496" indent="-247721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5pPr>
            <a:lvl6pPr marL="2724938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6pPr>
            <a:lvl7pPr marL="3220384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7pPr>
            <a:lvl8pPr marL="3715824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8pPr>
            <a:lvl9pPr marL="4211272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A3EE590-E801-4480-9C80-FB7E2722BDD8}" type="slidenum">
              <a:rPr lang="en-US" sz="1300"/>
              <a:pPr/>
              <a:t>319</a:t>
            </a:fld>
            <a:endParaRPr lang="en-US" sz="1300"/>
          </a:p>
        </p:txBody>
      </p:sp>
      <p:sp>
        <p:nvSpPr>
          <p:cNvPr id="69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12763" y="744538"/>
            <a:ext cx="6608762" cy="3717925"/>
          </a:xfrm>
          <a:ln/>
        </p:spPr>
      </p:sp>
      <p:sp>
        <p:nvSpPr>
          <p:cNvPr id="69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4214" y="4710783"/>
            <a:ext cx="6104841" cy="4460166"/>
          </a:xfr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26754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1pPr>
            <a:lvl2pPr marL="805097" indent="-309652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2pPr>
            <a:lvl3pPr marL="1238609" indent="-247721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3pPr>
            <a:lvl4pPr marL="1734052" indent="-247721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4pPr>
            <a:lvl5pPr marL="2229496" indent="-247721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5pPr>
            <a:lvl6pPr marL="2724938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6pPr>
            <a:lvl7pPr marL="3220384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7pPr>
            <a:lvl8pPr marL="3715824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8pPr>
            <a:lvl9pPr marL="4211272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9014CB3-3000-4E31-899B-F97B06B8E12D}" type="slidenum">
              <a:rPr lang="en-US" sz="1300"/>
              <a:pPr/>
              <a:t>320</a:t>
            </a:fld>
            <a:endParaRPr lang="en-US" sz="1300"/>
          </a:p>
        </p:txBody>
      </p:sp>
      <p:sp>
        <p:nvSpPr>
          <p:cNvPr id="69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12763" y="744538"/>
            <a:ext cx="6608762" cy="3717925"/>
          </a:xfrm>
          <a:ln/>
        </p:spPr>
      </p:sp>
      <p:sp>
        <p:nvSpPr>
          <p:cNvPr id="69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4214" y="4710783"/>
            <a:ext cx="6104841" cy="4460166"/>
          </a:xfr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80299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1pPr>
            <a:lvl2pPr marL="805097" indent="-309652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2pPr>
            <a:lvl3pPr marL="1238609" indent="-247721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3pPr>
            <a:lvl4pPr marL="1734052" indent="-247721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4pPr>
            <a:lvl5pPr marL="2229496" indent="-247721" defTabSz="1008091">
              <a:defRPr sz="2600">
                <a:solidFill>
                  <a:schemeClr val="tx1"/>
                </a:solidFill>
                <a:latin typeface="Times New Roman" pitchFamily="18" charset="0"/>
              </a:defRPr>
            </a:lvl5pPr>
            <a:lvl6pPr marL="2724938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6pPr>
            <a:lvl7pPr marL="3220384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7pPr>
            <a:lvl8pPr marL="3715824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8pPr>
            <a:lvl9pPr marL="4211272" indent="-247721" defTabSz="100809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1262880-4ADE-40FE-B20E-9D393DAE41E7}" type="slidenum">
              <a:rPr lang="en-US" sz="1300"/>
              <a:pPr/>
              <a:t>321</a:t>
            </a:fld>
            <a:endParaRPr lang="en-US" sz="1300"/>
          </a:p>
        </p:txBody>
      </p:sp>
      <p:sp>
        <p:nvSpPr>
          <p:cNvPr id="69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12763" y="744538"/>
            <a:ext cx="6608762" cy="3717925"/>
          </a:xfrm>
          <a:ln/>
        </p:spPr>
      </p:sp>
      <p:sp>
        <p:nvSpPr>
          <p:cNvPr id="69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4214" y="4710783"/>
            <a:ext cx="6104841" cy="4460166"/>
          </a:xfr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100183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6218E95-53B4-2F2D-D2DC-539F4329C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FDB6F7B1-BA67-04F8-2133-DF3FD31A3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5E265114-24CE-3661-540C-1DBF24AECF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6239580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99894-2ED9-3C18-7AE3-FC4C50A63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16302-5F57-BF5E-9D4E-A9AD8BAAF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05004-F589-B477-BECD-F3DF909D5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B1EFD-C6B9-D97E-991B-31DE8ED5F0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329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929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05246-8A8E-CC69-6814-2222F1E56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4F2E6-4940-A01F-78FF-72E79D047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ACFBA-DC9E-51DD-4BF4-54F51BCFE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E59CC-6D55-6C67-EB4B-44A641EB2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330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14522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D624D-7B88-2B3D-E237-969F0AE76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C2A20-4136-CAC0-1874-D6DEC32DA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630CE-98F8-57AA-6202-0665D4E98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CCFBB-36BB-3B8B-F5C7-44ED0221F2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331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8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304800"/>
            <a:ext cx="103632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2019 W.B. Powell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628028B9-87C7-4915-BF62-49E2F38484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3" Type="http://schemas.openxmlformats.org/officeDocument/2006/relationships/image" Target="../media/image187.png"/><Relationship Id="rId7" Type="http://schemas.openxmlformats.org/officeDocument/2006/relationships/image" Target="../media/image191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9.png"/><Relationship Id="rId4" Type="http://schemas.openxmlformats.org/officeDocument/2006/relationships/image" Target="../media/image188.png"/><Relationship Id="rId9" Type="http://schemas.openxmlformats.org/officeDocument/2006/relationships/image" Target="../media/image193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3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/Relationships>
</file>

<file path=ppt/slides/_rels/slide3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3.xml"/></Relationships>
</file>

<file path=ppt/slides/_rels/slide3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3.xml"/></Relationships>
</file>

<file path=ppt/slides/_rels/slide3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3.xml"/></Relationships>
</file>

<file path=ppt/slides/_rels/slide3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3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3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3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0.png"/><Relationship Id="rId13" Type="http://schemas.openxmlformats.org/officeDocument/2006/relationships/image" Target="../media/image5220.png"/><Relationship Id="rId3" Type="http://schemas.microsoft.com/office/2007/relationships/hdphoto" Target="../media/hdphoto7.wdp"/><Relationship Id="rId7" Type="http://schemas.openxmlformats.org/officeDocument/2006/relationships/image" Target="../media/image2911.png"/><Relationship Id="rId12" Type="http://schemas.openxmlformats.org/officeDocument/2006/relationships/image" Target="../media/image5211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1.png"/><Relationship Id="rId11" Type="http://schemas.openxmlformats.org/officeDocument/2006/relationships/image" Target="../media/image5201.png"/><Relationship Id="rId10" Type="http://schemas.openxmlformats.org/officeDocument/2006/relationships/image" Target="../media/image5190.png"/><Relationship Id="rId4" Type="http://schemas.openxmlformats.org/officeDocument/2006/relationships/image" Target="../media/image200.png"/><Relationship Id="rId9" Type="http://schemas.openxmlformats.org/officeDocument/2006/relationships/image" Target="../media/image201.png"/><Relationship Id="rId14" Type="http://schemas.openxmlformats.org/officeDocument/2006/relationships/image" Target="../media/image202.png"/></Relationships>
</file>

<file path=ppt/slides/_rels/slide326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40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6.png"/></Relationships>
</file>

<file path=ppt/slides/_rels/slide3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7" Type="http://schemas.openxmlformats.org/officeDocument/2006/relationships/image" Target="../media/image1821.png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2.png"/><Relationship Id="rId5" Type="http://schemas.openxmlformats.org/officeDocument/2006/relationships/image" Target="../media/image1802.png"/><Relationship Id="rId4" Type="http://schemas.openxmlformats.org/officeDocument/2006/relationships/image" Target="../media/image1792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7" Type="http://schemas.openxmlformats.org/officeDocument/2006/relationships/image" Target="../media/image1821.png"/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2.png"/><Relationship Id="rId5" Type="http://schemas.openxmlformats.org/officeDocument/2006/relationships/image" Target="../media/image1802.png"/><Relationship Id="rId4" Type="http://schemas.openxmlformats.org/officeDocument/2006/relationships/image" Target="../media/image1792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7" Type="http://schemas.openxmlformats.org/officeDocument/2006/relationships/image" Target="../media/image1821.png"/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2.png"/><Relationship Id="rId5" Type="http://schemas.openxmlformats.org/officeDocument/2006/relationships/image" Target="../media/image1802.png"/><Relationship Id="rId4" Type="http://schemas.openxmlformats.org/officeDocument/2006/relationships/image" Target="../media/image1792.png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117D-7EB5-D73C-43BC-C26E4BFA7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868B959-02EE-2EEF-891B-F61CE914D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A0115D4-ED4D-64EE-9E51-2EAEEEAD9127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A4D108DC-E9B7-D3FA-1712-7DC3F4B78D6A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7E69454-1EA3-216C-54A3-575B5AF825FF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596108-564D-2F2A-82AE-ACE518411939}"/>
              </a:ext>
            </a:extLst>
          </p:cNvPr>
          <p:cNvSpPr txBox="1">
            <a:spLocks/>
          </p:cNvSpPr>
          <p:nvPr/>
        </p:nvSpPr>
        <p:spPr>
          <a:xfrm>
            <a:off x="1212348" y="3222743"/>
            <a:ext cx="9034588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Direct lookahead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approximations IV – Discrete actions</a:t>
            </a: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Using decision trees</a:t>
            </a: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Monte Carlo tree search</a:t>
            </a:r>
          </a:p>
          <a:p>
            <a:pPr marL="914400" indent="-342900" algn="l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C016A48-9269-669F-9EB1-09052BE17581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Moderate.</a:t>
            </a: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39E875B-113E-497E-E408-86B91AF9CA92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modeling framework (detailed)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055EB9-280B-021B-A40A-88A8B68C6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77062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2372232-87EE-BAA5-DD00-FD533F15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863421-636E-60A3-8937-2EB37893E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DC413119-E343-2A02-8101-1A514DE44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71D854FB-4F0C-E492-E012-4D23A76BB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725240"/>
            <a:ext cx="10856871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Direct lookahead approximations:</a:t>
            </a:r>
          </a:p>
          <a:p>
            <a:pPr marL="0" lvl="0" indent="0">
              <a:buClr>
                <a:schemeClr val="lt1"/>
              </a:buCl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 – Overview of direct lookahead approximations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II - Deterministic lookaheads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III - Stochastic lookaheads using PFAs, CFAs and VFAs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DLA IV – Stochastic lookaheads using DLAs – Discrete actions</a:t>
            </a:r>
            <a:endParaRPr lang="en-US" sz="22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V – Stochastic lookaheads using DLAs – Vector actions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6D02E7-9448-3D0D-1C5B-54244B738079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65065926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5417F57-3EB6-13EA-AAE6-0CCDBCB36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7C9D35-5197-09A0-B8A6-28F82B885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D8DF2982-1F0A-9903-1119-AA27C90BDF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910A28F8-364A-F299-4FCD-2A7060F518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DLA IV – Stochastic lookaheads using DLAs – Discrete actions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Decision trees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Monte Carlo tree search</a:t>
            </a:r>
          </a:p>
          <a:p>
            <a:pPr marL="1257300" lvl="2">
              <a:buClr>
                <a:schemeClr val="lt1"/>
              </a:buClr>
              <a:buFont typeface="Times New Roman"/>
              <a:buChar char="➜"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40E9E0-B849-EBEF-9CA0-EDC6E07E128D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262826038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3BDA5-FFAC-4AA6-9B4D-F0979D28B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 policy: Decision trees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D3882-9F8B-8504-F7B6-F73A2B9BF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983" y="1062672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Decision trees</a:t>
            </a:r>
          </a:p>
          <a:p>
            <a:pPr lvl="1"/>
            <a:r>
              <a:rPr lang="en-US" dirty="0"/>
              <a:t>Used by Ron Howard (and others) in their courses for MBAs, early 1960s.</a:t>
            </a:r>
          </a:p>
          <a:p>
            <a:pPr lvl="1"/>
            <a:r>
              <a:rPr lang="en-US" dirty="0"/>
              <a:t>John Magee, "How to Use Decision Trees in Capital Investments“ and “Decision Trees for Decision-Making”, Harvard Business Review, 1964.</a:t>
            </a:r>
          </a:p>
          <a:p>
            <a:pPr lvl="2"/>
            <a:r>
              <a:rPr lang="en-US" dirty="0"/>
              <a:t>First published use of decision trees.</a:t>
            </a:r>
          </a:p>
          <a:p>
            <a:pPr lvl="1"/>
            <a:r>
              <a:rPr lang="en-US" dirty="0"/>
              <a:t>Howard </a:t>
            </a:r>
            <a:r>
              <a:rPr lang="en-US" dirty="0" err="1"/>
              <a:t>Raiffa</a:t>
            </a:r>
            <a:r>
              <a:rPr lang="en-US" dirty="0"/>
              <a:t>, </a:t>
            </a:r>
            <a:r>
              <a:rPr lang="en-US" i="1" dirty="0"/>
              <a:t>Decision Analysis: Introductory Lectures on Choices Under Uncertainty, </a:t>
            </a:r>
            <a:r>
              <a:rPr lang="en-US" dirty="0"/>
              <a:t>Addison-Wesley, 1968. </a:t>
            </a:r>
          </a:p>
          <a:p>
            <a:pPr lvl="2"/>
            <a:r>
              <a:rPr lang="en-US" dirty="0"/>
              <a:t>This is the book that made decision trees central to the field. It documents the paradigmatic shift from statistical decision theory to decision analysis as a discipline.</a:t>
            </a:r>
          </a:p>
        </p:txBody>
      </p:sp>
    </p:spTree>
    <p:extLst>
      <p:ext uri="{BB962C8B-B14F-4D97-AF65-F5344CB8AC3E}">
        <p14:creationId xmlns:p14="http://schemas.microsoft.com/office/powerpoint/2010/main" val="3295662149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90F84-7949-08D9-7401-B16060A0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 policy: Decision trees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EC29D-FFB8-0C55-4D89-BAEFF2279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85" y="1060648"/>
            <a:ext cx="10363200" cy="631189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Decisions trees have become a stable of decision analysis: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5C1BE-E49D-CB35-0B21-DFF97A747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715" y="1919547"/>
            <a:ext cx="2137998" cy="27549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0C88A6-ED39-90B1-E2E2-ADB5BCC5D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266" y="1838170"/>
            <a:ext cx="2073619" cy="28363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A81793-6D0B-A7F8-B343-32BFCC144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735" y="1838223"/>
            <a:ext cx="2131012" cy="25824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151961-1A92-302A-ACFD-2839D2D7A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397" y="3656710"/>
            <a:ext cx="2137998" cy="27549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1C1283-BBBA-187E-5C9B-67F8D04909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348" y="3748032"/>
            <a:ext cx="1889714" cy="27504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BF30C5-0E89-C267-FFDB-299CABD4F0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9315" y="1665767"/>
            <a:ext cx="2294384" cy="30900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C841722-1453-EDEF-4ED0-7BD7A85139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0509" y="3893182"/>
            <a:ext cx="1860385" cy="27110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93AEAF-AD7B-E163-F109-1D03EB68BD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0205" y="3743533"/>
            <a:ext cx="2096792" cy="275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0933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DLA policy: Decision trees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CF7F8B3-0780-701A-97AC-713A25060B51}"/>
              </a:ext>
            </a:extLst>
          </p:cNvPr>
          <p:cNvSpPr txBox="1">
            <a:spLocks noChangeArrowheads="1"/>
          </p:cNvSpPr>
          <p:nvPr/>
        </p:nvSpPr>
        <p:spPr>
          <a:xfrm>
            <a:off x="153616" y="1086798"/>
            <a:ext cx="5942384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dirty="0"/>
              <a:t>Asset selling problem</a:t>
            </a:r>
          </a:p>
          <a:p>
            <a:pPr lvl="1"/>
            <a:r>
              <a:rPr lang="en-US" dirty="0"/>
              <a:t>State information</a:t>
            </a:r>
          </a:p>
          <a:p>
            <a:pPr lvl="2"/>
            <a:r>
              <a:rPr lang="en-US" dirty="0"/>
              <a:t>Am I holding the asset or not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Decision </a:t>
            </a:r>
          </a:p>
          <a:p>
            <a:pPr lvl="2"/>
            <a:r>
              <a:rPr lang="en-US" dirty="0"/>
              <a:t>Hold</a:t>
            </a:r>
          </a:p>
          <a:p>
            <a:pPr lvl="2"/>
            <a:r>
              <a:rPr lang="en-US" dirty="0"/>
              <a:t>Sell (we receive the price of the asset)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Exogenous information - price</a:t>
            </a:r>
          </a:p>
          <a:p>
            <a:pPr lvl="2"/>
            <a:r>
              <a:rPr lang="en-US" dirty="0"/>
              <a:t>Price goes up $1 with probability .3</a:t>
            </a:r>
          </a:p>
          <a:p>
            <a:pPr lvl="2"/>
            <a:r>
              <a:rPr lang="en-US" dirty="0"/>
              <a:t>Price stays the same w. p. .5</a:t>
            </a:r>
          </a:p>
          <a:p>
            <a:pPr lvl="2"/>
            <a:r>
              <a:rPr lang="en-US" dirty="0"/>
              <a:t>Price goes down $1 w. p. .2</a:t>
            </a:r>
          </a:p>
          <a:p>
            <a:pPr lvl="2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DB1FC9-B1DD-D726-DD87-63351CA92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246" y="1630548"/>
            <a:ext cx="6027942" cy="3955123"/>
          </a:xfrm>
          <a:prstGeom prst="rect">
            <a:avLst/>
          </a:prstGeom>
        </p:spPr>
      </p:pic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 policy: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179" y="1228200"/>
            <a:ext cx="709046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Some vocabulary:</a:t>
            </a:r>
          </a:p>
          <a:p>
            <a:pPr marL="86360" indent="0">
              <a:buNone/>
            </a:pPr>
            <a:endParaRPr lang="en-US" sz="1400" dirty="0"/>
          </a:p>
          <a:p>
            <a:pPr lvl="1"/>
            <a:r>
              <a:rPr lang="en-US" dirty="0"/>
              <a:t>Square nodes are:</a:t>
            </a:r>
          </a:p>
          <a:p>
            <a:pPr lvl="2"/>
            <a:r>
              <a:rPr lang="en-US" dirty="0"/>
              <a:t>Decision nodes – Solid links are decisions</a:t>
            </a:r>
          </a:p>
          <a:p>
            <a:pPr lvl="2"/>
            <a:r>
              <a:rPr lang="en-US" dirty="0"/>
              <a:t>Also represents the state of our system.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Circle nodes are:</a:t>
            </a:r>
          </a:p>
          <a:p>
            <a:pPr lvl="2"/>
            <a:r>
              <a:rPr lang="en-US" dirty="0"/>
              <a:t>Outcome nodes – Dotted links are outcomes</a:t>
            </a:r>
          </a:p>
          <a:p>
            <a:pPr lvl="2"/>
            <a:r>
              <a:rPr lang="en-US" dirty="0"/>
              <a:t>Represents the state after a decision is made.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Decision capture the information in the entire path leading up to the node.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92D0F0A5-88A2-400D-91DB-1B6C935589C9}" type="slidenum">
              <a:rPr lang="en-US" smtClean="0"/>
              <a:pPr>
                <a:defRPr/>
              </a:pPr>
              <a:t>314</a:t>
            </a:fld>
            <a:endParaRPr lang="en-US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39DDA-402A-D130-4560-607AAC0D48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91" r="27941" b="13053"/>
          <a:stretch>
            <a:fillRect/>
          </a:stretch>
        </p:blipFill>
        <p:spPr bwMode="auto">
          <a:xfrm>
            <a:off x="7596538" y="866292"/>
            <a:ext cx="3564798" cy="5134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673316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DLA policy: Decision trees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1335BD-74F7-F792-D8A4-1178FC72F2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386" b="13053"/>
          <a:stretch>
            <a:fillRect/>
          </a:stretch>
        </p:blipFill>
        <p:spPr bwMode="auto">
          <a:xfrm>
            <a:off x="6188414" y="1775833"/>
            <a:ext cx="4313045" cy="4674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451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63" t="26771" r="12777" b="13053"/>
          <a:stretch>
            <a:fillRect/>
          </a:stretch>
        </p:blipFill>
        <p:spPr bwMode="auto">
          <a:xfrm>
            <a:off x="1310186" y="3188725"/>
            <a:ext cx="1777259" cy="3235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AF4398D0-4E54-A995-B1CB-48AAF47401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91" r="27941" b="13053"/>
          <a:stretch>
            <a:fillRect/>
          </a:stretch>
        </p:blipFill>
        <p:spPr bwMode="auto">
          <a:xfrm>
            <a:off x="3797536" y="1740663"/>
            <a:ext cx="3245688" cy="4674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Arrow: Left 9">
            <a:extLst>
              <a:ext uri="{FF2B5EF4-FFF2-40B4-BE49-F238E27FC236}">
                <a16:creationId xmlns:a16="http://schemas.microsoft.com/office/drawing/2014/main" id="{82A9E715-98EF-7DFD-8C6F-1CD9E3292E4B}"/>
              </a:ext>
            </a:extLst>
          </p:cNvPr>
          <p:cNvSpPr/>
          <p:nvPr/>
        </p:nvSpPr>
        <p:spPr>
          <a:xfrm flipH="1">
            <a:off x="6585516" y="1820021"/>
            <a:ext cx="2058864" cy="439615"/>
          </a:xfrm>
          <a:prstGeom prst="lef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2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08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3B806CCF-8734-72DA-6FEB-58A4D68B6DCA}"/>
              </a:ext>
            </a:extLst>
          </p:cNvPr>
          <p:cNvSpPr/>
          <p:nvPr/>
        </p:nvSpPr>
        <p:spPr>
          <a:xfrm flipH="1">
            <a:off x="3405213" y="1938739"/>
            <a:ext cx="2005774" cy="439615"/>
          </a:xfrm>
          <a:prstGeom prst="lef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2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08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531" y="1045921"/>
            <a:ext cx="10363200" cy="60635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Generating the tree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8E828B-51B5-59E5-88A6-482BA453B693}"/>
              </a:ext>
            </a:extLst>
          </p:cNvPr>
          <p:cNvSpPr/>
          <p:nvPr/>
        </p:nvSpPr>
        <p:spPr>
          <a:xfrm>
            <a:off x="6134624" y="2512827"/>
            <a:ext cx="441064" cy="3164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31FBF5-7C78-1E71-700D-B55BA02B6BEF}"/>
              </a:ext>
            </a:extLst>
          </p:cNvPr>
          <p:cNvSpPr/>
          <p:nvPr/>
        </p:nvSpPr>
        <p:spPr>
          <a:xfrm>
            <a:off x="6131376" y="3880358"/>
            <a:ext cx="441064" cy="3164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C75A19-3A73-66E2-6F30-0226AE2929FF}"/>
              </a:ext>
            </a:extLst>
          </p:cNvPr>
          <p:cNvSpPr/>
          <p:nvPr/>
        </p:nvSpPr>
        <p:spPr>
          <a:xfrm>
            <a:off x="6144899" y="5173894"/>
            <a:ext cx="441064" cy="3164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7B542-D0B3-4B44-5BED-96E8A1A06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2">
            <a:extLst>
              <a:ext uri="{FF2B5EF4-FFF2-40B4-BE49-F238E27FC236}">
                <a16:creationId xmlns:a16="http://schemas.microsoft.com/office/drawing/2014/main" id="{9A2B29AA-9B27-2398-4145-C23239BAD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DLA policy: Decision trees</a:t>
            </a:r>
          </a:p>
        </p:txBody>
      </p:sp>
      <p:pic>
        <p:nvPicPr>
          <p:cNvPr id="64518" name="Picture 4">
            <a:extLst>
              <a:ext uri="{FF2B5EF4-FFF2-40B4-BE49-F238E27FC236}">
                <a16:creationId xmlns:a16="http://schemas.microsoft.com/office/drawing/2014/main" id="{E51AE63C-8D2C-FEF7-6976-D5C276C498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63" t="26771" b="13053"/>
          <a:stretch>
            <a:fillRect/>
          </a:stretch>
        </p:blipFill>
        <p:spPr bwMode="auto">
          <a:xfrm>
            <a:off x="1310186" y="3188725"/>
            <a:ext cx="3070452" cy="3235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163F1A40-2F20-52AD-ECB2-503BB13812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91" r="32463" b="13053"/>
          <a:stretch>
            <a:fillRect/>
          </a:stretch>
        </p:blipFill>
        <p:spPr bwMode="auto">
          <a:xfrm>
            <a:off x="3797536" y="1740663"/>
            <a:ext cx="2787980" cy="4674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Arrow: Left 11">
            <a:extLst>
              <a:ext uri="{FF2B5EF4-FFF2-40B4-BE49-F238E27FC236}">
                <a16:creationId xmlns:a16="http://schemas.microsoft.com/office/drawing/2014/main" id="{79E75BF8-35BA-1E0F-A0F3-E1A1984CE63B}"/>
              </a:ext>
            </a:extLst>
          </p:cNvPr>
          <p:cNvSpPr/>
          <p:nvPr/>
        </p:nvSpPr>
        <p:spPr>
          <a:xfrm>
            <a:off x="3405213" y="1938739"/>
            <a:ext cx="2005774" cy="439615"/>
          </a:xfrm>
          <a:prstGeom prst="lef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2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08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17" name="Rectangle 3">
            <a:extLst>
              <a:ext uri="{FF2B5EF4-FFF2-40B4-BE49-F238E27FC236}">
                <a16:creationId xmlns:a16="http://schemas.microsoft.com/office/drawing/2014/main" id="{BA990F65-6670-87B8-EDD1-49B4FDB80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7531" y="1045921"/>
            <a:ext cx="10363200" cy="60635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Rolling back the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61B79-05A3-31E3-2F8D-2425AE573B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4" r="57386" b="13053"/>
          <a:stretch>
            <a:fillRect/>
          </a:stretch>
        </p:blipFill>
        <p:spPr bwMode="auto">
          <a:xfrm>
            <a:off x="6585516" y="1775833"/>
            <a:ext cx="3915943" cy="4674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Arrow: Left 9">
            <a:extLst>
              <a:ext uri="{FF2B5EF4-FFF2-40B4-BE49-F238E27FC236}">
                <a16:creationId xmlns:a16="http://schemas.microsoft.com/office/drawing/2014/main" id="{6D7D68F6-9C7B-3AB4-B5CC-E7DED39C4480}"/>
              </a:ext>
            </a:extLst>
          </p:cNvPr>
          <p:cNvSpPr/>
          <p:nvPr/>
        </p:nvSpPr>
        <p:spPr>
          <a:xfrm>
            <a:off x="6585516" y="1820021"/>
            <a:ext cx="2058864" cy="439615"/>
          </a:xfrm>
          <a:prstGeom prst="lef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2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08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6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0" grpId="0" animBg="1"/>
    </p:bldLst>
  </p:timing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560E8-A52C-7E5F-7272-66B776092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 policy: Decision trees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FA7EF-1E30-88AD-4833-3D5C32079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088" y="1511935"/>
            <a:ext cx="3463086" cy="4169153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A00549CA-6729-FD05-872A-CA74D5DF1FDA}"/>
              </a:ext>
            </a:extLst>
          </p:cNvPr>
          <p:cNvSpPr txBox="1">
            <a:spLocks noChangeArrowheads="1"/>
          </p:cNvSpPr>
          <p:nvPr/>
        </p:nvSpPr>
        <p:spPr>
          <a:xfrm>
            <a:off x="336496" y="1076039"/>
            <a:ext cx="6365518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dirty="0"/>
              <a:t>Which hitter to choose</a:t>
            </a:r>
          </a:p>
          <a:p>
            <a:pPr marL="86360" indent="0">
              <a:buFont typeface="Raleway"/>
              <a:buNone/>
            </a:pPr>
            <a:endParaRPr lang="en-US" sz="1400" dirty="0"/>
          </a:p>
          <a:p>
            <a:pPr lvl="1"/>
            <a:r>
              <a:rPr lang="en-US" dirty="0"/>
              <a:t>State information</a:t>
            </a:r>
          </a:p>
          <a:p>
            <a:pPr lvl="2"/>
            <a:r>
              <a:rPr lang="en-US" dirty="0"/>
              <a:t>We have three hitters.</a:t>
            </a:r>
          </a:p>
          <a:p>
            <a:pPr lvl="2"/>
            <a:r>
              <a:rPr lang="en-US" dirty="0"/>
              <a:t>We know the past history of each hitter (number of at bats, batting average). </a:t>
            </a:r>
          </a:p>
          <a:p>
            <a:pPr lvl="2"/>
            <a:endParaRPr lang="en-US" sz="1400" dirty="0"/>
          </a:p>
          <a:p>
            <a:pPr lvl="1"/>
            <a:r>
              <a:rPr lang="en-US" dirty="0"/>
              <a:t>Decision </a:t>
            </a:r>
          </a:p>
          <a:p>
            <a:pPr lvl="2"/>
            <a:r>
              <a:rPr lang="en-US" dirty="0"/>
              <a:t>We have to choose who to use.</a:t>
            </a:r>
          </a:p>
          <a:p>
            <a:pPr lvl="2"/>
            <a:endParaRPr lang="en-US" sz="1400" dirty="0"/>
          </a:p>
          <a:p>
            <a:pPr lvl="1"/>
            <a:r>
              <a:rPr lang="en-US" dirty="0"/>
              <a:t>Exogenous information </a:t>
            </a:r>
          </a:p>
          <a:p>
            <a:pPr lvl="2"/>
            <a:r>
              <a:rPr lang="en-US" dirty="0"/>
              <a:t>Whether the batter gets a hit or not.</a:t>
            </a:r>
          </a:p>
          <a:p>
            <a:pPr lvl="2"/>
            <a:r>
              <a:rPr lang="en-US" dirty="0"/>
              <a:t>When we observe whether the batter gets a hit or not, we update his batting average.</a:t>
            </a:r>
          </a:p>
        </p:txBody>
      </p:sp>
    </p:spTree>
    <p:extLst>
      <p:ext uri="{BB962C8B-B14F-4D97-AF65-F5344CB8AC3E}">
        <p14:creationId xmlns:p14="http://schemas.microsoft.com/office/powerpoint/2010/main" val="1746681280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2390776" y="3448051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07" name="Oval 3"/>
          <p:cNvSpPr>
            <a:spLocks noChangeArrowheads="1"/>
          </p:cNvSpPr>
          <p:nvPr/>
        </p:nvSpPr>
        <p:spPr bwMode="auto">
          <a:xfrm>
            <a:off x="3600450" y="154305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2708" name="AutoShape 4"/>
          <p:cNvCxnSpPr>
            <a:cxnSpLocks noChangeShapeType="1"/>
            <a:stCxn id="72706" idx="3"/>
            <a:endCxn id="72707" idx="2"/>
          </p:cNvCxnSpPr>
          <p:nvPr/>
        </p:nvCxnSpPr>
        <p:spPr bwMode="auto">
          <a:xfrm flipV="1">
            <a:off x="2619375" y="1657350"/>
            <a:ext cx="971550" cy="1900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709" name="Oval 5"/>
          <p:cNvSpPr>
            <a:spLocks noChangeArrowheads="1"/>
          </p:cNvSpPr>
          <p:nvPr/>
        </p:nvSpPr>
        <p:spPr bwMode="auto">
          <a:xfrm>
            <a:off x="3609975" y="344805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10" name="Oval 6"/>
          <p:cNvSpPr>
            <a:spLocks noChangeArrowheads="1"/>
          </p:cNvSpPr>
          <p:nvPr/>
        </p:nvSpPr>
        <p:spPr bwMode="auto">
          <a:xfrm>
            <a:off x="3609975" y="561975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2711" name="AutoShape 7"/>
          <p:cNvCxnSpPr>
            <a:cxnSpLocks noChangeShapeType="1"/>
            <a:stCxn id="72706" idx="3"/>
            <a:endCxn id="72710" idx="2"/>
          </p:cNvCxnSpPr>
          <p:nvPr/>
        </p:nvCxnSpPr>
        <p:spPr bwMode="auto">
          <a:xfrm>
            <a:off x="2619376" y="3557588"/>
            <a:ext cx="981075" cy="2176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12" name="AutoShape 8"/>
          <p:cNvCxnSpPr>
            <a:cxnSpLocks noChangeShapeType="1"/>
            <a:stCxn id="72706" idx="3"/>
            <a:endCxn id="72709" idx="2"/>
          </p:cNvCxnSpPr>
          <p:nvPr/>
        </p:nvCxnSpPr>
        <p:spPr bwMode="auto">
          <a:xfrm>
            <a:off x="2619376" y="3557588"/>
            <a:ext cx="981075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13" name="AutoShape 9"/>
          <p:cNvCxnSpPr>
            <a:cxnSpLocks noChangeShapeType="1"/>
            <a:stCxn id="72707" idx="6"/>
            <a:endCxn id="72715" idx="1"/>
          </p:cNvCxnSpPr>
          <p:nvPr/>
        </p:nvCxnSpPr>
        <p:spPr bwMode="auto">
          <a:xfrm flipV="1">
            <a:off x="3838575" y="1014414"/>
            <a:ext cx="990600" cy="64293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14" name="AutoShape 10"/>
          <p:cNvCxnSpPr>
            <a:cxnSpLocks noChangeShapeType="1"/>
            <a:stCxn id="72707" idx="6"/>
            <a:endCxn id="72716" idx="1"/>
          </p:cNvCxnSpPr>
          <p:nvPr/>
        </p:nvCxnSpPr>
        <p:spPr bwMode="auto">
          <a:xfrm>
            <a:off x="3838575" y="1657351"/>
            <a:ext cx="990600" cy="40481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715" name="Rectangle 11"/>
          <p:cNvSpPr>
            <a:spLocks noChangeArrowheads="1"/>
          </p:cNvSpPr>
          <p:nvPr/>
        </p:nvSpPr>
        <p:spPr bwMode="auto">
          <a:xfrm>
            <a:off x="4838701" y="904876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16" name="Rectangle 12"/>
          <p:cNvSpPr>
            <a:spLocks noChangeArrowheads="1"/>
          </p:cNvSpPr>
          <p:nvPr/>
        </p:nvSpPr>
        <p:spPr bwMode="auto">
          <a:xfrm>
            <a:off x="4838701" y="1952626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2717" name="AutoShape 13"/>
          <p:cNvCxnSpPr>
            <a:cxnSpLocks noChangeShapeType="1"/>
            <a:stCxn id="72709" idx="6"/>
            <a:endCxn id="72719" idx="1"/>
          </p:cNvCxnSpPr>
          <p:nvPr/>
        </p:nvCxnSpPr>
        <p:spPr bwMode="auto">
          <a:xfrm flipV="1">
            <a:off x="3848100" y="3128964"/>
            <a:ext cx="971550" cy="4333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18" name="AutoShape 14"/>
          <p:cNvCxnSpPr>
            <a:cxnSpLocks noChangeShapeType="1"/>
            <a:stCxn id="72709" idx="6"/>
            <a:endCxn id="72720" idx="1"/>
          </p:cNvCxnSpPr>
          <p:nvPr/>
        </p:nvCxnSpPr>
        <p:spPr bwMode="auto">
          <a:xfrm>
            <a:off x="3848100" y="3562351"/>
            <a:ext cx="971550" cy="59531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719" name="Rectangle 15"/>
          <p:cNvSpPr>
            <a:spLocks noChangeArrowheads="1"/>
          </p:cNvSpPr>
          <p:nvPr/>
        </p:nvSpPr>
        <p:spPr bwMode="auto">
          <a:xfrm>
            <a:off x="4829176" y="3019426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20" name="Rectangle 16"/>
          <p:cNvSpPr>
            <a:spLocks noChangeArrowheads="1"/>
          </p:cNvSpPr>
          <p:nvPr/>
        </p:nvSpPr>
        <p:spPr bwMode="auto">
          <a:xfrm>
            <a:off x="4829176" y="4048126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2721" name="AutoShape 17"/>
          <p:cNvCxnSpPr>
            <a:cxnSpLocks noChangeShapeType="1"/>
            <a:stCxn id="72710" idx="6"/>
            <a:endCxn id="72723" idx="1"/>
          </p:cNvCxnSpPr>
          <p:nvPr/>
        </p:nvCxnSpPr>
        <p:spPr bwMode="auto">
          <a:xfrm flipV="1">
            <a:off x="3848100" y="5205414"/>
            <a:ext cx="971550" cy="52863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2" name="AutoShape 18"/>
          <p:cNvCxnSpPr>
            <a:cxnSpLocks noChangeShapeType="1"/>
            <a:stCxn id="72710" idx="6"/>
            <a:endCxn id="72724" idx="1"/>
          </p:cNvCxnSpPr>
          <p:nvPr/>
        </p:nvCxnSpPr>
        <p:spPr bwMode="auto">
          <a:xfrm>
            <a:off x="3848100" y="5734050"/>
            <a:ext cx="971550" cy="5095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723" name="Rectangle 19"/>
          <p:cNvSpPr>
            <a:spLocks noChangeArrowheads="1"/>
          </p:cNvSpPr>
          <p:nvPr/>
        </p:nvSpPr>
        <p:spPr bwMode="auto">
          <a:xfrm>
            <a:off x="4829176" y="5095876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24" name="Rectangle 20"/>
          <p:cNvSpPr>
            <a:spLocks noChangeArrowheads="1"/>
          </p:cNvSpPr>
          <p:nvPr/>
        </p:nvSpPr>
        <p:spPr bwMode="auto">
          <a:xfrm>
            <a:off x="4829176" y="6134101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2725" name="Group 21"/>
          <p:cNvGrpSpPr>
            <a:grpSpLocks/>
          </p:cNvGrpSpPr>
          <p:nvPr/>
        </p:nvGrpSpPr>
        <p:grpSpPr bwMode="auto">
          <a:xfrm>
            <a:off x="5048250" y="1557339"/>
            <a:ext cx="2190750" cy="1000125"/>
            <a:chOff x="2226" y="1443"/>
            <a:chExt cx="1374" cy="630"/>
          </a:xfrm>
        </p:grpSpPr>
        <p:cxnSp>
          <p:nvCxnSpPr>
            <p:cNvPr id="72830" name="AutoShape 22"/>
            <p:cNvCxnSpPr>
              <a:cxnSpLocks noChangeShapeType="1"/>
              <a:endCxn id="72836" idx="2"/>
            </p:cNvCxnSpPr>
            <p:nvPr/>
          </p:nvCxnSpPr>
          <p:spPr bwMode="auto">
            <a:xfrm>
              <a:off x="2226" y="1767"/>
              <a:ext cx="606" cy="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31" name="AutoShape 23"/>
            <p:cNvCxnSpPr>
              <a:cxnSpLocks noChangeShapeType="1"/>
              <a:endCxn id="72833" idx="2"/>
            </p:cNvCxnSpPr>
            <p:nvPr/>
          </p:nvCxnSpPr>
          <p:spPr bwMode="auto">
            <a:xfrm flipV="1">
              <a:off x="2226" y="1560"/>
              <a:ext cx="594" cy="2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32" name="AutoShape 24"/>
            <p:cNvCxnSpPr>
              <a:cxnSpLocks noChangeShapeType="1"/>
              <a:endCxn id="72839" idx="2"/>
            </p:cNvCxnSpPr>
            <p:nvPr/>
          </p:nvCxnSpPr>
          <p:spPr bwMode="auto">
            <a:xfrm>
              <a:off x="2226" y="1767"/>
              <a:ext cx="600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833" name="Oval 25"/>
            <p:cNvSpPr>
              <a:spLocks noChangeArrowheads="1"/>
            </p:cNvSpPr>
            <p:nvPr/>
          </p:nvSpPr>
          <p:spPr bwMode="auto">
            <a:xfrm>
              <a:off x="2826" y="148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834" name="AutoShape 26"/>
            <p:cNvCxnSpPr>
              <a:cxnSpLocks noChangeShapeType="1"/>
              <a:stCxn id="72833" idx="6"/>
            </p:cNvCxnSpPr>
            <p:nvPr/>
          </p:nvCxnSpPr>
          <p:spPr bwMode="auto">
            <a:xfrm flipV="1">
              <a:off x="2976" y="1443"/>
              <a:ext cx="612" cy="1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35" name="AutoShape 27"/>
            <p:cNvCxnSpPr>
              <a:cxnSpLocks noChangeShapeType="1"/>
              <a:stCxn id="72833" idx="6"/>
            </p:cNvCxnSpPr>
            <p:nvPr/>
          </p:nvCxnSpPr>
          <p:spPr bwMode="auto">
            <a:xfrm>
              <a:off x="2976" y="1560"/>
              <a:ext cx="600" cy="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836" name="Oval 28"/>
            <p:cNvSpPr>
              <a:spLocks noChangeArrowheads="1"/>
            </p:cNvSpPr>
            <p:nvPr/>
          </p:nvSpPr>
          <p:spPr bwMode="auto">
            <a:xfrm>
              <a:off x="2838" y="169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837" name="AutoShape 29"/>
            <p:cNvCxnSpPr>
              <a:cxnSpLocks noChangeShapeType="1"/>
              <a:stCxn id="72836" idx="6"/>
            </p:cNvCxnSpPr>
            <p:nvPr/>
          </p:nvCxnSpPr>
          <p:spPr bwMode="auto">
            <a:xfrm flipV="1">
              <a:off x="2988" y="1659"/>
              <a:ext cx="600" cy="1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38" name="AutoShape 30"/>
            <p:cNvCxnSpPr>
              <a:cxnSpLocks noChangeShapeType="1"/>
              <a:stCxn id="72836" idx="6"/>
            </p:cNvCxnSpPr>
            <p:nvPr/>
          </p:nvCxnSpPr>
          <p:spPr bwMode="auto">
            <a:xfrm>
              <a:off x="2988" y="1770"/>
              <a:ext cx="600" cy="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839" name="Oval 31"/>
            <p:cNvSpPr>
              <a:spLocks noChangeArrowheads="1"/>
            </p:cNvSpPr>
            <p:nvPr/>
          </p:nvSpPr>
          <p:spPr bwMode="auto">
            <a:xfrm>
              <a:off x="2832" y="190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840" name="AutoShape 32"/>
            <p:cNvCxnSpPr>
              <a:cxnSpLocks noChangeShapeType="1"/>
              <a:stCxn id="72839" idx="6"/>
            </p:cNvCxnSpPr>
            <p:nvPr/>
          </p:nvCxnSpPr>
          <p:spPr bwMode="auto">
            <a:xfrm flipV="1">
              <a:off x="2982" y="1869"/>
              <a:ext cx="606" cy="1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41" name="AutoShape 33"/>
            <p:cNvCxnSpPr>
              <a:cxnSpLocks noChangeShapeType="1"/>
              <a:stCxn id="72839" idx="6"/>
            </p:cNvCxnSpPr>
            <p:nvPr/>
          </p:nvCxnSpPr>
          <p:spPr bwMode="auto">
            <a:xfrm>
              <a:off x="2982" y="1980"/>
              <a:ext cx="618" cy="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2726" name="Group 34"/>
          <p:cNvGrpSpPr>
            <a:grpSpLocks/>
          </p:cNvGrpSpPr>
          <p:nvPr/>
        </p:nvGrpSpPr>
        <p:grpSpPr bwMode="auto">
          <a:xfrm>
            <a:off x="5048250" y="509589"/>
            <a:ext cx="2190750" cy="1000125"/>
            <a:chOff x="2226" y="1443"/>
            <a:chExt cx="1374" cy="630"/>
          </a:xfrm>
        </p:grpSpPr>
        <p:cxnSp>
          <p:nvCxnSpPr>
            <p:cNvPr id="72818" name="AutoShape 35"/>
            <p:cNvCxnSpPr>
              <a:cxnSpLocks noChangeShapeType="1"/>
              <a:endCxn id="72824" idx="2"/>
            </p:cNvCxnSpPr>
            <p:nvPr/>
          </p:nvCxnSpPr>
          <p:spPr bwMode="auto">
            <a:xfrm>
              <a:off x="2226" y="1767"/>
              <a:ext cx="606" cy="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19" name="AutoShape 36"/>
            <p:cNvCxnSpPr>
              <a:cxnSpLocks noChangeShapeType="1"/>
              <a:endCxn id="72821" idx="2"/>
            </p:cNvCxnSpPr>
            <p:nvPr/>
          </p:nvCxnSpPr>
          <p:spPr bwMode="auto">
            <a:xfrm flipV="1">
              <a:off x="2226" y="1560"/>
              <a:ext cx="594" cy="2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20" name="AutoShape 37"/>
            <p:cNvCxnSpPr>
              <a:cxnSpLocks noChangeShapeType="1"/>
              <a:endCxn id="72827" idx="2"/>
            </p:cNvCxnSpPr>
            <p:nvPr/>
          </p:nvCxnSpPr>
          <p:spPr bwMode="auto">
            <a:xfrm>
              <a:off x="2226" y="1767"/>
              <a:ext cx="600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821" name="Oval 38"/>
            <p:cNvSpPr>
              <a:spLocks noChangeArrowheads="1"/>
            </p:cNvSpPr>
            <p:nvPr/>
          </p:nvSpPr>
          <p:spPr bwMode="auto">
            <a:xfrm>
              <a:off x="2826" y="148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822" name="AutoShape 39"/>
            <p:cNvCxnSpPr>
              <a:cxnSpLocks noChangeShapeType="1"/>
              <a:stCxn id="72821" idx="6"/>
            </p:cNvCxnSpPr>
            <p:nvPr/>
          </p:nvCxnSpPr>
          <p:spPr bwMode="auto">
            <a:xfrm flipV="1">
              <a:off x="2976" y="1443"/>
              <a:ext cx="612" cy="1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23" name="AutoShape 40"/>
            <p:cNvCxnSpPr>
              <a:cxnSpLocks noChangeShapeType="1"/>
              <a:stCxn id="72821" idx="6"/>
            </p:cNvCxnSpPr>
            <p:nvPr/>
          </p:nvCxnSpPr>
          <p:spPr bwMode="auto">
            <a:xfrm>
              <a:off x="2976" y="1560"/>
              <a:ext cx="600" cy="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824" name="Oval 41"/>
            <p:cNvSpPr>
              <a:spLocks noChangeArrowheads="1"/>
            </p:cNvSpPr>
            <p:nvPr/>
          </p:nvSpPr>
          <p:spPr bwMode="auto">
            <a:xfrm>
              <a:off x="2838" y="169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825" name="AutoShape 42"/>
            <p:cNvCxnSpPr>
              <a:cxnSpLocks noChangeShapeType="1"/>
              <a:stCxn id="72824" idx="6"/>
            </p:cNvCxnSpPr>
            <p:nvPr/>
          </p:nvCxnSpPr>
          <p:spPr bwMode="auto">
            <a:xfrm flipV="1">
              <a:off x="2988" y="1659"/>
              <a:ext cx="600" cy="1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26" name="AutoShape 43"/>
            <p:cNvCxnSpPr>
              <a:cxnSpLocks noChangeShapeType="1"/>
              <a:stCxn id="72824" idx="6"/>
            </p:cNvCxnSpPr>
            <p:nvPr/>
          </p:nvCxnSpPr>
          <p:spPr bwMode="auto">
            <a:xfrm>
              <a:off x="2988" y="1770"/>
              <a:ext cx="600" cy="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827" name="Oval 44"/>
            <p:cNvSpPr>
              <a:spLocks noChangeArrowheads="1"/>
            </p:cNvSpPr>
            <p:nvPr/>
          </p:nvSpPr>
          <p:spPr bwMode="auto">
            <a:xfrm>
              <a:off x="2832" y="190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828" name="AutoShape 45"/>
            <p:cNvCxnSpPr>
              <a:cxnSpLocks noChangeShapeType="1"/>
              <a:stCxn id="72827" idx="6"/>
            </p:cNvCxnSpPr>
            <p:nvPr/>
          </p:nvCxnSpPr>
          <p:spPr bwMode="auto">
            <a:xfrm flipV="1">
              <a:off x="2982" y="1869"/>
              <a:ext cx="606" cy="1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29" name="AutoShape 46"/>
            <p:cNvCxnSpPr>
              <a:cxnSpLocks noChangeShapeType="1"/>
              <a:stCxn id="72827" idx="6"/>
            </p:cNvCxnSpPr>
            <p:nvPr/>
          </p:nvCxnSpPr>
          <p:spPr bwMode="auto">
            <a:xfrm>
              <a:off x="2982" y="1980"/>
              <a:ext cx="618" cy="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2727" name="Group 47"/>
          <p:cNvGrpSpPr>
            <a:grpSpLocks/>
          </p:cNvGrpSpPr>
          <p:nvPr/>
        </p:nvGrpSpPr>
        <p:grpSpPr bwMode="auto">
          <a:xfrm>
            <a:off x="5048250" y="3652839"/>
            <a:ext cx="2190750" cy="1000125"/>
            <a:chOff x="2226" y="1443"/>
            <a:chExt cx="1374" cy="630"/>
          </a:xfrm>
        </p:grpSpPr>
        <p:cxnSp>
          <p:nvCxnSpPr>
            <p:cNvPr id="72806" name="AutoShape 48"/>
            <p:cNvCxnSpPr>
              <a:cxnSpLocks noChangeShapeType="1"/>
              <a:endCxn id="72812" idx="2"/>
            </p:cNvCxnSpPr>
            <p:nvPr/>
          </p:nvCxnSpPr>
          <p:spPr bwMode="auto">
            <a:xfrm>
              <a:off x="2226" y="1767"/>
              <a:ext cx="606" cy="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07" name="AutoShape 49"/>
            <p:cNvCxnSpPr>
              <a:cxnSpLocks noChangeShapeType="1"/>
              <a:endCxn id="72809" idx="2"/>
            </p:cNvCxnSpPr>
            <p:nvPr/>
          </p:nvCxnSpPr>
          <p:spPr bwMode="auto">
            <a:xfrm flipV="1">
              <a:off x="2226" y="1560"/>
              <a:ext cx="594" cy="2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08" name="AutoShape 50"/>
            <p:cNvCxnSpPr>
              <a:cxnSpLocks noChangeShapeType="1"/>
              <a:endCxn id="72815" idx="2"/>
            </p:cNvCxnSpPr>
            <p:nvPr/>
          </p:nvCxnSpPr>
          <p:spPr bwMode="auto">
            <a:xfrm>
              <a:off x="2226" y="1767"/>
              <a:ext cx="600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809" name="Oval 51"/>
            <p:cNvSpPr>
              <a:spLocks noChangeArrowheads="1"/>
            </p:cNvSpPr>
            <p:nvPr/>
          </p:nvSpPr>
          <p:spPr bwMode="auto">
            <a:xfrm>
              <a:off x="2826" y="148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810" name="AutoShape 52"/>
            <p:cNvCxnSpPr>
              <a:cxnSpLocks noChangeShapeType="1"/>
              <a:stCxn id="72809" idx="6"/>
            </p:cNvCxnSpPr>
            <p:nvPr/>
          </p:nvCxnSpPr>
          <p:spPr bwMode="auto">
            <a:xfrm flipV="1">
              <a:off x="2976" y="1443"/>
              <a:ext cx="612" cy="1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11" name="AutoShape 53"/>
            <p:cNvCxnSpPr>
              <a:cxnSpLocks noChangeShapeType="1"/>
              <a:stCxn id="72809" idx="6"/>
            </p:cNvCxnSpPr>
            <p:nvPr/>
          </p:nvCxnSpPr>
          <p:spPr bwMode="auto">
            <a:xfrm>
              <a:off x="2976" y="1560"/>
              <a:ext cx="600" cy="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812" name="Oval 54"/>
            <p:cNvSpPr>
              <a:spLocks noChangeArrowheads="1"/>
            </p:cNvSpPr>
            <p:nvPr/>
          </p:nvSpPr>
          <p:spPr bwMode="auto">
            <a:xfrm>
              <a:off x="2838" y="169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813" name="AutoShape 55"/>
            <p:cNvCxnSpPr>
              <a:cxnSpLocks noChangeShapeType="1"/>
              <a:stCxn id="72812" idx="6"/>
            </p:cNvCxnSpPr>
            <p:nvPr/>
          </p:nvCxnSpPr>
          <p:spPr bwMode="auto">
            <a:xfrm flipV="1">
              <a:off x="2988" y="1659"/>
              <a:ext cx="600" cy="1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14" name="AutoShape 56"/>
            <p:cNvCxnSpPr>
              <a:cxnSpLocks noChangeShapeType="1"/>
              <a:stCxn id="72812" idx="6"/>
            </p:cNvCxnSpPr>
            <p:nvPr/>
          </p:nvCxnSpPr>
          <p:spPr bwMode="auto">
            <a:xfrm>
              <a:off x="2988" y="1770"/>
              <a:ext cx="600" cy="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815" name="Oval 57"/>
            <p:cNvSpPr>
              <a:spLocks noChangeArrowheads="1"/>
            </p:cNvSpPr>
            <p:nvPr/>
          </p:nvSpPr>
          <p:spPr bwMode="auto">
            <a:xfrm>
              <a:off x="2832" y="190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816" name="AutoShape 58"/>
            <p:cNvCxnSpPr>
              <a:cxnSpLocks noChangeShapeType="1"/>
              <a:stCxn id="72815" idx="6"/>
            </p:cNvCxnSpPr>
            <p:nvPr/>
          </p:nvCxnSpPr>
          <p:spPr bwMode="auto">
            <a:xfrm flipV="1">
              <a:off x="2982" y="1869"/>
              <a:ext cx="606" cy="1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17" name="AutoShape 59"/>
            <p:cNvCxnSpPr>
              <a:cxnSpLocks noChangeShapeType="1"/>
              <a:stCxn id="72815" idx="6"/>
            </p:cNvCxnSpPr>
            <p:nvPr/>
          </p:nvCxnSpPr>
          <p:spPr bwMode="auto">
            <a:xfrm>
              <a:off x="2982" y="1980"/>
              <a:ext cx="618" cy="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2728" name="Group 60"/>
          <p:cNvGrpSpPr>
            <a:grpSpLocks/>
          </p:cNvGrpSpPr>
          <p:nvPr/>
        </p:nvGrpSpPr>
        <p:grpSpPr bwMode="auto">
          <a:xfrm>
            <a:off x="5048250" y="2605089"/>
            <a:ext cx="2190750" cy="1000125"/>
            <a:chOff x="2226" y="1443"/>
            <a:chExt cx="1374" cy="630"/>
          </a:xfrm>
        </p:grpSpPr>
        <p:cxnSp>
          <p:nvCxnSpPr>
            <p:cNvPr id="72794" name="AutoShape 61"/>
            <p:cNvCxnSpPr>
              <a:cxnSpLocks noChangeShapeType="1"/>
              <a:endCxn id="72800" idx="2"/>
            </p:cNvCxnSpPr>
            <p:nvPr/>
          </p:nvCxnSpPr>
          <p:spPr bwMode="auto">
            <a:xfrm>
              <a:off x="2226" y="1767"/>
              <a:ext cx="606" cy="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795" name="AutoShape 62"/>
            <p:cNvCxnSpPr>
              <a:cxnSpLocks noChangeShapeType="1"/>
              <a:endCxn id="72797" idx="2"/>
            </p:cNvCxnSpPr>
            <p:nvPr/>
          </p:nvCxnSpPr>
          <p:spPr bwMode="auto">
            <a:xfrm flipV="1">
              <a:off x="2226" y="1560"/>
              <a:ext cx="594" cy="2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796" name="AutoShape 63"/>
            <p:cNvCxnSpPr>
              <a:cxnSpLocks noChangeShapeType="1"/>
              <a:endCxn id="72803" idx="2"/>
            </p:cNvCxnSpPr>
            <p:nvPr/>
          </p:nvCxnSpPr>
          <p:spPr bwMode="auto">
            <a:xfrm>
              <a:off x="2226" y="1767"/>
              <a:ext cx="600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797" name="Oval 64"/>
            <p:cNvSpPr>
              <a:spLocks noChangeArrowheads="1"/>
            </p:cNvSpPr>
            <p:nvPr/>
          </p:nvSpPr>
          <p:spPr bwMode="auto">
            <a:xfrm>
              <a:off x="2826" y="148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798" name="AutoShape 65"/>
            <p:cNvCxnSpPr>
              <a:cxnSpLocks noChangeShapeType="1"/>
              <a:stCxn id="72797" idx="6"/>
            </p:cNvCxnSpPr>
            <p:nvPr/>
          </p:nvCxnSpPr>
          <p:spPr bwMode="auto">
            <a:xfrm flipV="1">
              <a:off x="2976" y="1443"/>
              <a:ext cx="612" cy="1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799" name="AutoShape 66"/>
            <p:cNvCxnSpPr>
              <a:cxnSpLocks noChangeShapeType="1"/>
              <a:stCxn id="72797" idx="6"/>
            </p:cNvCxnSpPr>
            <p:nvPr/>
          </p:nvCxnSpPr>
          <p:spPr bwMode="auto">
            <a:xfrm>
              <a:off x="2976" y="1560"/>
              <a:ext cx="600" cy="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800" name="Oval 67"/>
            <p:cNvSpPr>
              <a:spLocks noChangeArrowheads="1"/>
            </p:cNvSpPr>
            <p:nvPr/>
          </p:nvSpPr>
          <p:spPr bwMode="auto">
            <a:xfrm>
              <a:off x="2838" y="169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801" name="AutoShape 68"/>
            <p:cNvCxnSpPr>
              <a:cxnSpLocks noChangeShapeType="1"/>
              <a:stCxn id="72800" idx="6"/>
            </p:cNvCxnSpPr>
            <p:nvPr/>
          </p:nvCxnSpPr>
          <p:spPr bwMode="auto">
            <a:xfrm flipV="1">
              <a:off x="2988" y="1659"/>
              <a:ext cx="600" cy="1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02" name="AutoShape 69"/>
            <p:cNvCxnSpPr>
              <a:cxnSpLocks noChangeShapeType="1"/>
              <a:stCxn id="72800" idx="6"/>
            </p:cNvCxnSpPr>
            <p:nvPr/>
          </p:nvCxnSpPr>
          <p:spPr bwMode="auto">
            <a:xfrm>
              <a:off x="2988" y="1770"/>
              <a:ext cx="600" cy="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803" name="Oval 70"/>
            <p:cNvSpPr>
              <a:spLocks noChangeArrowheads="1"/>
            </p:cNvSpPr>
            <p:nvPr/>
          </p:nvSpPr>
          <p:spPr bwMode="auto">
            <a:xfrm>
              <a:off x="2832" y="190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804" name="AutoShape 71"/>
            <p:cNvCxnSpPr>
              <a:cxnSpLocks noChangeShapeType="1"/>
              <a:stCxn id="72803" idx="6"/>
            </p:cNvCxnSpPr>
            <p:nvPr/>
          </p:nvCxnSpPr>
          <p:spPr bwMode="auto">
            <a:xfrm flipV="1">
              <a:off x="2982" y="1869"/>
              <a:ext cx="606" cy="1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805" name="AutoShape 72"/>
            <p:cNvCxnSpPr>
              <a:cxnSpLocks noChangeShapeType="1"/>
              <a:stCxn id="72803" idx="6"/>
            </p:cNvCxnSpPr>
            <p:nvPr/>
          </p:nvCxnSpPr>
          <p:spPr bwMode="auto">
            <a:xfrm>
              <a:off x="2982" y="1980"/>
              <a:ext cx="618" cy="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2729" name="Group 73"/>
          <p:cNvGrpSpPr>
            <a:grpSpLocks/>
          </p:cNvGrpSpPr>
          <p:nvPr/>
        </p:nvGrpSpPr>
        <p:grpSpPr bwMode="auto">
          <a:xfrm>
            <a:off x="5048250" y="5748339"/>
            <a:ext cx="2190750" cy="1000125"/>
            <a:chOff x="2226" y="1443"/>
            <a:chExt cx="1374" cy="630"/>
          </a:xfrm>
        </p:grpSpPr>
        <p:cxnSp>
          <p:nvCxnSpPr>
            <p:cNvPr id="72782" name="AutoShape 74"/>
            <p:cNvCxnSpPr>
              <a:cxnSpLocks noChangeShapeType="1"/>
              <a:endCxn id="72788" idx="2"/>
            </p:cNvCxnSpPr>
            <p:nvPr/>
          </p:nvCxnSpPr>
          <p:spPr bwMode="auto">
            <a:xfrm>
              <a:off x="2226" y="1767"/>
              <a:ext cx="606" cy="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783" name="AutoShape 75"/>
            <p:cNvCxnSpPr>
              <a:cxnSpLocks noChangeShapeType="1"/>
              <a:endCxn id="72785" idx="2"/>
            </p:cNvCxnSpPr>
            <p:nvPr/>
          </p:nvCxnSpPr>
          <p:spPr bwMode="auto">
            <a:xfrm flipV="1">
              <a:off x="2226" y="1560"/>
              <a:ext cx="594" cy="2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784" name="AutoShape 76"/>
            <p:cNvCxnSpPr>
              <a:cxnSpLocks noChangeShapeType="1"/>
              <a:endCxn id="72791" idx="2"/>
            </p:cNvCxnSpPr>
            <p:nvPr/>
          </p:nvCxnSpPr>
          <p:spPr bwMode="auto">
            <a:xfrm>
              <a:off x="2226" y="1767"/>
              <a:ext cx="600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785" name="Oval 77"/>
            <p:cNvSpPr>
              <a:spLocks noChangeArrowheads="1"/>
            </p:cNvSpPr>
            <p:nvPr/>
          </p:nvSpPr>
          <p:spPr bwMode="auto">
            <a:xfrm>
              <a:off x="2826" y="148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786" name="AutoShape 78"/>
            <p:cNvCxnSpPr>
              <a:cxnSpLocks noChangeShapeType="1"/>
              <a:stCxn id="72785" idx="6"/>
            </p:cNvCxnSpPr>
            <p:nvPr/>
          </p:nvCxnSpPr>
          <p:spPr bwMode="auto">
            <a:xfrm flipV="1">
              <a:off x="2976" y="1443"/>
              <a:ext cx="612" cy="1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787" name="AutoShape 79"/>
            <p:cNvCxnSpPr>
              <a:cxnSpLocks noChangeShapeType="1"/>
              <a:stCxn id="72785" idx="6"/>
            </p:cNvCxnSpPr>
            <p:nvPr/>
          </p:nvCxnSpPr>
          <p:spPr bwMode="auto">
            <a:xfrm>
              <a:off x="2976" y="1560"/>
              <a:ext cx="600" cy="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788" name="Oval 80"/>
            <p:cNvSpPr>
              <a:spLocks noChangeArrowheads="1"/>
            </p:cNvSpPr>
            <p:nvPr/>
          </p:nvSpPr>
          <p:spPr bwMode="auto">
            <a:xfrm>
              <a:off x="2838" y="169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789" name="AutoShape 81"/>
            <p:cNvCxnSpPr>
              <a:cxnSpLocks noChangeShapeType="1"/>
              <a:stCxn id="72788" idx="6"/>
            </p:cNvCxnSpPr>
            <p:nvPr/>
          </p:nvCxnSpPr>
          <p:spPr bwMode="auto">
            <a:xfrm flipV="1">
              <a:off x="2988" y="1659"/>
              <a:ext cx="600" cy="1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790" name="AutoShape 82"/>
            <p:cNvCxnSpPr>
              <a:cxnSpLocks noChangeShapeType="1"/>
              <a:stCxn id="72788" idx="6"/>
            </p:cNvCxnSpPr>
            <p:nvPr/>
          </p:nvCxnSpPr>
          <p:spPr bwMode="auto">
            <a:xfrm>
              <a:off x="2988" y="1770"/>
              <a:ext cx="600" cy="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791" name="Oval 83"/>
            <p:cNvSpPr>
              <a:spLocks noChangeArrowheads="1"/>
            </p:cNvSpPr>
            <p:nvPr/>
          </p:nvSpPr>
          <p:spPr bwMode="auto">
            <a:xfrm>
              <a:off x="2832" y="190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792" name="AutoShape 84"/>
            <p:cNvCxnSpPr>
              <a:cxnSpLocks noChangeShapeType="1"/>
              <a:stCxn id="72791" idx="6"/>
            </p:cNvCxnSpPr>
            <p:nvPr/>
          </p:nvCxnSpPr>
          <p:spPr bwMode="auto">
            <a:xfrm flipV="1">
              <a:off x="2982" y="1869"/>
              <a:ext cx="606" cy="1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793" name="AutoShape 85"/>
            <p:cNvCxnSpPr>
              <a:cxnSpLocks noChangeShapeType="1"/>
              <a:stCxn id="72791" idx="6"/>
            </p:cNvCxnSpPr>
            <p:nvPr/>
          </p:nvCxnSpPr>
          <p:spPr bwMode="auto">
            <a:xfrm>
              <a:off x="2982" y="1980"/>
              <a:ext cx="618" cy="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2730" name="Group 86"/>
          <p:cNvGrpSpPr>
            <a:grpSpLocks/>
          </p:cNvGrpSpPr>
          <p:nvPr/>
        </p:nvGrpSpPr>
        <p:grpSpPr bwMode="auto">
          <a:xfrm>
            <a:off x="5048250" y="4700589"/>
            <a:ext cx="2190750" cy="1000125"/>
            <a:chOff x="2226" y="1443"/>
            <a:chExt cx="1374" cy="630"/>
          </a:xfrm>
        </p:grpSpPr>
        <p:cxnSp>
          <p:nvCxnSpPr>
            <p:cNvPr id="72770" name="AutoShape 87"/>
            <p:cNvCxnSpPr>
              <a:cxnSpLocks noChangeShapeType="1"/>
              <a:endCxn id="72776" idx="2"/>
            </p:cNvCxnSpPr>
            <p:nvPr/>
          </p:nvCxnSpPr>
          <p:spPr bwMode="auto">
            <a:xfrm>
              <a:off x="2226" y="1767"/>
              <a:ext cx="606" cy="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771" name="AutoShape 88"/>
            <p:cNvCxnSpPr>
              <a:cxnSpLocks noChangeShapeType="1"/>
              <a:endCxn id="72773" idx="2"/>
            </p:cNvCxnSpPr>
            <p:nvPr/>
          </p:nvCxnSpPr>
          <p:spPr bwMode="auto">
            <a:xfrm flipV="1">
              <a:off x="2226" y="1560"/>
              <a:ext cx="594" cy="2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772" name="AutoShape 89"/>
            <p:cNvCxnSpPr>
              <a:cxnSpLocks noChangeShapeType="1"/>
              <a:endCxn id="72779" idx="2"/>
            </p:cNvCxnSpPr>
            <p:nvPr/>
          </p:nvCxnSpPr>
          <p:spPr bwMode="auto">
            <a:xfrm>
              <a:off x="2226" y="1767"/>
              <a:ext cx="600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773" name="Oval 90"/>
            <p:cNvSpPr>
              <a:spLocks noChangeArrowheads="1"/>
            </p:cNvSpPr>
            <p:nvPr/>
          </p:nvSpPr>
          <p:spPr bwMode="auto">
            <a:xfrm>
              <a:off x="2826" y="148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774" name="AutoShape 91"/>
            <p:cNvCxnSpPr>
              <a:cxnSpLocks noChangeShapeType="1"/>
              <a:stCxn id="72773" idx="6"/>
            </p:cNvCxnSpPr>
            <p:nvPr/>
          </p:nvCxnSpPr>
          <p:spPr bwMode="auto">
            <a:xfrm flipV="1">
              <a:off x="2976" y="1443"/>
              <a:ext cx="612" cy="1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775" name="AutoShape 92"/>
            <p:cNvCxnSpPr>
              <a:cxnSpLocks noChangeShapeType="1"/>
              <a:stCxn id="72773" idx="6"/>
            </p:cNvCxnSpPr>
            <p:nvPr/>
          </p:nvCxnSpPr>
          <p:spPr bwMode="auto">
            <a:xfrm>
              <a:off x="2976" y="1560"/>
              <a:ext cx="600" cy="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776" name="Oval 93"/>
            <p:cNvSpPr>
              <a:spLocks noChangeArrowheads="1"/>
            </p:cNvSpPr>
            <p:nvPr/>
          </p:nvSpPr>
          <p:spPr bwMode="auto">
            <a:xfrm>
              <a:off x="2838" y="169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777" name="AutoShape 94"/>
            <p:cNvCxnSpPr>
              <a:cxnSpLocks noChangeShapeType="1"/>
              <a:stCxn id="72776" idx="6"/>
            </p:cNvCxnSpPr>
            <p:nvPr/>
          </p:nvCxnSpPr>
          <p:spPr bwMode="auto">
            <a:xfrm flipV="1">
              <a:off x="2988" y="1659"/>
              <a:ext cx="600" cy="1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778" name="AutoShape 95"/>
            <p:cNvCxnSpPr>
              <a:cxnSpLocks noChangeShapeType="1"/>
              <a:stCxn id="72776" idx="6"/>
            </p:cNvCxnSpPr>
            <p:nvPr/>
          </p:nvCxnSpPr>
          <p:spPr bwMode="auto">
            <a:xfrm>
              <a:off x="2988" y="1770"/>
              <a:ext cx="600" cy="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779" name="Oval 96"/>
            <p:cNvSpPr>
              <a:spLocks noChangeArrowheads="1"/>
            </p:cNvSpPr>
            <p:nvPr/>
          </p:nvSpPr>
          <p:spPr bwMode="auto">
            <a:xfrm>
              <a:off x="2832" y="1908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2780" name="AutoShape 97"/>
            <p:cNvCxnSpPr>
              <a:cxnSpLocks noChangeShapeType="1"/>
              <a:stCxn id="72779" idx="6"/>
            </p:cNvCxnSpPr>
            <p:nvPr/>
          </p:nvCxnSpPr>
          <p:spPr bwMode="auto">
            <a:xfrm flipV="1">
              <a:off x="2982" y="1869"/>
              <a:ext cx="606" cy="1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781" name="AutoShape 98"/>
            <p:cNvCxnSpPr>
              <a:cxnSpLocks noChangeShapeType="1"/>
              <a:stCxn id="72779" idx="6"/>
            </p:cNvCxnSpPr>
            <p:nvPr/>
          </p:nvCxnSpPr>
          <p:spPr bwMode="auto">
            <a:xfrm>
              <a:off x="2982" y="1980"/>
              <a:ext cx="618" cy="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2731" name="Text Box 99"/>
          <p:cNvSpPr txBox="1">
            <a:spLocks noChangeArrowheads="1"/>
          </p:cNvSpPr>
          <p:nvPr/>
        </p:nvSpPr>
        <p:spPr bwMode="auto">
          <a:xfrm>
            <a:off x="2365375" y="-11113"/>
            <a:ext cx="971550" cy="641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Choose hitter</a:t>
            </a:r>
          </a:p>
        </p:txBody>
      </p:sp>
      <p:sp>
        <p:nvSpPr>
          <p:cNvPr id="72732" name="Text Box 100"/>
          <p:cNvSpPr txBox="1">
            <a:spLocks noChangeArrowheads="1"/>
          </p:cNvSpPr>
          <p:nvPr/>
        </p:nvSpPr>
        <p:spPr bwMode="auto">
          <a:xfrm>
            <a:off x="2822575" y="229393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A</a:t>
            </a:r>
          </a:p>
        </p:txBody>
      </p:sp>
      <p:sp>
        <p:nvSpPr>
          <p:cNvPr id="72733" name="Text Box 101"/>
          <p:cNvSpPr txBox="1">
            <a:spLocks noChangeArrowheads="1"/>
          </p:cNvSpPr>
          <p:nvPr/>
        </p:nvSpPr>
        <p:spPr bwMode="auto">
          <a:xfrm>
            <a:off x="2917825" y="324643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B</a:t>
            </a:r>
          </a:p>
        </p:txBody>
      </p:sp>
      <p:sp>
        <p:nvSpPr>
          <p:cNvPr id="72734" name="Text Box 102"/>
          <p:cNvSpPr txBox="1">
            <a:spLocks noChangeArrowheads="1"/>
          </p:cNvSpPr>
          <p:nvPr/>
        </p:nvSpPr>
        <p:spPr bwMode="auto">
          <a:xfrm>
            <a:off x="3013075" y="434181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C</a:t>
            </a:r>
          </a:p>
        </p:txBody>
      </p:sp>
      <p:sp>
        <p:nvSpPr>
          <p:cNvPr id="72735" name="Text Box 103"/>
          <p:cNvSpPr txBox="1">
            <a:spLocks noChangeArrowheads="1"/>
          </p:cNvSpPr>
          <p:nvPr/>
        </p:nvSpPr>
        <p:spPr bwMode="auto">
          <a:xfrm>
            <a:off x="3908425" y="7938"/>
            <a:ext cx="723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Hit?</a:t>
            </a:r>
          </a:p>
        </p:txBody>
      </p:sp>
      <p:sp>
        <p:nvSpPr>
          <p:cNvPr id="72736" name="Text Box 104"/>
          <p:cNvSpPr txBox="1">
            <a:spLocks noChangeArrowheads="1"/>
          </p:cNvSpPr>
          <p:nvPr/>
        </p:nvSpPr>
        <p:spPr bwMode="auto">
          <a:xfrm>
            <a:off x="4003675" y="108426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1</a:t>
            </a:r>
          </a:p>
        </p:txBody>
      </p:sp>
      <p:sp>
        <p:nvSpPr>
          <p:cNvPr id="72737" name="Text Box 105"/>
          <p:cNvSpPr txBox="1">
            <a:spLocks noChangeArrowheads="1"/>
          </p:cNvSpPr>
          <p:nvPr/>
        </p:nvSpPr>
        <p:spPr bwMode="auto">
          <a:xfrm>
            <a:off x="4032250" y="150336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0</a:t>
            </a:r>
          </a:p>
        </p:txBody>
      </p:sp>
      <p:sp>
        <p:nvSpPr>
          <p:cNvPr id="72738" name="Text Box 106"/>
          <p:cNvSpPr txBox="1">
            <a:spLocks noChangeArrowheads="1"/>
          </p:cNvSpPr>
          <p:nvPr/>
        </p:nvSpPr>
        <p:spPr bwMode="auto">
          <a:xfrm>
            <a:off x="4051300" y="306546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1</a:t>
            </a:r>
          </a:p>
        </p:txBody>
      </p:sp>
      <p:sp>
        <p:nvSpPr>
          <p:cNvPr id="72739" name="Text Box 107"/>
          <p:cNvSpPr txBox="1">
            <a:spLocks noChangeArrowheads="1"/>
          </p:cNvSpPr>
          <p:nvPr/>
        </p:nvSpPr>
        <p:spPr bwMode="auto">
          <a:xfrm>
            <a:off x="4070350" y="34940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0</a:t>
            </a:r>
          </a:p>
        </p:txBody>
      </p:sp>
      <p:sp>
        <p:nvSpPr>
          <p:cNvPr id="72740" name="Text Box 108"/>
          <p:cNvSpPr txBox="1">
            <a:spLocks noChangeArrowheads="1"/>
          </p:cNvSpPr>
          <p:nvPr/>
        </p:nvSpPr>
        <p:spPr bwMode="auto">
          <a:xfrm>
            <a:off x="4041775" y="5170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1</a:t>
            </a:r>
          </a:p>
        </p:txBody>
      </p:sp>
      <p:sp>
        <p:nvSpPr>
          <p:cNvPr id="72741" name="Text Box 109"/>
          <p:cNvSpPr txBox="1">
            <a:spLocks noChangeArrowheads="1"/>
          </p:cNvSpPr>
          <p:nvPr/>
        </p:nvSpPr>
        <p:spPr bwMode="auto">
          <a:xfrm>
            <a:off x="4051300" y="561816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0</a:t>
            </a:r>
          </a:p>
        </p:txBody>
      </p:sp>
      <p:sp>
        <p:nvSpPr>
          <p:cNvPr id="72742" name="Text Box 110"/>
          <p:cNvSpPr txBox="1">
            <a:spLocks noChangeArrowheads="1"/>
          </p:cNvSpPr>
          <p:nvPr/>
        </p:nvSpPr>
        <p:spPr bwMode="auto">
          <a:xfrm>
            <a:off x="4870450" y="0"/>
            <a:ext cx="971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Choose hitter</a:t>
            </a:r>
          </a:p>
        </p:txBody>
      </p:sp>
      <p:sp>
        <p:nvSpPr>
          <p:cNvPr id="72743" name="Text Box 111"/>
          <p:cNvSpPr txBox="1">
            <a:spLocks noChangeArrowheads="1"/>
          </p:cNvSpPr>
          <p:nvPr/>
        </p:nvSpPr>
        <p:spPr bwMode="auto">
          <a:xfrm>
            <a:off x="6270625" y="1"/>
            <a:ext cx="723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Hit?</a:t>
            </a:r>
          </a:p>
        </p:txBody>
      </p:sp>
      <p:sp>
        <p:nvSpPr>
          <p:cNvPr id="72744" name="Text Box 112"/>
          <p:cNvSpPr txBox="1">
            <a:spLocks noChangeArrowheads="1"/>
          </p:cNvSpPr>
          <p:nvPr/>
        </p:nvSpPr>
        <p:spPr bwMode="auto">
          <a:xfrm>
            <a:off x="4270375" y="1160463"/>
            <a:ext cx="647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.360</a:t>
            </a:r>
          </a:p>
        </p:txBody>
      </p:sp>
      <p:sp>
        <p:nvSpPr>
          <p:cNvPr id="72745" name="Text Box 113"/>
          <p:cNvSpPr txBox="1">
            <a:spLocks noChangeArrowheads="1"/>
          </p:cNvSpPr>
          <p:nvPr/>
        </p:nvSpPr>
        <p:spPr bwMode="auto">
          <a:xfrm>
            <a:off x="3917950" y="1827213"/>
            <a:ext cx="647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.640</a:t>
            </a:r>
          </a:p>
        </p:txBody>
      </p:sp>
      <p:sp>
        <p:nvSpPr>
          <p:cNvPr id="72746" name="Text Box 114"/>
          <p:cNvSpPr txBox="1">
            <a:spLocks noChangeArrowheads="1"/>
          </p:cNvSpPr>
          <p:nvPr/>
        </p:nvSpPr>
        <p:spPr bwMode="auto">
          <a:xfrm>
            <a:off x="4232275" y="3227388"/>
            <a:ext cx="647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.333</a:t>
            </a:r>
          </a:p>
        </p:txBody>
      </p:sp>
      <p:sp>
        <p:nvSpPr>
          <p:cNvPr id="72747" name="Text Box 115"/>
          <p:cNvSpPr txBox="1">
            <a:spLocks noChangeArrowheads="1"/>
          </p:cNvSpPr>
          <p:nvPr/>
        </p:nvSpPr>
        <p:spPr bwMode="auto">
          <a:xfrm>
            <a:off x="3822700" y="3827463"/>
            <a:ext cx="74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.667</a:t>
            </a:r>
          </a:p>
        </p:txBody>
      </p:sp>
      <p:sp>
        <p:nvSpPr>
          <p:cNvPr id="72748" name="Text Box 116"/>
          <p:cNvSpPr txBox="1">
            <a:spLocks noChangeArrowheads="1"/>
          </p:cNvSpPr>
          <p:nvPr/>
        </p:nvSpPr>
        <p:spPr bwMode="auto">
          <a:xfrm>
            <a:off x="4279900" y="5322888"/>
            <a:ext cx="74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.318</a:t>
            </a:r>
          </a:p>
        </p:txBody>
      </p:sp>
      <p:sp>
        <p:nvSpPr>
          <p:cNvPr id="72749" name="Text Box 117"/>
          <p:cNvSpPr txBox="1">
            <a:spLocks noChangeArrowheads="1"/>
          </p:cNvSpPr>
          <p:nvPr/>
        </p:nvSpPr>
        <p:spPr bwMode="auto">
          <a:xfrm>
            <a:off x="3860800" y="5980113"/>
            <a:ext cx="74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.682</a:t>
            </a:r>
          </a:p>
        </p:txBody>
      </p:sp>
      <p:sp>
        <p:nvSpPr>
          <p:cNvPr id="72750" name="Text Box 118"/>
          <p:cNvSpPr txBox="1">
            <a:spLocks noChangeArrowheads="1"/>
          </p:cNvSpPr>
          <p:nvPr/>
        </p:nvSpPr>
        <p:spPr bwMode="auto">
          <a:xfrm>
            <a:off x="7070725" y="31273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.366</a:t>
            </a:r>
          </a:p>
        </p:txBody>
      </p:sp>
      <p:sp>
        <p:nvSpPr>
          <p:cNvPr id="72751" name="Text Box 119"/>
          <p:cNvSpPr txBox="1">
            <a:spLocks noChangeArrowheads="1"/>
          </p:cNvSpPr>
          <p:nvPr/>
        </p:nvSpPr>
        <p:spPr bwMode="auto">
          <a:xfrm>
            <a:off x="7061200" y="66516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.333</a:t>
            </a:r>
          </a:p>
        </p:txBody>
      </p:sp>
      <p:sp>
        <p:nvSpPr>
          <p:cNvPr id="72752" name="Text Box 120"/>
          <p:cNvSpPr txBox="1">
            <a:spLocks noChangeArrowheads="1"/>
          </p:cNvSpPr>
          <p:nvPr/>
        </p:nvSpPr>
        <p:spPr bwMode="auto">
          <a:xfrm>
            <a:off x="7070725" y="98901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.318</a:t>
            </a:r>
          </a:p>
        </p:txBody>
      </p:sp>
      <p:sp>
        <p:nvSpPr>
          <p:cNvPr id="72753" name="Text Box 121"/>
          <p:cNvSpPr txBox="1">
            <a:spLocks noChangeArrowheads="1"/>
          </p:cNvSpPr>
          <p:nvPr/>
        </p:nvSpPr>
        <p:spPr bwMode="auto">
          <a:xfrm>
            <a:off x="7080250" y="134143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.356</a:t>
            </a:r>
          </a:p>
        </p:txBody>
      </p:sp>
      <p:sp>
        <p:nvSpPr>
          <p:cNvPr id="72754" name="Text Box 122"/>
          <p:cNvSpPr txBox="1">
            <a:spLocks noChangeArrowheads="1"/>
          </p:cNvSpPr>
          <p:nvPr/>
        </p:nvSpPr>
        <p:spPr bwMode="auto">
          <a:xfrm>
            <a:off x="7070725" y="169386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.333</a:t>
            </a:r>
          </a:p>
        </p:txBody>
      </p:sp>
      <p:sp>
        <p:nvSpPr>
          <p:cNvPr id="72755" name="Text Box 123"/>
          <p:cNvSpPr txBox="1">
            <a:spLocks noChangeArrowheads="1"/>
          </p:cNvSpPr>
          <p:nvPr/>
        </p:nvSpPr>
        <p:spPr bwMode="auto">
          <a:xfrm>
            <a:off x="7080250" y="201771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.318</a:t>
            </a:r>
          </a:p>
        </p:txBody>
      </p:sp>
      <p:sp>
        <p:nvSpPr>
          <p:cNvPr id="72756" name="Text Box 124"/>
          <p:cNvSpPr txBox="1">
            <a:spLocks noChangeArrowheads="1"/>
          </p:cNvSpPr>
          <p:nvPr/>
        </p:nvSpPr>
        <p:spPr bwMode="auto">
          <a:xfrm>
            <a:off x="7080250" y="240823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.360</a:t>
            </a:r>
          </a:p>
        </p:txBody>
      </p:sp>
      <p:sp>
        <p:nvSpPr>
          <p:cNvPr id="72757" name="Text Box 125"/>
          <p:cNvSpPr txBox="1">
            <a:spLocks noChangeArrowheads="1"/>
          </p:cNvSpPr>
          <p:nvPr/>
        </p:nvSpPr>
        <p:spPr bwMode="auto">
          <a:xfrm>
            <a:off x="7070725" y="276066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.500</a:t>
            </a:r>
          </a:p>
        </p:txBody>
      </p:sp>
      <p:sp>
        <p:nvSpPr>
          <p:cNvPr id="72758" name="Text Box 126"/>
          <p:cNvSpPr txBox="1">
            <a:spLocks noChangeArrowheads="1"/>
          </p:cNvSpPr>
          <p:nvPr/>
        </p:nvSpPr>
        <p:spPr bwMode="auto">
          <a:xfrm>
            <a:off x="7080250" y="308451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.318</a:t>
            </a:r>
          </a:p>
        </p:txBody>
      </p:sp>
      <p:sp>
        <p:nvSpPr>
          <p:cNvPr id="72759" name="Text Box 127"/>
          <p:cNvSpPr txBox="1">
            <a:spLocks noChangeArrowheads="1"/>
          </p:cNvSpPr>
          <p:nvPr/>
        </p:nvSpPr>
        <p:spPr bwMode="auto">
          <a:xfrm>
            <a:off x="7089775" y="343693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.360</a:t>
            </a:r>
          </a:p>
        </p:txBody>
      </p:sp>
      <p:sp>
        <p:nvSpPr>
          <p:cNvPr id="72760" name="Text Box 128"/>
          <p:cNvSpPr txBox="1">
            <a:spLocks noChangeArrowheads="1"/>
          </p:cNvSpPr>
          <p:nvPr/>
        </p:nvSpPr>
        <p:spPr bwMode="auto">
          <a:xfrm>
            <a:off x="7080250" y="378936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.250</a:t>
            </a:r>
          </a:p>
        </p:txBody>
      </p:sp>
      <p:sp>
        <p:nvSpPr>
          <p:cNvPr id="72761" name="Text Box 129"/>
          <p:cNvSpPr txBox="1">
            <a:spLocks noChangeArrowheads="1"/>
          </p:cNvSpPr>
          <p:nvPr/>
        </p:nvSpPr>
        <p:spPr bwMode="auto">
          <a:xfrm>
            <a:off x="7089775" y="411321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.318</a:t>
            </a:r>
          </a:p>
        </p:txBody>
      </p:sp>
      <p:sp>
        <p:nvSpPr>
          <p:cNvPr id="72762" name="Text Box 130"/>
          <p:cNvSpPr txBox="1">
            <a:spLocks noChangeArrowheads="1"/>
          </p:cNvSpPr>
          <p:nvPr/>
        </p:nvSpPr>
        <p:spPr bwMode="auto">
          <a:xfrm>
            <a:off x="7099300" y="448468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.360</a:t>
            </a:r>
          </a:p>
        </p:txBody>
      </p:sp>
      <p:sp>
        <p:nvSpPr>
          <p:cNvPr id="72763" name="Text Box 131"/>
          <p:cNvSpPr txBox="1">
            <a:spLocks noChangeArrowheads="1"/>
          </p:cNvSpPr>
          <p:nvPr/>
        </p:nvSpPr>
        <p:spPr bwMode="auto">
          <a:xfrm>
            <a:off x="7089775" y="483711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.333</a:t>
            </a:r>
          </a:p>
        </p:txBody>
      </p:sp>
      <p:sp>
        <p:nvSpPr>
          <p:cNvPr id="72764" name="Text Box 132"/>
          <p:cNvSpPr txBox="1">
            <a:spLocks noChangeArrowheads="1"/>
          </p:cNvSpPr>
          <p:nvPr/>
        </p:nvSpPr>
        <p:spPr bwMode="auto">
          <a:xfrm>
            <a:off x="7099300" y="516096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.348</a:t>
            </a:r>
          </a:p>
        </p:txBody>
      </p:sp>
      <p:sp>
        <p:nvSpPr>
          <p:cNvPr id="72765" name="Text Box 133"/>
          <p:cNvSpPr txBox="1">
            <a:spLocks noChangeArrowheads="1"/>
          </p:cNvSpPr>
          <p:nvPr/>
        </p:nvSpPr>
        <p:spPr bwMode="auto">
          <a:xfrm>
            <a:off x="7108825" y="556101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.360</a:t>
            </a:r>
          </a:p>
        </p:txBody>
      </p:sp>
      <p:sp>
        <p:nvSpPr>
          <p:cNvPr id="72766" name="Text Box 134"/>
          <p:cNvSpPr txBox="1">
            <a:spLocks noChangeArrowheads="1"/>
          </p:cNvSpPr>
          <p:nvPr/>
        </p:nvSpPr>
        <p:spPr bwMode="auto">
          <a:xfrm>
            <a:off x="7099300" y="591343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.333</a:t>
            </a:r>
          </a:p>
        </p:txBody>
      </p:sp>
      <p:sp>
        <p:nvSpPr>
          <p:cNvPr id="72767" name="Text Box 135"/>
          <p:cNvSpPr txBox="1">
            <a:spLocks noChangeArrowheads="1"/>
          </p:cNvSpPr>
          <p:nvPr/>
        </p:nvSpPr>
        <p:spPr bwMode="auto">
          <a:xfrm>
            <a:off x="7108825" y="623728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.304</a:t>
            </a:r>
          </a:p>
        </p:txBody>
      </p:sp>
      <p:sp>
        <p:nvSpPr>
          <p:cNvPr id="7276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F240C80-9BB2-4BA3-8D8C-66F09E9B6293}" type="slidenum">
              <a:rPr lang="en-US" sz="1400"/>
              <a:pPr/>
              <a:t>318</a:t>
            </a:fld>
            <a:endParaRPr lang="en-US" sz="1400"/>
          </a:p>
        </p:txBody>
      </p:sp>
      <p:sp>
        <p:nvSpPr>
          <p:cNvPr id="2" name="TextBox 1"/>
          <p:cNvSpPr txBox="1"/>
          <p:nvPr/>
        </p:nvSpPr>
        <p:spPr>
          <a:xfrm>
            <a:off x="8528051" y="1859757"/>
            <a:ext cx="26659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Raleway" pitchFamily="2" charset="0"/>
              </a:rPr>
              <a:t>As we observe whether or not the player gets a hit, we update our estimate of his probability of getting a hit (his batting average.)</a:t>
            </a:r>
          </a:p>
        </p:txBody>
      </p:sp>
    </p:spTree>
    <p:extLst>
      <p:ext uri="{BB962C8B-B14F-4D97-AF65-F5344CB8AC3E}">
        <p14:creationId xmlns:p14="http://schemas.microsoft.com/office/powerpoint/2010/main" val="1432830102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2390776" y="3448051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1" name="Oval 3"/>
          <p:cNvSpPr>
            <a:spLocks noChangeArrowheads="1"/>
          </p:cNvSpPr>
          <p:nvPr/>
        </p:nvSpPr>
        <p:spPr bwMode="auto">
          <a:xfrm>
            <a:off x="3600450" y="154305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3732" name="AutoShape 4"/>
          <p:cNvCxnSpPr>
            <a:cxnSpLocks noChangeShapeType="1"/>
            <a:stCxn id="73730" idx="3"/>
            <a:endCxn id="73731" idx="2"/>
          </p:cNvCxnSpPr>
          <p:nvPr/>
        </p:nvCxnSpPr>
        <p:spPr bwMode="auto">
          <a:xfrm flipV="1">
            <a:off x="2619375" y="1657350"/>
            <a:ext cx="971550" cy="1900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733" name="Oval 5"/>
          <p:cNvSpPr>
            <a:spLocks noChangeArrowheads="1"/>
          </p:cNvSpPr>
          <p:nvPr/>
        </p:nvSpPr>
        <p:spPr bwMode="auto">
          <a:xfrm>
            <a:off x="3609975" y="344805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4" name="Oval 6"/>
          <p:cNvSpPr>
            <a:spLocks noChangeArrowheads="1"/>
          </p:cNvSpPr>
          <p:nvPr/>
        </p:nvSpPr>
        <p:spPr bwMode="auto">
          <a:xfrm>
            <a:off x="3609975" y="561975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3735" name="AutoShape 7"/>
          <p:cNvCxnSpPr>
            <a:cxnSpLocks noChangeShapeType="1"/>
            <a:stCxn id="73730" idx="3"/>
            <a:endCxn id="73734" idx="2"/>
          </p:cNvCxnSpPr>
          <p:nvPr/>
        </p:nvCxnSpPr>
        <p:spPr bwMode="auto">
          <a:xfrm>
            <a:off x="2619376" y="3557588"/>
            <a:ext cx="981075" cy="2176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36" name="AutoShape 8"/>
          <p:cNvCxnSpPr>
            <a:cxnSpLocks noChangeShapeType="1"/>
            <a:stCxn id="73730" idx="3"/>
            <a:endCxn id="73733" idx="2"/>
          </p:cNvCxnSpPr>
          <p:nvPr/>
        </p:nvCxnSpPr>
        <p:spPr bwMode="auto">
          <a:xfrm>
            <a:off x="2619376" y="3557588"/>
            <a:ext cx="981075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37" name="AutoShape 9"/>
          <p:cNvCxnSpPr>
            <a:cxnSpLocks noChangeShapeType="1"/>
            <a:stCxn id="73731" idx="6"/>
            <a:endCxn id="73739" idx="1"/>
          </p:cNvCxnSpPr>
          <p:nvPr/>
        </p:nvCxnSpPr>
        <p:spPr bwMode="auto">
          <a:xfrm flipV="1">
            <a:off x="3838575" y="1014414"/>
            <a:ext cx="990600" cy="64293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38" name="AutoShape 10"/>
          <p:cNvCxnSpPr>
            <a:cxnSpLocks noChangeShapeType="1"/>
            <a:stCxn id="73731" idx="6"/>
            <a:endCxn id="73740" idx="1"/>
          </p:cNvCxnSpPr>
          <p:nvPr/>
        </p:nvCxnSpPr>
        <p:spPr bwMode="auto">
          <a:xfrm>
            <a:off x="3838575" y="1657351"/>
            <a:ext cx="990600" cy="40481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739" name="Rectangle 11"/>
          <p:cNvSpPr>
            <a:spLocks noChangeArrowheads="1"/>
          </p:cNvSpPr>
          <p:nvPr/>
        </p:nvSpPr>
        <p:spPr bwMode="auto">
          <a:xfrm>
            <a:off x="4838701" y="904876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0" name="Rectangle 12"/>
          <p:cNvSpPr>
            <a:spLocks noChangeArrowheads="1"/>
          </p:cNvSpPr>
          <p:nvPr/>
        </p:nvSpPr>
        <p:spPr bwMode="auto">
          <a:xfrm>
            <a:off x="4838701" y="1952626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3741" name="AutoShape 13"/>
          <p:cNvCxnSpPr>
            <a:cxnSpLocks noChangeShapeType="1"/>
            <a:stCxn id="73733" idx="6"/>
            <a:endCxn id="73743" idx="1"/>
          </p:cNvCxnSpPr>
          <p:nvPr/>
        </p:nvCxnSpPr>
        <p:spPr bwMode="auto">
          <a:xfrm flipV="1">
            <a:off x="3848100" y="3128964"/>
            <a:ext cx="971550" cy="4333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2" name="AutoShape 14"/>
          <p:cNvCxnSpPr>
            <a:cxnSpLocks noChangeShapeType="1"/>
            <a:stCxn id="73733" idx="6"/>
            <a:endCxn id="73744" idx="1"/>
          </p:cNvCxnSpPr>
          <p:nvPr/>
        </p:nvCxnSpPr>
        <p:spPr bwMode="auto">
          <a:xfrm>
            <a:off x="3848100" y="3562351"/>
            <a:ext cx="971550" cy="59531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743" name="Rectangle 15"/>
          <p:cNvSpPr>
            <a:spLocks noChangeArrowheads="1"/>
          </p:cNvSpPr>
          <p:nvPr/>
        </p:nvSpPr>
        <p:spPr bwMode="auto">
          <a:xfrm>
            <a:off x="4829176" y="3019426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4" name="Rectangle 16"/>
          <p:cNvSpPr>
            <a:spLocks noChangeArrowheads="1"/>
          </p:cNvSpPr>
          <p:nvPr/>
        </p:nvSpPr>
        <p:spPr bwMode="auto">
          <a:xfrm>
            <a:off x="4829176" y="4048126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3745" name="AutoShape 17"/>
          <p:cNvCxnSpPr>
            <a:cxnSpLocks noChangeShapeType="1"/>
            <a:stCxn id="73734" idx="6"/>
            <a:endCxn id="73747" idx="1"/>
          </p:cNvCxnSpPr>
          <p:nvPr/>
        </p:nvCxnSpPr>
        <p:spPr bwMode="auto">
          <a:xfrm flipV="1">
            <a:off x="3848100" y="5205414"/>
            <a:ext cx="971550" cy="52863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6" name="AutoShape 18"/>
          <p:cNvCxnSpPr>
            <a:cxnSpLocks noChangeShapeType="1"/>
            <a:stCxn id="73734" idx="6"/>
            <a:endCxn id="73748" idx="1"/>
          </p:cNvCxnSpPr>
          <p:nvPr/>
        </p:nvCxnSpPr>
        <p:spPr bwMode="auto">
          <a:xfrm>
            <a:off x="3848100" y="5734050"/>
            <a:ext cx="971550" cy="5095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747" name="Rectangle 19"/>
          <p:cNvSpPr>
            <a:spLocks noChangeArrowheads="1"/>
          </p:cNvSpPr>
          <p:nvPr/>
        </p:nvSpPr>
        <p:spPr bwMode="auto">
          <a:xfrm>
            <a:off x="4829176" y="5095876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8" name="Rectangle 20"/>
          <p:cNvSpPr>
            <a:spLocks noChangeArrowheads="1"/>
          </p:cNvSpPr>
          <p:nvPr/>
        </p:nvSpPr>
        <p:spPr bwMode="auto">
          <a:xfrm>
            <a:off x="4829176" y="6134101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3749" name="AutoShape 21"/>
          <p:cNvCxnSpPr>
            <a:cxnSpLocks noChangeShapeType="1"/>
            <a:endCxn id="73753" idx="2"/>
          </p:cNvCxnSpPr>
          <p:nvPr/>
        </p:nvCxnSpPr>
        <p:spPr bwMode="auto">
          <a:xfrm>
            <a:off x="5048250" y="2071688"/>
            <a:ext cx="966788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50" name="AutoShape 22"/>
          <p:cNvCxnSpPr>
            <a:cxnSpLocks noChangeShapeType="1"/>
            <a:endCxn id="73752" idx="2"/>
          </p:cNvCxnSpPr>
          <p:nvPr/>
        </p:nvCxnSpPr>
        <p:spPr bwMode="auto">
          <a:xfrm flipV="1">
            <a:off x="5048250" y="1743076"/>
            <a:ext cx="947738" cy="328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51" name="AutoShape 23"/>
          <p:cNvCxnSpPr>
            <a:cxnSpLocks noChangeShapeType="1"/>
            <a:endCxn id="73754" idx="2"/>
          </p:cNvCxnSpPr>
          <p:nvPr/>
        </p:nvCxnSpPr>
        <p:spPr bwMode="auto">
          <a:xfrm>
            <a:off x="5048251" y="2071689"/>
            <a:ext cx="957263" cy="338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752" name="Oval 24"/>
          <p:cNvSpPr>
            <a:spLocks noChangeArrowheads="1"/>
          </p:cNvSpPr>
          <p:nvPr/>
        </p:nvSpPr>
        <p:spPr bwMode="auto">
          <a:xfrm>
            <a:off x="6005513" y="1628775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53" name="Oval 25"/>
          <p:cNvSpPr>
            <a:spLocks noChangeArrowheads="1"/>
          </p:cNvSpPr>
          <p:nvPr/>
        </p:nvSpPr>
        <p:spPr bwMode="auto">
          <a:xfrm>
            <a:off x="6024563" y="196215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54" name="Oval 26"/>
          <p:cNvSpPr>
            <a:spLocks noChangeArrowheads="1"/>
          </p:cNvSpPr>
          <p:nvPr/>
        </p:nvSpPr>
        <p:spPr bwMode="auto">
          <a:xfrm>
            <a:off x="6015038" y="2295525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3755" name="AutoShape 27"/>
          <p:cNvCxnSpPr>
            <a:cxnSpLocks noChangeShapeType="1"/>
            <a:endCxn id="73759" idx="2"/>
          </p:cNvCxnSpPr>
          <p:nvPr/>
        </p:nvCxnSpPr>
        <p:spPr bwMode="auto">
          <a:xfrm>
            <a:off x="5048250" y="1023938"/>
            <a:ext cx="966788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56" name="AutoShape 28"/>
          <p:cNvCxnSpPr>
            <a:cxnSpLocks noChangeShapeType="1"/>
            <a:endCxn id="73758" idx="2"/>
          </p:cNvCxnSpPr>
          <p:nvPr/>
        </p:nvCxnSpPr>
        <p:spPr bwMode="auto">
          <a:xfrm flipV="1">
            <a:off x="5048250" y="695326"/>
            <a:ext cx="947738" cy="328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57" name="AutoShape 29"/>
          <p:cNvCxnSpPr>
            <a:cxnSpLocks noChangeShapeType="1"/>
            <a:endCxn id="73760" idx="2"/>
          </p:cNvCxnSpPr>
          <p:nvPr/>
        </p:nvCxnSpPr>
        <p:spPr bwMode="auto">
          <a:xfrm>
            <a:off x="5048251" y="1023939"/>
            <a:ext cx="957263" cy="338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758" name="Oval 30"/>
          <p:cNvSpPr>
            <a:spLocks noChangeArrowheads="1"/>
          </p:cNvSpPr>
          <p:nvPr/>
        </p:nvSpPr>
        <p:spPr bwMode="auto">
          <a:xfrm>
            <a:off x="6005513" y="581025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59" name="Oval 31"/>
          <p:cNvSpPr>
            <a:spLocks noChangeArrowheads="1"/>
          </p:cNvSpPr>
          <p:nvPr/>
        </p:nvSpPr>
        <p:spPr bwMode="auto">
          <a:xfrm>
            <a:off x="6024563" y="9144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60" name="Oval 32"/>
          <p:cNvSpPr>
            <a:spLocks noChangeArrowheads="1"/>
          </p:cNvSpPr>
          <p:nvPr/>
        </p:nvSpPr>
        <p:spPr bwMode="auto">
          <a:xfrm>
            <a:off x="6015038" y="1247775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3761" name="AutoShape 33"/>
          <p:cNvCxnSpPr>
            <a:cxnSpLocks noChangeShapeType="1"/>
            <a:endCxn id="73765" idx="2"/>
          </p:cNvCxnSpPr>
          <p:nvPr/>
        </p:nvCxnSpPr>
        <p:spPr bwMode="auto">
          <a:xfrm>
            <a:off x="5048250" y="4167188"/>
            <a:ext cx="966788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62" name="AutoShape 34"/>
          <p:cNvCxnSpPr>
            <a:cxnSpLocks noChangeShapeType="1"/>
            <a:endCxn id="73764" idx="2"/>
          </p:cNvCxnSpPr>
          <p:nvPr/>
        </p:nvCxnSpPr>
        <p:spPr bwMode="auto">
          <a:xfrm flipV="1">
            <a:off x="5048250" y="3838576"/>
            <a:ext cx="947738" cy="328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63" name="AutoShape 35"/>
          <p:cNvCxnSpPr>
            <a:cxnSpLocks noChangeShapeType="1"/>
            <a:endCxn id="73766" idx="2"/>
          </p:cNvCxnSpPr>
          <p:nvPr/>
        </p:nvCxnSpPr>
        <p:spPr bwMode="auto">
          <a:xfrm>
            <a:off x="5048251" y="4167189"/>
            <a:ext cx="957263" cy="338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764" name="Oval 36"/>
          <p:cNvSpPr>
            <a:spLocks noChangeArrowheads="1"/>
          </p:cNvSpPr>
          <p:nvPr/>
        </p:nvSpPr>
        <p:spPr bwMode="auto">
          <a:xfrm>
            <a:off x="6005513" y="3724275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65" name="Oval 37"/>
          <p:cNvSpPr>
            <a:spLocks noChangeArrowheads="1"/>
          </p:cNvSpPr>
          <p:nvPr/>
        </p:nvSpPr>
        <p:spPr bwMode="auto">
          <a:xfrm>
            <a:off x="6024563" y="405765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66" name="Oval 38"/>
          <p:cNvSpPr>
            <a:spLocks noChangeArrowheads="1"/>
          </p:cNvSpPr>
          <p:nvPr/>
        </p:nvSpPr>
        <p:spPr bwMode="auto">
          <a:xfrm>
            <a:off x="6015038" y="4391025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3767" name="AutoShape 39"/>
          <p:cNvCxnSpPr>
            <a:cxnSpLocks noChangeShapeType="1"/>
            <a:endCxn id="73771" idx="2"/>
          </p:cNvCxnSpPr>
          <p:nvPr/>
        </p:nvCxnSpPr>
        <p:spPr bwMode="auto">
          <a:xfrm>
            <a:off x="5048250" y="3119438"/>
            <a:ext cx="966788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68" name="AutoShape 40"/>
          <p:cNvCxnSpPr>
            <a:cxnSpLocks noChangeShapeType="1"/>
            <a:endCxn id="73770" idx="2"/>
          </p:cNvCxnSpPr>
          <p:nvPr/>
        </p:nvCxnSpPr>
        <p:spPr bwMode="auto">
          <a:xfrm flipV="1">
            <a:off x="5048250" y="2790826"/>
            <a:ext cx="947738" cy="328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69" name="AutoShape 41"/>
          <p:cNvCxnSpPr>
            <a:cxnSpLocks noChangeShapeType="1"/>
            <a:endCxn id="73772" idx="2"/>
          </p:cNvCxnSpPr>
          <p:nvPr/>
        </p:nvCxnSpPr>
        <p:spPr bwMode="auto">
          <a:xfrm>
            <a:off x="5048251" y="3119439"/>
            <a:ext cx="957263" cy="338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770" name="Oval 42"/>
          <p:cNvSpPr>
            <a:spLocks noChangeArrowheads="1"/>
          </p:cNvSpPr>
          <p:nvPr/>
        </p:nvSpPr>
        <p:spPr bwMode="auto">
          <a:xfrm>
            <a:off x="6005513" y="2676525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71" name="Oval 43"/>
          <p:cNvSpPr>
            <a:spLocks noChangeArrowheads="1"/>
          </p:cNvSpPr>
          <p:nvPr/>
        </p:nvSpPr>
        <p:spPr bwMode="auto">
          <a:xfrm>
            <a:off x="6024563" y="30099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72" name="Oval 44"/>
          <p:cNvSpPr>
            <a:spLocks noChangeArrowheads="1"/>
          </p:cNvSpPr>
          <p:nvPr/>
        </p:nvSpPr>
        <p:spPr bwMode="auto">
          <a:xfrm>
            <a:off x="6015038" y="3343275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3773" name="AutoShape 45"/>
          <p:cNvCxnSpPr>
            <a:cxnSpLocks noChangeShapeType="1"/>
            <a:endCxn id="73777" idx="2"/>
          </p:cNvCxnSpPr>
          <p:nvPr/>
        </p:nvCxnSpPr>
        <p:spPr bwMode="auto">
          <a:xfrm>
            <a:off x="5048250" y="6262688"/>
            <a:ext cx="966788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74" name="AutoShape 46"/>
          <p:cNvCxnSpPr>
            <a:cxnSpLocks noChangeShapeType="1"/>
            <a:endCxn id="73776" idx="2"/>
          </p:cNvCxnSpPr>
          <p:nvPr/>
        </p:nvCxnSpPr>
        <p:spPr bwMode="auto">
          <a:xfrm flipV="1">
            <a:off x="5048250" y="5934076"/>
            <a:ext cx="947738" cy="328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75" name="AutoShape 47"/>
          <p:cNvCxnSpPr>
            <a:cxnSpLocks noChangeShapeType="1"/>
            <a:endCxn id="73778" idx="2"/>
          </p:cNvCxnSpPr>
          <p:nvPr/>
        </p:nvCxnSpPr>
        <p:spPr bwMode="auto">
          <a:xfrm>
            <a:off x="5048251" y="6262689"/>
            <a:ext cx="957263" cy="338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776" name="Oval 48"/>
          <p:cNvSpPr>
            <a:spLocks noChangeArrowheads="1"/>
          </p:cNvSpPr>
          <p:nvPr/>
        </p:nvSpPr>
        <p:spPr bwMode="auto">
          <a:xfrm>
            <a:off x="6005513" y="5819775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77" name="Oval 49"/>
          <p:cNvSpPr>
            <a:spLocks noChangeArrowheads="1"/>
          </p:cNvSpPr>
          <p:nvPr/>
        </p:nvSpPr>
        <p:spPr bwMode="auto">
          <a:xfrm>
            <a:off x="6024563" y="615315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78" name="Oval 50"/>
          <p:cNvSpPr>
            <a:spLocks noChangeArrowheads="1"/>
          </p:cNvSpPr>
          <p:nvPr/>
        </p:nvSpPr>
        <p:spPr bwMode="auto">
          <a:xfrm>
            <a:off x="6015038" y="6486525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3779" name="AutoShape 51"/>
          <p:cNvCxnSpPr>
            <a:cxnSpLocks noChangeShapeType="1"/>
            <a:endCxn id="73783" idx="2"/>
          </p:cNvCxnSpPr>
          <p:nvPr/>
        </p:nvCxnSpPr>
        <p:spPr bwMode="auto">
          <a:xfrm>
            <a:off x="5048250" y="5214938"/>
            <a:ext cx="966788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80" name="AutoShape 52"/>
          <p:cNvCxnSpPr>
            <a:cxnSpLocks noChangeShapeType="1"/>
            <a:endCxn id="73782" idx="2"/>
          </p:cNvCxnSpPr>
          <p:nvPr/>
        </p:nvCxnSpPr>
        <p:spPr bwMode="auto">
          <a:xfrm flipV="1">
            <a:off x="5048250" y="4886326"/>
            <a:ext cx="947738" cy="328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81" name="AutoShape 53"/>
          <p:cNvCxnSpPr>
            <a:cxnSpLocks noChangeShapeType="1"/>
            <a:endCxn id="73784" idx="2"/>
          </p:cNvCxnSpPr>
          <p:nvPr/>
        </p:nvCxnSpPr>
        <p:spPr bwMode="auto">
          <a:xfrm>
            <a:off x="5048251" y="5214939"/>
            <a:ext cx="957263" cy="338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782" name="Oval 54"/>
          <p:cNvSpPr>
            <a:spLocks noChangeArrowheads="1"/>
          </p:cNvSpPr>
          <p:nvPr/>
        </p:nvSpPr>
        <p:spPr bwMode="auto">
          <a:xfrm>
            <a:off x="6005513" y="4772025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83" name="Oval 55"/>
          <p:cNvSpPr>
            <a:spLocks noChangeArrowheads="1"/>
          </p:cNvSpPr>
          <p:nvPr/>
        </p:nvSpPr>
        <p:spPr bwMode="auto">
          <a:xfrm>
            <a:off x="6024563" y="51054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84" name="Oval 56"/>
          <p:cNvSpPr>
            <a:spLocks noChangeArrowheads="1"/>
          </p:cNvSpPr>
          <p:nvPr/>
        </p:nvSpPr>
        <p:spPr bwMode="auto">
          <a:xfrm>
            <a:off x="6015038" y="5438775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85" name="Text Box 57"/>
          <p:cNvSpPr txBox="1">
            <a:spLocks noChangeArrowheads="1"/>
          </p:cNvSpPr>
          <p:nvPr/>
        </p:nvSpPr>
        <p:spPr bwMode="auto">
          <a:xfrm>
            <a:off x="2822575" y="229393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A</a:t>
            </a:r>
          </a:p>
        </p:txBody>
      </p:sp>
      <p:sp>
        <p:nvSpPr>
          <p:cNvPr id="73786" name="Text Box 58"/>
          <p:cNvSpPr txBox="1">
            <a:spLocks noChangeArrowheads="1"/>
          </p:cNvSpPr>
          <p:nvPr/>
        </p:nvSpPr>
        <p:spPr bwMode="auto">
          <a:xfrm>
            <a:off x="2917825" y="324643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B</a:t>
            </a:r>
          </a:p>
        </p:txBody>
      </p:sp>
      <p:sp>
        <p:nvSpPr>
          <p:cNvPr id="73787" name="Text Box 59"/>
          <p:cNvSpPr txBox="1">
            <a:spLocks noChangeArrowheads="1"/>
          </p:cNvSpPr>
          <p:nvPr/>
        </p:nvSpPr>
        <p:spPr bwMode="auto">
          <a:xfrm>
            <a:off x="3013075" y="434181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C</a:t>
            </a:r>
          </a:p>
        </p:txBody>
      </p:sp>
      <p:sp>
        <p:nvSpPr>
          <p:cNvPr id="73788" name="Text Box 60"/>
          <p:cNvSpPr txBox="1">
            <a:spLocks noChangeArrowheads="1"/>
          </p:cNvSpPr>
          <p:nvPr/>
        </p:nvSpPr>
        <p:spPr bwMode="auto">
          <a:xfrm>
            <a:off x="4003675" y="108426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1</a:t>
            </a:r>
          </a:p>
        </p:txBody>
      </p:sp>
      <p:sp>
        <p:nvSpPr>
          <p:cNvPr id="73789" name="Text Box 61"/>
          <p:cNvSpPr txBox="1">
            <a:spLocks noChangeArrowheads="1"/>
          </p:cNvSpPr>
          <p:nvPr/>
        </p:nvSpPr>
        <p:spPr bwMode="auto">
          <a:xfrm>
            <a:off x="4032250" y="150336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0</a:t>
            </a:r>
          </a:p>
        </p:txBody>
      </p:sp>
      <p:sp>
        <p:nvSpPr>
          <p:cNvPr id="73790" name="Text Box 62"/>
          <p:cNvSpPr txBox="1">
            <a:spLocks noChangeArrowheads="1"/>
          </p:cNvSpPr>
          <p:nvPr/>
        </p:nvSpPr>
        <p:spPr bwMode="auto">
          <a:xfrm>
            <a:off x="4051300" y="306546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1</a:t>
            </a:r>
          </a:p>
        </p:txBody>
      </p:sp>
      <p:sp>
        <p:nvSpPr>
          <p:cNvPr id="73791" name="Text Box 63"/>
          <p:cNvSpPr txBox="1">
            <a:spLocks noChangeArrowheads="1"/>
          </p:cNvSpPr>
          <p:nvPr/>
        </p:nvSpPr>
        <p:spPr bwMode="auto">
          <a:xfrm>
            <a:off x="4070350" y="34940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0</a:t>
            </a:r>
          </a:p>
        </p:txBody>
      </p:sp>
      <p:sp>
        <p:nvSpPr>
          <p:cNvPr id="73792" name="Text Box 64"/>
          <p:cNvSpPr txBox="1">
            <a:spLocks noChangeArrowheads="1"/>
          </p:cNvSpPr>
          <p:nvPr/>
        </p:nvSpPr>
        <p:spPr bwMode="auto">
          <a:xfrm>
            <a:off x="4041775" y="5170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1</a:t>
            </a:r>
          </a:p>
        </p:txBody>
      </p:sp>
      <p:sp>
        <p:nvSpPr>
          <p:cNvPr id="73793" name="Text Box 65"/>
          <p:cNvSpPr txBox="1">
            <a:spLocks noChangeArrowheads="1"/>
          </p:cNvSpPr>
          <p:nvPr/>
        </p:nvSpPr>
        <p:spPr bwMode="auto">
          <a:xfrm>
            <a:off x="4051300" y="561816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0</a:t>
            </a:r>
          </a:p>
        </p:txBody>
      </p:sp>
      <p:sp>
        <p:nvSpPr>
          <p:cNvPr id="73794" name="Text Box 66"/>
          <p:cNvSpPr txBox="1">
            <a:spLocks noChangeArrowheads="1"/>
          </p:cNvSpPr>
          <p:nvPr/>
        </p:nvSpPr>
        <p:spPr bwMode="auto">
          <a:xfrm>
            <a:off x="6108700" y="53181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.366</a:t>
            </a:r>
          </a:p>
        </p:txBody>
      </p:sp>
      <p:sp>
        <p:nvSpPr>
          <p:cNvPr id="73795" name="Text Box 67"/>
          <p:cNvSpPr txBox="1">
            <a:spLocks noChangeArrowheads="1"/>
          </p:cNvSpPr>
          <p:nvPr/>
        </p:nvSpPr>
        <p:spPr bwMode="auto">
          <a:xfrm>
            <a:off x="6127750" y="87471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.333</a:t>
            </a:r>
          </a:p>
        </p:txBody>
      </p:sp>
      <p:sp>
        <p:nvSpPr>
          <p:cNvPr id="73796" name="Text Box 68"/>
          <p:cNvSpPr txBox="1">
            <a:spLocks noChangeArrowheads="1"/>
          </p:cNvSpPr>
          <p:nvPr/>
        </p:nvSpPr>
        <p:spPr bwMode="auto">
          <a:xfrm>
            <a:off x="6127750" y="118903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.318</a:t>
            </a:r>
          </a:p>
        </p:txBody>
      </p:sp>
      <p:sp>
        <p:nvSpPr>
          <p:cNvPr id="73797" name="Text Box 69"/>
          <p:cNvSpPr txBox="1">
            <a:spLocks noChangeArrowheads="1"/>
          </p:cNvSpPr>
          <p:nvPr/>
        </p:nvSpPr>
        <p:spPr bwMode="auto">
          <a:xfrm>
            <a:off x="6118225" y="156051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.356</a:t>
            </a:r>
          </a:p>
        </p:txBody>
      </p:sp>
      <p:sp>
        <p:nvSpPr>
          <p:cNvPr id="73798" name="Text Box 70"/>
          <p:cNvSpPr txBox="1">
            <a:spLocks noChangeArrowheads="1"/>
          </p:cNvSpPr>
          <p:nvPr/>
        </p:nvSpPr>
        <p:spPr bwMode="auto">
          <a:xfrm>
            <a:off x="6108700" y="191293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.333</a:t>
            </a:r>
          </a:p>
        </p:txBody>
      </p:sp>
      <p:sp>
        <p:nvSpPr>
          <p:cNvPr id="73799" name="Text Box 71"/>
          <p:cNvSpPr txBox="1">
            <a:spLocks noChangeArrowheads="1"/>
          </p:cNvSpPr>
          <p:nvPr/>
        </p:nvSpPr>
        <p:spPr bwMode="auto">
          <a:xfrm>
            <a:off x="6118225" y="223678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.318</a:t>
            </a:r>
          </a:p>
        </p:txBody>
      </p:sp>
      <p:sp>
        <p:nvSpPr>
          <p:cNvPr id="73800" name="Text Box 72"/>
          <p:cNvSpPr txBox="1">
            <a:spLocks noChangeArrowheads="1"/>
          </p:cNvSpPr>
          <p:nvPr/>
        </p:nvSpPr>
        <p:spPr bwMode="auto">
          <a:xfrm>
            <a:off x="6118225" y="262731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.360</a:t>
            </a:r>
          </a:p>
        </p:txBody>
      </p:sp>
      <p:sp>
        <p:nvSpPr>
          <p:cNvPr id="73801" name="Text Box 73"/>
          <p:cNvSpPr txBox="1">
            <a:spLocks noChangeArrowheads="1"/>
          </p:cNvSpPr>
          <p:nvPr/>
        </p:nvSpPr>
        <p:spPr bwMode="auto">
          <a:xfrm>
            <a:off x="6108700" y="297973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.500</a:t>
            </a:r>
          </a:p>
        </p:txBody>
      </p:sp>
      <p:sp>
        <p:nvSpPr>
          <p:cNvPr id="73802" name="Text Box 74"/>
          <p:cNvSpPr txBox="1">
            <a:spLocks noChangeArrowheads="1"/>
          </p:cNvSpPr>
          <p:nvPr/>
        </p:nvSpPr>
        <p:spPr bwMode="auto">
          <a:xfrm>
            <a:off x="6118225" y="330358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.318</a:t>
            </a:r>
          </a:p>
        </p:txBody>
      </p:sp>
      <p:sp>
        <p:nvSpPr>
          <p:cNvPr id="73803" name="Text Box 75"/>
          <p:cNvSpPr txBox="1">
            <a:spLocks noChangeArrowheads="1"/>
          </p:cNvSpPr>
          <p:nvPr/>
        </p:nvSpPr>
        <p:spPr bwMode="auto">
          <a:xfrm>
            <a:off x="6127750" y="365601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.360</a:t>
            </a:r>
          </a:p>
        </p:txBody>
      </p:sp>
      <p:sp>
        <p:nvSpPr>
          <p:cNvPr id="73804" name="Text Box 76"/>
          <p:cNvSpPr txBox="1">
            <a:spLocks noChangeArrowheads="1"/>
          </p:cNvSpPr>
          <p:nvPr/>
        </p:nvSpPr>
        <p:spPr bwMode="auto">
          <a:xfrm>
            <a:off x="6118225" y="400843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.250</a:t>
            </a:r>
          </a:p>
        </p:txBody>
      </p:sp>
      <p:sp>
        <p:nvSpPr>
          <p:cNvPr id="73805" name="Text Box 77"/>
          <p:cNvSpPr txBox="1">
            <a:spLocks noChangeArrowheads="1"/>
          </p:cNvSpPr>
          <p:nvPr/>
        </p:nvSpPr>
        <p:spPr bwMode="auto">
          <a:xfrm>
            <a:off x="6127750" y="433228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.318</a:t>
            </a:r>
          </a:p>
        </p:txBody>
      </p:sp>
      <p:sp>
        <p:nvSpPr>
          <p:cNvPr id="73806" name="Text Box 78"/>
          <p:cNvSpPr txBox="1">
            <a:spLocks noChangeArrowheads="1"/>
          </p:cNvSpPr>
          <p:nvPr/>
        </p:nvSpPr>
        <p:spPr bwMode="auto">
          <a:xfrm>
            <a:off x="6137275" y="470376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.360</a:t>
            </a:r>
          </a:p>
        </p:txBody>
      </p:sp>
      <p:sp>
        <p:nvSpPr>
          <p:cNvPr id="73807" name="Text Box 79"/>
          <p:cNvSpPr txBox="1">
            <a:spLocks noChangeArrowheads="1"/>
          </p:cNvSpPr>
          <p:nvPr/>
        </p:nvSpPr>
        <p:spPr bwMode="auto">
          <a:xfrm>
            <a:off x="6127750" y="505618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.333</a:t>
            </a:r>
          </a:p>
        </p:txBody>
      </p:sp>
      <p:sp>
        <p:nvSpPr>
          <p:cNvPr id="73808" name="Text Box 80"/>
          <p:cNvSpPr txBox="1">
            <a:spLocks noChangeArrowheads="1"/>
          </p:cNvSpPr>
          <p:nvPr/>
        </p:nvSpPr>
        <p:spPr bwMode="auto">
          <a:xfrm>
            <a:off x="6137275" y="538003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.348</a:t>
            </a:r>
          </a:p>
        </p:txBody>
      </p:sp>
      <p:sp>
        <p:nvSpPr>
          <p:cNvPr id="73809" name="Text Box 81"/>
          <p:cNvSpPr txBox="1">
            <a:spLocks noChangeArrowheads="1"/>
          </p:cNvSpPr>
          <p:nvPr/>
        </p:nvSpPr>
        <p:spPr bwMode="auto">
          <a:xfrm>
            <a:off x="6146800" y="578008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.360</a:t>
            </a:r>
          </a:p>
        </p:txBody>
      </p:sp>
      <p:sp>
        <p:nvSpPr>
          <p:cNvPr id="73810" name="Text Box 82"/>
          <p:cNvSpPr txBox="1">
            <a:spLocks noChangeArrowheads="1"/>
          </p:cNvSpPr>
          <p:nvPr/>
        </p:nvSpPr>
        <p:spPr bwMode="auto">
          <a:xfrm>
            <a:off x="6137275" y="613251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.333</a:t>
            </a:r>
          </a:p>
        </p:txBody>
      </p:sp>
      <p:sp>
        <p:nvSpPr>
          <p:cNvPr id="73811" name="Text Box 83"/>
          <p:cNvSpPr txBox="1">
            <a:spLocks noChangeArrowheads="1"/>
          </p:cNvSpPr>
          <p:nvPr/>
        </p:nvSpPr>
        <p:spPr bwMode="auto">
          <a:xfrm>
            <a:off x="6146800" y="645636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.304</a:t>
            </a:r>
          </a:p>
        </p:txBody>
      </p:sp>
      <p:sp>
        <p:nvSpPr>
          <p:cNvPr id="73812" name="Text Box 84"/>
          <p:cNvSpPr txBox="1">
            <a:spLocks noChangeArrowheads="1"/>
          </p:cNvSpPr>
          <p:nvPr/>
        </p:nvSpPr>
        <p:spPr bwMode="auto">
          <a:xfrm>
            <a:off x="4270375" y="1160463"/>
            <a:ext cx="647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.360</a:t>
            </a:r>
          </a:p>
        </p:txBody>
      </p:sp>
      <p:sp>
        <p:nvSpPr>
          <p:cNvPr id="73813" name="Text Box 85"/>
          <p:cNvSpPr txBox="1">
            <a:spLocks noChangeArrowheads="1"/>
          </p:cNvSpPr>
          <p:nvPr/>
        </p:nvSpPr>
        <p:spPr bwMode="auto">
          <a:xfrm>
            <a:off x="3917950" y="1827213"/>
            <a:ext cx="647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.640</a:t>
            </a:r>
          </a:p>
        </p:txBody>
      </p:sp>
      <p:sp>
        <p:nvSpPr>
          <p:cNvPr id="73814" name="Text Box 86"/>
          <p:cNvSpPr txBox="1">
            <a:spLocks noChangeArrowheads="1"/>
          </p:cNvSpPr>
          <p:nvPr/>
        </p:nvSpPr>
        <p:spPr bwMode="auto">
          <a:xfrm>
            <a:off x="4232275" y="3227388"/>
            <a:ext cx="647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.333</a:t>
            </a:r>
          </a:p>
        </p:txBody>
      </p:sp>
      <p:sp>
        <p:nvSpPr>
          <p:cNvPr id="73815" name="Text Box 87"/>
          <p:cNvSpPr txBox="1">
            <a:spLocks noChangeArrowheads="1"/>
          </p:cNvSpPr>
          <p:nvPr/>
        </p:nvSpPr>
        <p:spPr bwMode="auto">
          <a:xfrm>
            <a:off x="3822700" y="3827463"/>
            <a:ext cx="74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.667</a:t>
            </a:r>
          </a:p>
        </p:txBody>
      </p:sp>
      <p:sp>
        <p:nvSpPr>
          <p:cNvPr id="73816" name="Text Box 88"/>
          <p:cNvSpPr txBox="1">
            <a:spLocks noChangeArrowheads="1"/>
          </p:cNvSpPr>
          <p:nvPr/>
        </p:nvSpPr>
        <p:spPr bwMode="auto">
          <a:xfrm>
            <a:off x="4279900" y="5322888"/>
            <a:ext cx="74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.318</a:t>
            </a:r>
          </a:p>
        </p:txBody>
      </p:sp>
      <p:sp>
        <p:nvSpPr>
          <p:cNvPr id="73817" name="Text Box 89"/>
          <p:cNvSpPr txBox="1">
            <a:spLocks noChangeArrowheads="1"/>
          </p:cNvSpPr>
          <p:nvPr/>
        </p:nvSpPr>
        <p:spPr bwMode="auto">
          <a:xfrm>
            <a:off x="3860800" y="5980113"/>
            <a:ext cx="74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.682</a:t>
            </a:r>
          </a:p>
        </p:txBody>
      </p:sp>
      <p:sp>
        <p:nvSpPr>
          <p:cNvPr id="7381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3036D9F-F189-4405-8765-60BA2C5D9827}" type="slidenum">
              <a:rPr lang="en-US" sz="1400"/>
              <a:pPr/>
              <a:t>319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692781473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2390776" y="3448051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55" name="Oval 3"/>
          <p:cNvSpPr>
            <a:spLocks noChangeArrowheads="1"/>
          </p:cNvSpPr>
          <p:nvPr/>
        </p:nvSpPr>
        <p:spPr bwMode="auto">
          <a:xfrm>
            <a:off x="3600450" y="154305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4756" name="AutoShape 4"/>
          <p:cNvCxnSpPr>
            <a:cxnSpLocks noChangeShapeType="1"/>
            <a:stCxn id="74754" idx="3"/>
            <a:endCxn id="74755" idx="2"/>
          </p:cNvCxnSpPr>
          <p:nvPr/>
        </p:nvCxnSpPr>
        <p:spPr bwMode="auto">
          <a:xfrm flipV="1">
            <a:off x="2619375" y="1657350"/>
            <a:ext cx="971550" cy="1900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757" name="Oval 5"/>
          <p:cNvSpPr>
            <a:spLocks noChangeArrowheads="1"/>
          </p:cNvSpPr>
          <p:nvPr/>
        </p:nvSpPr>
        <p:spPr bwMode="auto">
          <a:xfrm>
            <a:off x="3609975" y="344805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58" name="Oval 6"/>
          <p:cNvSpPr>
            <a:spLocks noChangeArrowheads="1"/>
          </p:cNvSpPr>
          <p:nvPr/>
        </p:nvSpPr>
        <p:spPr bwMode="auto">
          <a:xfrm>
            <a:off x="3609975" y="561975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4759" name="AutoShape 7"/>
          <p:cNvCxnSpPr>
            <a:cxnSpLocks noChangeShapeType="1"/>
            <a:stCxn id="74754" idx="3"/>
            <a:endCxn id="74758" idx="2"/>
          </p:cNvCxnSpPr>
          <p:nvPr/>
        </p:nvCxnSpPr>
        <p:spPr bwMode="auto">
          <a:xfrm>
            <a:off x="2619376" y="3557588"/>
            <a:ext cx="981075" cy="2176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60" name="AutoShape 8"/>
          <p:cNvCxnSpPr>
            <a:cxnSpLocks noChangeShapeType="1"/>
            <a:stCxn id="74754" idx="3"/>
            <a:endCxn id="74757" idx="2"/>
          </p:cNvCxnSpPr>
          <p:nvPr/>
        </p:nvCxnSpPr>
        <p:spPr bwMode="auto">
          <a:xfrm>
            <a:off x="2619376" y="3557588"/>
            <a:ext cx="981075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61" name="AutoShape 9"/>
          <p:cNvCxnSpPr>
            <a:cxnSpLocks noChangeShapeType="1"/>
            <a:stCxn id="74755" idx="6"/>
            <a:endCxn id="74763" idx="1"/>
          </p:cNvCxnSpPr>
          <p:nvPr/>
        </p:nvCxnSpPr>
        <p:spPr bwMode="auto">
          <a:xfrm flipV="1">
            <a:off x="3838575" y="1014414"/>
            <a:ext cx="990600" cy="64293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62" name="AutoShape 10"/>
          <p:cNvCxnSpPr>
            <a:cxnSpLocks noChangeShapeType="1"/>
            <a:stCxn id="74755" idx="6"/>
            <a:endCxn id="74764" idx="1"/>
          </p:cNvCxnSpPr>
          <p:nvPr/>
        </p:nvCxnSpPr>
        <p:spPr bwMode="auto">
          <a:xfrm>
            <a:off x="3838575" y="1657351"/>
            <a:ext cx="990600" cy="40481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763" name="Rectangle 11"/>
          <p:cNvSpPr>
            <a:spLocks noChangeArrowheads="1"/>
          </p:cNvSpPr>
          <p:nvPr/>
        </p:nvSpPr>
        <p:spPr bwMode="auto">
          <a:xfrm>
            <a:off x="4838701" y="904876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64" name="Rectangle 12"/>
          <p:cNvSpPr>
            <a:spLocks noChangeArrowheads="1"/>
          </p:cNvSpPr>
          <p:nvPr/>
        </p:nvSpPr>
        <p:spPr bwMode="auto">
          <a:xfrm>
            <a:off x="4838701" y="1952626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4765" name="AutoShape 13"/>
          <p:cNvCxnSpPr>
            <a:cxnSpLocks noChangeShapeType="1"/>
            <a:stCxn id="74757" idx="6"/>
            <a:endCxn id="74767" idx="1"/>
          </p:cNvCxnSpPr>
          <p:nvPr/>
        </p:nvCxnSpPr>
        <p:spPr bwMode="auto">
          <a:xfrm flipV="1">
            <a:off x="3848100" y="3128964"/>
            <a:ext cx="971550" cy="4333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66" name="AutoShape 14"/>
          <p:cNvCxnSpPr>
            <a:cxnSpLocks noChangeShapeType="1"/>
            <a:stCxn id="74757" idx="6"/>
            <a:endCxn id="74768" idx="1"/>
          </p:cNvCxnSpPr>
          <p:nvPr/>
        </p:nvCxnSpPr>
        <p:spPr bwMode="auto">
          <a:xfrm>
            <a:off x="3848100" y="3562351"/>
            <a:ext cx="971550" cy="59531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767" name="Rectangle 15"/>
          <p:cNvSpPr>
            <a:spLocks noChangeArrowheads="1"/>
          </p:cNvSpPr>
          <p:nvPr/>
        </p:nvSpPr>
        <p:spPr bwMode="auto">
          <a:xfrm>
            <a:off x="4829176" y="3019426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68" name="Rectangle 16"/>
          <p:cNvSpPr>
            <a:spLocks noChangeArrowheads="1"/>
          </p:cNvSpPr>
          <p:nvPr/>
        </p:nvSpPr>
        <p:spPr bwMode="auto">
          <a:xfrm>
            <a:off x="4829176" y="4048126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4769" name="AutoShape 17"/>
          <p:cNvCxnSpPr>
            <a:cxnSpLocks noChangeShapeType="1"/>
            <a:stCxn id="74758" idx="6"/>
            <a:endCxn id="74771" idx="1"/>
          </p:cNvCxnSpPr>
          <p:nvPr/>
        </p:nvCxnSpPr>
        <p:spPr bwMode="auto">
          <a:xfrm flipV="1">
            <a:off x="3848100" y="5205414"/>
            <a:ext cx="971550" cy="52863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0" name="AutoShape 18"/>
          <p:cNvCxnSpPr>
            <a:cxnSpLocks noChangeShapeType="1"/>
            <a:stCxn id="74758" idx="6"/>
            <a:endCxn id="74772" idx="1"/>
          </p:cNvCxnSpPr>
          <p:nvPr/>
        </p:nvCxnSpPr>
        <p:spPr bwMode="auto">
          <a:xfrm>
            <a:off x="3848100" y="5734050"/>
            <a:ext cx="971550" cy="5095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771" name="Rectangle 19"/>
          <p:cNvSpPr>
            <a:spLocks noChangeArrowheads="1"/>
          </p:cNvSpPr>
          <p:nvPr/>
        </p:nvSpPr>
        <p:spPr bwMode="auto">
          <a:xfrm>
            <a:off x="4829176" y="5095876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72" name="Rectangle 20"/>
          <p:cNvSpPr>
            <a:spLocks noChangeArrowheads="1"/>
          </p:cNvSpPr>
          <p:nvPr/>
        </p:nvSpPr>
        <p:spPr bwMode="auto">
          <a:xfrm>
            <a:off x="4829176" y="6134101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73" name="Text Box 21"/>
          <p:cNvSpPr txBox="1">
            <a:spLocks noChangeArrowheads="1"/>
          </p:cNvSpPr>
          <p:nvPr/>
        </p:nvSpPr>
        <p:spPr bwMode="auto">
          <a:xfrm>
            <a:off x="2822575" y="229393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A</a:t>
            </a:r>
          </a:p>
        </p:txBody>
      </p:sp>
      <p:sp>
        <p:nvSpPr>
          <p:cNvPr id="74774" name="Text Box 22"/>
          <p:cNvSpPr txBox="1">
            <a:spLocks noChangeArrowheads="1"/>
          </p:cNvSpPr>
          <p:nvPr/>
        </p:nvSpPr>
        <p:spPr bwMode="auto">
          <a:xfrm>
            <a:off x="2917825" y="324643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B</a:t>
            </a:r>
          </a:p>
        </p:txBody>
      </p:sp>
      <p:sp>
        <p:nvSpPr>
          <p:cNvPr id="74775" name="Text Box 23"/>
          <p:cNvSpPr txBox="1">
            <a:spLocks noChangeArrowheads="1"/>
          </p:cNvSpPr>
          <p:nvPr/>
        </p:nvSpPr>
        <p:spPr bwMode="auto">
          <a:xfrm>
            <a:off x="3013075" y="434181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C</a:t>
            </a:r>
          </a:p>
        </p:txBody>
      </p:sp>
      <p:sp>
        <p:nvSpPr>
          <p:cNvPr id="74776" name="Text Box 24"/>
          <p:cNvSpPr txBox="1">
            <a:spLocks noChangeArrowheads="1"/>
          </p:cNvSpPr>
          <p:nvPr/>
        </p:nvSpPr>
        <p:spPr bwMode="auto">
          <a:xfrm>
            <a:off x="4003675" y="108426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1</a:t>
            </a:r>
          </a:p>
        </p:txBody>
      </p:sp>
      <p:sp>
        <p:nvSpPr>
          <p:cNvPr id="74777" name="Text Box 25"/>
          <p:cNvSpPr txBox="1">
            <a:spLocks noChangeArrowheads="1"/>
          </p:cNvSpPr>
          <p:nvPr/>
        </p:nvSpPr>
        <p:spPr bwMode="auto">
          <a:xfrm>
            <a:off x="4032250" y="150336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0</a:t>
            </a:r>
          </a:p>
        </p:txBody>
      </p:sp>
      <p:sp>
        <p:nvSpPr>
          <p:cNvPr id="74778" name="Text Box 26"/>
          <p:cNvSpPr txBox="1">
            <a:spLocks noChangeArrowheads="1"/>
          </p:cNvSpPr>
          <p:nvPr/>
        </p:nvSpPr>
        <p:spPr bwMode="auto">
          <a:xfrm>
            <a:off x="4051300" y="306546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1</a:t>
            </a:r>
          </a:p>
        </p:txBody>
      </p:sp>
      <p:sp>
        <p:nvSpPr>
          <p:cNvPr id="74779" name="Text Box 27"/>
          <p:cNvSpPr txBox="1">
            <a:spLocks noChangeArrowheads="1"/>
          </p:cNvSpPr>
          <p:nvPr/>
        </p:nvSpPr>
        <p:spPr bwMode="auto">
          <a:xfrm>
            <a:off x="4070350" y="34940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0</a:t>
            </a:r>
          </a:p>
        </p:txBody>
      </p:sp>
      <p:sp>
        <p:nvSpPr>
          <p:cNvPr id="74780" name="Text Box 28"/>
          <p:cNvSpPr txBox="1">
            <a:spLocks noChangeArrowheads="1"/>
          </p:cNvSpPr>
          <p:nvPr/>
        </p:nvSpPr>
        <p:spPr bwMode="auto">
          <a:xfrm>
            <a:off x="4041775" y="5170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1</a:t>
            </a:r>
          </a:p>
        </p:txBody>
      </p:sp>
      <p:sp>
        <p:nvSpPr>
          <p:cNvPr id="74781" name="Text Box 29"/>
          <p:cNvSpPr txBox="1">
            <a:spLocks noChangeArrowheads="1"/>
          </p:cNvSpPr>
          <p:nvPr/>
        </p:nvSpPr>
        <p:spPr bwMode="auto">
          <a:xfrm>
            <a:off x="4051300" y="561816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0</a:t>
            </a:r>
          </a:p>
        </p:txBody>
      </p:sp>
      <p:sp>
        <p:nvSpPr>
          <p:cNvPr id="74782" name="Text Box 30"/>
          <p:cNvSpPr txBox="1">
            <a:spLocks noChangeArrowheads="1"/>
          </p:cNvSpPr>
          <p:nvPr/>
        </p:nvSpPr>
        <p:spPr bwMode="auto">
          <a:xfrm>
            <a:off x="4965700" y="84613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.366</a:t>
            </a:r>
          </a:p>
        </p:txBody>
      </p:sp>
      <p:sp>
        <p:nvSpPr>
          <p:cNvPr id="74783" name="Text Box 31"/>
          <p:cNvSpPr txBox="1">
            <a:spLocks noChangeArrowheads="1"/>
          </p:cNvSpPr>
          <p:nvPr/>
        </p:nvSpPr>
        <p:spPr bwMode="auto">
          <a:xfrm>
            <a:off x="4965700" y="191293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.356</a:t>
            </a:r>
          </a:p>
        </p:txBody>
      </p:sp>
      <p:sp>
        <p:nvSpPr>
          <p:cNvPr id="74784" name="Text Box 32"/>
          <p:cNvSpPr txBox="1">
            <a:spLocks noChangeArrowheads="1"/>
          </p:cNvSpPr>
          <p:nvPr/>
        </p:nvSpPr>
        <p:spPr bwMode="auto">
          <a:xfrm>
            <a:off x="4937125" y="297973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.500</a:t>
            </a:r>
          </a:p>
        </p:txBody>
      </p:sp>
      <p:sp>
        <p:nvSpPr>
          <p:cNvPr id="74785" name="Text Box 33"/>
          <p:cNvSpPr txBox="1">
            <a:spLocks noChangeArrowheads="1"/>
          </p:cNvSpPr>
          <p:nvPr/>
        </p:nvSpPr>
        <p:spPr bwMode="auto">
          <a:xfrm>
            <a:off x="4965700" y="399891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.360</a:t>
            </a:r>
          </a:p>
        </p:txBody>
      </p:sp>
      <p:sp>
        <p:nvSpPr>
          <p:cNvPr id="74786" name="Text Box 34"/>
          <p:cNvSpPr txBox="1">
            <a:spLocks noChangeArrowheads="1"/>
          </p:cNvSpPr>
          <p:nvPr/>
        </p:nvSpPr>
        <p:spPr bwMode="auto">
          <a:xfrm>
            <a:off x="4965700" y="503713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.360</a:t>
            </a:r>
          </a:p>
        </p:txBody>
      </p:sp>
      <p:sp>
        <p:nvSpPr>
          <p:cNvPr id="74787" name="Text Box 35"/>
          <p:cNvSpPr txBox="1">
            <a:spLocks noChangeArrowheads="1"/>
          </p:cNvSpPr>
          <p:nvPr/>
        </p:nvSpPr>
        <p:spPr bwMode="auto">
          <a:xfrm>
            <a:off x="4937125" y="6103938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400">
                <a:latin typeface="Arial" charset="0"/>
              </a:rPr>
              <a:t>.360</a:t>
            </a:r>
          </a:p>
        </p:txBody>
      </p:sp>
      <p:sp>
        <p:nvSpPr>
          <p:cNvPr id="74788" name="Text Box 36"/>
          <p:cNvSpPr txBox="1">
            <a:spLocks noChangeArrowheads="1"/>
          </p:cNvSpPr>
          <p:nvPr/>
        </p:nvSpPr>
        <p:spPr bwMode="auto">
          <a:xfrm>
            <a:off x="4270375" y="1160463"/>
            <a:ext cx="647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.360</a:t>
            </a:r>
          </a:p>
        </p:txBody>
      </p:sp>
      <p:sp>
        <p:nvSpPr>
          <p:cNvPr id="74789" name="Text Box 37"/>
          <p:cNvSpPr txBox="1">
            <a:spLocks noChangeArrowheads="1"/>
          </p:cNvSpPr>
          <p:nvPr/>
        </p:nvSpPr>
        <p:spPr bwMode="auto">
          <a:xfrm>
            <a:off x="3917950" y="1827213"/>
            <a:ext cx="647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.640</a:t>
            </a:r>
          </a:p>
        </p:txBody>
      </p:sp>
      <p:sp>
        <p:nvSpPr>
          <p:cNvPr id="74790" name="Text Box 38"/>
          <p:cNvSpPr txBox="1">
            <a:spLocks noChangeArrowheads="1"/>
          </p:cNvSpPr>
          <p:nvPr/>
        </p:nvSpPr>
        <p:spPr bwMode="auto">
          <a:xfrm>
            <a:off x="4232275" y="3227388"/>
            <a:ext cx="647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.333</a:t>
            </a:r>
          </a:p>
        </p:txBody>
      </p:sp>
      <p:sp>
        <p:nvSpPr>
          <p:cNvPr id="74791" name="Text Box 39"/>
          <p:cNvSpPr txBox="1">
            <a:spLocks noChangeArrowheads="1"/>
          </p:cNvSpPr>
          <p:nvPr/>
        </p:nvSpPr>
        <p:spPr bwMode="auto">
          <a:xfrm>
            <a:off x="3822700" y="3827463"/>
            <a:ext cx="74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.667</a:t>
            </a:r>
          </a:p>
        </p:txBody>
      </p:sp>
      <p:sp>
        <p:nvSpPr>
          <p:cNvPr id="74792" name="Text Box 40"/>
          <p:cNvSpPr txBox="1">
            <a:spLocks noChangeArrowheads="1"/>
          </p:cNvSpPr>
          <p:nvPr/>
        </p:nvSpPr>
        <p:spPr bwMode="auto">
          <a:xfrm>
            <a:off x="4279900" y="5322888"/>
            <a:ext cx="74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.318</a:t>
            </a:r>
          </a:p>
        </p:txBody>
      </p:sp>
      <p:sp>
        <p:nvSpPr>
          <p:cNvPr id="74793" name="Text Box 41"/>
          <p:cNvSpPr txBox="1">
            <a:spLocks noChangeArrowheads="1"/>
          </p:cNvSpPr>
          <p:nvPr/>
        </p:nvSpPr>
        <p:spPr bwMode="auto">
          <a:xfrm>
            <a:off x="3860800" y="5980113"/>
            <a:ext cx="74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.682</a:t>
            </a:r>
          </a:p>
        </p:txBody>
      </p:sp>
      <p:sp>
        <p:nvSpPr>
          <p:cNvPr id="7479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1872BDD-637E-45CF-9255-40156E29A660}" type="slidenum">
              <a:rPr lang="en-US" sz="1400"/>
              <a:pPr/>
              <a:t>320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742456615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2390776" y="3448051"/>
            <a:ext cx="219075" cy="2190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79" name="Oval 3"/>
          <p:cNvSpPr>
            <a:spLocks noChangeArrowheads="1"/>
          </p:cNvSpPr>
          <p:nvPr/>
        </p:nvSpPr>
        <p:spPr bwMode="auto">
          <a:xfrm>
            <a:off x="3600450" y="154305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5780" name="AutoShape 4"/>
          <p:cNvCxnSpPr>
            <a:cxnSpLocks noChangeShapeType="1"/>
            <a:stCxn id="75778" idx="3"/>
            <a:endCxn id="75779" idx="2"/>
          </p:cNvCxnSpPr>
          <p:nvPr/>
        </p:nvCxnSpPr>
        <p:spPr bwMode="auto">
          <a:xfrm flipV="1">
            <a:off x="2619375" y="1657350"/>
            <a:ext cx="971550" cy="1900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781" name="Oval 5"/>
          <p:cNvSpPr>
            <a:spLocks noChangeArrowheads="1"/>
          </p:cNvSpPr>
          <p:nvPr/>
        </p:nvSpPr>
        <p:spPr bwMode="auto">
          <a:xfrm>
            <a:off x="3609975" y="344805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2" name="Oval 6"/>
          <p:cNvSpPr>
            <a:spLocks noChangeArrowheads="1"/>
          </p:cNvSpPr>
          <p:nvPr/>
        </p:nvSpPr>
        <p:spPr bwMode="auto">
          <a:xfrm>
            <a:off x="3609975" y="561975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5783" name="AutoShape 7"/>
          <p:cNvCxnSpPr>
            <a:cxnSpLocks noChangeShapeType="1"/>
            <a:stCxn id="75778" idx="3"/>
            <a:endCxn id="75782" idx="2"/>
          </p:cNvCxnSpPr>
          <p:nvPr/>
        </p:nvCxnSpPr>
        <p:spPr bwMode="auto">
          <a:xfrm>
            <a:off x="2619376" y="3557588"/>
            <a:ext cx="981075" cy="2176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84" name="AutoShape 8"/>
          <p:cNvCxnSpPr>
            <a:cxnSpLocks noChangeShapeType="1"/>
            <a:stCxn id="75778" idx="3"/>
            <a:endCxn id="75781" idx="2"/>
          </p:cNvCxnSpPr>
          <p:nvPr/>
        </p:nvCxnSpPr>
        <p:spPr bwMode="auto">
          <a:xfrm>
            <a:off x="2619376" y="3557588"/>
            <a:ext cx="981075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785" name="Text Box 9"/>
          <p:cNvSpPr txBox="1">
            <a:spLocks noChangeArrowheads="1"/>
          </p:cNvSpPr>
          <p:nvPr/>
        </p:nvSpPr>
        <p:spPr bwMode="auto">
          <a:xfrm>
            <a:off x="2822575" y="229393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A</a:t>
            </a:r>
          </a:p>
        </p:txBody>
      </p:sp>
      <p:sp>
        <p:nvSpPr>
          <p:cNvPr id="75786" name="Text Box 10"/>
          <p:cNvSpPr txBox="1">
            <a:spLocks noChangeArrowheads="1"/>
          </p:cNvSpPr>
          <p:nvPr/>
        </p:nvSpPr>
        <p:spPr bwMode="auto">
          <a:xfrm>
            <a:off x="2917825" y="324643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B</a:t>
            </a:r>
          </a:p>
        </p:txBody>
      </p:sp>
      <p:sp>
        <p:nvSpPr>
          <p:cNvPr id="75787" name="Text Box 11"/>
          <p:cNvSpPr txBox="1">
            <a:spLocks noChangeArrowheads="1"/>
          </p:cNvSpPr>
          <p:nvPr/>
        </p:nvSpPr>
        <p:spPr bwMode="auto">
          <a:xfrm>
            <a:off x="3013075" y="434181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>
                <a:latin typeface="Arial" charset="0"/>
              </a:rPr>
              <a:t>C</a:t>
            </a:r>
          </a:p>
        </p:txBody>
      </p:sp>
      <p:sp>
        <p:nvSpPr>
          <p:cNvPr id="75788" name="Text Box 12"/>
          <p:cNvSpPr txBox="1">
            <a:spLocks noChangeArrowheads="1"/>
          </p:cNvSpPr>
          <p:nvPr/>
        </p:nvSpPr>
        <p:spPr bwMode="auto">
          <a:xfrm>
            <a:off x="3803650" y="1493839"/>
            <a:ext cx="24574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>
                <a:latin typeface="Arial" charset="0"/>
              </a:rPr>
              <a:t>.720 =</a:t>
            </a:r>
          </a:p>
          <a:p>
            <a:r>
              <a:rPr lang="en-US" sz="1800">
                <a:latin typeface="Arial" charset="0"/>
              </a:rPr>
              <a:t>.360(1+.366)+</a:t>
            </a:r>
          </a:p>
          <a:p>
            <a:r>
              <a:rPr lang="en-US" sz="1800">
                <a:latin typeface="Arial" charset="0"/>
              </a:rPr>
              <a:t>.640(0+.356)</a:t>
            </a:r>
          </a:p>
        </p:txBody>
      </p:sp>
      <p:sp>
        <p:nvSpPr>
          <p:cNvPr id="75789" name="Text Box 13"/>
          <p:cNvSpPr txBox="1">
            <a:spLocks noChangeArrowheads="1"/>
          </p:cNvSpPr>
          <p:nvPr/>
        </p:nvSpPr>
        <p:spPr bwMode="auto">
          <a:xfrm>
            <a:off x="3889375" y="3389313"/>
            <a:ext cx="704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>
                <a:latin typeface="Arial" charset="0"/>
              </a:rPr>
              <a:t>.740</a:t>
            </a:r>
          </a:p>
        </p:txBody>
      </p:sp>
      <p:sp>
        <p:nvSpPr>
          <p:cNvPr id="75790" name="Text Box 14"/>
          <p:cNvSpPr txBox="1">
            <a:spLocks noChangeArrowheads="1"/>
          </p:cNvSpPr>
          <p:nvPr/>
        </p:nvSpPr>
        <p:spPr bwMode="auto">
          <a:xfrm>
            <a:off x="3784600" y="5589588"/>
            <a:ext cx="704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>
                <a:latin typeface="Arial" charset="0"/>
              </a:rPr>
              <a:t>.678</a:t>
            </a:r>
          </a:p>
        </p:txBody>
      </p:sp>
      <p:sp>
        <p:nvSpPr>
          <p:cNvPr id="75791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5792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6473825" y="1493839"/>
            <a:ext cx="4292600" cy="4953000"/>
          </a:xfrm>
        </p:spPr>
        <p:txBody>
          <a:bodyPr/>
          <a:lstStyle/>
          <a:p>
            <a:pPr lvl="2"/>
            <a:endParaRPr lang="en-US" dirty="0"/>
          </a:p>
          <a:p>
            <a:pPr lvl="1"/>
            <a:r>
              <a:rPr lang="en-US" dirty="0"/>
              <a:t>We choose player B, who does not have the highest average.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This was a player with very few at-bats, so one hit had a much bigger impact on his batting average.</a:t>
            </a:r>
          </a:p>
        </p:txBody>
      </p:sp>
      <p:sp>
        <p:nvSpPr>
          <p:cNvPr id="75794" name="Slide Number Placeholder 2"/>
          <p:cNvSpPr>
            <a:spLocks noGrp="1"/>
          </p:cNvSpPr>
          <p:nvPr>
            <p:ph type="sldNum" sz="quarter" idx="429496729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29477210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A3D7AEB-4345-6E7E-D200-BB64AA766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11ED58-DFDE-82BD-A811-42B76933D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5DF1F4ED-963B-F0B0-89DD-954BE264B3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FC7B6039-8F53-C6F0-581B-87B9774526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DLA IV – Stochastic lookaheads using DLAs – Discrete actions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Decision trees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Monte Carlo tree search</a:t>
            </a:r>
          </a:p>
          <a:p>
            <a:pPr marL="1257300" lvl="2">
              <a:buClr>
                <a:schemeClr val="lt1"/>
              </a:buClr>
              <a:buFont typeface="Times New Roman"/>
              <a:buChar char="➜"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023A86-B6F5-86BC-C6AC-BFE201152136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898516268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F58DF-4E34-99E9-86F8-A74A538F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 policies: MCTS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0E92D-3BB0-A044-751B-1C1865A17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6742" y="1398799"/>
            <a:ext cx="5028577" cy="4935325"/>
          </a:xfrm>
        </p:spPr>
        <p:txBody>
          <a:bodyPr/>
          <a:lstStyle/>
          <a:p>
            <a:pPr>
              <a:buSzPct val="80000"/>
              <a:buFont typeface="Wingdings" panose="05000000000000000000" pitchFamily="2" charset="2"/>
              <a:buChar char="Ø"/>
            </a:pPr>
            <a:r>
              <a:rPr lang="en-US" sz="2400" dirty="0"/>
              <a:t>Decision trees represent a full enumeration of each sequence of decisions and information.</a:t>
            </a:r>
          </a:p>
          <a:p>
            <a:pPr>
              <a:buSzPct val="8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SzPct val="80000"/>
              <a:buFont typeface="Wingdings" panose="05000000000000000000" pitchFamily="2" charset="2"/>
              <a:buChar char="Ø"/>
            </a:pPr>
            <a:r>
              <a:rPr lang="en-US" sz="2400" dirty="0"/>
              <a:t>They explode exponentially, which limits their use in most applications.</a:t>
            </a:r>
          </a:p>
          <a:p>
            <a:pPr>
              <a:buSzPct val="8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SzPct val="80000"/>
              <a:buFont typeface="Wingdings" panose="05000000000000000000" pitchFamily="2" charset="2"/>
              <a:buChar char="Ø"/>
            </a:pPr>
            <a:r>
              <a:rPr lang="en-US" sz="2400" dirty="0"/>
              <a:t>Monte Carlo tree search identifies the best decision without enumerating the tree.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DB6CE8-A095-4735-6658-7FCD5E109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551144"/>
            <a:ext cx="4989658" cy="4676528"/>
          </a:xfrm>
          <a:prstGeom prst="rect">
            <a:avLst/>
          </a:prstGeom>
        </p:spPr>
      </p:pic>
      <p:sp>
        <p:nvSpPr>
          <p:cNvPr id="6" name="TextBox 182">
            <a:extLst>
              <a:ext uri="{FF2B5EF4-FFF2-40B4-BE49-F238E27FC236}">
                <a16:creationId xmlns:a16="http://schemas.microsoft.com/office/drawing/2014/main" id="{E37FAD8C-C2EE-3613-DF07-768685EF3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1711" y="1311530"/>
            <a:ext cx="47933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/>
              <a:t>Decision         Outcome     Decision    Outcome    Decision</a:t>
            </a:r>
          </a:p>
        </p:txBody>
      </p:sp>
    </p:spTree>
    <p:extLst>
      <p:ext uri="{BB962C8B-B14F-4D97-AF65-F5344CB8AC3E}">
        <p14:creationId xmlns:p14="http://schemas.microsoft.com/office/powerpoint/2010/main" val="1547815822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 policies: MCTS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092" y="1024310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Monte Carlo tree search: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008" y="1612870"/>
            <a:ext cx="9079992" cy="42825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7747" y="6014470"/>
            <a:ext cx="908801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C. Browne, E. Powley, D. Whitehouse, S. Lucas, P. I. Cowling, P. </a:t>
            </a:r>
            <a:r>
              <a:rPr lang="en-US" sz="1200" dirty="0" err="1"/>
              <a:t>Rohlfshagen</a:t>
            </a:r>
            <a:r>
              <a:rPr lang="en-US" sz="1200" dirty="0"/>
              <a:t>, S. </a:t>
            </a:r>
            <a:r>
              <a:rPr lang="en-US" sz="1200" dirty="0" err="1"/>
              <a:t>Tavener</a:t>
            </a:r>
            <a:r>
              <a:rPr lang="en-US" sz="1200" dirty="0"/>
              <a:t>, D. Perez,  S. </a:t>
            </a:r>
            <a:r>
              <a:rPr lang="en-US" sz="1200" dirty="0" err="1"/>
              <a:t>Samothrakis</a:t>
            </a:r>
            <a:r>
              <a:rPr lang="en-US" sz="1200" dirty="0"/>
              <a:t> and S. Colton, “A survey of Monte Carlo tree search methods,” IEEE Transactions on Computational Intelligence and AI in Games, vol. 4, no. 1, pp. 1–49, March 2012.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99868" y="1517301"/>
            <a:ext cx="844062" cy="29140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8D292-AB65-D427-20D7-499B59AF9E90}"/>
              </a:ext>
            </a:extLst>
          </p:cNvPr>
          <p:cNvSpPr txBox="1"/>
          <p:nvPr/>
        </p:nvSpPr>
        <p:spPr>
          <a:xfrm>
            <a:off x="6729658" y="4578413"/>
            <a:ext cx="1195149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aleway" pitchFamily="2" charset="0"/>
              </a:rPr>
              <a:t>Rollout policy</a:t>
            </a:r>
          </a:p>
        </p:txBody>
      </p:sp>
    </p:spTree>
    <p:extLst>
      <p:ext uri="{BB962C8B-B14F-4D97-AF65-F5344CB8AC3E}">
        <p14:creationId xmlns:p14="http://schemas.microsoft.com/office/powerpoint/2010/main" val="2540054770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F6E9E1-5F91-C414-85B1-C716F5B2B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0608" y="2251405"/>
            <a:ext cx="7431364" cy="8679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363201" y="2016329"/>
            <a:ext cx="169863" cy="6810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54662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9" t="-1186" r="48104" b="17861"/>
          <a:stretch/>
        </p:blipFill>
        <p:spPr bwMode="auto">
          <a:xfrm>
            <a:off x="8224332" y="1260087"/>
            <a:ext cx="2937388" cy="420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4673" name="Object 20"/>
          <p:cNvSpPr txBox="1"/>
          <p:nvPr/>
        </p:nvSpPr>
        <p:spPr bwMode="auto">
          <a:xfrm>
            <a:off x="6654800" y="3499054"/>
            <a:ext cx="914400" cy="198438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55000" lnSpcReduction="20000"/>
          </a:bodyPr>
          <a:lstStyle/>
          <a:p>
            <a:endParaRPr lang="en-US"/>
          </a:p>
        </p:txBody>
      </p:sp>
      <p:sp>
        <p:nvSpPr>
          <p:cNvPr id="454675" name="Object 22"/>
          <p:cNvSpPr txBox="1"/>
          <p:nvPr/>
        </p:nvSpPr>
        <p:spPr bwMode="auto">
          <a:xfrm>
            <a:off x="6654800" y="3499054"/>
            <a:ext cx="914400" cy="198438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55000" lnSpcReduction="20000"/>
          </a:bodyPr>
          <a:lstStyle/>
          <a:p>
            <a:endParaRPr lang="en-US"/>
          </a:p>
        </p:txBody>
      </p:sp>
      <p:sp>
        <p:nvSpPr>
          <p:cNvPr id="454676" name="Object 23"/>
          <p:cNvSpPr txBox="1"/>
          <p:nvPr/>
        </p:nvSpPr>
        <p:spPr bwMode="auto">
          <a:xfrm>
            <a:off x="6654800" y="3499054"/>
            <a:ext cx="914400" cy="198438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55000" lnSpcReduction="20000"/>
          </a:bodyPr>
          <a:lstStyle/>
          <a:p>
            <a:endParaRPr lang="en-US"/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265268" y="1233054"/>
            <a:ext cx="5716432" cy="641508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/>
              <a:t>Choosing an action: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r>
              <a:rPr lang="en-US" sz="2000" dirty="0"/>
              <a:t>Downstream value is obtained by simulating some policy (the “rollout policy”) to “peek” into the future.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/>
              <p:cNvSpPr txBox="1"/>
              <p:nvPr/>
            </p:nvSpPr>
            <p:spPr>
              <a:xfrm>
                <a:off x="8098799" y="3786143"/>
                <a:ext cx="284015" cy="45739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799" y="3786143"/>
                <a:ext cx="284015" cy="457398"/>
              </a:xfrm>
              <a:prstGeom prst="rect">
                <a:avLst/>
              </a:prstGeom>
              <a:blipFill>
                <a:blip r:embed="rId6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6"/>
              <p:cNvSpPr txBox="1"/>
              <p:nvPr/>
            </p:nvSpPr>
            <p:spPr>
              <a:xfrm>
                <a:off x="8151963" y="4376804"/>
                <a:ext cx="465138" cy="457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963" y="4376804"/>
                <a:ext cx="465138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7"/>
              <p:cNvSpPr txBox="1"/>
              <p:nvPr/>
            </p:nvSpPr>
            <p:spPr>
              <a:xfrm>
                <a:off x="8390450" y="4022904"/>
                <a:ext cx="311150" cy="457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450" y="4022904"/>
                <a:ext cx="31115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626392" y="5441689"/>
            <a:ext cx="1370730" cy="3557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1"/>
              <p:cNvSpPr txBox="1"/>
              <p:nvPr/>
            </p:nvSpPr>
            <p:spPr>
              <a:xfrm>
                <a:off x="7184266" y="5390200"/>
                <a:ext cx="878770" cy="41941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266" y="5390200"/>
                <a:ext cx="878770" cy="419413"/>
              </a:xfrm>
              <a:prstGeom prst="rect">
                <a:avLst/>
              </a:prstGeom>
              <a:blipFill>
                <a:blip r:embed="rId10"/>
                <a:stretch>
                  <a:fillRect r="-23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7260771" y="2261772"/>
            <a:ext cx="413658" cy="479855"/>
          </a:xfrm>
          <a:prstGeom prst="ellips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2400">
              <a:solidFill>
                <a:schemeClr val="tx1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631859" y="1291556"/>
                <a:ext cx="1849737" cy="584775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     No. times</a:t>
                </a:r>
              </a:p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visited node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      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859" y="1291556"/>
                <a:ext cx="1849737" cy="584775"/>
              </a:xfrm>
              <a:prstGeom prst="rect">
                <a:avLst/>
              </a:prstGeom>
              <a:blipFill>
                <a:blip r:embed="rId11"/>
                <a:stretch>
                  <a:fillRect l="-1639" t="-2041" b="-11224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cxnSpLocks/>
            <a:stCxn id="16" idx="2"/>
            <a:endCxn id="15" idx="0"/>
          </p:cNvCxnSpPr>
          <p:nvPr/>
        </p:nvCxnSpPr>
        <p:spPr bwMode="auto">
          <a:xfrm flipH="1">
            <a:off x="7467600" y="1876331"/>
            <a:ext cx="89128" cy="38544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Oval 36"/>
          <p:cNvSpPr/>
          <p:nvPr/>
        </p:nvSpPr>
        <p:spPr>
          <a:xfrm>
            <a:off x="6705001" y="2615074"/>
            <a:ext cx="1115242" cy="480066"/>
          </a:xfrm>
          <a:prstGeom prst="ellips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2400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40" name="Straight Arrow Connector 39"/>
          <p:cNvCxnSpPr>
            <a:cxnSpLocks/>
            <a:stCxn id="38" idx="0"/>
            <a:endCxn id="37" idx="4"/>
          </p:cNvCxnSpPr>
          <p:nvPr/>
        </p:nvCxnSpPr>
        <p:spPr bwMode="auto">
          <a:xfrm flipV="1">
            <a:off x="6686888" y="3095140"/>
            <a:ext cx="575734" cy="57621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794400" y="3671359"/>
                <a:ext cx="1784976" cy="584775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 No. times tested</a:t>
                </a:r>
              </a:p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400" y="3671359"/>
                <a:ext cx="1784976" cy="584775"/>
              </a:xfrm>
              <a:prstGeom prst="rect">
                <a:avLst/>
              </a:prstGeom>
              <a:blipFill>
                <a:blip r:embed="rId12"/>
                <a:stretch>
                  <a:fillRect l="-1701" t="-2041" b="-11224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 policies: MCTS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5D4849E-92A3-7D57-2313-7C0B2204DA14}"/>
              </a:ext>
            </a:extLst>
          </p:cNvPr>
          <p:cNvGrpSpPr/>
          <p:nvPr/>
        </p:nvGrpSpPr>
        <p:grpSpPr>
          <a:xfrm>
            <a:off x="4523294" y="2581678"/>
            <a:ext cx="1454037" cy="1027601"/>
            <a:chOff x="4523294" y="2581678"/>
            <a:chExt cx="1454037" cy="1027601"/>
          </a:xfrm>
        </p:grpSpPr>
        <p:sp>
          <p:nvSpPr>
            <p:cNvPr id="6" name="TextBox 5"/>
            <p:cNvSpPr txBox="1"/>
            <p:nvPr/>
          </p:nvSpPr>
          <p:spPr>
            <a:xfrm>
              <a:off x="4523294" y="3024504"/>
              <a:ext cx="145403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Raleway" pitchFamily="2" charset="0"/>
                </a:rPr>
                <a:t>Downstream value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1FBD42F-7FBE-CCB0-25EA-C839BD49F1C1}"/>
                    </a:ext>
                  </a:extLst>
                </p:cNvPr>
                <p:cNvSpPr txBox="1"/>
                <p:nvPr/>
              </p:nvSpPr>
              <p:spPr>
                <a:xfrm rot="16200000">
                  <a:off x="4967112" y="2382520"/>
                  <a:ext cx="522386" cy="9207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1FBD42F-7FBE-CCB0-25EA-C839BD49F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967112" y="2382520"/>
                  <a:ext cx="522386" cy="92070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CE6B9EE0-B0F0-A5D5-A9B2-299E617558D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98564" y="5299971"/>
            <a:ext cx="355761" cy="9896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CD9CA3-8387-8F80-4628-2C1F2466A134}"/>
              </a:ext>
            </a:extLst>
          </p:cNvPr>
          <p:cNvSpPr txBox="1"/>
          <p:nvPr/>
        </p:nvSpPr>
        <p:spPr>
          <a:xfrm>
            <a:off x="8726618" y="5387709"/>
            <a:ext cx="1195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aleway" pitchFamily="2" charset="0"/>
              </a:rPr>
              <a:t>Rollout policy</a:t>
            </a:r>
          </a:p>
        </p:txBody>
      </p:sp>
    </p:spTree>
    <p:extLst>
      <p:ext uri="{BB962C8B-B14F-4D97-AF65-F5344CB8AC3E}">
        <p14:creationId xmlns:p14="http://schemas.microsoft.com/office/powerpoint/2010/main" val="470738741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 policies: MCTS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982" y="1100379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Elements of MCTS:</a:t>
            </a:r>
          </a:p>
          <a:p>
            <a:pPr lvl="1"/>
            <a:r>
              <a:rPr lang="en-US" dirty="0"/>
              <a:t>Decision – Use “upper confidence bounding for trees”, UCT, to decide which action to take</a:t>
            </a:r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1"/>
            <a:r>
              <a:rPr lang="en-US" dirty="0"/>
              <a:t>MCTS solves a stochastic lookahead using hybrid policies:</a:t>
            </a:r>
          </a:p>
          <a:p>
            <a:pPr lvl="2"/>
            <a:r>
              <a:rPr lang="en-US" dirty="0"/>
              <a:t>PFA – Typically used in the rollout policy</a:t>
            </a:r>
          </a:p>
          <a:p>
            <a:pPr lvl="3"/>
            <a:endParaRPr lang="en-US" dirty="0"/>
          </a:p>
          <a:p>
            <a:pPr lvl="2"/>
            <a:r>
              <a:rPr lang="en-US" dirty="0"/>
              <a:t>CFA – </a:t>
            </a:r>
          </a:p>
          <a:p>
            <a:pPr lvl="2"/>
            <a:endParaRPr lang="en-US" sz="1400" dirty="0"/>
          </a:p>
          <a:p>
            <a:pPr marL="1028700" lvl="2" indent="0">
              <a:buNone/>
            </a:pPr>
            <a:r>
              <a:rPr lang="en-US" sz="1400" dirty="0"/>
              <a:t>	</a:t>
            </a:r>
          </a:p>
          <a:p>
            <a:pPr lvl="2"/>
            <a:r>
              <a:rPr lang="en-US" dirty="0"/>
              <a:t>VFA – </a:t>
            </a:r>
          </a:p>
          <a:p>
            <a:pPr lvl="3"/>
            <a:endParaRPr lang="en-US" dirty="0"/>
          </a:p>
          <a:p>
            <a:pPr lvl="2"/>
            <a:r>
              <a:rPr lang="en-US" dirty="0"/>
              <a:t>DLA – MCTS is a DLA, and it uses a rollout policy (a form of DLA) to get initial estimates of the value of being in a state.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73094" y="2469119"/>
            <a:ext cx="7431364" cy="8679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E274A8-0DB9-538D-D75F-78B0C4D2C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71226" r="3702"/>
          <a:stretch>
            <a:fillRect/>
          </a:stretch>
        </p:blipFill>
        <p:spPr>
          <a:xfrm>
            <a:off x="2792689" y="4110001"/>
            <a:ext cx="1863131" cy="8679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E53147-EBBA-E986-3393-8B86AF449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4916" r="32686"/>
          <a:stretch>
            <a:fillRect/>
          </a:stretch>
        </p:blipFill>
        <p:spPr>
          <a:xfrm>
            <a:off x="2736916" y="4820821"/>
            <a:ext cx="921304" cy="86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8612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748" y="2097377"/>
            <a:ext cx="2621942" cy="439923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 policies: MCTS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031" y="1039547"/>
            <a:ext cx="10363200" cy="4401600"/>
          </a:xfrm>
        </p:spPr>
        <p:txBody>
          <a:bodyPr/>
          <a:lstStyle/>
          <a:p>
            <a:r>
              <a:rPr lang="en-US" dirty="0"/>
              <a:t>From pessimistic to optimistic MCTS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7747" y="1692783"/>
            <a:ext cx="22669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Pessimistic MCTS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82819" y="1723263"/>
            <a:ext cx="21082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Optimistic MCTS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20184" y="5059623"/>
            <a:ext cx="950976" cy="1397364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525642" y="5483599"/>
            <a:ext cx="525760" cy="1008528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5625579" y="5338191"/>
            <a:ext cx="273966" cy="1153936"/>
          </a:xfrm>
          <a:custGeom>
            <a:avLst/>
            <a:gdLst>
              <a:gd name="connsiteX0" fmla="*/ 0 w 329184"/>
              <a:gd name="connsiteY0" fmla="*/ 0 h 1280160"/>
              <a:gd name="connsiteX1" fmla="*/ 256032 w 329184"/>
              <a:gd name="connsiteY1" fmla="*/ 353568 h 1280160"/>
              <a:gd name="connsiteX2" fmla="*/ 85344 w 329184"/>
              <a:gd name="connsiteY2" fmla="*/ 658368 h 1280160"/>
              <a:gd name="connsiteX3" fmla="*/ 329184 w 329184"/>
              <a:gd name="connsiteY3" fmla="*/ 938784 h 1280160"/>
              <a:gd name="connsiteX4" fmla="*/ 24384 w 329184"/>
              <a:gd name="connsiteY4" fmla="*/ 128016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184" h="1280160">
                <a:moveTo>
                  <a:pt x="0" y="0"/>
                </a:moveTo>
                <a:lnTo>
                  <a:pt x="256032" y="353568"/>
                </a:lnTo>
                <a:lnTo>
                  <a:pt x="85344" y="658368"/>
                </a:lnTo>
                <a:lnTo>
                  <a:pt x="329184" y="938784"/>
                </a:lnTo>
                <a:lnTo>
                  <a:pt x="24384" y="1280160"/>
                </a:lnTo>
              </a:path>
            </a:pathLst>
          </a:custGeom>
          <a:noFill/>
          <a:ln w="28575">
            <a:solidFill>
              <a:srgbClr val="0033CC"/>
            </a:solidFill>
            <a:prstDash val="dash"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1"/>
              <p:cNvSpPr txBox="1"/>
              <p:nvPr/>
            </p:nvSpPr>
            <p:spPr>
              <a:xfrm>
                <a:off x="5925380" y="5255000"/>
                <a:ext cx="237778" cy="122285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"/>
                          <m:endChr m:val="}"/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380" y="5255000"/>
                <a:ext cx="237778" cy="1222856"/>
              </a:xfrm>
              <a:prstGeom prst="rect">
                <a:avLst/>
              </a:prstGeom>
              <a:blipFill>
                <a:blip r:embed="rId3"/>
                <a:stretch>
                  <a:fillRect r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291451" y="5364801"/>
            <a:ext cx="16674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rgbClr val="0033CC"/>
                </a:solidFill>
              </a:rPr>
              <a:t>Deterministic</a:t>
            </a:r>
          </a:p>
          <a:p>
            <a:pPr algn="l"/>
            <a:r>
              <a:rPr lang="en-US" sz="2000" dirty="0">
                <a:solidFill>
                  <a:srgbClr val="0033CC"/>
                </a:solidFill>
              </a:rPr>
              <a:t>math </a:t>
            </a:r>
          </a:p>
          <a:p>
            <a:pPr algn="l"/>
            <a:r>
              <a:rPr lang="en-US" sz="2000" dirty="0">
                <a:solidFill>
                  <a:srgbClr val="0033CC"/>
                </a:solidFill>
              </a:rPr>
              <a:t>program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62865" y="6069711"/>
            <a:ext cx="950976" cy="621504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280" y="2092894"/>
            <a:ext cx="2621942" cy="439923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2BB7A8-B568-DCC3-4865-EE94FA2803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230"/>
          <a:stretch/>
        </p:blipFill>
        <p:spPr>
          <a:xfrm>
            <a:off x="8968280" y="2068696"/>
            <a:ext cx="2674639" cy="37840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025A47-D31B-5781-DE7F-E90A1E5F07FD}"/>
              </a:ext>
            </a:extLst>
          </p:cNvPr>
          <p:cNvSpPr txBox="1"/>
          <p:nvPr/>
        </p:nvSpPr>
        <p:spPr>
          <a:xfrm>
            <a:off x="9254376" y="4690291"/>
            <a:ext cx="1748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Chapter 19</a:t>
            </a:r>
          </a:p>
          <a:p>
            <a:r>
              <a:rPr lang="en-US" sz="1800" dirty="0">
                <a:solidFill>
                  <a:schemeClr val="bg1"/>
                </a:solidFill>
              </a:rPr>
              <a:t>Section 19.8</a:t>
            </a:r>
          </a:p>
        </p:txBody>
      </p:sp>
    </p:spTree>
    <p:extLst>
      <p:ext uri="{BB962C8B-B14F-4D97-AF65-F5344CB8AC3E}">
        <p14:creationId xmlns:p14="http://schemas.microsoft.com/office/powerpoint/2010/main" val="2616970154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 policies: MCTS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678" y="1031396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Monte Carlo tree search</a:t>
            </a:r>
          </a:p>
          <a:p>
            <a:pPr lvl="1"/>
            <a:r>
              <a:rPr lang="en-US" dirty="0"/>
              <a:t>Explores some nodes more than others.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2260600"/>
            <a:ext cx="6412608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895926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99797-1C98-4090-AF86-DB987DA41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EDA8BF-1BA5-F9C3-6FB4-8CE97DCDB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4419289">
            <a:off x="3677417" y="1905223"/>
            <a:ext cx="1172137" cy="461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FC8406-272E-2F0D-26B1-0A2139CB0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 policies: MCTS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C607508-81FC-38E6-4552-75B905055791}"/>
              </a:ext>
            </a:extLst>
          </p:cNvPr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2FB32D-C1EB-F68A-4B8E-1DE46A27E87D}"/>
              </a:ext>
            </a:extLst>
          </p:cNvPr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702543-EEDC-6E82-2AA0-127288930A43}"/>
              </a:ext>
            </a:extLst>
          </p:cNvPr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E7F4F4-C4E4-6D7A-351F-FBA3E14811BD}"/>
              </a:ext>
            </a:extLst>
          </p:cNvPr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44C988-12A6-C774-6B52-12E4F752A9B8}"/>
              </a:ext>
            </a:extLst>
          </p:cNvPr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C8464F-46D4-523D-3D59-EF65E53A5A1B}"/>
              </a:ext>
            </a:extLst>
          </p:cNvPr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8A12C12-022A-A6E6-BD8A-D74D48093F25}"/>
              </a:ext>
            </a:extLst>
          </p:cNvPr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8D78B9B-C595-F74D-A2B0-C44A7BEEB325}"/>
              </a:ext>
            </a:extLst>
          </p:cNvPr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73E1A0D-0626-C5C9-424F-079B8743989F}"/>
              </a:ext>
            </a:extLst>
          </p:cNvPr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0FD449A-9753-C851-E642-928A0B281F20}"/>
              </a:ext>
            </a:extLst>
          </p:cNvPr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C23B57B-5513-7A2A-571C-C022D1115265}"/>
              </a:ext>
            </a:extLst>
          </p:cNvPr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F3E1340-E756-E232-4338-B8B81325822B}"/>
              </a:ext>
            </a:extLst>
          </p:cNvPr>
          <p:cNvSpPr txBox="1"/>
          <p:nvPr/>
        </p:nvSpPr>
        <p:spPr>
          <a:xfrm>
            <a:off x="8784205" y="3949701"/>
            <a:ext cx="1322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.  .  .  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50B92F-34B1-57D6-F91B-7F2D22ED41C1}"/>
              </a:ext>
            </a:extLst>
          </p:cNvPr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449B61A-288A-4CD7-DF58-623AAA0A8495}"/>
              </a:ext>
            </a:extLst>
          </p:cNvPr>
          <p:cNvCxnSpPr>
            <a:cxnSpLocks/>
          </p:cNvCxnSpPr>
          <p:nvPr/>
        </p:nvCxnSpPr>
        <p:spPr bwMode="auto">
          <a:xfrm flipV="1">
            <a:off x="2207986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46">
                <a:extLst>
                  <a:ext uri="{FF2B5EF4-FFF2-40B4-BE49-F238E27FC236}">
                    <a16:creationId xmlns:a16="http://schemas.microsoft.com/office/drawing/2014/main" id="{27434B68-97D8-9C4F-93E8-A80356113717}"/>
                  </a:ext>
                </a:extLst>
              </p:cNvPr>
              <p:cNvSpPr txBox="1"/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Object 46">
                <a:extLst>
                  <a:ext uri="{FF2B5EF4-FFF2-40B4-BE49-F238E27FC236}">
                    <a16:creationId xmlns:a16="http://schemas.microsoft.com/office/drawing/2014/main" id="{27434B68-97D8-9C4F-93E8-A80356113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  <a:blipFill>
                <a:blip r:embed="rId4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7">
                <a:extLst>
                  <a:ext uri="{FF2B5EF4-FFF2-40B4-BE49-F238E27FC236}">
                    <a16:creationId xmlns:a16="http://schemas.microsoft.com/office/drawing/2014/main" id="{21788171-D342-04E7-B2A5-79D368919408}"/>
                  </a:ext>
                </a:extLst>
              </p:cNvPr>
              <p:cNvSpPr txBox="1"/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Object 47">
                <a:extLst>
                  <a:ext uri="{FF2B5EF4-FFF2-40B4-BE49-F238E27FC236}">
                    <a16:creationId xmlns:a16="http://schemas.microsoft.com/office/drawing/2014/main" id="{21788171-D342-04E7-B2A5-79D368919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48">
                <a:extLst>
                  <a:ext uri="{FF2B5EF4-FFF2-40B4-BE49-F238E27FC236}">
                    <a16:creationId xmlns:a16="http://schemas.microsoft.com/office/drawing/2014/main" id="{93E8517D-E2DF-32D1-D5B1-D76CD096C7A3}"/>
                  </a:ext>
                </a:extLst>
              </p:cNvPr>
              <p:cNvSpPr txBox="1"/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Object 48">
                <a:extLst>
                  <a:ext uri="{FF2B5EF4-FFF2-40B4-BE49-F238E27FC236}">
                    <a16:creationId xmlns:a16="http://schemas.microsoft.com/office/drawing/2014/main" id="{93E8517D-E2DF-32D1-D5B1-D76CD096C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9">
                <a:extLst>
                  <a:ext uri="{FF2B5EF4-FFF2-40B4-BE49-F238E27FC236}">
                    <a16:creationId xmlns:a16="http://schemas.microsoft.com/office/drawing/2014/main" id="{D93DD0C3-EF4F-F7B8-CB07-4C46B35D1E28}"/>
                  </a:ext>
                </a:extLst>
              </p:cNvPr>
              <p:cNvSpPr txBox="1"/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0" name="Object 49">
                <a:extLst>
                  <a:ext uri="{FF2B5EF4-FFF2-40B4-BE49-F238E27FC236}">
                    <a16:creationId xmlns:a16="http://schemas.microsoft.com/office/drawing/2014/main" id="{D93DD0C3-EF4F-F7B8-CB07-4C46B35D1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3C6B3BA-3948-8F7D-00CC-69DE79534AD7}"/>
              </a:ext>
            </a:extLst>
          </p:cNvPr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8C9CDF5-7641-1278-9028-01870EF10193}"/>
              </a:ext>
            </a:extLst>
          </p:cNvPr>
          <p:cNvSpPr txBox="1"/>
          <p:nvPr/>
        </p:nvSpPr>
        <p:spPr>
          <a:xfrm rot="16200000">
            <a:off x="245263" y="3709659"/>
            <a:ext cx="3148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/>
              <a:t>The </a:t>
            </a:r>
            <a:r>
              <a:rPr lang="en-US" sz="2400" dirty="0" err="1"/>
              <a:t>lookahead</a:t>
            </a:r>
            <a:r>
              <a:rPr lang="en-US" sz="2400" dirty="0"/>
              <a:t> model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0B9432-3075-82C2-D82D-905B7F644C00}"/>
              </a:ext>
            </a:extLst>
          </p:cNvPr>
          <p:cNvSpPr txBox="1"/>
          <p:nvPr/>
        </p:nvSpPr>
        <p:spPr>
          <a:xfrm>
            <a:off x="4780115" y="6019801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base model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4ACD1E6-100D-04D8-3FE6-F4E5D270008F}"/>
              </a:ext>
            </a:extLst>
          </p:cNvPr>
          <p:cNvSpPr txBox="1">
            <a:spLocks/>
          </p:cNvSpPr>
          <p:nvPr/>
        </p:nvSpPr>
        <p:spPr>
          <a:xfrm>
            <a:off x="815164" y="1143001"/>
            <a:ext cx="9382936" cy="2659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/>
              <a:t>We can then simulate this </a:t>
            </a:r>
            <a:r>
              <a:rPr lang="en-US" i="1"/>
              <a:t>lookahead policy</a:t>
            </a:r>
            <a:r>
              <a:rPr lang="en-US"/>
              <a:t> over time: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202372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8B4A1-1712-1941-E683-87B383595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E75FF0-F49B-3D37-BBF3-21861215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4419289">
            <a:off x="5059331" y="1905223"/>
            <a:ext cx="1172137" cy="461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262FCA-18D2-A087-26CD-41A63F05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 policies: MCTS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82F1139-16A0-038C-8820-9D6F5E4A5E3F}"/>
              </a:ext>
            </a:extLst>
          </p:cNvPr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5457AE-7558-1348-1504-AFA4A0225609}"/>
              </a:ext>
            </a:extLst>
          </p:cNvPr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6A0E9F6-6EAF-7FC3-3C21-088E5621ED9B}"/>
              </a:ext>
            </a:extLst>
          </p:cNvPr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292F2A-C2DE-8B50-A30F-B40D7F6AAE67}"/>
              </a:ext>
            </a:extLst>
          </p:cNvPr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BAA0343-6C76-ADA0-9046-ECA836564D26}"/>
              </a:ext>
            </a:extLst>
          </p:cNvPr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8C893FD-3514-41B0-5F48-AA142DE923FF}"/>
              </a:ext>
            </a:extLst>
          </p:cNvPr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0637E4-6D09-654C-D834-2751F217226D}"/>
              </a:ext>
            </a:extLst>
          </p:cNvPr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C3AD511-75F2-E4F2-D61C-7B13285ECB4C}"/>
              </a:ext>
            </a:extLst>
          </p:cNvPr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033E43-4C94-2A12-B623-D251CD0FEBE9}"/>
              </a:ext>
            </a:extLst>
          </p:cNvPr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9B9E33-AD2B-7E80-21F5-0DA381987868}"/>
              </a:ext>
            </a:extLst>
          </p:cNvPr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5DD1FE3-8432-174C-E42A-BFE4143BD840}"/>
              </a:ext>
            </a:extLst>
          </p:cNvPr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D2FB65C-03C8-86C5-9283-4D18E7797599}"/>
              </a:ext>
            </a:extLst>
          </p:cNvPr>
          <p:cNvSpPr txBox="1"/>
          <p:nvPr/>
        </p:nvSpPr>
        <p:spPr>
          <a:xfrm>
            <a:off x="8784205" y="3949701"/>
            <a:ext cx="1322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.  .  .  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861D3ED-4982-AE31-2F39-898ADBF57882}"/>
              </a:ext>
            </a:extLst>
          </p:cNvPr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0DF0212-5589-CA21-B2B3-6AF46972DB2F}"/>
              </a:ext>
            </a:extLst>
          </p:cNvPr>
          <p:cNvCxnSpPr>
            <a:cxnSpLocks/>
          </p:cNvCxnSpPr>
          <p:nvPr/>
        </p:nvCxnSpPr>
        <p:spPr bwMode="auto">
          <a:xfrm flipV="1">
            <a:off x="2207986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46">
                <a:extLst>
                  <a:ext uri="{FF2B5EF4-FFF2-40B4-BE49-F238E27FC236}">
                    <a16:creationId xmlns:a16="http://schemas.microsoft.com/office/drawing/2014/main" id="{1F125493-99A4-D33F-D2BB-8AC56F518EE6}"/>
                  </a:ext>
                </a:extLst>
              </p:cNvPr>
              <p:cNvSpPr txBox="1"/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Object 46">
                <a:extLst>
                  <a:ext uri="{FF2B5EF4-FFF2-40B4-BE49-F238E27FC236}">
                    <a16:creationId xmlns:a16="http://schemas.microsoft.com/office/drawing/2014/main" id="{1F125493-99A4-D33F-D2BB-8AC56F518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  <a:blipFill>
                <a:blip r:embed="rId4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7">
                <a:extLst>
                  <a:ext uri="{FF2B5EF4-FFF2-40B4-BE49-F238E27FC236}">
                    <a16:creationId xmlns:a16="http://schemas.microsoft.com/office/drawing/2014/main" id="{6EB676CF-8451-8E0A-7590-463B7EA04B85}"/>
                  </a:ext>
                </a:extLst>
              </p:cNvPr>
              <p:cNvSpPr txBox="1"/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Object 47">
                <a:extLst>
                  <a:ext uri="{FF2B5EF4-FFF2-40B4-BE49-F238E27FC236}">
                    <a16:creationId xmlns:a16="http://schemas.microsoft.com/office/drawing/2014/main" id="{6EB676CF-8451-8E0A-7590-463B7EA04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48">
                <a:extLst>
                  <a:ext uri="{FF2B5EF4-FFF2-40B4-BE49-F238E27FC236}">
                    <a16:creationId xmlns:a16="http://schemas.microsoft.com/office/drawing/2014/main" id="{DC88389E-6670-D633-8C37-E80DCC2159E9}"/>
                  </a:ext>
                </a:extLst>
              </p:cNvPr>
              <p:cNvSpPr txBox="1"/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Object 48">
                <a:extLst>
                  <a:ext uri="{FF2B5EF4-FFF2-40B4-BE49-F238E27FC236}">
                    <a16:creationId xmlns:a16="http://schemas.microsoft.com/office/drawing/2014/main" id="{DC88389E-6670-D633-8C37-E80DCC215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9">
                <a:extLst>
                  <a:ext uri="{FF2B5EF4-FFF2-40B4-BE49-F238E27FC236}">
                    <a16:creationId xmlns:a16="http://schemas.microsoft.com/office/drawing/2014/main" id="{5871F032-E072-FF34-5AB2-8C21E3A8D174}"/>
                  </a:ext>
                </a:extLst>
              </p:cNvPr>
              <p:cNvSpPr txBox="1"/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0" name="Object 49">
                <a:extLst>
                  <a:ext uri="{FF2B5EF4-FFF2-40B4-BE49-F238E27FC236}">
                    <a16:creationId xmlns:a16="http://schemas.microsoft.com/office/drawing/2014/main" id="{5871F032-E072-FF34-5AB2-8C21E3A8D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E57BC40-2FA0-34E5-890F-5BA86D7ED057}"/>
              </a:ext>
            </a:extLst>
          </p:cNvPr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8006095-42D7-90B5-A012-C13C90D570FD}"/>
              </a:ext>
            </a:extLst>
          </p:cNvPr>
          <p:cNvSpPr txBox="1"/>
          <p:nvPr/>
        </p:nvSpPr>
        <p:spPr>
          <a:xfrm rot="16200000">
            <a:off x="245263" y="3709659"/>
            <a:ext cx="3148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/>
              <a:t>The </a:t>
            </a:r>
            <a:r>
              <a:rPr lang="en-US" sz="2400" dirty="0" err="1"/>
              <a:t>lookahead</a:t>
            </a:r>
            <a:r>
              <a:rPr lang="en-US" sz="2400" dirty="0"/>
              <a:t> model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61732-985E-D5F1-5FDC-30D1DA1D5034}"/>
              </a:ext>
            </a:extLst>
          </p:cNvPr>
          <p:cNvSpPr txBox="1"/>
          <p:nvPr/>
        </p:nvSpPr>
        <p:spPr>
          <a:xfrm>
            <a:off x="4780115" y="6019801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base model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C260011-AB11-B396-BB21-7EE09534D5AB}"/>
              </a:ext>
            </a:extLst>
          </p:cNvPr>
          <p:cNvSpPr txBox="1">
            <a:spLocks/>
          </p:cNvSpPr>
          <p:nvPr/>
        </p:nvSpPr>
        <p:spPr>
          <a:xfrm>
            <a:off x="815164" y="1143001"/>
            <a:ext cx="9382936" cy="2659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/>
              <a:t>We can then simulate this </a:t>
            </a:r>
            <a:r>
              <a:rPr lang="en-US" i="1"/>
              <a:t>lookahead policy</a:t>
            </a:r>
            <a:r>
              <a:rPr lang="en-US"/>
              <a:t> over time: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9597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6F997-DF97-C55F-B54A-7C53F6DD4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71159C-2D91-6463-564A-85947FE0A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4419289">
            <a:off x="6475619" y="1905223"/>
            <a:ext cx="1172137" cy="461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F9D5B6-15BB-E3AC-4F90-D45E768A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 policies: MCTS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F86BBAF-DDBF-CB95-F55C-422A267EA17B}"/>
              </a:ext>
            </a:extLst>
          </p:cNvPr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E5160A-5728-34AF-77AE-99D327E4D8F5}"/>
              </a:ext>
            </a:extLst>
          </p:cNvPr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5C7AB7-D62D-0757-9BCE-F763F3705159}"/>
              </a:ext>
            </a:extLst>
          </p:cNvPr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CB0CEB-7E96-78B3-901D-F6BEA4FA02BC}"/>
              </a:ext>
            </a:extLst>
          </p:cNvPr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1DE40C-F758-2ECD-5854-F64DCE208757}"/>
              </a:ext>
            </a:extLst>
          </p:cNvPr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644CDEB-D5A6-40E4-DF56-48DCDCDBD140}"/>
              </a:ext>
            </a:extLst>
          </p:cNvPr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E8D4E98-2B74-1A90-C974-6AD5EBE96330}"/>
              </a:ext>
            </a:extLst>
          </p:cNvPr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269A7D3-AB13-CC19-25E7-8372F1255FD8}"/>
              </a:ext>
            </a:extLst>
          </p:cNvPr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A149FFB-194B-885B-3538-499520F5747C}"/>
              </a:ext>
            </a:extLst>
          </p:cNvPr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0E3BF60-2A5C-2192-E3A7-691B15A007AC}"/>
              </a:ext>
            </a:extLst>
          </p:cNvPr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5E8DB6B-F51B-442F-C6B0-959588C6DE64}"/>
              </a:ext>
            </a:extLst>
          </p:cNvPr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1A37516-B1B6-349E-8AFA-18A74AFC5B9E}"/>
              </a:ext>
            </a:extLst>
          </p:cNvPr>
          <p:cNvSpPr txBox="1"/>
          <p:nvPr/>
        </p:nvSpPr>
        <p:spPr>
          <a:xfrm>
            <a:off x="8784205" y="3949701"/>
            <a:ext cx="1322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.  .  .  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CEB18E9-C7B6-029E-9785-918CE79D0540}"/>
              </a:ext>
            </a:extLst>
          </p:cNvPr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358D497-3FC3-08E9-C50C-6AC32C60997F}"/>
              </a:ext>
            </a:extLst>
          </p:cNvPr>
          <p:cNvCxnSpPr>
            <a:cxnSpLocks/>
          </p:cNvCxnSpPr>
          <p:nvPr/>
        </p:nvCxnSpPr>
        <p:spPr bwMode="auto">
          <a:xfrm flipV="1">
            <a:off x="2207986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46">
                <a:extLst>
                  <a:ext uri="{FF2B5EF4-FFF2-40B4-BE49-F238E27FC236}">
                    <a16:creationId xmlns:a16="http://schemas.microsoft.com/office/drawing/2014/main" id="{34B21033-7C5C-6E18-1751-E4075D143F85}"/>
                  </a:ext>
                </a:extLst>
              </p:cNvPr>
              <p:cNvSpPr txBox="1"/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Object 46">
                <a:extLst>
                  <a:ext uri="{FF2B5EF4-FFF2-40B4-BE49-F238E27FC236}">
                    <a16:creationId xmlns:a16="http://schemas.microsoft.com/office/drawing/2014/main" id="{34B21033-7C5C-6E18-1751-E4075D143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  <a:blipFill>
                <a:blip r:embed="rId4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7">
                <a:extLst>
                  <a:ext uri="{FF2B5EF4-FFF2-40B4-BE49-F238E27FC236}">
                    <a16:creationId xmlns:a16="http://schemas.microsoft.com/office/drawing/2014/main" id="{31588FF9-6192-73DB-0E9D-0F620CCCFB24}"/>
                  </a:ext>
                </a:extLst>
              </p:cNvPr>
              <p:cNvSpPr txBox="1"/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Object 47">
                <a:extLst>
                  <a:ext uri="{FF2B5EF4-FFF2-40B4-BE49-F238E27FC236}">
                    <a16:creationId xmlns:a16="http://schemas.microsoft.com/office/drawing/2014/main" id="{31588FF9-6192-73DB-0E9D-0F620CCCF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48">
                <a:extLst>
                  <a:ext uri="{FF2B5EF4-FFF2-40B4-BE49-F238E27FC236}">
                    <a16:creationId xmlns:a16="http://schemas.microsoft.com/office/drawing/2014/main" id="{4E8F54C4-4F68-4983-8114-D7AA4C895E77}"/>
                  </a:ext>
                </a:extLst>
              </p:cNvPr>
              <p:cNvSpPr txBox="1"/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Object 48">
                <a:extLst>
                  <a:ext uri="{FF2B5EF4-FFF2-40B4-BE49-F238E27FC236}">
                    <a16:creationId xmlns:a16="http://schemas.microsoft.com/office/drawing/2014/main" id="{4E8F54C4-4F68-4983-8114-D7AA4C895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9">
                <a:extLst>
                  <a:ext uri="{FF2B5EF4-FFF2-40B4-BE49-F238E27FC236}">
                    <a16:creationId xmlns:a16="http://schemas.microsoft.com/office/drawing/2014/main" id="{A72E38D7-7FEA-02E2-3067-DE12085265E3}"/>
                  </a:ext>
                </a:extLst>
              </p:cNvPr>
              <p:cNvSpPr txBox="1"/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0" name="Object 49">
                <a:extLst>
                  <a:ext uri="{FF2B5EF4-FFF2-40B4-BE49-F238E27FC236}">
                    <a16:creationId xmlns:a16="http://schemas.microsoft.com/office/drawing/2014/main" id="{A72E38D7-7FEA-02E2-3067-DE1208526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8913199-FCD8-2883-0016-E5B66E44377F}"/>
              </a:ext>
            </a:extLst>
          </p:cNvPr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EC53CEE-F002-408F-C72C-317A73E830DA}"/>
              </a:ext>
            </a:extLst>
          </p:cNvPr>
          <p:cNvSpPr txBox="1"/>
          <p:nvPr/>
        </p:nvSpPr>
        <p:spPr>
          <a:xfrm rot="16200000">
            <a:off x="245263" y="3709659"/>
            <a:ext cx="3148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/>
              <a:t>The </a:t>
            </a:r>
            <a:r>
              <a:rPr lang="en-US" sz="2400" dirty="0" err="1"/>
              <a:t>lookahead</a:t>
            </a:r>
            <a:r>
              <a:rPr lang="en-US" sz="2400" dirty="0"/>
              <a:t> model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099C4B-754F-543F-8EBD-F43F15B6A096}"/>
              </a:ext>
            </a:extLst>
          </p:cNvPr>
          <p:cNvSpPr txBox="1"/>
          <p:nvPr/>
        </p:nvSpPr>
        <p:spPr>
          <a:xfrm>
            <a:off x="4780115" y="6019801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base model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2B9C71-F308-44BA-8C18-415F2C74D54D}"/>
              </a:ext>
            </a:extLst>
          </p:cNvPr>
          <p:cNvSpPr txBox="1">
            <a:spLocks/>
          </p:cNvSpPr>
          <p:nvPr/>
        </p:nvSpPr>
        <p:spPr>
          <a:xfrm>
            <a:off x="815164" y="1143001"/>
            <a:ext cx="9382936" cy="2659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/>
              <a:t>We can then simulate this </a:t>
            </a:r>
            <a:r>
              <a:rPr lang="en-US" i="1"/>
              <a:t>lookahead policy</a:t>
            </a:r>
            <a:r>
              <a:rPr lang="en-US"/>
              <a:t> over time: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267414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 policies: MCTS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sz="2400" dirty="0"/>
              <a:t>Notes: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MCTS is immune to large state spaces.  This means that it can easily handle a very large belief state.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MCTS is only for small, discrete action spaces.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The literature widely overlooks that MCTS is not solving a problem… it is a policy.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There are various parameters that need to be evaluated by simulating the policy over time.</a:t>
            </a:r>
          </a:p>
        </p:txBody>
      </p:sp>
    </p:spTree>
    <p:extLst>
      <p:ext uri="{BB962C8B-B14F-4D97-AF65-F5344CB8AC3E}">
        <p14:creationId xmlns:p14="http://schemas.microsoft.com/office/powerpoint/2010/main" val="2526874456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3EFB-0CD8-6206-40AF-FA6962CE2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8C232C-88E8-1A80-622B-D4A04C720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0A2694-AA6A-176B-6741-DBED6B81D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460FE-30DB-223E-508C-FCE0A74D2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2C529C-65DB-2684-F4A8-017A2206D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F669F-565A-8F92-A2C2-873915404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286440C-533E-994B-B717-831A5DAAB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507BA9E-412D-C39F-F884-6237EA1D6E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1F817B-3FD4-B3DA-955C-DF684D80FDAE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direct lookahead approximations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 → Direct lookahead approximations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8767510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a67f89-7d7d-48be-9399-9713d9f758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6" ma:contentTypeDescription="Create a new document." ma:contentTypeScope="" ma:versionID="6a273f09d10aeeee6a70496a6e8b3e1f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55a4f175a1c67e7eff53bb36c6c03921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9a67f89-7d7d-48be-9399-9713d9f7587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65DD70-CE85-45EB-8875-37DB516A69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469097</TotalTime>
  <Words>17887</Words>
  <Application>Microsoft Office PowerPoint</Application>
  <PresentationFormat>Widescreen</PresentationFormat>
  <Paragraphs>4380</Paragraphs>
  <Slides>386</Slides>
  <Notes>216</Notes>
  <HiddenSlides>0</HiddenSlides>
  <MMClips>3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386</vt:i4>
      </vt:variant>
    </vt:vector>
  </HeadingPairs>
  <TitlesOfParts>
    <vt:vector size="400" baseType="lpstr">
      <vt:lpstr>Oswald Regular</vt:lpstr>
      <vt:lpstr>Cambria Math</vt:lpstr>
      <vt:lpstr>Wingdings</vt:lpstr>
      <vt:lpstr>Oswald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Clip</vt:lpstr>
      <vt:lpstr>Chart</vt:lpstr>
      <vt:lpstr>PowerPoint Presentation</vt:lpstr>
      <vt:lpstr>OUTLINE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OUTLINE</vt:lpstr>
      <vt:lpstr>Bridging Machine Learning and Sequential Decision Problems</vt:lpstr>
      <vt:lpstr>OUTLINE</vt:lpstr>
      <vt:lpstr>Policy evaluation</vt:lpstr>
      <vt:lpstr>Policy evaluation</vt:lpstr>
      <vt:lpstr>Thank you!</vt:lpstr>
      <vt:lpstr>PowerPoint Presentation</vt:lpstr>
      <vt:lpstr>OUTLINE</vt:lpstr>
      <vt:lpstr>OUTLINE</vt:lpstr>
      <vt:lpstr>Cost function approximations: Discrete choices</vt:lpstr>
      <vt:lpstr>PowerPoint Presentation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OUTLINE</vt:lpstr>
      <vt:lpstr>Cost function approximations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Thank you!</vt:lpstr>
      <vt:lpstr>OUTLINE</vt:lpstr>
      <vt:lpstr>PowerPoint Presentation</vt:lpstr>
      <vt:lpstr>OUTLINE</vt:lpstr>
      <vt:lpstr>OUTLINE</vt:lpstr>
      <vt:lpstr>OUTLINE</vt:lpstr>
      <vt:lpstr>VFA policies: Exact dynamic programming</vt:lpstr>
      <vt:lpstr>VFA policies: Exact dynamic programming</vt:lpstr>
      <vt:lpstr>PowerPoint Presentation</vt:lpstr>
      <vt:lpstr>VFA policies: Exact dynamic programming</vt:lpstr>
      <vt:lpstr>VFA policies: Exact dynamic programming</vt:lpstr>
      <vt:lpstr>VFA policies: Exact dynamic programming</vt:lpstr>
      <vt:lpstr>OUTLINE</vt:lpstr>
      <vt:lpstr>VFA policies: Backward MDP and curses of dimensionality</vt:lpstr>
      <vt:lpstr>VFA policies: Backward MDP and curses of dimensionality</vt:lpstr>
      <vt:lpstr>VFA policies: Backward MDP and curses of dimensionality</vt:lpstr>
      <vt:lpstr>VFA policies: Backward MDP and curses of dimensionality</vt:lpstr>
      <vt:lpstr>OUTLINE</vt:lpstr>
      <vt:lpstr>VFA policies: Exact dynamic programming</vt:lpstr>
      <vt:lpstr>VFA policies: Exact dynamic programming</vt:lpstr>
      <vt:lpstr>VFA policies: Exact dynamic programming</vt:lpstr>
      <vt:lpstr>VFA policies: Exact dynamic programming</vt:lpstr>
      <vt:lpstr>Thank you!</vt:lpstr>
      <vt:lpstr>PowerPoint Presentation</vt:lpstr>
      <vt:lpstr>OUTLINE</vt:lpstr>
      <vt:lpstr>OUTLINE</vt:lpstr>
      <vt:lpstr>VFA policies</vt:lpstr>
      <vt:lpstr>VFA policies</vt:lpstr>
      <vt:lpstr>VFA policies</vt:lpstr>
      <vt:lpstr>VFA policies</vt:lpstr>
      <vt:lpstr>VFA policies</vt:lpstr>
      <vt:lpstr>OUTLINE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OUTLINE</vt:lpstr>
      <vt:lpstr>Value iteration: The nomadic trucker</vt:lpstr>
      <vt:lpstr>Value iteration: Exploration vs. exploitation</vt:lpstr>
      <vt:lpstr>Value iteration: Exploration vs. exploitation</vt:lpstr>
      <vt:lpstr>Value iteration: Exploration vs. exploitation</vt:lpstr>
      <vt:lpstr>PowerPoint Presentation</vt:lpstr>
      <vt:lpstr>PowerPoint Presentation</vt:lpstr>
      <vt:lpstr>Value iteration: Exploration vs. exploitation</vt:lpstr>
      <vt:lpstr>OUTLINE</vt:lpstr>
      <vt:lpstr>Backward approximate dynamic programming</vt:lpstr>
      <vt:lpstr>Backward approximate dynamic programming</vt:lpstr>
      <vt:lpstr>Backward approximate dynamic programming</vt:lpstr>
      <vt:lpstr>Backward approximate dynamic programming</vt:lpstr>
      <vt:lpstr>Thank you!</vt:lpstr>
      <vt:lpstr>PowerPoint Presentation</vt:lpstr>
      <vt:lpstr>OUTLINE</vt:lpstr>
      <vt:lpstr>OUTLINE</vt:lpstr>
      <vt:lpstr>Reinforcement learning: TD learning</vt:lpstr>
      <vt:lpstr>Reinforcement learning: TD learning</vt:lpstr>
      <vt:lpstr>Reinforcement learning: TD learning</vt:lpstr>
      <vt:lpstr>OUTLINE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OUTLINE</vt:lpstr>
      <vt:lpstr>VFA: The deadly triad </vt:lpstr>
      <vt:lpstr>VFA: The deadly triad </vt:lpstr>
      <vt:lpstr>Thank you!</vt:lpstr>
      <vt:lpstr>PowerPoint Presentation</vt:lpstr>
      <vt:lpstr>OUTLINE</vt:lpstr>
      <vt:lpstr>OUTLINE</vt:lpstr>
      <vt:lpstr>OUTLINE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OUTLINE</vt:lpstr>
      <vt:lpstr>PowerPoint Presentation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OUTLINE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Thank you!</vt:lpstr>
      <vt:lpstr>PowerPoint Presentation</vt:lpstr>
      <vt:lpstr>OUTLINE</vt:lpstr>
      <vt:lpstr>OUTLINE</vt:lpstr>
      <vt:lpstr>OUTLINE</vt:lpstr>
      <vt:lpstr>Blood management</vt:lpstr>
      <vt:lpstr>Blood management</vt:lpstr>
      <vt:lpstr>Blood management</vt:lpstr>
      <vt:lpstr>Blood management</vt:lpstr>
      <vt:lpstr>Blood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OUTLINE</vt:lpstr>
      <vt:lpstr>Grid level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OUTLINE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OUTLINE</vt:lpstr>
      <vt:lpstr>Locomotive planning at Norfolk Southern</vt:lpstr>
      <vt:lpstr>PowerPoint Presentation</vt:lpstr>
      <vt:lpstr>PowerPoint Presentation</vt:lpstr>
      <vt:lpstr>PowerPoint Presentation</vt:lpstr>
      <vt:lpstr>PowerPoint Presentation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Thank you!</vt:lpstr>
      <vt:lpstr>OUTLINE</vt:lpstr>
      <vt:lpstr>PowerPoint Presentation</vt:lpstr>
      <vt:lpstr>OUTLINE</vt:lpstr>
      <vt:lpstr>OUTLINE</vt:lpstr>
      <vt:lpstr>OUTLINE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OUTLINE</vt:lpstr>
      <vt:lpstr>The policy-within-a-policy</vt:lpstr>
      <vt:lpstr>The policy-within-a-policy</vt:lpstr>
      <vt:lpstr>The policy-within-a-policy</vt:lpstr>
      <vt:lpstr>Thank you!</vt:lpstr>
      <vt:lpstr>PowerPoint Presentation</vt:lpstr>
      <vt:lpstr>OUTLINE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Cost function approximations: Parameterized LP</vt:lpstr>
      <vt:lpstr>Cost function approximations: Parameterized LP</vt:lpstr>
      <vt:lpstr>Thank you!</vt:lpstr>
      <vt:lpstr>PowerPoint Presentation</vt:lpstr>
      <vt:lpstr>OUTLINE</vt:lpstr>
      <vt:lpstr>OUTLINE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OUTLINE</vt:lpstr>
      <vt:lpstr>Direct lookahead policies</vt:lpstr>
      <vt:lpstr>Dynamic shortest paths</vt:lpstr>
      <vt:lpstr>Dynamic shortest paths</vt:lpstr>
      <vt:lpstr>Parameterized deterministic lookahead</vt:lpstr>
      <vt:lpstr>Dynamic shortest paths</vt:lpstr>
      <vt:lpstr>Dynamic shortest paths</vt:lpstr>
      <vt:lpstr>Dynamic shortest paths</vt:lpstr>
      <vt:lpstr>Dynamic shortest paths</vt:lpstr>
      <vt:lpstr>Designing policies</vt:lpstr>
      <vt:lpstr>Policy search</vt:lpstr>
      <vt:lpstr>OUTLINE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Thank you!</vt:lpstr>
      <vt:lpstr>PowerPoint Presentation</vt:lpstr>
      <vt:lpstr>OUTLINE</vt:lpstr>
      <vt:lpstr>OUTLINE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PowerPoint Presentation</vt:lpstr>
      <vt:lpstr>PowerPoint Presentation</vt:lpstr>
      <vt:lpstr>PowerPoint Presentation</vt:lpstr>
      <vt:lpstr>PowerPoint Presentation</vt:lpstr>
      <vt:lpstr>OUTLINE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Thank you!</vt:lpstr>
      <vt:lpstr>PowerPoint Presentation</vt:lpstr>
      <vt:lpstr>OUTLINE</vt:lpstr>
      <vt:lpstr>OUTLINE</vt:lpstr>
      <vt:lpstr>PowerPoint Presentation</vt:lpstr>
      <vt:lpstr>PowerPoint Presentation</vt:lpstr>
      <vt:lpstr>The timing of decisions</vt:lpstr>
      <vt:lpstr>The timing of decisions</vt:lpstr>
      <vt:lpstr>The timing of decisions</vt:lpstr>
      <vt:lpstr>PowerPoint Presentation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OUTLINE</vt:lpstr>
      <vt:lpstr>DLA-Stochastic search</vt:lpstr>
      <vt:lpstr>DLA-Stochastic search</vt:lpstr>
      <vt:lpstr>Thank you!</vt:lpstr>
      <vt:lpstr>PowerPoint Presentation</vt:lpstr>
      <vt:lpstr>OUTLINE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Derivative-free</vt:lpstr>
      <vt:lpstr>Policy search: Derivative-free</vt:lpstr>
      <vt:lpstr>Policy search: Derivative-free</vt:lpstr>
      <vt:lpstr>OUTLINE</vt:lpstr>
      <vt:lpstr>Policy search: Derivative-based</vt:lpstr>
      <vt:lpstr>The universal modeling framework</vt:lpstr>
      <vt:lpstr>Policy search: as a SDP</vt:lpstr>
      <vt:lpstr>OUTLINE</vt:lpstr>
      <vt:lpstr>PowerPoint Presentation</vt:lpstr>
      <vt:lpstr>PowerPoint Presentation</vt:lpstr>
      <vt:lpstr>Policy search: Derivative-free</vt:lpstr>
      <vt:lpstr>Policy search: Derivative-free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801</cp:revision>
  <cp:lastPrinted>2025-05-20T14:08:40Z</cp:lastPrinted>
  <dcterms:modified xsi:type="dcterms:W3CDTF">2026-09-06T14:28:49Z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