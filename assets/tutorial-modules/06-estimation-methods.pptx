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30"/>
  </p:notesMasterIdLst>
  <p:sldIdLst>
    <p:sldId id="10745" r:id="rId139"/>
    <p:sldId id="10555" r:id="rId140"/>
    <p:sldId id="10841" r:id="rId141"/>
    <p:sldId id="5161" r:id="rId142"/>
    <p:sldId id="10556" r:id="rId143"/>
    <p:sldId id="10731" r:id="rId144"/>
    <p:sldId id="3326" r:id="rId145"/>
    <p:sldId id="3327" r:id="rId146"/>
    <p:sldId id="3328" r:id="rId147"/>
    <p:sldId id="10402" r:id="rId148"/>
    <p:sldId id="7482" r:id="rId149"/>
    <p:sldId id="7492" r:id="rId150"/>
    <p:sldId id="10557" r:id="rId151"/>
    <p:sldId id="6635" r:id="rId152"/>
    <p:sldId id="6636" r:id="rId153"/>
    <p:sldId id="6651" r:id="rId154"/>
    <p:sldId id="6641" r:id="rId155"/>
    <p:sldId id="6642" r:id="rId156"/>
    <p:sldId id="6643" r:id="rId157"/>
    <p:sldId id="6644" r:id="rId158"/>
    <p:sldId id="6645" r:id="rId159"/>
    <p:sldId id="6646" r:id="rId160"/>
    <p:sldId id="6647" r:id="rId161"/>
    <p:sldId id="6599" r:id="rId162"/>
    <p:sldId id="6600" r:id="rId163"/>
    <p:sldId id="6601" r:id="rId164"/>
    <p:sldId id="5763" r:id="rId165"/>
    <p:sldId id="10579" r:id="rId166"/>
    <p:sldId id="10580" r:id="rId167"/>
    <p:sldId id="10558" r:id="rId168"/>
    <p:sldId id="10682" r:id="rId169"/>
    <p:sldId id="5435" r:id="rId170"/>
    <p:sldId id="10681" r:id="rId171"/>
    <p:sldId id="10967" r:id="rId172"/>
  </p:sldIdLst>
  <p:sldSz cx="12192000" cy="6858000"/>
  <p:notesSz cx="7102475" cy="9388475"/>
  <p:embeddedFontLst>
    <p:embeddedFont>
      <p:font typeface="Cambria Math" panose="02040503050406030204" pitchFamily="18" charset="0"/>
      <p:regular r:id="rId331"/>
    </p:embeddedFont>
    <p:embeddedFont>
      <p:font typeface="Oswald" panose="00000500000000000000" pitchFamily="2" charset="0"/>
      <p:regular r:id="rId332"/>
      <p:bold r:id="rId333"/>
    </p:embeddedFont>
    <p:embeddedFont>
      <p:font typeface="Oswald Regular" panose="00000500000000000000" charset="0"/>
      <p:regular r:id="rId334"/>
      <p:bold r:id="rId335"/>
    </p:embeddedFont>
    <p:embeddedFont>
      <p:font typeface="Playfair Display" panose="00000500000000000000" pitchFamily="2" charset="0"/>
      <p:regular r:id="rId336"/>
      <p:bold r:id="rId337"/>
      <p:italic r:id="rId338"/>
      <p:boldItalic r:id="rId339"/>
    </p:embeddedFont>
    <p:embeddedFont>
      <p:font typeface="Raleway" pitchFamily="2" charset="0"/>
      <p:regular r:id="rId340"/>
      <p:bold r:id="rId341"/>
      <p:italic r:id="rId342"/>
      <p:boldItalic r:id="rId343"/>
    </p:embeddedFont>
    <p:embeddedFont>
      <p:font typeface="Raleway Thin" pitchFamily="2" charset="0"/>
      <p:regular r:id="rId344"/>
      <p:bold r:id="rId345"/>
      <p:italic r:id="rId346"/>
      <p:boldItalic r:id="rId3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ening" id="{15E8A6E9-652B-44EF-A433-602AA2C0CF1D}">
          <p14:sldIdLst/>
        </p14:section>
        <p14:section name="Background for this tutorial" id="{9E777E73-11DD-4A73-81F1-368F6E4B7E85}">
          <p14:sldIdLst>
            <p14:sldId id="10779"/>
            <p14:sldId id="9124"/>
            <p14:sldId id="8947"/>
            <p14:sldId id="9364"/>
            <p14:sldId id="8505"/>
            <p14:sldId id="258"/>
            <p14:sldId id="7813"/>
            <p14:sldId id="9228"/>
            <p14:sldId id="9227"/>
            <p14:sldId id="10645"/>
            <p14:sldId id="10330"/>
            <p14:sldId id="9922"/>
            <p14:sldId id="10477"/>
            <p14:sldId id="10174"/>
            <p14:sldId id="10022"/>
            <p14:sldId id="10173"/>
            <p14:sldId id="10172"/>
            <p14:sldId id="10419"/>
            <p14:sldId id="10907"/>
          </p14:sldIdLst>
        </p14:section>
        <p14:section name="History of RL (short)" id="{A11ABB24-D8C5-421E-8D7B-89403AEF34B0}">
          <p14:sldIdLst>
            <p14:sldId id="10742"/>
            <p14:sldId id="10530"/>
            <p14:sldId id="10481"/>
            <p14:sldId id="8657"/>
            <p14:sldId id="10483"/>
            <p14:sldId id="10657"/>
            <p14:sldId id="10531"/>
            <p14:sldId id="10679"/>
            <p14:sldId id="10488"/>
            <p14:sldId id="10489"/>
            <p14:sldId id="10654"/>
            <p14:sldId id="10491"/>
            <p14:sldId id="10492"/>
            <p14:sldId id="10658"/>
            <p14:sldId id="10494"/>
            <p14:sldId id="10721"/>
            <p14:sldId id="10577"/>
            <p14:sldId id="10660"/>
            <p14:sldId id="10838"/>
            <p14:sldId id="10840"/>
            <p14:sldId id="10499"/>
            <p14:sldId id="10500"/>
            <p14:sldId id="10576"/>
            <p14:sldId id="10501"/>
            <p14:sldId id="10502"/>
            <p14:sldId id="10503"/>
            <p14:sldId id="10575"/>
            <p14:sldId id="10963"/>
          </p14:sldIdLst>
        </p14:section>
        <p14:section name="Sequential decision problems" id="{ACC58C93-CA30-44E4-A6F7-33A7A138D8CC}">
          <p14:sldIdLst>
            <p14:sldId id="10743"/>
            <p14:sldId id="8053"/>
            <p14:sldId id="8621"/>
            <p14:sldId id="8630"/>
            <p14:sldId id="9224"/>
            <p14:sldId id="8650"/>
            <p14:sldId id="8284"/>
            <p14:sldId id="294"/>
            <p14:sldId id="293"/>
            <p14:sldId id="10064"/>
            <p14:sldId id="10065"/>
            <p14:sldId id="4727"/>
            <p14:sldId id="4732"/>
            <p14:sldId id="4600"/>
            <p14:sldId id="10451"/>
            <p14:sldId id="10714"/>
            <p14:sldId id="10465"/>
            <p14:sldId id="10591"/>
            <p14:sldId id="10728"/>
            <p14:sldId id="10729"/>
            <p14:sldId id="10964"/>
          </p14:sldIdLst>
        </p14:section>
        <p14:section name="Framing the problem" id="{D8CB74C6-BADA-4949-8842-1630826271F0}">
          <p14:sldIdLst>
            <p14:sldId id="10870"/>
            <p14:sldId id="10872"/>
            <p14:sldId id="10873"/>
            <p14:sldId id="10843"/>
            <p14:sldId id="10844"/>
            <p14:sldId id="10845"/>
            <p14:sldId id="10846"/>
            <p14:sldId id="10847"/>
            <p14:sldId id="10874"/>
            <p14:sldId id="10852"/>
            <p14:sldId id="10853"/>
            <p14:sldId id="10882"/>
            <p14:sldId id="10854"/>
            <p14:sldId id="10855"/>
            <p14:sldId id="9931"/>
            <p14:sldId id="9946"/>
            <p14:sldId id="10875"/>
            <p14:sldId id="10541"/>
            <p14:sldId id="10639"/>
            <p14:sldId id="9559"/>
            <p14:sldId id="10661"/>
            <p14:sldId id="10655"/>
            <p14:sldId id="10533"/>
            <p14:sldId id="10656"/>
            <p14:sldId id="10581"/>
            <p14:sldId id="10364"/>
            <p14:sldId id="10858"/>
            <p14:sldId id="9791"/>
            <p14:sldId id="9935"/>
            <p14:sldId id="10876"/>
            <p14:sldId id="10863"/>
            <p14:sldId id="10864"/>
            <p14:sldId id="10347"/>
            <p14:sldId id="10663"/>
            <p14:sldId id="10662"/>
            <p14:sldId id="10582"/>
            <p14:sldId id="10583"/>
            <p14:sldId id="10349"/>
            <p14:sldId id="10879"/>
            <p14:sldId id="10848"/>
            <p14:sldId id="10849"/>
            <p14:sldId id="10850"/>
            <p14:sldId id="10135"/>
            <p14:sldId id="10118"/>
            <p14:sldId id="10119"/>
            <p14:sldId id="10880"/>
            <p14:sldId id="10883"/>
            <p14:sldId id="10881"/>
            <p14:sldId id="10859"/>
            <p14:sldId id="10860"/>
            <p14:sldId id="10861"/>
            <p14:sldId id="10868"/>
            <p14:sldId id="10869"/>
            <p14:sldId id="10965"/>
          </p14:sldIdLst>
        </p14:section>
        <p14:section name="The universal modeling framework (high level)" id="{B4EDCA7E-9BFF-4C15-9330-9A564F4DF9C2}">
          <p14:sldIdLst>
            <p14:sldId id="10744"/>
            <p14:sldId id="10185"/>
            <p14:sldId id="10070"/>
            <p14:sldId id="10071"/>
            <p14:sldId id="10166"/>
            <p14:sldId id="10887"/>
            <p14:sldId id="10888"/>
            <p14:sldId id="10176"/>
            <p14:sldId id="10685"/>
            <p14:sldId id="9586"/>
            <p14:sldId id="10696"/>
            <p14:sldId id="10966"/>
          </p14:sldIdLst>
        </p14:section>
        <p14:section name="Estimation methods" id="{DD45CA11-C71B-4DFB-931F-CCF5075140C5}">
          <p14:sldIdLst>
            <p14:sldId id="10745"/>
            <p14:sldId id="10555"/>
            <p14:sldId id="10841"/>
            <p14:sldId id="5161"/>
            <p14:sldId id="10556"/>
            <p14:sldId id="10731"/>
            <p14:sldId id="3326"/>
            <p14:sldId id="3327"/>
            <p14:sldId id="3328"/>
            <p14:sldId id="10402"/>
            <p14:sldId id="7482"/>
            <p14:sldId id="7492"/>
            <p14:sldId id="10557"/>
            <p14:sldId id="6635"/>
            <p14:sldId id="6636"/>
            <p14:sldId id="6651"/>
            <p14:sldId id="6641"/>
            <p14:sldId id="6642"/>
            <p14:sldId id="6643"/>
            <p14:sldId id="6644"/>
            <p14:sldId id="6645"/>
            <p14:sldId id="6646"/>
            <p14:sldId id="6647"/>
            <p14:sldId id="6599"/>
            <p14:sldId id="6600"/>
            <p14:sldId id="6601"/>
            <p14:sldId id="5763"/>
            <p14:sldId id="10579"/>
            <p14:sldId id="10580"/>
            <p14:sldId id="10558"/>
            <p14:sldId id="10682"/>
            <p14:sldId id="5435"/>
            <p14:sldId id="10681"/>
            <p14:sldId id="10967"/>
          </p14:sldIdLst>
        </p14:section>
        <p14:section name="The universal modeling framework (detailed)" id="{821755DE-5A4C-4C1D-9ABA-B5A3E99D2088}">
          <p14:sldIdLst>
            <p14:sldId id="10746"/>
            <p14:sldId id="10345"/>
            <p14:sldId id="10698"/>
            <p14:sldId id="10703"/>
            <p14:sldId id="10706"/>
            <p14:sldId id="10704"/>
            <p14:sldId id="10697"/>
            <p14:sldId id="10471"/>
            <p14:sldId id="10562"/>
            <p14:sldId id="6101"/>
            <p14:sldId id="5410"/>
            <p14:sldId id="10724"/>
            <p14:sldId id="10563"/>
            <p14:sldId id="5354"/>
            <p14:sldId id="10885"/>
            <p14:sldId id="10564"/>
            <p14:sldId id="5355"/>
            <p14:sldId id="5356"/>
            <p14:sldId id="10565"/>
            <p14:sldId id="5357"/>
            <p14:sldId id="10346"/>
            <p14:sldId id="10886"/>
            <p14:sldId id="10386"/>
            <p14:sldId id="10566"/>
            <p14:sldId id="5358"/>
            <p14:sldId id="10584"/>
            <p14:sldId id="10567"/>
            <p14:sldId id="5359"/>
            <p14:sldId id="10192"/>
            <p14:sldId id="10585"/>
            <p14:sldId id="10249"/>
            <p14:sldId id="10193"/>
            <p14:sldId id="10194"/>
            <p14:sldId id="10195"/>
            <p14:sldId id="10570"/>
            <p14:sldId id="10367"/>
            <p14:sldId id="10191"/>
            <p14:sldId id="10969"/>
          </p14:sldIdLst>
        </p14:section>
        <p14:section name="State variables" id="{EF92328B-1E57-457D-B684-87CD0E42401A}">
          <p14:sldIdLst>
            <p14:sldId id="10747"/>
            <p14:sldId id="9925"/>
            <p14:sldId id="10442"/>
            <p14:sldId id="10707"/>
            <p14:sldId id="10231"/>
            <p14:sldId id="5340"/>
            <p14:sldId id="5341"/>
            <p14:sldId id="5343"/>
            <p14:sldId id="10359"/>
            <p14:sldId id="10713"/>
            <p14:sldId id="10411"/>
            <p14:sldId id="10537"/>
            <p14:sldId id="10587"/>
            <p14:sldId id="8003"/>
            <p14:sldId id="5345"/>
            <p14:sldId id="5346"/>
            <p14:sldId id="5347"/>
            <p14:sldId id="5806"/>
            <p14:sldId id="5348"/>
            <p14:sldId id="5349"/>
            <p14:sldId id="10538"/>
            <p14:sldId id="5397"/>
            <p14:sldId id="10708"/>
            <p14:sldId id="10709"/>
            <p14:sldId id="6049"/>
            <p14:sldId id="6050"/>
            <p14:sldId id="6040"/>
            <p14:sldId id="10390"/>
            <p14:sldId id="10539"/>
            <p14:sldId id="10444"/>
            <p14:sldId id="5386"/>
            <p14:sldId id="10445"/>
            <p14:sldId id="5389"/>
            <p14:sldId id="5390"/>
            <p14:sldId id="5391"/>
            <p14:sldId id="5373"/>
            <p14:sldId id="10970"/>
          </p14:sldIdLst>
        </p14:section>
        <p14:section name="Modeling uncertainty" id="{273EC5AA-4BFE-49D9-AEE9-6F0DCC951FB4}">
          <p14:sldIdLst>
            <p14:sldId id="10973"/>
            <p14:sldId id="10975"/>
            <p14:sldId id="11002"/>
            <p14:sldId id="10992"/>
            <p14:sldId id="10976"/>
            <p14:sldId id="10997"/>
            <p14:sldId id="10990"/>
            <p14:sldId id="10980"/>
            <p14:sldId id="11020"/>
            <p14:sldId id="11003"/>
            <p14:sldId id="10977"/>
            <p14:sldId id="10981"/>
            <p14:sldId id="10982"/>
            <p14:sldId id="10983"/>
            <p14:sldId id="10984"/>
            <p14:sldId id="10985"/>
            <p14:sldId id="11004"/>
            <p14:sldId id="10986"/>
            <p14:sldId id="10998"/>
            <p14:sldId id="10999"/>
            <p14:sldId id="11000"/>
            <p14:sldId id="11005"/>
            <p14:sldId id="10979"/>
            <p14:sldId id="11007"/>
            <p14:sldId id="11008"/>
            <p14:sldId id="11013"/>
            <p14:sldId id="11014"/>
            <p14:sldId id="11016"/>
            <p14:sldId id="11017"/>
            <p14:sldId id="11009"/>
            <p14:sldId id="6048"/>
            <p14:sldId id="11015"/>
            <p14:sldId id="5487"/>
            <p14:sldId id="11018"/>
            <p14:sldId id="11021"/>
            <p14:sldId id="11019"/>
            <p14:sldId id="10974"/>
          </p14:sldIdLst>
        </p14:section>
        <p14:section name="Designing policies - overview" id="{41540112-45D0-49AB-B584-51A2771BCDA9}">
          <p14:sldIdLst>
            <p14:sldId id="10748"/>
            <p14:sldId id="7834"/>
            <p14:sldId id="7835"/>
            <p14:sldId id="307"/>
            <p14:sldId id="9747"/>
            <p14:sldId id="9748"/>
            <p14:sldId id="10504"/>
            <p14:sldId id="9767"/>
            <p14:sldId id="9856"/>
            <p14:sldId id="9750"/>
            <p14:sldId id="9751"/>
            <p14:sldId id="10669"/>
            <p14:sldId id="10672"/>
            <p14:sldId id="9763"/>
            <p14:sldId id="10040"/>
            <p14:sldId id="9873"/>
            <p14:sldId id="10391"/>
            <p14:sldId id="10392"/>
            <p14:sldId id="10393"/>
            <p14:sldId id="10394"/>
            <p14:sldId id="9836"/>
            <p14:sldId id="9758"/>
            <p14:sldId id="10041"/>
            <p14:sldId id="9760"/>
            <p14:sldId id="9768"/>
            <p14:sldId id="9950"/>
            <p14:sldId id="10686"/>
            <p14:sldId id="10726"/>
            <p14:sldId id="10687"/>
            <p14:sldId id="8862"/>
            <p14:sldId id="10189"/>
            <p14:sldId id="5775"/>
            <p14:sldId id="10971"/>
          </p14:sldIdLst>
        </p14:section>
        <p14:section name="Choosing policies" id="{E08E9834-D518-4D97-8BC2-73F067E8DD93}">
          <p14:sldIdLst>
            <p14:sldId id="10780"/>
            <p14:sldId id="10890"/>
            <p14:sldId id="10889"/>
            <p14:sldId id="10099"/>
            <p14:sldId id="10100"/>
            <p14:sldId id="10110"/>
            <p14:sldId id="9548"/>
            <p14:sldId id="9837"/>
            <p14:sldId id="7930"/>
            <p14:sldId id="8043"/>
            <p14:sldId id="9284"/>
            <p14:sldId id="10972"/>
          </p14:sldIdLst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187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335" Type="http://schemas.openxmlformats.org/officeDocument/2006/relationships/font" Target="fonts/font5.fntdata"/><Relationship Id="rId139" Type="http://schemas.openxmlformats.org/officeDocument/2006/relationships/slide" Target="slides/slide135.xml"/><Relationship Id="rId346" Type="http://schemas.openxmlformats.org/officeDocument/2006/relationships/font" Target="fonts/font16.fntdata"/><Relationship Id="rId150" Type="http://schemas.openxmlformats.org/officeDocument/2006/relationships/slide" Target="slides/slide146.xml"/><Relationship Id="rId161" Type="http://schemas.openxmlformats.org/officeDocument/2006/relationships/slide" Target="slides/slide157.xml"/><Relationship Id="rId172" Type="http://schemas.openxmlformats.org/officeDocument/2006/relationships/slide" Target="slides/slide168.xml"/><Relationship Id="rId337" Type="http://schemas.openxmlformats.org/officeDocument/2006/relationships/font" Target="fonts/font7.fntdata"/><Relationship Id="rId141" Type="http://schemas.openxmlformats.org/officeDocument/2006/relationships/slide" Target="slides/slide137.xml"/><Relationship Id="rId348" Type="http://schemas.openxmlformats.org/officeDocument/2006/relationships/presProps" Target="presProps.xml"/><Relationship Id="rId152" Type="http://schemas.openxmlformats.org/officeDocument/2006/relationships/slide" Target="slides/slide148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349" Type="http://schemas.openxmlformats.org/officeDocument/2006/relationships/viewProps" Target="viewProps.xml"/><Relationship Id="rId153" Type="http://schemas.openxmlformats.org/officeDocument/2006/relationships/slide" Target="slides/slide149.xml"/><Relationship Id="rId339" Type="http://schemas.openxmlformats.org/officeDocument/2006/relationships/font" Target="fonts/font9.fntdata"/><Relationship Id="rId143" Type="http://schemas.openxmlformats.org/officeDocument/2006/relationships/slide" Target="slides/slide139.xml"/><Relationship Id="rId164" Type="http://schemas.openxmlformats.org/officeDocument/2006/relationships/slide" Target="slides/slide160.xml"/><Relationship Id="rId350" Type="http://schemas.openxmlformats.org/officeDocument/2006/relationships/theme" Target="theme/theme1.xml"/><Relationship Id="rId154" Type="http://schemas.openxmlformats.org/officeDocument/2006/relationships/slide" Target="slides/slide150.xml"/><Relationship Id="rId340" Type="http://schemas.openxmlformats.org/officeDocument/2006/relationships/font" Target="fonts/font10.fntdata"/><Relationship Id="rId144" Type="http://schemas.openxmlformats.org/officeDocument/2006/relationships/slide" Target="slides/slide140.xml"/><Relationship Id="rId330" Type="http://schemas.openxmlformats.org/officeDocument/2006/relationships/notesMaster" Target="notesMasters/notesMaster1.xml"/><Relationship Id="rId165" Type="http://schemas.openxmlformats.org/officeDocument/2006/relationships/slide" Target="slides/slide161.xml"/><Relationship Id="rId351" Type="http://schemas.openxmlformats.org/officeDocument/2006/relationships/tableStyles" Target="tableStyles.xml"/><Relationship Id="rId155" Type="http://schemas.openxmlformats.org/officeDocument/2006/relationships/slide" Target="slides/slide151.xml"/><Relationship Id="rId341" Type="http://schemas.openxmlformats.org/officeDocument/2006/relationships/font" Target="fonts/font11.fntdata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331" Type="http://schemas.openxmlformats.org/officeDocument/2006/relationships/font" Target="fonts/font1.fntdata"/><Relationship Id="rId1" Type="http://schemas.openxmlformats.org/officeDocument/2006/relationships/customXml" Target="../customXml/item1.xml"/><Relationship Id="rId156" Type="http://schemas.openxmlformats.org/officeDocument/2006/relationships/slide" Target="slides/slide152.xml"/><Relationship Id="rId342" Type="http://schemas.openxmlformats.org/officeDocument/2006/relationships/font" Target="fonts/font12.fntdata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332" Type="http://schemas.openxmlformats.org/officeDocument/2006/relationships/font" Target="fonts/font2.fntdata"/><Relationship Id="rId2" Type="http://schemas.openxmlformats.org/officeDocument/2006/relationships/customXml" Target="../customXml/item2.xml"/><Relationship Id="rId157" Type="http://schemas.openxmlformats.org/officeDocument/2006/relationships/slide" Target="slides/slide153.xml"/><Relationship Id="rId343" Type="http://schemas.openxmlformats.org/officeDocument/2006/relationships/font" Target="fonts/font13.fntdata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333" Type="http://schemas.openxmlformats.org/officeDocument/2006/relationships/font" Target="fonts/font3.fntdata"/><Relationship Id="rId3" Type="http://schemas.openxmlformats.org/officeDocument/2006/relationships/customXml" Target="../customXml/item3.xml"/><Relationship Id="rId158" Type="http://schemas.openxmlformats.org/officeDocument/2006/relationships/slide" Target="slides/slide154.xml"/><Relationship Id="rId344" Type="http://schemas.openxmlformats.org/officeDocument/2006/relationships/font" Target="fonts/font14.fntdata"/><Relationship Id="rId148" Type="http://schemas.openxmlformats.org/officeDocument/2006/relationships/slide" Target="slides/slide144.xml"/><Relationship Id="rId169" Type="http://schemas.openxmlformats.org/officeDocument/2006/relationships/slide" Target="slides/slide165.xml"/><Relationship Id="rId33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345" Type="http://schemas.openxmlformats.org/officeDocument/2006/relationships/font" Target="fonts/font15.fntdata"/><Relationship Id="rId149" Type="http://schemas.openxmlformats.org/officeDocument/2006/relationships/slide" Target="slides/slide145.xml"/><Relationship Id="rId160" Type="http://schemas.openxmlformats.org/officeDocument/2006/relationships/slide" Target="slides/slide156.xml"/><Relationship Id="rId171" Type="http://schemas.openxmlformats.org/officeDocument/2006/relationships/slide" Target="slides/slide167.xml"/><Relationship Id="rId336" Type="http://schemas.openxmlformats.org/officeDocument/2006/relationships/font" Target="fonts/font6.fntdata"/><Relationship Id="rId140" Type="http://schemas.openxmlformats.org/officeDocument/2006/relationships/slide" Target="slides/slide136.xml"/><Relationship Id="rId347" Type="http://schemas.openxmlformats.org/officeDocument/2006/relationships/font" Target="fonts/font17.fntdata"/><Relationship Id="rId151" Type="http://schemas.openxmlformats.org/officeDocument/2006/relationships/slide" Target="slides/slide147.xml"/><Relationship Id="rId162" Type="http://schemas.openxmlformats.org/officeDocument/2006/relationships/slide" Target="slides/slide158.xml"/><Relationship Id="rId3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AB21F85-A6B4-CD45-B02E-05689E59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84477C97-136F-46CC-377C-459EB3AF8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FC2CE613-C012-B9C5-2D75-D95A2AB82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56527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92925DA-4AF9-2EAD-5501-7276E325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5DCF7C66-B38B-1BCB-4BEE-47C885A4B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C4DBF444-B17E-C27A-FF9C-A5E014735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50070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A84EACE-7010-A48E-DD59-A46213D3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C66F8F3C-C1FB-8C2D-E460-E9DC1824C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04EF3B0E-2862-5700-97CB-84D7CDFE0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0044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FC340-3B65-AAF0-3260-158159F1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54BEB-535F-72AA-4BDE-F0845434A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9CF4C-984C-6584-3968-E620BFFF8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93864-4131-CC3E-BF0F-A9DC1A039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721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A378DD6-014C-8EE2-ECD3-6EBDA9D2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4A6DAD61-2456-2159-DC5E-BDD44D755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CC106952-83EC-7E2E-4518-9ECC67885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45865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33D46C-89AE-4A94-BC2F-F53C71F8E042}" type="slidenum">
              <a:rPr lang="en-US" altLang="en-US"/>
              <a:pPr/>
              <a:t>158</a:t>
            </a:fld>
            <a:endParaRPr lang="en-US" altLang="en-US"/>
          </a:p>
        </p:txBody>
      </p:sp>
      <p:sp>
        <p:nvSpPr>
          <p:cNvPr id="241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8930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EFA35B-638C-4AB0-A3A8-3BD7B15C3871}" type="slidenum">
              <a:rPr lang="en-US" altLang="en-US"/>
              <a:pPr/>
              <a:t>159</a:t>
            </a:fld>
            <a:endParaRPr lang="en-US" altLang="en-US"/>
          </a:p>
        </p:txBody>
      </p:sp>
      <p:sp>
        <p:nvSpPr>
          <p:cNvPr id="2412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1445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BFD39A-16E4-4F42-91EA-795CC585C19C}" type="slidenum">
              <a:rPr lang="en-US" altLang="en-US"/>
              <a:pPr/>
              <a:t>160</a:t>
            </a:fld>
            <a:endParaRPr lang="en-US" altLang="en-US"/>
          </a:p>
        </p:txBody>
      </p:sp>
      <p:sp>
        <p:nvSpPr>
          <p:cNvPr id="2413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15748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46574B-267C-4863-908E-7B087447B043}" type="slidenum">
              <a:rPr lang="en-US" altLang="en-US"/>
              <a:pPr/>
              <a:t>161</a:t>
            </a:fld>
            <a:endParaRPr lang="en-US" altLang="en-US"/>
          </a:p>
        </p:txBody>
      </p:sp>
      <p:sp>
        <p:nvSpPr>
          <p:cNvPr id="241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0766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0A4693F-3EA0-044D-65C6-A5416711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9587F8F9-02FB-DE9B-B045-1BB0F25EA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C0CD930B-0761-6933-51E5-81FE3501CE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5555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4D7FA-AFF3-FF34-31C7-C38DB308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Rectangle 7">
            <a:extLst>
              <a:ext uri="{FF2B5EF4-FFF2-40B4-BE49-F238E27FC236}">
                <a16:creationId xmlns:a16="http://schemas.microsoft.com/office/drawing/2014/main" id="{792175A9-6D17-5A7B-68DD-55FD371854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7798" indent="-287615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50458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10642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70824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31007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91193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51372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11560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09B4027-4807-430D-9475-79E8E0CB46DC}" type="slidenum">
              <a:rPr lang="en-US" sz="1300"/>
              <a:pPr/>
              <a:t>165</a:t>
            </a:fld>
            <a:endParaRPr lang="en-US" sz="1300"/>
          </a:p>
        </p:txBody>
      </p:sp>
      <p:sp>
        <p:nvSpPr>
          <p:cNvPr id="696323" name="Rectangle 2">
            <a:extLst>
              <a:ext uri="{FF2B5EF4-FFF2-40B4-BE49-F238E27FC236}">
                <a16:creationId xmlns:a16="http://schemas.microsoft.com/office/drawing/2014/main" id="{ED1F4F13-B80E-6BD4-920A-B292C45E32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24" name="Rectangle 3">
            <a:extLst>
              <a:ext uri="{FF2B5EF4-FFF2-40B4-BE49-F238E27FC236}">
                <a16:creationId xmlns:a16="http://schemas.microsoft.com/office/drawing/2014/main" id="{771D84E4-4560-F2CF-D19A-CFA96146A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133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7798" indent="-287615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50458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10642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70824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31007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91193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51372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11560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33E7C2F-F437-486F-92BB-9F19626072D4}" type="slidenum">
              <a:rPr lang="en-US" sz="1300"/>
              <a:pPr/>
              <a:t>166</a:t>
            </a:fld>
            <a:endParaRPr lang="en-US" sz="1300"/>
          </a:p>
        </p:txBody>
      </p:sp>
      <p:sp>
        <p:nvSpPr>
          <p:cNvPr id="69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71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57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3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3" Type="http://schemas.openxmlformats.org/officeDocument/2006/relationships/image" Target="../media/image230.png"/><Relationship Id="rId7" Type="http://schemas.openxmlformats.org/officeDocument/2006/relationships/image" Target="../media/image2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emf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7" Type="http://schemas.openxmlformats.org/officeDocument/2006/relationships/image" Target="../media/image238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33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oleObject" Target="../embeddings/oleObject6.bin"/><Relationship Id="rId3" Type="http://schemas.openxmlformats.org/officeDocument/2006/relationships/image" Target="../media/image239.wmf"/><Relationship Id="rId7" Type="http://schemas.openxmlformats.org/officeDocument/2006/relationships/image" Target="../media/image241.wmf"/><Relationship Id="rId12" Type="http://schemas.openxmlformats.org/officeDocument/2006/relationships/image" Target="../media/image24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240.wmf"/><Relationship Id="rId10" Type="http://schemas.openxmlformats.org/officeDocument/2006/relationships/image" Target="../media/image243.png"/><Relationship Id="rId4" Type="http://schemas.openxmlformats.org/officeDocument/2006/relationships/oleObject" Target="../embeddings/oleObject3.bin"/><Relationship Id="rId9" Type="http://schemas.microsoft.com/office/2007/relationships/hdphoto" Target="../media/hdphoto10.wdp"/><Relationship Id="rId14" Type="http://schemas.openxmlformats.org/officeDocument/2006/relationships/image" Target="../media/image245.wmf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6.pn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61.png"/><Relationship Id="rId4" Type="http://schemas.openxmlformats.org/officeDocument/2006/relationships/image" Target="../media/image1750.pn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53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255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931.png"/><Relationship Id="rId4" Type="http://schemas.openxmlformats.org/officeDocument/2006/relationships/image" Target="../media/image254.wmf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3.png"/><Relationship Id="rId5" Type="http://schemas.openxmlformats.org/officeDocument/2006/relationships/image" Target="../media/image1953.png"/><Relationship Id="rId4" Type="http://schemas.openxmlformats.org/officeDocument/2006/relationships/image" Target="../media/image254.wmf"/><Relationship Id="rId9" Type="http://schemas.openxmlformats.org/officeDocument/2006/relationships/image" Target="../media/image1971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0.png"/><Relationship Id="rId5" Type="http://schemas.openxmlformats.org/officeDocument/2006/relationships/image" Target="../media/image1982.png"/><Relationship Id="rId4" Type="http://schemas.openxmlformats.org/officeDocument/2006/relationships/image" Target="../media/image254.wmf"/><Relationship Id="rId9" Type="http://schemas.openxmlformats.org/officeDocument/2006/relationships/image" Target="../media/image197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21.pn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2.png"/><Relationship Id="rId3" Type="http://schemas.openxmlformats.org/officeDocument/2006/relationships/image" Target="../media/image1842.png"/><Relationship Id="rId7" Type="http://schemas.openxmlformats.org/officeDocument/2006/relationships/image" Target="../media/image186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3.png"/><Relationship Id="rId5" Type="http://schemas.openxmlformats.org/officeDocument/2006/relationships/image" Target="../media/image1813.png"/><Relationship Id="rId4" Type="http://schemas.openxmlformats.org/officeDocument/2006/relationships/image" Target="../media/image1803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2.png"/><Relationship Id="rId3" Type="http://schemas.openxmlformats.org/officeDocument/2006/relationships/image" Target="../media/image2000.png"/><Relationship Id="rId7" Type="http://schemas.openxmlformats.org/officeDocument/2006/relationships/image" Target="../media/image207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3.png"/><Relationship Id="rId5" Type="http://schemas.openxmlformats.org/officeDocument/2006/relationships/image" Target="../media/image2061.png"/><Relationship Id="rId4" Type="http://schemas.openxmlformats.org/officeDocument/2006/relationships/image" Target="../media/image2052.png"/><Relationship Id="rId9" Type="http://schemas.openxmlformats.org/officeDocument/2006/relationships/image" Target="../media/image2102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2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B91D4-4CE1-39A1-F55B-62ED5656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7D639E2-C22C-D38F-DAB4-EE9AD809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B8A5BFB-30CA-366F-A723-7FC475EB86D8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5EF4C2A-59B7-99EB-D63F-23B8075A1F6C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2FC989-4EF3-57AC-937A-EE3245995117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1340A8-FEE3-7981-DC82-27ABAEC68FD8}"/>
              </a:ext>
            </a:extLst>
          </p:cNvPr>
          <p:cNvSpPr txBox="1">
            <a:spLocks/>
          </p:cNvSpPr>
          <p:nvPr/>
        </p:nvSpPr>
        <p:spPr>
          <a:xfrm>
            <a:off x="1212348" y="2751400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</a:rPr>
              <a:t>Estimation methods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This module provides a high level overview of some of the most useful machine learning techniques that arise in the context of sequential decision problems.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457AB9-607E-7D0B-DCFE-DD5668A44D64}"/>
              </a:ext>
            </a:extLst>
          </p:cNvPr>
          <p:cNvSpPr txBox="1">
            <a:spLocks/>
          </p:cNvSpPr>
          <p:nvPr/>
        </p:nvSpPr>
        <p:spPr>
          <a:xfrm>
            <a:off x="1214274" y="5160862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Some use of notation.  Most (but not all) of the concepts are communicated visually.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2B540E9-3FBF-5777-8FF4-8F4F4B16119A}"/>
              </a:ext>
            </a:extLst>
          </p:cNvPr>
          <p:cNvSpPr txBox="1">
            <a:spLocks/>
          </p:cNvSpPr>
          <p:nvPr/>
        </p:nvSpPr>
        <p:spPr>
          <a:xfrm>
            <a:off x="1214274" y="3887648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 None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E402D8-56E0-75C3-52A6-AE8F17B96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1328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1DCD147-2EB2-1315-AAC2-F50A139B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154D0-1CC6-F658-D062-5F9737365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C76BED2E-F8D8-0482-D0ED-569F66374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11D2E080-9F57-7671-0287-C4AF23E05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Functions we may need to estimate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Approximation strategies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Exploiting structure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Batch vs. recursive learning</a:t>
            </a:r>
          </a:p>
        </p:txBody>
      </p:sp>
    </p:spTree>
    <p:extLst>
      <p:ext uri="{BB962C8B-B14F-4D97-AF65-F5344CB8AC3E}">
        <p14:creationId xmlns:p14="http://schemas.microsoft.com/office/powerpoint/2010/main" val="172291475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7A89748-3FEA-28F2-B2A2-19EA4660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8BB94-906B-50B4-EF12-80ECD90A2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DFB1791C-B03B-67D2-0E67-A5E9A883D2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5944FD9A-4F85-5857-4B5D-3B6336D23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Functions we may need to estimate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Approximation strategies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Exploiting structure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Batch vs. recursive learning</a:t>
            </a:r>
          </a:p>
        </p:txBody>
      </p:sp>
    </p:spTree>
    <p:extLst>
      <p:ext uri="{BB962C8B-B14F-4D97-AF65-F5344CB8AC3E}">
        <p14:creationId xmlns:p14="http://schemas.microsoft.com/office/powerpoint/2010/main" val="306438424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Learning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0092" y="1279489"/>
                <a:ext cx="10363200" cy="482908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Classes of learning problems in stochastic optimization</a:t>
                </a:r>
              </a:p>
              <a:p>
                <a:pPr marL="457200" lvl="1" indent="0">
                  <a:buNone/>
                </a:pPr>
                <a:r>
                  <a:rPr lang="en-US" dirty="0"/>
                  <a:t>1) Approximating the performance of a policy (the objective function)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dirty="0"/>
                  <a:t>2) Designing a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dirty="0"/>
                  <a:t>3) A value function approximation </a:t>
                </a:r>
              </a:p>
              <a:p>
                <a:pPr marL="457200" lvl="1" indent="0">
                  <a:buNone/>
                </a:pPr>
                <a:r>
                  <a:rPr lang="en-US" b="0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dirty="0"/>
                  <a:t>4) Designing a cost function approximation:</a:t>
                </a:r>
              </a:p>
              <a:p>
                <a:pPr lvl="2"/>
                <a:r>
                  <a:rPr lang="en-US" dirty="0"/>
                  <a:t>The reward/cost/contribution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Parameterizing a deterministic optimization model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5) Approximating the transition function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092" y="1279489"/>
                <a:ext cx="10363200" cy="4829080"/>
              </a:xfrm>
              <a:blipFill>
                <a:blip r:embed="rId2"/>
                <a:stretch>
                  <a:fillRect l="-353" r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53291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6BAEE6A-4BAE-2A9E-F61B-01590571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9349E6-EF85-C89C-3688-CDD3899B0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92B01073-A886-367C-11F0-290B1F81A9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8B05A000-73B4-C4AC-2575-CD2E104BBA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Functions we may need to estimate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Approximation strategies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Exploiting structure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Batch vs. recursive learning</a:t>
            </a:r>
          </a:p>
        </p:txBody>
      </p:sp>
    </p:spTree>
    <p:extLst>
      <p:ext uri="{BB962C8B-B14F-4D97-AF65-F5344CB8AC3E}">
        <p14:creationId xmlns:p14="http://schemas.microsoft.com/office/powerpoint/2010/main" val="27663016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970E-B79D-4DF5-A409-16944ED4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F890-1882-6951-63FE-819A9ED9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Approximation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81797-3E38-7573-C4B3-FD62CB9D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8" y="1143000"/>
            <a:ext cx="6573610" cy="49530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Approximation strategies</a:t>
            </a:r>
          </a:p>
          <a:p>
            <a:pPr lvl="1"/>
            <a:r>
              <a:rPr lang="en-US" sz="2000" dirty="0"/>
              <a:t>Lookup tables</a:t>
            </a:r>
          </a:p>
          <a:p>
            <a:pPr lvl="2"/>
            <a:r>
              <a:rPr lang="en-US" sz="1600" dirty="0"/>
              <a:t>Independent beliefs </a:t>
            </a:r>
          </a:p>
          <a:p>
            <a:pPr lvl="2"/>
            <a:r>
              <a:rPr lang="en-US" sz="1600" dirty="0"/>
              <a:t>Correlated beliefs </a:t>
            </a:r>
          </a:p>
          <a:p>
            <a:pPr marL="914400" lvl="2" indent="0">
              <a:buNone/>
            </a:pPr>
            <a:endParaRPr lang="en-US" sz="1100" dirty="0"/>
          </a:p>
          <a:p>
            <a:pPr lvl="1"/>
            <a:r>
              <a:rPr lang="en-US" sz="2000" dirty="0"/>
              <a:t>Parametric models</a:t>
            </a:r>
          </a:p>
          <a:p>
            <a:pPr lvl="2"/>
            <a:r>
              <a:rPr lang="en-US" sz="1600" dirty="0"/>
              <a:t>Linear models</a:t>
            </a:r>
          </a:p>
          <a:p>
            <a:pPr lvl="3"/>
            <a:r>
              <a:rPr lang="en-US" sz="1600" dirty="0"/>
              <a:t>Linear models </a:t>
            </a:r>
          </a:p>
          <a:p>
            <a:pPr lvl="3"/>
            <a:r>
              <a:rPr lang="en-US" sz="1600" dirty="0"/>
              <a:t>Sparse-linear</a:t>
            </a:r>
          </a:p>
          <a:p>
            <a:pPr lvl="3"/>
            <a:r>
              <a:rPr lang="en-US" sz="1600" dirty="0"/>
              <a:t>Tree regression</a:t>
            </a:r>
          </a:p>
          <a:p>
            <a:pPr lvl="2"/>
            <a:endParaRPr lang="en-US" sz="1100" dirty="0"/>
          </a:p>
          <a:p>
            <a:pPr lvl="2"/>
            <a:r>
              <a:rPr lang="en-US" sz="1600" dirty="0"/>
              <a:t>Nonlinear models</a:t>
            </a:r>
          </a:p>
          <a:p>
            <a:pPr lvl="3"/>
            <a:r>
              <a:rPr lang="en-US" sz="1600" dirty="0"/>
              <a:t>Logistic regression</a:t>
            </a:r>
          </a:p>
          <a:p>
            <a:pPr lvl="3"/>
            <a:r>
              <a:rPr lang="en-US" sz="1600" dirty="0"/>
              <a:t>Neural networks </a:t>
            </a:r>
          </a:p>
          <a:p>
            <a:pPr marL="914400" lvl="2" indent="0">
              <a:buNone/>
            </a:pPr>
            <a:endParaRPr lang="en-US" sz="1100" dirty="0"/>
          </a:p>
          <a:p>
            <a:pPr lvl="1"/>
            <a:r>
              <a:rPr lang="en-US" sz="2000" dirty="0"/>
              <a:t>Nonparametric models</a:t>
            </a:r>
          </a:p>
          <a:p>
            <a:pPr lvl="2"/>
            <a:r>
              <a:rPr lang="en-US" sz="1600" dirty="0"/>
              <a:t>Gaussian process regression</a:t>
            </a:r>
          </a:p>
          <a:p>
            <a:pPr lvl="2"/>
            <a:r>
              <a:rPr lang="en-US" sz="1600" dirty="0"/>
              <a:t>Kernel regression</a:t>
            </a:r>
          </a:p>
          <a:p>
            <a:pPr lvl="2"/>
            <a:r>
              <a:rPr lang="en-US" sz="1600" dirty="0"/>
              <a:t>Support vector machines</a:t>
            </a:r>
          </a:p>
          <a:p>
            <a:pPr lvl="2"/>
            <a:r>
              <a:rPr lang="en-US" sz="1600" dirty="0"/>
              <a:t>Deep neural networks </a:t>
            </a:r>
          </a:p>
          <a:p>
            <a:pPr lvl="1"/>
            <a:endParaRPr lang="en-US" sz="2000" dirty="0"/>
          </a:p>
          <a:p>
            <a:pPr lvl="2"/>
            <a:endParaRPr lang="en-US" sz="1800" dirty="0"/>
          </a:p>
        </p:txBody>
      </p:sp>
      <p:pic>
        <p:nvPicPr>
          <p:cNvPr id="75" name="Picture 2">
            <a:extLst>
              <a:ext uri="{FF2B5EF4-FFF2-40B4-BE49-F238E27FC236}">
                <a16:creationId xmlns:a16="http://schemas.microsoft.com/office/drawing/2014/main" id="{B191ABE3-9726-DCCA-368C-C9F916EE3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420" y="1338240"/>
            <a:ext cx="2597586" cy="146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" name="Picture 3">
            <a:extLst>
              <a:ext uri="{FF2B5EF4-FFF2-40B4-BE49-F238E27FC236}">
                <a16:creationId xmlns:a16="http://schemas.microsoft.com/office/drawing/2014/main" id="{2A77AE0F-408C-F48A-B5CD-337DC5725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843" y="1235504"/>
            <a:ext cx="2585752" cy="1562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Picture 4">
            <a:extLst>
              <a:ext uri="{FF2B5EF4-FFF2-40B4-BE49-F238E27FC236}">
                <a16:creationId xmlns:a16="http://schemas.microsoft.com/office/drawing/2014/main" id="{FE749720-591E-E796-5A37-5CA25DE35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152" y="1224618"/>
            <a:ext cx="2573918" cy="1562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DB676453-B895-79A7-CCE8-1CFAB862BF4C}"/>
              </a:ext>
            </a:extLst>
          </p:cNvPr>
          <p:cNvGrpSpPr/>
          <p:nvPr/>
        </p:nvGrpSpPr>
        <p:grpSpPr>
          <a:xfrm>
            <a:off x="7184572" y="2982686"/>
            <a:ext cx="2474499" cy="762000"/>
            <a:chOff x="5660571" y="2982686"/>
            <a:chExt cx="2474499" cy="76200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B2FF586-CBAC-E6C3-434B-E485925CE5BF}"/>
                </a:ext>
              </a:extLst>
            </p:cNvPr>
            <p:cNvCxnSpPr/>
            <p:nvPr/>
          </p:nvCxnSpPr>
          <p:spPr bwMode="auto">
            <a:xfrm flipV="1">
              <a:off x="5660571" y="2982686"/>
              <a:ext cx="0" cy="76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08A0503-5822-DAAE-0B76-393377000346}"/>
                </a:ext>
              </a:extLst>
            </p:cNvPr>
            <p:cNvCxnSpPr/>
            <p:nvPr/>
          </p:nvCxnSpPr>
          <p:spPr bwMode="auto">
            <a:xfrm>
              <a:off x="5660577" y="3733806"/>
              <a:ext cx="247449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8DC4660-36F0-17ED-3DCB-42D8C909C875}"/>
              </a:ext>
            </a:extLst>
          </p:cNvPr>
          <p:cNvCxnSpPr/>
          <p:nvPr/>
        </p:nvCxnSpPr>
        <p:spPr bwMode="auto">
          <a:xfrm>
            <a:off x="7347857" y="3135087"/>
            <a:ext cx="2144486" cy="46808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3395D46-B0FB-2F30-A820-7BA1EB8F8BB5}"/>
              </a:ext>
            </a:extLst>
          </p:cNvPr>
          <p:cNvCxnSpPr/>
          <p:nvPr/>
        </p:nvCxnSpPr>
        <p:spPr bwMode="auto">
          <a:xfrm>
            <a:off x="7347857" y="3320144"/>
            <a:ext cx="2144486" cy="2286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81DEFC0-9E07-452C-B2D6-333958C79AB4}"/>
              </a:ext>
            </a:extLst>
          </p:cNvPr>
          <p:cNvCxnSpPr/>
          <p:nvPr/>
        </p:nvCxnSpPr>
        <p:spPr bwMode="auto">
          <a:xfrm>
            <a:off x="7500258" y="2982686"/>
            <a:ext cx="1556657" cy="6858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C2211316-2535-A529-1EA8-85F701BEBE26}"/>
              </a:ext>
            </a:extLst>
          </p:cNvPr>
          <p:cNvGrpSpPr/>
          <p:nvPr/>
        </p:nvGrpSpPr>
        <p:grpSpPr>
          <a:xfrm>
            <a:off x="6904633" y="2906203"/>
            <a:ext cx="2934957" cy="1031564"/>
            <a:chOff x="109695" y="3548744"/>
            <a:chExt cx="2934957" cy="10315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C295FC-43A0-126A-F2D7-8D702CF58E6A}"/>
                </a:ext>
              </a:extLst>
            </p:cNvPr>
            <p:cNvSpPr/>
            <p:nvPr/>
          </p:nvSpPr>
          <p:spPr>
            <a:xfrm>
              <a:off x="109695" y="3548744"/>
              <a:ext cx="2934957" cy="1031564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5D01EEE0-A93E-D747-3754-124666269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lum bright="-20000" contrast="-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95" y="3589493"/>
              <a:ext cx="2889881" cy="968829"/>
            </a:xfrm>
            <a:prstGeom prst="rect">
              <a:avLst/>
            </a:prstGeom>
          </p:spPr>
        </p:pic>
      </p:grpSp>
      <p:pic>
        <p:nvPicPr>
          <p:cNvPr id="102402" name="Picture 2">
            <a:extLst>
              <a:ext uri="{FF2B5EF4-FFF2-40B4-BE49-F238E27FC236}">
                <a16:creationId xmlns:a16="http://schemas.microsoft.com/office/drawing/2014/main" id="{E15E66F7-C3D9-DF03-65D6-EBA360CA2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543" y="5265337"/>
            <a:ext cx="3013756" cy="150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CB103B-A5C3-A162-8F86-1BC448E9E8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4571" y="3874490"/>
            <a:ext cx="2924728" cy="141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060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Approximation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1" y="1143000"/>
            <a:ext cx="6587544" cy="49530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Lookup tables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Independent beliefs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Correlated beliefs</a:t>
            </a:r>
          </a:p>
          <a:p>
            <a:pPr lvl="2"/>
            <a:r>
              <a:rPr lang="en-US" dirty="0"/>
              <a:t>A few dozen observations can teach us about thousands of points.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Hierarchical models</a:t>
            </a:r>
          </a:p>
          <a:p>
            <a:pPr lvl="2"/>
            <a:r>
              <a:rPr lang="en-US" dirty="0"/>
              <a:t>Create beliefs at different levels of aggregation and then use weighted combinations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045" y="1575740"/>
            <a:ext cx="2597586" cy="146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68" y="1473004"/>
            <a:ext cx="2585752" cy="1562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652" y="3100868"/>
            <a:ext cx="2573918" cy="1562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158304"/>
              </p:ext>
            </p:extLst>
          </p:nvPr>
        </p:nvGraphicFramePr>
        <p:xfrm>
          <a:off x="2027238" y="2535238"/>
          <a:ext cx="336391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30320" imgH="253800" progId="Equation.DSMT4">
                  <p:embed/>
                </p:oleObj>
              </mc:Choice>
              <mc:Fallback>
                <p:oleObj name="Equation" r:id="rId5" imgW="1930320" imgH="25380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27238" y="2535238"/>
                        <a:ext cx="3363912" cy="442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057" y="4773874"/>
            <a:ext cx="3097870" cy="1738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Freeform 10"/>
          <p:cNvSpPr/>
          <p:nvPr/>
        </p:nvSpPr>
        <p:spPr bwMode="auto">
          <a:xfrm>
            <a:off x="7239000" y="5279400"/>
            <a:ext cx="2901950" cy="419100"/>
          </a:xfrm>
          <a:custGeom>
            <a:avLst/>
            <a:gdLst>
              <a:gd name="connsiteX0" fmla="*/ 0 w 2901950"/>
              <a:gd name="connsiteY0" fmla="*/ 0 h 463550"/>
              <a:gd name="connsiteX1" fmla="*/ 1435100 w 2901950"/>
              <a:gd name="connsiteY1" fmla="*/ 0 h 463550"/>
              <a:gd name="connsiteX2" fmla="*/ 1460500 w 2901950"/>
              <a:gd name="connsiteY2" fmla="*/ 463550 h 463550"/>
              <a:gd name="connsiteX3" fmla="*/ 1708150 w 2901950"/>
              <a:gd name="connsiteY3" fmla="*/ 457200 h 463550"/>
              <a:gd name="connsiteX4" fmla="*/ 1854200 w 2901950"/>
              <a:gd name="connsiteY4" fmla="*/ 457200 h 463550"/>
              <a:gd name="connsiteX5" fmla="*/ 2901950 w 2901950"/>
              <a:gd name="connsiteY5" fmla="*/ 438150 h 463550"/>
              <a:gd name="connsiteX6" fmla="*/ 2901950 w 2901950"/>
              <a:gd name="connsiteY6" fmla="*/ 43815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01950" h="463550">
                <a:moveTo>
                  <a:pt x="0" y="0"/>
                </a:moveTo>
                <a:lnTo>
                  <a:pt x="1435100" y="0"/>
                </a:lnTo>
                <a:lnTo>
                  <a:pt x="1460500" y="463550"/>
                </a:lnTo>
                <a:lnTo>
                  <a:pt x="1708150" y="457200"/>
                </a:lnTo>
                <a:lnTo>
                  <a:pt x="1854200" y="457200"/>
                </a:lnTo>
                <a:lnTo>
                  <a:pt x="2901950" y="438150"/>
                </a:lnTo>
                <a:lnTo>
                  <a:pt x="2901950" y="43815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>
            <a:off x="7210574" y="5205608"/>
            <a:ext cx="2890837" cy="657224"/>
          </a:xfrm>
          <a:custGeom>
            <a:avLst/>
            <a:gdLst>
              <a:gd name="connsiteX0" fmla="*/ 0 w 2890837"/>
              <a:gd name="connsiteY0" fmla="*/ 142875 h 661987"/>
              <a:gd name="connsiteX1" fmla="*/ 342900 w 2890837"/>
              <a:gd name="connsiteY1" fmla="*/ 142875 h 661987"/>
              <a:gd name="connsiteX2" fmla="*/ 342900 w 2890837"/>
              <a:gd name="connsiteY2" fmla="*/ 42862 h 661987"/>
              <a:gd name="connsiteX3" fmla="*/ 581025 w 2890837"/>
              <a:gd name="connsiteY3" fmla="*/ 42862 h 661987"/>
              <a:gd name="connsiteX4" fmla="*/ 566737 w 2890837"/>
              <a:gd name="connsiteY4" fmla="*/ 47625 h 661987"/>
              <a:gd name="connsiteX5" fmla="*/ 566737 w 2890837"/>
              <a:gd name="connsiteY5" fmla="*/ 0 h 661987"/>
              <a:gd name="connsiteX6" fmla="*/ 685800 w 2890837"/>
              <a:gd name="connsiteY6" fmla="*/ 0 h 661987"/>
              <a:gd name="connsiteX7" fmla="*/ 709612 w 2890837"/>
              <a:gd name="connsiteY7" fmla="*/ 119062 h 661987"/>
              <a:gd name="connsiteX8" fmla="*/ 814387 w 2890837"/>
              <a:gd name="connsiteY8" fmla="*/ 119062 h 661987"/>
              <a:gd name="connsiteX9" fmla="*/ 814387 w 2890837"/>
              <a:gd name="connsiteY9" fmla="*/ 38100 h 661987"/>
              <a:gd name="connsiteX10" fmla="*/ 904875 w 2890837"/>
              <a:gd name="connsiteY10" fmla="*/ 52387 h 661987"/>
              <a:gd name="connsiteX11" fmla="*/ 914400 w 2890837"/>
              <a:gd name="connsiteY11" fmla="*/ 176212 h 661987"/>
              <a:gd name="connsiteX12" fmla="*/ 1019175 w 2890837"/>
              <a:gd name="connsiteY12" fmla="*/ 180975 h 661987"/>
              <a:gd name="connsiteX13" fmla="*/ 1042987 w 2890837"/>
              <a:gd name="connsiteY13" fmla="*/ 123825 h 661987"/>
              <a:gd name="connsiteX14" fmla="*/ 1166812 w 2890837"/>
              <a:gd name="connsiteY14" fmla="*/ 128587 h 661987"/>
              <a:gd name="connsiteX15" fmla="*/ 1195387 w 2890837"/>
              <a:gd name="connsiteY15" fmla="*/ 266700 h 661987"/>
              <a:gd name="connsiteX16" fmla="*/ 1381125 w 2890837"/>
              <a:gd name="connsiteY16" fmla="*/ 271462 h 661987"/>
              <a:gd name="connsiteX17" fmla="*/ 1385887 w 2890837"/>
              <a:gd name="connsiteY17" fmla="*/ 395287 h 661987"/>
              <a:gd name="connsiteX18" fmla="*/ 1481137 w 2890837"/>
              <a:gd name="connsiteY18" fmla="*/ 385762 h 661987"/>
              <a:gd name="connsiteX19" fmla="*/ 1509712 w 2890837"/>
              <a:gd name="connsiteY19" fmla="*/ 566737 h 661987"/>
              <a:gd name="connsiteX20" fmla="*/ 1666875 w 2890837"/>
              <a:gd name="connsiteY20" fmla="*/ 557212 h 661987"/>
              <a:gd name="connsiteX21" fmla="*/ 1671637 w 2890837"/>
              <a:gd name="connsiteY21" fmla="*/ 404812 h 661987"/>
              <a:gd name="connsiteX22" fmla="*/ 1833562 w 2890837"/>
              <a:gd name="connsiteY22" fmla="*/ 419100 h 661987"/>
              <a:gd name="connsiteX23" fmla="*/ 1847850 w 2890837"/>
              <a:gd name="connsiteY23" fmla="*/ 547687 h 661987"/>
              <a:gd name="connsiteX24" fmla="*/ 1938337 w 2890837"/>
              <a:gd name="connsiteY24" fmla="*/ 547687 h 661987"/>
              <a:gd name="connsiteX25" fmla="*/ 1919287 w 2890837"/>
              <a:gd name="connsiteY25" fmla="*/ 661987 h 661987"/>
              <a:gd name="connsiteX26" fmla="*/ 2195512 w 2890837"/>
              <a:gd name="connsiteY26" fmla="*/ 652462 h 661987"/>
              <a:gd name="connsiteX27" fmla="*/ 2219325 w 2890837"/>
              <a:gd name="connsiteY27" fmla="*/ 585787 h 661987"/>
              <a:gd name="connsiteX28" fmla="*/ 2643187 w 2890837"/>
              <a:gd name="connsiteY28" fmla="*/ 590550 h 661987"/>
              <a:gd name="connsiteX29" fmla="*/ 2657475 w 2890837"/>
              <a:gd name="connsiteY29" fmla="*/ 438150 h 661987"/>
              <a:gd name="connsiteX30" fmla="*/ 2767012 w 2890837"/>
              <a:gd name="connsiteY30" fmla="*/ 438150 h 661987"/>
              <a:gd name="connsiteX31" fmla="*/ 2805112 w 2890837"/>
              <a:gd name="connsiteY31" fmla="*/ 604837 h 661987"/>
              <a:gd name="connsiteX32" fmla="*/ 2890837 w 2890837"/>
              <a:gd name="connsiteY32" fmla="*/ 585787 h 661987"/>
              <a:gd name="connsiteX0" fmla="*/ 0 w 2890837"/>
              <a:gd name="connsiteY0" fmla="*/ 142875 h 661987"/>
              <a:gd name="connsiteX1" fmla="*/ 342900 w 2890837"/>
              <a:gd name="connsiteY1" fmla="*/ 142875 h 661987"/>
              <a:gd name="connsiteX2" fmla="*/ 342900 w 2890837"/>
              <a:gd name="connsiteY2" fmla="*/ 42862 h 661987"/>
              <a:gd name="connsiteX3" fmla="*/ 581025 w 2890837"/>
              <a:gd name="connsiteY3" fmla="*/ 42862 h 661987"/>
              <a:gd name="connsiteX4" fmla="*/ 566737 w 2890837"/>
              <a:gd name="connsiteY4" fmla="*/ 47625 h 661987"/>
              <a:gd name="connsiteX5" fmla="*/ 566737 w 2890837"/>
              <a:gd name="connsiteY5" fmla="*/ 0 h 661987"/>
              <a:gd name="connsiteX6" fmla="*/ 685800 w 2890837"/>
              <a:gd name="connsiteY6" fmla="*/ 0 h 661987"/>
              <a:gd name="connsiteX7" fmla="*/ 709612 w 2890837"/>
              <a:gd name="connsiteY7" fmla="*/ 119062 h 661987"/>
              <a:gd name="connsiteX8" fmla="*/ 814387 w 2890837"/>
              <a:gd name="connsiteY8" fmla="*/ 119062 h 661987"/>
              <a:gd name="connsiteX9" fmla="*/ 814387 w 2890837"/>
              <a:gd name="connsiteY9" fmla="*/ 38100 h 661987"/>
              <a:gd name="connsiteX10" fmla="*/ 904875 w 2890837"/>
              <a:gd name="connsiteY10" fmla="*/ 52387 h 661987"/>
              <a:gd name="connsiteX11" fmla="*/ 914400 w 2890837"/>
              <a:gd name="connsiteY11" fmla="*/ 176212 h 661987"/>
              <a:gd name="connsiteX12" fmla="*/ 1019175 w 2890837"/>
              <a:gd name="connsiteY12" fmla="*/ 180975 h 661987"/>
              <a:gd name="connsiteX13" fmla="*/ 1042987 w 2890837"/>
              <a:gd name="connsiteY13" fmla="*/ 123825 h 661987"/>
              <a:gd name="connsiteX14" fmla="*/ 1166812 w 2890837"/>
              <a:gd name="connsiteY14" fmla="*/ 128587 h 661987"/>
              <a:gd name="connsiteX15" fmla="*/ 1195387 w 2890837"/>
              <a:gd name="connsiteY15" fmla="*/ 266700 h 661987"/>
              <a:gd name="connsiteX16" fmla="*/ 1381125 w 2890837"/>
              <a:gd name="connsiteY16" fmla="*/ 271462 h 661987"/>
              <a:gd name="connsiteX17" fmla="*/ 1385887 w 2890837"/>
              <a:gd name="connsiteY17" fmla="*/ 395287 h 661987"/>
              <a:gd name="connsiteX18" fmla="*/ 1481137 w 2890837"/>
              <a:gd name="connsiteY18" fmla="*/ 385762 h 661987"/>
              <a:gd name="connsiteX19" fmla="*/ 1509712 w 2890837"/>
              <a:gd name="connsiteY19" fmla="*/ 566737 h 661987"/>
              <a:gd name="connsiteX20" fmla="*/ 1666875 w 2890837"/>
              <a:gd name="connsiteY20" fmla="*/ 557212 h 661987"/>
              <a:gd name="connsiteX21" fmla="*/ 1671637 w 2890837"/>
              <a:gd name="connsiteY21" fmla="*/ 404812 h 661987"/>
              <a:gd name="connsiteX22" fmla="*/ 1833562 w 2890837"/>
              <a:gd name="connsiteY22" fmla="*/ 400050 h 661987"/>
              <a:gd name="connsiteX23" fmla="*/ 1847850 w 2890837"/>
              <a:gd name="connsiteY23" fmla="*/ 547687 h 661987"/>
              <a:gd name="connsiteX24" fmla="*/ 1938337 w 2890837"/>
              <a:gd name="connsiteY24" fmla="*/ 547687 h 661987"/>
              <a:gd name="connsiteX25" fmla="*/ 1919287 w 2890837"/>
              <a:gd name="connsiteY25" fmla="*/ 661987 h 661987"/>
              <a:gd name="connsiteX26" fmla="*/ 2195512 w 2890837"/>
              <a:gd name="connsiteY26" fmla="*/ 652462 h 661987"/>
              <a:gd name="connsiteX27" fmla="*/ 2219325 w 2890837"/>
              <a:gd name="connsiteY27" fmla="*/ 585787 h 661987"/>
              <a:gd name="connsiteX28" fmla="*/ 2643187 w 2890837"/>
              <a:gd name="connsiteY28" fmla="*/ 590550 h 661987"/>
              <a:gd name="connsiteX29" fmla="*/ 2657475 w 2890837"/>
              <a:gd name="connsiteY29" fmla="*/ 438150 h 661987"/>
              <a:gd name="connsiteX30" fmla="*/ 2767012 w 2890837"/>
              <a:gd name="connsiteY30" fmla="*/ 438150 h 661987"/>
              <a:gd name="connsiteX31" fmla="*/ 2805112 w 2890837"/>
              <a:gd name="connsiteY31" fmla="*/ 604837 h 661987"/>
              <a:gd name="connsiteX32" fmla="*/ 2890837 w 2890837"/>
              <a:gd name="connsiteY32" fmla="*/ 585787 h 661987"/>
              <a:gd name="connsiteX0" fmla="*/ 0 w 2890837"/>
              <a:gd name="connsiteY0" fmla="*/ 142875 h 661987"/>
              <a:gd name="connsiteX1" fmla="*/ 342900 w 2890837"/>
              <a:gd name="connsiteY1" fmla="*/ 142875 h 661987"/>
              <a:gd name="connsiteX2" fmla="*/ 342900 w 2890837"/>
              <a:gd name="connsiteY2" fmla="*/ 42862 h 661987"/>
              <a:gd name="connsiteX3" fmla="*/ 581025 w 2890837"/>
              <a:gd name="connsiteY3" fmla="*/ 42862 h 661987"/>
              <a:gd name="connsiteX4" fmla="*/ 566737 w 2890837"/>
              <a:gd name="connsiteY4" fmla="*/ 47625 h 661987"/>
              <a:gd name="connsiteX5" fmla="*/ 566737 w 2890837"/>
              <a:gd name="connsiteY5" fmla="*/ 0 h 661987"/>
              <a:gd name="connsiteX6" fmla="*/ 685800 w 2890837"/>
              <a:gd name="connsiteY6" fmla="*/ 0 h 661987"/>
              <a:gd name="connsiteX7" fmla="*/ 709612 w 2890837"/>
              <a:gd name="connsiteY7" fmla="*/ 119062 h 661987"/>
              <a:gd name="connsiteX8" fmla="*/ 814387 w 2890837"/>
              <a:gd name="connsiteY8" fmla="*/ 119062 h 661987"/>
              <a:gd name="connsiteX9" fmla="*/ 814387 w 2890837"/>
              <a:gd name="connsiteY9" fmla="*/ 38100 h 661987"/>
              <a:gd name="connsiteX10" fmla="*/ 909638 w 2890837"/>
              <a:gd name="connsiteY10" fmla="*/ 47624 h 661987"/>
              <a:gd name="connsiteX11" fmla="*/ 914400 w 2890837"/>
              <a:gd name="connsiteY11" fmla="*/ 176212 h 661987"/>
              <a:gd name="connsiteX12" fmla="*/ 1019175 w 2890837"/>
              <a:gd name="connsiteY12" fmla="*/ 180975 h 661987"/>
              <a:gd name="connsiteX13" fmla="*/ 1042987 w 2890837"/>
              <a:gd name="connsiteY13" fmla="*/ 123825 h 661987"/>
              <a:gd name="connsiteX14" fmla="*/ 1166812 w 2890837"/>
              <a:gd name="connsiteY14" fmla="*/ 128587 h 661987"/>
              <a:gd name="connsiteX15" fmla="*/ 1195387 w 2890837"/>
              <a:gd name="connsiteY15" fmla="*/ 266700 h 661987"/>
              <a:gd name="connsiteX16" fmla="*/ 1381125 w 2890837"/>
              <a:gd name="connsiteY16" fmla="*/ 271462 h 661987"/>
              <a:gd name="connsiteX17" fmla="*/ 1385887 w 2890837"/>
              <a:gd name="connsiteY17" fmla="*/ 395287 h 661987"/>
              <a:gd name="connsiteX18" fmla="*/ 1481137 w 2890837"/>
              <a:gd name="connsiteY18" fmla="*/ 385762 h 661987"/>
              <a:gd name="connsiteX19" fmla="*/ 1509712 w 2890837"/>
              <a:gd name="connsiteY19" fmla="*/ 566737 h 661987"/>
              <a:gd name="connsiteX20" fmla="*/ 1666875 w 2890837"/>
              <a:gd name="connsiteY20" fmla="*/ 557212 h 661987"/>
              <a:gd name="connsiteX21" fmla="*/ 1671637 w 2890837"/>
              <a:gd name="connsiteY21" fmla="*/ 404812 h 661987"/>
              <a:gd name="connsiteX22" fmla="*/ 1833562 w 2890837"/>
              <a:gd name="connsiteY22" fmla="*/ 400050 h 661987"/>
              <a:gd name="connsiteX23" fmla="*/ 1847850 w 2890837"/>
              <a:gd name="connsiteY23" fmla="*/ 547687 h 661987"/>
              <a:gd name="connsiteX24" fmla="*/ 1938337 w 2890837"/>
              <a:gd name="connsiteY24" fmla="*/ 547687 h 661987"/>
              <a:gd name="connsiteX25" fmla="*/ 1919287 w 2890837"/>
              <a:gd name="connsiteY25" fmla="*/ 661987 h 661987"/>
              <a:gd name="connsiteX26" fmla="*/ 2195512 w 2890837"/>
              <a:gd name="connsiteY26" fmla="*/ 652462 h 661987"/>
              <a:gd name="connsiteX27" fmla="*/ 2219325 w 2890837"/>
              <a:gd name="connsiteY27" fmla="*/ 585787 h 661987"/>
              <a:gd name="connsiteX28" fmla="*/ 2643187 w 2890837"/>
              <a:gd name="connsiteY28" fmla="*/ 590550 h 661987"/>
              <a:gd name="connsiteX29" fmla="*/ 2657475 w 2890837"/>
              <a:gd name="connsiteY29" fmla="*/ 438150 h 661987"/>
              <a:gd name="connsiteX30" fmla="*/ 2767012 w 2890837"/>
              <a:gd name="connsiteY30" fmla="*/ 438150 h 661987"/>
              <a:gd name="connsiteX31" fmla="*/ 2805112 w 2890837"/>
              <a:gd name="connsiteY31" fmla="*/ 604837 h 661987"/>
              <a:gd name="connsiteX32" fmla="*/ 2890837 w 2890837"/>
              <a:gd name="connsiteY32" fmla="*/ 585787 h 661987"/>
              <a:gd name="connsiteX0" fmla="*/ 0 w 2890837"/>
              <a:gd name="connsiteY0" fmla="*/ 142875 h 661987"/>
              <a:gd name="connsiteX1" fmla="*/ 342900 w 2890837"/>
              <a:gd name="connsiteY1" fmla="*/ 142875 h 661987"/>
              <a:gd name="connsiteX2" fmla="*/ 342900 w 2890837"/>
              <a:gd name="connsiteY2" fmla="*/ 42862 h 661987"/>
              <a:gd name="connsiteX3" fmla="*/ 581025 w 2890837"/>
              <a:gd name="connsiteY3" fmla="*/ 42862 h 661987"/>
              <a:gd name="connsiteX4" fmla="*/ 566737 w 2890837"/>
              <a:gd name="connsiteY4" fmla="*/ 47625 h 661987"/>
              <a:gd name="connsiteX5" fmla="*/ 566737 w 2890837"/>
              <a:gd name="connsiteY5" fmla="*/ 0 h 661987"/>
              <a:gd name="connsiteX6" fmla="*/ 685800 w 2890837"/>
              <a:gd name="connsiteY6" fmla="*/ 0 h 661987"/>
              <a:gd name="connsiteX7" fmla="*/ 709612 w 2890837"/>
              <a:gd name="connsiteY7" fmla="*/ 119062 h 661987"/>
              <a:gd name="connsiteX8" fmla="*/ 814387 w 2890837"/>
              <a:gd name="connsiteY8" fmla="*/ 119062 h 661987"/>
              <a:gd name="connsiteX9" fmla="*/ 814387 w 2890837"/>
              <a:gd name="connsiteY9" fmla="*/ 38100 h 661987"/>
              <a:gd name="connsiteX10" fmla="*/ 909638 w 2890837"/>
              <a:gd name="connsiteY10" fmla="*/ 28574 h 661987"/>
              <a:gd name="connsiteX11" fmla="*/ 914400 w 2890837"/>
              <a:gd name="connsiteY11" fmla="*/ 176212 h 661987"/>
              <a:gd name="connsiteX12" fmla="*/ 1019175 w 2890837"/>
              <a:gd name="connsiteY12" fmla="*/ 180975 h 661987"/>
              <a:gd name="connsiteX13" fmla="*/ 1042987 w 2890837"/>
              <a:gd name="connsiteY13" fmla="*/ 123825 h 661987"/>
              <a:gd name="connsiteX14" fmla="*/ 1166812 w 2890837"/>
              <a:gd name="connsiteY14" fmla="*/ 128587 h 661987"/>
              <a:gd name="connsiteX15" fmla="*/ 1195387 w 2890837"/>
              <a:gd name="connsiteY15" fmla="*/ 266700 h 661987"/>
              <a:gd name="connsiteX16" fmla="*/ 1381125 w 2890837"/>
              <a:gd name="connsiteY16" fmla="*/ 271462 h 661987"/>
              <a:gd name="connsiteX17" fmla="*/ 1385887 w 2890837"/>
              <a:gd name="connsiteY17" fmla="*/ 395287 h 661987"/>
              <a:gd name="connsiteX18" fmla="*/ 1481137 w 2890837"/>
              <a:gd name="connsiteY18" fmla="*/ 385762 h 661987"/>
              <a:gd name="connsiteX19" fmla="*/ 1509712 w 2890837"/>
              <a:gd name="connsiteY19" fmla="*/ 566737 h 661987"/>
              <a:gd name="connsiteX20" fmla="*/ 1666875 w 2890837"/>
              <a:gd name="connsiteY20" fmla="*/ 557212 h 661987"/>
              <a:gd name="connsiteX21" fmla="*/ 1671637 w 2890837"/>
              <a:gd name="connsiteY21" fmla="*/ 404812 h 661987"/>
              <a:gd name="connsiteX22" fmla="*/ 1833562 w 2890837"/>
              <a:gd name="connsiteY22" fmla="*/ 400050 h 661987"/>
              <a:gd name="connsiteX23" fmla="*/ 1847850 w 2890837"/>
              <a:gd name="connsiteY23" fmla="*/ 547687 h 661987"/>
              <a:gd name="connsiteX24" fmla="*/ 1938337 w 2890837"/>
              <a:gd name="connsiteY24" fmla="*/ 547687 h 661987"/>
              <a:gd name="connsiteX25" fmla="*/ 1919287 w 2890837"/>
              <a:gd name="connsiteY25" fmla="*/ 661987 h 661987"/>
              <a:gd name="connsiteX26" fmla="*/ 2195512 w 2890837"/>
              <a:gd name="connsiteY26" fmla="*/ 652462 h 661987"/>
              <a:gd name="connsiteX27" fmla="*/ 2219325 w 2890837"/>
              <a:gd name="connsiteY27" fmla="*/ 585787 h 661987"/>
              <a:gd name="connsiteX28" fmla="*/ 2643187 w 2890837"/>
              <a:gd name="connsiteY28" fmla="*/ 590550 h 661987"/>
              <a:gd name="connsiteX29" fmla="*/ 2657475 w 2890837"/>
              <a:gd name="connsiteY29" fmla="*/ 438150 h 661987"/>
              <a:gd name="connsiteX30" fmla="*/ 2767012 w 2890837"/>
              <a:gd name="connsiteY30" fmla="*/ 438150 h 661987"/>
              <a:gd name="connsiteX31" fmla="*/ 2805112 w 2890837"/>
              <a:gd name="connsiteY31" fmla="*/ 604837 h 661987"/>
              <a:gd name="connsiteX32" fmla="*/ 2890837 w 2890837"/>
              <a:gd name="connsiteY32" fmla="*/ 585787 h 661987"/>
              <a:gd name="connsiteX0" fmla="*/ 0 w 2890837"/>
              <a:gd name="connsiteY0" fmla="*/ 142875 h 681037"/>
              <a:gd name="connsiteX1" fmla="*/ 342900 w 2890837"/>
              <a:gd name="connsiteY1" fmla="*/ 142875 h 681037"/>
              <a:gd name="connsiteX2" fmla="*/ 342900 w 2890837"/>
              <a:gd name="connsiteY2" fmla="*/ 42862 h 681037"/>
              <a:gd name="connsiteX3" fmla="*/ 581025 w 2890837"/>
              <a:gd name="connsiteY3" fmla="*/ 42862 h 681037"/>
              <a:gd name="connsiteX4" fmla="*/ 566737 w 2890837"/>
              <a:gd name="connsiteY4" fmla="*/ 47625 h 681037"/>
              <a:gd name="connsiteX5" fmla="*/ 566737 w 2890837"/>
              <a:gd name="connsiteY5" fmla="*/ 0 h 681037"/>
              <a:gd name="connsiteX6" fmla="*/ 685800 w 2890837"/>
              <a:gd name="connsiteY6" fmla="*/ 0 h 681037"/>
              <a:gd name="connsiteX7" fmla="*/ 709612 w 2890837"/>
              <a:gd name="connsiteY7" fmla="*/ 119062 h 681037"/>
              <a:gd name="connsiteX8" fmla="*/ 814387 w 2890837"/>
              <a:gd name="connsiteY8" fmla="*/ 119062 h 681037"/>
              <a:gd name="connsiteX9" fmla="*/ 814387 w 2890837"/>
              <a:gd name="connsiteY9" fmla="*/ 38100 h 681037"/>
              <a:gd name="connsiteX10" fmla="*/ 909638 w 2890837"/>
              <a:gd name="connsiteY10" fmla="*/ 28574 h 681037"/>
              <a:gd name="connsiteX11" fmla="*/ 914400 w 2890837"/>
              <a:gd name="connsiteY11" fmla="*/ 176212 h 681037"/>
              <a:gd name="connsiteX12" fmla="*/ 1019175 w 2890837"/>
              <a:gd name="connsiteY12" fmla="*/ 180975 h 681037"/>
              <a:gd name="connsiteX13" fmla="*/ 1042987 w 2890837"/>
              <a:gd name="connsiteY13" fmla="*/ 123825 h 681037"/>
              <a:gd name="connsiteX14" fmla="*/ 1166812 w 2890837"/>
              <a:gd name="connsiteY14" fmla="*/ 128587 h 681037"/>
              <a:gd name="connsiteX15" fmla="*/ 1195387 w 2890837"/>
              <a:gd name="connsiteY15" fmla="*/ 266700 h 681037"/>
              <a:gd name="connsiteX16" fmla="*/ 1381125 w 2890837"/>
              <a:gd name="connsiteY16" fmla="*/ 271462 h 681037"/>
              <a:gd name="connsiteX17" fmla="*/ 1385887 w 2890837"/>
              <a:gd name="connsiteY17" fmla="*/ 395287 h 681037"/>
              <a:gd name="connsiteX18" fmla="*/ 1481137 w 2890837"/>
              <a:gd name="connsiteY18" fmla="*/ 385762 h 681037"/>
              <a:gd name="connsiteX19" fmla="*/ 1509712 w 2890837"/>
              <a:gd name="connsiteY19" fmla="*/ 566737 h 681037"/>
              <a:gd name="connsiteX20" fmla="*/ 1666875 w 2890837"/>
              <a:gd name="connsiteY20" fmla="*/ 557212 h 681037"/>
              <a:gd name="connsiteX21" fmla="*/ 1671637 w 2890837"/>
              <a:gd name="connsiteY21" fmla="*/ 404812 h 681037"/>
              <a:gd name="connsiteX22" fmla="*/ 1833562 w 2890837"/>
              <a:gd name="connsiteY22" fmla="*/ 400050 h 681037"/>
              <a:gd name="connsiteX23" fmla="*/ 1847850 w 2890837"/>
              <a:gd name="connsiteY23" fmla="*/ 547687 h 681037"/>
              <a:gd name="connsiteX24" fmla="*/ 1938337 w 2890837"/>
              <a:gd name="connsiteY24" fmla="*/ 547687 h 681037"/>
              <a:gd name="connsiteX25" fmla="*/ 1933575 w 2890837"/>
              <a:gd name="connsiteY25" fmla="*/ 681037 h 681037"/>
              <a:gd name="connsiteX26" fmla="*/ 2195512 w 2890837"/>
              <a:gd name="connsiteY26" fmla="*/ 652462 h 681037"/>
              <a:gd name="connsiteX27" fmla="*/ 2219325 w 2890837"/>
              <a:gd name="connsiteY27" fmla="*/ 585787 h 681037"/>
              <a:gd name="connsiteX28" fmla="*/ 2643187 w 2890837"/>
              <a:gd name="connsiteY28" fmla="*/ 590550 h 681037"/>
              <a:gd name="connsiteX29" fmla="*/ 2657475 w 2890837"/>
              <a:gd name="connsiteY29" fmla="*/ 438150 h 681037"/>
              <a:gd name="connsiteX30" fmla="*/ 2767012 w 2890837"/>
              <a:gd name="connsiteY30" fmla="*/ 438150 h 681037"/>
              <a:gd name="connsiteX31" fmla="*/ 2805112 w 2890837"/>
              <a:gd name="connsiteY31" fmla="*/ 604837 h 681037"/>
              <a:gd name="connsiteX32" fmla="*/ 2890837 w 2890837"/>
              <a:gd name="connsiteY32" fmla="*/ 585787 h 681037"/>
              <a:gd name="connsiteX0" fmla="*/ 0 w 2890837"/>
              <a:gd name="connsiteY0" fmla="*/ 142875 h 657224"/>
              <a:gd name="connsiteX1" fmla="*/ 342900 w 2890837"/>
              <a:gd name="connsiteY1" fmla="*/ 142875 h 657224"/>
              <a:gd name="connsiteX2" fmla="*/ 342900 w 2890837"/>
              <a:gd name="connsiteY2" fmla="*/ 42862 h 657224"/>
              <a:gd name="connsiteX3" fmla="*/ 581025 w 2890837"/>
              <a:gd name="connsiteY3" fmla="*/ 42862 h 657224"/>
              <a:gd name="connsiteX4" fmla="*/ 566737 w 2890837"/>
              <a:gd name="connsiteY4" fmla="*/ 47625 h 657224"/>
              <a:gd name="connsiteX5" fmla="*/ 566737 w 2890837"/>
              <a:gd name="connsiteY5" fmla="*/ 0 h 657224"/>
              <a:gd name="connsiteX6" fmla="*/ 685800 w 2890837"/>
              <a:gd name="connsiteY6" fmla="*/ 0 h 657224"/>
              <a:gd name="connsiteX7" fmla="*/ 709612 w 2890837"/>
              <a:gd name="connsiteY7" fmla="*/ 119062 h 657224"/>
              <a:gd name="connsiteX8" fmla="*/ 814387 w 2890837"/>
              <a:gd name="connsiteY8" fmla="*/ 119062 h 657224"/>
              <a:gd name="connsiteX9" fmla="*/ 814387 w 2890837"/>
              <a:gd name="connsiteY9" fmla="*/ 38100 h 657224"/>
              <a:gd name="connsiteX10" fmla="*/ 909638 w 2890837"/>
              <a:gd name="connsiteY10" fmla="*/ 28574 h 657224"/>
              <a:gd name="connsiteX11" fmla="*/ 914400 w 2890837"/>
              <a:gd name="connsiteY11" fmla="*/ 176212 h 657224"/>
              <a:gd name="connsiteX12" fmla="*/ 1019175 w 2890837"/>
              <a:gd name="connsiteY12" fmla="*/ 180975 h 657224"/>
              <a:gd name="connsiteX13" fmla="*/ 1042987 w 2890837"/>
              <a:gd name="connsiteY13" fmla="*/ 123825 h 657224"/>
              <a:gd name="connsiteX14" fmla="*/ 1166812 w 2890837"/>
              <a:gd name="connsiteY14" fmla="*/ 128587 h 657224"/>
              <a:gd name="connsiteX15" fmla="*/ 1195387 w 2890837"/>
              <a:gd name="connsiteY15" fmla="*/ 266700 h 657224"/>
              <a:gd name="connsiteX16" fmla="*/ 1381125 w 2890837"/>
              <a:gd name="connsiteY16" fmla="*/ 271462 h 657224"/>
              <a:gd name="connsiteX17" fmla="*/ 1385887 w 2890837"/>
              <a:gd name="connsiteY17" fmla="*/ 395287 h 657224"/>
              <a:gd name="connsiteX18" fmla="*/ 1481137 w 2890837"/>
              <a:gd name="connsiteY18" fmla="*/ 385762 h 657224"/>
              <a:gd name="connsiteX19" fmla="*/ 1509712 w 2890837"/>
              <a:gd name="connsiteY19" fmla="*/ 566737 h 657224"/>
              <a:gd name="connsiteX20" fmla="*/ 1666875 w 2890837"/>
              <a:gd name="connsiteY20" fmla="*/ 557212 h 657224"/>
              <a:gd name="connsiteX21" fmla="*/ 1671637 w 2890837"/>
              <a:gd name="connsiteY21" fmla="*/ 404812 h 657224"/>
              <a:gd name="connsiteX22" fmla="*/ 1833562 w 2890837"/>
              <a:gd name="connsiteY22" fmla="*/ 400050 h 657224"/>
              <a:gd name="connsiteX23" fmla="*/ 1847850 w 2890837"/>
              <a:gd name="connsiteY23" fmla="*/ 547687 h 657224"/>
              <a:gd name="connsiteX24" fmla="*/ 1938337 w 2890837"/>
              <a:gd name="connsiteY24" fmla="*/ 547687 h 657224"/>
              <a:gd name="connsiteX25" fmla="*/ 1938338 w 2890837"/>
              <a:gd name="connsiteY25" fmla="*/ 657224 h 657224"/>
              <a:gd name="connsiteX26" fmla="*/ 2195512 w 2890837"/>
              <a:gd name="connsiteY26" fmla="*/ 652462 h 657224"/>
              <a:gd name="connsiteX27" fmla="*/ 2219325 w 2890837"/>
              <a:gd name="connsiteY27" fmla="*/ 585787 h 657224"/>
              <a:gd name="connsiteX28" fmla="*/ 2643187 w 2890837"/>
              <a:gd name="connsiteY28" fmla="*/ 590550 h 657224"/>
              <a:gd name="connsiteX29" fmla="*/ 2657475 w 2890837"/>
              <a:gd name="connsiteY29" fmla="*/ 438150 h 657224"/>
              <a:gd name="connsiteX30" fmla="*/ 2767012 w 2890837"/>
              <a:gd name="connsiteY30" fmla="*/ 438150 h 657224"/>
              <a:gd name="connsiteX31" fmla="*/ 2805112 w 2890837"/>
              <a:gd name="connsiteY31" fmla="*/ 604837 h 657224"/>
              <a:gd name="connsiteX32" fmla="*/ 2890837 w 2890837"/>
              <a:gd name="connsiteY32" fmla="*/ 585787 h 65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890837" h="657224">
                <a:moveTo>
                  <a:pt x="0" y="142875"/>
                </a:moveTo>
                <a:lnTo>
                  <a:pt x="342900" y="142875"/>
                </a:lnTo>
                <a:lnTo>
                  <a:pt x="342900" y="42862"/>
                </a:lnTo>
                <a:lnTo>
                  <a:pt x="581025" y="42862"/>
                </a:lnTo>
                <a:lnTo>
                  <a:pt x="566737" y="47625"/>
                </a:lnTo>
                <a:lnTo>
                  <a:pt x="566737" y="0"/>
                </a:lnTo>
                <a:lnTo>
                  <a:pt x="685800" y="0"/>
                </a:lnTo>
                <a:lnTo>
                  <a:pt x="709612" y="119062"/>
                </a:lnTo>
                <a:lnTo>
                  <a:pt x="814387" y="119062"/>
                </a:lnTo>
                <a:lnTo>
                  <a:pt x="814387" y="38100"/>
                </a:lnTo>
                <a:lnTo>
                  <a:pt x="909638" y="28574"/>
                </a:lnTo>
                <a:lnTo>
                  <a:pt x="914400" y="176212"/>
                </a:lnTo>
                <a:lnTo>
                  <a:pt x="1019175" y="180975"/>
                </a:lnTo>
                <a:lnTo>
                  <a:pt x="1042987" y="123825"/>
                </a:lnTo>
                <a:lnTo>
                  <a:pt x="1166812" y="128587"/>
                </a:lnTo>
                <a:lnTo>
                  <a:pt x="1195387" y="266700"/>
                </a:lnTo>
                <a:lnTo>
                  <a:pt x="1381125" y="271462"/>
                </a:lnTo>
                <a:lnTo>
                  <a:pt x="1385887" y="395287"/>
                </a:lnTo>
                <a:lnTo>
                  <a:pt x="1481137" y="385762"/>
                </a:lnTo>
                <a:lnTo>
                  <a:pt x="1509712" y="566737"/>
                </a:lnTo>
                <a:lnTo>
                  <a:pt x="1666875" y="557212"/>
                </a:lnTo>
                <a:lnTo>
                  <a:pt x="1671637" y="404812"/>
                </a:lnTo>
                <a:lnTo>
                  <a:pt x="1833562" y="400050"/>
                </a:lnTo>
                <a:lnTo>
                  <a:pt x="1847850" y="547687"/>
                </a:lnTo>
                <a:lnTo>
                  <a:pt x="1938337" y="547687"/>
                </a:lnTo>
                <a:cubicBezTo>
                  <a:pt x="1938337" y="584199"/>
                  <a:pt x="1938338" y="620712"/>
                  <a:pt x="1938338" y="657224"/>
                </a:cubicBezTo>
                <a:lnTo>
                  <a:pt x="2195512" y="652462"/>
                </a:lnTo>
                <a:lnTo>
                  <a:pt x="2219325" y="585787"/>
                </a:lnTo>
                <a:lnTo>
                  <a:pt x="2643187" y="590550"/>
                </a:lnTo>
                <a:lnTo>
                  <a:pt x="2657475" y="438150"/>
                </a:lnTo>
                <a:lnTo>
                  <a:pt x="2767012" y="438150"/>
                </a:lnTo>
                <a:lnTo>
                  <a:pt x="2805112" y="604837"/>
                </a:lnTo>
                <a:lnTo>
                  <a:pt x="2890837" y="585787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 bwMode="auto">
          <a:xfrm>
            <a:off x="7219950" y="5238125"/>
            <a:ext cx="2914650" cy="585788"/>
          </a:xfrm>
          <a:custGeom>
            <a:avLst/>
            <a:gdLst>
              <a:gd name="connsiteX0" fmla="*/ 0 w 2914650"/>
              <a:gd name="connsiteY0" fmla="*/ 90488 h 585788"/>
              <a:gd name="connsiteX1" fmla="*/ 371475 w 2914650"/>
              <a:gd name="connsiteY1" fmla="*/ 114300 h 585788"/>
              <a:gd name="connsiteX2" fmla="*/ 390525 w 2914650"/>
              <a:gd name="connsiteY2" fmla="*/ 0 h 585788"/>
              <a:gd name="connsiteX3" fmla="*/ 762000 w 2914650"/>
              <a:gd name="connsiteY3" fmla="*/ 0 h 585788"/>
              <a:gd name="connsiteX4" fmla="*/ 762000 w 2914650"/>
              <a:gd name="connsiteY4" fmla="*/ 104775 h 585788"/>
              <a:gd name="connsiteX5" fmla="*/ 1100138 w 2914650"/>
              <a:gd name="connsiteY5" fmla="*/ 104775 h 585788"/>
              <a:gd name="connsiteX6" fmla="*/ 1100138 w 2914650"/>
              <a:gd name="connsiteY6" fmla="*/ 252413 h 585788"/>
              <a:gd name="connsiteX7" fmla="*/ 1471613 w 2914650"/>
              <a:gd name="connsiteY7" fmla="*/ 252413 h 585788"/>
              <a:gd name="connsiteX8" fmla="*/ 1471613 w 2914650"/>
              <a:gd name="connsiteY8" fmla="*/ 433388 h 585788"/>
              <a:gd name="connsiteX9" fmla="*/ 1828800 w 2914650"/>
              <a:gd name="connsiteY9" fmla="*/ 433388 h 585788"/>
              <a:gd name="connsiteX10" fmla="*/ 1828800 w 2914650"/>
              <a:gd name="connsiteY10" fmla="*/ 585788 h 585788"/>
              <a:gd name="connsiteX11" fmla="*/ 2200275 w 2914650"/>
              <a:gd name="connsiteY11" fmla="*/ 585788 h 585788"/>
              <a:gd name="connsiteX12" fmla="*/ 2200275 w 2914650"/>
              <a:gd name="connsiteY12" fmla="*/ 519113 h 585788"/>
              <a:gd name="connsiteX13" fmla="*/ 2566988 w 2914650"/>
              <a:gd name="connsiteY13" fmla="*/ 519113 h 585788"/>
              <a:gd name="connsiteX14" fmla="*/ 2566988 w 2914650"/>
              <a:gd name="connsiteY14" fmla="*/ 471488 h 585788"/>
              <a:gd name="connsiteX15" fmla="*/ 2914650 w 2914650"/>
              <a:gd name="connsiteY15" fmla="*/ 471488 h 585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14650" h="585788">
                <a:moveTo>
                  <a:pt x="0" y="90488"/>
                </a:moveTo>
                <a:lnTo>
                  <a:pt x="371475" y="114300"/>
                </a:lnTo>
                <a:lnTo>
                  <a:pt x="390525" y="0"/>
                </a:lnTo>
                <a:lnTo>
                  <a:pt x="762000" y="0"/>
                </a:lnTo>
                <a:lnTo>
                  <a:pt x="762000" y="104775"/>
                </a:lnTo>
                <a:lnTo>
                  <a:pt x="1100138" y="104775"/>
                </a:lnTo>
                <a:lnTo>
                  <a:pt x="1100138" y="252413"/>
                </a:lnTo>
                <a:lnTo>
                  <a:pt x="1471613" y="252413"/>
                </a:lnTo>
                <a:lnTo>
                  <a:pt x="1471613" y="433388"/>
                </a:lnTo>
                <a:lnTo>
                  <a:pt x="1828800" y="433388"/>
                </a:lnTo>
                <a:lnTo>
                  <a:pt x="1828800" y="585788"/>
                </a:lnTo>
                <a:lnTo>
                  <a:pt x="2200275" y="585788"/>
                </a:lnTo>
                <a:lnTo>
                  <a:pt x="2200275" y="519113"/>
                </a:lnTo>
                <a:lnTo>
                  <a:pt x="2566988" y="519113"/>
                </a:lnTo>
                <a:lnTo>
                  <a:pt x="2566988" y="471488"/>
                </a:lnTo>
                <a:lnTo>
                  <a:pt x="2914650" y="471488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4270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Approximation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31" y="1143000"/>
            <a:ext cx="6616114" cy="49530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Parametric models</a:t>
            </a:r>
          </a:p>
          <a:p>
            <a:pPr lvl="1"/>
            <a:r>
              <a:rPr lang="en-US" dirty="0"/>
              <a:t>Linear models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1028700" lvl="2" indent="0">
              <a:buNone/>
            </a:pPr>
            <a:r>
              <a:rPr lang="en-US" dirty="0"/>
              <a:t>Might include sparse-additive, where many parameters are zero.</a:t>
            </a:r>
          </a:p>
          <a:p>
            <a:pPr lvl="1"/>
            <a:r>
              <a:rPr lang="en-US" dirty="0"/>
              <a:t>Nonlinear models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(Shallow) Neural networks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409321"/>
              </p:ext>
            </p:extLst>
          </p:nvPr>
        </p:nvGraphicFramePr>
        <p:xfrm>
          <a:off x="2481325" y="2020399"/>
          <a:ext cx="2238375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444240" progId="Equation.DSMT4">
                  <p:embed/>
                </p:oleObj>
              </mc:Choice>
              <mc:Fallback>
                <p:oleObj name="Equation" r:id="rId2" imgW="1371600" imgH="44424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81325" y="2020399"/>
                        <a:ext cx="2238375" cy="725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7184572" y="1279678"/>
            <a:ext cx="3020291" cy="1090535"/>
            <a:chOff x="5660571" y="2982686"/>
            <a:chExt cx="2474499" cy="762000"/>
          </a:xfrm>
        </p:grpSpPr>
        <p:cxnSp>
          <p:nvCxnSpPr>
            <p:cNvPr id="11" name="Straight Arrow Connector 10"/>
            <p:cNvCxnSpPr/>
            <p:nvPr/>
          </p:nvCxnSpPr>
          <p:spPr bwMode="auto">
            <a:xfrm flipV="1">
              <a:off x="5660571" y="2982686"/>
              <a:ext cx="0" cy="76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2" name="Straight Arrow Connector 11"/>
            <p:cNvCxnSpPr/>
            <p:nvPr/>
          </p:nvCxnSpPr>
          <p:spPr bwMode="auto">
            <a:xfrm>
              <a:off x="5660577" y="3733806"/>
              <a:ext cx="247449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13" name="Straight Connector 12"/>
          <p:cNvCxnSpPr/>
          <p:nvPr/>
        </p:nvCxnSpPr>
        <p:spPr bwMode="auto">
          <a:xfrm>
            <a:off x="7347857" y="1432079"/>
            <a:ext cx="2617488" cy="6698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7347857" y="1617137"/>
            <a:ext cx="2617488" cy="32716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>
            <a:off x="7500257" y="1279678"/>
            <a:ext cx="1900004" cy="9814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809545"/>
              </p:ext>
            </p:extLst>
          </p:nvPr>
        </p:nvGraphicFramePr>
        <p:xfrm>
          <a:off x="2145797" y="3718795"/>
          <a:ext cx="2749432" cy="762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419040" progId="Equation.DSMT4">
                  <p:embed/>
                </p:oleObj>
              </mc:Choice>
              <mc:Fallback>
                <p:oleObj name="Equation" r:id="rId4" imgW="1511280" imgH="41904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797" y="3718795"/>
                        <a:ext cx="2749432" cy="762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897922"/>
              </p:ext>
            </p:extLst>
          </p:nvPr>
        </p:nvGraphicFramePr>
        <p:xfrm>
          <a:off x="2102164" y="4496984"/>
          <a:ext cx="3462176" cy="1003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9800" imgH="736560" progId="Equation.DSMT4">
                  <p:embed/>
                </p:oleObj>
              </mc:Choice>
              <mc:Fallback>
                <p:oleObj name="Equation" r:id="rId6" imgW="2539800" imgH="736560" progId="Equation.DSMT4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164" y="4496984"/>
                        <a:ext cx="3462176" cy="10037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014" y="2596283"/>
            <a:ext cx="3020284" cy="1239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22"/>
          <p:cNvGrpSpPr/>
          <p:nvPr/>
        </p:nvGrpSpPr>
        <p:grpSpPr>
          <a:xfrm>
            <a:off x="7347858" y="3962249"/>
            <a:ext cx="3020291" cy="1090535"/>
            <a:chOff x="5660571" y="2982686"/>
            <a:chExt cx="2474499" cy="762000"/>
          </a:xfrm>
        </p:grpSpPr>
        <p:cxnSp>
          <p:nvCxnSpPr>
            <p:cNvPr id="24" name="Straight Arrow Connector 23"/>
            <p:cNvCxnSpPr/>
            <p:nvPr/>
          </p:nvCxnSpPr>
          <p:spPr bwMode="auto">
            <a:xfrm flipV="1">
              <a:off x="5660571" y="2982686"/>
              <a:ext cx="0" cy="76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5660577" y="3393611"/>
              <a:ext cx="247449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7" name="Freeform 26"/>
          <p:cNvSpPr/>
          <p:nvPr/>
        </p:nvSpPr>
        <p:spPr bwMode="auto">
          <a:xfrm>
            <a:off x="7521039" y="4099987"/>
            <a:ext cx="2291938" cy="831273"/>
          </a:xfrm>
          <a:custGeom>
            <a:avLst/>
            <a:gdLst>
              <a:gd name="connsiteX0" fmla="*/ 0 w 2291938"/>
              <a:gd name="connsiteY0" fmla="*/ 831273 h 831273"/>
              <a:gd name="connsiteX1" fmla="*/ 807522 w 2291938"/>
              <a:gd name="connsiteY1" fmla="*/ 831273 h 831273"/>
              <a:gd name="connsiteX2" fmla="*/ 807522 w 2291938"/>
              <a:gd name="connsiteY2" fmla="*/ 0 h 831273"/>
              <a:gd name="connsiteX3" fmla="*/ 2291938 w 2291938"/>
              <a:gd name="connsiteY3" fmla="*/ 0 h 831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1938" h="831273">
                <a:moveTo>
                  <a:pt x="0" y="831273"/>
                </a:moveTo>
                <a:lnTo>
                  <a:pt x="807522" y="831273"/>
                </a:lnTo>
                <a:lnTo>
                  <a:pt x="807522" y="0"/>
                </a:lnTo>
                <a:lnTo>
                  <a:pt x="2291938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6805850" y="5138440"/>
            <a:ext cx="3176351" cy="1719561"/>
            <a:chOff x="1740276" y="4490977"/>
            <a:chExt cx="3176351" cy="2008205"/>
          </a:xfrm>
        </p:grpSpPr>
        <p:pic>
          <p:nvPicPr>
            <p:cNvPr id="28" name="Picture 7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8179" y="4490977"/>
              <a:ext cx="2527976" cy="2008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" name="Rectangle 28"/>
            <p:cNvSpPr/>
            <p:nvPr/>
          </p:nvSpPr>
          <p:spPr bwMode="auto">
            <a:xfrm>
              <a:off x="1938179" y="4490977"/>
              <a:ext cx="318884" cy="200820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1740276" y="5116514"/>
            <a:ext cx="395805" cy="539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680" imgH="190440" progId="Equation.DSMT4">
                    <p:embed/>
                  </p:oleObj>
                </mc:Choice>
                <mc:Fallback>
                  <p:oleObj name="Equation" r:id="rId11" imgW="139680" imgH="190440" progId="Equation.DSMT4">
                    <p:embed/>
                    <p:pic>
                      <p:nvPicPr>
                        <p:cNvPr id="30" name="Object 2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40276" y="5116514"/>
                          <a:ext cx="395805" cy="5397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/>
          </p:nvGraphicFramePr>
          <p:xfrm>
            <a:off x="4519752" y="5225204"/>
            <a:ext cx="396875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190440" progId="Equation.DSMT4">
                    <p:embed/>
                  </p:oleObj>
                </mc:Choice>
                <mc:Fallback>
                  <p:oleObj name="Equation" r:id="rId13" imgW="139680" imgH="190440" progId="Equation.DSMT4">
                    <p:embed/>
                    <p:pic>
                      <p:nvPicPr>
                        <p:cNvPr id="3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9752" y="5225204"/>
                          <a:ext cx="396875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2" name="Straight Arrow Connector 31"/>
            <p:cNvCxnSpPr/>
            <p:nvPr/>
          </p:nvCxnSpPr>
          <p:spPr bwMode="auto">
            <a:xfrm>
              <a:off x="2257063" y="4664453"/>
              <a:ext cx="19677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Straight Arrow Connector 32"/>
            <p:cNvCxnSpPr/>
            <p:nvPr/>
          </p:nvCxnSpPr>
          <p:spPr bwMode="auto">
            <a:xfrm>
              <a:off x="2260873" y="4950203"/>
              <a:ext cx="19677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2253253" y="5232143"/>
              <a:ext cx="19677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Straight Arrow Connector 34"/>
            <p:cNvCxnSpPr/>
            <p:nvPr/>
          </p:nvCxnSpPr>
          <p:spPr bwMode="auto">
            <a:xfrm>
              <a:off x="2253253" y="5506509"/>
              <a:ext cx="19677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Straight Arrow Connector 35"/>
            <p:cNvCxnSpPr/>
            <p:nvPr/>
          </p:nvCxnSpPr>
          <p:spPr bwMode="auto">
            <a:xfrm>
              <a:off x="2257063" y="5792259"/>
              <a:ext cx="19677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Straight Arrow Connector 36"/>
            <p:cNvCxnSpPr/>
            <p:nvPr/>
          </p:nvCxnSpPr>
          <p:spPr bwMode="auto">
            <a:xfrm>
              <a:off x="2249443" y="6066579"/>
              <a:ext cx="19677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Straight Arrow Connector 37"/>
            <p:cNvCxnSpPr/>
            <p:nvPr/>
          </p:nvCxnSpPr>
          <p:spPr bwMode="auto">
            <a:xfrm>
              <a:off x="2253253" y="6352329"/>
              <a:ext cx="19677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Straight Arrow Connector 38"/>
            <p:cNvCxnSpPr/>
            <p:nvPr/>
          </p:nvCxnSpPr>
          <p:spPr bwMode="auto">
            <a:xfrm>
              <a:off x="4318273" y="5506509"/>
              <a:ext cx="19677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0075155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Approximation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25" y="1143000"/>
            <a:ext cx="6558969" cy="49530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Nonparametric models</a:t>
            </a:r>
          </a:p>
          <a:p>
            <a:pPr lvl="1"/>
            <a:r>
              <a:rPr lang="en-US" dirty="0"/>
              <a:t>Kernel regression</a:t>
            </a:r>
          </a:p>
          <a:p>
            <a:pPr lvl="2"/>
            <a:r>
              <a:rPr lang="en-US" dirty="0"/>
              <a:t>Weighted average of neighboring points</a:t>
            </a:r>
          </a:p>
          <a:p>
            <a:pPr lvl="2"/>
            <a:r>
              <a:rPr lang="en-US" dirty="0"/>
              <a:t>Limited to low dimensional problems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Locally linear methods</a:t>
            </a:r>
          </a:p>
          <a:p>
            <a:pPr lvl="2"/>
            <a:r>
              <a:rPr lang="en-US" dirty="0" err="1"/>
              <a:t>Dirichlet</a:t>
            </a:r>
            <a:r>
              <a:rPr lang="en-US" dirty="0"/>
              <a:t> process mixtures</a:t>
            </a:r>
          </a:p>
          <a:p>
            <a:pPr lvl="2"/>
            <a:r>
              <a:rPr lang="en-US" dirty="0"/>
              <a:t>Radial basis functions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Splines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Support vector machines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Deep neural networks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800" y="1545440"/>
            <a:ext cx="2863850" cy="1402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5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78" b="35250"/>
          <a:stretch/>
        </p:blipFill>
        <p:spPr bwMode="auto">
          <a:xfrm>
            <a:off x="6934083" y="3065372"/>
            <a:ext cx="3575285" cy="1344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741" y="4684364"/>
            <a:ext cx="2924728" cy="1411636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Warren Powell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55762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AB638-7C9B-7CB7-CFFA-E67EB388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Neural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E093-3E9E-04EC-473A-6272E07C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890" y="1133932"/>
            <a:ext cx="6839079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Neural networks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There has been a tendency to run to deep neural networks to approximate anything.</a:t>
            </a:r>
          </a:p>
          <a:p>
            <a:pPr lvl="2"/>
            <a:r>
              <a:rPr lang="en-US" dirty="0"/>
              <a:t>The price of flexibility is the need for large/ massive training datasets.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Neural networks struggle with:</a:t>
            </a:r>
          </a:p>
          <a:p>
            <a:pPr lvl="2"/>
            <a:r>
              <a:rPr lang="en-US" dirty="0"/>
              <a:t>Noisy observations</a:t>
            </a:r>
          </a:p>
          <a:p>
            <a:pPr lvl="2"/>
            <a:r>
              <a:rPr lang="en-US" dirty="0"/>
              <a:t>Functions that exhibit structure:</a:t>
            </a:r>
          </a:p>
          <a:p>
            <a:pPr lvl="3"/>
            <a:r>
              <a:rPr lang="en-US" dirty="0"/>
              <a:t>Monotonicity</a:t>
            </a:r>
          </a:p>
          <a:p>
            <a:pPr lvl="3"/>
            <a:r>
              <a:rPr lang="en-US" dirty="0"/>
              <a:t>Convexity</a:t>
            </a:r>
          </a:p>
          <a:p>
            <a:pPr lvl="2"/>
            <a:r>
              <a:rPr lang="en-US" dirty="0"/>
              <a:t>Expensive function valuations</a:t>
            </a:r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7ECD4-F894-7027-D5A1-83ADF6DA9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056" y="2723181"/>
            <a:ext cx="4533633" cy="218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905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B8CD-49E5-4E99-8F01-AD1AE7F5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Neural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559FB-7FE3-42F9-99F9-CC81E95C659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259" y="1826393"/>
            <a:ext cx="4511162" cy="349806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D876BBD-C50C-4B79-9534-0335141BC992}"/>
              </a:ext>
            </a:extLst>
          </p:cNvPr>
          <p:cNvGrpSpPr/>
          <p:nvPr/>
        </p:nvGrpSpPr>
        <p:grpSpPr>
          <a:xfrm>
            <a:off x="9502735" y="3421475"/>
            <a:ext cx="1488885" cy="265457"/>
            <a:chOff x="8912843" y="2890927"/>
            <a:chExt cx="1985178" cy="35394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B54B48F-0F22-42F0-8D91-A2B0C0872901}"/>
                </a:ext>
              </a:extLst>
            </p:cNvPr>
            <p:cNvSpPr txBox="1"/>
            <p:nvPr/>
          </p:nvSpPr>
          <p:spPr>
            <a:xfrm>
              <a:off x="9241157" y="2890927"/>
              <a:ext cx="1656864" cy="353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25" dirty="0">
                  <a:solidFill>
                    <a:srgbClr val="0070C0"/>
                  </a:solidFill>
                </a:rPr>
                <a:t>Observed profits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094191B-74F0-4922-9C61-B91CF9B5B9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12843" y="3028927"/>
              <a:ext cx="371858" cy="38972"/>
            </a:xfrm>
            <a:prstGeom prst="straightConnector1">
              <a:avLst/>
            </a:prstGeom>
            <a:ln w="19050">
              <a:solidFill>
                <a:srgbClr val="1567AB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57EBCB-10D6-425B-8383-4BAF08FD9664}"/>
              </a:ext>
            </a:extLst>
          </p:cNvPr>
          <p:cNvCxnSpPr/>
          <p:nvPr/>
        </p:nvCxnSpPr>
        <p:spPr>
          <a:xfrm>
            <a:off x="9466972" y="3138469"/>
            <a:ext cx="0" cy="1988401"/>
          </a:xfrm>
          <a:prstGeom prst="line">
            <a:avLst/>
          </a:prstGeom>
          <a:ln w="19050">
            <a:solidFill>
              <a:srgbClr val="156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DA8D33-03BD-4FFB-B1AC-9E37DF66C66E}"/>
              </a:ext>
            </a:extLst>
          </p:cNvPr>
          <p:cNvGrpSpPr/>
          <p:nvPr/>
        </p:nvGrpSpPr>
        <p:grpSpPr>
          <a:xfrm>
            <a:off x="6989955" y="3863033"/>
            <a:ext cx="1166035" cy="1025537"/>
            <a:chOff x="5889273" y="3995006"/>
            <a:chExt cx="1554712" cy="136738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246A9E-AEE9-402D-9211-F01149835690}"/>
                </a:ext>
              </a:extLst>
            </p:cNvPr>
            <p:cNvSpPr txBox="1"/>
            <p:nvPr/>
          </p:nvSpPr>
          <p:spPr>
            <a:xfrm>
              <a:off x="5889273" y="4664759"/>
              <a:ext cx="1398245" cy="6976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True profit 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function</a:t>
              </a:r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A58B400-4F77-41ED-8E05-4F24CC6D76F1}"/>
                </a:ext>
              </a:extLst>
            </p:cNvPr>
            <p:cNvSpPr/>
            <p:nvPr/>
          </p:nvSpPr>
          <p:spPr>
            <a:xfrm rot="10379707" flipH="1">
              <a:off x="6695202" y="3995006"/>
              <a:ext cx="748783" cy="760028"/>
            </a:xfrm>
            <a:prstGeom prst="arc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3DF638-3DBF-4B45-B65C-45F0A377D640}"/>
              </a:ext>
            </a:extLst>
          </p:cNvPr>
          <p:cNvGrpSpPr/>
          <p:nvPr/>
        </p:nvGrpSpPr>
        <p:grpSpPr>
          <a:xfrm>
            <a:off x="7888992" y="3397396"/>
            <a:ext cx="1195145" cy="715326"/>
            <a:chOff x="7087984" y="3374161"/>
            <a:chExt cx="1593526" cy="95376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AF5AEF-091E-4309-AA32-44F2D0361491}"/>
                </a:ext>
              </a:extLst>
            </p:cNvPr>
            <p:cNvSpPr txBox="1"/>
            <p:nvPr/>
          </p:nvSpPr>
          <p:spPr>
            <a:xfrm>
              <a:off x="7366621" y="3374161"/>
              <a:ext cx="1314889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125" dirty="0">
                  <a:solidFill>
                    <a:srgbClr val="C89800"/>
                  </a:solidFill>
                </a:rPr>
                <a:t>Fitted neural</a:t>
              </a:r>
            </a:p>
            <a:p>
              <a:r>
                <a:rPr lang="en-US" sz="1125" dirty="0">
                  <a:solidFill>
                    <a:srgbClr val="C89800"/>
                  </a:solidFill>
                </a:rPr>
                <a:t>network</a:t>
              </a: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2C40EC7-AE6A-4D65-A54F-8DA381504896}"/>
                </a:ext>
              </a:extLst>
            </p:cNvPr>
            <p:cNvSpPr/>
            <p:nvPr/>
          </p:nvSpPr>
          <p:spPr>
            <a:xfrm rot="10379707" flipV="1">
              <a:off x="7087984" y="3567901"/>
              <a:ext cx="748782" cy="760028"/>
            </a:xfrm>
            <a:prstGeom prst="arc">
              <a:avLst/>
            </a:prstGeom>
            <a:ln w="19050">
              <a:solidFill>
                <a:srgbClr val="C898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1FDDEDB-4580-4C17-B8E3-39D6813475F1}"/>
              </a:ext>
            </a:extLst>
          </p:cNvPr>
          <p:cNvSpPr txBox="1"/>
          <p:nvPr/>
        </p:nvSpPr>
        <p:spPr>
          <a:xfrm>
            <a:off x="8114323" y="5110679"/>
            <a:ext cx="131799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Order quantity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218822-FB86-42CF-8169-D015C8B49FD7}"/>
              </a:ext>
            </a:extLst>
          </p:cNvPr>
          <p:cNvSpPr txBox="1"/>
          <p:nvPr/>
        </p:nvSpPr>
        <p:spPr>
          <a:xfrm rot="16200000">
            <a:off x="6461859" y="3374152"/>
            <a:ext cx="60305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Profit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2CB23A0-7C26-4B7C-A65C-B65F299D2AC2}"/>
              </a:ext>
            </a:extLst>
          </p:cNvPr>
          <p:cNvSpPr/>
          <p:nvPr/>
        </p:nvSpPr>
        <p:spPr>
          <a:xfrm>
            <a:off x="6929099" y="4073526"/>
            <a:ext cx="3930650" cy="336550"/>
          </a:xfrm>
          <a:custGeom>
            <a:avLst/>
            <a:gdLst>
              <a:gd name="connsiteX0" fmla="*/ 0 w 5240867"/>
              <a:gd name="connsiteY0" fmla="*/ 448733 h 448733"/>
              <a:gd name="connsiteX1" fmla="*/ 203200 w 5240867"/>
              <a:gd name="connsiteY1" fmla="*/ 338666 h 448733"/>
              <a:gd name="connsiteX2" fmla="*/ 381000 w 5240867"/>
              <a:gd name="connsiteY2" fmla="*/ 270933 h 448733"/>
              <a:gd name="connsiteX3" fmla="*/ 571500 w 5240867"/>
              <a:gd name="connsiteY3" fmla="*/ 194733 h 448733"/>
              <a:gd name="connsiteX4" fmla="*/ 753534 w 5240867"/>
              <a:gd name="connsiteY4" fmla="*/ 143933 h 448733"/>
              <a:gd name="connsiteX5" fmla="*/ 1092200 w 5240867"/>
              <a:gd name="connsiteY5" fmla="*/ 71966 h 448733"/>
              <a:gd name="connsiteX6" fmla="*/ 1303867 w 5240867"/>
              <a:gd name="connsiteY6" fmla="*/ 42333 h 448733"/>
              <a:gd name="connsiteX7" fmla="*/ 1494367 w 5240867"/>
              <a:gd name="connsiteY7" fmla="*/ 21166 h 448733"/>
              <a:gd name="connsiteX8" fmla="*/ 1900767 w 5240867"/>
              <a:gd name="connsiteY8" fmla="*/ 0 h 448733"/>
              <a:gd name="connsiteX9" fmla="*/ 2214034 w 5240867"/>
              <a:gd name="connsiteY9" fmla="*/ 4233 h 448733"/>
              <a:gd name="connsiteX10" fmla="*/ 2540000 w 5240867"/>
              <a:gd name="connsiteY10" fmla="*/ 4233 h 448733"/>
              <a:gd name="connsiteX11" fmla="*/ 2899834 w 5240867"/>
              <a:gd name="connsiteY11" fmla="*/ 25400 h 448733"/>
              <a:gd name="connsiteX12" fmla="*/ 3289300 w 5240867"/>
              <a:gd name="connsiteY12" fmla="*/ 59266 h 448733"/>
              <a:gd name="connsiteX13" fmla="*/ 3716867 w 5240867"/>
              <a:gd name="connsiteY13" fmla="*/ 93133 h 448733"/>
              <a:gd name="connsiteX14" fmla="*/ 4161367 w 5240867"/>
              <a:gd name="connsiteY14" fmla="*/ 148166 h 448733"/>
              <a:gd name="connsiteX15" fmla="*/ 4580467 w 5240867"/>
              <a:gd name="connsiteY15" fmla="*/ 194733 h 448733"/>
              <a:gd name="connsiteX16" fmla="*/ 4948767 w 5240867"/>
              <a:gd name="connsiteY16" fmla="*/ 241300 h 448733"/>
              <a:gd name="connsiteX17" fmla="*/ 5240867 w 5240867"/>
              <a:gd name="connsiteY17" fmla="*/ 262466 h 44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240867" h="448733">
                <a:moveTo>
                  <a:pt x="0" y="448733"/>
                </a:moveTo>
                <a:lnTo>
                  <a:pt x="203200" y="338666"/>
                </a:lnTo>
                <a:lnTo>
                  <a:pt x="381000" y="270933"/>
                </a:lnTo>
                <a:lnTo>
                  <a:pt x="571500" y="194733"/>
                </a:lnTo>
                <a:lnTo>
                  <a:pt x="753534" y="143933"/>
                </a:lnTo>
                <a:lnTo>
                  <a:pt x="1092200" y="71966"/>
                </a:lnTo>
                <a:lnTo>
                  <a:pt x="1303867" y="42333"/>
                </a:lnTo>
                <a:lnTo>
                  <a:pt x="1494367" y="21166"/>
                </a:lnTo>
                <a:lnTo>
                  <a:pt x="1900767" y="0"/>
                </a:lnTo>
                <a:lnTo>
                  <a:pt x="2214034" y="4233"/>
                </a:lnTo>
                <a:lnTo>
                  <a:pt x="2540000" y="4233"/>
                </a:lnTo>
                <a:lnTo>
                  <a:pt x="2899834" y="25400"/>
                </a:lnTo>
                <a:lnTo>
                  <a:pt x="3289300" y="59266"/>
                </a:lnTo>
                <a:lnTo>
                  <a:pt x="3716867" y="93133"/>
                </a:lnTo>
                <a:lnTo>
                  <a:pt x="4161367" y="148166"/>
                </a:lnTo>
                <a:lnTo>
                  <a:pt x="4580467" y="194733"/>
                </a:lnTo>
                <a:lnTo>
                  <a:pt x="4948767" y="241300"/>
                </a:lnTo>
                <a:lnTo>
                  <a:pt x="5240867" y="262466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8507960-B51B-4D8A-8875-B9F0720A9F80}"/>
              </a:ext>
            </a:extLst>
          </p:cNvPr>
          <p:cNvSpPr txBox="1">
            <a:spLocks/>
          </p:cNvSpPr>
          <p:nvPr/>
        </p:nvSpPr>
        <p:spPr>
          <a:xfrm>
            <a:off x="332285" y="1050998"/>
            <a:ext cx="5411286" cy="3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Neural networks struggle with: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Noise – Their high flexibility tends to fit the noise.</a:t>
            </a:r>
          </a:p>
          <a:p>
            <a:pPr lvl="3">
              <a:buFont typeface="Wingdings" panose="05000000000000000000" pitchFamily="2" charset="2"/>
              <a:buChar char="Ø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Structure – It is difficult to communicate structure: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Monotonicity – Higher price means lower demand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Concavity – As with the newsvendor problem to the right.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Newsvendor problem: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6C7B0-FBAF-1F21-095C-76C3B2DABC7B}"/>
                  </a:ext>
                </a:extLst>
              </p:cNvPr>
              <p:cNvSpPr txBox="1"/>
              <p:nvPr/>
            </p:nvSpPr>
            <p:spPr>
              <a:xfrm>
                <a:off x="1395163" y="5522045"/>
                <a:ext cx="4136773" cy="439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𝑃𝑟𝑜𝑓𝑖𝑡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𝑚𝑖𝑛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6C7B0-FBAF-1F21-095C-76C3B2DAB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163" y="5522045"/>
                <a:ext cx="4136773" cy="439736"/>
              </a:xfrm>
              <a:prstGeom prst="rect">
                <a:avLst/>
              </a:prstGeom>
              <a:blipFill>
                <a:blip r:embed="rId3"/>
                <a:stretch>
                  <a:fillRect t="-5556" b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98B0367-83B4-4AAC-A738-76049946E768}"/>
                  </a:ext>
                </a:extLst>
              </p:cNvPr>
              <p:cNvSpPr txBox="1"/>
              <p:nvPr/>
            </p:nvSpPr>
            <p:spPr>
              <a:xfrm>
                <a:off x="8253211" y="4801425"/>
                <a:ext cx="125367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25" dirty="0">
                    <a:solidFill>
                      <a:srgbClr val="0070C0"/>
                    </a:solidFill>
                  </a:rPr>
                  <a:t>Order quantity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125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98B0367-83B4-4AAC-A738-76049946E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211" y="4801425"/>
                <a:ext cx="1253677" cy="338554"/>
              </a:xfrm>
              <a:prstGeom prst="rect">
                <a:avLst/>
              </a:prstGeom>
              <a:blipFill>
                <a:blip r:embed="rId4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C2A433C-72B2-820F-BA5D-DD9B6BD90C53}"/>
              </a:ext>
            </a:extLst>
          </p:cNvPr>
          <p:cNvGrpSpPr/>
          <p:nvPr/>
        </p:nvGrpSpPr>
        <p:grpSpPr>
          <a:xfrm>
            <a:off x="7081499" y="2190750"/>
            <a:ext cx="3778250" cy="2136776"/>
            <a:chOff x="7081499" y="2190750"/>
            <a:chExt cx="3778250" cy="213677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3DA115E-5668-344F-8826-ACC707E67528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H="1">
              <a:off x="7081499" y="2190750"/>
              <a:ext cx="3778250" cy="2136776"/>
            </a:xfrm>
            <a:prstGeom prst="line">
              <a:avLst/>
            </a:prstGeom>
            <a:ln w="12700">
              <a:solidFill>
                <a:srgbClr val="1567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D47F7F6-4468-D759-F6B0-9D9B5C36CCFF}"/>
                    </a:ext>
                  </a:extLst>
                </p:cNvPr>
                <p:cNvSpPr txBox="1"/>
                <p:nvPr/>
              </p:nvSpPr>
              <p:spPr>
                <a:xfrm rot="19833729">
                  <a:off x="8880049" y="2634759"/>
                  <a:ext cx="847604" cy="3767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8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D47F7F6-4468-D759-F6B0-9D9B5C36CC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833729">
                  <a:off x="8880049" y="2634759"/>
                  <a:ext cx="847604" cy="37677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4055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B8CD-49E5-4E99-8F01-AD1AE7F5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Neural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07960-B51B-4D8A-8875-B9F0720A9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975" y="1074659"/>
            <a:ext cx="8799030" cy="33012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Neural network for demand response: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BA4637-9FDA-4905-8BA2-7103DF036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021" y="1496777"/>
            <a:ext cx="8270779" cy="49990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C64BA5-426A-8D39-2429-20072CFEFA8A}"/>
              </a:ext>
            </a:extLst>
          </p:cNvPr>
          <p:cNvSpPr txBox="1"/>
          <p:nvPr/>
        </p:nvSpPr>
        <p:spPr>
          <a:xfrm>
            <a:off x="8172450" y="6305304"/>
            <a:ext cx="782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B0B2C-BE83-7BAD-4221-6877C55A653C}"/>
              </a:ext>
            </a:extLst>
          </p:cNvPr>
          <p:cNvSpPr txBox="1"/>
          <p:nvPr/>
        </p:nvSpPr>
        <p:spPr>
          <a:xfrm>
            <a:off x="79389" y="3761295"/>
            <a:ext cx="1653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aleway" pitchFamily="2" charset="0"/>
              </a:rPr>
              <a:t>Purchase decision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90411-F293-D379-2A7B-3A38455C19C4}"/>
              </a:ext>
            </a:extLst>
          </p:cNvPr>
          <p:cNvSpPr txBox="1"/>
          <p:nvPr/>
        </p:nvSpPr>
        <p:spPr>
          <a:xfrm>
            <a:off x="8277272" y="4797514"/>
            <a:ext cx="1667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Probability of a purchase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F088C-2E63-92EF-F4C6-C12DF94756B8}"/>
              </a:ext>
            </a:extLst>
          </p:cNvPr>
          <p:cNvSpPr txBox="1"/>
          <p:nvPr/>
        </p:nvSpPr>
        <p:spPr>
          <a:xfrm>
            <a:off x="7460381" y="2564763"/>
            <a:ext cx="1938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Raleway" pitchFamily="2" charset="0"/>
              </a:rPr>
              <a:t>Actual purchase decision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DE422-0E96-0723-15AD-72E84D0A6CB0}"/>
              </a:ext>
            </a:extLst>
          </p:cNvPr>
          <p:cNvSpPr txBox="1"/>
          <p:nvPr/>
        </p:nvSpPr>
        <p:spPr>
          <a:xfrm>
            <a:off x="7249211" y="3761295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Fitted neural network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A6ED9-A4B6-6F95-30F1-1E462695EAC1}"/>
              </a:ext>
            </a:extLst>
          </p:cNvPr>
          <p:cNvSpPr txBox="1"/>
          <p:nvPr/>
        </p:nvSpPr>
        <p:spPr>
          <a:xfrm>
            <a:off x="914400" y="2438400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aleway" pitchFamily="2" charset="0"/>
              </a:rPr>
              <a:t>Purchase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C82C4E-15FE-7FBF-2B62-685839CCE2A5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873317" y="2592288"/>
            <a:ext cx="366770" cy="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1973E6-632B-D4E8-310F-48D6443B154F}"/>
              </a:ext>
            </a:extLst>
          </p:cNvPr>
          <p:cNvSpPr txBox="1"/>
          <p:nvPr/>
        </p:nvSpPr>
        <p:spPr>
          <a:xfrm>
            <a:off x="904875" y="5638800"/>
            <a:ext cx="95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Raleway" pitchFamily="2" charset="0"/>
              </a:rPr>
              <a:t>Do not </a:t>
            </a:r>
          </a:p>
          <a:p>
            <a:pPr algn="ctr"/>
            <a:r>
              <a:rPr lang="en-US" dirty="0">
                <a:latin typeface="Raleway" pitchFamily="2" charset="0"/>
              </a:rPr>
              <a:t>purchase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4D7102-4FE6-B324-42CD-D4308D7AE34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862188" y="5900410"/>
            <a:ext cx="377899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12715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63CEDA3-0334-E675-1264-3D4240DD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5CB424-EF35-F370-B2DC-3216CA039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850D1B6A-C1B8-D675-5EE2-21627F292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0AF3B75A-2726-02A8-408E-F1B95D518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Functions we may need to estimate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Approximation strategies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Exploiting structure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Batch vs. recursive learning</a:t>
            </a:r>
          </a:p>
        </p:txBody>
      </p:sp>
    </p:spTree>
    <p:extLst>
      <p:ext uri="{BB962C8B-B14F-4D97-AF65-F5344CB8AC3E}">
        <p14:creationId xmlns:p14="http://schemas.microsoft.com/office/powerpoint/2010/main" val="12528734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4136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Monotonicity in dynamic programming</a:t>
            </a:r>
          </a:p>
          <a:p>
            <a:pPr lvl="1"/>
            <a:r>
              <a:rPr lang="en-US" dirty="0"/>
              <a:t>There are many problems where the value function increases monotonically with one or more dimensions of a state variable:</a:t>
            </a:r>
          </a:p>
          <a:p>
            <a:pPr lvl="1"/>
            <a:r>
              <a:rPr lang="en-US" dirty="0"/>
              <a:t>Operations research</a:t>
            </a:r>
          </a:p>
          <a:p>
            <a:pPr lvl="2"/>
            <a:r>
              <a:rPr lang="en-US" dirty="0"/>
              <a:t>Equipment repair – Replace when a measure of deterioration exceeds some point</a:t>
            </a:r>
          </a:p>
          <a:p>
            <a:pPr lvl="2"/>
            <a:r>
              <a:rPr lang="en-US" dirty="0"/>
              <a:t>Dispatching customers in a queue – Dispatch when the queue is over some number.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 flipV="1">
            <a:off x="3780183" y="4235359"/>
            <a:ext cx="0" cy="147099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3770244" y="5706349"/>
            <a:ext cx="4204253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097119" y="5695168"/>
            <a:ext cx="3642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Raleway" pitchFamily="2" charset="0"/>
              </a:rPr>
              <a:t>Deterioration / Queue length</a:t>
            </a:r>
          </a:p>
        </p:txBody>
      </p:sp>
      <p:sp>
        <p:nvSpPr>
          <p:cNvPr id="10" name="Freeform 9"/>
          <p:cNvSpPr/>
          <p:nvPr/>
        </p:nvSpPr>
        <p:spPr>
          <a:xfrm>
            <a:off x="3805030" y="4692558"/>
            <a:ext cx="3707296" cy="983974"/>
          </a:xfrm>
          <a:custGeom>
            <a:avLst/>
            <a:gdLst>
              <a:gd name="connsiteX0" fmla="*/ 0 w 3707296"/>
              <a:gd name="connsiteY0" fmla="*/ 983974 h 983974"/>
              <a:gd name="connsiteX1" fmla="*/ 1898374 w 3707296"/>
              <a:gd name="connsiteY1" fmla="*/ 983974 h 983974"/>
              <a:gd name="connsiteX2" fmla="*/ 1898374 w 3707296"/>
              <a:gd name="connsiteY2" fmla="*/ 0 h 983974"/>
              <a:gd name="connsiteX3" fmla="*/ 3707296 w 3707296"/>
              <a:gd name="connsiteY3" fmla="*/ 0 h 983974"/>
              <a:gd name="connsiteX4" fmla="*/ 3707296 w 3707296"/>
              <a:gd name="connsiteY4" fmla="*/ 139148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7296" h="983974">
                <a:moveTo>
                  <a:pt x="0" y="983974"/>
                </a:moveTo>
                <a:lnTo>
                  <a:pt x="1898374" y="983974"/>
                </a:lnTo>
                <a:lnTo>
                  <a:pt x="1898374" y="0"/>
                </a:lnTo>
                <a:lnTo>
                  <a:pt x="3707296" y="0"/>
                </a:lnTo>
                <a:lnTo>
                  <a:pt x="3707296" y="139148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>
              <a:latin typeface="Raleway" pitchFamily="2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3571461" y="4692558"/>
            <a:ext cx="2216426" cy="0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392556" y="548769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Raleway" pitchFamily="2" charset="0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5749" y="4487154"/>
            <a:ext cx="29367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Raleway" pitchFamily="2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6609" y="4328130"/>
            <a:ext cx="11993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Raleway" pitchFamily="2" charset="0"/>
              </a:rPr>
              <a:t>Repair/</a:t>
            </a:r>
          </a:p>
          <a:p>
            <a:pPr algn="l"/>
            <a:r>
              <a:rPr lang="en-US" sz="2000" dirty="0">
                <a:latin typeface="Raleway" pitchFamily="2" charset="0"/>
              </a:rPr>
              <a:t>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1443" y="5484379"/>
            <a:ext cx="1486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Raleway" pitchFamily="2" charset="0"/>
              </a:rPr>
              <a:t>Do nothing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17906" y="4712436"/>
            <a:ext cx="467139" cy="19470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6036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630092" y="1041364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Monotonicity in dynamic programming (cont’d)</a:t>
            </a:r>
          </a:p>
          <a:p>
            <a:pPr lvl="1"/>
            <a:r>
              <a:rPr lang="en-US" dirty="0"/>
              <a:t>Energy</a:t>
            </a:r>
          </a:p>
          <a:p>
            <a:pPr lvl="2"/>
            <a:r>
              <a:rPr lang="en-US" dirty="0"/>
              <a:t>Buy when electricity price is below one number, sell when above another number: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Value of energy in storage increases with amount being held (and perhaps price, speed of wind, demand, …)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 flipV="1">
            <a:off x="3780183" y="2733263"/>
            <a:ext cx="0" cy="2673625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770244" y="4204252"/>
            <a:ext cx="4204253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897219" y="4164496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Price</a:t>
            </a:r>
          </a:p>
        </p:txBody>
      </p:sp>
      <p:cxnSp>
        <p:nvCxnSpPr>
          <p:cNvPr id="10" name="Straight Connector 9"/>
          <p:cNvCxnSpPr>
            <a:endCxn id="16" idx="4"/>
          </p:cNvCxnSpPr>
          <p:nvPr/>
        </p:nvCxnSpPr>
        <p:spPr bwMode="auto">
          <a:xfrm>
            <a:off x="3571461" y="3190462"/>
            <a:ext cx="2534478" cy="9939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392556" y="398559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5749" y="2985057"/>
            <a:ext cx="32733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088" y="2985057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843" y="3982282"/>
            <a:ext cx="1425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Do nothing</a:t>
            </a:r>
          </a:p>
        </p:txBody>
      </p:sp>
      <p:sp>
        <p:nvSpPr>
          <p:cNvPr id="16" name="Freeform 15"/>
          <p:cNvSpPr/>
          <p:nvPr/>
        </p:nvSpPr>
        <p:spPr>
          <a:xfrm>
            <a:off x="3800062" y="3200401"/>
            <a:ext cx="3846443" cy="1838739"/>
          </a:xfrm>
          <a:custGeom>
            <a:avLst/>
            <a:gdLst>
              <a:gd name="connsiteX0" fmla="*/ 0 w 3846443"/>
              <a:gd name="connsiteY0" fmla="*/ 1838739 h 1838739"/>
              <a:gd name="connsiteX1" fmla="*/ 993913 w 3846443"/>
              <a:gd name="connsiteY1" fmla="*/ 1838739 h 1838739"/>
              <a:gd name="connsiteX2" fmla="*/ 993913 w 3846443"/>
              <a:gd name="connsiteY2" fmla="*/ 974035 h 1838739"/>
              <a:gd name="connsiteX3" fmla="*/ 2305878 w 3846443"/>
              <a:gd name="connsiteY3" fmla="*/ 974035 h 1838739"/>
              <a:gd name="connsiteX4" fmla="*/ 2305878 w 3846443"/>
              <a:gd name="connsiteY4" fmla="*/ 0 h 1838739"/>
              <a:gd name="connsiteX5" fmla="*/ 3846443 w 3846443"/>
              <a:gd name="connsiteY5" fmla="*/ 0 h 1838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6443" h="1838739">
                <a:moveTo>
                  <a:pt x="0" y="1838739"/>
                </a:moveTo>
                <a:lnTo>
                  <a:pt x="993913" y="1838739"/>
                </a:lnTo>
                <a:lnTo>
                  <a:pt x="993913" y="974035"/>
                </a:lnTo>
                <a:lnTo>
                  <a:pt x="2305878" y="974035"/>
                </a:lnTo>
                <a:lnTo>
                  <a:pt x="2305878" y="0"/>
                </a:lnTo>
                <a:lnTo>
                  <a:pt x="3846443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640498" y="4807228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Buy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9491" y="4827105"/>
            <a:ext cx="41229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73191390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30092" y="103183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/>
              <a:t>Monotonicity in dynamic programming (cont’d)</a:t>
            </a:r>
          </a:p>
          <a:p>
            <a:pPr lvl="1"/>
            <a:endParaRPr lang="en-US"/>
          </a:p>
          <a:p>
            <a:pPr lvl="1"/>
            <a:r>
              <a:rPr lang="en-US"/>
              <a:t>Health</a:t>
            </a:r>
          </a:p>
          <a:p>
            <a:pPr lvl="2"/>
            <a:r>
              <a:rPr lang="en-US"/>
              <a:t>Dosage of a diabetes drug increases with blood sugar.</a:t>
            </a:r>
          </a:p>
          <a:p>
            <a:pPr lvl="2"/>
            <a:r>
              <a:rPr lang="en-US"/>
              <a:t>Dosage of statins (for reducing cholesterol) increase as the cholesterol level increases (and also increases with age, weight).</a:t>
            </a:r>
          </a:p>
          <a:p>
            <a:pPr lvl="1"/>
            <a:endParaRPr lang="en-US"/>
          </a:p>
          <a:p>
            <a:pPr lvl="1"/>
            <a:r>
              <a:rPr lang="en-US"/>
              <a:t>Finance</a:t>
            </a:r>
          </a:p>
          <a:p>
            <a:pPr lvl="2"/>
            <a:r>
              <a:rPr lang="en-US"/>
              <a:t>The value of holding cash in a mutual fund increases with the amount of redemptions, stock indices, and interest rates.</a:t>
            </a:r>
          </a:p>
          <a:p>
            <a:pPr lvl="2"/>
            <a:r>
              <a:rPr lang="en-US"/>
              <a:t>The value of holding an option increases with price and volatility. </a:t>
            </a:r>
          </a:p>
          <a:p>
            <a:pPr lvl="2"/>
            <a:endParaRPr lang="en-US"/>
          </a:p>
          <a:p>
            <a:pPr lvl="1"/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17510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096" y="1324238"/>
            <a:ext cx="7923809" cy="42095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8653" y="5825797"/>
            <a:ext cx="427072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latin typeface="Raleway" pitchFamily="2" charset="0"/>
              </a:rPr>
              <a:t>The exact value function</a:t>
            </a:r>
          </a:p>
        </p:txBody>
      </p:sp>
    </p:spTree>
    <p:extLst>
      <p:ext uri="{BB962C8B-B14F-4D97-AF65-F5344CB8AC3E}">
        <p14:creationId xmlns:p14="http://schemas.microsoft.com/office/powerpoint/2010/main" val="344842821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4" y="1400175"/>
            <a:ext cx="8027987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90576" y="1149350"/>
            <a:ext cx="92773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aleway" pitchFamily="2" charset="0"/>
              </a:rPr>
              <a:t>Approximate value function without monotonicity</a:t>
            </a:r>
          </a:p>
        </p:txBody>
      </p:sp>
    </p:spTree>
    <p:extLst>
      <p:ext uri="{BB962C8B-B14F-4D97-AF65-F5344CB8AC3E}">
        <p14:creationId xmlns:p14="http://schemas.microsoft.com/office/powerpoint/2010/main" val="50155865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6041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Maintaining monotonicity</a:t>
            </a:r>
          </a:p>
        </p:txBody>
      </p:sp>
      <p:pic>
        <p:nvPicPr>
          <p:cNvPr id="777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315" y="1836725"/>
            <a:ext cx="6033080" cy="4681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056243" y="2115048"/>
            <a:ext cx="2854519" cy="213890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09498" y="4379269"/>
            <a:ext cx="1962647" cy="213890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72144" y="4490582"/>
            <a:ext cx="2947358" cy="213890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 rot="19634302">
            <a:off x="6016504" y="4277783"/>
            <a:ext cx="612250" cy="12722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0809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6041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Maintaining monotonicity</a:t>
            </a:r>
          </a:p>
        </p:txBody>
      </p:sp>
      <p:pic>
        <p:nvPicPr>
          <p:cNvPr id="777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315" y="1836725"/>
            <a:ext cx="6033080" cy="4681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109498" y="4379269"/>
            <a:ext cx="1962647" cy="213890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72144" y="4490582"/>
            <a:ext cx="2947358" cy="213890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 rot="19634302">
            <a:off x="6016504" y="4277783"/>
            <a:ext cx="612250" cy="12722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71056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6041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Maintaining monotonicity</a:t>
            </a:r>
          </a:p>
        </p:txBody>
      </p:sp>
      <p:pic>
        <p:nvPicPr>
          <p:cNvPr id="777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315" y="1836725"/>
            <a:ext cx="6033080" cy="4681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6072144" y="4490582"/>
            <a:ext cx="2947358" cy="213890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98046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6041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Maintaining monotonicity</a:t>
            </a:r>
          </a:p>
        </p:txBody>
      </p:sp>
      <p:pic>
        <p:nvPicPr>
          <p:cNvPr id="777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315" y="1836725"/>
            <a:ext cx="6033080" cy="4681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771956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Exploiting structure</a:t>
            </a:r>
          </a:p>
        </p:txBody>
      </p:sp>
      <p:pic>
        <p:nvPicPr>
          <p:cNvPr id="4" name="monotoneadp10.mp4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09800" y="1433514"/>
            <a:ext cx="7772400" cy="4371975"/>
          </a:xfrm>
        </p:spPr>
      </p:pic>
    </p:spTree>
    <p:extLst>
      <p:ext uri="{BB962C8B-B14F-4D97-AF65-F5344CB8AC3E}">
        <p14:creationId xmlns:p14="http://schemas.microsoft.com/office/powerpoint/2010/main" val="373902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5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0488" tIns="44450" rIns="90488" bIns="44450" anchor="ctr" anchorCtr="0">
            <a:noAutofit/>
          </a:bodyPr>
          <a:lstStyle/>
          <a:p>
            <a:r>
              <a:rPr lang="en-US" dirty="0"/>
              <a:t>Estimation: Exploiting structure</a:t>
            </a:r>
            <a:endParaRPr lang="en-US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214E0A0-23A4-DE21-F54D-683EB9024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048" y="1182278"/>
            <a:ext cx="9992412" cy="63658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0488" tIns="44450" rIns="90488" bIns="44450" anchor="t" anchorCtr="0">
            <a:noAutofit/>
          </a:bodyPr>
          <a:lstStyle/>
          <a:p>
            <a:pPr marL="86360" indent="0">
              <a:lnSpc>
                <a:spcPct val="90000"/>
              </a:lnSpc>
              <a:buNone/>
            </a:pPr>
            <a:r>
              <a:rPr lang="en-US" altLang="en-US" sz="2400" dirty="0"/>
              <a:t>Fitting concave functions using piecewise linear approximations: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910954" y="2090982"/>
            <a:ext cx="7150100" cy="3708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2869804" y="5221532"/>
            <a:ext cx="5651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2857104" y="2719632"/>
            <a:ext cx="0" cy="251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Object 7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1818699"/>
              </p:ext>
            </p:extLst>
          </p:nvPr>
        </p:nvGraphicFramePr>
        <p:xfrm>
          <a:off x="8584805" y="5043732"/>
          <a:ext cx="3524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040" imgH="190440" progId="Equation.DSMT4">
                  <p:embed/>
                </p:oleObj>
              </mc:Choice>
              <mc:Fallback>
                <p:oleObj name="Equation" r:id="rId3" imgW="203040" imgH="190440" progId="Equation.DSMT4">
                  <p:embed/>
                  <p:pic>
                    <p:nvPicPr>
                      <p:cNvPr id="2112519" name="Object 7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4805" y="5043732"/>
                        <a:ext cx="3524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8"/>
          <p:cNvSpPr>
            <a:spLocks noChangeShapeType="1"/>
          </p:cNvSpPr>
          <p:nvPr/>
        </p:nvSpPr>
        <p:spPr bwMode="auto">
          <a:xfrm flipV="1">
            <a:off x="2863454" y="4199182"/>
            <a:ext cx="5575300" cy="102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hlinkClick r:id="" action="ppaction://ole?verb=0"/>
              </p:cNvPr>
              <p:cNvSpPr txBox="1"/>
              <p:nvPr/>
            </p:nvSpPr>
            <p:spPr bwMode="auto">
              <a:xfrm>
                <a:off x="2358629" y="2237033"/>
                <a:ext cx="1035050" cy="487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Object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8629" y="2237033"/>
                <a:ext cx="1035050" cy="4873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10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5382083"/>
              </p:ext>
            </p:extLst>
          </p:nvPr>
        </p:nvGraphicFramePr>
        <p:xfrm>
          <a:off x="5105005" y="5313607"/>
          <a:ext cx="35242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15640" progId="Equation.DSMT4">
                  <p:embed/>
                </p:oleObj>
              </mc:Choice>
              <mc:Fallback>
                <p:oleObj name="Equation" r:id="rId6" imgW="203040" imgH="215640" progId="Equation.DSMT4">
                  <p:embed/>
                  <p:pic>
                    <p:nvPicPr>
                      <p:cNvPr id="9" name="Object 10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005" y="5313607"/>
                        <a:ext cx="35242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8972902"/>
      </p:ext>
    </p:extLst>
  </p:cSld>
  <p:clrMapOvr>
    <a:masterClrMapping/>
  </p:clrMapOvr>
  <p:transition/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5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0488" tIns="44450" rIns="90488" bIns="44450" anchor="ctr" anchorCtr="0">
            <a:noAutofit/>
          </a:bodyPr>
          <a:lstStyle/>
          <a:p>
            <a:r>
              <a:rPr lang="en-US" dirty="0"/>
              <a:t>Estimation: Exploiting structure</a:t>
            </a:r>
            <a:endParaRPr lang="en-US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4FF41EF-43AC-EE42-B64B-D71EBB2A3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048" y="1182278"/>
            <a:ext cx="9992412" cy="63658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0488" tIns="44450" rIns="90488" bIns="44450" anchor="t" anchorCtr="0">
            <a:noAutofit/>
          </a:bodyPr>
          <a:lstStyle/>
          <a:p>
            <a:pPr marL="86360" indent="0">
              <a:lnSpc>
                <a:spcPct val="90000"/>
              </a:lnSpc>
              <a:buNone/>
            </a:pPr>
            <a:r>
              <a:rPr lang="en-US" altLang="en-US" sz="2400" dirty="0"/>
              <a:t>Fitting concave functions using piecewise linear approximations: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920383" y="2100412"/>
            <a:ext cx="7150100" cy="3708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2879233" y="5230962"/>
            <a:ext cx="5651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2866533" y="2729062"/>
            <a:ext cx="0" cy="251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Object 7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2586880"/>
              </p:ext>
            </p:extLst>
          </p:nvPr>
        </p:nvGraphicFramePr>
        <p:xfrm>
          <a:off x="8594234" y="5053162"/>
          <a:ext cx="3524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040" imgH="190440" progId="Equation.DSMT4">
                  <p:embed/>
                </p:oleObj>
              </mc:Choice>
              <mc:Fallback>
                <p:oleObj name="Equation" r:id="rId3" imgW="203040" imgH="190440" progId="Equation.DSMT4">
                  <p:embed/>
                  <p:pic>
                    <p:nvPicPr>
                      <p:cNvPr id="2113543" name="Object 7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4234" y="5053162"/>
                        <a:ext cx="3524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8"/>
          <p:cNvSpPr>
            <a:spLocks noChangeShapeType="1"/>
          </p:cNvSpPr>
          <p:nvPr/>
        </p:nvSpPr>
        <p:spPr bwMode="auto">
          <a:xfrm flipV="1">
            <a:off x="2872883" y="4208612"/>
            <a:ext cx="5575300" cy="102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V="1">
            <a:off x="2872883" y="3929212"/>
            <a:ext cx="2374900" cy="128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5260483" y="3332312"/>
            <a:ext cx="3060700" cy="622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216033" y="3916512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5254133" y="3205312"/>
            <a:ext cx="0" cy="203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>
                <a:hlinkClick r:id="" action="ppaction://ole?verb=0"/>
              </p:cNvPr>
              <p:cNvSpPr txBox="1"/>
              <p:nvPr/>
            </p:nvSpPr>
            <p:spPr bwMode="auto">
              <a:xfrm>
                <a:off x="5454158" y="3416450"/>
                <a:ext cx="4254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Object 1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4158" y="3416450"/>
                <a:ext cx="425450" cy="444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5247783" y="3198962"/>
            <a:ext cx="71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4511183" y="3198962"/>
            <a:ext cx="71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hlinkClick r:id="" action="ppaction://ole?verb=0"/>
              </p:cNvPr>
              <p:cNvSpPr txBox="1"/>
              <p:nvPr/>
            </p:nvSpPr>
            <p:spPr bwMode="auto">
              <a:xfrm>
                <a:off x="4652472" y="3646637"/>
                <a:ext cx="414337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Object 1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2472" y="3646637"/>
                <a:ext cx="414337" cy="431800"/>
              </a:xfrm>
              <a:prstGeom prst="rect">
                <a:avLst/>
              </a:prstGeom>
              <a:blipFill>
                <a:blip r:embed="rId6"/>
                <a:stretch>
                  <a:fillRect r="-14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5265247" y="2830663"/>
            <a:ext cx="159498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altLang="en-US" sz="1600"/>
              <a:t>Right derivative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3855547" y="2830663"/>
            <a:ext cx="146033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altLang="en-US" sz="1600"/>
              <a:t>Left derivative</a:t>
            </a:r>
          </a:p>
        </p:txBody>
      </p:sp>
      <p:graphicFrame>
        <p:nvGraphicFramePr>
          <p:cNvPr id="19" name="Object 20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55939"/>
              </p:ext>
            </p:extLst>
          </p:nvPr>
        </p:nvGraphicFramePr>
        <p:xfrm>
          <a:off x="5114434" y="5323037"/>
          <a:ext cx="35242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040" imgH="215640" progId="Equation.DSMT4">
                  <p:embed/>
                </p:oleObj>
              </mc:Choice>
              <mc:Fallback>
                <p:oleObj name="Equation" r:id="rId7" imgW="203040" imgH="215640" progId="Equation.DSMT4">
                  <p:embed/>
                  <p:pic>
                    <p:nvPicPr>
                      <p:cNvPr id="2113556" name="Object 20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4434" y="5323037"/>
                        <a:ext cx="35242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1">
                <a:hlinkClick r:id="" action="ppaction://ole?verb=0"/>
              </p:cNvPr>
              <p:cNvSpPr txBox="1"/>
              <p:nvPr/>
            </p:nvSpPr>
            <p:spPr bwMode="auto">
              <a:xfrm>
                <a:off x="2368058" y="2246463"/>
                <a:ext cx="1035050" cy="487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Object 2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8058" y="2246463"/>
                <a:ext cx="1035050" cy="4873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437746"/>
      </p:ext>
    </p:extLst>
  </p:cSld>
  <p:clrMapOvr>
    <a:masterClrMapping/>
  </p:clrMapOvr>
  <p:transition>
    <p:wipe dir="r"/>
  </p:transition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5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0488" tIns="44450" rIns="90488" bIns="44450" anchor="ctr" anchorCtr="0">
            <a:noAutofit/>
          </a:bodyPr>
          <a:lstStyle/>
          <a:p>
            <a:r>
              <a:rPr lang="en-US" dirty="0"/>
              <a:t>Estimation: Exploiting structure</a:t>
            </a:r>
            <a:endParaRPr lang="en-US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21809D7-86A4-9E4C-2072-9379DF7004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048" y="1182278"/>
            <a:ext cx="9992412" cy="63658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0488" tIns="44450" rIns="90488" bIns="44450" anchor="t" anchorCtr="0">
            <a:noAutofit/>
          </a:bodyPr>
          <a:lstStyle/>
          <a:p>
            <a:pPr marL="86360" indent="0">
              <a:lnSpc>
                <a:spcPct val="90000"/>
              </a:lnSpc>
              <a:buNone/>
            </a:pPr>
            <a:r>
              <a:rPr lang="en-US" altLang="en-US" sz="2400" dirty="0"/>
              <a:t>Fitting concave functions using piecewise linear approximations: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920381" y="2100409"/>
            <a:ext cx="7150100" cy="3708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2879231" y="5230959"/>
            <a:ext cx="5651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2866531" y="2729059"/>
            <a:ext cx="0" cy="251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Object 7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1900338"/>
              </p:ext>
            </p:extLst>
          </p:nvPr>
        </p:nvGraphicFramePr>
        <p:xfrm>
          <a:off x="8594232" y="5053159"/>
          <a:ext cx="3524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040" imgH="190440" progId="Equation.DSMT4">
                  <p:embed/>
                </p:oleObj>
              </mc:Choice>
              <mc:Fallback>
                <p:oleObj name="Equation" r:id="rId3" imgW="203040" imgH="190440" progId="Equation.DSMT4">
                  <p:embed/>
                  <p:pic>
                    <p:nvPicPr>
                      <p:cNvPr id="2114567" name="Object 7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4232" y="5053159"/>
                        <a:ext cx="3524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8"/>
          <p:cNvSpPr>
            <a:spLocks noChangeShapeType="1"/>
          </p:cNvSpPr>
          <p:nvPr/>
        </p:nvSpPr>
        <p:spPr bwMode="auto">
          <a:xfrm flipV="1">
            <a:off x="2872881" y="4208609"/>
            <a:ext cx="5575300" cy="102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V="1">
            <a:off x="2872881" y="3929209"/>
            <a:ext cx="2374900" cy="128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5260481" y="3421209"/>
            <a:ext cx="16637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216031" y="3916509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6917831" y="3167209"/>
            <a:ext cx="0" cy="203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>
                <a:hlinkClick r:id="" action="ppaction://ole?verb=0"/>
              </p:cNvPr>
              <p:cNvSpPr txBox="1"/>
              <p:nvPr/>
            </p:nvSpPr>
            <p:spPr bwMode="auto">
              <a:xfrm>
                <a:off x="7038481" y="2933847"/>
                <a:ext cx="7366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Object 1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8481" y="2933847"/>
                <a:ext cx="736600" cy="444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hlinkClick r:id="" action="ppaction://ole?verb=0"/>
              </p:cNvPr>
              <p:cNvSpPr txBox="1"/>
              <p:nvPr/>
            </p:nvSpPr>
            <p:spPr bwMode="auto">
              <a:xfrm>
                <a:off x="6163769" y="3087834"/>
                <a:ext cx="696912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Object 1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3769" y="3087834"/>
                <a:ext cx="696912" cy="431800"/>
              </a:xfrm>
              <a:prstGeom prst="rect">
                <a:avLst/>
              </a:prstGeom>
              <a:blipFill>
                <a:blip r:embed="rId6"/>
                <a:stretch>
                  <a:fillRect r="-35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Object 16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1117527"/>
              </p:ext>
            </p:extLst>
          </p:nvPr>
        </p:nvGraphicFramePr>
        <p:xfrm>
          <a:off x="6662245" y="5297634"/>
          <a:ext cx="534987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560" imgH="215640" progId="Equation.DSMT4">
                  <p:embed/>
                </p:oleObj>
              </mc:Choice>
              <mc:Fallback>
                <p:oleObj name="Equation" r:id="rId7" imgW="304560" imgH="215640" progId="Equation.DSMT4">
                  <p:embed/>
                  <p:pic>
                    <p:nvPicPr>
                      <p:cNvPr id="2114576" name="Object 16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245" y="5297634"/>
                        <a:ext cx="534987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7"/>
          <p:cNvSpPr>
            <a:spLocks noChangeShapeType="1"/>
          </p:cNvSpPr>
          <p:nvPr/>
        </p:nvSpPr>
        <p:spPr bwMode="auto">
          <a:xfrm flipV="1">
            <a:off x="6936881" y="3319609"/>
            <a:ext cx="1651000" cy="114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18"/>
          <p:cNvSpPr>
            <a:spLocks noChangeArrowheads="1"/>
          </p:cNvSpPr>
          <p:nvPr/>
        </p:nvSpPr>
        <p:spPr bwMode="auto">
          <a:xfrm>
            <a:off x="6886081" y="3402159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9">
                <a:hlinkClick r:id="" action="ppaction://ole?verb=0"/>
              </p:cNvPr>
              <p:cNvSpPr txBox="1"/>
              <p:nvPr/>
            </p:nvSpPr>
            <p:spPr bwMode="auto">
              <a:xfrm>
                <a:off x="2368056" y="2246460"/>
                <a:ext cx="1035050" cy="487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Object 1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8056" y="2246460"/>
                <a:ext cx="1035050" cy="4873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062891"/>
      </p:ext>
    </p:extLst>
  </p:cSld>
  <p:clrMapOvr>
    <a:masterClrMapping/>
  </p:clrMapOvr>
  <p:transition/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5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0488" tIns="44450" rIns="90488" bIns="44450" anchor="ctr" anchorCtr="0">
            <a:noAutofit/>
          </a:bodyPr>
          <a:lstStyle/>
          <a:p>
            <a:r>
              <a:rPr lang="en-US" dirty="0"/>
              <a:t>Estimation: Exploiting structure</a:t>
            </a:r>
            <a:endParaRPr lang="en-US" altLang="en-US" dirty="0"/>
          </a:p>
        </p:txBody>
      </p:sp>
      <p:sp>
        <p:nvSpPr>
          <p:cNvPr id="211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9048" y="1182278"/>
            <a:ext cx="9992412" cy="63658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0488" tIns="44450" rIns="90488" bIns="44450" anchor="t" anchorCtr="0">
            <a:noAutofit/>
          </a:bodyPr>
          <a:lstStyle/>
          <a:p>
            <a:pPr marL="86360" indent="0">
              <a:lnSpc>
                <a:spcPct val="90000"/>
              </a:lnSpc>
              <a:buNone/>
            </a:pPr>
            <a:r>
              <a:rPr lang="en-US" altLang="en-US" sz="2400" dirty="0"/>
              <a:t>Fitting concave functions using piecewise linear approximations:</a:t>
            </a:r>
          </a:p>
        </p:txBody>
      </p:sp>
      <p:sp>
        <p:nvSpPr>
          <p:cNvPr id="2112516" name="Rectangle 4"/>
          <p:cNvSpPr>
            <a:spLocks noChangeArrowheads="1"/>
          </p:cNvSpPr>
          <p:nvPr/>
        </p:nvSpPr>
        <p:spPr bwMode="auto">
          <a:xfrm>
            <a:off x="1910956" y="2072129"/>
            <a:ext cx="7150100" cy="3708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2517" name="Line 5"/>
          <p:cNvSpPr>
            <a:spLocks noChangeShapeType="1"/>
          </p:cNvSpPr>
          <p:nvPr/>
        </p:nvSpPr>
        <p:spPr bwMode="auto">
          <a:xfrm>
            <a:off x="2869806" y="5202679"/>
            <a:ext cx="5651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2518" name="Line 6"/>
          <p:cNvSpPr>
            <a:spLocks noChangeShapeType="1"/>
          </p:cNvSpPr>
          <p:nvPr/>
        </p:nvSpPr>
        <p:spPr bwMode="auto">
          <a:xfrm flipV="1">
            <a:off x="2857106" y="2700779"/>
            <a:ext cx="0" cy="251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12521" name="Object 9">
                <a:hlinkClick r:id="" action="ppaction://ole?verb=0"/>
              </p:cNvPr>
              <p:cNvSpPr txBox="1"/>
              <p:nvPr/>
            </p:nvSpPr>
            <p:spPr bwMode="auto">
              <a:xfrm>
                <a:off x="2009382" y="2700780"/>
                <a:ext cx="847725" cy="487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12521" name="Object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9382" y="2700780"/>
                <a:ext cx="847725" cy="487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2522" name="Object 10">
                <a:hlinkClick r:id="" action="ppaction://ole?verb=0"/>
              </p:cNvPr>
              <p:cNvSpPr txBox="1"/>
              <p:nvPr/>
            </p:nvSpPr>
            <p:spPr bwMode="auto">
              <a:xfrm>
                <a:off x="5138344" y="5283642"/>
                <a:ext cx="285750" cy="3984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12522" name="Object 10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38344" y="5283642"/>
                <a:ext cx="285750" cy="398462"/>
              </a:xfrm>
              <a:prstGeom prst="rect">
                <a:avLst/>
              </a:prstGeom>
              <a:blipFill>
                <a:blip r:embed="rId4"/>
                <a:stretch>
                  <a:fillRect r="-42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reeform 1"/>
          <p:cNvSpPr/>
          <p:nvPr/>
        </p:nvSpPr>
        <p:spPr>
          <a:xfrm>
            <a:off x="2862472" y="5205720"/>
            <a:ext cx="5486400" cy="0"/>
          </a:xfrm>
          <a:custGeom>
            <a:avLst/>
            <a:gdLst>
              <a:gd name="connsiteX0" fmla="*/ 0 w 5486400"/>
              <a:gd name="connsiteY0" fmla="*/ 0 h 0"/>
              <a:gd name="connsiteX1" fmla="*/ 5486400 w 54864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86400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38100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3330348" y="2700779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>
            <a:off x="3807612" y="2696763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4284876" y="2704779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4750108" y="2700763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>
            <a:off x="5215340" y="2696747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>
            <a:off x="5692604" y="2704763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>
            <a:off x="6169868" y="2700747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/>
          <p:nvPr/>
        </p:nvCxnSpPr>
        <p:spPr bwMode="auto">
          <a:xfrm>
            <a:off x="6647132" y="2696731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7124396" y="2704747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7589628" y="2700731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>
            <a:off x="8066892" y="2696715"/>
            <a:ext cx="0" cy="249855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Freeform 10"/>
          <p:cNvSpPr/>
          <p:nvPr/>
        </p:nvSpPr>
        <p:spPr>
          <a:xfrm>
            <a:off x="2861117" y="4048317"/>
            <a:ext cx="5462336" cy="1155031"/>
          </a:xfrm>
          <a:custGeom>
            <a:avLst/>
            <a:gdLst>
              <a:gd name="connsiteX0" fmla="*/ 0 w 5462336"/>
              <a:gd name="connsiteY0" fmla="*/ 1155031 h 1155031"/>
              <a:gd name="connsiteX1" fmla="*/ 2370221 w 5462336"/>
              <a:gd name="connsiteY1" fmla="*/ 0 h 1155031"/>
              <a:gd name="connsiteX2" fmla="*/ 5462336 w 5462336"/>
              <a:gd name="connsiteY2" fmla="*/ 0 h 1155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62336" h="1155031">
                <a:moveTo>
                  <a:pt x="0" y="1155031"/>
                </a:moveTo>
                <a:lnTo>
                  <a:pt x="2370221" y="0"/>
                </a:lnTo>
                <a:lnTo>
                  <a:pt x="5462336" y="0"/>
                </a:lnTo>
              </a:path>
            </a:pathLst>
          </a:custGeom>
          <a:noFill/>
          <a:ln w="28575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2837053" y="3699401"/>
            <a:ext cx="5257800" cy="1503947"/>
          </a:xfrm>
          <a:custGeom>
            <a:avLst/>
            <a:gdLst>
              <a:gd name="connsiteX0" fmla="*/ 0 w 5257800"/>
              <a:gd name="connsiteY0" fmla="*/ 1503947 h 1503947"/>
              <a:gd name="connsiteX1" fmla="*/ 2406316 w 5257800"/>
              <a:gd name="connsiteY1" fmla="*/ 336884 h 1503947"/>
              <a:gd name="connsiteX2" fmla="*/ 3838074 w 5257800"/>
              <a:gd name="connsiteY2" fmla="*/ 0 h 1503947"/>
              <a:gd name="connsiteX3" fmla="*/ 5257800 w 5257800"/>
              <a:gd name="connsiteY3" fmla="*/ 324853 h 1503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1503947">
                <a:moveTo>
                  <a:pt x="0" y="1503947"/>
                </a:moveTo>
                <a:lnTo>
                  <a:pt x="2406316" y="336884"/>
                </a:lnTo>
                <a:lnTo>
                  <a:pt x="3838074" y="0"/>
                </a:lnTo>
                <a:lnTo>
                  <a:pt x="5257800" y="324853"/>
                </a:lnTo>
              </a:path>
            </a:pathLst>
          </a:custGeom>
          <a:noFill/>
          <a:ln w="28575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837053" y="3386579"/>
            <a:ext cx="5257800" cy="1840832"/>
          </a:xfrm>
          <a:custGeom>
            <a:avLst/>
            <a:gdLst>
              <a:gd name="connsiteX0" fmla="*/ 0 w 5257800"/>
              <a:gd name="connsiteY0" fmla="*/ 1840832 h 1840832"/>
              <a:gd name="connsiteX1" fmla="*/ 998621 w 5257800"/>
              <a:gd name="connsiteY1" fmla="*/ 745958 h 1840832"/>
              <a:gd name="connsiteX2" fmla="*/ 2394285 w 5257800"/>
              <a:gd name="connsiteY2" fmla="*/ 132347 h 1840832"/>
              <a:gd name="connsiteX3" fmla="*/ 3826042 w 5257800"/>
              <a:gd name="connsiteY3" fmla="*/ 0 h 1840832"/>
              <a:gd name="connsiteX4" fmla="*/ 5257800 w 5257800"/>
              <a:gd name="connsiteY4" fmla="*/ 324853 h 18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7800" h="1840832">
                <a:moveTo>
                  <a:pt x="0" y="1840832"/>
                </a:moveTo>
                <a:lnTo>
                  <a:pt x="998621" y="745958"/>
                </a:lnTo>
                <a:lnTo>
                  <a:pt x="2394285" y="132347"/>
                </a:lnTo>
                <a:lnTo>
                  <a:pt x="3826042" y="0"/>
                </a:lnTo>
                <a:lnTo>
                  <a:pt x="5257800" y="324853"/>
                </a:lnTo>
              </a:path>
            </a:pathLst>
          </a:custGeom>
          <a:noFill/>
          <a:ln w="28575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2849086" y="3242201"/>
            <a:ext cx="5233737" cy="1973179"/>
          </a:xfrm>
          <a:custGeom>
            <a:avLst/>
            <a:gdLst>
              <a:gd name="connsiteX0" fmla="*/ 0 w 5233737"/>
              <a:gd name="connsiteY0" fmla="*/ 1973179 h 1973179"/>
              <a:gd name="connsiteX1" fmla="*/ 986589 w 5233737"/>
              <a:gd name="connsiteY1" fmla="*/ 914400 h 1973179"/>
              <a:gd name="connsiteX2" fmla="*/ 1913021 w 5233737"/>
              <a:gd name="connsiteY2" fmla="*/ 312821 h 1973179"/>
              <a:gd name="connsiteX3" fmla="*/ 2358189 w 5233737"/>
              <a:gd name="connsiteY3" fmla="*/ 132347 h 1973179"/>
              <a:gd name="connsiteX4" fmla="*/ 3826042 w 5233737"/>
              <a:gd name="connsiteY4" fmla="*/ 0 h 1973179"/>
              <a:gd name="connsiteX5" fmla="*/ 5233737 w 5233737"/>
              <a:gd name="connsiteY5" fmla="*/ 324853 h 1973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33737" h="1973179">
                <a:moveTo>
                  <a:pt x="0" y="1973179"/>
                </a:moveTo>
                <a:lnTo>
                  <a:pt x="986589" y="914400"/>
                </a:lnTo>
                <a:lnTo>
                  <a:pt x="1913021" y="312821"/>
                </a:lnTo>
                <a:lnTo>
                  <a:pt x="2358189" y="132347"/>
                </a:lnTo>
                <a:lnTo>
                  <a:pt x="3826042" y="0"/>
                </a:lnTo>
                <a:lnTo>
                  <a:pt x="5233737" y="324853"/>
                </a:lnTo>
              </a:path>
            </a:pathLst>
          </a:custGeom>
          <a:noFill/>
          <a:ln w="28575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2837054" y="3314391"/>
            <a:ext cx="5233737" cy="1913021"/>
          </a:xfrm>
          <a:custGeom>
            <a:avLst/>
            <a:gdLst>
              <a:gd name="connsiteX0" fmla="*/ 0 w 5233737"/>
              <a:gd name="connsiteY0" fmla="*/ 1913021 h 1913021"/>
              <a:gd name="connsiteX1" fmla="*/ 974558 w 5233737"/>
              <a:gd name="connsiteY1" fmla="*/ 830178 h 1913021"/>
              <a:gd name="connsiteX2" fmla="*/ 1900990 w 5233737"/>
              <a:gd name="connsiteY2" fmla="*/ 252663 h 1913021"/>
              <a:gd name="connsiteX3" fmla="*/ 2394285 w 5233737"/>
              <a:gd name="connsiteY3" fmla="*/ 36094 h 1913021"/>
              <a:gd name="connsiteX4" fmla="*/ 2875548 w 5233737"/>
              <a:gd name="connsiteY4" fmla="*/ 12031 h 1913021"/>
              <a:gd name="connsiteX5" fmla="*/ 3838074 w 5233737"/>
              <a:gd name="connsiteY5" fmla="*/ 0 h 1913021"/>
              <a:gd name="connsiteX6" fmla="*/ 5233737 w 5233737"/>
              <a:gd name="connsiteY6" fmla="*/ 312821 h 1913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33737" h="1913021">
                <a:moveTo>
                  <a:pt x="0" y="1913021"/>
                </a:moveTo>
                <a:lnTo>
                  <a:pt x="974558" y="830178"/>
                </a:lnTo>
                <a:lnTo>
                  <a:pt x="1900990" y="252663"/>
                </a:lnTo>
                <a:lnTo>
                  <a:pt x="2394285" y="36094"/>
                </a:lnTo>
                <a:lnTo>
                  <a:pt x="2875548" y="12031"/>
                </a:lnTo>
                <a:lnTo>
                  <a:pt x="3838074" y="0"/>
                </a:lnTo>
                <a:lnTo>
                  <a:pt x="5233737" y="312821"/>
                </a:lnTo>
              </a:path>
            </a:pathLst>
          </a:custGeom>
          <a:noFill/>
          <a:ln w="28575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837054" y="3338454"/>
            <a:ext cx="5245769" cy="1913021"/>
          </a:xfrm>
          <a:custGeom>
            <a:avLst/>
            <a:gdLst>
              <a:gd name="connsiteX0" fmla="*/ 0 w 5245769"/>
              <a:gd name="connsiteY0" fmla="*/ 1913021 h 1913021"/>
              <a:gd name="connsiteX1" fmla="*/ 974558 w 5245769"/>
              <a:gd name="connsiteY1" fmla="*/ 794084 h 1913021"/>
              <a:gd name="connsiteX2" fmla="*/ 1900990 w 5245769"/>
              <a:gd name="connsiteY2" fmla="*/ 204537 h 1913021"/>
              <a:gd name="connsiteX3" fmla="*/ 2394285 w 5245769"/>
              <a:gd name="connsiteY3" fmla="*/ 12031 h 1913021"/>
              <a:gd name="connsiteX4" fmla="*/ 2863516 w 5245769"/>
              <a:gd name="connsiteY4" fmla="*/ 0 h 1913021"/>
              <a:gd name="connsiteX5" fmla="*/ 3332748 w 5245769"/>
              <a:gd name="connsiteY5" fmla="*/ 36094 h 1913021"/>
              <a:gd name="connsiteX6" fmla="*/ 3826042 w 5245769"/>
              <a:gd name="connsiteY6" fmla="*/ 144379 h 1913021"/>
              <a:gd name="connsiteX7" fmla="*/ 5245769 w 5245769"/>
              <a:gd name="connsiteY7" fmla="*/ 601579 h 1913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5769" h="1913021">
                <a:moveTo>
                  <a:pt x="0" y="1913021"/>
                </a:moveTo>
                <a:lnTo>
                  <a:pt x="974558" y="794084"/>
                </a:lnTo>
                <a:lnTo>
                  <a:pt x="1900990" y="204537"/>
                </a:lnTo>
                <a:lnTo>
                  <a:pt x="2394285" y="12031"/>
                </a:lnTo>
                <a:lnTo>
                  <a:pt x="2863516" y="0"/>
                </a:lnTo>
                <a:lnTo>
                  <a:pt x="3332748" y="36094"/>
                </a:lnTo>
                <a:lnTo>
                  <a:pt x="3826042" y="144379"/>
                </a:lnTo>
                <a:lnTo>
                  <a:pt x="5245769" y="601579"/>
                </a:lnTo>
              </a:path>
            </a:pathLst>
          </a:custGeom>
          <a:noFill/>
          <a:ln w="28575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496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AAD1-DB47-FFCD-BF27-249EF66B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01C5FFB-B75B-C0D8-A701-A5B3E051C9F7}"/>
              </a:ext>
            </a:extLst>
          </p:cNvPr>
          <p:cNvGrpSpPr/>
          <p:nvPr/>
        </p:nvGrpSpPr>
        <p:grpSpPr>
          <a:xfrm>
            <a:off x="0" y="-7392"/>
            <a:ext cx="12221333" cy="6894080"/>
            <a:chOff x="0" y="-7392"/>
            <a:chExt cx="12221333" cy="689408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881D8D2-79A8-D0C5-2426-A9DC42DD0FA8}"/>
                </a:ext>
              </a:extLst>
            </p:cNvPr>
            <p:cNvSpPr/>
            <p:nvPr/>
          </p:nvSpPr>
          <p:spPr>
            <a:xfrm>
              <a:off x="0" y="0"/>
              <a:ext cx="12221333" cy="6880485"/>
            </a:xfrm>
            <a:prstGeom prst="rect">
              <a:avLst/>
            </a:prstGeom>
            <a:solidFill>
              <a:srgbClr val="9EC7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42357F9-FE70-2835-90A7-65BDB68A7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506" y="-7392"/>
              <a:ext cx="11150359" cy="6894080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1C07EF0-CED0-1CE3-DBC9-DB6237466AD4}"/>
              </a:ext>
            </a:extLst>
          </p:cNvPr>
          <p:cNvSpPr/>
          <p:nvPr/>
        </p:nvSpPr>
        <p:spPr>
          <a:xfrm>
            <a:off x="3247394" y="5236062"/>
            <a:ext cx="226828" cy="226828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90BB87-505D-6ECA-AA5D-687CC56CE178}"/>
              </a:ext>
            </a:extLst>
          </p:cNvPr>
          <p:cNvCxnSpPr>
            <a:cxnSpLocks/>
            <a:stCxn id="9" idx="3"/>
            <a:endCxn id="77" idx="3"/>
          </p:cNvCxnSpPr>
          <p:nvPr/>
        </p:nvCxnSpPr>
        <p:spPr>
          <a:xfrm flipV="1">
            <a:off x="3474222" y="4358452"/>
            <a:ext cx="4644899" cy="9910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4371B5-A214-D6AC-CB5B-630413E69237}"/>
              </a:ext>
            </a:extLst>
          </p:cNvPr>
          <p:cNvCxnSpPr>
            <a:cxnSpLocks/>
            <a:stCxn id="9" idx="0"/>
            <a:endCxn id="74" idx="3"/>
          </p:cNvCxnSpPr>
          <p:nvPr/>
        </p:nvCxnSpPr>
        <p:spPr>
          <a:xfrm flipH="1" flipV="1">
            <a:off x="1835887" y="3167702"/>
            <a:ext cx="1524921" cy="20683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42FA48-264B-D8F4-CF63-942D56B7A8F1}"/>
              </a:ext>
            </a:extLst>
          </p:cNvPr>
          <p:cNvCxnSpPr>
            <a:cxnSpLocks/>
            <a:stCxn id="9" idx="1"/>
            <a:endCxn id="47" idx="2"/>
          </p:cNvCxnSpPr>
          <p:nvPr/>
        </p:nvCxnSpPr>
        <p:spPr>
          <a:xfrm flipH="1" flipV="1">
            <a:off x="1765578" y="3923171"/>
            <a:ext cx="1481816" cy="14263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2F70F6-5978-8F84-0C06-E143A86E0705}"/>
              </a:ext>
            </a:extLst>
          </p:cNvPr>
          <p:cNvCxnSpPr>
            <a:cxnSpLocks/>
            <a:stCxn id="9" idx="3"/>
            <a:endCxn id="75" idx="1"/>
          </p:cNvCxnSpPr>
          <p:nvPr/>
        </p:nvCxnSpPr>
        <p:spPr>
          <a:xfrm>
            <a:off x="3474222" y="5349476"/>
            <a:ext cx="1773405" cy="8797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0DD6BB6-FEC0-4783-B070-676D03FD2336}"/>
              </a:ext>
            </a:extLst>
          </p:cNvPr>
          <p:cNvGrpSpPr/>
          <p:nvPr/>
        </p:nvGrpSpPr>
        <p:grpSpPr>
          <a:xfrm>
            <a:off x="5914033" y="1266989"/>
            <a:ext cx="700392" cy="622040"/>
            <a:chOff x="5047748" y="1501150"/>
            <a:chExt cx="1071858" cy="951950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A738B8F-0E75-FD5B-E6F4-CFF7EC0199CB}"/>
                </a:ext>
              </a:extLst>
            </p:cNvPr>
            <p:cNvCxnSpPr>
              <a:cxnSpLocks/>
              <a:stCxn id="4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E4357A2-A20B-7FE3-EE46-3CE29E700667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48F6830-6382-872C-189A-F50890BC55F2}"/>
                </a:ext>
              </a:extLst>
            </p:cNvPr>
            <p:cNvCxnSpPr>
              <a:cxnSpLocks/>
              <a:stCxn id="4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F2C1CE7-5E4F-E697-C1A2-25D342C849ED}"/>
                </a:ext>
              </a:extLst>
            </p:cNvPr>
            <p:cNvCxnSpPr>
              <a:cxnSpLocks/>
              <a:stCxn id="4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A657CC0-CAF0-CB24-B2D4-D2FE00FBE6BB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6A1C771-CE5B-E00B-340C-815679A9D940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FBE3E67-F22A-EADF-03BE-7467439FF4FF}"/>
                </a:ext>
              </a:extLst>
            </p:cNvPr>
            <p:cNvCxnSpPr>
              <a:cxnSpLocks/>
              <a:stCxn id="4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E2F2E76-CA8F-C38F-08BE-CB801ACE2AA8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36D3A350-0F0C-0B44-6E20-CEA8E74F79D3}"/>
              </a:ext>
            </a:extLst>
          </p:cNvPr>
          <p:cNvSpPr/>
          <p:nvPr/>
        </p:nvSpPr>
        <p:spPr>
          <a:xfrm>
            <a:off x="1692746" y="3777508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59EE44D-EDDD-DF65-5EEB-57724C3AEA0A}"/>
              </a:ext>
            </a:extLst>
          </p:cNvPr>
          <p:cNvSpPr/>
          <p:nvPr/>
        </p:nvSpPr>
        <p:spPr>
          <a:xfrm>
            <a:off x="1690224" y="309487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3CB9AFB-2BC4-D01D-A69C-DFD2021931A9}"/>
              </a:ext>
            </a:extLst>
          </p:cNvPr>
          <p:cNvSpPr/>
          <p:nvPr/>
        </p:nvSpPr>
        <p:spPr>
          <a:xfrm>
            <a:off x="5247627" y="536462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51AEE44-DABB-0D21-37C0-0B09E9545AE1}"/>
              </a:ext>
            </a:extLst>
          </p:cNvPr>
          <p:cNvSpPr/>
          <p:nvPr/>
        </p:nvSpPr>
        <p:spPr>
          <a:xfrm>
            <a:off x="6221932" y="2670968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1C756FE-E2DD-0BF8-5783-25C9BF945838}"/>
              </a:ext>
            </a:extLst>
          </p:cNvPr>
          <p:cNvSpPr/>
          <p:nvPr/>
        </p:nvSpPr>
        <p:spPr>
          <a:xfrm>
            <a:off x="7973458" y="428562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6C610D7-AA15-DCFD-7540-3231F968FB01}"/>
              </a:ext>
            </a:extLst>
          </p:cNvPr>
          <p:cNvSpPr/>
          <p:nvPr/>
        </p:nvSpPr>
        <p:spPr>
          <a:xfrm>
            <a:off x="7607051" y="2790805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C77E8D3-D92C-CB34-D25B-9B33800BBD1D}"/>
              </a:ext>
            </a:extLst>
          </p:cNvPr>
          <p:cNvSpPr/>
          <p:nvPr/>
        </p:nvSpPr>
        <p:spPr>
          <a:xfrm>
            <a:off x="9384121" y="2644155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D553B2C-4739-6881-7C25-AC1EF8B21019}"/>
              </a:ext>
            </a:extLst>
          </p:cNvPr>
          <p:cNvCxnSpPr>
            <a:cxnSpLocks/>
            <a:stCxn id="9" idx="0"/>
            <a:endCxn id="76" idx="2"/>
          </p:cNvCxnSpPr>
          <p:nvPr/>
        </p:nvCxnSpPr>
        <p:spPr>
          <a:xfrm flipV="1">
            <a:off x="3360808" y="2816631"/>
            <a:ext cx="2933956" cy="241943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04887937-E7C6-6B9A-B467-681126784388}"/>
              </a:ext>
            </a:extLst>
          </p:cNvPr>
          <p:cNvSpPr/>
          <p:nvPr/>
        </p:nvSpPr>
        <p:spPr>
          <a:xfrm>
            <a:off x="3657832" y="3460304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2C11B61-DC95-BA06-F5F0-D600EBC7936A}"/>
              </a:ext>
            </a:extLst>
          </p:cNvPr>
          <p:cNvCxnSpPr>
            <a:cxnSpLocks/>
            <a:stCxn id="9" idx="0"/>
            <a:endCxn id="88" idx="2"/>
          </p:cNvCxnSpPr>
          <p:nvPr/>
        </p:nvCxnSpPr>
        <p:spPr>
          <a:xfrm flipV="1">
            <a:off x="3360808" y="3605967"/>
            <a:ext cx="369856" cy="163009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2839A4E-88AC-211E-3ECB-F198E4D3E093}"/>
              </a:ext>
            </a:extLst>
          </p:cNvPr>
          <p:cNvCxnSpPr>
            <a:cxnSpLocks/>
            <a:stCxn id="9" idx="3"/>
            <a:endCxn id="78" idx="1"/>
          </p:cNvCxnSpPr>
          <p:nvPr/>
        </p:nvCxnSpPr>
        <p:spPr>
          <a:xfrm flipV="1">
            <a:off x="3474222" y="2863637"/>
            <a:ext cx="4132829" cy="248583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555F963-A745-9C86-C27C-20FF9C563E6C}"/>
              </a:ext>
            </a:extLst>
          </p:cNvPr>
          <p:cNvCxnSpPr>
            <a:cxnSpLocks/>
            <a:stCxn id="9" idx="3"/>
            <a:endCxn id="80" idx="1"/>
          </p:cNvCxnSpPr>
          <p:nvPr/>
        </p:nvCxnSpPr>
        <p:spPr>
          <a:xfrm flipV="1">
            <a:off x="3474222" y="2716987"/>
            <a:ext cx="5909899" cy="263248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B98AF09-051C-8C78-D29B-3A8853984463}"/>
              </a:ext>
            </a:extLst>
          </p:cNvPr>
          <p:cNvGrpSpPr/>
          <p:nvPr/>
        </p:nvGrpSpPr>
        <p:grpSpPr>
          <a:xfrm>
            <a:off x="6636241" y="2052596"/>
            <a:ext cx="700392" cy="622040"/>
            <a:chOff x="5047748" y="1501150"/>
            <a:chExt cx="1071858" cy="951950"/>
          </a:xfrm>
        </p:grpSpPr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BCEB1A6-F1AD-803D-6A8B-54EEF7284ADE}"/>
                </a:ext>
              </a:extLst>
            </p:cNvPr>
            <p:cNvCxnSpPr>
              <a:cxnSpLocks/>
              <a:stCxn id="10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133DAC05-046B-A949-3697-D4710B17BEE8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ACC431B-1B6A-47F4-2577-A1ABCC987114}"/>
                </a:ext>
              </a:extLst>
            </p:cNvPr>
            <p:cNvCxnSpPr>
              <a:cxnSpLocks/>
              <a:stCxn id="10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A19A6471-D748-E9ED-E105-EC17CCF3FBA6}"/>
                </a:ext>
              </a:extLst>
            </p:cNvPr>
            <p:cNvCxnSpPr>
              <a:cxnSpLocks/>
              <a:stCxn id="10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20B98871-960E-977E-80EF-DD7C0B47C8F6}"/>
                </a:ext>
              </a:extLst>
            </p:cNvPr>
            <p:cNvCxnSpPr>
              <a:cxnSpLocks/>
              <a:stCxn id="10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1F84D7F-186B-F742-6019-6AC6B2B244E2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89EEDA0-3FDE-F430-DE4C-20EBA96D4876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48A05E6A-15FB-14BE-735B-2177F250D358}"/>
                </a:ext>
              </a:extLst>
            </p:cNvPr>
            <p:cNvCxnSpPr>
              <a:cxnSpLocks/>
              <a:stCxn id="10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DB9A09B-D9B0-C43D-BAA2-0E4C863A8D66}"/>
              </a:ext>
            </a:extLst>
          </p:cNvPr>
          <p:cNvGrpSpPr/>
          <p:nvPr/>
        </p:nvGrpSpPr>
        <p:grpSpPr>
          <a:xfrm>
            <a:off x="7883862" y="4685855"/>
            <a:ext cx="1170372" cy="1184365"/>
            <a:chOff x="4436305" y="1496693"/>
            <a:chExt cx="1791100" cy="1812513"/>
          </a:xfrm>
        </p:grpSpPr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3F96E3D8-CCBC-58F0-D338-E25C2FEFE10F}"/>
                </a:ext>
              </a:extLst>
            </p:cNvPr>
            <p:cNvCxnSpPr>
              <a:cxnSpLocks/>
              <a:stCxn id="109" idx="7"/>
            </p:cNvCxnSpPr>
            <p:nvPr/>
          </p:nvCxnSpPr>
          <p:spPr>
            <a:xfrm flipV="1">
              <a:off x="5571659" y="1496693"/>
              <a:ext cx="144549" cy="45141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2B78F6B-7B44-4A20-E0B4-7D4E1A58F16E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97A988E-2CBA-9B51-DAAA-0DE93F55271B}"/>
                </a:ext>
              </a:extLst>
            </p:cNvPr>
            <p:cNvCxnSpPr>
              <a:cxnSpLocks/>
              <a:stCxn id="109" idx="6"/>
            </p:cNvCxnSpPr>
            <p:nvPr/>
          </p:nvCxnSpPr>
          <p:spPr>
            <a:xfrm flipV="1">
              <a:off x="5583677" y="1956607"/>
              <a:ext cx="154586" cy="2051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356D5834-7A7A-335A-0F5A-458441B8A89F}"/>
                </a:ext>
              </a:extLst>
            </p:cNvPr>
            <p:cNvCxnSpPr>
              <a:cxnSpLocks/>
              <a:stCxn id="109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49C3002D-3CC1-98AD-AAC5-D023B8C09810}"/>
                </a:ext>
              </a:extLst>
            </p:cNvPr>
            <p:cNvCxnSpPr>
              <a:cxnSpLocks/>
              <a:stCxn id="109" idx="4"/>
            </p:cNvCxnSpPr>
            <p:nvPr/>
          </p:nvCxnSpPr>
          <p:spPr>
            <a:xfrm>
              <a:off x="5542643" y="2018159"/>
              <a:ext cx="684762" cy="129104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023F258-54E4-787F-C0C1-815E98A2C675}"/>
                </a:ext>
              </a:extLst>
            </p:cNvPr>
            <p:cNvCxnSpPr>
              <a:cxnSpLocks/>
              <a:stCxn id="109" idx="3"/>
            </p:cNvCxnSpPr>
            <p:nvPr/>
          </p:nvCxnSpPr>
          <p:spPr>
            <a:xfrm>
              <a:off x="5513627" y="2006141"/>
              <a:ext cx="70050" cy="63315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B6B0F6F4-F4C6-4E32-0988-5A189E590630}"/>
                </a:ext>
              </a:extLst>
            </p:cNvPr>
            <p:cNvCxnSpPr>
              <a:cxnSpLocks/>
              <a:stCxn id="109" idx="0"/>
            </p:cNvCxnSpPr>
            <p:nvPr/>
          </p:nvCxnSpPr>
          <p:spPr>
            <a:xfrm flipH="1" flipV="1">
              <a:off x="5115464" y="1695615"/>
              <a:ext cx="427179" cy="24047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E1E27025-7D28-5B04-A852-CD5634F0E791}"/>
                </a:ext>
              </a:extLst>
            </p:cNvPr>
            <p:cNvCxnSpPr>
              <a:cxnSpLocks/>
              <a:stCxn id="109" idx="1"/>
            </p:cNvCxnSpPr>
            <p:nvPr/>
          </p:nvCxnSpPr>
          <p:spPr>
            <a:xfrm flipH="1">
              <a:off x="4436305" y="1948109"/>
              <a:ext cx="107732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55B58E5-33D3-C6C1-5744-95EDEA25EE8E}"/>
              </a:ext>
            </a:extLst>
          </p:cNvPr>
          <p:cNvGrpSpPr/>
          <p:nvPr/>
        </p:nvGrpSpPr>
        <p:grpSpPr>
          <a:xfrm>
            <a:off x="1342550" y="411043"/>
            <a:ext cx="700392" cy="622040"/>
            <a:chOff x="5047748" y="1501150"/>
            <a:chExt cx="1071858" cy="951950"/>
          </a:xfrm>
        </p:grpSpPr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1D76075C-32BB-057C-5541-1A7D3B3919AA}"/>
                </a:ext>
              </a:extLst>
            </p:cNvPr>
            <p:cNvCxnSpPr>
              <a:cxnSpLocks/>
              <a:stCxn id="124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1708BF6-59B4-D51C-B57F-78DDFA147945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EF82D27D-A2FA-D45F-2440-57250538224D}"/>
                </a:ext>
              </a:extLst>
            </p:cNvPr>
            <p:cNvCxnSpPr>
              <a:cxnSpLocks/>
              <a:stCxn id="124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95CB8A2-0DD5-30DC-03EF-60613DB43B0D}"/>
                </a:ext>
              </a:extLst>
            </p:cNvPr>
            <p:cNvCxnSpPr>
              <a:cxnSpLocks/>
              <a:stCxn id="124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D82370C4-EFF2-FE0E-AAFB-A462837CDC19}"/>
                </a:ext>
              </a:extLst>
            </p:cNvPr>
            <p:cNvCxnSpPr>
              <a:cxnSpLocks/>
              <a:stCxn id="124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583005EA-49C5-9785-7695-B2F3C652C471}"/>
                </a:ext>
              </a:extLst>
            </p:cNvPr>
            <p:cNvCxnSpPr>
              <a:cxnSpLocks/>
              <a:stCxn id="124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6AAF681A-1E89-1622-C872-A3013BF4AF57}"/>
                </a:ext>
              </a:extLst>
            </p:cNvPr>
            <p:cNvCxnSpPr>
              <a:cxnSpLocks/>
              <a:stCxn id="124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779ED939-8934-C367-A398-0571E870FD9A}"/>
                </a:ext>
              </a:extLst>
            </p:cNvPr>
            <p:cNvCxnSpPr>
              <a:cxnSpLocks/>
              <a:stCxn id="124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5F0E60B-2737-5E61-C986-AE4D1C59C03A}"/>
              </a:ext>
            </a:extLst>
          </p:cNvPr>
          <p:cNvGrpSpPr/>
          <p:nvPr/>
        </p:nvGrpSpPr>
        <p:grpSpPr>
          <a:xfrm>
            <a:off x="808703" y="1372018"/>
            <a:ext cx="583478" cy="622040"/>
            <a:chOff x="5226669" y="1501150"/>
            <a:chExt cx="892937" cy="951950"/>
          </a:xfrm>
        </p:grpSpPr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09821AFB-5381-8E35-4168-F6DE3F3FF20C}"/>
                </a:ext>
              </a:extLst>
            </p:cNvPr>
            <p:cNvCxnSpPr>
              <a:cxnSpLocks/>
              <a:stCxn id="133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E653329-DFB2-05D0-15E2-15E00A582538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EC741FCA-DF17-9C38-3463-FF65AD1A8152}"/>
                </a:ext>
              </a:extLst>
            </p:cNvPr>
            <p:cNvCxnSpPr>
              <a:cxnSpLocks/>
              <a:stCxn id="133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3B012B3E-2B32-C495-65FE-B5EBF9028280}"/>
                </a:ext>
              </a:extLst>
            </p:cNvPr>
            <p:cNvCxnSpPr>
              <a:cxnSpLocks/>
              <a:stCxn id="133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8A175350-3BB3-7445-7B77-ACF42E837956}"/>
                </a:ext>
              </a:extLst>
            </p:cNvPr>
            <p:cNvCxnSpPr>
              <a:cxnSpLocks/>
              <a:stCxn id="133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37DC82CD-D6D2-74A7-D2C4-0FBA5604624E}"/>
                </a:ext>
              </a:extLst>
            </p:cNvPr>
            <p:cNvCxnSpPr>
              <a:cxnSpLocks/>
              <a:stCxn id="133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03911FF9-3036-195B-FF1F-499BE71B0D50}"/>
                </a:ext>
              </a:extLst>
            </p:cNvPr>
            <p:cNvCxnSpPr>
              <a:cxnSpLocks/>
              <a:stCxn id="133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6111839B-7CCA-9601-D019-AA515A57DABD}"/>
                </a:ext>
              </a:extLst>
            </p:cNvPr>
            <p:cNvCxnSpPr>
              <a:cxnSpLocks/>
              <a:stCxn id="133" idx="1"/>
            </p:cNvCxnSpPr>
            <p:nvPr/>
          </p:nvCxnSpPr>
          <p:spPr>
            <a:xfrm flipH="1" flipV="1">
              <a:off x="5344728" y="1787318"/>
              <a:ext cx="168899" cy="1607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436251C-E793-84F8-9B6E-0F06DD1AFEDD}"/>
              </a:ext>
            </a:extLst>
          </p:cNvPr>
          <p:cNvGrpSpPr/>
          <p:nvPr/>
        </p:nvGrpSpPr>
        <p:grpSpPr>
          <a:xfrm>
            <a:off x="1392181" y="4140045"/>
            <a:ext cx="506334" cy="359833"/>
            <a:chOff x="5344728" y="1666672"/>
            <a:chExt cx="774878" cy="550677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F39BA39-6A89-B88C-559C-50C4BCB318D8}"/>
                </a:ext>
              </a:extLst>
            </p:cNvPr>
            <p:cNvCxnSpPr>
              <a:cxnSpLocks/>
              <a:stCxn id="144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D5C8F19-3A1D-F753-4FB6-9C6FEDAB227D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CA5FFDDA-FFA5-D478-F281-F18481FDBAD4}"/>
                </a:ext>
              </a:extLst>
            </p:cNvPr>
            <p:cNvCxnSpPr>
              <a:cxnSpLocks/>
              <a:stCxn id="144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D5002016-E408-7CB7-C5F7-084883910CCC}"/>
                </a:ext>
              </a:extLst>
            </p:cNvPr>
            <p:cNvCxnSpPr>
              <a:cxnSpLocks/>
              <a:stCxn id="144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051F09D-ABD5-B9EB-CD3C-61B25C220F3F}"/>
                </a:ext>
              </a:extLst>
            </p:cNvPr>
            <p:cNvCxnSpPr>
              <a:cxnSpLocks/>
              <a:stCxn id="144" idx="4"/>
            </p:cNvCxnSpPr>
            <p:nvPr/>
          </p:nvCxnSpPr>
          <p:spPr>
            <a:xfrm>
              <a:off x="5542643" y="2018159"/>
              <a:ext cx="29014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5A44485F-B93F-6975-82C2-90FD0B0CB716}"/>
                </a:ext>
              </a:extLst>
            </p:cNvPr>
            <p:cNvCxnSpPr>
              <a:cxnSpLocks/>
              <a:stCxn id="144" idx="1"/>
            </p:cNvCxnSpPr>
            <p:nvPr/>
          </p:nvCxnSpPr>
          <p:spPr>
            <a:xfrm flipH="1" flipV="1">
              <a:off x="5344728" y="1787318"/>
              <a:ext cx="168899" cy="1607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1018540-20F0-68ED-E524-B51B08DF6873}"/>
              </a:ext>
            </a:extLst>
          </p:cNvPr>
          <p:cNvGrpSpPr/>
          <p:nvPr/>
        </p:nvGrpSpPr>
        <p:grpSpPr>
          <a:xfrm>
            <a:off x="896772" y="3399845"/>
            <a:ext cx="522036" cy="521735"/>
            <a:chOff x="5320698" y="1501150"/>
            <a:chExt cx="798908" cy="798447"/>
          </a:xfrm>
        </p:grpSpPr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D6C955CC-A235-9479-D39E-A70002F1E0C1}"/>
                </a:ext>
              </a:extLst>
            </p:cNvPr>
            <p:cNvCxnSpPr>
              <a:cxnSpLocks/>
              <a:stCxn id="155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C28FEBB8-94FD-A43E-FB76-E46877E556A0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C902849C-21C8-82FC-E9ED-225FF530414A}"/>
                </a:ext>
              </a:extLst>
            </p:cNvPr>
            <p:cNvCxnSpPr>
              <a:cxnSpLocks/>
              <a:stCxn id="155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B5FDF2C0-CFD3-EC21-A54F-8BBED18F6DBB}"/>
                </a:ext>
              </a:extLst>
            </p:cNvPr>
            <p:cNvCxnSpPr>
              <a:cxnSpLocks/>
              <a:stCxn id="155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3A1E98E9-178B-BD1C-6DD7-0AC8627F4DAE}"/>
                </a:ext>
              </a:extLst>
            </p:cNvPr>
            <p:cNvCxnSpPr>
              <a:cxnSpLocks/>
              <a:stCxn id="155" idx="4"/>
            </p:cNvCxnSpPr>
            <p:nvPr/>
          </p:nvCxnSpPr>
          <p:spPr>
            <a:xfrm>
              <a:off x="5542643" y="2018159"/>
              <a:ext cx="259901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6CFA248D-6B0D-AFCD-8B95-B27A64F43329}"/>
                </a:ext>
              </a:extLst>
            </p:cNvPr>
            <p:cNvCxnSpPr>
              <a:cxnSpLocks/>
              <a:stCxn id="155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E785DBB0-F775-09DA-F1DB-23DBCB700B57}"/>
                </a:ext>
              </a:extLst>
            </p:cNvPr>
            <p:cNvCxnSpPr>
              <a:cxnSpLocks/>
              <a:stCxn id="155" idx="1"/>
            </p:cNvCxnSpPr>
            <p:nvPr/>
          </p:nvCxnSpPr>
          <p:spPr>
            <a:xfrm flipH="1" flipV="1">
              <a:off x="5320698" y="1621347"/>
              <a:ext cx="192929" cy="32676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6D7851C-40D5-317F-53AC-53C38E7E0D12}"/>
              </a:ext>
            </a:extLst>
          </p:cNvPr>
          <p:cNvGrpSpPr/>
          <p:nvPr/>
        </p:nvGrpSpPr>
        <p:grpSpPr>
          <a:xfrm>
            <a:off x="749056" y="2492703"/>
            <a:ext cx="485164" cy="795388"/>
            <a:chOff x="5377126" y="1235864"/>
            <a:chExt cx="742480" cy="1217236"/>
          </a:xfrm>
        </p:grpSpPr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EEA206B0-73FB-7701-45F3-483F66911E0A}"/>
                </a:ext>
              </a:extLst>
            </p:cNvPr>
            <p:cNvCxnSpPr>
              <a:cxnSpLocks/>
              <a:stCxn id="166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1B9A26F9-E5B6-596E-172E-ED19FBE73506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A9C64961-9251-AC30-7CD0-AF67EF84AD65}"/>
                </a:ext>
              </a:extLst>
            </p:cNvPr>
            <p:cNvCxnSpPr>
              <a:cxnSpLocks/>
              <a:stCxn id="166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34131548-D551-4673-51D6-A2D32C02FE21}"/>
                </a:ext>
              </a:extLst>
            </p:cNvPr>
            <p:cNvCxnSpPr>
              <a:cxnSpLocks/>
              <a:stCxn id="166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7143BB5E-6F63-EFCA-4E17-E9EA1AA8C3AB}"/>
                </a:ext>
              </a:extLst>
            </p:cNvPr>
            <p:cNvCxnSpPr>
              <a:cxnSpLocks/>
              <a:stCxn id="166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F08B2AE6-63D4-4ADF-A1D3-AB214AA065E8}"/>
                </a:ext>
              </a:extLst>
            </p:cNvPr>
            <p:cNvCxnSpPr>
              <a:cxnSpLocks/>
              <a:stCxn id="166" idx="3"/>
            </p:cNvCxnSpPr>
            <p:nvPr/>
          </p:nvCxnSpPr>
          <p:spPr>
            <a:xfrm flipH="1">
              <a:off x="5384655" y="2006141"/>
              <a:ext cx="128972" cy="21041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0367E613-10AA-4A7E-2F0B-2CAFE569961E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H="1" flipV="1">
              <a:off x="5485242" y="1235864"/>
              <a:ext cx="57401" cy="70022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4EB86484-DDF9-F523-F273-3F9148D93798}"/>
                </a:ext>
              </a:extLst>
            </p:cNvPr>
            <p:cNvCxnSpPr>
              <a:cxnSpLocks/>
              <a:stCxn id="166" idx="1"/>
            </p:cNvCxnSpPr>
            <p:nvPr/>
          </p:nvCxnSpPr>
          <p:spPr>
            <a:xfrm flipH="1" flipV="1">
              <a:off x="5377126" y="1694455"/>
              <a:ext cx="136501" cy="25365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4D8CED7-6AFD-396B-A169-F3C92768985E}"/>
              </a:ext>
            </a:extLst>
          </p:cNvPr>
          <p:cNvCxnSpPr>
            <a:cxnSpLocks/>
            <a:stCxn id="74" idx="0"/>
            <a:endCxn id="124" idx="0"/>
          </p:cNvCxnSpPr>
          <p:nvPr/>
        </p:nvCxnSpPr>
        <p:spPr>
          <a:xfrm flipH="1" flipV="1">
            <a:off x="1665933" y="695250"/>
            <a:ext cx="97123" cy="2399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FB69DB34-B03C-CC6E-06E4-28088F38FCE6}"/>
              </a:ext>
            </a:extLst>
          </p:cNvPr>
          <p:cNvCxnSpPr>
            <a:cxnSpLocks/>
            <a:stCxn id="74" idx="0"/>
            <a:endCxn id="133" idx="6"/>
          </p:cNvCxnSpPr>
          <p:nvPr/>
        </p:nvCxnSpPr>
        <p:spPr>
          <a:xfrm flipH="1" flipV="1">
            <a:off x="1041985" y="1683038"/>
            <a:ext cx="721071" cy="14118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D7F627FC-A25A-3B0B-809E-C28C849AFA1A}"/>
              </a:ext>
            </a:extLst>
          </p:cNvPr>
          <p:cNvCxnSpPr>
            <a:cxnSpLocks/>
            <a:stCxn id="47" idx="1"/>
            <a:endCxn id="155" idx="5"/>
          </p:cNvCxnSpPr>
          <p:nvPr/>
        </p:nvCxnSpPr>
        <p:spPr>
          <a:xfrm flipH="1" flipV="1">
            <a:off x="1060759" y="3729825"/>
            <a:ext cx="631987" cy="12051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5DEC9E67-DCE3-D04E-25FF-1883C53E7B7E}"/>
              </a:ext>
            </a:extLst>
          </p:cNvPr>
          <p:cNvCxnSpPr>
            <a:cxnSpLocks/>
            <a:stCxn id="47" idx="2"/>
            <a:endCxn id="144" idx="2"/>
          </p:cNvCxnSpPr>
          <p:nvPr/>
        </p:nvCxnSpPr>
        <p:spPr>
          <a:xfrm flipH="1">
            <a:off x="1494693" y="3923171"/>
            <a:ext cx="270885" cy="41973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9CD085C-C7FF-AD3F-128B-429E142531D3}"/>
              </a:ext>
            </a:extLst>
          </p:cNvPr>
          <p:cNvGrpSpPr/>
          <p:nvPr/>
        </p:nvGrpSpPr>
        <p:grpSpPr>
          <a:xfrm>
            <a:off x="4013374" y="3251092"/>
            <a:ext cx="700392" cy="622040"/>
            <a:chOff x="5047748" y="1501150"/>
            <a:chExt cx="1071858" cy="951950"/>
          </a:xfrm>
        </p:grpSpPr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7CF783E3-694A-7F89-5911-17F60D9C6D58}"/>
                </a:ext>
              </a:extLst>
            </p:cNvPr>
            <p:cNvCxnSpPr>
              <a:cxnSpLocks/>
              <a:stCxn id="19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E7E8E663-5D35-BEDD-DCEA-4D91958C7828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A8E91B48-8C45-A8D4-C44E-F30D9BAB88FC}"/>
                </a:ext>
              </a:extLst>
            </p:cNvPr>
            <p:cNvCxnSpPr>
              <a:cxnSpLocks/>
              <a:stCxn id="19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00A1C6C5-D67C-F567-9148-716A9F307C12}"/>
                </a:ext>
              </a:extLst>
            </p:cNvPr>
            <p:cNvCxnSpPr>
              <a:cxnSpLocks/>
              <a:stCxn id="19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26A7D7E5-255D-ABC0-E7AC-7FC998B6E7CA}"/>
                </a:ext>
              </a:extLst>
            </p:cNvPr>
            <p:cNvCxnSpPr>
              <a:cxnSpLocks/>
              <a:stCxn id="19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00EBC81F-1DEF-B60F-7A27-ED101FA99A8D}"/>
                </a:ext>
              </a:extLst>
            </p:cNvPr>
            <p:cNvCxnSpPr>
              <a:cxnSpLocks/>
              <a:stCxn id="19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D5EA471F-48B0-AEFD-5630-FD3A524C8B25}"/>
                </a:ext>
              </a:extLst>
            </p:cNvPr>
            <p:cNvCxnSpPr>
              <a:cxnSpLocks/>
              <a:stCxn id="19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C1CE937E-D513-6069-D035-5C08BE30C7D1}"/>
                </a:ext>
              </a:extLst>
            </p:cNvPr>
            <p:cNvCxnSpPr>
              <a:cxnSpLocks/>
              <a:stCxn id="19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541A004-0FF2-AD57-7C13-5C0CD6255B78}"/>
              </a:ext>
            </a:extLst>
          </p:cNvPr>
          <p:cNvGrpSpPr/>
          <p:nvPr/>
        </p:nvGrpSpPr>
        <p:grpSpPr>
          <a:xfrm>
            <a:off x="3322011" y="2637689"/>
            <a:ext cx="700392" cy="622040"/>
            <a:chOff x="5047748" y="1501150"/>
            <a:chExt cx="1071858" cy="951950"/>
          </a:xfrm>
        </p:grpSpPr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5447AA4C-BC7E-E5E1-7D0B-E3D5C1951DE7}"/>
                </a:ext>
              </a:extLst>
            </p:cNvPr>
            <p:cNvCxnSpPr>
              <a:cxnSpLocks/>
              <a:stCxn id="199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7203C6BD-A9E7-221D-C14B-42C45ED03E62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8FCE6B6F-C93A-AB4C-D504-8DD5B7CFDE33}"/>
                </a:ext>
              </a:extLst>
            </p:cNvPr>
            <p:cNvCxnSpPr>
              <a:cxnSpLocks/>
              <a:stCxn id="199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98DA79CD-9DF7-AC28-5D42-DA68A157C01C}"/>
                </a:ext>
              </a:extLst>
            </p:cNvPr>
            <p:cNvCxnSpPr>
              <a:cxnSpLocks/>
              <a:stCxn id="199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6F0B85F6-371F-39CC-4164-89FD960D78F4}"/>
                </a:ext>
              </a:extLst>
            </p:cNvPr>
            <p:cNvCxnSpPr>
              <a:cxnSpLocks/>
              <a:stCxn id="199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6F6781EE-E4D4-5FB4-3B61-2D2A7E1E30EF}"/>
                </a:ext>
              </a:extLst>
            </p:cNvPr>
            <p:cNvCxnSpPr>
              <a:cxnSpLocks/>
              <a:stCxn id="199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754A7247-F7FE-AA06-38D7-D99C2543F274}"/>
                </a:ext>
              </a:extLst>
            </p:cNvPr>
            <p:cNvCxnSpPr>
              <a:cxnSpLocks/>
              <a:stCxn id="199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3BB6F74E-B141-1234-FCD7-7AA6656C95EA}"/>
                </a:ext>
              </a:extLst>
            </p:cNvPr>
            <p:cNvCxnSpPr>
              <a:cxnSpLocks/>
              <a:stCxn id="199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4B7618E-B483-368E-A3C9-86EC32D69661}"/>
              </a:ext>
            </a:extLst>
          </p:cNvPr>
          <p:cNvGrpSpPr/>
          <p:nvPr/>
        </p:nvGrpSpPr>
        <p:grpSpPr>
          <a:xfrm>
            <a:off x="2205149" y="1423490"/>
            <a:ext cx="1180845" cy="891612"/>
            <a:chOff x="4604054" y="1088606"/>
            <a:chExt cx="1807129" cy="1364494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8C3A69A-C596-3914-9C56-69CB2E2EE348}"/>
                </a:ext>
              </a:extLst>
            </p:cNvPr>
            <p:cNvCxnSpPr>
              <a:cxnSpLocks/>
              <a:stCxn id="208" idx="7"/>
            </p:cNvCxnSpPr>
            <p:nvPr/>
          </p:nvCxnSpPr>
          <p:spPr>
            <a:xfrm flipV="1">
              <a:off x="5571659" y="1520744"/>
              <a:ext cx="839524" cy="42736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64FB7B3-F758-44F0-2C17-5EEA85D5C318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30C3F02A-8402-3A90-C3B5-F0BCE8F86D87}"/>
                </a:ext>
              </a:extLst>
            </p:cNvPr>
            <p:cNvCxnSpPr>
              <a:cxnSpLocks/>
              <a:stCxn id="208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2880DAC6-E65E-9ADC-DCEC-FFCF40D6B5BD}"/>
                </a:ext>
              </a:extLst>
            </p:cNvPr>
            <p:cNvCxnSpPr>
              <a:cxnSpLocks/>
              <a:stCxn id="208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69212C82-74AA-DA4A-4862-97A82E358E9B}"/>
                </a:ext>
              </a:extLst>
            </p:cNvPr>
            <p:cNvCxnSpPr>
              <a:cxnSpLocks/>
              <a:stCxn id="208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C5742FB1-0A52-C3C8-F0EC-A0B7EB597479}"/>
                </a:ext>
              </a:extLst>
            </p:cNvPr>
            <p:cNvCxnSpPr>
              <a:cxnSpLocks/>
              <a:stCxn id="208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72356D69-CA4D-846F-7C57-FBF37CEDEF04}"/>
                </a:ext>
              </a:extLst>
            </p:cNvPr>
            <p:cNvCxnSpPr>
              <a:cxnSpLocks/>
              <a:stCxn id="208" idx="0"/>
            </p:cNvCxnSpPr>
            <p:nvPr/>
          </p:nvCxnSpPr>
          <p:spPr>
            <a:xfrm flipV="1">
              <a:off x="5542643" y="1088606"/>
              <a:ext cx="640346" cy="84748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870222AC-54E2-E20C-F7DC-7B985A164C6C}"/>
                </a:ext>
              </a:extLst>
            </p:cNvPr>
            <p:cNvCxnSpPr>
              <a:cxnSpLocks/>
              <a:stCxn id="208" idx="1"/>
            </p:cNvCxnSpPr>
            <p:nvPr/>
          </p:nvCxnSpPr>
          <p:spPr>
            <a:xfrm flipH="1" flipV="1">
              <a:off x="4604054" y="1436091"/>
              <a:ext cx="909573" cy="51201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57794B60-7BAB-B38B-DC81-B1BADFE5163F}"/>
              </a:ext>
            </a:extLst>
          </p:cNvPr>
          <p:cNvGrpSpPr/>
          <p:nvPr/>
        </p:nvGrpSpPr>
        <p:grpSpPr>
          <a:xfrm>
            <a:off x="5417855" y="4746140"/>
            <a:ext cx="700392" cy="622040"/>
            <a:chOff x="5047748" y="1501150"/>
            <a:chExt cx="1071858" cy="951950"/>
          </a:xfrm>
        </p:grpSpPr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39E75889-0216-37E3-4ADC-F8C3FBB0EC8D}"/>
                </a:ext>
              </a:extLst>
            </p:cNvPr>
            <p:cNvCxnSpPr>
              <a:cxnSpLocks/>
              <a:stCxn id="221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D755AB0B-8D40-32D0-A7DB-DCF7977D2C74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0512E93B-F7DC-EFC9-0956-2D09B78A3176}"/>
                </a:ext>
              </a:extLst>
            </p:cNvPr>
            <p:cNvCxnSpPr>
              <a:cxnSpLocks/>
              <a:stCxn id="221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C36709D0-951C-0F03-929C-07515CCBF22B}"/>
                </a:ext>
              </a:extLst>
            </p:cNvPr>
            <p:cNvCxnSpPr>
              <a:cxnSpLocks/>
              <a:stCxn id="221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179F7062-B198-6DDE-1994-759F3F0DE661}"/>
                </a:ext>
              </a:extLst>
            </p:cNvPr>
            <p:cNvCxnSpPr>
              <a:cxnSpLocks/>
              <a:stCxn id="221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83AB6D9F-2D2A-7BFF-D9A2-C6DD3BDDF8C4}"/>
                </a:ext>
              </a:extLst>
            </p:cNvPr>
            <p:cNvCxnSpPr>
              <a:cxnSpLocks/>
              <a:stCxn id="221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C6527266-7E43-7A58-F852-ACD4FF5B3338}"/>
                </a:ext>
              </a:extLst>
            </p:cNvPr>
            <p:cNvCxnSpPr>
              <a:cxnSpLocks/>
              <a:stCxn id="221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84F665B2-5AE2-84C2-6AF5-BAFC2E51BE54}"/>
                </a:ext>
              </a:extLst>
            </p:cNvPr>
            <p:cNvCxnSpPr>
              <a:cxnSpLocks/>
              <a:stCxn id="221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433D650-01B1-355E-5FA0-A7BBAC67A228}"/>
              </a:ext>
            </a:extLst>
          </p:cNvPr>
          <p:cNvGrpSpPr/>
          <p:nvPr/>
        </p:nvGrpSpPr>
        <p:grpSpPr>
          <a:xfrm>
            <a:off x="4921996" y="4746140"/>
            <a:ext cx="700392" cy="622040"/>
            <a:chOff x="5047748" y="1501150"/>
            <a:chExt cx="1071858" cy="951950"/>
          </a:xfrm>
        </p:grpSpPr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49255FF1-509D-63DF-2F01-DA1E5C62386F}"/>
                </a:ext>
              </a:extLst>
            </p:cNvPr>
            <p:cNvCxnSpPr>
              <a:cxnSpLocks/>
              <a:stCxn id="23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26E3D34B-896E-FC3F-C10B-41BA970C491C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4E243799-C015-4B07-5A54-37E147076990}"/>
                </a:ext>
              </a:extLst>
            </p:cNvPr>
            <p:cNvCxnSpPr>
              <a:cxnSpLocks/>
              <a:stCxn id="23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3C01F887-B817-FAA0-4095-98E06288A618}"/>
                </a:ext>
              </a:extLst>
            </p:cNvPr>
            <p:cNvCxnSpPr>
              <a:cxnSpLocks/>
              <a:stCxn id="23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BEFC793C-FAFF-6834-3104-965038F39C7A}"/>
                </a:ext>
              </a:extLst>
            </p:cNvPr>
            <p:cNvCxnSpPr>
              <a:cxnSpLocks/>
              <a:stCxn id="23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E00691D6-CF1B-51BC-DFAD-CF6EA0A4D693}"/>
                </a:ext>
              </a:extLst>
            </p:cNvPr>
            <p:cNvCxnSpPr>
              <a:cxnSpLocks/>
              <a:stCxn id="23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098D99F6-A772-7BC1-975E-A6AA044645EC}"/>
                </a:ext>
              </a:extLst>
            </p:cNvPr>
            <p:cNvCxnSpPr>
              <a:cxnSpLocks/>
              <a:stCxn id="23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AAA60198-A76A-0832-0860-2A27B6F2164D}"/>
                </a:ext>
              </a:extLst>
            </p:cNvPr>
            <p:cNvCxnSpPr>
              <a:cxnSpLocks/>
              <a:stCxn id="23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D74CA3E-7CC9-6DB0-29FE-84F56DBF6663}"/>
              </a:ext>
            </a:extLst>
          </p:cNvPr>
          <p:cNvGrpSpPr/>
          <p:nvPr/>
        </p:nvGrpSpPr>
        <p:grpSpPr>
          <a:xfrm>
            <a:off x="5028221" y="5646187"/>
            <a:ext cx="573268" cy="624775"/>
            <a:chOff x="5047748" y="1496964"/>
            <a:chExt cx="877311" cy="956136"/>
          </a:xfrm>
        </p:grpSpPr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E016DDE9-5ECA-BDEE-5960-F5610C1D5901}"/>
                </a:ext>
              </a:extLst>
            </p:cNvPr>
            <p:cNvCxnSpPr>
              <a:cxnSpLocks/>
              <a:stCxn id="239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35E9F309-2080-269A-9252-DBFE090FF697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943E5CDC-8574-1DFC-F169-A09BD862FED6}"/>
                </a:ext>
              </a:extLst>
            </p:cNvPr>
            <p:cNvCxnSpPr>
              <a:cxnSpLocks/>
              <a:stCxn id="239" idx="6"/>
            </p:cNvCxnSpPr>
            <p:nvPr/>
          </p:nvCxnSpPr>
          <p:spPr>
            <a:xfrm flipV="1">
              <a:off x="5583677" y="1848894"/>
              <a:ext cx="341382" cy="12823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C5EEC7C3-AD20-5971-26E7-5B5896C7F098}"/>
                </a:ext>
              </a:extLst>
            </p:cNvPr>
            <p:cNvCxnSpPr>
              <a:cxnSpLocks/>
              <a:stCxn id="239" idx="5"/>
            </p:cNvCxnSpPr>
            <p:nvPr/>
          </p:nvCxnSpPr>
          <p:spPr>
            <a:xfrm>
              <a:off x="5571659" y="2006141"/>
              <a:ext cx="177220" cy="14653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1C265CE4-5154-7145-F66D-033F126A2B5C}"/>
                </a:ext>
              </a:extLst>
            </p:cNvPr>
            <p:cNvCxnSpPr>
              <a:cxnSpLocks/>
              <a:stCxn id="239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id="{100FA709-978A-CFC3-2F45-5B54D1364F9C}"/>
                </a:ext>
              </a:extLst>
            </p:cNvPr>
            <p:cNvCxnSpPr>
              <a:cxnSpLocks/>
              <a:stCxn id="239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C4FDBBCC-98EE-527C-8D43-16C84925DDFD}"/>
                </a:ext>
              </a:extLst>
            </p:cNvPr>
            <p:cNvCxnSpPr>
              <a:cxnSpLocks/>
              <a:stCxn id="239" idx="0"/>
            </p:cNvCxnSpPr>
            <p:nvPr/>
          </p:nvCxnSpPr>
          <p:spPr>
            <a:xfrm flipV="1">
              <a:off x="5542643" y="1496964"/>
              <a:ext cx="284117" cy="43912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6694C54C-F341-9B2A-D8F4-F0C07A959F31}"/>
                </a:ext>
              </a:extLst>
            </p:cNvPr>
            <p:cNvCxnSpPr>
              <a:cxnSpLocks/>
              <a:stCxn id="239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CBBB29-AEF0-0F89-90B7-EE22C69E4F09}"/>
              </a:ext>
            </a:extLst>
          </p:cNvPr>
          <p:cNvGrpSpPr/>
          <p:nvPr/>
        </p:nvGrpSpPr>
        <p:grpSpPr>
          <a:xfrm>
            <a:off x="8581866" y="4051195"/>
            <a:ext cx="700392" cy="622040"/>
            <a:chOff x="5047748" y="1501150"/>
            <a:chExt cx="1071858" cy="951950"/>
          </a:xfrm>
        </p:grpSpPr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A817C6DF-BBF8-3418-A2A2-ED499FE7E9C1}"/>
                </a:ext>
              </a:extLst>
            </p:cNvPr>
            <p:cNvCxnSpPr>
              <a:cxnSpLocks/>
              <a:stCxn id="25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A884E582-72B2-63A4-DC92-12104CD9B4ED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8726966E-99C8-AC14-EEAC-95391510B235}"/>
                </a:ext>
              </a:extLst>
            </p:cNvPr>
            <p:cNvCxnSpPr>
              <a:cxnSpLocks/>
              <a:stCxn id="25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33A2614C-409B-EA98-971F-B762467D0698}"/>
                </a:ext>
              </a:extLst>
            </p:cNvPr>
            <p:cNvCxnSpPr>
              <a:cxnSpLocks/>
              <a:stCxn id="25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83612838-D3E6-BE1E-D67E-A7DFA60EAF4F}"/>
                </a:ext>
              </a:extLst>
            </p:cNvPr>
            <p:cNvCxnSpPr>
              <a:cxnSpLocks/>
              <a:stCxn id="25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0F580404-C1E4-83BD-CA0A-A6479A25E045}"/>
                </a:ext>
              </a:extLst>
            </p:cNvPr>
            <p:cNvCxnSpPr>
              <a:cxnSpLocks/>
              <a:stCxn id="25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D29EF728-AB95-B383-0C65-35CB7C2BD36A}"/>
                </a:ext>
              </a:extLst>
            </p:cNvPr>
            <p:cNvCxnSpPr>
              <a:cxnSpLocks/>
              <a:stCxn id="25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5002C04C-B710-5CA1-CA71-5333CCC78116}"/>
                </a:ext>
              </a:extLst>
            </p:cNvPr>
            <p:cNvCxnSpPr>
              <a:cxnSpLocks/>
              <a:stCxn id="25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72E7B559-FC98-18A5-EB12-739E11ADD2CA}"/>
              </a:ext>
            </a:extLst>
          </p:cNvPr>
          <p:cNvGrpSpPr/>
          <p:nvPr/>
        </p:nvGrpSpPr>
        <p:grpSpPr>
          <a:xfrm>
            <a:off x="7556680" y="3591601"/>
            <a:ext cx="700392" cy="622040"/>
            <a:chOff x="5047748" y="1501150"/>
            <a:chExt cx="1071858" cy="951950"/>
          </a:xfrm>
        </p:grpSpPr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C691411C-4F9B-0F67-389B-B54CBA0F9B18}"/>
                </a:ext>
              </a:extLst>
            </p:cNvPr>
            <p:cNvCxnSpPr>
              <a:cxnSpLocks/>
              <a:stCxn id="259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7DCE365C-BDED-291D-C3AE-0E633D45999C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32EB3200-6B71-FF8C-ACCD-965E57F89F2B}"/>
                </a:ext>
              </a:extLst>
            </p:cNvPr>
            <p:cNvCxnSpPr>
              <a:cxnSpLocks/>
              <a:stCxn id="259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632F44E4-AE8F-B81F-9F05-4F07F0D0DE75}"/>
                </a:ext>
              </a:extLst>
            </p:cNvPr>
            <p:cNvCxnSpPr>
              <a:cxnSpLocks/>
              <a:stCxn id="259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261">
              <a:extLst>
                <a:ext uri="{FF2B5EF4-FFF2-40B4-BE49-F238E27FC236}">
                  <a16:creationId xmlns:a16="http://schemas.microsoft.com/office/drawing/2014/main" id="{1217B2B4-A6E9-7218-AEE6-5BE55B75DEFA}"/>
                </a:ext>
              </a:extLst>
            </p:cNvPr>
            <p:cNvCxnSpPr>
              <a:cxnSpLocks/>
              <a:stCxn id="259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270BF343-F765-6795-7E25-719D288FC34F}"/>
                </a:ext>
              </a:extLst>
            </p:cNvPr>
            <p:cNvCxnSpPr>
              <a:cxnSpLocks/>
              <a:stCxn id="259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7C62DDA4-E022-53BA-8C5D-F9B5033AAF55}"/>
                </a:ext>
              </a:extLst>
            </p:cNvPr>
            <p:cNvCxnSpPr>
              <a:cxnSpLocks/>
              <a:stCxn id="259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Arrow Connector 264">
              <a:extLst>
                <a:ext uri="{FF2B5EF4-FFF2-40B4-BE49-F238E27FC236}">
                  <a16:creationId xmlns:a16="http://schemas.microsoft.com/office/drawing/2014/main" id="{695B2ACD-26CE-ED3B-39FA-634D69EC73B3}"/>
                </a:ext>
              </a:extLst>
            </p:cNvPr>
            <p:cNvCxnSpPr>
              <a:cxnSpLocks/>
              <a:stCxn id="259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84CF306E-358E-2E6A-5B94-6A3ADA7C5C1E}"/>
              </a:ext>
            </a:extLst>
          </p:cNvPr>
          <p:cNvGrpSpPr/>
          <p:nvPr/>
        </p:nvGrpSpPr>
        <p:grpSpPr>
          <a:xfrm>
            <a:off x="7229687" y="4406064"/>
            <a:ext cx="700392" cy="622040"/>
            <a:chOff x="5047748" y="1501150"/>
            <a:chExt cx="1071858" cy="951950"/>
          </a:xfrm>
        </p:grpSpPr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8AB23C55-250B-87C6-2D26-5C2AD0EFAEDD}"/>
                </a:ext>
              </a:extLst>
            </p:cNvPr>
            <p:cNvCxnSpPr>
              <a:cxnSpLocks/>
              <a:stCxn id="268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D7782EF7-4BCF-CF50-C2A3-AD778E207B1E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9" name="Straight Arrow Connector 268">
              <a:extLst>
                <a:ext uri="{FF2B5EF4-FFF2-40B4-BE49-F238E27FC236}">
                  <a16:creationId xmlns:a16="http://schemas.microsoft.com/office/drawing/2014/main" id="{5C04C90B-06E0-360B-F29F-8126D278043A}"/>
                </a:ext>
              </a:extLst>
            </p:cNvPr>
            <p:cNvCxnSpPr>
              <a:cxnSpLocks/>
              <a:stCxn id="268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>
              <a:extLst>
                <a:ext uri="{FF2B5EF4-FFF2-40B4-BE49-F238E27FC236}">
                  <a16:creationId xmlns:a16="http://schemas.microsoft.com/office/drawing/2014/main" id="{165E5069-CDA3-F4E3-1A91-FE05B436D7A8}"/>
                </a:ext>
              </a:extLst>
            </p:cNvPr>
            <p:cNvCxnSpPr>
              <a:cxnSpLocks/>
              <a:stCxn id="268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ED76F008-62B0-D3E5-4645-A0583E2A9490}"/>
                </a:ext>
              </a:extLst>
            </p:cNvPr>
            <p:cNvCxnSpPr>
              <a:cxnSpLocks/>
              <a:stCxn id="268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2CF1DBD1-2C48-0606-A833-69CAEDD528D8}"/>
                </a:ext>
              </a:extLst>
            </p:cNvPr>
            <p:cNvCxnSpPr>
              <a:cxnSpLocks/>
              <a:stCxn id="268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C7A77983-568D-F262-E14C-D37494D4EDAC}"/>
                </a:ext>
              </a:extLst>
            </p:cNvPr>
            <p:cNvCxnSpPr>
              <a:cxnSpLocks/>
              <a:stCxn id="268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1E7B3014-DE7D-0DBB-E089-309C0550690C}"/>
                </a:ext>
              </a:extLst>
            </p:cNvPr>
            <p:cNvCxnSpPr>
              <a:cxnSpLocks/>
              <a:stCxn id="268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C25B7433-72A3-A80A-DF1C-16D014B7331F}"/>
              </a:ext>
            </a:extLst>
          </p:cNvPr>
          <p:cNvGrpSpPr/>
          <p:nvPr/>
        </p:nvGrpSpPr>
        <p:grpSpPr>
          <a:xfrm>
            <a:off x="6590468" y="5107015"/>
            <a:ext cx="700392" cy="622040"/>
            <a:chOff x="5047748" y="1501150"/>
            <a:chExt cx="1071858" cy="951950"/>
          </a:xfrm>
        </p:grpSpPr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F4320660-E867-182A-28C7-890D167144E0}"/>
                </a:ext>
              </a:extLst>
            </p:cNvPr>
            <p:cNvCxnSpPr>
              <a:cxnSpLocks/>
              <a:stCxn id="277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92EB07C1-BC0D-613D-31AD-B2491D7FD66F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8A20318E-2E51-9604-FFD5-0153E20BA56A}"/>
                </a:ext>
              </a:extLst>
            </p:cNvPr>
            <p:cNvCxnSpPr>
              <a:cxnSpLocks/>
              <a:stCxn id="277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3267A9BD-2CE0-5F3A-50C4-5825585183F3}"/>
                </a:ext>
              </a:extLst>
            </p:cNvPr>
            <p:cNvCxnSpPr>
              <a:cxnSpLocks/>
              <a:stCxn id="277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5BB21426-F5FC-2E23-F94F-AE11B9E9F039}"/>
                </a:ext>
              </a:extLst>
            </p:cNvPr>
            <p:cNvCxnSpPr>
              <a:cxnSpLocks/>
              <a:stCxn id="277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BF5B7611-4BF8-7A43-A109-48B09E49AAAA}"/>
                </a:ext>
              </a:extLst>
            </p:cNvPr>
            <p:cNvCxnSpPr>
              <a:cxnSpLocks/>
              <a:stCxn id="277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11E8AE8C-1564-DAF5-1612-3FE11DE31B97}"/>
                </a:ext>
              </a:extLst>
            </p:cNvPr>
            <p:cNvCxnSpPr>
              <a:cxnSpLocks/>
              <a:stCxn id="277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AEDF7FA-911F-4D1F-AA10-7888B4986DC0}"/>
                </a:ext>
              </a:extLst>
            </p:cNvPr>
            <p:cNvCxnSpPr>
              <a:cxnSpLocks/>
              <a:stCxn id="277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B3E234C7-D2A5-53B1-0783-EFD615F0B3C7}"/>
              </a:ext>
            </a:extLst>
          </p:cNvPr>
          <p:cNvGrpSpPr/>
          <p:nvPr/>
        </p:nvGrpSpPr>
        <p:grpSpPr>
          <a:xfrm>
            <a:off x="6486933" y="2597620"/>
            <a:ext cx="700392" cy="622040"/>
            <a:chOff x="5047748" y="1501150"/>
            <a:chExt cx="1071858" cy="951950"/>
          </a:xfrm>
        </p:grpSpPr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75393B6-ABD0-F1AF-C095-BB4B414BF571}"/>
                </a:ext>
              </a:extLst>
            </p:cNvPr>
            <p:cNvCxnSpPr>
              <a:cxnSpLocks/>
              <a:stCxn id="286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DEC1FA63-7B5F-3AD4-AD0B-2A631ACAF45B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C13C1177-795D-8CF2-BDCB-3B072CD898BF}"/>
                </a:ext>
              </a:extLst>
            </p:cNvPr>
            <p:cNvCxnSpPr>
              <a:cxnSpLocks/>
              <a:stCxn id="286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9419CE56-35CB-9F1F-9C71-36E51C10EE73}"/>
                </a:ext>
              </a:extLst>
            </p:cNvPr>
            <p:cNvCxnSpPr>
              <a:cxnSpLocks/>
              <a:stCxn id="286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CF5C38C6-04B2-96B2-59E6-A5A0C03E12B3}"/>
                </a:ext>
              </a:extLst>
            </p:cNvPr>
            <p:cNvCxnSpPr>
              <a:cxnSpLocks/>
              <a:stCxn id="286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E5F6AC49-625E-06C0-1998-CE20814C37F4}"/>
                </a:ext>
              </a:extLst>
            </p:cNvPr>
            <p:cNvCxnSpPr>
              <a:cxnSpLocks/>
              <a:stCxn id="286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69406B10-A908-CE08-45F4-E458B3FFD330}"/>
                </a:ext>
              </a:extLst>
            </p:cNvPr>
            <p:cNvCxnSpPr>
              <a:cxnSpLocks/>
              <a:stCxn id="286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2C8597BB-724F-9E06-ED9A-D83E76CC7D61}"/>
                </a:ext>
              </a:extLst>
            </p:cNvPr>
            <p:cNvCxnSpPr>
              <a:cxnSpLocks/>
              <a:stCxn id="286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E8D514F4-22A4-9454-F72C-A445CBC6869F}"/>
              </a:ext>
            </a:extLst>
          </p:cNvPr>
          <p:cNvGrpSpPr/>
          <p:nvPr/>
        </p:nvGrpSpPr>
        <p:grpSpPr>
          <a:xfrm>
            <a:off x="7878384" y="2580890"/>
            <a:ext cx="716354" cy="585489"/>
            <a:chOff x="5023320" y="1576886"/>
            <a:chExt cx="1096286" cy="896014"/>
          </a:xfrm>
        </p:grpSpPr>
        <p:cxnSp>
          <p:nvCxnSpPr>
            <p:cNvPr id="294" name="Straight Arrow Connector 293">
              <a:extLst>
                <a:ext uri="{FF2B5EF4-FFF2-40B4-BE49-F238E27FC236}">
                  <a16:creationId xmlns:a16="http://schemas.microsoft.com/office/drawing/2014/main" id="{F10949D1-EDB9-DAEF-1EE9-5130CF5BD0E9}"/>
                </a:ext>
              </a:extLst>
            </p:cNvPr>
            <p:cNvCxnSpPr>
              <a:cxnSpLocks/>
              <a:stCxn id="295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A969FE83-25A8-535B-F3DC-A3E33C344617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003E7C8B-33DF-2FD8-5E54-4B8175C4DC87}"/>
                </a:ext>
              </a:extLst>
            </p:cNvPr>
            <p:cNvCxnSpPr>
              <a:cxnSpLocks/>
              <a:stCxn id="295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Arrow Connector 296">
              <a:extLst>
                <a:ext uri="{FF2B5EF4-FFF2-40B4-BE49-F238E27FC236}">
                  <a16:creationId xmlns:a16="http://schemas.microsoft.com/office/drawing/2014/main" id="{BE215F63-630E-4C99-615B-58437E142854}"/>
                </a:ext>
              </a:extLst>
            </p:cNvPr>
            <p:cNvCxnSpPr>
              <a:cxnSpLocks/>
              <a:stCxn id="295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48E02CD2-83D1-98CF-FDB9-844ED49809E0}"/>
                </a:ext>
              </a:extLst>
            </p:cNvPr>
            <p:cNvCxnSpPr>
              <a:cxnSpLocks/>
              <a:stCxn id="295" idx="4"/>
            </p:cNvCxnSpPr>
            <p:nvPr/>
          </p:nvCxnSpPr>
          <p:spPr>
            <a:xfrm>
              <a:off x="5542643" y="2018159"/>
              <a:ext cx="361577" cy="4547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FB97E8AC-AB4C-EE42-E135-D8CF2BA867BA}"/>
                </a:ext>
              </a:extLst>
            </p:cNvPr>
            <p:cNvCxnSpPr>
              <a:cxnSpLocks/>
              <a:stCxn id="295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Arrow Connector 299">
              <a:extLst>
                <a:ext uri="{FF2B5EF4-FFF2-40B4-BE49-F238E27FC236}">
                  <a16:creationId xmlns:a16="http://schemas.microsoft.com/office/drawing/2014/main" id="{9005EA42-0053-8CD3-05E3-9EC8C82F6160}"/>
                </a:ext>
              </a:extLst>
            </p:cNvPr>
            <p:cNvCxnSpPr>
              <a:cxnSpLocks/>
              <a:stCxn id="295" idx="0"/>
            </p:cNvCxnSpPr>
            <p:nvPr/>
          </p:nvCxnSpPr>
          <p:spPr>
            <a:xfrm flipV="1">
              <a:off x="5542643" y="1576886"/>
              <a:ext cx="152494" cy="3592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Arrow Connector 300">
              <a:extLst>
                <a:ext uri="{FF2B5EF4-FFF2-40B4-BE49-F238E27FC236}">
                  <a16:creationId xmlns:a16="http://schemas.microsoft.com/office/drawing/2014/main" id="{7839978B-9E95-E6CB-C6B2-7ACEA1A12A69}"/>
                </a:ext>
              </a:extLst>
            </p:cNvPr>
            <p:cNvCxnSpPr>
              <a:cxnSpLocks/>
              <a:stCxn id="295" idx="1"/>
            </p:cNvCxnSpPr>
            <p:nvPr/>
          </p:nvCxnSpPr>
          <p:spPr>
            <a:xfrm flipH="1" flipV="1">
              <a:off x="5023320" y="1839127"/>
              <a:ext cx="490307" cy="10898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EAD44BB-2B07-CCED-1964-61B6450DAF66}"/>
              </a:ext>
            </a:extLst>
          </p:cNvPr>
          <p:cNvGrpSpPr/>
          <p:nvPr/>
        </p:nvGrpSpPr>
        <p:grpSpPr>
          <a:xfrm>
            <a:off x="9811484" y="1434963"/>
            <a:ext cx="583478" cy="726729"/>
            <a:chOff x="5226669" y="1083785"/>
            <a:chExt cx="892937" cy="1112163"/>
          </a:xfrm>
        </p:grpSpPr>
        <p:cxnSp>
          <p:nvCxnSpPr>
            <p:cNvPr id="303" name="Straight Arrow Connector 302">
              <a:extLst>
                <a:ext uri="{FF2B5EF4-FFF2-40B4-BE49-F238E27FC236}">
                  <a16:creationId xmlns:a16="http://schemas.microsoft.com/office/drawing/2014/main" id="{09835325-7C03-A5BE-1B92-631877F597E5}"/>
                </a:ext>
              </a:extLst>
            </p:cNvPr>
            <p:cNvCxnSpPr>
              <a:cxnSpLocks/>
              <a:stCxn id="304" idx="7"/>
            </p:cNvCxnSpPr>
            <p:nvPr/>
          </p:nvCxnSpPr>
          <p:spPr>
            <a:xfrm flipV="1">
              <a:off x="5571659" y="1799338"/>
              <a:ext cx="166604" cy="14877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3AF789DD-93AC-84DE-DFB3-B65448E2C0A0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2F301243-13A6-4B2E-CBBB-5514CFB26A5B}"/>
                </a:ext>
              </a:extLst>
            </p:cNvPr>
            <p:cNvCxnSpPr>
              <a:cxnSpLocks/>
              <a:stCxn id="304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E818D0E3-88AF-93BF-345D-1B9FDD2E9B53}"/>
                </a:ext>
              </a:extLst>
            </p:cNvPr>
            <p:cNvCxnSpPr>
              <a:cxnSpLocks/>
              <a:stCxn id="304" idx="5"/>
            </p:cNvCxnSpPr>
            <p:nvPr/>
          </p:nvCxnSpPr>
          <p:spPr>
            <a:xfrm>
              <a:off x="5571659" y="2006141"/>
              <a:ext cx="279982" cy="7872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3A884C57-DFE5-A3F4-6BE4-487F0AB3B383}"/>
                </a:ext>
              </a:extLst>
            </p:cNvPr>
            <p:cNvCxnSpPr>
              <a:cxnSpLocks/>
              <a:stCxn id="304" idx="4"/>
            </p:cNvCxnSpPr>
            <p:nvPr/>
          </p:nvCxnSpPr>
          <p:spPr>
            <a:xfrm>
              <a:off x="5542643" y="2018159"/>
              <a:ext cx="150339" cy="17778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73003A25-A850-F118-CDA4-41F0BB402250}"/>
                </a:ext>
              </a:extLst>
            </p:cNvPr>
            <p:cNvCxnSpPr>
              <a:cxnSpLocks/>
              <a:stCxn id="304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Arrow Connector 308">
              <a:extLst>
                <a:ext uri="{FF2B5EF4-FFF2-40B4-BE49-F238E27FC236}">
                  <a16:creationId xmlns:a16="http://schemas.microsoft.com/office/drawing/2014/main" id="{93BC7378-72E9-EADD-26C6-4F7BB5A2BCBB}"/>
                </a:ext>
              </a:extLst>
            </p:cNvPr>
            <p:cNvCxnSpPr>
              <a:cxnSpLocks/>
              <a:stCxn id="304" idx="0"/>
            </p:cNvCxnSpPr>
            <p:nvPr/>
          </p:nvCxnSpPr>
          <p:spPr>
            <a:xfrm flipV="1">
              <a:off x="5542643" y="1083785"/>
              <a:ext cx="358708" cy="85230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Arrow Connector 309">
              <a:extLst>
                <a:ext uri="{FF2B5EF4-FFF2-40B4-BE49-F238E27FC236}">
                  <a16:creationId xmlns:a16="http://schemas.microsoft.com/office/drawing/2014/main" id="{BD202D8E-65CB-C905-AB53-E75964D3E4A7}"/>
                </a:ext>
              </a:extLst>
            </p:cNvPr>
            <p:cNvCxnSpPr>
              <a:cxnSpLocks/>
              <a:stCxn id="304" idx="1"/>
            </p:cNvCxnSpPr>
            <p:nvPr/>
          </p:nvCxnSpPr>
          <p:spPr>
            <a:xfrm flipH="1" flipV="1">
              <a:off x="5274679" y="1541363"/>
              <a:ext cx="238949" cy="40674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9B4F06D0-098B-2CBD-9A51-C9D3EAC5F8D9}"/>
              </a:ext>
            </a:extLst>
          </p:cNvPr>
          <p:cNvCxnSpPr>
            <a:cxnSpLocks/>
            <a:stCxn id="304" idx="4"/>
          </p:cNvCxnSpPr>
          <p:nvPr/>
        </p:nvCxnSpPr>
        <p:spPr>
          <a:xfrm flipH="1" flipV="1">
            <a:off x="9979407" y="1713427"/>
            <a:ext cx="38546" cy="3320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7C858997-2D2A-BDD6-8D69-B6E93141770F}"/>
              </a:ext>
            </a:extLst>
          </p:cNvPr>
          <p:cNvCxnSpPr>
            <a:cxnSpLocks/>
            <a:stCxn id="88" idx="0"/>
            <a:endCxn id="208" idx="4"/>
          </p:cNvCxnSpPr>
          <p:nvPr/>
        </p:nvCxnSpPr>
        <p:spPr>
          <a:xfrm flipH="1" flipV="1">
            <a:off x="2818458" y="2030895"/>
            <a:ext cx="912206" cy="142940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BF92A9B1-AE94-8FDC-19F5-375BA2877B00}"/>
              </a:ext>
            </a:extLst>
          </p:cNvPr>
          <p:cNvCxnSpPr>
            <a:cxnSpLocks/>
            <a:stCxn id="88" idx="1"/>
            <a:endCxn id="199" idx="4"/>
          </p:cNvCxnSpPr>
          <p:nvPr/>
        </p:nvCxnSpPr>
        <p:spPr>
          <a:xfrm flipH="1" flipV="1">
            <a:off x="3645394" y="2975522"/>
            <a:ext cx="12438" cy="55761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A451880-5D42-914F-12FC-1D7BF014D47E}"/>
              </a:ext>
            </a:extLst>
          </p:cNvPr>
          <p:cNvCxnSpPr>
            <a:cxnSpLocks/>
            <a:stCxn id="76" idx="0"/>
            <a:endCxn id="40" idx="4"/>
          </p:cNvCxnSpPr>
          <p:nvPr/>
        </p:nvCxnSpPr>
        <p:spPr>
          <a:xfrm flipH="1" flipV="1">
            <a:off x="6237416" y="1604822"/>
            <a:ext cx="57348" cy="106614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45D4C79C-3F5C-2610-063A-E6F13A7C86F1}"/>
              </a:ext>
            </a:extLst>
          </p:cNvPr>
          <p:cNvCxnSpPr>
            <a:cxnSpLocks/>
            <a:stCxn id="76" idx="2"/>
          </p:cNvCxnSpPr>
          <p:nvPr/>
        </p:nvCxnSpPr>
        <p:spPr>
          <a:xfrm>
            <a:off x="6294764" y="2816631"/>
            <a:ext cx="118604" cy="3088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E12EEC4B-9900-253B-8BEC-94F1B0170B1B}"/>
              </a:ext>
            </a:extLst>
          </p:cNvPr>
          <p:cNvGrpSpPr/>
          <p:nvPr/>
        </p:nvGrpSpPr>
        <p:grpSpPr>
          <a:xfrm rot="20735741">
            <a:off x="4500561" y="2297399"/>
            <a:ext cx="700392" cy="622040"/>
            <a:chOff x="5047748" y="1501150"/>
            <a:chExt cx="1071858" cy="951950"/>
          </a:xfrm>
        </p:grpSpPr>
        <p:cxnSp>
          <p:nvCxnSpPr>
            <p:cNvPr id="332" name="Straight Arrow Connector 331">
              <a:extLst>
                <a:ext uri="{FF2B5EF4-FFF2-40B4-BE49-F238E27FC236}">
                  <a16:creationId xmlns:a16="http://schemas.microsoft.com/office/drawing/2014/main" id="{16598CDA-A122-155D-6A76-C627B753857B}"/>
                </a:ext>
              </a:extLst>
            </p:cNvPr>
            <p:cNvCxnSpPr>
              <a:cxnSpLocks/>
              <a:stCxn id="333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58832B2B-EF88-9CBA-0A92-155C9F532079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4" name="Straight Arrow Connector 333">
              <a:extLst>
                <a:ext uri="{FF2B5EF4-FFF2-40B4-BE49-F238E27FC236}">
                  <a16:creationId xmlns:a16="http://schemas.microsoft.com/office/drawing/2014/main" id="{C6560828-FE29-B6F1-6D19-6F60F0BA2E8D}"/>
                </a:ext>
              </a:extLst>
            </p:cNvPr>
            <p:cNvCxnSpPr>
              <a:cxnSpLocks/>
              <a:stCxn id="333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2B8F5E09-AA43-4722-AD1B-6A74BEF156D8}"/>
                </a:ext>
              </a:extLst>
            </p:cNvPr>
            <p:cNvCxnSpPr>
              <a:cxnSpLocks/>
              <a:stCxn id="333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Arrow Connector 335">
              <a:extLst>
                <a:ext uri="{FF2B5EF4-FFF2-40B4-BE49-F238E27FC236}">
                  <a16:creationId xmlns:a16="http://schemas.microsoft.com/office/drawing/2014/main" id="{4D1E223B-AF8E-AD6F-460F-DC253A429710}"/>
                </a:ext>
              </a:extLst>
            </p:cNvPr>
            <p:cNvCxnSpPr>
              <a:cxnSpLocks/>
              <a:stCxn id="333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Arrow Connector 336">
              <a:extLst>
                <a:ext uri="{FF2B5EF4-FFF2-40B4-BE49-F238E27FC236}">
                  <a16:creationId xmlns:a16="http://schemas.microsoft.com/office/drawing/2014/main" id="{D3B4F2AE-8780-CCDB-49A2-2F7004891C5F}"/>
                </a:ext>
              </a:extLst>
            </p:cNvPr>
            <p:cNvCxnSpPr>
              <a:cxnSpLocks/>
              <a:stCxn id="333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Arrow Connector 337">
              <a:extLst>
                <a:ext uri="{FF2B5EF4-FFF2-40B4-BE49-F238E27FC236}">
                  <a16:creationId xmlns:a16="http://schemas.microsoft.com/office/drawing/2014/main" id="{5FAA5B5D-7EDC-A1A0-2A4D-880AE57216B4}"/>
                </a:ext>
              </a:extLst>
            </p:cNvPr>
            <p:cNvCxnSpPr>
              <a:cxnSpLocks/>
              <a:stCxn id="333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CA5ABE85-A900-04DD-54AB-0BA159A0A7C0}"/>
                </a:ext>
              </a:extLst>
            </p:cNvPr>
            <p:cNvCxnSpPr>
              <a:cxnSpLocks/>
              <a:stCxn id="333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C8E8574F-5490-85A9-7BE7-4948F64D44D0}"/>
              </a:ext>
            </a:extLst>
          </p:cNvPr>
          <p:cNvCxnSpPr>
            <a:cxnSpLocks/>
            <a:stCxn id="76" idx="1"/>
            <a:endCxn id="333" idx="2"/>
          </p:cNvCxnSpPr>
          <p:nvPr/>
        </p:nvCxnSpPr>
        <p:spPr>
          <a:xfrm flipH="1" flipV="1">
            <a:off x="4798817" y="2621759"/>
            <a:ext cx="1423115" cy="12204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384B052F-769D-8AD3-A6D2-FD94959FDC91}"/>
              </a:ext>
            </a:extLst>
          </p:cNvPr>
          <p:cNvCxnSpPr>
            <a:cxnSpLocks/>
            <a:stCxn id="78" idx="1"/>
            <a:endCxn id="100" idx="4"/>
          </p:cNvCxnSpPr>
          <p:nvPr/>
        </p:nvCxnSpPr>
        <p:spPr>
          <a:xfrm flipH="1" flipV="1">
            <a:off x="6959624" y="2390429"/>
            <a:ext cx="647427" cy="4732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1E68210D-A546-E2E5-39BD-7E39F6351497}"/>
              </a:ext>
            </a:extLst>
          </p:cNvPr>
          <p:cNvCxnSpPr>
            <a:cxnSpLocks/>
            <a:stCxn id="78" idx="3"/>
            <a:endCxn id="295" idx="6"/>
          </p:cNvCxnSpPr>
          <p:nvPr/>
        </p:nvCxnSpPr>
        <p:spPr>
          <a:xfrm flipV="1">
            <a:off x="7752714" y="2842422"/>
            <a:ext cx="491829" cy="2121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7B54CF94-CF01-6AE8-3D10-36D8722279A7}"/>
              </a:ext>
            </a:extLst>
          </p:cNvPr>
          <p:cNvCxnSpPr>
            <a:cxnSpLocks/>
            <a:stCxn id="77" idx="0"/>
            <a:endCxn id="259" idx="6"/>
          </p:cNvCxnSpPr>
          <p:nvPr/>
        </p:nvCxnSpPr>
        <p:spPr>
          <a:xfrm flipH="1" flipV="1">
            <a:off x="7906876" y="3902621"/>
            <a:ext cx="139414" cy="38299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99F42F42-483A-7960-CFDE-D78F89C42CB5}"/>
              </a:ext>
            </a:extLst>
          </p:cNvPr>
          <p:cNvCxnSpPr>
            <a:cxnSpLocks/>
            <a:stCxn id="77" idx="3"/>
            <a:endCxn id="250" idx="1"/>
          </p:cNvCxnSpPr>
          <p:nvPr/>
        </p:nvCxnSpPr>
        <p:spPr>
          <a:xfrm flipV="1">
            <a:off x="8119121" y="4343255"/>
            <a:ext cx="767168" cy="151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45DB44C7-7ADA-F281-A524-EC0B440FEF78}"/>
              </a:ext>
            </a:extLst>
          </p:cNvPr>
          <p:cNvCxnSpPr>
            <a:cxnSpLocks/>
            <a:stCxn id="77" idx="2"/>
            <a:endCxn id="109" idx="4"/>
          </p:cNvCxnSpPr>
          <p:nvPr/>
        </p:nvCxnSpPr>
        <p:spPr>
          <a:xfrm>
            <a:off x="8046290" y="4431283"/>
            <a:ext cx="560495" cy="5953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EE7EE756-97C5-F0F6-6B93-7C070556DA24}"/>
              </a:ext>
            </a:extLst>
          </p:cNvPr>
          <p:cNvCxnSpPr>
            <a:cxnSpLocks/>
            <a:stCxn id="80" idx="3"/>
            <a:endCxn id="304" idx="4"/>
          </p:cNvCxnSpPr>
          <p:nvPr/>
        </p:nvCxnSpPr>
        <p:spPr>
          <a:xfrm flipV="1">
            <a:off x="9529784" y="2045518"/>
            <a:ext cx="488169" cy="67146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E1FBECFB-8BF0-9ABA-6518-984842162B73}"/>
              </a:ext>
            </a:extLst>
          </p:cNvPr>
          <p:cNvGrpSpPr/>
          <p:nvPr/>
        </p:nvGrpSpPr>
        <p:grpSpPr>
          <a:xfrm>
            <a:off x="8483326" y="3510437"/>
            <a:ext cx="700392" cy="622040"/>
            <a:chOff x="5047748" y="1501150"/>
            <a:chExt cx="1071858" cy="951950"/>
          </a:xfrm>
        </p:grpSpPr>
        <p:cxnSp>
          <p:nvCxnSpPr>
            <p:cNvPr id="371" name="Straight Arrow Connector 370">
              <a:extLst>
                <a:ext uri="{FF2B5EF4-FFF2-40B4-BE49-F238E27FC236}">
                  <a16:creationId xmlns:a16="http://schemas.microsoft.com/office/drawing/2014/main" id="{95A1C279-A320-3276-4261-0B132156AB86}"/>
                </a:ext>
              </a:extLst>
            </p:cNvPr>
            <p:cNvCxnSpPr>
              <a:cxnSpLocks/>
              <a:stCxn id="372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32206422-5A05-0D2F-FE9E-A5A3FA7AA944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3" name="Straight Arrow Connector 372">
              <a:extLst>
                <a:ext uri="{FF2B5EF4-FFF2-40B4-BE49-F238E27FC236}">
                  <a16:creationId xmlns:a16="http://schemas.microsoft.com/office/drawing/2014/main" id="{411DCE9D-48F1-B951-2417-658F46462C48}"/>
                </a:ext>
              </a:extLst>
            </p:cNvPr>
            <p:cNvCxnSpPr>
              <a:cxnSpLocks/>
              <a:stCxn id="372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CD3F70BA-2CC2-57DB-B4DD-CF6EB907806C}"/>
                </a:ext>
              </a:extLst>
            </p:cNvPr>
            <p:cNvCxnSpPr>
              <a:cxnSpLocks/>
              <a:stCxn id="372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E7313C1D-79EB-11F0-BBF7-691C911A6502}"/>
                </a:ext>
              </a:extLst>
            </p:cNvPr>
            <p:cNvCxnSpPr>
              <a:cxnSpLocks/>
              <a:stCxn id="372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Arrow Connector 375">
              <a:extLst>
                <a:ext uri="{FF2B5EF4-FFF2-40B4-BE49-F238E27FC236}">
                  <a16:creationId xmlns:a16="http://schemas.microsoft.com/office/drawing/2014/main" id="{98047428-3324-CFD9-EFA8-15A1F134962C}"/>
                </a:ext>
              </a:extLst>
            </p:cNvPr>
            <p:cNvCxnSpPr>
              <a:cxnSpLocks/>
              <a:stCxn id="372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8A4533E3-F901-394D-9FE5-B41CA19FD034}"/>
                </a:ext>
              </a:extLst>
            </p:cNvPr>
            <p:cNvCxnSpPr>
              <a:cxnSpLocks/>
              <a:stCxn id="372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D8760352-EE68-F57B-A14A-038E46930A98}"/>
                </a:ext>
              </a:extLst>
            </p:cNvPr>
            <p:cNvCxnSpPr>
              <a:cxnSpLocks/>
              <a:stCxn id="372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E229DE99-E8E7-B67E-BDA9-6528A0286214}"/>
              </a:ext>
            </a:extLst>
          </p:cNvPr>
          <p:cNvGrpSpPr/>
          <p:nvPr/>
        </p:nvGrpSpPr>
        <p:grpSpPr>
          <a:xfrm>
            <a:off x="8825668" y="2928094"/>
            <a:ext cx="700392" cy="622040"/>
            <a:chOff x="5047748" y="1501150"/>
            <a:chExt cx="1071858" cy="951950"/>
          </a:xfrm>
        </p:grpSpPr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8C4D2C9D-DC01-F3CB-8553-EC57B21C333E}"/>
                </a:ext>
              </a:extLst>
            </p:cNvPr>
            <p:cNvCxnSpPr>
              <a:cxnSpLocks/>
              <a:stCxn id="381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DBA8FE06-F019-B178-B153-277979D5A551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2" name="Straight Arrow Connector 381">
              <a:extLst>
                <a:ext uri="{FF2B5EF4-FFF2-40B4-BE49-F238E27FC236}">
                  <a16:creationId xmlns:a16="http://schemas.microsoft.com/office/drawing/2014/main" id="{3C7665FA-1B4E-F8DA-AEE5-01DE4338EEE2}"/>
                </a:ext>
              </a:extLst>
            </p:cNvPr>
            <p:cNvCxnSpPr>
              <a:cxnSpLocks/>
              <a:stCxn id="381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7EC81106-8ACA-CB8A-160D-4231F7145FA2}"/>
                </a:ext>
              </a:extLst>
            </p:cNvPr>
            <p:cNvCxnSpPr>
              <a:cxnSpLocks/>
              <a:stCxn id="381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Arrow Connector 383">
              <a:extLst>
                <a:ext uri="{FF2B5EF4-FFF2-40B4-BE49-F238E27FC236}">
                  <a16:creationId xmlns:a16="http://schemas.microsoft.com/office/drawing/2014/main" id="{571BA72F-20B9-0F3A-277F-83DF340AF690}"/>
                </a:ext>
              </a:extLst>
            </p:cNvPr>
            <p:cNvCxnSpPr>
              <a:cxnSpLocks/>
              <a:stCxn id="381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Arrow Connector 384">
              <a:extLst>
                <a:ext uri="{FF2B5EF4-FFF2-40B4-BE49-F238E27FC236}">
                  <a16:creationId xmlns:a16="http://schemas.microsoft.com/office/drawing/2014/main" id="{57D64021-C52B-7E90-83AD-22AC1D9E74AF}"/>
                </a:ext>
              </a:extLst>
            </p:cNvPr>
            <p:cNvCxnSpPr>
              <a:cxnSpLocks/>
              <a:stCxn id="381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Arrow Connector 385">
              <a:extLst>
                <a:ext uri="{FF2B5EF4-FFF2-40B4-BE49-F238E27FC236}">
                  <a16:creationId xmlns:a16="http://schemas.microsoft.com/office/drawing/2014/main" id="{31D69ACA-54FD-F7DA-C62A-B2D260ED0998}"/>
                </a:ext>
              </a:extLst>
            </p:cNvPr>
            <p:cNvCxnSpPr>
              <a:cxnSpLocks/>
              <a:stCxn id="381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8FE8A736-574D-BD4B-EEA1-2375BBF0AA0E}"/>
                </a:ext>
              </a:extLst>
            </p:cNvPr>
            <p:cNvCxnSpPr>
              <a:cxnSpLocks/>
              <a:stCxn id="381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D31F75EF-0182-B535-6033-A082DD7AB39D}"/>
              </a:ext>
            </a:extLst>
          </p:cNvPr>
          <p:cNvGrpSpPr/>
          <p:nvPr/>
        </p:nvGrpSpPr>
        <p:grpSpPr>
          <a:xfrm>
            <a:off x="8555053" y="2166251"/>
            <a:ext cx="700392" cy="622040"/>
            <a:chOff x="5047748" y="1501150"/>
            <a:chExt cx="1071858" cy="951950"/>
          </a:xfrm>
        </p:grpSpPr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69D5C1F0-00DB-17FD-2A6B-903B9563AD42}"/>
                </a:ext>
              </a:extLst>
            </p:cNvPr>
            <p:cNvCxnSpPr>
              <a:cxnSpLocks/>
              <a:stCxn id="39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E984F1A8-46BD-ED96-2775-0520ECCD4832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1" name="Straight Arrow Connector 390">
              <a:extLst>
                <a:ext uri="{FF2B5EF4-FFF2-40B4-BE49-F238E27FC236}">
                  <a16:creationId xmlns:a16="http://schemas.microsoft.com/office/drawing/2014/main" id="{7F83FE49-F42E-8511-B5B8-A406EC674C65}"/>
                </a:ext>
              </a:extLst>
            </p:cNvPr>
            <p:cNvCxnSpPr>
              <a:cxnSpLocks/>
              <a:stCxn id="39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Arrow Connector 391">
              <a:extLst>
                <a:ext uri="{FF2B5EF4-FFF2-40B4-BE49-F238E27FC236}">
                  <a16:creationId xmlns:a16="http://schemas.microsoft.com/office/drawing/2014/main" id="{869A1331-7DCF-C628-B5D4-B304CB8388CF}"/>
                </a:ext>
              </a:extLst>
            </p:cNvPr>
            <p:cNvCxnSpPr>
              <a:cxnSpLocks/>
              <a:stCxn id="39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04CDB16C-C068-1D62-70DC-F51C6D18BB9D}"/>
                </a:ext>
              </a:extLst>
            </p:cNvPr>
            <p:cNvCxnSpPr>
              <a:cxnSpLocks/>
              <a:stCxn id="39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C8378958-465F-E6E9-24A2-7E10F37884B7}"/>
                </a:ext>
              </a:extLst>
            </p:cNvPr>
            <p:cNvCxnSpPr>
              <a:cxnSpLocks/>
              <a:stCxn id="39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>
              <a:extLst>
                <a:ext uri="{FF2B5EF4-FFF2-40B4-BE49-F238E27FC236}">
                  <a16:creationId xmlns:a16="http://schemas.microsoft.com/office/drawing/2014/main" id="{B1C7BF96-945D-E7F6-8E23-EDF1BD0775F3}"/>
                </a:ext>
              </a:extLst>
            </p:cNvPr>
            <p:cNvCxnSpPr>
              <a:cxnSpLocks/>
              <a:stCxn id="39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Arrow Connector 395">
              <a:extLst>
                <a:ext uri="{FF2B5EF4-FFF2-40B4-BE49-F238E27FC236}">
                  <a16:creationId xmlns:a16="http://schemas.microsoft.com/office/drawing/2014/main" id="{FD7231E2-B23B-28CC-E7BD-76D14579556B}"/>
                </a:ext>
              </a:extLst>
            </p:cNvPr>
            <p:cNvCxnSpPr>
              <a:cxnSpLocks/>
              <a:stCxn id="39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C5B71999-C95F-F01A-43DB-E3FACD98A8B6}"/>
              </a:ext>
            </a:extLst>
          </p:cNvPr>
          <p:cNvGrpSpPr/>
          <p:nvPr/>
        </p:nvGrpSpPr>
        <p:grpSpPr>
          <a:xfrm>
            <a:off x="6635313" y="3777508"/>
            <a:ext cx="700392" cy="622040"/>
            <a:chOff x="5047748" y="1501150"/>
            <a:chExt cx="1071858" cy="951950"/>
          </a:xfrm>
        </p:grpSpPr>
        <p:cxnSp>
          <p:nvCxnSpPr>
            <p:cNvPr id="398" name="Straight Arrow Connector 397">
              <a:extLst>
                <a:ext uri="{FF2B5EF4-FFF2-40B4-BE49-F238E27FC236}">
                  <a16:creationId xmlns:a16="http://schemas.microsoft.com/office/drawing/2014/main" id="{82EF2ED2-1F15-A625-D05A-E8E671389622}"/>
                </a:ext>
              </a:extLst>
            </p:cNvPr>
            <p:cNvCxnSpPr>
              <a:cxnSpLocks/>
              <a:stCxn id="399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FF6FB73E-277A-B02B-07EA-9734C2505BA3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0" name="Straight Arrow Connector 399">
              <a:extLst>
                <a:ext uri="{FF2B5EF4-FFF2-40B4-BE49-F238E27FC236}">
                  <a16:creationId xmlns:a16="http://schemas.microsoft.com/office/drawing/2014/main" id="{2A9ED007-395E-867C-53D7-927CCC4070B7}"/>
                </a:ext>
              </a:extLst>
            </p:cNvPr>
            <p:cNvCxnSpPr>
              <a:cxnSpLocks/>
              <a:stCxn id="399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Arrow Connector 400">
              <a:extLst>
                <a:ext uri="{FF2B5EF4-FFF2-40B4-BE49-F238E27FC236}">
                  <a16:creationId xmlns:a16="http://schemas.microsoft.com/office/drawing/2014/main" id="{D5A3EC90-0869-3087-0559-8E16101343E3}"/>
                </a:ext>
              </a:extLst>
            </p:cNvPr>
            <p:cNvCxnSpPr>
              <a:cxnSpLocks/>
              <a:stCxn id="399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DE3CECB5-E81F-9304-F66E-7C5050BA895B}"/>
                </a:ext>
              </a:extLst>
            </p:cNvPr>
            <p:cNvCxnSpPr>
              <a:cxnSpLocks/>
              <a:stCxn id="399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6635685A-0925-E7A0-8267-3A5A7AE54339}"/>
                </a:ext>
              </a:extLst>
            </p:cNvPr>
            <p:cNvCxnSpPr>
              <a:cxnSpLocks/>
              <a:stCxn id="399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Arrow Connector 403">
              <a:extLst>
                <a:ext uri="{FF2B5EF4-FFF2-40B4-BE49-F238E27FC236}">
                  <a16:creationId xmlns:a16="http://schemas.microsoft.com/office/drawing/2014/main" id="{C730D445-1C10-032C-F1FA-16D1124601A8}"/>
                </a:ext>
              </a:extLst>
            </p:cNvPr>
            <p:cNvCxnSpPr>
              <a:cxnSpLocks/>
              <a:stCxn id="399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FF961AA3-EF57-7ABB-9865-C12DD16E494E}"/>
                </a:ext>
              </a:extLst>
            </p:cNvPr>
            <p:cNvCxnSpPr>
              <a:cxnSpLocks/>
              <a:stCxn id="399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526B26D4-F120-F3DE-E424-5539F1DE1A92}"/>
              </a:ext>
            </a:extLst>
          </p:cNvPr>
          <p:cNvGrpSpPr/>
          <p:nvPr/>
        </p:nvGrpSpPr>
        <p:grpSpPr>
          <a:xfrm>
            <a:off x="5521849" y="3413385"/>
            <a:ext cx="700392" cy="622040"/>
            <a:chOff x="5047748" y="1501150"/>
            <a:chExt cx="1071858" cy="951950"/>
          </a:xfrm>
        </p:grpSpPr>
        <p:cxnSp>
          <p:nvCxnSpPr>
            <p:cNvPr id="407" name="Straight Arrow Connector 406">
              <a:extLst>
                <a:ext uri="{FF2B5EF4-FFF2-40B4-BE49-F238E27FC236}">
                  <a16:creationId xmlns:a16="http://schemas.microsoft.com/office/drawing/2014/main" id="{A2363599-FA7F-DC69-BB4A-ABDD0DAA94A3}"/>
                </a:ext>
              </a:extLst>
            </p:cNvPr>
            <p:cNvCxnSpPr>
              <a:cxnSpLocks/>
              <a:stCxn id="408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DB2AE4D4-554B-E7F2-2CC4-DEC885B6AFF2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9" name="Straight Arrow Connector 408">
              <a:extLst>
                <a:ext uri="{FF2B5EF4-FFF2-40B4-BE49-F238E27FC236}">
                  <a16:creationId xmlns:a16="http://schemas.microsoft.com/office/drawing/2014/main" id="{8AE57134-C5B8-7B22-3CC8-97197953C620}"/>
                </a:ext>
              </a:extLst>
            </p:cNvPr>
            <p:cNvCxnSpPr>
              <a:cxnSpLocks/>
              <a:stCxn id="408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Arrow Connector 409">
              <a:extLst>
                <a:ext uri="{FF2B5EF4-FFF2-40B4-BE49-F238E27FC236}">
                  <a16:creationId xmlns:a16="http://schemas.microsoft.com/office/drawing/2014/main" id="{B42A41A1-9AAB-9F03-2A12-6AB9ABBC08BA}"/>
                </a:ext>
              </a:extLst>
            </p:cNvPr>
            <p:cNvCxnSpPr>
              <a:cxnSpLocks/>
              <a:stCxn id="408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Arrow Connector 410">
              <a:extLst>
                <a:ext uri="{FF2B5EF4-FFF2-40B4-BE49-F238E27FC236}">
                  <a16:creationId xmlns:a16="http://schemas.microsoft.com/office/drawing/2014/main" id="{6BF74464-A5D3-CF71-C4FA-B5A658F5A806}"/>
                </a:ext>
              </a:extLst>
            </p:cNvPr>
            <p:cNvCxnSpPr>
              <a:cxnSpLocks/>
              <a:stCxn id="408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ACEB5B2C-BF23-04BE-2D00-B52C8ADE18DB}"/>
                </a:ext>
              </a:extLst>
            </p:cNvPr>
            <p:cNvCxnSpPr>
              <a:cxnSpLocks/>
              <a:stCxn id="408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D1A3BEFD-92C9-4914-A03F-CBD9BABB4FEE}"/>
                </a:ext>
              </a:extLst>
            </p:cNvPr>
            <p:cNvCxnSpPr>
              <a:cxnSpLocks/>
              <a:stCxn id="408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FFB07E79-D1C9-6B0D-CC47-1B2EAA1F5AA9}"/>
                </a:ext>
              </a:extLst>
            </p:cNvPr>
            <p:cNvCxnSpPr>
              <a:cxnSpLocks/>
              <a:stCxn id="408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6D33B651-C504-B2EC-88F6-0054704B9692}"/>
              </a:ext>
            </a:extLst>
          </p:cNvPr>
          <p:cNvGrpSpPr/>
          <p:nvPr/>
        </p:nvGrpSpPr>
        <p:grpSpPr>
          <a:xfrm>
            <a:off x="2260855" y="2514518"/>
            <a:ext cx="700392" cy="622040"/>
            <a:chOff x="5047748" y="1501150"/>
            <a:chExt cx="1071858" cy="951950"/>
          </a:xfrm>
        </p:grpSpPr>
        <p:cxnSp>
          <p:nvCxnSpPr>
            <p:cNvPr id="416" name="Straight Arrow Connector 415">
              <a:extLst>
                <a:ext uri="{FF2B5EF4-FFF2-40B4-BE49-F238E27FC236}">
                  <a16:creationId xmlns:a16="http://schemas.microsoft.com/office/drawing/2014/main" id="{5D9B9499-4A3E-8997-5B1B-183E7AC82D2F}"/>
                </a:ext>
              </a:extLst>
            </p:cNvPr>
            <p:cNvCxnSpPr>
              <a:cxnSpLocks/>
              <a:stCxn id="417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152E08A1-25D1-229D-5B06-FFC8D25D17AD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8" name="Straight Arrow Connector 417">
              <a:extLst>
                <a:ext uri="{FF2B5EF4-FFF2-40B4-BE49-F238E27FC236}">
                  <a16:creationId xmlns:a16="http://schemas.microsoft.com/office/drawing/2014/main" id="{B99E3874-478B-5390-AA38-9305EA794E2B}"/>
                </a:ext>
              </a:extLst>
            </p:cNvPr>
            <p:cNvCxnSpPr>
              <a:cxnSpLocks/>
              <a:stCxn id="417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9642579F-B8E3-AED3-7363-0AB57EA171FF}"/>
                </a:ext>
              </a:extLst>
            </p:cNvPr>
            <p:cNvCxnSpPr>
              <a:cxnSpLocks/>
              <a:stCxn id="417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Arrow Connector 419">
              <a:extLst>
                <a:ext uri="{FF2B5EF4-FFF2-40B4-BE49-F238E27FC236}">
                  <a16:creationId xmlns:a16="http://schemas.microsoft.com/office/drawing/2014/main" id="{FB401D20-ABC1-1A80-FFED-21E9E0558C32}"/>
                </a:ext>
              </a:extLst>
            </p:cNvPr>
            <p:cNvCxnSpPr>
              <a:cxnSpLocks/>
              <a:stCxn id="417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2ACF21A5-849A-A851-AD36-D24BD6FE89D1}"/>
                </a:ext>
              </a:extLst>
            </p:cNvPr>
            <p:cNvCxnSpPr>
              <a:cxnSpLocks/>
              <a:stCxn id="417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AB21B4D2-BDE6-6A58-9BC2-A4B7CE6C4887}"/>
                </a:ext>
              </a:extLst>
            </p:cNvPr>
            <p:cNvCxnSpPr>
              <a:cxnSpLocks/>
              <a:stCxn id="417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Arrow Connector 422">
              <a:extLst>
                <a:ext uri="{FF2B5EF4-FFF2-40B4-BE49-F238E27FC236}">
                  <a16:creationId xmlns:a16="http://schemas.microsoft.com/office/drawing/2014/main" id="{D4D9F636-D231-704D-15D4-DFC2A52CABBA}"/>
                </a:ext>
              </a:extLst>
            </p:cNvPr>
            <p:cNvCxnSpPr>
              <a:cxnSpLocks/>
              <a:stCxn id="417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06829FE1-C95E-95AF-4D27-1B2D0119BF69}"/>
              </a:ext>
            </a:extLst>
          </p:cNvPr>
          <p:cNvGrpSpPr/>
          <p:nvPr/>
        </p:nvGrpSpPr>
        <p:grpSpPr>
          <a:xfrm>
            <a:off x="2231343" y="4253253"/>
            <a:ext cx="700392" cy="622040"/>
            <a:chOff x="5047748" y="1501150"/>
            <a:chExt cx="1071858" cy="951950"/>
          </a:xfrm>
        </p:grpSpPr>
        <p:cxnSp>
          <p:nvCxnSpPr>
            <p:cNvPr id="425" name="Straight Arrow Connector 424">
              <a:extLst>
                <a:ext uri="{FF2B5EF4-FFF2-40B4-BE49-F238E27FC236}">
                  <a16:creationId xmlns:a16="http://schemas.microsoft.com/office/drawing/2014/main" id="{A51A32D5-BBCC-12A7-7B44-61C31048A6BC}"/>
                </a:ext>
              </a:extLst>
            </p:cNvPr>
            <p:cNvCxnSpPr>
              <a:cxnSpLocks/>
              <a:stCxn id="426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79A875A6-7905-4514-44E7-34ADFF04D166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7" name="Straight Arrow Connector 426">
              <a:extLst>
                <a:ext uri="{FF2B5EF4-FFF2-40B4-BE49-F238E27FC236}">
                  <a16:creationId xmlns:a16="http://schemas.microsoft.com/office/drawing/2014/main" id="{3B05F17F-5B0B-49AC-47E0-360EE6881002}"/>
                </a:ext>
              </a:extLst>
            </p:cNvPr>
            <p:cNvCxnSpPr>
              <a:cxnSpLocks/>
              <a:stCxn id="426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>
              <a:extLst>
                <a:ext uri="{FF2B5EF4-FFF2-40B4-BE49-F238E27FC236}">
                  <a16:creationId xmlns:a16="http://schemas.microsoft.com/office/drawing/2014/main" id="{E0ACD1E4-71D6-3DFC-022B-A955A8214DDA}"/>
                </a:ext>
              </a:extLst>
            </p:cNvPr>
            <p:cNvCxnSpPr>
              <a:cxnSpLocks/>
              <a:stCxn id="426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Arrow Connector 428">
              <a:extLst>
                <a:ext uri="{FF2B5EF4-FFF2-40B4-BE49-F238E27FC236}">
                  <a16:creationId xmlns:a16="http://schemas.microsoft.com/office/drawing/2014/main" id="{70DF40FE-D53C-8B31-BE52-5FAF6F07236F}"/>
                </a:ext>
              </a:extLst>
            </p:cNvPr>
            <p:cNvCxnSpPr>
              <a:cxnSpLocks/>
              <a:stCxn id="426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1367C51A-6399-552F-90B9-466A806185CA}"/>
                </a:ext>
              </a:extLst>
            </p:cNvPr>
            <p:cNvCxnSpPr>
              <a:cxnSpLocks/>
              <a:stCxn id="426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Arrow Connector 430">
              <a:extLst>
                <a:ext uri="{FF2B5EF4-FFF2-40B4-BE49-F238E27FC236}">
                  <a16:creationId xmlns:a16="http://schemas.microsoft.com/office/drawing/2014/main" id="{3B941F5B-07FA-EB42-EC6C-C450EA3D89B9}"/>
                </a:ext>
              </a:extLst>
            </p:cNvPr>
            <p:cNvCxnSpPr>
              <a:cxnSpLocks/>
              <a:stCxn id="426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Arrow Connector 431">
              <a:extLst>
                <a:ext uri="{FF2B5EF4-FFF2-40B4-BE49-F238E27FC236}">
                  <a16:creationId xmlns:a16="http://schemas.microsoft.com/office/drawing/2014/main" id="{DD269856-82CE-6345-9282-774853905488}"/>
                </a:ext>
              </a:extLst>
            </p:cNvPr>
            <p:cNvCxnSpPr>
              <a:cxnSpLocks/>
              <a:stCxn id="426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516379BC-4CA1-BF36-AC76-5BFC2EE408F0}"/>
              </a:ext>
            </a:extLst>
          </p:cNvPr>
          <p:cNvGrpSpPr/>
          <p:nvPr/>
        </p:nvGrpSpPr>
        <p:grpSpPr>
          <a:xfrm>
            <a:off x="7309683" y="3013059"/>
            <a:ext cx="700392" cy="622040"/>
            <a:chOff x="5047748" y="1501150"/>
            <a:chExt cx="1071858" cy="951950"/>
          </a:xfrm>
        </p:grpSpPr>
        <p:cxnSp>
          <p:nvCxnSpPr>
            <p:cNvPr id="434" name="Straight Arrow Connector 433">
              <a:extLst>
                <a:ext uri="{FF2B5EF4-FFF2-40B4-BE49-F238E27FC236}">
                  <a16:creationId xmlns:a16="http://schemas.microsoft.com/office/drawing/2014/main" id="{C37572DA-2090-4AFF-17DA-767EA4BD275E}"/>
                </a:ext>
              </a:extLst>
            </p:cNvPr>
            <p:cNvCxnSpPr>
              <a:cxnSpLocks/>
              <a:stCxn id="435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0A447B0C-2E23-F012-01C6-62EBD6DA420B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3806CD89-CE04-C591-67C7-146A2EB4CAB7}"/>
                </a:ext>
              </a:extLst>
            </p:cNvPr>
            <p:cNvCxnSpPr>
              <a:cxnSpLocks/>
              <a:stCxn id="435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Arrow Connector 436">
              <a:extLst>
                <a:ext uri="{FF2B5EF4-FFF2-40B4-BE49-F238E27FC236}">
                  <a16:creationId xmlns:a16="http://schemas.microsoft.com/office/drawing/2014/main" id="{87F8959F-3F48-D6A1-D8D9-06AB13A3C6BD}"/>
                </a:ext>
              </a:extLst>
            </p:cNvPr>
            <p:cNvCxnSpPr>
              <a:cxnSpLocks/>
              <a:stCxn id="435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Arrow Connector 437">
              <a:extLst>
                <a:ext uri="{FF2B5EF4-FFF2-40B4-BE49-F238E27FC236}">
                  <a16:creationId xmlns:a16="http://schemas.microsoft.com/office/drawing/2014/main" id="{4640454B-3BC5-1CA2-515C-14F92814834B}"/>
                </a:ext>
              </a:extLst>
            </p:cNvPr>
            <p:cNvCxnSpPr>
              <a:cxnSpLocks/>
              <a:stCxn id="435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Arrow Connector 438">
              <a:extLst>
                <a:ext uri="{FF2B5EF4-FFF2-40B4-BE49-F238E27FC236}">
                  <a16:creationId xmlns:a16="http://schemas.microsoft.com/office/drawing/2014/main" id="{692773EC-CFAC-8CDC-AC9C-E0EE02ECF99D}"/>
                </a:ext>
              </a:extLst>
            </p:cNvPr>
            <p:cNvCxnSpPr>
              <a:cxnSpLocks/>
              <a:stCxn id="435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Arrow Connector 439">
              <a:extLst>
                <a:ext uri="{FF2B5EF4-FFF2-40B4-BE49-F238E27FC236}">
                  <a16:creationId xmlns:a16="http://schemas.microsoft.com/office/drawing/2014/main" id="{DA044E50-69B9-19AF-3D18-F266E82C0AF6}"/>
                </a:ext>
              </a:extLst>
            </p:cNvPr>
            <p:cNvCxnSpPr>
              <a:cxnSpLocks/>
              <a:stCxn id="435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3CCDD795-59E7-A279-ABD4-5B4A4B8D6111}"/>
                </a:ext>
              </a:extLst>
            </p:cNvPr>
            <p:cNvCxnSpPr>
              <a:cxnSpLocks/>
              <a:stCxn id="435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89478C52-FAAA-B642-22F5-0A42BBE503E0}"/>
              </a:ext>
            </a:extLst>
          </p:cNvPr>
          <p:cNvCxnSpPr>
            <a:cxnSpLocks/>
            <a:stCxn id="88" idx="3"/>
            <a:endCxn id="190" idx="5"/>
          </p:cNvCxnSpPr>
          <p:nvPr/>
        </p:nvCxnSpPr>
        <p:spPr>
          <a:xfrm>
            <a:off x="3803495" y="3533136"/>
            <a:ext cx="552222" cy="4793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9536A8AD-E06F-7002-F10D-F8A126EFC2D4}"/>
              </a:ext>
            </a:extLst>
          </p:cNvPr>
          <p:cNvCxnSpPr>
            <a:cxnSpLocks/>
            <a:stCxn id="88" idx="1"/>
            <a:endCxn id="426" idx="7"/>
          </p:cNvCxnSpPr>
          <p:nvPr/>
        </p:nvCxnSpPr>
        <p:spPr>
          <a:xfrm flipH="1">
            <a:off x="2573686" y="3533136"/>
            <a:ext cx="1084146" cy="10121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E398AC5-2610-4BDA-4B4E-B6405FF94D88}"/>
              </a:ext>
            </a:extLst>
          </p:cNvPr>
          <p:cNvCxnSpPr>
            <a:cxnSpLocks/>
            <a:stCxn id="88" idx="1"/>
            <a:endCxn id="417" idx="5"/>
          </p:cNvCxnSpPr>
          <p:nvPr/>
        </p:nvCxnSpPr>
        <p:spPr>
          <a:xfrm flipH="1" flipV="1">
            <a:off x="2603198" y="2844498"/>
            <a:ext cx="1054634" cy="68863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F1DE74B-4282-A373-F291-0AACF1940686}"/>
              </a:ext>
            </a:extLst>
          </p:cNvPr>
          <p:cNvCxnSpPr>
            <a:cxnSpLocks/>
            <a:stCxn id="77" idx="2"/>
            <a:endCxn id="277" idx="6"/>
          </p:cNvCxnSpPr>
          <p:nvPr/>
        </p:nvCxnSpPr>
        <p:spPr>
          <a:xfrm flipH="1">
            <a:off x="6940664" y="4431283"/>
            <a:ext cx="1105626" cy="98675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733480AA-7462-B167-77B2-A77B9A154006}"/>
              </a:ext>
            </a:extLst>
          </p:cNvPr>
          <p:cNvCxnSpPr>
            <a:cxnSpLocks/>
            <a:stCxn id="77" idx="1"/>
            <a:endCxn id="268" idx="6"/>
          </p:cNvCxnSpPr>
          <p:nvPr/>
        </p:nvCxnSpPr>
        <p:spPr>
          <a:xfrm flipH="1">
            <a:off x="7579883" y="4358452"/>
            <a:ext cx="393575" cy="3586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BF037C6-E4BA-5D5F-0A1B-97D096E8FDC9}"/>
              </a:ext>
            </a:extLst>
          </p:cNvPr>
          <p:cNvCxnSpPr>
            <a:cxnSpLocks/>
            <a:stCxn id="77" idx="1"/>
            <a:endCxn id="399" idx="7"/>
          </p:cNvCxnSpPr>
          <p:nvPr/>
        </p:nvCxnSpPr>
        <p:spPr>
          <a:xfrm flipH="1" flipV="1">
            <a:off x="6977656" y="4069568"/>
            <a:ext cx="995802" cy="28888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05F30914-9845-399D-43EE-F3872DE998C5}"/>
              </a:ext>
            </a:extLst>
          </p:cNvPr>
          <p:cNvCxnSpPr>
            <a:cxnSpLocks/>
            <a:stCxn id="78" idx="2"/>
            <a:endCxn id="435" idx="6"/>
          </p:cNvCxnSpPr>
          <p:nvPr/>
        </p:nvCxnSpPr>
        <p:spPr>
          <a:xfrm flipH="1">
            <a:off x="7659879" y="2936468"/>
            <a:ext cx="20004" cy="3876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id="{97E0C7D4-8ECC-1993-2BAF-E63E4F47025A}"/>
              </a:ext>
            </a:extLst>
          </p:cNvPr>
          <p:cNvCxnSpPr>
            <a:cxnSpLocks/>
            <a:stCxn id="76" idx="2"/>
            <a:endCxn id="408" idx="0"/>
          </p:cNvCxnSpPr>
          <p:nvPr/>
        </p:nvCxnSpPr>
        <p:spPr>
          <a:xfrm flipH="1">
            <a:off x="5845232" y="2816631"/>
            <a:ext cx="449532" cy="88096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>
            <a:extLst>
              <a:ext uri="{FF2B5EF4-FFF2-40B4-BE49-F238E27FC236}">
                <a16:creationId xmlns:a16="http://schemas.microsoft.com/office/drawing/2014/main" id="{08654C78-85DE-7613-F71A-B7691C0895FB}"/>
              </a:ext>
            </a:extLst>
          </p:cNvPr>
          <p:cNvCxnSpPr>
            <a:cxnSpLocks/>
            <a:stCxn id="80" idx="0"/>
            <a:endCxn id="390" idx="5"/>
          </p:cNvCxnSpPr>
          <p:nvPr/>
        </p:nvCxnSpPr>
        <p:spPr>
          <a:xfrm flipH="1" flipV="1">
            <a:off x="8897396" y="2496231"/>
            <a:ext cx="559557" cy="14792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A21009EB-3027-878B-17C3-0457ED0F6B12}"/>
              </a:ext>
            </a:extLst>
          </p:cNvPr>
          <p:cNvCxnSpPr>
            <a:cxnSpLocks/>
            <a:stCxn id="80" idx="2"/>
            <a:endCxn id="381" idx="2"/>
          </p:cNvCxnSpPr>
          <p:nvPr/>
        </p:nvCxnSpPr>
        <p:spPr>
          <a:xfrm flipH="1">
            <a:off x="9122238" y="2789818"/>
            <a:ext cx="334715" cy="44929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479">
            <a:extLst>
              <a:ext uri="{FF2B5EF4-FFF2-40B4-BE49-F238E27FC236}">
                <a16:creationId xmlns:a16="http://schemas.microsoft.com/office/drawing/2014/main" id="{20FD4718-45C8-2267-F525-0CE591E18D0A}"/>
              </a:ext>
            </a:extLst>
          </p:cNvPr>
          <p:cNvCxnSpPr>
            <a:cxnSpLocks/>
            <a:stCxn id="80" idx="2"/>
          </p:cNvCxnSpPr>
          <p:nvPr/>
        </p:nvCxnSpPr>
        <p:spPr>
          <a:xfrm flipH="1">
            <a:off x="9406964" y="2789818"/>
            <a:ext cx="49989" cy="101138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>
            <a:extLst>
              <a:ext uri="{FF2B5EF4-FFF2-40B4-BE49-F238E27FC236}">
                <a16:creationId xmlns:a16="http://schemas.microsoft.com/office/drawing/2014/main" id="{41D449BB-9BE4-4ACB-6F86-23B8D80C6418}"/>
              </a:ext>
            </a:extLst>
          </p:cNvPr>
          <p:cNvCxnSpPr>
            <a:cxnSpLocks/>
            <a:stCxn id="75" idx="2"/>
            <a:endCxn id="239" idx="1"/>
          </p:cNvCxnSpPr>
          <p:nvPr/>
        </p:nvCxnSpPr>
        <p:spPr>
          <a:xfrm>
            <a:off x="5320459" y="5510283"/>
            <a:ext cx="12185" cy="43069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Arrow Connector 485">
            <a:extLst>
              <a:ext uri="{FF2B5EF4-FFF2-40B4-BE49-F238E27FC236}">
                <a16:creationId xmlns:a16="http://schemas.microsoft.com/office/drawing/2014/main" id="{CC3702E9-EDE8-C947-E0B1-740F59E52BA3}"/>
              </a:ext>
            </a:extLst>
          </p:cNvPr>
          <p:cNvCxnSpPr>
            <a:cxnSpLocks/>
            <a:stCxn id="75" idx="3"/>
            <a:endCxn id="221" idx="5"/>
          </p:cNvCxnSpPr>
          <p:nvPr/>
        </p:nvCxnSpPr>
        <p:spPr>
          <a:xfrm flipV="1">
            <a:off x="5393290" y="5076120"/>
            <a:ext cx="366908" cy="3613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C9D87FB9-0EAB-3F7A-BB33-D94AF0FCF34F}"/>
              </a:ext>
            </a:extLst>
          </p:cNvPr>
          <p:cNvCxnSpPr>
            <a:cxnSpLocks/>
            <a:stCxn id="75" idx="1"/>
            <a:endCxn id="230" idx="4"/>
          </p:cNvCxnSpPr>
          <p:nvPr/>
        </p:nvCxnSpPr>
        <p:spPr>
          <a:xfrm flipH="1" flipV="1">
            <a:off x="5245379" y="5083973"/>
            <a:ext cx="2248" cy="3534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08E080C-C9DC-B3AB-9029-4B7647EE8B81}"/>
              </a:ext>
            </a:extLst>
          </p:cNvPr>
          <p:cNvSpPr/>
          <p:nvPr/>
        </p:nvSpPr>
        <p:spPr>
          <a:xfrm>
            <a:off x="427220" y="4909279"/>
            <a:ext cx="4144779" cy="1960545"/>
          </a:xfrm>
          <a:custGeom>
            <a:avLst/>
            <a:gdLst>
              <a:gd name="connsiteX0" fmla="*/ 37475 w 4144779"/>
              <a:gd name="connsiteY0" fmla="*/ 0 h 1843790"/>
              <a:gd name="connsiteX1" fmla="*/ 1723869 w 4144779"/>
              <a:gd name="connsiteY1" fmla="*/ 0 h 1843790"/>
              <a:gd name="connsiteX2" fmla="*/ 1723869 w 4144779"/>
              <a:gd name="connsiteY2" fmla="*/ 7495 h 1843790"/>
              <a:gd name="connsiteX3" fmla="*/ 2488367 w 4144779"/>
              <a:gd name="connsiteY3" fmla="*/ 824459 h 1843790"/>
              <a:gd name="connsiteX4" fmla="*/ 3522688 w 4144779"/>
              <a:gd name="connsiteY4" fmla="*/ 824459 h 1843790"/>
              <a:gd name="connsiteX5" fmla="*/ 4144779 w 4144779"/>
              <a:gd name="connsiteY5" fmla="*/ 1446550 h 1843790"/>
              <a:gd name="connsiteX6" fmla="*/ 4144779 w 4144779"/>
              <a:gd name="connsiteY6" fmla="*/ 1843790 h 1843790"/>
              <a:gd name="connsiteX7" fmla="*/ 0 w 4144779"/>
              <a:gd name="connsiteY7" fmla="*/ 1843790 h 1843790"/>
              <a:gd name="connsiteX8" fmla="*/ 0 w 4144779"/>
              <a:gd name="connsiteY8" fmla="*/ 0 h 184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4779" h="1843790">
                <a:moveTo>
                  <a:pt x="37475" y="0"/>
                </a:moveTo>
                <a:lnTo>
                  <a:pt x="1723869" y="0"/>
                </a:lnTo>
                <a:lnTo>
                  <a:pt x="1723869" y="7495"/>
                </a:lnTo>
                <a:lnTo>
                  <a:pt x="2488367" y="824459"/>
                </a:lnTo>
                <a:lnTo>
                  <a:pt x="3522688" y="824459"/>
                </a:lnTo>
                <a:lnTo>
                  <a:pt x="4144779" y="1446550"/>
                </a:lnTo>
                <a:lnTo>
                  <a:pt x="4144779" y="1843790"/>
                </a:lnTo>
                <a:lnTo>
                  <a:pt x="0" y="1843790"/>
                </a:lnTo>
                <a:lnTo>
                  <a:pt x="0" y="0"/>
                </a:lnTo>
              </a:path>
            </a:pathLst>
          </a:custGeom>
          <a:solidFill>
            <a:srgbClr val="9EC7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0CAA019-6D16-5851-3F82-3BAD35DC2DEE}"/>
              </a:ext>
            </a:extLst>
          </p:cNvPr>
          <p:cNvGrpSpPr/>
          <p:nvPr/>
        </p:nvGrpSpPr>
        <p:grpSpPr>
          <a:xfrm>
            <a:off x="6519463" y="3259702"/>
            <a:ext cx="700392" cy="622040"/>
            <a:chOff x="5047748" y="1501150"/>
            <a:chExt cx="1071858" cy="951950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5B37ECF-D419-B357-6FDA-AE970C38A5D2}"/>
                </a:ext>
              </a:extLst>
            </p:cNvPr>
            <p:cNvCxnSpPr>
              <a:cxnSpLocks/>
              <a:stCxn id="34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260602C-7CAA-CD87-A6A6-94C4A69FBD35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5E9BC28-4A97-43BB-34C7-CCD081A3B03D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7C51F77-CE9F-0854-8BCF-5D54C2339054}"/>
                </a:ext>
              </a:extLst>
            </p:cNvPr>
            <p:cNvCxnSpPr>
              <a:cxnSpLocks/>
              <a:stCxn id="34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2F85516-06EF-05A8-582B-B01DF8F92BF1}"/>
                </a:ext>
              </a:extLst>
            </p:cNvPr>
            <p:cNvCxnSpPr>
              <a:cxnSpLocks/>
              <a:stCxn id="34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E597C92-EDAC-0DA6-3005-7C21550369BF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F6773C92-2955-3C25-BC0E-CAA631254BE2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8614A15-3791-8DF3-395D-BB556632FBD2}"/>
                </a:ext>
              </a:extLst>
            </p:cNvPr>
            <p:cNvCxnSpPr>
              <a:cxnSpLocks/>
              <a:stCxn id="34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E3A5CBF-E0A2-B13F-5A6A-BA58C01F0C79}"/>
              </a:ext>
            </a:extLst>
          </p:cNvPr>
          <p:cNvCxnSpPr>
            <a:cxnSpLocks/>
            <a:stCxn id="78" idx="2"/>
            <a:endCxn id="34" idx="6"/>
          </p:cNvCxnSpPr>
          <p:nvPr/>
        </p:nvCxnSpPr>
        <p:spPr>
          <a:xfrm flipH="1">
            <a:off x="6869659" y="2936468"/>
            <a:ext cx="810224" cy="63425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C0B613-DA18-579F-7658-EDFE3842D52F}"/>
              </a:ext>
            </a:extLst>
          </p:cNvPr>
          <p:cNvSpPr txBox="1"/>
          <p:nvPr/>
        </p:nvSpPr>
        <p:spPr>
          <a:xfrm>
            <a:off x="2956769" y="301417"/>
            <a:ext cx="6282385" cy="369332"/>
          </a:xfrm>
          <a:prstGeom prst="rect">
            <a:avLst/>
          </a:prstGeom>
          <a:solidFill>
            <a:srgbClr val="F7D3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How much inventory to send to each distribution center?           </a:t>
            </a:r>
          </a:p>
        </p:txBody>
      </p:sp>
      <p:sp>
        <p:nvSpPr>
          <p:cNvPr id="6" name="Google Shape;3455;p75">
            <a:extLst>
              <a:ext uri="{FF2B5EF4-FFF2-40B4-BE49-F238E27FC236}">
                <a16:creationId xmlns:a16="http://schemas.microsoft.com/office/drawing/2014/main" id="{4E746B28-6AB7-254F-483F-47884F01B325}"/>
              </a:ext>
            </a:extLst>
          </p:cNvPr>
          <p:cNvSpPr txBox="1">
            <a:spLocks/>
          </p:cNvSpPr>
          <p:nvPr/>
        </p:nvSpPr>
        <p:spPr>
          <a:xfrm>
            <a:off x="2452991" y="179819"/>
            <a:ext cx="7019445" cy="645146"/>
          </a:xfrm>
          <a:prstGeom prst="rect">
            <a:avLst/>
          </a:prstGeom>
          <a:solidFill>
            <a:srgbClr val="F7D3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buFont typeface="Raleway"/>
              <a:buNone/>
            </a:pPr>
            <a:r>
              <a:rPr lang="en-US" dirty="0">
                <a:solidFill>
                  <a:schemeClr val="tx1"/>
                </a:solidFill>
                <a:latin typeface="Raleway" pitchFamily="2" charset="0"/>
              </a:rPr>
              <a:t>A distribution problem</a:t>
            </a:r>
          </a:p>
        </p:txBody>
      </p:sp>
    </p:spTree>
    <p:extLst>
      <p:ext uri="{BB962C8B-B14F-4D97-AF65-F5344CB8AC3E}">
        <p14:creationId xmlns:p14="http://schemas.microsoft.com/office/powerpoint/2010/main" val="85666668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779D-4F6C-2C50-E614-B099C133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AA9DFAF-837D-5801-0ACC-A3E13D140BA5}"/>
              </a:ext>
            </a:extLst>
          </p:cNvPr>
          <p:cNvGrpSpPr/>
          <p:nvPr/>
        </p:nvGrpSpPr>
        <p:grpSpPr>
          <a:xfrm>
            <a:off x="0" y="-7392"/>
            <a:ext cx="12221333" cy="6894080"/>
            <a:chOff x="0" y="-7392"/>
            <a:chExt cx="12221333" cy="689408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23A3FA2-D65E-5786-4D45-999E42841FC1}"/>
                </a:ext>
              </a:extLst>
            </p:cNvPr>
            <p:cNvSpPr/>
            <p:nvPr/>
          </p:nvSpPr>
          <p:spPr>
            <a:xfrm>
              <a:off x="0" y="0"/>
              <a:ext cx="12221333" cy="6880485"/>
            </a:xfrm>
            <a:prstGeom prst="rect">
              <a:avLst/>
            </a:prstGeom>
            <a:solidFill>
              <a:srgbClr val="9EC7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0C86BB-E213-225C-3988-8F3821094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506" y="-7392"/>
              <a:ext cx="11150359" cy="6894080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18C0CB1-267C-D2B7-3C5C-A3F8751AAE1A}"/>
              </a:ext>
            </a:extLst>
          </p:cNvPr>
          <p:cNvSpPr/>
          <p:nvPr/>
        </p:nvSpPr>
        <p:spPr>
          <a:xfrm>
            <a:off x="3247394" y="5236062"/>
            <a:ext cx="226828" cy="226828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DC3C96-F31F-60F9-0B5A-069BCD3803B1}"/>
              </a:ext>
            </a:extLst>
          </p:cNvPr>
          <p:cNvCxnSpPr>
            <a:cxnSpLocks/>
            <a:stCxn id="9" idx="3"/>
            <a:endCxn id="77" idx="3"/>
          </p:cNvCxnSpPr>
          <p:nvPr/>
        </p:nvCxnSpPr>
        <p:spPr>
          <a:xfrm flipV="1">
            <a:off x="3474222" y="4358452"/>
            <a:ext cx="4644899" cy="9910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C4E2DC-B9A9-2655-EE01-0C815826558C}"/>
              </a:ext>
            </a:extLst>
          </p:cNvPr>
          <p:cNvCxnSpPr>
            <a:cxnSpLocks/>
            <a:stCxn id="9" idx="0"/>
            <a:endCxn id="74" idx="3"/>
          </p:cNvCxnSpPr>
          <p:nvPr/>
        </p:nvCxnSpPr>
        <p:spPr>
          <a:xfrm flipH="1" flipV="1">
            <a:off x="1835887" y="3167702"/>
            <a:ext cx="1524921" cy="20683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7CA2BC-C89A-0B74-E13F-6EB870EAD650}"/>
              </a:ext>
            </a:extLst>
          </p:cNvPr>
          <p:cNvCxnSpPr>
            <a:cxnSpLocks/>
            <a:stCxn id="9" idx="1"/>
            <a:endCxn id="47" idx="2"/>
          </p:cNvCxnSpPr>
          <p:nvPr/>
        </p:nvCxnSpPr>
        <p:spPr>
          <a:xfrm flipH="1" flipV="1">
            <a:off x="1765578" y="3923171"/>
            <a:ext cx="1481816" cy="14263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0AFF62-8FDA-84F5-73BA-90E7C5130E65}"/>
              </a:ext>
            </a:extLst>
          </p:cNvPr>
          <p:cNvCxnSpPr>
            <a:cxnSpLocks/>
            <a:stCxn id="9" idx="3"/>
            <a:endCxn id="75" idx="1"/>
          </p:cNvCxnSpPr>
          <p:nvPr/>
        </p:nvCxnSpPr>
        <p:spPr>
          <a:xfrm>
            <a:off x="3474222" y="5349476"/>
            <a:ext cx="1773405" cy="8797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0F773E12-DA43-DD41-10A8-3F4DDF144704}"/>
              </a:ext>
            </a:extLst>
          </p:cNvPr>
          <p:cNvSpPr/>
          <p:nvPr/>
        </p:nvSpPr>
        <p:spPr>
          <a:xfrm>
            <a:off x="1692746" y="3777508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C4D6ADA-B212-5DFE-D609-48AEE25F540A}"/>
              </a:ext>
            </a:extLst>
          </p:cNvPr>
          <p:cNvSpPr/>
          <p:nvPr/>
        </p:nvSpPr>
        <p:spPr>
          <a:xfrm>
            <a:off x="1690224" y="309487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CD2D3D3-A8FC-BE3B-0AEB-3D25E10B787A}"/>
              </a:ext>
            </a:extLst>
          </p:cNvPr>
          <p:cNvSpPr/>
          <p:nvPr/>
        </p:nvSpPr>
        <p:spPr>
          <a:xfrm>
            <a:off x="5247627" y="536462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A759C38-5209-2195-BAF1-9160609278DE}"/>
              </a:ext>
            </a:extLst>
          </p:cNvPr>
          <p:cNvSpPr/>
          <p:nvPr/>
        </p:nvSpPr>
        <p:spPr>
          <a:xfrm>
            <a:off x="6221932" y="2670968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D7BC932-2C3C-D9F2-CE83-CF4805342832}"/>
              </a:ext>
            </a:extLst>
          </p:cNvPr>
          <p:cNvSpPr/>
          <p:nvPr/>
        </p:nvSpPr>
        <p:spPr>
          <a:xfrm>
            <a:off x="7973458" y="428562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B1B7405-30F2-2F04-AA30-AAC6D257652D}"/>
              </a:ext>
            </a:extLst>
          </p:cNvPr>
          <p:cNvSpPr/>
          <p:nvPr/>
        </p:nvSpPr>
        <p:spPr>
          <a:xfrm>
            <a:off x="7607051" y="2790805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A016244-B6AA-5E91-9237-9C624C712E35}"/>
              </a:ext>
            </a:extLst>
          </p:cNvPr>
          <p:cNvSpPr/>
          <p:nvPr/>
        </p:nvSpPr>
        <p:spPr>
          <a:xfrm>
            <a:off x="9384121" y="2644155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1F77E09-F9E3-BBA2-EDE6-C3B1E79FBA95}"/>
              </a:ext>
            </a:extLst>
          </p:cNvPr>
          <p:cNvCxnSpPr>
            <a:cxnSpLocks/>
            <a:stCxn id="9" idx="0"/>
            <a:endCxn id="76" idx="2"/>
          </p:cNvCxnSpPr>
          <p:nvPr/>
        </p:nvCxnSpPr>
        <p:spPr>
          <a:xfrm flipV="1">
            <a:off x="3360808" y="2816631"/>
            <a:ext cx="2933956" cy="241943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EB58867F-B43C-CC06-E8C3-94889E8EDA22}"/>
              </a:ext>
            </a:extLst>
          </p:cNvPr>
          <p:cNvSpPr/>
          <p:nvPr/>
        </p:nvSpPr>
        <p:spPr>
          <a:xfrm>
            <a:off x="3657832" y="3460304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BDCBB0A-2095-0987-93CB-7122D2DFBB8B}"/>
              </a:ext>
            </a:extLst>
          </p:cNvPr>
          <p:cNvCxnSpPr>
            <a:cxnSpLocks/>
            <a:stCxn id="9" idx="0"/>
            <a:endCxn id="88" idx="2"/>
          </p:cNvCxnSpPr>
          <p:nvPr/>
        </p:nvCxnSpPr>
        <p:spPr>
          <a:xfrm flipV="1">
            <a:off x="3360808" y="3605967"/>
            <a:ext cx="369856" cy="163009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B030E8A-6EA6-2B3F-2E60-439DA32BDBB0}"/>
              </a:ext>
            </a:extLst>
          </p:cNvPr>
          <p:cNvCxnSpPr>
            <a:cxnSpLocks/>
            <a:stCxn id="9" idx="3"/>
            <a:endCxn id="78" idx="1"/>
          </p:cNvCxnSpPr>
          <p:nvPr/>
        </p:nvCxnSpPr>
        <p:spPr>
          <a:xfrm flipV="1">
            <a:off x="3474222" y="2863637"/>
            <a:ext cx="4132829" cy="248583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0F89687-FA38-CD7D-0DC7-339BAD099309}"/>
              </a:ext>
            </a:extLst>
          </p:cNvPr>
          <p:cNvCxnSpPr>
            <a:cxnSpLocks/>
            <a:stCxn id="9" idx="3"/>
            <a:endCxn id="80" idx="1"/>
          </p:cNvCxnSpPr>
          <p:nvPr/>
        </p:nvCxnSpPr>
        <p:spPr>
          <a:xfrm flipV="1">
            <a:off x="3474222" y="2716987"/>
            <a:ext cx="5909899" cy="263248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EB69FF07-42B3-169F-56EB-EBEB386C402A}"/>
              </a:ext>
            </a:extLst>
          </p:cNvPr>
          <p:cNvCxnSpPr>
            <a:cxnSpLocks/>
          </p:cNvCxnSpPr>
          <p:nvPr/>
        </p:nvCxnSpPr>
        <p:spPr>
          <a:xfrm flipH="1" flipV="1">
            <a:off x="9979407" y="1713427"/>
            <a:ext cx="38546" cy="3320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543E990-59A2-9DA6-730D-D10C15445F14}"/>
              </a:ext>
            </a:extLst>
          </p:cNvPr>
          <p:cNvSpPr/>
          <p:nvPr/>
        </p:nvSpPr>
        <p:spPr>
          <a:xfrm>
            <a:off x="427220" y="4909279"/>
            <a:ext cx="4144779" cy="1960545"/>
          </a:xfrm>
          <a:custGeom>
            <a:avLst/>
            <a:gdLst>
              <a:gd name="connsiteX0" fmla="*/ 37475 w 4144779"/>
              <a:gd name="connsiteY0" fmla="*/ 0 h 1843790"/>
              <a:gd name="connsiteX1" fmla="*/ 1723869 w 4144779"/>
              <a:gd name="connsiteY1" fmla="*/ 0 h 1843790"/>
              <a:gd name="connsiteX2" fmla="*/ 1723869 w 4144779"/>
              <a:gd name="connsiteY2" fmla="*/ 7495 h 1843790"/>
              <a:gd name="connsiteX3" fmla="*/ 2488367 w 4144779"/>
              <a:gd name="connsiteY3" fmla="*/ 824459 h 1843790"/>
              <a:gd name="connsiteX4" fmla="*/ 3522688 w 4144779"/>
              <a:gd name="connsiteY4" fmla="*/ 824459 h 1843790"/>
              <a:gd name="connsiteX5" fmla="*/ 4144779 w 4144779"/>
              <a:gd name="connsiteY5" fmla="*/ 1446550 h 1843790"/>
              <a:gd name="connsiteX6" fmla="*/ 4144779 w 4144779"/>
              <a:gd name="connsiteY6" fmla="*/ 1843790 h 1843790"/>
              <a:gd name="connsiteX7" fmla="*/ 0 w 4144779"/>
              <a:gd name="connsiteY7" fmla="*/ 1843790 h 1843790"/>
              <a:gd name="connsiteX8" fmla="*/ 0 w 4144779"/>
              <a:gd name="connsiteY8" fmla="*/ 0 h 184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4779" h="1843790">
                <a:moveTo>
                  <a:pt x="37475" y="0"/>
                </a:moveTo>
                <a:lnTo>
                  <a:pt x="1723869" y="0"/>
                </a:lnTo>
                <a:lnTo>
                  <a:pt x="1723869" y="7495"/>
                </a:lnTo>
                <a:lnTo>
                  <a:pt x="2488367" y="824459"/>
                </a:lnTo>
                <a:lnTo>
                  <a:pt x="3522688" y="824459"/>
                </a:lnTo>
                <a:lnTo>
                  <a:pt x="4144779" y="1446550"/>
                </a:lnTo>
                <a:lnTo>
                  <a:pt x="4144779" y="1843790"/>
                </a:lnTo>
                <a:lnTo>
                  <a:pt x="0" y="1843790"/>
                </a:lnTo>
                <a:lnTo>
                  <a:pt x="0" y="0"/>
                </a:lnTo>
              </a:path>
            </a:pathLst>
          </a:custGeom>
          <a:solidFill>
            <a:srgbClr val="9EC7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682E75-1539-FA27-0C54-4F5ACBE8BEB3}"/>
              </a:ext>
            </a:extLst>
          </p:cNvPr>
          <p:cNvGrpSpPr/>
          <p:nvPr/>
        </p:nvGrpSpPr>
        <p:grpSpPr>
          <a:xfrm>
            <a:off x="1337032" y="2447811"/>
            <a:ext cx="6664862" cy="1911037"/>
            <a:chOff x="1337032" y="2447811"/>
            <a:chExt cx="6664862" cy="191103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144885C-5D07-051D-55FA-46068E19EA82}"/>
                </a:ext>
              </a:extLst>
            </p:cNvPr>
            <p:cNvSpPr txBox="1"/>
            <p:nvPr/>
          </p:nvSpPr>
          <p:spPr>
            <a:xfrm>
              <a:off x="1337032" y="3197132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4400" dirty="0">
                <a:latin typeface="+mn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AED990-AC05-4970-A253-E8CD8C0EA373}"/>
                </a:ext>
              </a:extLst>
            </p:cNvPr>
            <p:cNvSpPr txBox="1"/>
            <p:nvPr/>
          </p:nvSpPr>
          <p:spPr>
            <a:xfrm>
              <a:off x="1349207" y="2447811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4400" dirty="0">
                <a:latin typeface="+mn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028789-0FC3-ADB0-4093-02F363015BD0}"/>
                </a:ext>
              </a:extLst>
            </p:cNvPr>
            <p:cNvSpPr txBox="1"/>
            <p:nvPr/>
          </p:nvSpPr>
          <p:spPr>
            <a:xfrm>
              <a:off x="3431117" y="2748550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4400" dirty="0">
                <a:latin typeface="+mn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C95C51-0F65-33AD-0C4A-E6B54327D3CC}"/>
                </a:ext>
              </a:extLst>
            </p:cNvPr>
            <p:cNvSpPr txBox="1"/>
            <p:nvPr/>
          </p:nvSpPr>
          <p:spPr>
            <a:xfrm>
              <a:off x="7817163" y="3589407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4400" dirty="0">
                <a:latin typeface="+mn-lt"/>
              </a:endParaRPr>
            </a:p>
          </p:txBody>
        </p:sp>
      </p:grpSp>
      <p:sp>
        <p:nvSpPr>
          <p:cNvPr id="492" name="TextBox 491">
            <a:extLst>
              <a:ext uri="{FF2B5EF4-FFF2-40B4-BE49-F238E27FC236}">
                <a16:creationId xmlns:a16="http://schemas.microsoft.com/office/drawing/2014/main" id="{1D7BEF97-E63E-AD11-3D7D-5A4CDF8EC5FA}"/>
              </a:ext>
            </a:extLst>
          </p:cNvPr>
          <p:cNvSpPr txBox="1"/>
          <p:nvPr/>
        </p:nvSpPr>
        <p:spPr>
          <a:xfrm>
            <a:off x="295394" y="981151"/>
            <a:ext cx="6611045" cy="584775"/>
          </a:xfrm>
          <a:prstGeom prst="rect">
            <a:avLst/>
          </a:prstGeom>
          <a:solidFill>
            <a:srgbClr val="FFFFD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We estimate the marginal value of inventory at each distribution center.  The more inventory being held, the lower the marginal value.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A2385D-F36D-22B5-BD87-6B2A4DFF66D3}"/>
              </a:ext>
            </a:extLst>
          </p:cNvPr>
          <p:cNvGrpSpPr/>
          <p:nvPr/>
        </p:nvGrpSpPr>
        <p:grpSpPr>
          <a:xfrm>
            <a:off x="835916" y="1763862"/>
            <a:ext cx="9328804" cy="3826603"/>
            <a:chOff x="835916" y="1763862"/>
            <a:chExt cx="9328804" cy="382660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5760E40-58EC-C152-D5E4-1A674AB69B4F}"/>
                </a:ext>
              </a:extLst>
            </p:cNvPr>
            <p:cNvGrpSpPr/>
            <p:nvPr/>
          </p:nvGrpSpPr>
          <p:grpSpPr>
            <a:xfrm>
              <a:off x="835916" y="3544955"/>
              <a:ext cx="954947" cy="772341"/>
              <a:chOff x="4345780" y="3202172"/>
              <a:chExt cx="954947" cy="772341"/>
            </a:xfrm>
          </p:grpSpPr>
          <p:cxnSp>
            <p:nvCxnSpPr>
              <p:cNvPr id="463" name="Straight Arrow Connector 462">
                <a:extLst>
                  <a:ext uri="{FF2B5EF4-FFF2-40B4-BE49-F238E27FC236}">
                    <a16:creationId xmlns:a16="http://schemas.microsoft.com/office/drawing/2014/main" id="{A5E11523-2D49-B407-8199-9134DFF16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Straight Arrow Connector 465">
                <a:extLst>
                  <a:ext uri="{FF2B5EF4-FFF2-40B4-BE49-F238E27FC236}">
                    <a16:creationId xmlns:a16="http://schemas.microsoft.com/office/drawing/2014/main" id="{41F65436-ACD1-C06F-4AED-E87AC2360F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7C48959B-A254-669F-FD47-66F6C1EAEC7D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9EC1AE76-221A-F0A5-12C2-A7AE619C849D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7C03EB2-95F1-11FB-FAF1-4BF898530679}"/>
                </a:ext>
              </a:extLst>
            </p:cNvPr>
            <p:cNvGrpSpPr/>
            <p:nvPr/>
          </p:nvGrpSpPr>
          <p:grpSpPr>
            <a:xfrm>
              <a:off x="1413694" y="2636876"/>
              <a:ext cx="770444" cy="415506"/>
              <a:chOff x="4345780" y="3202172"/>
              <a:chExt cx="954947" cy="772341"/>
            </a:xfrm>
          </p:grpSpPr>
          <p:cxnSp>
            <p:nvCxnSpPr>
              <p:cNvPr id="448" name="Straight Arrow Connector 447">
                <a:extLst>
                  <a:ext uri="{FF2B5EF4-FFF2-40B4-BE49-F238E27FC236}">
                    <a16:creationId xmlns:a16="http://schemas.microsoft.com/office/drawing/2014/main" id="{91BD0592-BEFB-C915-A206-71BADCA272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Arrow Connector 451">
                <a:extLst>
                  <a:ext uri="{FF2B5EF4-FFF2-40B4-BE49-F238E27FC236}">
                    <a16:creationId xmlns:a16="http://schemas.microsoft.com/office/drawing/2014/main" id="{98377C10-07C8-5665-4282-C5BAF7D4C4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6AA22E84-77BB-615B-8D82-CA83FCD0165B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26082AF2-166C-D013-84FB-9621F924F045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6E8387A-AAAE-ACF9-C83D-3822B4C12347}"/>
                </a:ext>
              </a:extLst>
            </p:cNvPr>
            <p:cNvGrpSpPr/>
            <p:nvPr/>
          </p:nvGrpSpPr>
          <p:grpSpPr>
            <a:xfrm>
              <a:off x="3429148" y="2915419"/>
              <a:ext cx="770444" cy="415506"/>
              <a:chOff x="4345780" y="3202172"/>
              <a:chExt cx="954947" cy="772341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2FBAF55F-FBF3-914A-761D-9363F3EE9F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86E6C3C9-8692-B183-AC97-CE6F430E08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C1CF51-2823-02CD-CFF4-1E714B014539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5E83F774-8D20-DF8C-97D1-54B8495F79E0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FA19F21-910B-FA32-5521-DCA815510F5D}"/>
                </a:ext>
              </a:extLst>
            </p:cNvPr>
            <p:cNvGrpSpPr/>
            <p:nvPr/>
          </p:nvGrpSpPr>
          <p:grpSpPr>
            <a:xfrm>
              <a:off x="5449998" y="4909279"/>
              <a:ext cx="1071594" cy="681186"/>
              <a:chOff x="4345780" y="3202172"/>
              <a:chExt cx="954947" cy="772341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9E1FF7A-A55E-338D-6011-107429C4BA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D040D018-8504-4EFC-0586-B212593E36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CB3F2C7-175D-B3DE-2E33-E3C8ACA64F35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F2A9E29-6223-B2BB-23D3-CC81645C236B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1DA7677-92BE-C437-97FD-1563D25C23F2}"/>
                </a:ext>
              </a:extLst>
            </p:cNvPr>
            <p:cNvGrpSpPr/>
            <p:nvPr/>
          </p:nvGrpSpPr>
          <p:grpSpPr>
            <a:xfrm>
              <a:off x="5893374" y="1991833"/>
              <a:ext cx="940612" cy="611740"/>
              <a:chOff x="4345780" y="3202172"/>
              <a:chExt cx="954947" cy="772341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744A98D-63C0-5CBB-2ACE-0B3DA1AADD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FA5FF0B0-AA44-2D6C-0968-4D1B1952FA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103ABA4-3333-FAE1-A93B-EADCB9BC4CE8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46E356C-5361-8E9B-B4D2-679F570E9E52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385C605-8136-DB2F-A1EC-157098CE5792}"/>
                </a:ext>
              </a:extLst>
            </p:cNvPr>
            <p:cNvGrpSpPr/>
            <p:nvPr/>
          </p:nvGrpSpPr>
          <p:grpSpPr>
            <a:xfrm>
              <a:off x="7313066" y="2078857"/>
              <a:ext cx="1079568" cy="620681"/>
              <a:chOff x="4345780" y="3202172"/>
              <a:chExt cx="954947" cy="772341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5BFBC48-EBE9-11F5-61F9-2C0AEDE620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2888A17-3528-5185-7B4F-9B7FB9C351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E1DA90E4-873E-1AB8-1191-12520801EE69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910B444-D0F0-6193-391A-895DA962DB4D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67EAD71-F0DB-4D8D-8630-10AA703B1509}"/>
                </a:ext>
              </a:extLst>
            </p:cNvPr>
            <p:cNvGrpSpPr/>
            <p:nvPr/>
          </p:nvGrpSpPr>
          <p:grpSpPr>
            <a:xfrm>
              <a:off x="7607577" y="3890969"/>
              <a:ext cx="863028" cy="428850"/>
              <a:chOff x="4345780" y="3202172"/>
              <a:chExt cx="954947" cy="772341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E1352CD-87F1-A8BF-C9BA-7121F270C8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8B80504-F629-E7F1-3E58-32A894771E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AA3110B-AB13-07CE-C5B0-1B4B803769C3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DC22F0D-FCE3-2BD0-702D-6D12B44ACFD5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DCCE094-23F0-DEEC-6745-80F0E2350E90}"/>
                </a:ext>
              </a:extLst>
            </p:cNvPr>
            <p:cNvGrpSpPr/>
            <p:nvPr/>
          </p:nvGrpSpPr>
          <p:grpSpPr>
            <a:xfrm>
              <a:off x="8992167" y="1763862"/>
              <a:ext cx="1172553" cy="773568"/>
              <a:chOff x="4345780" y="3202172"/>
              <a:chExt cx="954947" cy="772341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2FA8AF63-9125-F9FB-1384-71C9B89EBE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C8A8280E-B8BA-AD07-D9EA-1278B9F218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9686078-BD0B-E257-6714-D196B3C1BDAE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CAD2E7A-C148-2F54-FE17-0C46A9D60015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" name="Google Shape;3455;p75">
            <a:extLst>
              <a:ext uri="{FF2B5EF4-FFF2-40B4-BE49-F238E27FC236}">
                <a16:creationId xmlns:a16="http://schemas.microsoft.com/office/drawing/2014/main" id="{3A5B5895-D20A-147E-78CC-2790D2E41D39}"/>
              </a:ext>
            </a:extLst>
          </p:cNvPr>
          <p:cNvSpPr txBox="1">
            <a:spLocks/>
          </p:cNvSpPr>
          <p:nvPr/>
        </p:nvSpPr>
        <p:spPr>
          <a:xfrm>
            <a:off x="2452991" y="179819"/>
            <a:ext cx="7019445" cy="645146"/>
          </a:xfrm>
          <a:prstGeom prst="rect">
            <a:avLst/>
          </a:prstGeom>
          <a:solidFill>
            <a:srgbClr val="F7D3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buFont typeface="Raleway"/>
              <a:buNone/>
            </a:pPr>
            <a:r>
              <a:rPr lang="en-US" dirty="0">
                <a:solidFill>
                  <a:schemeClr val="tx1"/>
                </a:solidFill>
                <a:latin typeface="Raleway" pitchFamily="2" charset="0"/>
              </a:rPr>
              <a:t>A distribution problem</a:t>
            </a:r>
          </a:p>
        </p:txBody>
      </p:sp>
    </p:spTree>
    <p:extLst>
      <p:ext uri="{BB962C8B-B14F-4D97-AF65-F5344CB8AC3E}">
        <p14:creationId xmlns:p14="http://schemas.microsoft.com/office/powerpoint/2010/main" val="175110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27DC80C-DD65-2336-6033-BA706526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4EBC90-2D3C-41EF-6BB4-D125CFB3D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E14D1486-AFB8-9907-39EB-4A332EA805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OUTLINE</a:t>
            </a:r>
            <a:endParaRPr dirty="0"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777534F4-645D-DE92-2E69-39A2AC962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Functions we may need to estimate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Approximation strategies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Exploiting structure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Batch vs. recursive learning</a:t>
            </a:r>
          </a:p>
        </p:txBody>
      </p:sp>
    </p:spTree>
    <p:extLst>
      <p:ext uri="{BB962C8B-B14F-4D97-AF65-F5344CB8AC3E}">
        <p14:creationId xmlns:p14="http://schemas.microsoft.com/office/powerpoint/2010/main" val="43851359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14DF4-9D6F-4599-C433-B5183E68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Slide Number Placeholder 5">
            <a:extLst>
              <a:ext uri="{FF2B5EF4-FFF2-40B4-BE49-F238E27FC236}">
                <a16:creationId xmlns:a16="http://schemas.microsoft.com/office/drawing/2014/main" id="{32B45998-0181-8CAF-102C-25F1900B4B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4D36059-6355-4776-B287-ABB72C303CC4}" type="slidenum">
              <a:rPr lang="en-US" sz="1400"/>
              <a:pPr/>
              <a:t>165</a:t>
            </a:fld>
            <a:endParaRPr lang="en-US" sz="1400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A377F008-2E6C-A7B0-45D5-A1CDF54DC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Batch vs. recursive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77" name="Rectangle 3">
                <a:extLst>
                  <a:ext uri="{FF2B5EF4-FFF2-40B4-BE49-F238E27FC236}">
                    <a16:creationId xmlns:a16="http://schemas.microsoft.com/office/drawing/2014/main" id="{76F067C8-F764-2C98-D1FD-BAFB970673B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81303" y="1552868"/>
                <a:ext cx="6834853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400" dirty="0"/>
                  <a:t>Lookup tables</a:t>
                </a:r>
              </a:p>
              <a:p>
                <a:pPr lvl="1"/>
                <a:r>
                  <a:rPr lang="en-US" dirty="0"/>
                  <a:t>Batch estimation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Recursive learning (observe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79877" name="Rectangle 3">
                <a:extLst>
                  <a:ext uri="{FF2B5EF4-FFF2-40B4-BE49-F238E27FC236}">
                    <a16:creationId xmlns:a16="http://schemas.microsoft.com/office/drawing/2014/main" id="{76F067C8-F764-2C98-D1FD-BAFB97067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81303" y="1552868"/>
                <a:ext cx="6834853" cy="4401600"/>
              </a:xfrm>
              <a:blipFill>
                <a:blip r:embed="rId3"/>
                <a:stretch>
                  <a:fillRect l="-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8CC6F4-6C70-2421-B181-E1FBCFE1A7AC}"/>
                  </a:ext>
                </a:extLst>
              </p:cNvPr>
              <p:cNvSpPr txBox="1"/>
              <p:nvPr/>
            </p:nvSpPr>
            <p:spPr>
              <a:xfrm>
                <a:off x="1258128" y="2511143"/>
                <a:ext cx="3137718" cy="16046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8CC6F4-6C70-2421-B181-E1FBCFE1A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128" y="2511143"/>
                <a:ext cx="3137718" cy="16046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F41364-DFF6-459B-2116-B9E118443A52}"/>
                  </a:ext>
                </a:extLst>
              </p:cNvPr>
              <p:cNvSpPr txBox="1"/>
              <p:nvPr/>
            </p:nvSpPr>
            <p:spPr>
              <a:xfrm>
                <a:off x="1201569" y="4765133"/>
                <a:ext cx="5051832" cy="1755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</m:t>
                                </m:r>
                              </m:e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&gt;2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F41364-DFF6-459B-2116-B9E118443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569" y="4765133"/>
                <a:ext cx="5051832" cy="17554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98F7140-7454-910C-4438-4E7131FF8C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89868" y="1543440"/>
                <a:ext cx="5681939" cy="440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marL="86360" indent="0">
                  <a:buFont typeface="Raleway"/>
                  <a:buNone/>
                </a:pPr>
                <a:r>
                  <a:rPr lang="en-US" sz="2400" dirty="0"/>
                  <a:t>Linear models</a:t>
                </a:r>
              </a:p>
              <a:p>
                <a:pPr lvl="1"/>
                <a:r>
                  <a:rPr lang="en-US" dirty="0"/>
                  <a:t>Batch (normal equations)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Recursive (observe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98F7140-7454-910C-4438-4E7131FF8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868" y="1543440"/>
                <a:ext cx="5681939" cy="4401600"/>
              </a:xfrm>
              <a:prstGeom prst="rect">
                <a:avLst/>
              </a:prstGeom>
              <a:blipFill>
                <a:blip r:embed="rId6"/>
                <a:stretch>
                  <a:fillRect l="-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55D8D9-4D83-7021-4B0B-DBE173AA1B36}"/>
                  </a:ext>
                </a:extLst>
              </p:cNvPr>
              <p:cNvSpPr txBox="1"/>
              <p:nvPr/>
            </p:nvSpPr>
            <p:spPr>
              <a:xfrm>
                <a:off x="7277490" y="3440979"/>
                <a:ext cx="4154919" cy="26083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=1+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55D8D9-4D83-7021-4B0B-DBE173AA1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490" y="3440979"/>
                <a:ext cx="4154919" cy="2608343"/>
              </a:xfrm>
              <a:prstGeom prst="rect">
                <a:avLst/>
              </a:prstGeom>
              <a:blipFill>
                <a:blip r:embed="rId7"/>
                <a:stretch>
                  <a:fillRect b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D52EB2-B104-2631-6B57-EC70DE5F60AA}"/>
                  </a:ext>
                </a:extLst>
              </p:cNvPr>
              <p:cNvSpPr txBox="1"/>
              <p:nvPr/>
            </p:nvSpPr>
            <p:spPr>
              <a:xfrm>
                <a:off x="7711122" y="2620652"/>
                <a:ext cx="3130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D52EB2-B104-2631-6B57-EC70DE5F6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122" y="2620652"/>
                <a:ext cx="313098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2EB1AD6-F09F-3E49-B9A5-E6DF743E916D}"/>
              </a:ext>
            </a:extLst>
          </p:cNvPr>
          <p:cNvSpPr txBox="1"/>
          <p:nvPr/>
        </p:nvSpPr>
        <p:spPr>
          <a:xfrm>
            <a:off x="4138368" y="1084083"/>
            <a:ext cx="39004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Raleway" pitchFamily="2" charset="0"/>
              </a:rPr>
              <a:t>Frequentist estimation</a:t>
            </a:r>
          </a:p>
        </p:txBody>
      </p:sp>
    </p:spTree>
    <p:extLst>
      <p:ext uri="{BB962C8B-B14F-4D97-AF65-F5344CB8AC3E}">
        <p14:creationId xmlns:p14="http://schemas.microsoft.com/office/powerpoint/2010/main" val="423259061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E966C19-6434-4D92-9088-5108F5F350EA}" type="slidenum">
              <a:rPr lang="en-US" sz="1400"/>
              <a:pPr/>
              <a:t>166</a:t>
            </a:fld>
            <a:endParaRPr lang="en-US" sz="1400"/>
          </a:p>
        </p:txBody>
      </p:sp>
      <p:sp>
        <p:nvSpPr>
          <p:cNvPr id="809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Batch vs. recursive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0D4EF2B1-05AC-A3B0-B683-A5002F556FE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9837" y="1034392"/>
                <a:ext cx="10363200" cy="4998763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Bayesian estimation (recursive updating)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Independent beliefs – updated mean for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5715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Correlated beliefs (“Gaussian process regression”)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0D4EF2B1-05AC-A3B0-B683-A5002F556F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9837" y="1034392"/>
                <a:ext cx="10363200" cy="4998763"/>
              </a:xfrm>
              <a:blipFill>
                <a:blip r:embed="rId3"/>
                <a:stretch>
                  <a:fillRect l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FD10E8-6CFB-4C04-EF35-FEB02813A024}"/>
                  </a:ext>
                </a:extLst>
              </p:cNvPr>
              <p:cNvSpPr txBox="1"/>
              <p:nvPr/>
            </p:nvSpPr>
            <p:spPr>
              <a:xfrm>
                <a:off x="1167421" y="2375552"/>
                <a:ext cx="2816861" cy="11222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lvl="1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sup>
                        </m:sSubSup>
                      </m:den>
                    </m:f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sup>
                    </m:sSubSup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FD10E8-6CFB-4C04-EF35-FEB02813A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421" y="2375552"/>
                <a:ext cx="2816861" cy="1122295"/>
              </a:xfrm>
              <a:prstGeom prst="rect">
                <a:avLst/>
              </a:prstGeom>
              <a:blipFill>
                <a:blip r:embed="rId4"/>
                <a:stretch>
                  <a:fillRect b="-7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B78D99-14BA-64FB-EC30-294E51BD5497}"/>
                  </a:ext>
                </a:extLst>
              </p:cNvPr>
              <p:cNvSpPr txBox="1"/>
              <p:nvPr/>
            </p:nvSpPr>
            <p:spPr>
              <a:xfrm>
                <a:off x="1216058" y="4162577"/>
                <a:ext cx="4328749" cy="9834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sz="1800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B78D99-14BA-64FB-EC30-294E51BD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58" y="4162577"/>
                <a:ext cx="4328749" cy="9834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E1586A-25A4-E0F9-C335-AD3F90964AD3}"/>
                  </a:ext>
                </a:extLst>
              </p:cNvPr>
              <p:cNvSpPr txBox="1"/>
              <p:nvPr/>
            </p:nvSpPr>
            <p:spPr>
              <a:xfrm>
                <a:off x="1626422" y="5085105"/>
                <a:ext cx="3140475" cy="7071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E1586A-25A4-E0F9-C335-AD3F90964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422" y="5085105"/>
                <a:ext cx="3140475" cy="7071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8139CA-0CF6-662B-8F7E-3F1FCEC0BDA8}"/>
                  </a:ext>
                </a:extLst>
              </p:cNvPr>
              <p:cNvSpPr txBox="1"/>
              <p:nvPr/>
            </p:nvSpPr>
            <p:spPr>
              <a:xfrm>
                <a:off x="5551239" y="4092013"/>
                <a:ext cx="52252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/>
                  <a:t> = </a:t>
                </a:r>
                <a:r>
                  <a:rPr lang="en-US" sz="1600" dirty="0">
                    <a:latin typeface="Raleway" pitchFamily="2" charset="0"/>
                  </a:rPr>
                  <a:t>Vector of estimates after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latin typeface="Raleway" pitchFamily="2" charset="0"/>
                  </a:rPr>
                  <a:t>observations</a:t>
                </a:r>
                <a:r>
                  <a:rPr lang="en-US" sz="1600" dirty="0"/>
                  <a:t>. </a:t>
                </a:r>
              </a:p>
              <a:p>
                <a:pPr marL="971550" indent="-914400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= </a:t>
                </a:r>
                <a:r>
                  <a:rPr lang="en-US" sz="1600" dirty="0">
                    <a:latin typeface="Raleway" pitchFamily="2" charset="0"/>
                  </a:rPr>
                  <a:t>Updated vector after observing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>
                    <a:latin typeface="Raleway" pitchFamily="2" charset="0"/>
                  </a:rPr>
                  <a:t> to obtain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8139CA-0CF6-662B-8F7E-3F1FCEC0B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239" y="4092013"/>
                <a:ext cx="5225236" cy="830997"/>
              </a:xfrm>
              <a:prstGeom prst="rect">
                <a:avLst/>
              </a:prstGeom>
              <a:blipFill>
                <a:blip r:embed="rId7"/>
                <a:stretch>
                  <a:fillRect t="-2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33F541-F1F8-8D59-7D1F-9F9216AA9816}"/>
                  </a:ext>
                </a:extLst>
              </p:cNvPr>
              <p:cNvSpPr txBox="1"/>
              <p:nvPr/>
            </p:nvSpPr>
            <p:spPr>
              <a:xfrm>
                <a:off x="5521290" y="5053638"/>
                <a:ext cx="52252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dirty="0"/>
                  <a:t>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1600" dirty="0"/>
                  <a:t>= </a:t>
                </a:r>
                <a:r>
                  <a:rPr lang="en-US" sz="1600" dirty="0">
                    <a:latin typeface="Raleway" pitchFamily="2" charset="0"/>
                  </a:rPr>
                  <a:t>Matrix of covariances after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latin typeface="Raleway" pitchFamily="2" charset="0"/>
                  </a:rPr>
                  <a:t> observations.</a:t>
                </a:r>
                <a:r>
                  <a:rPr lang="en-US" sz="1600" dirty="0"/>
                  <a:t> </a:t>
                </a:r>
              </a:p>
              <a:p>
                <a:pPr marL="914400" indent="-857250"/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600" dirty="0"/>
                  <a:t>= </a:t>
                </a:r>
                <a:r>
                  <a:rPr lang="en-US" sz="1600" dirty="0">
                    <a:latin typeface="Raleway" pitchFamily="2" charset="0"/>
                  </a:rPr>
                  <a:t>Updated matrix after observing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>
                    <a:latin typeface="Raleway" pitchFamily="2" charset="0"/>
                  </a:rPr>
                  <a:t> to obtain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33F541-F1F8-8D59-7D1F-9F9216AA9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290" y="5053638"/>
                <a:ext cx="5225236" cy="830997"/>
              </a:xfrm>
              <a:prstGeom prst="rect">
                <a:avLst/>
              </a:prstGeom>
              <a:blipFill>
                <a:blip r:embed="rId8"/>
                <a:stretch>
                  <a:fillRect t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59BFDA-9D0D-0D8E-66EC-2E082028767B}"/>
                  </a:ext>
                </a:extLst>
              </p:cNvPr>
              <p:cNvSpPr txBox="1"/>
              <p:nvPr/>
            </p:nvSpPr>
            <p:spPr>
              <a:xfrm>
                <a:off x="5408912" y="2427825"/>
                <a:ext cx="5347041" cy="1047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d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>
                    <a:latin typeface="Raleway" pitchFamily="2" charset="0"/>
                  </a:rPr>
                  <a:t>Precision of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>
                    <a:latin typeface="Raleway" pitchFamily="2" charset="0"/>
                  </a:rPr>
                  <a:t>Precision of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59BFDA-9D0D-0D8E-66EC-2E0820287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912" y="2427825"/>
                <a:ext cx="5347041" cy="1047851"/>
              </a:xfrm>
              <a:prstGeom prst="rect">
                <a:avLst/>
              </a:prstGeom>
              <a:blipFill>
                <a:blip r:embed="rId9"/>
                <a:stretch>
                  <a:fillRect l="-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462747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EB2B9-76CA-D246-F61E-358B9406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Batch vs. recursive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E7F5D-45AE-C1C4-9AD5-1D865D089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279489"/>
            <a:ext cx="6348777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Nonlinear models</a:t>
            </a:r>
          </a:p>
          <a:p>
            <a:pPr lvl="1"/>
            <a:r>
              <a:rPr lang="en-US" dirty="0"/>
              <a:t>Nonlinear models need to be fitted using gradient-descent methods.</a:t>
            </a:r>
          </a:p>
          <a:p>
            <a:pPr lvl="1"/>
            <a:r>
              <a:rPr lang="en-US" dirty="0"/>
              <a:t>Compute the temporal difference: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Then perform a gradient update: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This is not the same as re-estimating from scratch.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5DADA2-D7F1-635F-C6C9-6F5F47A7B9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82"/>
          <a:stretch>
            <a:fillRect/>
          </a:stretch>
        </p:blipFill>
        <p:spPr>
          <a:xfrm rot="5400000">
            <a:off x="6900166" y="2200033"/>
            <a:ext cx="5224661" cy="338357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4B19A3-AFAC-E38B-ECC0-271982B9B368}"/>
              </a:ext>
            </a:extLst>
          </p:cNvPr>
          <p:cNvCxnSpPr>
            <a:cxnSpLocks/>
          </p:cNvCxnSpPr>
          <p:nvPr/>
        </p:nvCxnSpPr>
        <p:spPr>
          <a:xfrm flipH="1">
            <a:off x="8020050" y="4866290"/>
            <a:ext cx="1565436" cy="74393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5D8092-90CC-94C3-AAE4-0067C588D7EF}"/>
              </a:ext>
            </a:extLst>
          </p:cNvPr>
          <p:cNvCxnSpPr>
            <a:cxnSpLocks/>
          </p:cNvCxnSpPr>
          <p:nvPr/>
        </p:nvCxnSpPr>
        <p:spPr>
          <a:xfrm>
            <a:off x="8020050" y="5633954"/>
            <a:ext cx="1039109" cy="53117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60F278-03CE-1CA4-5B7F-C5F0BA72CF8C}"/>
              </a:ext>
            </a:extLst>
          </p:cNvPr>
          <p:cNvCxnSpPr>
            <a:cxnSpLocks/>
          </p:cNvCxnSpPr>
          <p:nvPr/>
        </p:nvCxnSpPr>
        <p:spPr>
          <a:xfrm flipH="1" flipV="1">
            <a:off x="8587819" y="5128181"/>
            <a:ext cx="471340" cy="103694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101B77-3AC1-9664-4675-39DBB362A838}"/>
              </a:ext>
            </a:extLst>
          </p:cNvPr>
          <p:cNvCxnSpPr>
            <a:cxnSpLocks/>
          </p:cNvCxnSpPr>
          <p:nvPr/>
        </p:nvCxnSpPr>
        <p:spPr>
          <a:xfrm>
            <a:off x="8587819" y="5128181"/>
            <a:ext cx="0" cy="92382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87A433-A029-813D-3B1A-526765CDBC77}"/>
              </a:ext>
            </a:extLst>
          </p:cNvPr>
          <p:cNvCxnSpPr>
            <a:cxnSpLocks/>
          </p:cNvCxnSpPr>
          <p:nvPr/>
        </p:nvCxnSpPr>
        <p:spPr>
          <a:xfrm flipV="1">
            <a:off x="8587818" y="5633954"/>
            <a:ext cx="358219" cy="41805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8F3224-EDDC-DA16-F300-56C14AAF3C42}"/>
              </a:ext>
            </a:extLst>
          </p:cNvPr>
          <p:cNvCxnSpPr>
            <a:cxnSpLocks/>
          </p:cNvCxnSpPr>
          <p:nvPr/>
        </p:nvCxnSpPr>
        <p:spPr>
          <a:xfrm flipV="1">
            <a:off x="9585486" y="3416537"/>
            <a:ext cx="367023" cy="131311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909C6D-5658-AA04-E80A-E92236AEC941}"/>
              </a:ext>
            </a:extLst>
          </p:cNvPr>
          <p:cNvCxnSpPr>
            <a:cxnSpLocks/>
          </p:cNvCxnSpPr>
          <p:nvPr/>
        </p:nvCxnSpPr>
        <p:spPr>
          <a:xfrm>
            <a:off x="9928968" y="3419516"/>
            <a:ext cx="376632" cy="112420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BE5576-61D0-4683-9EC5-D8048AABC50F}"/>
              </a:ext>
            </a:extLst>
          </p:cNvPr>
          <p:cNvCxnSpPr>
            <a:cxnSpLocks/>
          </p:cNvCxnSpPr>
          <p:nvPr/>
        </p:nvCxnSpPr>
        <p:spPr>
          <a:xfrm flipV="1">
            <a:off x="10305600" y="3419516"/>
            <a:ext cx="218246" cy="112420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65888F-28A5-EB57-6373-E59ADDBFF77A}"/>
              </a:ext>
            </a:extLst>
          </p:cNvPr>
          <p:cNvCxnSpPr>
            <a:cxnSpLocks/>
          </p:cNvCxnSpPr>
          <p:nvPr/>
        </p:nvCxnSpPr>
        <p:spPr>
          <a:xfrm flipH="1">
            <a:off x="9585486" y="3429000"/>
            <a:ext cx="938359" cy="60626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C47C2A-CB38-A93C-20A5-6638432AEC47}"/>
              </a:ext>
            </a:extLst>
          </p:cNvPr>
          <p:cNvCxnSpPr>
            <a:cxnSpLocks/>
          </p:cNvCxnSpPr>
          <p:nvPr/>
        </p:nvCxnSpPr>
        <p:spPr>
          <a:xfrm flipV="1">
            <a:off x="9585488" y="4016798"/>
            <a:ext cx="469178" cy="1847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61B2D4C-965D-AD55-7ACC-1A066FD9908C}"/>
                  </a:ext>
                </a:extLst>
              </p:cNvPr>
              <p:cNvSpPr txBox="1"/>
              <p:nvPr/>
            </p:nvSpPr>
            <p:spPr>
              <a:xfrm>
                <a:off x="2281287" y="3248669"/>
                <a:ext cx="42775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61B2D4C-965D-AD55-7ACC-1A066FD99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87" y="3248669"/>
                <a:ext cx="4277518" cy="40011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D81156-A87D-4BEB-A9DC-66585490977A}"/>
                  </a:ext>
                </a:extLst>
              </p:cNvPr>
              <p:cNvSpPr txBox="1"/>
              <p:nvPr/>
            </p:nvSpPr>
            <p:spPr>
              <a:xfrm>
                <a:off x="2380981" y="4569836"/>
                <a:ext cx="284699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D81156-A87D-4BEB-A9DC-665854909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981" y="4569836"/>
                <a:ext cx="2846998" cy="400110"/>
              </a:xfrm>
              <a:prstGeom prst="rect">
                <a:avLst/>
              </a:prstGeom>
              <a:blipFill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12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56AF-DBE2-FE90-6B22-4CFF1CB7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1E97721-1C91-108F-4665-1DFA157E6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905C9F-F01C-ABB2-A109-06E7F5B7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3CF74B-9B3E-339C-FB45-7367DC9F2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150701-E382-310E-F945-1507E369C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6F6B3-9ACC-D9CD-4EE4-14B92BA29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E80036-8460-DDE8-46AA-764205979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C7D18E1-F621-FBBF-A109-D6DC88F96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0A67BA-358E-26C0-EAD2-F6F39AB80B47}"/>
              </a:ext>
            </a:extLst>
          </p:cNvPr>
          <p:cNvSpPr txBox="1"/>
          <p:nvPr/>
        </p:nvSpPr>
        <p:spPr>
          <a:xfrm>
            <a:off x="3707431" y="3981322"/>
            <a:ext cx="806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estimation, see Chapter 3, Reinforcement Learning and Stochastic Optimization, https://warrenpowell.org/rlso/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6304830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purl.org/dc/terms/"/>
    <ds:schemaRef ds:uri="b9a67f89-7d7d-48be-9399-9713d9f7587c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463730</TotalTime>
  <Words>19706</Words>
  <Application>Microsoft Office PowerPoint</Application>
  <PresentationFormat>Widescreen</PresentationFormat>
  <Paragraphs>4554</Paragraphs>
  <Slides>325</Slides>
  <Notes>107</Notes>
  <HiddenSlides>0</HiddenSlides>
  <MMClips>3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325</vt:i4>
      </vt:variant>
    </vt:vector>
  </HeadingPairs>
  <TitlesOfParts>
    <vt:vector size="338" baseType="lpstr">
      <vt:lpstr>Oswald Regular</vt:lpstr>
      <vt:lpstr>Wingdings</vt:lpstr>
      <vt:lpstr>Cambria Math</vt:lpstr>
      <vt:lpstr>Oswald</vt:lpstr>
      <vt:lpstr>Courier New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PowerPoint Presentation</vt:lpstr>
      <vt:lpstr>CASTLE Laboratory</vt:lpstr>
      <vt:lpstr>PowerPoint Presentation</vt:lpstr>
      <vt:lpstr>CASTLE Lab March, 2019</vt:lpstr>
      <vt:lpstr>Human processes</vt:lpstr>
      <vt:lpstr>Performance metrics</vt:lpstr>
      <vt:lpstr>Framing the problem</vt:lpstr>
      <vt:lpstr>Framing the problem</vt:lpstr>
      <vt:lpstr>Application domains</vt:lpstr>
      <vt:lpstr>PowerPoint Presentation</vt:lpstr>
      <vt:lpstr>PowerPoint Presentation</vt:lpstr>
      <vt:lpstr>Relevant courses I taught at Princeton</vt:lpstr>
      <vt:lpstr>Teaching materials</vt:lpstr>
      <vt:lpstr>Teaching materials</vt:lpstr>
      <vt:lpstr>Teaching materials</vt:lpstr>
      <vt:lpstr>Teaching materials</vt:lpstr>
      <vt:lpstr>Teaching materials</vt:lpstr>
      <vt:lpstr>Thank you!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PowerPoint Presentation</vt:lpstr>
      <vt:lpstr>Brief history of sequential decision problems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Decisions</vt:lpstr>
      <vt:lpstr>Brief history of seq. decision problems</vt:lpstr>
      <vt:lpstr>PowerPoint Presentation</vt:lpstr>
      <vt:lpstr>Thank you!</vt:lpstr>
      <vt:lpstr>PowerPoint Presentation</vt:lpstr>
      <vt:lpstr>PowerPoint Presentation</vt:lpstr>
      <vt:lpstr>Decisions</vt:lpstr>
      <vt:lpstr>Information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PowerPoint Presentation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Teaching materials</vt:lpstr>
      <vt:lpstr>PowerPoint Presentation</vt:lpstr>
      <vt:lpstr>PowerPoint Presentation</vt:lpstr>
      <vt:lpstr>Sequential decision problems</vt:lpstr>
      <vt:lpstr>Sequential decision problems</vt:lpstr>
      <vt:lpstr>Thank you!</vt:lpstr>
      <vt:lpstr>PowerPoint Presentation</vt:lpstr>
      <vt:lpstr>OUTLINE</vt:lpstr>
      <vt:lpstr>OUTLINE</vt:lpstr>
      <vt:lpstr>Framing the problem</vt:lpstr>
      <vt:lpstr>Framing the problem</vt:lpstr>
      <vt:lpstr>PowerPoint Presentation</vt:lpstr>
      <vt:lpstr>Framing the problem</vt:lpstr>
      <vt:lpstr>Framing the problem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Framing: Metrics</vt:lpstr>
      <vt:lpstr>Framing: Metrics</vt:lpstr>
      <vt:lpstr>OUTLINE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OUTLINE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OUTLINE</vt:lpstr>
      <vt:lpstr>PowerPoint Presentation</vt:lpstr>
      <vt:lpstr>PowerPoint Presentation</vt:lpstr>
      <vt:lpstr>PowerPoint Presentation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Thank you!</vt:lpstr>
      <vt:lpstr>PowerPoint Presentation</vt:lpstr>
      <vt:lpstr>The universal modeling framework</vt:lpstr>
      <vt:lpstr>The universal modeling framework</vt:lpstr>
      <vt:lpstr>The universal modeling framework</vt:lpstr>
      <vt:lpstr>The universal modeling framework</vt:lpstr>
      <vt:lpstr>The Universal Modeling Framework</vt:lpstr>
      <vt:lpstr>Teaching materials</vt:lpstr>
      <vt:lpstr>The universal modeling framework</vt:lpstr>
      <vt:lpstr>The universal modeling framework</vt:lpstr>
      <vt:lpstr>The universal modeling framework</vt:lpstr>
      <vt:lpstr>The universal modeling framework</vt:lpstr>
      <vt:lpstr>Thank you!</vt:lpstr>
      <vt:lpstr>PowerPoint Presentation</vt:lpstr>
      <vt:lpstr>OUTLINE</vt:lpstr>
      <vt:lpstr>OUTLINE</vt:lpstr>
      <vt:lpstr>Estimation: Learning problems</vt:lpstr>
      <vt:lpstr>OUTLINE</vt:lpstr>
      <vt:lpstr>Estimation: Approximation strategies</vt:lpstr>
      <vt:lpstr>Estimation: Approximation strategies</vt:lpstr>
      <vt:lpstr>Estimation: Approximation strategies</vt:lpstr>
      <vt:lpstr>Estimation: Approximation strategies</vt:lpstr>
      <vt:lpstr>Estimation: Neural networks</vt:lpstr>
      <vt:lpstr>Estimation: Neural networks</vt:lpstr>
      <vt:lpstr>Estimation: Neural networks</vt:lpstr>
      <vt:lpstr>OUTLINE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PowerPoint Presentation</vt:lpstr>
      <vt:lpstr>PowerPoint Presentation</vt:lpstr>
      <vt:lpstr>OUTLINE</vt:lpstr>
      <vt:lpstr>Estimation: Batch vs. recursive learning</vt:lpstr>
      <vt:lpstr>Estimation: Batch vs. recursive learning</vt:lpstr>
      <vt:lpstr>Estimation: Batch vs. recursive learning</vt:lpstr>
      <vt:lpstr>Thank you!</vt:lpstr>
      <vt:lpstr>PowerPoint Presentation</vt:lpstr>
      <vt:lpstr>OUTLINE</vt:lpstr>
      <vt:lpstr>OUTLINE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OUTLINE</vt:lpstr>
      <vt:lpstr>Time scales in energy</vt:lpstr>
      <vt:lpstr>Modeling: Time</vt:lpstr>
      <vt:lpstr>Modeling: Time</vt:lpstr>
      <vt:lpstr>OUTLINE</vt:lpstr>
      <vt:lpstr>Modeling: State variables</vt:lpstr>
      <vt:lpstr>Modeling: State variables</vt:lpstr>
      <vt:lpstr>OUTLINE</vt:lpstr>
      <vt:lpstr>Modeling: Decisions</vt:lpstr>
      <vt:lpstr>Modeling: Decisions</vt:lpstr>
      <vt:lpstr>OUTLINE</vt:lpstr>
      <vt:lpstr>Modeling: Exogenous information</vt:lpstr>
      <vt:lpstr>Modeling: Exogenous information</vt:lpstr>
      <vt:lpstr>Modeling: Exogenous information</vt:lpstr>
      <vt:lpstr>Modeling: Exogenous information</vt:lpstr>
      <vt:lpstr>OUTLINE</vt:lpstr>
      <vt:lpstr>Modeling: Transition function</vt:lpstr>
      <vt:lpstr>Modeling: Transition function</vt:lpstr>
      <vt:lpstr>OUTLINE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Thank you!</vt:lpstr>
      <vt:lpstr>PowerPoint Presentation</vt:lpstr>
      <vt:lpstr>OUTLINE</vt:lpstr>
      <vt:lpstr>OUTLINE</vt:lpstr>
      <vt:lpstr>State variables</vt:lpstr>
      <vt:lpstr>PowerPoint Presentation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OUTLINE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OUTLINE</vt:lpstr>
      <vt:lpstr>State variables: Belief states</vt:lpstr>
      <vt:lpstr>State variables: Belief states</vt:lpstr>
      <vt:lpstr>OUTLINE</vt:lpstr>
      <vt:lpstr>State variables: Pre- and post-decision states</vt:lpstr>
      <vt:lpstr>State variables: Pre- and post-decision states</vt:lpstr>
      <vt:lpstr>State variables: Pre- and post-decision states</vt:lpstr>
      <vt:lpstr>State variables: Pre- and post-decision states</vt:lpstr>
      <vt:lpstr>OUTLINE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Thank you!</vt:lpstr>
      <vt:lpstr>PowerPoint Presentation</vt:lpstr>
      <vt:lpstr>OUTLINE</vt:lpstr>
      <vt:lpstr>OUTLINE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OUTLINE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OUTLINE</vt:lpstr>
      <vt:lpstr>Different flavors of uncertainty</vt:lpstr>
      <vt:lpstr>Different flavors of uncertainty</vt:lpstr>
      <vt:lpstr>Different flavors of uncertainty</vt:lpstr>
      <vt:lpstr>Different flavors of uncertainty</vt:lpstr>
      <vt:lpstr>OUTLINE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Thank you!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VFA policies</vt:lpstr>
      <vt:lpstr>PowerPoint Presentation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PowerPoint Presentation</vt:lpstr>
      <vt:lpstr>Designing policies I - Overview</vt:lpstr>
      <vt:lpstr>Modeling: Objective function</vt:lpstr>
      <vt:lpstr>Modeling: Objective function</vt:lpstr>
      <vt:lpstr>Modeling: Objective function</vt:lpstr>
      <vt:lpstr>Designing policies I - Overview</vt:lpstr>
      <vt:lpstr>Designing policies I - Overview</vt:lpstr>
      <vt:lpstr>Designing policies I - Overview</vt:lpstr>
      <vt:lpstr>Thank you!</vt:lpstr>
      <vt:lpstr>PowerPoint Presentation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795</cp:revision>
  <cp:lastPrinted>2025-05-20T14:08:40Z</cp:lastPrinted>
  <dcterms:modified xsi:type="dcterms:W3CDTF">2026-09-07T19:33:09Z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