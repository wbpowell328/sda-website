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rts/chart1.xml" ContentType="application/vnd.openxmlformats-officedocument.drawingml.chart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4"/>
  </p:sldMasterIdLst>
  <p:notesMasterIdLst>
    <p:notesMasterId r:id="rId86"/>
  </p:notesMasterIdLst>
  <p:sldIdLst>
    <p:sldId id="10756" r:id="rId71"/>
    <p:sldId id="9534" r:id="rId72"/>
    <p:sldId id="4026" r:id="rId73"/>
    <p:sldId id="4027" r:id="rId74"/>
    <p:sldId id="8059" r:id="rId75"/>
    <p:sldId id="4031" r:id="rId76"/>
    <p:sldId id="4024" r:id="rId77"/>
    <p:sldId id="795" r:id="rId78"/>
    <p:sldId id="7995" r:id="rId79"/>
    <p:sldId id="11035" r:id="rId80"/>
    <p:sldId id="11036" r:id="rId81"/>
    <p:sldId id="11037" r:id="rId82"/>
    <p:sldId id="8226" r:id="rId83"/>
    <p:sldId id="10234" r:id="rId84"/>
    <p:sldId id="10936" r:id="rId85"/>
  </p:sldIdLst>
  <p:sldSz cx="12192000" cy="6858000"/>
  <p:notesSz cx="7102475" cy="9388475"/>
  <p:embeddedFontLst>
    <p:embeddedFont>
      <p:font typeface="Cambria Math" panose="02040503050406030204" pitchFamily="18" charset="0"/>
      <p:regular r:id="rId87"/>
    </p:embeddedFont>
    <p:embeddedFont>
      <p:font typeface="Oswald" panose="00000500000000000000" pitchFamily="2" charset="0"/>
      <p:regular r:id="rId88"/>
      <p:bold r:id="rId89"/>
    </p:embeddedFont>
    <p:embeddedFont>
      <p:font typeface="Playfair Display" panose="00000500000000000000" pitchFamily="2" charset="0"/>
      <p:regular r:id="rId90"/>
      <p:bold r:id="rId91"/>
      <p:italic r:id="rId92"/>
      <p:boldItalic r:id="rId93"/>
    </p:embeddedFont>
    <p:embeddedFont>
      <p:font typeface="Raleway" pitchFamily="2" charset="0"/>
      <p:regular r:id="rId94"/>
      <p:bold r:id="rId95"/>
      <p:italic r:id="rId96"/>
      <p:boldItalic r:id="rId9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594221A-EA1A-49CA-A6F5-055A24DBA16E}">
          <p14:sldIdLst/>
        </p14:section>
        <p14:section name="Optimal learning (inc)" id="{F6849F94-ED19-4CBF-A87A-6780B2421689}">
          <p14:sldIdLst>
            <p14:sldId id="10749"/>
            <p14:sldId id="9928"/>
            <p14:sldId id="11029"/>
            <p14:sldId id="8561"/>
            <p14:sldId id="9467"/>
            <p14:sldId id="8500"/>
            <p14:sldId id="9613"/>
            <p14:sldId id="7624"/>
            <p14:sldId id="8410"/>
            <p14:sldId id="8411"/>
            <p14:sldId id="8476"/>
            <p14:sldId id="11030"/>
            <p14:sldId id="8554"/>
            <p14:sldId id="8555"/>
            <p14:sldId id="8556"/>
            <p14:sldId id="8557"/>
            <p14:sldId id="8558"/>
            <p14:sldId id="11031"/>
            <p14:sldId id="8529"/>
            <p14:sldId id="8530"/>
            <p14:sldId id="8563"/>
            <p14:sldId id="8921"/>
            <p14:sldId id="8532"/>
            <p14:sldId id="8533"/>
            <p14:sldId id="8729"/>
            <p14:sldId id="11032"/>
            <p14:sldId id="8731"/>
            <p14:sldId id="8841"/>
            <p14:sldId id="8889"/>
            <p14:sldId id="8842"/>
            <p14:sldId id="8843"/>
            <p14:sldId id="8839"/>
            <p14:sldId id="8986"/>
            <p14:sldId id="8987"/>
            <p14:sldId id="8988"/>
            <p14:sldId id="8989"/>
            <p14:sldId id="8990"/>
            <p14:sldId id="8991"/>
            <p14:sldId id="11028"/>
          </p14:sldIdLst>
        </p14:section>
        <p14:section name="Determ opt as SDP (inc)" id="{551DD7F0-A5B2-4ACB-A035-51DD663D04B5}">
          <p14:sldIdLst>
            <p14:sldId id="10757"/>
            <p14:sldId id="10239"/>
            <p14:sldId id="10934"/>
            <p14:sldId id="9196"/>
            <p14:sldId id="9197"/>
            <p14:sldId id="9198"/>
            <p14:sldId id="9199"/>
            <p14:sldId id="9980"/>
            <p14:sldId id="9982"/>
            <p14:sldId id="11034"/>
            <p14:sldId id="9172"/>
            <p14:sldId id="9984"/>
            <p14:sldId id="9985"/>
            <p14:sldId id="10935"/>
            <p14:sldId id="9230"/>
            <p14:sldId id="7947"/>
            <p14:sldId id="10186"/>
            <p14:sldId id="10187"/>
            <p14:sldId id="7951"/>
            <p14:sldId id="8029"/>
            <p14:sldId id="8030"/>
            <p14:sldId id="8627"/>
            <p14:sldId id="6541"/>
            <p14:sldId id="3094"/>
            <p14:sldId id="10188"/>
            <p14:sldId id="8031"/>
            <p14:sldId id="11033"/>
          </p14:sldIdLst>
        </p14:section>
        <p14:section name="Modeling matters" id="{C173CF00-97B2-4F94-A8A3-9005C8C4724E}">
          <p14:sldIdLst>
            <p14:sldId id="10756"/>
            <p14:sldId id="9534"/>
            <p14:sldId id="4026"/>
            <p14:sldId id="4027"/>
            <p14:sldId id="8059"/>
            <p14:sldId id="4031"/>
            <p14:sldId id="4024"/>
            <p14:sldId id="795"/>
            <p14:sldId id="7995"/>
            <p14:sldId id="11035"/>
            <p14:sldId id="11036"/>
            <p14:sldId id="11037"/>
            <p14:sldId id="8226"/>
            <p14:sldId id="10234"/>
            <p14:sldId id="10936"/>
          </p14:sldIdLst>
        </p14:section>
        <p14:section name="Teaching materials" id="{7F195D44-CA38-4E75-B660-E23E872F3116}">
          <p14:sldIdLst/>
        </p14:section>
        <p14:section name="Quizes" id="{9466C41C-5E4A-473B-B45C-299CAAE140D1}">
          <p14:sldIdLst/>
        </p14:section>
        <p14:section name="Ending slide" id="{A38FE40B-7866-452A-AB51-D7C6AA82D48C}">
          <p14:sldIdLst/>
        </p14:section>
        <p14:section name="History of RL (long)" id="{EA60419E-00F9-4DD5-9E65-C023009FBAC9}">
          <p14:sldIdLst/>
        </p14:section>
        <p14:section name="Framing the problem (old)" id="{508651A6-E2A1-4B9D-849A-631222BDC416}">
          <p14:sldIdLst/>
        </p14:section>
        <p14:section name="Junk slides" id="{202D44D8-7916-4E0E-A17A-90781AB32AC5}">
          <p14:sldIdLst/>
        </p14:section>
        <p14:section name="LLM illustration" id="{0737BA5F-2BD6-47DB-990D-AC7DA8B2E8AD}">
          <p14:sldIdLst/>
        </p14:section>
        <p14:section name="Multiagent systems" id="{A5414587-8C61-40C6-BFC8-AB74916B4A13}">
          <p14:sldIdLst/>
        </p14:section>
        <p14:section name="Applications" id="{CC81FAFF-DBBC-4FBA-AA29-3C2AED8280AA}">
          <p14:sldIdLst/>
        </p14:section>
        <p14:section name="Overview of stoch opt ???" id="{FB93A169-4ED0-444E-A606-2775732F0C93}">
          <p14:sldIdLst/>
        </p14:section>
        <p14:section name="Untitled Section" id="{B1708D8C-CA48-42C4-8F70-69959BCDE4FA}">
          <p14:sldIdLst/>
        </p14:section>
        <p14:section name="Untitled Section" id="{1B10CAED-9D60-4577-9174-6652579FD552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6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DAF6"/>
    <a:srgbClr val="92551A"/>
    <a:srgbClr val="4F1F14"/>
    <a:srgbClr val="3D2914"/>
    <a:srgbClr val="F5ECD6"/>
    <a:srgbClr val="EFF2FB"/>
    <a:srgbClr val="F2F2FC"/>
    <a:srgbClr val="800000"/>
    <a:srgbClr val="FFFFFF"/>
    <a:srgbClr val="00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4651" autoAdjust="0"/>
    <p:restoredTop sz="94699" autoAdjust="0"/>
  </p:normalViewPr>
  <p:slideViewPr>
    <p:cSldViewPr snapToGrid="0">
      <p:cViewPr varScale="1">
        <p:scale>
          <a:sx n="81" d="100"/>
          <a:sy n="81" d="100"/>
        </p:scale>
        <p:origin x="173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56"/>
        <p:guide pos="2237"/>
      </p:guideLst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4" Type="http://schemas.openxmlformats.org/officeDocument/2006/relationships/slide" Target="slides/slide80.xml"/><Relationship Id="rId89" Type="http://schemas.openxmlformats.org/officeDocument/2006/relationships/font" Target="fonts/font3.fntdata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90" Type="http://schemas.openxmlformats.org/officeDocument/2006/relationships/font" Target="fonts/font4.fntdata"/><Relationship Id="rId95" Type="http://schemas.openxmlformats.org/officeDocument/2006/relationships/font" Target="fonts/font9.fntdata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font" Target="fonts/font2.fntdata"/><Relationship Id="rId91" Type="http://schemas.openxmlformats.org/officeDocument/2006/relationships/font" Target="fonts/font5.fntdata"/><Relationship Id="rId96" Type="http://schemas.openxmlformats.org/officeDocument/2006/relationships/font" Target="fonts/font10.fntdata"/><Relationship Id="rId1" Type="http://schemas.openxmlformats.org/officeDocument/2006/relationships/customXml" Target="../customXml/item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notesMaster" Target="notesMasters/notesMaster1.xml"/><Relationship Id="rId94" Type="http://schemas.openxmlformats.org/officeDocument/2006/relationships/font" Target="fonts/font8.fntdata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76" Type="http://schemas.openxmlformats.org/officeDocument/2006/relationships/slide" Target="slides/slide72.xml"/><Relationship Id="rId97" Type="http://schemas.openxmlformats.org/officeDocument/2006/relationships/font" Target="fonts/font11.fntdata"/><Relationship Id="rId71" Type="http://schemas.openxmlformats.org/officeDocument/2006/relationships/slide" Target="slides/slide67.xml"/><Relationship Id="rId92" Type="http://schemas.openxmlformats.org/officeDocument/2006/relationships/font" Target="fonts/font6.fntdata"/><Relationship Id="rId2" Type="http://schemas.openxmlformats.org/officeDocument/2006/relationships/customXml" Target="../customXml/item2.xml"/><Relationship Id="rId87" Type="http://schemas.openxmlformats.org/officeDocument/2006/relationships/font" Target="fonts/font1.fntdata"/><Relationship Id="rId82" Type="http://schemas.openxmlformats.org/officeDocument/2006/relationships/slide" Target="slides/slide78.xml"/><Relationship Id="rId77" Type="http://schemas.openxmlformats.org/officeDocument/2006/relationships/slide" Target="slides/slide73.xml"/><Relationship Id="rId100" Type="http://schemas.openxmlformats.org/officeDocument/2006/relationships/theme" Target="theme/theme1.xml"/><Relationship Id="rId72" Type="http://schemas.openxmlformats.org/officeDocument/2006/relationships/slide" Target="slides/slide68.xml"/><Relationship Id="rId93" Type="http://schemas.openxmlformats.org/officeDocument/2006/relationships/font" Target="fonts/font7.fntdata"/><Relationship Id="rId98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powell\Documents\Datasets\Electricity%20price%20data\Ercot_Hourly_Power_prices_for_battery_study.xls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powell\Documents\Presentations\PJM%20December%2003%202010\Value%20of%20storage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spPr>
            <a:ln>
              <a:solidFill>
                <a:srgbClr val="0070C0"/>
              </a:solidFill>
            </a:ln>
          </c:spPr>
          <c:marker>
            <c:spPr>
              <a:solidFill>
                <a:srgbClr val="0070C0"/>
              </a:solidFill>
              <a:ln>
                <a:solidFill>
                  <a:srgbClr val="0070C0"/>
                </a:solidFill>
              </a:ln>
            </c:spPr>
          </c:marker>
          <c:val>
            <c:numRef>
              <c:f>'Price data'!$D$43493:$D$43564</c:f>
              <c:numCache>
                <c:formatCode>0.00</c:formatCode>
                <c:ptCount val="72"/>
                <c:pt idx="0">
                  <c:v>46.57</c:v>
                </c:pt>
                <c:pt idx="1">
                  <c:v>44.01</c:v>
                </c:pt>
                <c:pt idx="2">
                  <c:v>35.659999999999997</c:v>
                </c:pt>
                <c:pt idx="3">
                  <c:v>27.73</c:v>
                </c:pt>
                <c:pt idx="4">
                  <c:v>31.78</c:v>
                </c:pt>
                <c:pt idx="5">
                  <c:v>36.65</c:v>
                </c:pt>
                <c:pt idx="6">
                  <c:v>50.78</c:v>
                </c:pt>
                <c:pt idx="7">
                  <c:v>55.2</c:v>
                </c:pt>
                <c:pt idx="8">
                  <c:v>41.64</c:v>
                </c:pt>
                <c:pt idx="9">
                  <c:v>48.48</c:v>
                </c:pt>
                <c:pt idx="10">
                  <c:v>43.57</c:v>
                </c:pt>
                <c:pt idx="11">
                  <c:v>35.229999999999997</c:v>
                </c:pt>
                <c:pt idx="12">
                  <c:v>31.94</c:v>
                </c:pt>
                <c:pt idx="13">
                  <c:v>27.24</c:v>
                </c:pt>
                <c:pt idx="14">
                  <c:v>22.45</c:v>
                </c:pt>
                <c:pt idx="15">
                  <c:v>20.74</c:v>
                </c:pt>
                <c:pt idx="16">
                  <c:v>22.58</c:v>
                </c:pt>
                <c:pt idx="17">
                  <c:v>45.33</c:v>
                </c:pt>
                <c:pt idx="18">
                  <c:v>56.06</c:v>
                </c:pt>
                <c:pt idx="19">
                  <c:v>56.95</c:v>
                </c:pt>
                <c:pt idx="20">
                  <c:v>52.49</c:v>
                </c:pt>
                <c:pt idx="21">
                  <c:v>48.41</c:v>
                </c:pt>
                <c:pt idx="22">
                  <c:v>44.82</c:v>
                </c:pt>
                <c:pt idx="23">
                  <c:v>42.29</c:v>
                </c:pt>
                <c:pt idx="24">
                  <c:v>41.29</c:v>
                </c:pt>
                <c:pt idx="25">
                  <c:v>30.61</c:v>
                </c:pt>
                <c:pt idx="26">
                  <c:v>35.67</c:v>
                </c:pt>
                <c:pt idx="27">
                  <c:v>39.08</c:v>
                </c:pt>
                <c:pt idx="28">
                  <c:v>40.69</c:v>
                </c:pt>
                <c:pt idx="29">
                  <c:v>44.54</c:v>
                </c:pt>
                <c:pt idx="30">
                  <c:v>41.56</c:v>
                </c:pt>
                <c:pt idx="31">
                  <c:v>60.89</c:v>
                </c:pt>
                <c:pt idx="32">
                  <c:v>63.71</c:v>
                </c:pt>
                <c:pt idx="33">
                  <c:v>70.37</c:v>
                </c:pt>
                <c:pt idx="34">
                  <c:v>53.77</c:v>
                </c:pt>
                <c:pt idx="35">
                  <c:v>45.81</c:v>
                </c:pt>
                <c:pt idx="36">
                  <c:v>38.33</c:v>
                </c:pt>
                <c:pt idx="37">
                  <c:v>24.56</c:v>
                </c:pt>
                <c:pt idx="38">
                  <c:v>20.49</c:v>
                </c:pt>
                <c:pt idx="39">
                  <c:v>18.84</c:v>
                </c:pt>
                <c:pt idx="40">
                  <c:v>24.61</c:v>
                </c:pt>
                <c:pt idx="41">
                  <c:v>44.23</c:v>
                </c:pt>
                <c:pt idx="42">
                  <c:v>73.010000000000005</c:v>
                </c:pt>
                <c:pt idx="43">
                  <c:v>53.62</c:v>
                </c:pt>
                <c:pt idx="44">
                  <c:v>47.89</c:v>
                </c:pt>
                <c:pt idx="45">
                  <c:v>49.03</c:v>
                </c:pt>
                <c:pt idx="46">
                  <c:v>49.28</c:v>
                </c:pt>
                <c:pt idx="47">
                  <c:v>121.19</c:v>
                </c:pt>
                <c:pt idx="48">
                  <c:v>47.69</c:v>
                </c:pt>
                <c:pt idx="49">
                  <c:v>38.869999999999997</c:v>
                </c:pt>
                <c:pt idx="50">
                  <c:v>23.62</c:v>
                </c:pt>
                <c:pt idx="51">
                  <c:v>27.51</c:v>
                </c:pt>
                <c:pt idx="52">
                  <c:v>34.4</c:v>
                </c:pt>
                <c:pt idx="53">
                  <c:v>30.62</c:v>
                </c:pt>
                <c:pt idx="54">
                  <c:v>35.1</c:v>
                </c:pt>
                <c:pt idx="55">
                  <c:v>47.32</c:v>
                </c:pt>
                <c:pt idx="56">
                  <c:v>51.19</c:v>
                </c:pt>
                <c:pt idx="57">
                  <c:v>42.57</c:v>
                </c:pt>
                <c:pt idx="58">
                  <c:v>31.73</c:v>
                </c:pt>
                <c:pt idx="59">
                  <c:v>19.309999999999999</c:v>
                </c:pt>
                <c:pt idx="60">
                  <c:v>16.97</c:v>
                </c:pt>
                <c:pt idx="61">
                  <c:v>20.260000000000002</c:v>
                </c:pt>
                <c:pt idx="62">
                  <c:v>15.72</c:v>
                </c:pt>
                <c:pt idx="63">
                  <c:v>15.42</c:v>
                </c:pt>
                <c:pt idx="64">
                  <c:v>30.86</c:v>
                </c:pt>
                <c:pt idx="65">
                  <c:v>43.9</c:v>
                </c:pt>
                <c:pt idx="66">
                  <c:v>59.39</c:v>
                </c:pt>
                <c:pt idx="67">
                  <c:v>46.78</c:v>
                </c:pt>
                <c:pt idx="68">
                  <c:v>43.46</c:v>
                </c:pt>
                <c:pt idx="69">
                  <c:v>37.9</c:v>
                </c:pt>
                <c:pt idx="70">
                  <c:v>31.32</c:v>
                </c:pt>
                <c:pt idx="71">
                  <c:v>19.37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17-4D85-85EF-2075C463C5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4981120"/>
        <c:axId val="304983040"/>
      </c:lineChart>
      <c:catAx>
        <c:axId val="304981120"/>
        <c:scaling>
          <c:orientation val="minMax"/>
        </c:scaling>
        <c:delete val="0"/>
        <c:axPos val="b"/>
        <c:majorTickMark val="out"/>
        <c:minorTickMark val="none"/>
        <c:tickLblPos val="nextTo"/>
        <c:crossAx val="304983040"/>
        <c:crosses val="autoZero"/>
        <c:auto val="1"/>
        <c:lblAlgn val="ctr"/>
        <c:lblOffset val="100"/>
        <c:noMultiLvlLbl val="0"/>
      </c:catAx>
      <c:valAx>
        <c:axId val="304983040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crossAx val="304981120"/>
        <c:crosses val="autoZero"/>
        <c:crossBetween val="between"/>
      </c:valAx>
      <c:spPr>
        <a:solidFill>
          <a:schemeClr val="bg1"/>
        </a:solidFill>
      </c:spPr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'Value of storage'!$B$3</c:f>
              <c:strCache>
                <c:ptCount val="1"/>
                <c:pt idx="0">
                  <c:v>Profit over eight year lifetime</c:v>
                </c:pt>
              </c:strCache>
            </c:strRef>
          </c:tx>
          <c:spPr>
            <a:gradFill>
              <a:gsLst>
                <a:gs pos="0">
                  <a:srgbClr val="000082"/>
                </a:gs>
                <a:gs pos="30000">
                  <a:srgbClr val="66008F"/>
                </a:gs>
                <a:gs pos="64999">
                  <a:srgbClr val="BA0066"/>
                </a:gs>
                <a:gs pos="89999">
                  <a:srgbClr val="FF0000"/>
                </a:gs>
                <a:gs pos="100000">
                  <a:srgbClr val="FF8200"/>
                </a:gs>
              </a:gsLst>
              <a:lin ang="5400000" scaled="0"/>
            </a:gradFill>
          </c:spPr>
          <c:invertIfNegative val="0"/>
          <c:cat>
            <c:strRef>
              <c:f>'Value of storage'!$A$4:$A$5</c:f>
              <c:strCache>
                <c:ptCount val="2"/>
                <c:pt idx="0">
                  <c:v>Advance information</c:v>
                </c:pt>
                <c:pt idx="1">
                  <c:v>Admissible policy</c:v>
                </c:pt>
              </c:strCache>
            </c:strRef>
          </c:cat>
          <c:val>
            <c:numRef>
              <c:f>'Value of storage'!$B$4:$B$5</c:f>
              <c:numCache>
                <c:formatCode>General</c:formatCode>
                <c:ptCount val="2"/>
                <c:pt idx="0">
                  <c:v>1051200</c:v>
                </c:pt>
                <c:pt idx="1">
                  <c:v>662256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2A-421E-BF98-6CFD8A09A7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5116672"/>
        <c:axId val="305118208"/>
      </c:barChart>
      <c:catAx>
        <c:axId val="3051166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05118208"/>
        <c:crosses val="autoZero"/>
        <c:auto val="1"/>
        <c:lblAlgn val="ctr"/>
        <c:lblOffset val="100"/>
        <c:noMultiLvlLbl val="0"/>
      </c:catAx>
      <c:valAx>
        <c:axId val="3051182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05116672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85895" y="2"/>
            <a:ext cx="3088836" cy="495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85895" y="8907255"/>
            <a:ext cx="3088836" cy="498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8345" tIns="49160" rIns="98345" bIns="49160" anchor="b" anchorCtr="0">
            <a:noAutofit/>
          </a:bodyPr>
          <a:lstStyle/>
          <a:p>
            <a:pPr algn="r"/>
            <a:fld id="{00000000-1234-1234-1234-123412341234}" type="slidenum">
              <a:rPr lang="en-US" sz="130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pPr algn="r"/>
              <a:t>‹#›</a:t>
            </a:fld>
            <a:endParaRPr lang="en-US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5C644A1-E4C1-CC3B-F7FA-CADE8625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>
            <a:extLst>
              <a:ext uri="{FF2B5EF4-FFF2-40B4-BE49-F238E27FC236}">
                <a16:creationId xmlns:a16="http://schemas.microsoft.com/office/drawing/2014/main" id="{8FE69B2D-6B79-9A8B-A148-BB66AD4AB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75668" y="4455180"/>
            <a:ext cx="5205090" cy="4205254"/>
          </a:xfrm>
          <a:prstGeom prst="rect">
            <a:avLst/>
          </a:prstGeom>
        </p:spPr>
        <p:txBody>
          <a:bodyPr spcFirstLastPara="1" wrap="square" lIns="98345" tIns="49160" rIns="98345" bIns="49160" anchor="t" anchorCtr="0">
            <a:noAutofit/>
          </a:bodyPr>
          <a:lstStyle/>
          <a:p>
            <a:pPr marL="0" indent="0">
              <a:spcBef>
                <a:spcPts val="365"/>
              </a:spcBef>
            </a:pPr>
            <a:endParaRPr dirty="0"/>
          </a:p>
        </p:txBody>
      </p:sp>
      <p:sp>
        <p:nvSpPr>
          <p:cNvPr id="244" name="Google Shape;244;p8:notes">
            <a:extLst>
              <a:ext uri="{FF2B5EF4-FFF2-40B4-BE49-F238E27FC236}">
                <a16:creationId xmlns:a16="http://schemas.microsoft.com/office/drawing/2014/main" id="{DEFCC0FA-9D76-A823-8F70-6183EACECC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96888" y="741363"/>
            <a:ext cx="6164262" cy="346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03539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8163" y="758825"/>
            <a:ext cx="6299200" cy="3544888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58197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38163" y="758825"/>
            <a:ext cx="6299200" cy="3544888"/>
          </a:xfrm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3277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lg" len="lg"/>
                <a:tailEnd type="none" w="med" len="lg"/>
              </a14:hiddenLine>
            </a:ext>
          </a:extLst>
        </p:spPr>
        <p:txBody>
          <a:bodyPr/>
          <a:lstStyle>
            <a:lvl1pPr defTabSz="954679"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34852" indent="-282635" defTabSz="954679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30541" indent="-226108" defTabSz="954679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582758" indent="-226108" defTabSz="954679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34974" indent="-226108" defTabSz="954679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487191" indent="-226108" algn="ctr" defTabSz="954679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39407" indent="-226108" algn="ctr" defTabSz="954679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391624" indent="-226108" algn="ctr" defTabSz="954679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43840" indent="-226108" algn="ctr" defTabSz="954679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632B546-CF8C-4827-B1C0-DB544F5BEF56}" type="slidenum">
              <a:rPr lang="en-US" i="0" smtClean="0"/>
              <a:pPr/>
              <a:t>74</a:t>
            </a:fld>
            <a:endParaRPr lang="en-US" i="0"/>
          </a:p>
        </p:txBody>
      </p:sp>
    </p:spTree>
    <p:extLst>
      <p:ext uri="{BB962C8B-B14F-4D97-AF65-F5344CB8AC3E}">
        <p14:creationId xmlns:p14="http://schemas.microsoft.com/office/powerpoint/2010/main" val="1486938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C2B1-933F-11D1-D75C-E6C58A371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60D8B-4A06-3A07-F7B7-6BC296B44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588E5-C0C6-B873-EE80-A7B41CB2CC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621EB-586C-1F37-1F14-330D55E83C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6137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76446-9147-D45F-33A4-F98878BCC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4258D-09F8-3E0D-A03E-7FEF1F246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1634A-2AF8-6A32-FE50-E16657B04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A08D5-5A97-0C47-7D7E-A4B19190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8381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3B95-3289-CD9F-4D35-ED1D26257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7A472-7FA7-61DD-E8DE-E74D9D14F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96888" y="741363"/>
            <a:ext cx="6164262" cy="3467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468A7E-1B02-6F84-9179-D874C660C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411D2-57DE-4153-9035-94E74003B2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0A9F78-39CE-4DDC-A26E-05BD6400C5DB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77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FFFFF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300"/>
              <a:buFont typeface="Oswald"/>
              <a:buNone/>
              <a:defRPr sz="3300">
                <a:latin typeface="Oswald"/>
                <a:ea typeface="Oswald"/>
                <a:cs typeface="Oswald"/>
                <a:sym typeface="Oswald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630092" y="1279489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7084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bg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" name="Google Shape;22;p3">
            <a:extLst>
              <a:ext uri="{FF2B5EF4-FFF2-40B4-BE49-F238E27FC236}">
                <a16:creationId xmlns:a16="http://schemas.microsoft.com/office/drawing/2014/main" id="{58B34863-E096-4468-B3E2-0513B8E89889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bg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bg>
      <p:bgPr>
        <a:solidFill>
          <a:schemeClr val="bg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052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Times New Roman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»"/>
              <a:defRPr sz="16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bg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bg>
      <p:bgPr>
        <a:solidFill>
          <a:schemeClr val="bg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9116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»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bg>
      <p:bgPr>
        <a:solidFill>
          <a:schemeClr val="bg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560"/>
              <a:buFont typeface="Times New Roman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imes New Roman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bg>
      <p:bgPr>
        <a:solidFill>
          <a:schemeClr val="bg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619500" y="-1562100"/>
            <a:ext cx="4953000" cy="10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bg>
      <p:bgPr>
        <a:solidFill>
          <a:schemeClr val="bg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>
            <a:spLocks noGrp="1"/>
          </p:cNvSpPr>
          <p:nvPr>
            <p:ph type="title"/>
          </p:nvPr>
        </p:nvSpPr>
        <p:spPr>
          <a:xfrm rot="5400000">
            <a:off x="7086600" y="1905000"/>
            <a:ext cx="5791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body" idx="1"/>
          </p:nvPr>
        </p:nvSpPr>
        <p:spPr>
          <a:xfrm rot="5400000">
            <a:off x="1803400" y="-584200"/>
            <a:ext cx="5791200" cy="75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 type="tbl">
  <p:cSld name="TABLE"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4 Content" type="fourObj">
  <p:cSld name="FOUR_OBJECTS">
    <p:bg>
      <p:bgPr>
        <a:solidFill>
          <a:schemeClr val="bg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body" idx="3"/>
          </p:nvPr>
        </p:nvSpPr>
        <p:spPr>
          <a:xfrm>
            <a:off x="9144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body" idx="4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bg>
      <p:bgPr>
        <a:solidFill>
          <a:schemeClr val="bg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5080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6197600" y="11430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3"/>
          </p:nvPr>
        </p:nvSpPr>
        <p:spPr>
          <a:xfrm>
            <a:off x="6197600" y="3695700"/>
            <a:ext cx="5080000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OBJECT_ONLY">
    <p:bg>
      <p:bgPr>
        <a:solidFill>
          <a:schemeClr val="bg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914400" y="304800"/>
            <a:ext cx="10363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dt" idx="10"/>
          </p:nvPr>
        </p:nvSpPr>
        <p:spPr>
          <a:xfrm>
            <a:off x="9144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4165600" y="65532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sldNum" idx="12"/>
          </p:nvPr>
        </p:nvSpPr>
        <p:spPr>
          <a:xfrm>
            <a:off x="8737600" y="65341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ctr" rtl="0">
              <a:spcBef>
                <a:spcPts val="0"/>
              </a:spcBef>
              <a:spcAft>
                <a:spcPts val="0"/>
              </a:spcAft>
              <a:buNone/>
              <a:defRPr sz="180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914400" y="304800"/>
            <a:ext cx="10363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914400" y="1143000"/>
            <a:ext cx="103632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084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22;p3">
            <a:extLst>
              <a:ext uri="{FF2B5EF4-FFF2-40B4-BE49-F238E27FC236}">
                <a16:creationId xmlns:a16="http://schemas.microsoft.com/office/drawing/2014/main" id="{8DAADDE6-9D87-4A94-9A5F-2FE2DE75B0D7}"/>
              </a:ext>
            </a:extLst>
          </p:cNvPr>
          <p:cNvSpPr/>
          <p:nvPr userDrawn="1"/>
        </p:nvSpPr>
        <p:spPr>
          <a:xfrm>
            <a:off x="0" y="977750"/>
            <a:ext cx="3772862" cy="5959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6699"/>
            </a:solidFill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endParaRPr sz="3000" b="0" i="0" u="none" strike="noStrike" cap="non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5" name="Google Shape;129;p18">
            <a:extLst>
              <a:ext uri="{FF2B5EF4-FFF2-40B4-BE49-F238E27FC236}">
                <a16:creationId xmlns:a16="http://schemas.microsoft.com/office/drawing/2014/main" id="{2199409B-45F8-4A01-AB9C-7EA2B2CCD078}"/>
              </a:ext>
            </a:extLst>
          </p:cNvPr>
          <p:cNvPicPr preferRelativeResize="0"/>
          <p:nvPr userDrawn="1"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56373" y="6533883"/>
            <a:ext cx="2041301" cy="2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3;p3">
            <a:extLst>
              <a:ext uri="{FF2B5EF4-FFF2-40B4-BE49-F238E27FC236}">
                <a16:creationId xmlns:a16="http://schemas.microsoft.com/office/drawing/2014/main" id="{1D1BDBDF-7EA2-8C6E-6985-BFD39B103D2C}"/>
              </a:ext>
            </a:extLst>
          </p:cNvPr>
          <p:cNvSpPr/>
          <p:nvPr userDrawn="1"/>
        </p:nvSpPr>
        <p:spPr>
          <a:xfrm>
            <a:off x="4885608" y="6521551"/>
            <a:ext cx="1837408" cy="303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Font typeface="Playfair Display"/>
              <a:buNone/>
            </a:pPr>
            <a:r>
              <a:rPr lang="en-US" sz="900" b="0" dirty="0">
                <a:solidFill>
                  <a:schemeClr val="tx1"/>
                </a:solidFill>
                <a:latin typeface="Raleway" pitchFamily="2" charset="0"/>
                <a:ea typeface="Raleway Thin"/>
                <a:cs typeface="Raleway Thin"/>
                <a:sym typeface="Raleway Thin"/>
              </a:rPr>
              <a:t>© WARREN POWELL 2026</a:t>
            </a:r>
            <a:endParaRPr sz="900" b="0" dirty="0">
              <a:solidFill>
                <a:schemeClr val="tx1"/>
              </a:solidFill>
              <a:latin typeface="Raleway" pitchFamily="2" charset="0"/>
              <a:ea typeface="Raleway Thin"/>
              <a:cs typeface="Raleway Thin"/>
              <a:sym typeface="Raleway Thin"/>
            </a:endParaRP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ED04E7B-9405-B242-E92F-713BCFDEE4B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5495" b="97253" l="4706" r="97059">
                        <a14:foregroundMark x1="45294" y1="24725" x2="45294" y2="24725"/>
                        <a14:foregroundMark x1="56471" y1="23626" x2="56471" y2="23626"/>
                        <a14:foregroundMark x1="41765" y1="20879" x2="41765" y2="20879"/>
                        <a14:foregroundMark x1="10000" y1="72527" x2="10000" y2="72527"/>
                        <a14:foregroundMark x1="10588" y1="79121" x2="10588" y2="79121"/>
                        <a14:foregroundMark x1="11765" y1="68681" x2="11765" y2="68681"/>
                        <a14:foregroundMark x1="6471" y1="68681" x2="6471" y2="68681"/>
                        <a14:foregroundMark x1="40000" y1="30220" x2="40000" y2="30220"/>
                        <a14:foregroundMark x1="54706" y1="20879" x2="54706" y2="20879"/>
                        <a14:foregroundMark x1="54706" y1="30220" x2="54706" y2="30220"/>
                        <a14:foregroundMark x1="54706" y1="30220" x2="54706" y2="30220"/>
                        <a14:foregroundMark x1="51765" y1="24176" x2="51765" y2="24176"/>
                        <a14:foregroundMark x1="53529" y1="30769" x2="53529" y2="30769"/>
                        <a14:foregroundMark x1="45882" y1="29670" x2="45882" y2="29670"/>
                        <a14:foregroundMark x1="8824" y1="87363" x2="8824" y2="87363"/>
                        <a14:foregroundMark x1="19412" y1="89011" x2="19412" y2="89011"/>
                        <a14:foregroundMark x1="31176" y1="93407" x2="31176" y2="93407"/>
                        <a14:foregroundMark x1="24118" y1="95604" x2="24118" y2="96154"/>
                        <a14:foregroundMark x1="24118" y1="87912" x2="24118" y2="95604"/>
                        <a14:foregroundMark x1="5882" y1="65385" x2="5882" y2="65385"/>
                        <a14:foregroundMark x1="9413" y1="62088" x2="8235" y2="61538"/>
                        <a14:foregroundMark x1="10588" y1="62637" x2="9413" y2="62088"/>
                        <a14:foregroundMark x1="16471" y1="65385" x2="10588" y2="62637"/>
                        <a14:foregroundMark x1="28235" y1="89560" x2="28235" y2="89560"/>
                        <a14:foregroundMark x1="31765" y1="96703" x2="31765" y2="96703"/>
                        <a14:foregroundMark x1="38235" y1="95604" x2="38235" y2="95604"/>
                        <a14:foregroundMark x1="35882" y1="92857" x2="35882" y2="92857"/>
                        <a14:foregroundMark x1="34118" y1="90110" x2="34118" y2="90110"/>
                        <a14:foregroundMark x1="41765" y1="90659" x2="41765" y2="90659"/>
                        <a14:foregroundMark x1="41765" y1="93956" x2="41765" y2="93956"/>
                        <a14:foregroundMark x1="45882" y1="97253" x2="45882" y2="97253"/>
                        <a14:foregroundMark x1="50000" y1="97802" x2="50000" y2="97802"/>
                        <a14:foregroundMark x1="52941" y1="97802" x2="52941" y2="97802"/>
                        <a14:foregroundMark x1="58235" y1="97253" x2="58235" y2="97253"/>
                        <a14:foregroundMark x1="61176" y1="97802" x2="61176" y2="97802"/>
                        <a14:foregroundMark x1="60000" y1="90110" x2="60000" y2="90110"/>
                        <a14:foregroundMark x1="64118" y1="90659" x2="64118" y2="90659"/>
                        <a14:foregroundMark x1="70000" y1="86813" x2="70000" y2="86813"/>
                        <a14:foregroundMark x1="74118" y1="85165" x2="74118" y2="85165"/>
                        <a14:foregroundMark x1="75882" y1="91758" x2="75882" y2="91758"/>
                        <a14:foregroundMark x1="87647" y1="75275" x2="87647" y2="75275"/>
                        <a14:foregroundMark x1="87647" y1="75275" x2="87647" y2="75275"/>
                        <a14:foregroundMark x1="87647" y1="72527" x2="87647" y2="72527"/>
                        <a14:foregroundMark x1="84706" y1="80769" x2="84706" y2="80769"/>
                        <a14:foregroundMark x1="92941" y1="82418" x2="92941" y2="82418"/>
                        <a14:foregroundMark x1="97059" y1="65934" x2="97059" y2="65934"/>
                        <a14:foregroundMark x1="88235" y1="65934" x2="88235" y2="65934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10000" y1="62088" x2="10000" y2="62088"/>
                        <a14:foregroundMark x1="50000" y1="5495" x2="50000" y2="5495"/>
                        <a14:foregroundMark x1="9412" y1="62637" x2="9412" y2="62637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foregroundMark x1="9412" y1="62088" x2="9412" y2="62088"/>
                        <a14:backgroundMark x1="9412" y1="61538" x2="9412" y2="61538"/>
                        <a14:backgroundMark x1="8235" y1="60989" x2="8235" y2="60989"/>
                        <a14:backgroundMark x1="11765" y1="62637" x2="11765" y2="62637"/>
                        <a14:backgroundMark x1="10588" y1="62088" x2="10588" y2="62088"/>
                        <a14:backgroundMark x1="24706" y1="96154" x2="24706" y2="96154"/>
                        <a14:backgroundMark x1="24118" y1="95604" x2="24118" y2="95604"/>
                        <a14:backgroundMark x1="23529" y1="97253" x2="23529" y2="97253"/>
                        <a14:backgroundMark x1="24118" y1="97253" x2="24118" y2="97253"/>
                        <a14:backgroundMark x1="24118" y1="97253" x2="24118" y2="97253"/>
                        <a14:backgroundMark x1="23529" y1="97802" x2="23529" y2="97802"/>
                        <a14:backgroundMark x1="23529" y1="96703" x2="23529" y2="96703"/>
                        <a14:backgroundMark x1="23529" y1="96703" x2="23529" y2="96154"/>
                        <a14:backgroundMark x1="7647" y1="62088" x2="7647" y2="62088"/>
                        <a14:backgroundMark x1="8824" y1="62637" x2="8824" y2="626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49805" y="6324600"/>
            <a:ext cx="498231" cy="5334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image" Target="../media/image77.pn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11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image" Target="../media/image77.pn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11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wmf"/><Relationship Id="rId11" Type="http://schemas.openxmlformats.org/officeDocument/2006/relationships/image" Target="../media/image77.pn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60.wmf"/><Relationship Id="rId4" Type="http://schemas.openxmlformats.org/officeDocument/2006/relationships/image" Target="../media/image57.wmf"/><Relationship Id="rId9" Type="http://schemas.openxmlformats.org/officeDocument/2006/relationships/oleObject" Target="../embeddings/oleObject11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7" Type="http://schemas.openxmlformats.org/officeDocument/2006/relationships/image" Target="../media/image131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0.png"/><Relationship Id="rId5" Type="http://schemas.openxmlformats.org/officeDocument/2006/relationships/image" Target="../media/image1290.png"/><Relationship Id="rId4" Type="http://schemas.openxmlformats.org/officeDocument/2006/relationships/image" Target="../media/image1281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7" Type="http://schemas.openxmlformats.org/officeDocument/2006/relationships/image" Target="../media/image131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0.png"/><Relationship Id="rId5" Type="http://schemas.openxmlformats.org/officeDocument/2006/relationships/image" Target="../media/image1290.png"/><Relationship Id="rId4" Type="http://schemas.openxmlformats.org/officeDocument/2006/relationships/image" Target="../media/image1281.png"/><Relationship Id="rId9" Type="http://schemas.openxmlformats.org/officeDocument/2006/relationships/image" Target="../media/image8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C7614-FCC3-964B-25A3-90D134BC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0FC3713-8E9B-6F28-DBEA-93F46E908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" y="0"/>
            <a:ext cx="12180024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DD17C327-C786-5804-022B-93BD02B8166F}"/>
              </a:ext>
            </a:extLst>
          </p:cNvPr>
          <p:cNvSpPr txBox="1">
            <a:spLocks/>
          </p:cNvSpPr>
          <p:nvPr/>
        </p:nvSpPr>
        <p:spPr>
          <a:xfrm>
            <a:off x="0" y="129992"/>
            <a:ext cx="12192000" cy="8451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Tutorial Series on Sequential Decision Analytics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2AC5F47-36C5-B095-D1FD-9BEF84231A30}"/>
              </a:ext>
            </a:extLst>
          </p:cNvPr>
          <p:cNvSpPr txBox="1">
            <a:spLocks/>
          </p:cNvSpPr>
          <p:nvPr/>
        </p:nvSpPr>
        <p:spPr>
          <a:xfrm>
            <a:off x="0" y="927251"/>
            <a:ext cx="12192000" cy="115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ctr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Warren B Powell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Professor Emeritus, Princeton University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D65D7F2-4604-2BED-E693-3D2531193DAE}"/>
              </a:ext>
            </a:extLst>
          </p:cNvPr>
          <p:cNvSpPr txBox="1">
            <a:spLocks/>
          </p:cNvSpPr>
          <p:nvPr/>
        </p:nvSpPr>
        <p:spPr>
          <a:xfrm>
            <a:off x="4224760" y="1866418"/>
            <a:ext cx="3715473" cy="57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Recorded: March 24, 2026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57D780D-CD1D-A9C5-306E-BD510357196B}"/>
              </a:ext>
            </a:extLst>
          </p:cNvPr>
          <p:cNvSpPr txBox="1">
            <a:spLocks/>
          </p:cNvSpPr>
          <p:nvPr/>
        </p:nvSpPr>
        <p:spPr>
          <a:xfrm>
            <a:off x="1212348" y="2939936"/>
            <a:ext cx="8346431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Module:	Modeling matters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From model predictive control to sequential decision problems </a:t>
            </a: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– This is a brief illustration of what can go wrong with improper modeling, using an example from optimizing an energy storage device.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3E6DC7-EF0E-34A9-37E6-245BEA6DA611}"/>
              </a:ext>
            </a:extLst>
          </p:cNvPr>
          <p:cNvSpPr txBox="1">
            <a:spLocks/>
          </p:cNvSpPr>
          <p:nvPr/>
        </p:nvSpPr>
        <p:spPr>
          <a:xfrm>
            <a:off x="1214274" y="5547361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algn="l">
              <a:lnSpc>
                <a:spcPct val="107000"/>
              </a:lnSpc>
              <a:spcAft>
                <a:spcPts val="800"/>
              </a:spcAft>
            </a:pPr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level: Introduces the subtlety behind the misuse of assuming you can see into the future.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498086-6B4A-C43C-ED1B-36A40BA7B424}"/>
              </a:ext>
            </a:extLst>
          </p:cNvPr>
          <p:cNvSpPr txBox="1">
            <a:spLocks/>
          </p:cNvSpPr>
          <p:nvPr/>
        </p:nvSpPr>
        <p:spPr>
          <a:xfrm>
            <a:off x="1214274" y="4368419"/>
            <a:ext cx="8881242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1203325" indent="-1203325" algn="l"/>
            <a:r>
              <a:rPr lang="en-US" sz="2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Predecessor module(s):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sequential decision problems</a:t>
            </a:r>
          </a:p>
          <a:p>
            <a:pPr marL="342900" indent="-342900" algn="l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Universal modeling framework (high level or detailed)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A2CE1E-77CC-AEE8-FC6C-3875B7A15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461" y="1084325"/>
            <a:ext cx="2014549" cy="201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44122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EC2AD29-70B2-22D3-C433-BDC6613C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A46FD6-D43C-1EE1-F450-C51974319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956" y="-51516"/>
            <a:ext cx="12292833" cy="6909515"/>
          </a:xfrm>
          <a:prstGeom prst="rect">
            <a:avLst/>
          </a:prstGeom>
        </p:spPr>
      </p:pic>
      <p:sp>
        <p:nvSpPr>
          <p:cNvPr id="246" name="Google Shape;246;p26">
            <a:extLst>
              <a:ext uri="{FF2B5EF4-FFF2-40B4-BE49-F238E27FC236}">
                <a16:creationId xmlns:a16="http://schemas.microsoft.com/office/drawing/2014/main" id="{B44236BE-7DC7-F646-FD2A-47415306E9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OUTLINE</a:t>
            </a:r>
            <a:endParaRPr/>
          </a:p>
        </p:txBody>
      </p:sp>
      <p:sp>
        <p:nvSpPr>
          <p:cNvPr id="247" name="Google Shape;247;p26">
            <a:extLst>
              <a:ext uri="{FF2B5EF4-FFF2-40B4-BE49-F238E27FC236}">
                <a16:creationId xmlns:a16="http://schemas.microsoft.com/office/drawing/2014/main" id="{C6D3CAB6-B81C-20F9-C5F4-855D28886F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25481" y="1580913"/>
            <a:ext cx="9840879" cy="3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buClr>
                <a:schemeClr val="lt1"/>
              </a:buClr>
              <a:buFont typeface="Times New Roman"/>
              <a:buChar char="➜"/>
            </a:pPr>
            <a:r>
              <a:rPr lang="en-US" dirty="0">
                <a:solidFill>
                  <a:schemeClr val="bg1"/>
                </a:solidFill>
              </a:rPr>
              <a:t>Modeling matters</a:t>
            </a:r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240"/>
              <a:buFont typeface="Times New Roman"/>
              <a:buChar char="➜"/>
            </a:pPr>
            <a:endParaRPr lang="en-US" dirty="0">
              <a:solidFill>
                <a:schemeClr val="bg1"/>
              </a:solidFill>
            </a:endParaRPr>
          </a:p>
          <a:p>
            <a:pPr marL="342900" lvl="0" indent="-20066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imes New Roman"/>
              <a:buNone/>
            </a:pPr>
            <a:endParaRPr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4617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092" y="1108039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Battery arbitrage – When to charge, when to discharge, given volatile grid prices</a:t>
            </a:r>
          </a:p>
        </p:txBody>
      </p:sp>
      <p:pic>
        <p:nvPicPr>
          <p:cNvPr id="138240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39" y="4225559"/>
            <a:ext cx="3151734" cy="2098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ight Arrow 1"/>
          <p:cNvSpPr/>
          <p:nvPr/>
        </p:nvSpPr>
        <p:spPr bwMode="auto">
          <a:xfrm>
            <a:off x="5466787" y="5371212"/>
            <a:ext cx="1365813" cy="398214"/>
          </a:xfrm>
          <a:prstGeom prst="rightArrow">
            <a:avLst>
              <a:gd name="adj1" fmla="val 50000"/>
              <a:gd name="adj2" fmla="val 73253"/>
            </a:avLst>
          </a:prstGeom>
          <a:solidFill>
            <a:srgbClr val="00B0F0"/>
          </a:solidFill>
          <a:ln w="2857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5" name="Right Arrow 14"/>
          <p:cNvSpPr/>
          <p:nvPr/>
        </p:nvSpPr>
        <p:spPr bwMode="auto">
          <a:xfrm rot="10800000">
            <a:off x="5468712" y="4944862"/>
            <a:ext cx="1365813" cy="398214"/>
          </a:xfrm>
          <a:prstGeom prst="rightArrow">
            <a:avLst>
              <a:gd name="adj1" fmla="val 50000"/>
              <a:gd name="adj2" fmla="val 73253"/>
            </a:avLst>
          </a:prstGeom>
          <a:solidFill>
            <a:srgbClr val="00B0F0"/>
          </a:solidFill>
          <a:ln w="28575" cap="flat" cmpd="sng" algn="ctr">
            <a:noFill/>
            <a:prstDash val="solid"/>
            <a:round/>
            <a:headEnd type="none" w="med" len="med"/>
            <a:tailEnd type="stealth" w="med" len="lg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0DBF6-E9AB-27AA-959F-ACEC7F17B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5749" y="4225558"/>
            <a:ext cx="3119229" cy="20981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5E1D4-8EBC-608D-8977-D0D08406AF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6267" y="2044214"/>
            <a:ext cx="3257953" cy="209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819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732722" y="2206488"/>
            <a:ext cx="8766313" cy="2912164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630092" y="1110154"/>
            <a:ext cx="10363200" cy="44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7084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Raleway"/>
              <a:buChar char="•"/>
              <a:defRPr sz="28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•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–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aleway"/>
              <a:buChar char="»"/>
              <a:defRPr sz="20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86360" indent="0">
              <a:buFont typeface="Raleway"/>
              <a:buNone/>
            </a:pPr>
            <a:r>
              <a:rPr lang="en-US"/>
              <a:t>Snapshot of electricity prices for New Jersey: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57242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A067-5C51-4A3D-CD0B-9CD429979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2EB1-074F-10D4-C195-6838563D8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092" y="1119469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sz="2400" dirty="0"/>
              <a:t>A battery manufacturer proposed to buy and sell energy from and to the grid as prices vary, taking advantage of highs and lows:</a:t>
            </a:r>
          </a:p>
        </p:txBody>
      </p:sp>
      <p:graphicFrame>
        <p:nvGraphicFramePr>
          <p:cNvPr id="42" name="Chart 41">
            <a:extLst>
              <a:ext uri="{FF2B5EF4-FFF2-40B4-BE49-F238E27FC236}">
                <a16:creationId xmlns:a16="http://schemas.microsoft.com/office/drawing/2014/main" id="{FABC5CAE-0EFB-3C7A-E3DE-465277489BA4}"/>
              </a:ext>
            </a:extLst>
          </p:cNvPr>
          <p:cNvGraphicFramePr>
            <a:graphicFrameLocks/>
          </p:cNvGraphicFramePr>
          <p:nvPr/>
        </p:nvGraphicFramePr>
        <p:xfrm>
          <a:off x="2530998" y="2546430"/>
          <a:ext cx="6852213" cy="40858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" name="Text Box 11">
            <a:extLst>
              <a:ext uri="{FF2B5EF4-FFF2-40B4-BE49-F238E27FC236}">
                <a16:creationId xmlns:a16="http://schemas.microsoft.com/office/drawing/2014/main" id="{9286232F-0A5A-6684-8B6F-9B3204077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9507" y="3889403"/>
            <a:ext cx="430887" cy="824906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vert="vert270" wrap="none">
            <a:spAutoFit/>
          </a:bodyPr>
          <a:lstStyle>
            <a:lvl1pPr>
              <a:defRPr i="1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i="1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i="1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i="1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i="1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l" eaLnBrk="1" hangingPunct="1"/>
            <a:r>
              <a:rPr lang="en-US" sz="1600" b="1" dirty="0">
                <a:latin typeface="Arial" charset="0"/>
                <a:cs typeface="Arial" charset="0"/>
              </a:rPr>
              <a:t>  Price 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86BD005-AB82-211D-22EE-ADF5F483DD53}"/>
              </a:ext>
            </a:extLst>
          </p:cNvPr>
          <p:cNvGrpSpPr/>
          <p:nvPr/>
        </p:nvGrpSpPr>
        <p:grpSpPr>
          <a:xfrm>
            <a:off x="3112631" y="5604470"/>
            <a:ext cx="580204" cy="369332"/>
            <a:chOff x="1715956" y="5303520"/>
            <a:chExt cx="580204" cy="369332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99C20FD-9A63-D4BC-128A-6705994BC189}"/>
                </a:ext>
              </a:extLst>
            </p:cNvPr>
            <p:cNvCxnSpPr/>
            <p:nvPr/>
          </p:nvCxnSpPr>
          <p:spPr bwMode="auto">
            <a:xfrm>
              <a:off x="1737360" y="532384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88CD465-C244-4824-697D-1FCFDB2F4092}"/>
                </a:ext>
              </a:extLst>
            </p:cNvPr>
            <p:cNvSpPr txBox="1"/>
            <p:nvPr/>
          </p:nvSpPr>
          <p:spPr>
            <a:xfrm>
              <a:off x="1715956" y="5303520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Buy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1E609D8-67E5-1E18-1A68-B387B9676DA4}"/>
              </a:ext>
            </a:extLst>
          </p:cNvPr>
          <p:cNvGrpSpPr/>
          <p:nvPr/>
        </p:nvGrpSpPr>
        <p:grpSpPr>
          <a:xfrm>
            <a:off x="3463401" y="4512224"/>
            <a:ext cx="558800" cy="369332"/>
            <a:chOff x="2032000" y="4072374"/>
            <a:chExt cx="558800" cy="369332"/>
          </a:xfrm>
        </p:grpSpPr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6536A9C-9D8E-C635-9B47-36C036060451}"/>
                </a:ext>
              </a:extLst>
            </p:cNvPr>
            <p:cNvCxnSpPr/>
            <p:nvPr/>
          </p:nvCxnSpPr>
          <p:spPr bwMode="auto">
            <a:xfrm>
              <a:off x="2032000" y="441960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E23CEDE-8A2B-9E96-F301-EA397428BC94}"/>
                </a:ext>
              </a:extLst>
            </p:cNvPr>
            <p:cNvSpPr txBox="1"/>
            <p:nvPr/>
          </p:nvSpPr>
          <p:spPr>
            <a:xfrm>
              <a:off x="2037985" y="4072374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Sell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921CBC1-E073-8A96-6B53-676B48CEF298}"/>
              </a:ext>
            </a:extLst>
          </p:cNvPr>
          <p:cNvGrpSpPr/>
          <p:nvPr/>
        </p:nvGrpSpPr>
        <p:grpSpPr>
          <a:xfrm>
            <a:off x="4122952" y="5800874"/>
            <a:ext cx="580204" cy="369332"/>
            <a:chOff x="1715956" y="5303520"/>
            <a:chExt cx="580204" cy="369332"/>
          </a:xfrm>
        </p:grpSpPr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BD078FC5-464F-B922-117E-7F859BA81C0A}"/>
                </a:ext>
              </a:extLst>
            </p:cNvPr>
            <p:cNvCxnSpPr/>
            <p:nvPr/>
          </p:nvCxnSpPr>
          <p:spPr bwMode="auto">
            <a:xfrm>
              <a:off x="1737360" y="532384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08BC099-C529-22F9-1D73-91172D84F6EC}"/>
                </a:ext>
              </a:extLst>
            </p:cNvPr>
            <p:cNvSpPr txBox="1"/>
            <p:nvPr/>
          </p:nvSpPr>
          <p:spPr>
            <a:xfrm>
              <a:off x="1715956" y="5303520"/>
              <a:ext cx="5437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Buy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9CFB787-7F15-22AD-D91F-0C21EFE2F0B5}"/>
              </a:ext>
            </a:extLst>
          </p:cNvPr>
          <p:cNvGrpSpPr/>
          <p:nvPr/>
        </p:nvGrpSpPr>
        <p:grpSpPr>
          <a:xfrm>
            <a:off x="4437008" y="4463372"/>
            <a:ext cx="558800" cy="369332"/>
            <a:chOff x="2032000" y="4072374"/>
            <a:chExt cx="558800" cy="369332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FC96857-4D1C-4406-C7BF-AAA471E77A7D}"/>
                </a:ext>
              </a:extLst>
            </p:cNvPr>
            <p:cNvCxnSpPr/>
            <p:nvPr/>
          </p:nvCxnSpPr>
          <p:spPr bwMode="auto">
            <a:xfrm>
              <a:off x="2032000" y="441960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7D349C6-7854-7601-EDF8-8D0FC88050BB}"/>
                </a:ext>
              </a:extLst>
            </p:cNvPr>
            <p:cNvSpPr txBox="1"/>
            <p:nvPr/>
          </p:nvSpPr>
          <p:spPr>
            <a:xfrm>
              <a:off x="2037985" y="4072374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Sell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6ED899A-1518-6B67-1D80-7B3E469FD5FE}"/>
              </a:ext>
            </a:extLst>
          </p:cNvPr>
          <p:cNvGrpSpPr/>
          <p:nvPr/>
        </p:nvGrpSpPr>
        <p:grpSpPr>
          <a:xfrm>
            <a:off x="4971550" y="5519176"/>
            <a:ext cx="580204" cy="369332"/>
            <a:chOff x="3389675" y="5681226"/>
            <a:chExt cx="580204" cy="369332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0C130FC-4DE6-55B1-CD4A-8D362F66065F}"/>
                </a:ext>
              </a:extLst>
            </p:cNvPr>
            <p:cNvSpPr txBox="1"/>
            <p:nvPr/>
          </p:nvSpPr>
          <p:spPr>
            <a:xfrm>
              <a:off x="3389675" y="5681226"/>
              <a:ext cx="5437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Buy</a:t>
              </a:r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D19784A5-1E3E-4746-9601-4B2A4074FE57}"/>
                </a:ext>
              </a:extLst>
            </p:cNvPr>
            <p:cNvCxnSpPr/>
            <p:nvPr/>
          </p:nvCxnSpPr>
          <p:spPr bwMode="auto">
            <a:xfrm>
              <a:off x="3411079" y="5701546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7345E49-C28E-D7B8-516B-F60748B17935}"/>
              </a:ext>
            </a:extLst>
          </p:cNvPr>
          <p:cNvGrpSpPr/>
          <p:nvPr/>
        </p:nvGrpSpPr>
        <p:grpSpPr>
          <a:xfrm>
            <a:off x="5638092" y="4117190"/>
            <a:ext cx="558800" cy="369332"/>
            <a:chOff x="2032000" y="4072374"/>
            <a:chExt cx="558800" cy="369332"/>
          </a:xfrm>
        </p:grpSpPr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6CDB4A3-936F-62C7-F8BE-B6A8E96C1F82}"/>
                </a:ext>
              </a:extLst>
            </p:cNvPr>
            <p:cNvCxnSpPr/>
            <p:nvPr/>
          </p:nvCxnSpPr>
          <p:spPr bwMode="auto">
            <a:xfrm>
              <a:off x="2032000" y="441960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F081CF8-383D-C5F8-AA13-2A230BE77F01}"/>
                </a:ext>
              </a:extLst>
            </p:cNvPr>
            <p:cNvSpPr txBox="1"/>
            <p:nvPr/>
          </p:nvSpPr>
          <p:spPr>
            <a:xfrm>
              <a:off x="2037985" y="4072374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Sell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78A55777-134D-B104-0EC3-8F4A547B9BA4}"/>
              </a:ext>
            </a:extLst>
          </p:cNvPr>
          <p:cNvGrpSpPr/>
          <p:nvPr/>
        </p:nvGrpSpPr>
        <p:grpSpPr>
          <a:xfrm>
            <a:off x="6168509" y="5868004"/>
            <a:ext cx="580204" cy="369332"/>
            <a:chOff x="3389675" y="5681226"/>
            <a:chExt cx="580204" cy="3693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E485B0C-EBD3-5253-4254-1D0F12A9E8A9}"/>
                </a:ext>
              </a:extLst>
            </p:cNvPr>
            <p:cNvSpPr txBox="1"/>
            <p:nvPr/>
          </p:nvSpPr>
          <p:spPr>
            <a:xfrm>
              <a:off x="3389675" y="5681226"/>
              <a:ext cx="5437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Buy</a:t>
              </a:r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A971FA8-8710-AAE1-583A-5DF827E913FA}"/>
                </a:ext>
              </a:extLst>
            </p:cNvPr>
            <p:cNvCxnSpPr/>
            <p:nvPr/>
          </p:nvCxnSpPr>
          <p:spPr bwMode="auto">
            <a:xfrm>
              <a:off x="3411079" y="5701546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55FB397-AFA4-897B-1929-361A48F0C831}"/>
              </a:ext>
            </a:extLst>
          </p:cNvPr>
          <p:cNvGrpSpPr/>
          <p:nvPr/>
        </p:nvGrpSpPr>
        <p:grpSpPr>
          <a:xfrm>
            <a:off x="6850857" y="2815339"/>
            <a:ext cx="558800" cy="369332"/>
            <a:chOff x="2032000" y="4072374"/>
            <a:chExt cx="558800" cy="369332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259D44D-5A95-BEFA-0397-CF0FDC8A5600}"/>
                </a:ext>
              </a:extLst>
            </p:cNvPr>
            <p:cNvCxnSpPr/>
            <p:nvPr/>
          </p:nvCxnSpPr>
          <p:spPr bwMode="auto">
            <a:xfrm>
              <a:off x="2032000" y="441960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A4A8833-5C89-0BE8-DF13-B9881DCD30FF}"/>
                </a:ext>
              </a:extLst>
            </p:cNvPr>
            <p:cNvSpPr txBox="1"/>
            <p:nvPr/>
          </p:nvSpPr>
          <p:spPr>
            <a:xfrm>
              <a:off x="2037985" y="4072374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Sell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DAC334D-931C-9333-1A4A-FFB6FDFFF318}"/>
              </a:ext>
            </a:extLst>
          </p:cNvPr>
          <p:cNvGrpSpPr/>
          <p:nvPr/>
        </p:nvGrpSpPr>
        <p:grpSpPr>
          <a:xfrm>
            <a:off x="7125506" y="5752764"/>
            <a:ext cx="580204" cy="369332"/>
            <a:chOff x="3389675" y="5681226"/>
            <a:chExt cx="580204" cy="369332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620CCDA-4E90-F959-1C0C-215E001051E3}"/>
                </a:ext>
              </a:extLst>
            </p:cNvPr>
            <p:cNvSpPr txBox="1"/>
            <p:nvPr/>
          </p:nvSpPr>
          <p:spPr>
            <a:xfrm>
              <a:off x="3389675" y="5681226"/>
              <a:ext cx="5437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Buy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C9351D9-835C-7D4B-30DF-10340D5AF40E}"/>
                </a:ext>
              </a:extLst>
            </p:cNvPr>
            <p:cNvCxnSpPr/>
            <p:nvPr/>
          </p:nvCxnSpPr>
          <p:spPr bwMode="auto">
            <a:xfrm>
              <a:off x="3411079" y="5701546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F77C106-6405-446B-C189-B62952576195}"/>
              </a:ext>
            </a:extLst>
          </p:cNvPr>
          <p:cNvGrpSpPr/>
          <p:nvPr/>
        </p:nvGrpSpPr>
        <p:grpSpPr>
          <a:xfrm>
            <a:off x="7633790" y="4625422"/>
            <a:ext cx="558800" cy="369332"/>
            <a:chOff x="2032000" y="4072374"/>
            <a:chExt cx="558800" cy="369332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035C457-65B1-3BC7-2F62-35B4EA5E966C}"/>
                </a:ext>
              </a:extLst>
            </p:cNvPr>
            <p:cNvCxnSpPr/>
            <p:nvPr/>
          </p:nvCxnSpPr>
          <p:spPr bwMode="auto">
            <a:xfrm>
              <a:off x="2032000" y="441960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5B39C8C-7C7B-3A52-39AE-B7F088297007}"/>
                </a:ext>
              </a:extLst>
            </p:cNvPr>
            <p:cNvSpPr txBox="1"/>
            <p:nvPr/>
          </p:nvSpPr>
          <p:spPr>
            <a:xfrm>
              <a:off x="2037985" y="4072374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Sell</a:t>
              </a: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FEA4D45-2D91-1D4B-34E4-78B9E53005B2}"/>
              </a:ext>
            </a:extLst>
          </p:cNvPr>
          <p:cNvGrpSpPr/>
          <p:nvPr/>
        </p:nvGrpSpPr>
        <p:grpSpPr>
          <a:xfrm>
            <a:off x="8202246" y="5954859"/>
            <a:ext cx="580204" cy="369332"/>
            <a:chOff x="3389675" y="5681226"/>
            <a:chExt cx="580204" cy="369332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0CDE42D-223C-C9D6-620B-7CFCEEE4450F}"/>
                </a:ext>
              </a:extLst>
            </p:cNvPr>
            <p:cNvSpPr txBox="1"/>
            <p:nvPr/>
          </p:nvSpPr>
          <p:spPr>
            <a:xfrm>
              <a:off x="3389675" y="5681226"/>
              <a:ext cx="54373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Buy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E3E5E71A-566C-783A-3DFD-D1C338C94035}"/>
                </a:ext>
              </a:extLst>
            </p:cNvPr>
            <p:cNvCxnSpPr/>
            <p:nvPr/>
          </p:nvCxnSpPr>
          <p:spPr bwMode="auto">
            <a:xfrm>
              <a:off x="3411079" y="5701546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91C0DC0-E2CF-9904-B712-ACFF9036A4B8}"/>
              </a:ext>
            </a:extLst>
          </p:cNvPr>
          <p:cNvGrpSpPr/>
          <p:nvPr/>
        </p:nvGrpSpPr>
        <p:grpSpPr>
          <a:xfrm>
            <a:off x="8551503" y="4410076"/>
            <a:ext cx="558800" cy="369332"/>
            <a:chOff x="2032000" y="4072374"/>
            <a:chExt cx="558800" cy="369332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C85C8D1-9EFC-DA47-F341-766511BB7678}"/>
                </a:ext>
              </a:extLst>
            </p:cNvPr>
            <p:cNvCxnSpPr/>
            <p:nvPr/>
          </p:nvCxnSpPr>
          <p:spPr bwMode="auto">
            <a:xfrm>
              <a:off x="2032000" y="4419600"/>
              <a:ext cx="558800" cy="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FA20CD1D-2DBA-2F15-63A7-1F46D7BC5CC0}"/>
                </a:ext>
              </a:extLst>
            </p:cNvPr>
            <p:cNvSpPr txBox="1"/>
            <p:nvPr/>
          </p:nvSpPr>
          <p:spPr>
            <a:xfrm>
              <a:off x="2037985" y="4072374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Sell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798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1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2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3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1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9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7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5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3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5457825" y="1308101"/>
            <a:ext cx="3974228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dirty="0">
                <a:latin typeface="Times New Roman" panose="02020603050405020304" pitchFamily="18" charset="0"/>
              </a:rPr>
              <a:t>Don’t gamble; take all your savings and buy some good stock and hold it till it goes up, then sell it.  If it don’t go up, don’t buy it.</a:t>
            </a:r>
          </a:p>
          <a:p>
            <a:pPr algn="l" eaLnBrk="1" hangingPunct="1"/>
            <a:endParaRPr lang="en-US" altLang="en-US" sz="2000" b="1" dirty="0"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en-US" sz="2000" b="1" dirty="0">
                <a:latin typeface="Times New Roman" panose="02020603050405020304" pitchFamily="18" charset="0"/>
              </a:rPr>
              <a:t>                                                                               Will Rogers</a:t>
            </a:r>
          </a:p>
        </p:txBody>
      </p:sp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1249364"/>
            <a:ext cx="30765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</p:pic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2309813" y="5356226"/>
            <a:ext cx="71945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2000" b="1" dirty="0">
                <a:latin typeface="Times New Roman" panose="02020603050405020304" pitchFamily="18" charset="0"/>
              </a:rPr>
              <a:t>It is not enough to mix “optimization” (intelligent decision making) and uncertainty.  You have to be sure that each decision has access to the information available at the time.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</p:spTree>
    <p:extLst>
      <p:ext uri="{BB962C8B-B14F-4D97-AF65-F5344CB8AC3E}">
        <p14:creationId xmlns:p14="http://schemas.microsoft.com/office/powerpoint/2010/main" val="256441651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901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485450"/>
            <a:ext cx="9144000" cy="4861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747" y="1478196"/>
            <a:ext cx="9144000" cy="48616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727" y="2627082"/>
            <a:ext cx="846457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641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>
          <a:xfrm>
            <a:off x="596224" y="1067820"/>
            <a:ext cx="10363200" cy="4401600"/>
          </a:xfrm>
        </p:spPr>
        <p:txBody>
          <a:bodyPr/>
          <a:lstStyle/>
          <a:p>
            <a:pPr marL="86360" indent="0">
              <a:buNone/>
            </a:pPr>
            <a:r>
              <a:rPr lang="en-US" dirty="0"/>
              <a:t>The value of knowing the future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2255520" y="1849120"/>
          <a:ext cx="7691120" cy="4348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7111" name="Straight Connector 9"/>
          <p:cNvCxnSpPr>
            <a:cxnSpLocks noChangeShapeType="1"/>
          </p:cNvCxnSpPr>
          <p:nvPr/>
        </p:nvCxnSpPr>
        <p:spPr bwMode="auto">
          <a:xfrm>
            <a:off x="5354639" y="2794000"/>
            <a:ext cx="3392487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" name="Group 1"/>
          <p:cNvGrpSpPr/>
          <p:nvPr/>
        </p:nvGrpSpPr>
        <p:grpSpPr>
          <a:xfrm>
            <a:off x="8112126" y="2795588"/>
            <a:ext cx="857927" cy="1161732"/>
            <a:chOff x="6588125" y="2795588"/>
            <a:chExt cx="857927" cy="1161732"/>
          </a:xfrm>
        </p:grpSpPr>
        <p:cxnSp>
          <p:nvCxnSpPr>
            <p:cNvPr id="47112" name="Straight Arrow Connector 11"/>
            <p:cNvCxnSpPr>
              <a:cxnSpLocks noChangeShapeType="1"/>
            </p:cNvCxnSpPr>
            <p:nvPr/>
          </p:nvCxnSpPr>
          <p:spPr bwMode="auto">
            <a:xfrm>
              <a:off x="6588125" y="2795588"/>
              <a:ext cx="0" cy="1161732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7113" name="TextBox 12"/>
            <p:cNvSpPr txBox="1">
              <a:spLocks noChangeArrowheads="1"/>
            </p:cNvSpPr>
            <p:nvPr/>
          </p:nvSpPr>
          <p:spPr bwMode="auto">
            <a:xfrm>
              <a:off x="6588125" y="3089275"/>
              <a:ext cx="85792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i="1">
                  <a:solidFill>
                    <a:schemeClr val="tx1"/>
                  </a:solidFill>
                  <a:latin typeface="Times New Roman" pitchFamily="18" charset="0"/>
                </a:defRPr>
              </a:lvl1pPr>
              <a:lvl2pPr marL="742950" indent="-285750">
                <a:defRPr i="1">
                  <a:solidFill>
                    <a:schemeClr val="tx1"/>
                  </a:solidFill>
                  <a:latin typeface="Times New Roman" pitchFamily="18" charset="0"/>
                </a:defRPr>
              </a:lvl2pPr>
              <a:lvl3pPr marL="1143000" indent="-228600">
                <a:defRPr i="1">
                  <a:solidFill>
                    <a:schemeClr val="tx1"/>
                  </a:solidFill>
                  <a:latin typeface="Times New Roman" pitchFamily="18" charset="0"/>
                </a:defRPr>
              </a:lvl3pPr>
              <a:lvl4pPr marL="1600200" indent="-228600">
                <a:defRPr i="1">
                  <a:solidFill>
                    <a:schemeClr val="tx1"/>
                  </a:solidFill>
                  <a:latin typeface="Times New Roman" pitchFamily="18" charset="0"/>
                </a:defRPr>
              </a:lvl4pPr>
              <a:lvl5pPr marL="2057400" indent="-228600">
                <a:defRPr i="1">
                  <a:solidFill>
                    <a:schemeClr val="tx1"/>
                  </a:solidFill>
                  <a:latin typeface="Times New Roman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i="1">
                  <a:solidFill>
                    <a:schemeClr val="tx1"/>
                  </a:solidFill>
                  <a:latin typeface="Times New Roman" pitchFamily="18" charset="0"/>
                </a:defRPr>
              </a:lvl9pPr>
            </a:lstStyle>
            <a:p>
              <a:r>
                <a:rPr lang="en-US" dirty="0"/>
                <a:t>$389,000</a:t>
              </a:r>
            </a:p>
          </p:txBody>
        </p:sp>
      </p:grpSp>
      <p:grpSp>
        <p:nvGrpSpPr>
          <p:cNvPr id="47119" name="Group 15"/>
          <p:cNvGrpSpPr>
            <a:grpSpLocks/>
          </p:cNvGrpSpPr>
          <p:nvPr/>
        </p:nvGrpSpPr>
        <p:grpSpPr bwMode="auto">
          <a:xfrm>
            <a:off x="2016125" y="3463926"/>
            <a:ext cx="6719888" cy="523875"/>
            <a:chOff x="310" y="2182"/>
            <a:chExt cx="4233" cy="330"/>
          </a:xfrm>
        </p:grpSpPr>
        <p:sp>
          <p:nvSpPr>
            <p:cNvPr id="47117" name="Line 13"/>
            <p:cNvSpPr>
              <a:spLocks noChangeShapeType="1"/>
            </p:cNvSpPr>
            <p:nvPr/>
          </p:nvSpPr>
          <p:spPr bwMode="auto">
            <a:xfrm>
              <a:off x="832" y="2392"/>
              <a:ext cx="37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118" name="Text Box 14"/>
            <p:cNvSpPr txBox="1">
              <a:spLocks noChangeArrowheads="1"/>
            </p:cNvSpPr>
            <p:nvPr/>
          </p:nvSpPr>
          <p:spPr bwMode="auto">
            <a:xfrm>
              <a:off x="310" y="2182"/>
              <a:ext cx="47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 type="none" w="med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/>
                <a:t>Cost of</a:t>
              </a:r>
            </a:p>
            <a:p>
              <a:r>
                <a:rPr lang="en-US"/>
                <a:t>battery</a:t>
              </a:r>
            </a:p>
          </p:txBody>
        </p:sp>
      </p:grpSp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3752798" y="5944462"/>
            <a:ext cx="2075180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r>
              <a:rPr lang="en-US" dirty="0"/>
              <a:t>Will Rogers policy</a:t>
            </a:r>
          </a:p>
        </p:txBody>
      </p:sp>
      <p:sp>
        <p:nvSpPr>
          <p:cNvPr id="47116" name="Text Box 12"/>
          <p:cNvSpPr txBox="1">
            <a:spLocks noChangeArrowheads="1"/>
          </p:cNvSpPr>
          <p:nvPr/>
        </p:nvSpPr>
        <p:spPr bwMode="auto">
          <a:xfrm>
            <a:off x="7556173" y="5913174"/>
            <a:ext cx="1091966" cy="30777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Valid policy</a:t>
            </a:r>
          </a:p>
        </p:txBody>
      </p:sp>
    </p:spTree>
    <p:extLst>
      <p:ext uri="{BB962C8B-B14F-4D97-AF65-F5344CB8AC3E}">
        <p14:creationId xmlns:p14="http://schemas.microsoft.com/office/powerpoint/2010/main" val="408129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0650"/>
          <a:stretch/>
        </p:blipFill>
        <p:spPr>
          <a:xfrm>
            <a:off x="2060680" y="1143001"/>
            <a:ext cx="8428450" cy="5420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9E78E96-3063-419E-94B3-E8690FEFF063}"/>
              </a:ext>
            </a:extLst>
          </p:cNvPr>
          <p:cNvSpPr/>
          <p:nvPr/>
        </p:nvSpPr>
        <p:spPr>
          <a:xfrm>
            <a:off x="1722818" y="3415842"/>
            <a:ext cx="8818885" cy="524667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813" y="3415841"/>
            <a:ext cx="7336374" cy="30744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Group 5"/>
          <p:cNvGrpSpPr/>
          <p:nvPr/>
        </p:nvGrpSpPr>
        <p:grpSpPr>
          <a:xfrm>
            <a:off x="4153727" y="3508850"/>
            <a:ext cx="1928733" cy="1328626"/>
            <a:chOff x="2649824" y="2835924"/>
            <a:chExt cx="1928733" cy="1328626"/>
          </a:xfrm>
        </p:grpSpPr>
        <p:sp>
          <p:nvSpPr>
            <p:cNvPr id="7" name="Oval 6"/>
            <p:cNvSpPr/>
            <p:nvPr/>
          </p:nvSpPr>
          <p:spPr>
            <a:xfrm>
              <a:off x="3654979" y="2835924"/>
              <a:ext cx="457200" cy="624066"/>
            </a:xfrm>
            <a:prstGeom prst="ellipse">
              <a:avLst/>
            </a:prstGeom>
            <a:ln w="19050">
              <a:solidFill>
                <a:srgbClr val="0033CC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49824" y="3795218"/>
              <a:ext cx="1928733" cy="369332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sz="1800" i="0" dirty="0">
                  <a:solidFill>
                    <a:srgbClr val="0033CC"/>
                  </a:solidFill>
                </a:rPr>
                <a:t>Stochastic prices</a:t>
              </a:r>
            </a:p>
          </p:txBody>
        </p:sp>
        <p:cxnSp>
          <p:nvCxnSpPr>
            <p:cNvPr id="9" name="Straight Arrow Connector 8"/>
            <p:cNvCxnSpPr>
              <a:stCxn id="8" idx="0"/>
              <a:endCxn id="7" idx="4"/>
            </p:cNvCxnSpPr>
            <p:nvPr/>
          </p:nvCxnSpPr>
          <p:spPr bwMode="auto">
            <a:xfrm flipV="1">
              <a:off x="3614191" y="3459990"/>
              <a:ext cx="269388" cy="335228"/>
            </a:xfrm>
            <a:prstGeom prst="straightConnector1">
              <a:avLst/>
            </a:pr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grpSp>
        <p:nvGrpSpPr>
          <p:cNvPr id="11" name="Group 10"/>
          <p:cNvGrpSpPr/>
          <p:nvPr/>
        </p:nvGrpSpPr>
        <p:grpSpPr>
          <a:xfrm>
            <a:off x="5616381" y="3530621"/>
            <a:ext cx="3844057" cy="1328626"/>
            <a:chOff x="1271308" y="2835924"/>
            <a:chExt cx="3844057" cy="1328626"/>
          </a:xfrm>
        </p:grpSpPr>
        <p:sp>
          <p:nvSpPr>
            <p:cNvPr id="12" name="Oval 11"/>
            <p:cNvSpPr/>
            <p:nvPr/>
          </p:nvSpPr>
          <p:spPr>
            <a:xfrm>
              <a:off x="1271308" y="2835924"/>
              <a:ext cx="3179276" cy="624066"/>
            </a:xfrm>
            <a:prstGeom prst="ellipse">
              <a:avLst/>
            </a:prstGeom>
            <a:ln w="19050">
              <a:solidFill>
                <a:srgbClr val="0033CC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083766" y="3795218"/>
              <a:ext cx="3031599" cy="369332"/>
            </a:xfrm>
            <a:prstGeom prst="rect">
              <a:avLst/>
            </a:prstGeom>
            <a:noFill/>
            <a:ln>
              <a:solidFill>
                <a:srgbClr val="0033CC"/>
              </a:solidFill>
            </a:ln>
          </p:spPr>
          <p:txBody>
            <a:bodyPr wrap="none" rtlCol="0">
              <a:spAutoFit/>
            </a:bodyPr>
            <a:lstStyle/>
            <a:p>
              <a:pPr algn="l"/>
              <a:r>
                <a:rPr lang="en-US" sz="1800" i="0" dirty="0">
                  <a:solidFill>
                    <a:srgbClr val="0033CC"/>
                  </a:solidFill>
                </a:rPr>
                <a:t>Charge/discharge decisions</a:t>
              </a:r>
            </a:p>
          </p:txBody>
        </p:sp>
        <p:cxnSp>
          <p:nvCxnSpPr>
            <p:cNvPr id="14" name="Straight Arrow Connector 13"/>
            <p:cNvCxnSpPr>
              <a:stCxn id="13" idx="0"/>
              <a:endCxn id="12" idx="4"/>
            </p:cNvCxnSpPr>
            <p:nvPr/>
          </p:nvCxnSpPr>
          <p:spPr bwMode="auto">
            <a:xfrm flipH="1" flipV="1">
              <a:off x="2860946" y="3459990"/>
              <a:ext cx="738620" cy="335228"/>
            </a:xfrm>
            <a:prstGeom prst="straightConnector1">
              <a:avLst/>
            </a:prstGeom>
            <a:noFill/>
            <a:ln w="1270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068D9F1-C738-4BDC-9D5E-EAA273C35D0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712843" y="31654"/>
            <a:ext cx="8766313" cy="2912164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3C55D241-C6C2-48CF-A6B6-276C46404A40}"/>
              </a:ext>
            </a:extLst>
          </p:cNvPr>
          <p:cNvGrpSpPr/>
          <p:nvPr/>
        </p:nvGrpSpPr>
        <p:grpSpPr>
          <a:xfrm>
            <a:off x="5164978" y="1442035"/>
            <a:ext cx="457200" cy="2057069"/>
            <a:chOff x="5164978" y="1442035"/>
            <a:chExt cx="457200" cy="2057069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C5F5610-FC53-4FCB-BF92-FB798589D705}"/>
                </a:ext>
              </a:extLst>
            </p:cNvPr>
            <p:cNvSpPr/>
            <p:nvPr/>
          </p:nvSpPr>
          <p:spPr>
            <a:xfrm>
              <a:off x="5164978" y="1442035"/>
              <a:ext cx="457200" cy="860840"/>
            </a:xfrm>
            <a:prstGeom prst="ellipse">
              <a:avLst/>
            </a:prstGeom>
            <a:ln w="28575">
              <a:solidFill>
                <a:schemeClr val="bg1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86C47E2-C156-4F45-9A93-552D9FCAC500}"/>
                </a:ext>
              </a:extLst>
            </p:cNvPr>
            <p:cNvGrpSpPr/>
            <p:nvPr/>
          </p:nvGrpSpPr>
          <p:grpSpPr>
            <a:xfrm>
              <a:off x="5384434" y="2281104"/>
              <a:ext cx="3048" cy="1218000"/>
              <a:chOff x="5384434" y="2281104"/>
              <a:chExt cx="3048" cy="1218000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CD67BCDE-19EB-4A8C-8A2D-EFA47733BE6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387482" y="2281104"/>
                <a:ext cx="0" cy="800424"/>
              </a:xfrm>
              <a:prstGeom prst="line">
                <a:avLst/>
              </a:prstGeom>
              <a:noFill/>
              <a:ln w="2857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7FB390F-CE4B-4A48-A7FB-F62A940E868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384434" y="3081528"/>
                <a:ext cx="0" cy="417576"/>
              </a:xfrm>
              <a:prstGeom prst="line">
                <a:avLst/>
              </a:prstGeom>
              <a:noFill/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</p:spPr>
          </p:cxn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DE0430D-D6FF-A149-989D-55D8ACA17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1700" y="353850"/>
            <a:ext cx="8283900" cy="550500"/>
          </a:xfrm>
        </p:spPr>
        <p:txBody>
          <a:bodyPr/>
          <a:lstStyle/>
          <a:p>
            <a:r>
              <a:rPr lang="en-US" dirty="0"/>
              <a:t>Modeling matters</a:t>
            </a:r>
          </a:p>
        </p:txBody>
      </p:sp>
    </p:spTree>
    <p:extLst>
      <p:ext uri="{BB962C8B-B14F-4D97-AF65-F5344CB8AC3E}">
        <p14:creationId xmlns:p14="http://schemas.microsoft.com/office/powerpoint/2010/main" val="382775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E541-9567-67D4-B252-8418F7081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7CD0B-7856-B598-FE9C-8C5BBB51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CC21F-A0CD-290B-4163-9E916F722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5F17E5F-0FFC-9118-7423-BD236F45232E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E7F563-2F83-3741-9392-A2133055B810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603D87-3D8C-CC8B-C44F-CDD25A9291E5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52A6E9-1C1A-3CD5-B1D7-F1FE8EA472A8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33995E6-3719-EBE6-4676-EEF8B997BBC5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5C9AE19-55B6-BC26-ED06-22A57284F7EE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2CED4E-1A91-82D8-7E8C-B379D985C8BE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027F13-B371-9C1A-103B-EBFDB2D8E051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CA7EAC6-E7FC-ED0F-BA3D-2051FF1C8149}"/>
              </a:ext>
            </a:extLst>
          </p:cNvPr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4A79567-B220-0370-0BAA-17793F8A2C50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247045-15CD-C17F-2AD3-4A88C7DE052E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E46E670-5499-EDAC-E8BA-6616E762F347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2BC44B-DEF9-07EA-684F-13D0C0252E31}"/>
              </a:ext>
            </a:extLst>
          </p:cNvPr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D59CB1-ED52-B06B-031E-ED2C687A856F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794C9EF-F8AF-A8F7-1093-3DAA6BB8D43E}"/>
              </a:ext>
            </a:extLst>
          </p:cNvPr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D57434E-6C23-5B3E-D1AD-D55F67C7E08C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3559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3B636D3A-471E-7C66-20F7-44D33008FD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560" imgH="152280" progId="Equation.DSMT4">
                  <p:embed/>
                </p:oleObj>
              </mc:Choice>
              <mc:Fallback>
                <p:oleObj name="Equation" r:id="rId3" imgW="88560" imgH="152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234AB6ED-3C51-F759-5321-55043E4D74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177480" progId="Equation.DSMT4">
                  <p:embed/>
                </p:oleObj>
              </mc:Choice>
              <mc:Fallback>
                <p:oleObj name="Equation" r:id="rId5" imgW="279360" imgH="177480" progId="Equation.DSMT4">
                  <p:embed/>
                  <p:pic>
                    <p:nvPicPr>
                      <p:cNvPr id="4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2E3C33B0-54A2-488C-1AA2-45C326598B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177480" progId="Equation.DSMT4">
                  <p:embed/>
                </p:oleObj>
              </mc:Choice>
              <mc:Fallback>
                <p:oleObj name="Equation" r:id="rId7" imgW="304560" imgH="17748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24815BED-3DF5-F6B1-4862-DC49BCB9B6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60" imgH="177480" progId="Equation.DSMT4">
                  <p:embed/>
                </p:oleObj>
              </mc:Choice>
              <mc:Fallback>
                <p:oleObj name="Equation" r:id="rId9" imgW="291960" imgH="177480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726FE41-BE65-5549-5AE8-FA4695A4BCFE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102CFF4-138C-0A9A-93A6-787C240EAFA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9765690">
            <a:off x="2184600" y="3540043"/>
            <a:ext cx="4099526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126717"/>
      </p:ext>
    </p:extLst>
  </p:cSld>
  <p:clrMapOvr>
    <a:masterClrMapping/>
  </p:clrMapOvr>
  <p:transition spd="slow">
    <p:wipe dir="r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1BBDA-2504-FB29-2727-B10BF7BE5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406A2-25E1-DAF6-7D7E-87828D53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B1C38-AFDE-6477-A441-F077693D8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62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CAB1754-7C0D-EA0B-552D-6C3BDE89F148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968ECC-3A93-A373-7E45-14771C3E218D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A2EF1A-3CED-26B0-1AC1-1B6C6853AA02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8220CC-3440-CAF4-E8C6-0B5FAC591FE1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1FBCA3-3DEC-C01E-DA21-710336E703DC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A38C11-666A-1EC2-4FA1-902E5A33A941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5D36BE3-744E-93E8-0857-55140ED91E49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03D4200-4047-624D-4314-64AE826D4E52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10A02F5-6938-3711-9AD4-7D7F347A26A9}"/>
              </a:ext>
            </a:extLst>
          </p:cNvPr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D33E2A8-5655-F1A5-DED7-B72E76DD6D59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DE50BA0-4B30-750A-FBAA-65F50F48C4DB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7BB2803-255B-FC41-8239-4FB79C425AC5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68CDCBD-078F-B954-1CA9-8D295D74CBEC}"/>
              </a:ext>
            </a:extLst>
          </p:cNvPr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87F2E21-F01D-ED3A-3AA1-1E0A88AABD70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F3CA426-7924-3762-918F-D23B3BAFA175}"/>
              </a:ext>
            </a:extLst>
          </p:cNvPr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312B1C96-5B5B-4AC9-1F21-AA696A86F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560" imgH="152280" progId="Equation.DSMT4">
                  <p:embed/>
                </p:oleObj>
              </mc:Choice>
              <mc:Fallback>
                <p:oleObj name="Equation" r:id="rId3" imgW="88560" imgH="152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7F004B47-01C8-F7D8-6A71-3D0B2F7DA3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177480" progId="Equation.DSMT4">
                  <p:embed/>
                </p:oleObj>
              </mc:Choice>
              <mc:Fallback>
                <p:oleObj name="Equation" r:id="rId5" imgW="279360" imgH="177480" progId="Equation.DSMT4">
                  <p:embed/>
                  <p:pic>
                    <p:nvPicPr>
                      <p:cNvPr id="4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9D9D5615-E7E2-E786-055F-648F708270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177480" progId="Equation.DSMT4">
                  <p:embed/>
                </p:oleObj>
              </mc:Choice>
              <mc:Fallback>
                <p:oleObj name="Equation" r:id="rId7" imgW="304560" imgH="17748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99D61BB8-C7CB-A25A-1DDC-FB0EA91023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60" imgH="177480" progId="Equation.DSMT4">
                  <p:embed/>
                </p:oleObj>
              </mc:Choice>
              <mc:Fallback>
                <p:oleObj name="Equation" r:id="rId9" imgW="291960" imgH="177480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1DC77A3-23E7-C321-2738-786A7D5EB193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D8B8F46-C1D5-8E15-87A4-598BE25D5A1B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3559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FAD570D-3DDF-252A-FCE3-DDD7A41BC82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9765690">
            <a:off x="3583102" y="3540043"/>
            <a:ext cx="4099526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9785"/>
      </p:ext>
    </p:extLst>
  </p:cSld>
  <p:clrMapOvr>
    <a:masterClrMapping/>
  </p:clrMapOvr>
  <p:transition spd="slow">
    <p:wipe dir="r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4FE9-15B3-7282-A766-5C918E392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5AA8-8443-00AA-246F-41B851D37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2EAF3-C261-9629-5345-FC0D1A24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46" y="1143001"/>
            <a:ext cx="7772400" cy="2659743"/>
          </a:xfrm>
        </p:spPr>
        <p:txBody>
          <a:bodyPr/>
          <a:lstStyle/>
          <a:p>
            <a:pPr marL="86360" indent="0">
              <a:buNone/>
            </a:pPr>
            <a:r>
              <a:rPr lang="en-US" dirty="0" err="1"/>
              <a:t>Lookahead</a:t>
            </a:r>
            <a:r>
              <a:rPr lang="en-US" dirty="0"/>
              <a:t> policies peek into the future</a:t>
            </a:r>
          </a:p>
          <a:p>
            <a:pPr lvl="1"/>
            <a:r>
              <a:rPr lang="en-US" dirty="0"/>
              <a:t>Optimize over deterministic </a:t>
            </a:r>
            <a:r>
              <a:rPr lang="en-US" dirty="0" err="1"/>
              <a:t>lookahead</a:t>
            </a:r>
            <a:r>
              <a:rPr lang="en-US" dirty="0"/>
              <a:t> model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58209F9-16CD-31C0-AA46-E697C8BCEFE1}"/>
              </a:ext>
            </a:extLst>
          </p:cNvPr>
          <p:cNvCxnSpPr/>
          <p:nvPr/>
        </p:nvCxnSpPr>
        <p:spPr bwMode="auto">
          <a:xfrm>
            <a:off x="2207986" y="5368471"/>
            <a:ext cx="7823200" cy="0"/>
          </a:xfrm>
          <a:prstGeom prst="straightConnector1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56944B-6C86-67FA-E878-48603F6FC08A}"/>
              </a:ext>
            </a:extLst>
          </p:cNvPr>
          <p:cNvCxnSpPr/>
          <p:nvPr/>
        </p:nvCxnSpPr>
        <p:spPr bwMode="auto">
          <a:xfrm>
            <a:off x="3630390" y="522332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DEAEDE7-540B-8D72-1FD6-E79B63D78526}"/>
              </a:ext>
            </a:extLst>
          </p:cNvPr>
          <p:cNvCxnSpPr/>
          <p:nvPr/>
        </p:nvCxnSpPr>
        <p:spPr bwMode="auto">
          <a:xfrm>
            <a:off x="2215278" y="52305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A921-6A74-D80E-82B6-2D64C82E7681}"/>
              </a:ext>
            </a:extLst>
          </p:cNvPr>
          <p:cNvCxnSpPr/>
          <p:nvPr/>
        </p:nvCxnSpPr>
        <p:spPr bwMode="auto">
          <a:xfrm>
            <a:off x="5045508" y="5216074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6CFC4EE-044E-CDA5-6D8F-F8AEFFF7C393}"/>
              </a:ext>
            </a:extLst>
          </p:cNvPr>
          <p:cNvCxnSpPr/>
          <p:nvPr/>
        </p:nvCxnSpPr>
        <p:spPr bwMode="auto">
          <a:xfrm>
            <a:off x="6459596" y="5218549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15D9C18-FBC2-AD3E-408F-86CA184F7168}"/>
              </a:ext>
            </a:extLst>
          </p:cNvPr>
          <p:cNvCxnSpPr/>
          <p:nvPr/>
        </p:nvCxnSpPr>
        <p:spPr bwMode="auto">
          <a:xfrm>
            <a:off x="7874714" y="5211295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93E6E8C-22F9-F518-679E-4D936F3C5CE4}"/>
              </a:ext>
            </a:extLst>
          </p:cNvPr>
          <p:cNvCxnSpPr/>
          <p:nvPr/>
        </p:nvCxnSpPr>
        <p:spPr bwMode="auto">
          <a:xfrm>
            <a:off x="9284430" y="5208088"/>
            <a:ext cx="0" cy="290286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EBADC0-5578-A3B0-38E1-A678B6329651}"/>
              </a:ext>
            </a:extLst>
          </p:cNvPr>
          <p:cNvCxnSpPr/>
          <p:nvPr/>
        </p:nvCxnSpPr>
        <p:spPr bwMode="auto">
          <a:xfrm flipV="1">
            <a:off x="22152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1A901425-F108-9F60-A1C0-E010817CF1FE}"/>
              </a:ext>
            </a:extLst>
          </p:cNvPr>
          <p:cNvSpPr txBox="1"/>
          <p:nvPr/>
        </p:nvSpPr>
        <p:spPr>
          <a:xfrm>
            <a:off x="4745648" y="6019801"/>
            <a:ext cx="21996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0" dirty="0"/>
              <a:t>The real process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9EA963-A9E5-D3F0-6092-1804B125C314}"/>
              </a:ext>
            </a:extLst>
          </p:cNvPr>
          <p:cNvCxnSpPr/>
          <p:nvPr/>
        </p:nvCxnSpPr>
        <p:spPr bwMode="auto">
          <a:xfrm flipV="1">
            <a:off x="36376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222C02-E95C-CEED-08F9-BAE7E38CBD8D}"/>
              </a:ext>
            </a:extLst>
          </p:cNvPr>
          <p:cNvCxnSpPr/>
          <p:nvPr/>
        </p:nvCxnSpPr>
        <p:spPr bwMode="auto">
          <a:xfrm flipV="1">
            <a:off x="5047378" y="2832101"/>
            <a:ext cx="4337922" cy="2529117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E2E141B-6584-FA00-67C2-D19EFC984892}"/>
              </a:ext>
            </a:extLst>
          </p:cNvPr>
          <p:cNvCxnSpPr/>
          <p:nvPr/>
        </p:nvCxnSpPr>
        <p:spPr bwMode="auto">
          <a:xfrm flipV="1">
            <a:off x="6482478" y="2984500"/>
            <a:ext cx="4071222" cy="237671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02FE89-C560-3557-C43B-EFBCBF3E121C}"/>
              </a:ext>
            </a:extLst>
          </p:cNvPr>
          <p:cNvSpPr txBox="1"/>
          <p:nvPr/>
        </p:nvSpPr>
        <p:spPr>
          <a:xfrm>
            <a:off x="8784205" y="3949701"/>
            <a:ext cx="12105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0" dirty="0"/>
              <a:t>.  .  .  .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A61C54B-DEE2-90FC-4DAF-A3172A8FB39F}"/>
              </a:ext>
            </a:extLst>
          </p:cNvPr>
          <p:cNvCxnSpPr/>
          <p:nvPr/>
        </p:nvCxnSpPr>
        <p:spPr bwMode="auto">
          <a:xfrm>
            <a:off x="3630390" y="4534475"/>
            <a:ext cx="0" cy="81875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A9AF1182-54DD-7EC9-2481-83A4BD837DB9}"/>
              </a:ext>
            </a:extLst>
          </p:cNvPr>
          <p:cNvSpPr txBox="1"/>
          <p:nvPr/>
        </p:nvSpPr>
        <p:spPr>
          <a:xfrm rot="16200000">
            <a:off x="395944" y="3709659"/>
            <a:ext cx="28472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i="0" dirty="0"/>
              <a:t>The </a:t>
            </a:r>
            <a:r>
              <a:rPr lang="en-US" sz="2400" i="0" dirty="0" err="1"/>
              <a:t>lookahead</a:t>
            </a:r>
            <a:r>
              <a:rPr lang="en-US" sz="2400" i="0" dirty="0"/>
              <a:t> model</a:t>
            </a:r>
          </a:p>
        </p:txBody>
      </p:sp>
      <p:graphicFrame>
        <p:nvGraphicFramePr>
          <p:cNvPr id="47" name="Object 46">
            <a:extLst>
              <a:ext uri="{FF2B5EF4-FFF2-40B4-BE49-F238E27FC236}">
                <a16:creationId xmlns:a16="http://schemas.microsoft.com/office/drawing/2014/main" id="{63801DE0-1BFA-8226-9417-AD2F58FD3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15484" y="5588748"/>
          <a:ext cx="199589" cy="34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8560" imgH="152280" progId="Equation.DSMT4">
                  <p:embed/>
                </p:oleObj>
              </mc:Choice>
              <mc:Fallback>
                <p:oleObj name="Equation" r:id="rId3" imgW="88560" imgH="152280" progId="Equation.DSMT4">
                  <p:embed/>
                  <p:pic>
                    <p:nvPicPr>
                      <p:cNvPr id="47" name="Object 4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5484" y="5588748"/>
                        <a:ext cx="199589" cy="34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9B5CDF94-AC4A-0DB9-5797-651062BACE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13113" y="5545965"/>
          <a:ext cx="625072" cy="40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9360" imgH="177480" progId="Equation.DSMT4">
                  <p:embed/>
                </p:oleObj>
              </mc:Choice>
              <mc:Fallback>
                <p:oleObj name="Equation" r:id="rId5" imgW="279360" imgH="177480" progId="Equation.DSMT4">
                  <p:embed/>
                  <p:pic>
                    <p:nvPicPr>
                      <p:cNvPr id="48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5545965"/>
                        <a:ext cx="625072" cy="400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48">
            <a:extLst>
              <a:ext uri="{FF2B5EF4-FFF2-40B4-BE49-F238E27FC236}">
                <a16:creationId xmlns:a16="http://schemas.microsoft.com/office/drawing/2014/main" id="{8A5E075E-8610-9A4B-5E23-23E3D8571C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6939" y="5546725"/>
          <a:ext cx="6826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4560" imgH="177480" progId="Equation.DSMT4">
                  <p:embed/>
                </p:oleObj>
              </mc:Choice>
              <mc:Fallback>
                <p:oleObj name="Equation" r:id="rId7" imgW="304560" imgH="177480" progId="Equation.DSMT4">
                  <p:embed/>
                  <p:pic>
                    <p:nvPicPr>
                      <p:cNvPr id="4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6939" y="5546725"/>
                        <a:ext cx="6826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>
            <a:extLst>
              <a:ext uri="{FF2B5EF4-FFF2-40B4-BE49-F238E27FC236}">
                <a16:creationId xmlns:a16="http://schemas.microsoft.com/office/drawing/2014/main" id="{66BD902F-D0A4-0218-950E-D2A0248325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81725" y="5546725"/>
          <a:ext cx="6540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60" imgH="177480" progId="Equation.DSMT4">
                  <p:embed/>
                </p:oleObj>
              </mc:Choice>
              <mc:Fallback>
                <p:oleObj name="Equation" r:id="rId9" imgW="291960" imgH="177480" progId="Equation.DSMT4">
                  <p:embed/>
                  <p:pic>
                    <p:nvPicPr>
                      <p:cNvPr id="5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725" y="5546725"/>
                        <a:ext cx="654050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6AC7063-313F-7876-9814-A7566DCDC4C8}"/>
              </a:ext>
            </a:extLst>
          </p:cNvPr>
          <p:cNvCxnSpPr/>
          <p:nvPr/>
        </p:nvCxnSpPr>
        <p:spPr bwMode="auto">
          <a:xfrm>
            <a:off x="5043698" y="3721101"/>
            <a:ext cx="0" cy="161943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A33804B-83B3-0850-BE18-7CE93E76B4AF}"/>
              </a:ext>
            </a:extLst>
          </p:cNvPr>
          <p:cNvCxnSpPr>
            <a:cxnSpLocks/>
          </p:cNvCxnSpPr>
          <p:nvPr/>
        </p:nvCxnSpPr>
        <p:spPr bwMode="auto">
          <a:xfrm flipV="1">
            <a:off x="2213559" y="2472872"/>
            <a:ext cx="1814" cy="2735216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964212E-92F4-CD5B-AEA0-912F88F1E40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9765690">
            <a:off x="4960085" y="3540043"/>
            <a:ext cx="4099526" cy="57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5207"/>
      </p:ext>
    </p:extLst>
  </p:cSld>
  <p:clrMapOvr>
    <a:masterClrMapping/>
  </p:clrMapOvr>
  <p:transition spd="slow">
    <p:wipe dir="r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0092" y="1109221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000" dirty="0"/>
                  <a:t>Imagine that you would like to solve the time-dependent linear program:</a:t>
                </a:r>
              </a:p>
              <a:p>
                <a:pPr lvl="1"/>
                <a:endParaRPr lang="en-US" sz="1800" dirty="0"/>
              </a:p>
              <a:p>
                <a:pPr lvl="1"/>
                <a:endParaRPr lang="en-US" sz="1800" dirty="0"/>
              </a:p>
              <a:p>
                <a:pPr lvl="1"/>
                <a:r>
                  <a:rPr lang="en-US" sz="1800" dirty="0"/>
                  <a:t>subject to</a:t>
                </a:r>
              </a:p>
              <a:p>
                <a:pPr lvl="2"/>
                <a:endParaRPr lang="en-US" sz="1600" dirty="0"/>
              </a:p>
              <a:p>
                <a:pPr lvl="1"/>
                <a:endParaRPr lang="en-US" sz="1800" dirty="0"/>
              </a:p>
              <a:p>
                <a:pPr lvl="2"/>
                <a:endParaRPr lang="en-US" sz="1100" dirty="0"/>
              </a:p>
              <a:p>
                <a:pPr lvl="2"/>
                <a:endParaRPr lang="en-US" sz="1200" dirty="0"/>
              </a:p>
              <a:p>
                <a:r>
                  <a:rPr lang="en-US" sz="2000" dirty="0"/>
                  <a:t>We can fix this by 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endParaRPr lang="en-US" sz="2000" dirty="0"/>
              </a:p>
              <a:p>
                <a:pPr marL="8636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1800" dirty="0"/>
                  <a:t>The dynamics are modeled in the transition function: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92" y="1109221"/>
                <a:ext cx="10363200" cy="4401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>
              <a:xfrm>
                <a:off x="2790825" y="1472244"/>
                <a:ext cx="2095500" cy="86836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825" y="1472244"/>
                <a:ext cx="2095500" cy="868363"/>
              </a:xfrm>
              <a:prstGeom prst="rect">
                <a:avLst/>
              </a:prstGeom>
              <a:blipFill>
                <a:blip r:embed="rId4"/>
                <a:stretch>
                  <a:fillRect b="-3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>
              <a:xfrm>
                <a:off x="2698749" y="2673350"/>
                <a:ext cx="4090239" cy="7556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≥1.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749" y="2673350"/>
                <a:ext cx="4090239" cy="7556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2630487" y="3854392"/>
                <a:ext cx="2778274" cy="8683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fName>
                        <m:e>
                          <m: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0487" y="3854392"/>
                <a:ext cx="2778274" cy="868363"/>
              </a:xfrm>
              <a:prstGeom prst="rect">
                <a:avLst/>
              </a:prstGeom>
              <a:blipFill>
                <a:blip r:embed="rId6"/>
                <a:stretch>
                  <a:fillRect b="-34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/>
              <p:cNvSpPr txBox="1"/>
              <p:nvPr/>
            </p:nvSpPr>
            <p:spPr bwMode="auto">
              <a:xfrm>
                <a:off x="2517774" y="5522913"/>
                <a:ext cx="4164379" cy="48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7774" y="5522913"/>
                <a:ext cx="4164379" cy="482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F20ECC9E-15EE-861E-25BB-A173920E0AD3}"/>
              </a:ext>
            </a:extLst>
          </p:cNvPr>
          <p:cNvSpPr/>
          <p:nvPr/>
        </p:nvSpPr>
        <p:spPr>
          <a:xfrm>
            <a:off x="459298" y="3440671"/>
            <a:ext cx="10513898" cy="29451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D22E5D9-ED18-A28C-E899-FD6EB49D35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398" r="6584" b="73101"/>
          <a:stretch>
            <a:fillRect/>
          </a:stretch>
        </p:blipFill>
        <p:spPr>
          <a:xfrm>
            <a:off x="5358384" y="1596185"/>
            <a:ext cx="5870448" cy="8269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7418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92601-5A1A-2274-852F-C390BE74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080A0-7D4F-9D69-9172-A0E1F98492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0092" y="1109221"/>
                <a:ext cx="10363200" cy="4401600"/>
              </a:xfrm>
            </p:spPr>
            <p:txBody>
              <a:bodyPr/>
              <a:lstStyle/>
              <a:p>
                <a:pPr marL="86360" indent="0">
                  <a:buNone/>
                </a:pPr>
                <a:r>
                  <a:rPr lang="en-US" sz="2000" dirty="0"/>
                  <a:t>Imagine that you would like to solve the time-dependent linear program:</a:t>
                </a:r>
              </a:p>
              <a:p>
                <a:pPr lvl="1"/>
                <a:endParaRPr lang="en-US" sz="1800" dirty="0"/>
              </a:p>
              <a:p>
                <a:pPr lvl="1"/>
                <a:endParaRPr lang="en-US" sz="1800" dirty="0"/>
              </a:p>
              <a:p>
                <a:pPr lvl="1"/>
                <a:r>
                  <a:rPr lang="en-US" sz="1800" dirty="0"/>
                  <a:t>subject to</a:t>
                </a:r>
              </a:p>
              <a:p>
                <a:pPr lvl="2"/>
                <a:endParaRPr lang="en-US" sz="1600" dirty="0"/>
              </a:p>
              <a:p>
                <a:pPr lvl="1"/>
                <a:endParaRPr lang="en-US" sz="1800" dirty="0"/>
              </a:p>
              <a:p>
                <a:pPr lvl="2"/>
                <a:endParaRPr lang="en-US" sz="1100" dirty="0"/>
              </a:p>
              <a:p>
                <a:pPr lvl="2"/>
                <a:endParaRPr lang="en-US" sz="1200" dirty="0"/>
              </a:p>
              <a:p>
                <a:pPr marL="86360" indent="0">
                  <a:buNone/>
                </a:pPr>
                <a:r>
                  <a:rPr lang="en-US" sz="2000" dirty="0"/>
                  <a:t>We can fix this by replacing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endParaRPr lang="en-US" sz="2000" dirty="0"/>
              </a:p>
              <a:p>
                <a:pPr marL="8636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457200" lvl="1" indent="0">
                  <a:buNone/>
                </a:pPr>
                <a:r>
                  <a:rPr lang="en-US" sz="1800" dirty="0"/>
                  <a:t>The dynamics are modeled in the transition function: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0080A0-7D4F-9D69-9172-A0E1F98492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0092" y="1109221"/>
                <a:ext cx="10363200" cy="44016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EF798F2B-09DC-4383-8FD0-6EE1AD2E4FC8}"/>
                  </a:ext>
                </a:extLst>
              </p:cNvPr>
              <p:cNvSpPr txBox="1"/>
              <p:nvPr/>
            </p:nvSpPr>
            <p:spPr>
              <a:xfrm>
                <a:off x="2790825" y="1472244"/>
                <a:ext cx="2095500" cy="86836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,...,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sub>
                          </m:sSub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0825" y="1472244"/>
                <a:ext cx="2095500" cy="868363"/>
              </a:xfrm>
              <a:prstGeom prst="rect">
                <a:avLst/>
              </a:prstGeom>
              <a:blipFill>
                <a:blip r:embed="rId4"/>
                <a:stretch>
                  <a:fillRect b="-3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04A80270-DD49-0DB1-D2D3-E0537696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matters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>
                <a:extLst>
                  <a:ext uri="{FF2B5EF4-FFF2-40B4-BE49-F238E27FC236}">
                    <a16:creationId xmlns:a16="http://schemas.microsoft.com/office/drawing/2014/main" id="{169002C6-867D-6974-98A5-F762E8607422}"/>
                  </a:ext>
                </a:extLst>
              </p:cNvPr>
              <p:cNvSpPr txBox="1"/>
              <p:nvPr/>
            </p:nvSpPr>
            <p:spPr>
              <a:xfrm>
                <a:off x="2698749" y="2673350"/>
                <a:ext cx="4090239" cy="75565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≥1.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749" y="2673350"/>
                <a:ext cx="4090239" cy="7556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>
                <a:extLst>
                  <a:ext uri="{FF2B5EF4-FFF2-40B4-BE49-F238E27FC236}">
                    <a16:creationId xmlns:a16="http://schemas.microsoft.com/office/drawing/2014/main" id="{EE31ACF6-B246-A833-04D1-0F2B4089BACF}"/>
                  </a:ext>
                </a:extLst>
              </p:cNvPr>
              <p:cNvSpPr txBox="1"/>
              <p:nvPr/>
            </p:nvSpPr>
            <p:spPr bwMode="auto">
              <a:xfrm>
                <a:off x="2630487" y="3854392"/>
                <a:ext cx="2778274" cy="8683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func>
                        <m:func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</m:fName>
                        <m:e>
                          <m:r>
                            <a:rPr lang="en-US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b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0487" y="3854392"/>
                <a:ext cx="2778274" cy="868363"/>
              </a:xfrm>
              <a:prstGeom prst="rect">
                <a:avLst/>
              </a:prstGeom>
              <a:blipFill>
                <a:blip r:embed="rId6"/>
                <a:stretch>
                  <a:fillRect b="-34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AAA81D5C-E56A-A6FC-F736-394E04173D86}"/>
                  </a:ext>
                </a:extLst>
              </p:cNvPr>
              <p:cNvSpPr txBox="1"/>
              <p:nvPr/>
            </p:nvSpPr>
            <p:spPr bwMode="auto">
              <a:xfrm>
                <a:off x="2517774" y="5522913"/>
                <a:ext cx="4164379" cy="48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7774" y="5522913"/>
                <a:ext cx="4164379" cy="482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90F7BD24-507D-1110-5807-4F5D32B6B567}"/>
              </a:ext>
            </a:extLst>
          </p:cNvPr>
          <p:cNvGrpSpPr/>
          <p:nvPr/>
        </p:nvGrpSpPr>
        <p:grpSpPr>
          <a:xfrm>
            <a:off x="4001430" y="1698173"/>
            <a:ext cx="867952" cy="3012241"/>
            <a:chOff x="2477430" y="2055991"/>
            <a:chExt cx="867952" cy="301224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C2E654B1-3C7B-9082-78B0-1DC8461D0894}"/>
                </a:ext>
              </a:extLst>
            </p:cNvPr>
            <p:cNvSpPr/>
            <p:nvPr/>
          </p:nvSpPr>
          <p:spPr>
            <a:xfrm>
              <a:off x="3033966" y="2055991"/>
              <a:ext cx="280157" cy="588800"/>
            </a:xfrm>
            <a:prstGeom prst="ellipse">
              <a:avLst/>
            </a:prstGeom>
            <a:ln w="19050">
              <a:solidFill>
                <a:srgbClr val="0033CC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966B5B1-CAA7-8342-C6DA-D7E4AB4A2989}"/>
                </a:ext>
              </a:extLst>
            </p:cNvPr>
            <p:cNvCxnSpPr>
              <a:cxnSpLocks/>
              <a:stCxn id="4" idx="4"/>
              <a:endCxn id="14" idx="0"/>
            </p:cNvCxnSpPr>
            <p:nvPr/>
          </p:nvCxnSpPr>
          <p:spPr bwMode="auto">
            <a:xfrm flipH="1">
              <a:off x="2911406" y="2644791"/>
              <a:ext cx="262639" cy="1716036"/>
            </a:xfrm>
            <a:prstGeom prst="straightConnector1">
              <a:avLst/>
            </a:pr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8724C79-7F5A-656E-1E24-0C81A50C6DA7}"/>
                </a:ext>
              </a:extLst>
            </p:cNvPr>
            <p:cNvSpPr/>
            <p:nvPr/>
          </p:nvSpPr>
          <p:spPr>
            <a:xfrm>
              <a:off x="2477430" y="4360827"/>
              <a:ext cx="867952" cy="707405"/>
            </a:xfrm>
            <a:prstGeom prst="ellipse">
              <a:avLst/>
            </a:prstGeom>
            <a:ln w="19050">
              <a:solidFill>
                <a:srgbClr val="0033CC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27491E2-866C-8819-BCF0-4C7A97B202C6}"/>
              </a:ext>
            </a:extLst>
          </p:cNvPr>
          <p:cNvGrpSpPr/>
          <p:nvPr/>
        </p:nvGrpSpPr>
        <p:grpSpPr>
          <a:xfrm>
            <a:off x="3146487" y="1918819"/>
            <a:ext cx="842184" cy="2803936"/>
            <a:chOff x="1600715" y="2276638"/>
            <a:chExt cx="842184" cy="2803936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8477B76-32DC-BD53-78EA-545C5CF96421}"/>
                </a:ext>
              </a:extLst>
            </p:cNvPr>
            <p:cNvSpPr/>
            <p:nvPr/>
          </p:nvSpPr>
          <p:spPr>
            <a:xfrm>
              <a:off x="1733878" y="2276638"/>
              <a:ext cx="709021" cy="336904"/>
            </a:xfrm>
            <a:prstGeom prst="ellipse">
              <a:avLst/>
            </a:prstGeom>
            <a:ln w="19050">
              <a:solidFill>
                <a:srgbClr val="0033CC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C82F915F-48DE-A7BF-7391-4E4C2C55F182}"/>
                </a:ext>
              </a:extLst>
            </p:cNvPr>
            <p:cNvCxnSpPr>
              <a:stCxn id="25" idx="4"/>
              <a:endCxn id="27" idx="0"/>
            </p:cNvCxnSpPr>
            <p:nvPr/>
          </p:nvCxnSpPr>
          <p:spPr bwMode="auto">
            <a:xfrm flipH="1">
              <a:off x="1713696" y="2613542"/>
              <a:ext cx="374693" cy="1971697"/>
            </a:xfrm>
            <a:prstGeom prst="straightConnector1">
              <a:avLst/>
            </a:prstGeom>
            <a:noFill/>
            <a:ln w="19050" cap="flat" cmpd="sng" algn="ctr">
              <a:solidFill>
                <a:srgbClr val="0033CC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BF931D7-906D-335D-2E45-DE47B7522F15}"/>
                </a:ext>
              </a:extLst>
            </p:cNvPr>
            <p:cNvSpPr/>
            <p:nvPr/>
          </p:nvSpPr>
          <p:spPr>
            <a:xfrm>
              <a:off x="1600715" y="4585239"/>
              <a:ext cx="225962" cy="495335"/>
            </a:xfrm>
            <a:prstGeom prst="ellipse">
              <a:avLst/>
            </a:prstGeom>
            <a:ln w="19050">
              <a:solidFill>
                <a:srgbClr val="0033CC"/>
              </a:solidFill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C9BFFD5-E6EC-A135-444E-BE86AAA6952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3398" r="6584" b="73101"/>
          <a:stretch>
            <a:fillRect/>
          </a:stretch>
        </p:blipFill>
        <p:spPr>
          <a:xfrm>
            <a:off x="5358384" y="1596185"/>
            <a:ext cx="5870448" cy="8269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04837D-0EFC-8B05-2AF8-0A38F08F66DA}"/>
                  </a:ext>
                </a:extLst>
              </p:cNvPr>
              <p:cNvSpPr txBox="1"/>
              <p:nvPr/>
            </p:nvSpPr>
            <p:spPr>
              <a:xfrm>
                <a:off x="7691718" y="3241571"/>
                <a:ext cx="3614569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Raleway" pitchFamily="2" charset="0"/>
                  </a:rPr>
                  <a:t>Now the challenge is to test different types  of policies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, and to tune any tunable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>
                    <a:latin typeface="Raleway" pitchFamily="2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104837D-0EFC-8B05-2AF8-0A38F08F66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1718" y="3241571"/>
                <a:ext cx="3614569" cy="738664"/>
              </a:xfrm>
              <a:prstGeom prst="rect">
                <a:avLst/>
              </a:prstGeom>
              <a:blipFill>
                <a:blip r:embed="rId9"/>
                <a:stretch>
                  <a:fillRect l="-506" t="-1653" b="-7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76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BCE2E-3AF6-9884-A51D-28B44332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3CAA829-2B55-C885-785E-688D7B86C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11" y="0"/>
            <a:ext cx="1225149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5D2B7F-448E-38BA-ED0C-BE322559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270" y="353850"/>
            <a:ext cx="4838905" cy="550500"/>
          </a:xfrm>
        </p:spPr>
        <p:txBody>
          <a:bodyPr/>
          <a:lstStyle/>
          <a:p>
            <a:r>
              <a:rPr lang="en-US" i="1" dirty="0">
                <a:solidFill>
                  <a:schemeClr val="tx1"/>
                </a:solidFill>
              </a:rPr>
              <a:t>Thank you!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E19D23-FFFE-7BDA-EBDE-FB455831E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137" y="797340"/>
            <a:ext cx="2316681" cy="259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B8090E-718B-9664-9437-85982EAD0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5757" y="770669"/>
            <a:ext cx="2286198" cy="264436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3184E-8900-8720-AC7F-4DECB29EB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5426" y="807631"/>
            <a:ext cx="5352185" cy="4401600"/>
          </a:xfrm>
        </p:spPr>
        <p:txBody>
          <a:bodyPr/>
          <a:lstStyle/>
          <a:p>
            <a:pPr marL="0" lvl="2" indent="0" algn="ctr"/>
            <a:endParaRPr lang="en-US" dirty="0">
              <a:solidFill>
                <a:schemeClr val="tx1"/>
              </a:solidFill>
            </a:endParaRPr>
          </a:p>
          <a:p>
            <a:pPr marL="0" lvl="1" indent="0" algn="ctr">
              <a:buNone/>
            </a:pPr>
            <a:r>
              <a:rPr lang="en-US" dirty="0">
                <a:solidFill>
                  <a:schemeClr val="tx1"/>
                </a:solidFill>
              </a:rPr>
              <a:t>For more information see the </a:t>
            </a:r>
            <a:r>
              <a:rPr lang="en-US" i="1" dirty="0">
                <a:solidFill>
                  <a:schemeClr val="tx1"/>
                </a:solidFill>
              </a:rPr>
              <a:t>Sequential Decision Analytics </a:t>
            </a:r>
            <a:r>
              <a:rPr lang="en-US" dirty="0">
                <a:solidFill>
                  <a:schemeClr val="tx1"/>
                </a:solidFill>
              </a:rPr>
              <a:t>website at</a:t>
            </a:r>
          </a:p>
          <a:p>
            <a:pPr marL="0" lvl="2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lvl="2" indent="0" algn="ctr">
              <a:buNone/>
            </a:pPr>
            <a:r>
              <a:rPr lang="en-US" sz="2800" dirty="0">
                <a:solidFill>
                  <a:schemeClr val="accent2">
                    <a:lumMod val="50000"/>
                  </a:schemeClr>
                </a:solidFill>
              </a:rPr>
              <a:t>warrenpowell.org</a:t>
            </a:r>
          </a:p>
          <a:p>
            <a:pPr marL="0" lvl="1" indent="0" algn="ctr"/>
            <a:endParaRPr lang="en-US" sz="1400" dirty="0">
              <a:solidFill>
                <a:schemeClr val="tx1"/>
              </a:solidFill>
            </a:endParaRPr>
          </a:p>
          <a:p>
            <a:pPr marL="0" lvl="1" indent="0"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9DAF9B-A168-86EF-99EE-7F221E4DD9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00" y="629100"/>
            <a:ext cx="2270957" cy="561642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F122658-A37E-FBBD-3372-F34E0BD25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939" y="4647096"/>
            <a:ext cx="7552074" cy="56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0632"/>
      </p:ext>
    </p:extLst>
  </p:cSld>
  <p:clrMapOvr>
    <a:masterClrMapping/>
  </p:clrMapOvr>
</p:sld>
</file>

<file path=ppt/theme/theme1.xml><?xml version="1.0" encoding="utf-8"?>
<a:theme xmlns:a="http://schemas.openxmlformats.org/drawingml/2006/main" name="CIV 411 11 Intro and overview">
  <a:themeElements>
    <a:clrScheme name="CIV 411 11 Intro and overview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IV 411 11 Intro and overview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  <a:fontScheme name="CIV 411 11 Intro and overview">
    <a:majorFont>
      <a:latin typeface="Times New Roman"/>
      <a:ea typeface=""/>
      <a:cs typeface=""/>
    </a:majorFont>
    <a:minorFont>
      <a:latin typeface="Times New Roman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A48227E3DE37419A418C60F2D64C15" ma:contentTypeVersion="4" ma:contentTypeDescription="Create a new document." ma:contentTypeScope="" ma:versionID="5a821b418db10c4a560eab9e32ac3723">
  <xsd:schema xmlns:xsd="http://www.w3.org/2001/XMLSchema" xmlns:xs="http://www.w3.org/2001/XMLSchema" xmlns:p="http://schemas.microsoft.com/office/2006/metadata/properties" xmlns:ns3="b9a67f89-7d7d-48be-9399-9713d9f7587c" targetNamespace="http://schemas.microsoft.com/office/2006/metadata/properties" ma:root="true" ma:fieldsID="42462b3b3e84324c9aaf61227d41f6c0" ns3:_="">
    <xsd:import namespace="b9a67f89-7d7d-48be-9399-9713d9f758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a67f89-7d7d-48be-9399-9713d9f758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AD22F-0715-4457-A130-80773E09E4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9a67f89-7d7d-48be-9399-9713d9f758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F0C8D23-C824-4069-9D96-A056B9C750B2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b9a67f89-7d7d-48be-9399-9713d9f7587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99611F8-1974-4A8A-AF09-CB23287D66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468973</TotalTime>
  <Words>3576</Words>
  <Application>Microsoft Office PowerPoint</Application>
  <PresentationFormat>Widescreen</PresentationFormat>
  <Paragraphs>1017</Paragraphs>
  <Slides>81</Slides>
  <Notes>39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0" baseType="lpstr">
      <vt:lpstr>Wingdings</vt:lpstr>
      <vt:lpstr>Cambria Math</vt:lpstr>
      <vt:lpstr>Oswald</vt:lpstr>
      <vt:lpstr>Raleway</vt:lpstr>
      <vt:lpstr>Playfair Display</vt:lpstr>
      <vt:lpstr>Times New Roman</vt:lpstr>
      <vt:lpstr>Arial</vt:lpstr>
      <vt:lpstr>CIV 411 11 Intro and overview</vt:lpstr>
      <vt:lpstr>Equation</vt:lpstr>
      <vt:lpstr>PowerPoint Presentation</vt:lpstr>
      <vt:lpstr>OUTLINE</vt:lpstr>
      <vt:lpstr>OUTLINE</vt:lpstr>
      <vt:lpstr>Optimal learning</vt:lpstr>
      <vt:lpstr>PowerPoint Presentation</vt:lpstr>
      <vt:lpstr>Optimal learning</vt:lpstr>
      <vt:lpstr>PowerPoint Presentation</vt:lpstr>
      <vt:lpstr>Optimal learning</vt:lpstr>
      <vt:lpstr>Optimal learning</vt:lpstr>
      <vt:lpstr>Optimal learning</vt:lpstr>
      <vt:lpstr>Optimal learning</vt:lpstr>
      <vt:lpstr>OUTLINE</vt:lpstr>
      <vt:lpstr>Optimal learning</vt:lpstr>
      <vt:lpstr>Optimal learning</vt:lpstr>
      <vt:lpstr>Optimal learning</vt:lpstr>
      <vt:lpstr>Optimal learning</vt:lpstr>
      <vt:lpstr>Optimal learning</vt:lpstr>
      <vt:lpstr>OUTLINE</vt:lpstr>
      <vt:lpstr>Cost function approximations</vt:lpstr>
      <vt:lpstr>Cost function approximations</vt:lpstr>
      <vt:lpstr>Cost function approximations</vt:lpstr>
      <vt:lpstr>Optimal learning</vt:lpstr>
      <vt:lpstr>Cost function approximations</vt:lpstr>
      <vt:lpstr>Cost function approximations</vt:lpstr>
      <vt:lpstr>Cost function approximations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Optimal learning</vt:lpstr>
      <vt:lpstr>PowerPoint Presentation</vt:lpstr>
      <vt:lpstr>PowerPoint Presentation</vt:lpstr>
      <vt:lpstr>PowerPoint Presentation</vt:lpstr>
      <vt:lpstr>PowerPoint Presentation</vt:lpstr>
      <vt:lpstr>Cost function approximations</vt:lpstr>
      <vt:lpstr>Thank you!</vt:lpstr>
      <vt:lpstr>PowerPoint Presentation</vt:lpstr>
      <vt:lpstr>OUTLINE</vt:lpstr>
      <vt:lpstr>OUTLINE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From static to sequential problems</vt:lpstr>
      <vt:lpstr>The Universal Modeling Framework</vt:lpstr>
      <vt:lpstr>The Universal Modeling Framework</vt:lpstr>
      <vt:lpstr>OUTLINE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Optimizing a parameterized LP</vt:lpstr>
      <vt:lpstr>Thank you!</vt:lpstr>
      <vt:lpstr>PowerPoint Presentation</vt:lpstr>
      <vt:lpstr>OUTLINE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Modeling matters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Warren B. Powell</dc:creator>
  <cp:lastModifiedBy>Warren Powell</cp:lastModifiedBy>
  <cp:revision>775</cp:revision>
  <cp:lastPrinted>2025-05-20T14:08:40Z</cp:lastPrinted>
  <dcterms:modified xsi:type="dcterms:W3CDTF">2026-09-07T19:44:00Z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0x0101000CA48227E3DE37419A418C60F2D64C15</vt:lpwstr>
  </property>
</Properties>
</file>