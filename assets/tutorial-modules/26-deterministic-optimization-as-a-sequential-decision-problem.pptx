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86"/>
  </p:notesMasterIdLst>
  <p:sldIdLst>
    <p:sldId id="10757" r:id="rId44"/>
    <p:sldId id="10239" r:id="rId45"/>
    <p:sldId id="10934" r:id="rId46"/>
    <p:sldId id="9196" r:id="rId47"/>
    <p:sldId id="9197" r:id="rId48"/>
    <p:sldId id="9198" r:id="rId49"/>
    <p:sldId id="9199" r:id="rId50"/>
    <p:sldId id="9980" r:id="rId51"/>
    <p:sldId id="9982" r:id="rId52"/>
    <p:sldId id="11034" r:id="rId53"/>
    <p:sldId id="9172" r:id="rId54"/>
    <p:sldId id="9984" r:id="rId55"/>
    <p:sldId id="9985" r:id="rId56"/>
    <p:sldId id="10935" r:id="rId57"/>
    <p:sldId id="9230" r:id="rId58"/>
    <p:sldId id="7947" r:id="rId59"/>
    <p:sldId id="10186" r:id="rId60"/>
    <p:sldId id="10187" r:id="rId61"/>
    <p:sldId id="7951" r:id="rId62"/>
    <p:sldId id="8029" r:id="rId63"/>
    <p:sldId id="8030" r:id="rId64"/>
    <p:sldId id="8627" r:id="rId65"/>
    <p:sldId id="6541" r:id="rId66"/>
    <p:sldId id="3094" r:id="rId67"/>
    <p:sldId id="10188" r:id="rId68"/>
    <p:sldId id="8031" r:id="rId69"/>
    <p:sldId id="11033" r:id="rId70"/>
  </p:sldIdLst>
  <p:sldSz cx="12192000" cy="6858000"/>
  <p:notesSz cx="7102475" cy="9388475"/>
  <p:embeddedFontLst>
    <p:embeddedFont>
      <p:font typeface="Cambria Math" panose="02040503050406030204" pitchFamily="18" charset="0"/>
      <p:regular r:id="rId87"/>
    </p:embeddedFont>
    <p:embeddedFont>
      <p:font typeface="Oswald" panose="00000500000000000000" pitchFamily="2" charset="0"/>
      <p:regular r:id="rId88"/>
      <p:bold r:id="rId89"/>
    </p:embeddedFont>
    <p:embeddedFont>
      <p:font typeface="Playfair Display" panose="00000500000000000000" pitchFamily="2" charset="0"/>
      <p:regular r:id="rId90"/>
      <p:bold r:id="rId91"/>
      <p:italic r:id="rId92"/>
      <p:boldItalic r:id="rId93"/>
    </p:embeddedFont>
    <p:embeddedFont>
      <p:font typeface="Raleway" pitchFamily="2" charset="0"/>
      <p:regular r:id="rId94"/>
      <p:bold r:id="rId95"/>
      <p:italic r:id="rId96"/>
      <p:boldItalic r:id="rId9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timal learning (inc)" id="{F6849F94-ED19-4CBF-A87A-6780B2421689}">
          <p14:sldIdLst>
            <p14:sldId id="10749"/>
            <p14:sldId id="9928"/>
            <p14:sldId id="11029"/>
            <p14:sldId id="8561"/>
            <p14:sldId id="9467"/>
            <p14:sldId id="8500"/>
            <p14:sldId id="9613"/>
            <p14:sldId id="7624"/>
            <p14:sldId id="8410"/>
            <p14:sldId id="8411"/>
            <p14:sldId id="8476"/>
            <p14:sldId id="11030"/>
            <p14:sldId id="8554"/>
            <p14:sldId id="8555"/>
            <p14:sldId id="8556"/>
            <p14:sldId id="8557"/>
            <p14:sldId id="8558"/>
            <p14:sldId id="11031"/>
            <p14:sldId id="8529"/>
            <p14:sldId id="8530"/>
            <p14:sldId id="8563"/>
            <p14:sldId id="8921"/>
            <p14:sldId id="8532"/>
            <p14:sldId id="8533"/>
            <p14:sldId id="8729"/>
            <p14:sldId id="11032"/>
            <p14:sldId id="8731"/>
            <p14:sldId id="8841"/>
            <p14:sldId id="8889"/>
            <p14:sldId id="8842"/>
            <p14:sldId id="8843"/>
            <p14:sldId id="8839"/>
            <p14:sldId id="8986"/>
            <p14:sldId id="8987"/>
            <p14:sldId id="8988"/>
            <p14:sldId id="8989"/>
            <p14:sldId id="8990"/>
            <p14:sldId id="8991"/>
            <p14:sldId id="11028"/>
          </p14:sldIdLst>
        </p14:section>
        <p14:section name="Determ opt as SDP (inc)" id="{551DD7F0-A5B2-4ACB-A035-51DD663D04B5}">
          <p14:sldIdLst>
            <p14:sldId id="10757"/>
            <p14:sldId id="10239"/>
            <p14:sldId id="10934"/>
            <p14:sldId id="9196"/>
            <p14:sldId id="9197"/>
            <p14:sldId id="9198"/>
            <p14:sldId id="9199"/>
            <p14:sldId id="9980"/>
            <p14:sldId id="9982"/>
            <p14:sldId id="11034"/>
            <p14:sldId id="9172"/>
            <p14:sldId id="9984"/>
            <p14:sldId id="9985"/>
            <p14:sldId id="10935"/>
            <p14:sldId id="9230"/>
            <p14:sldId id="7947"/>
            <p14:sldId id="10186"/>
            <p14:sldId id="10187"/>
            <p14:sldId id="7951"/>
            <p14:sldId id="8029"/>
            <p14:sldId id="8030"/>
            <p14:sldId id="8627"/>
            <p14:sldId id="6541"/>
            <p14:sldId id="3094"/>
            <p14:sldId id="10188"/>
            <p14:sldId id="8031"/>
            <p14:sldId id="11033"/>
          </p14:sldIdLst>
        </p14:section>
        <p14:section name="Modeling matters" id="{C173CF00-97B2-4F94-A8A3-9005C8C4724E}">
          <p14:sldIdLst>
            <p14:sldId id="10756"/>
            <p14:sldId id="9534"/>
            <p14:sldId id="4026"/>
            <p14:sldId id="4027"/>
            <p14:sldId id="8059"/>
            <p14:sldId id="4031"/>
            <p14:sldId id="4024"/>
            <p14:sldId id="795"/>
            <p14:sldId id="7995"/>
            <p14:sldId id="11035"/>
            <p14:sldId id="11036"/>
            <p14:sldId id="11037"/>
            <p14:sldId id="8226"/>
            <p14:sldId id="10234"/>
            <p14:sldId id="10936"/>
          </p14:sldIdLst>
        </p14:section>
        <p14:section name="Teaching materials" id="{7F195D44-CA38-4E75-B660-E23E872F3116}">
          <p14:sldIdLst/>
        </p14:section>
        <p14:section name="Quizes" id="{9466C41C-5E4A-473B-B45C-299CAAE140D1}">
          <p14:sldIdLst/>
        </p14:section>
        <p14:section name="Ending slide" id="{A38FE40B-7866-452A-AB51-D7C6AA82D48C}">
          <p14:sldIdLst/>
        </p14:section>
        <p14:section name="History of RL (long)" id="{EA60419E-00F9-4DD5-9E65-C023009FBAC9}">
          <p14:sldIdLst/>
        </p14:section>
        <p14:section name="Framing the problem (old)" id="{508651A6-E2A1-4B9D-849A-631222BDC416}">
          <p14:sldIdLst/>
        </p14:section>
        <p14:section name="Junk slides" id="{202D44D8-7916-4E0E-A17A-90781AB32AC5}">
          <p14:sldIdLst/>
        </p14:section>
        <p14:section name="LLM illustration" id="{0737BA5F-2BD6-47DB-990D-AC7DA8B2E8AD}">
          <p14:sldIdLst/>
        </p14:section>
        <p14:section name="Multiagent systems" id="{A5414587-8C61-40C6-BFC8-AB74916B4A13}">
          <p14:sldIdLst/>
        </p14:section>
        <p14:section name="Applications" id="{CC81FAFF-DBBC-4FBA-AA29-3C2AED8280AA}">
          <p14:sldIdLst/>
        </p14:section>
        <p14:section name="Overview of stoch opt ???" id="{FB93A169-4ED0-444E-A606-2775732F0C93}">
          <p14:sldIdLst/>
        </p14:section>
        <p14:section name="Untitled Section" id="{B1708D8C-CA48-42C4-8F70-69959BCDE4FA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9" Type="http://schemas.openxmlformats.org/officeDocument/2006/relationships/font" Target="fonts/font3.fntdata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" Type="http://schemas.openxmlformats.org/officeDocument/2006/relationships/customXml" Target="../customXml/item1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97" Type="http://schemas.openxmlformats.org/officeDocument/2006/relationships/font" Target="fonts/font11.fntdata"/><Relationship Id="rId92" Type="http://schemas.openxmlformats.org/officeDocument/2006/relationships/font" Target="fonts/font6.fntdata"/><Relationship Id="rId2" Type="http://schemas.openxmlformats.org/officeDocument/2006/relationships/customXml" Target="../customXml/item2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1.fntdata"/><Relationship Id="rId61" Type="http://schemas.openxmlformats.org/officeDocument/2006/relationships/slide" Target="slides/slide57.xml"/><Relationship Id="rId56" Type="http://schemas.openxmlformats.org/officeDocument/2006/relationships/slide" Target="slides/slide52.xml"/><Relationship Id="rId100" Type="http://schemas.openxmlformats.org/officeDocument/2006/relationships/theme" Target="theme/theme1.xml"/><Relationship Id="rId51" Type="http://schemas.openxmlformats.org/officeDocument/2006/relationships/slide" Target="slides/slide47.xml"/><Relationship Id="rId93" Type="http://schemas.openxmlformats.org/officeDocument/2006/relationships/font" Target="fonts/font7.fntdata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A06C1DB-F9B4-7F0F-A62C-762E9DB0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ACA41B5A-E7FD-907F-0A64-41F35C02C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D2B4BAB7-9572-4CC1-8E05-7C7026EEF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56083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D531E21-74E8-46B9-ADD2-E6302FDFB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2F4107F8-54A7-3B8B-88DA-5A03D9851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90F3FBC9-7F1C-C362-E4F9-174815001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90152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2A4DDE7-BB15-4F34-4E63-899101F4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F8F73FC6-4875-CC03-6D50-AB90CE058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31C87857-F979-40A5-36E2-64F9C3340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1888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9">
          <a:extLst>
            <a:ext uri="{FF2B5EF4-FFF2-40B4-BE49-F238E27FC236}">
              <a16:creationId xmlns:a16="http://schemas.microsoft.com/office/drawing/2014/main" id="{78291123-6FFD-BC17-9B8D-8CF05EC5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0" name="Google Shape;4400;p84:notes">
            <a:extLst>
              <a:ext uri="{FF2B5EF4-FFF2-40B4-BE49-F238E27FC236}">
                <a16:creationId xmlns:a16="http://schemas.microsoft.com/office/drawing/2014/main" id="{510CCE4E-4D9A-680A-0A5C-B4FBCC7A4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01" name="Google Shape;4401;p84:notes">
            <a:extLst>
              <a:ext uri="{FF2B5EF4-FFF2-40B4-BE49-F238E27FC236}">
                <a16:creationId xmlns:a16="http://schemas.microsoft.com/office/drawing/2014/main" id="{22D3D7B4-7DDC-D9D4-F6BD-FC8A668A2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  <p:sp>
        <p:nvSpPr>
          <p:cNvPr id="4402" name="Google Shape;4402;p84:notes">
            <a:extLst>
              <a:ext uri="{FF2B5EF4-FFF2-40B4-BE49-F238E27FC236}">
                <a16:creationId xmlns:a16="http://schemas.microsoft.com/office/drawing/2014/main" id="{336FE6C0-D228-5877-832C-654DA5D56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706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0F073E-431B-4A0E-8313-74C7C123651B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646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900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739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46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1.png"/><Relationship Id="rId2" Type="http://schemas.openxmlformats.org/officeDocument/2006/relationships/image" Target="../media/image59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0.png"/><Relationship Id="rId2" Type="http://schemas.openxmlformats.org/officeDocument/2006/relationships/image" Target="../media/image5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00.pn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image" Target="../media/image2810.png"/><Relationship Id="rId2" Type="http://schemas.openxmlformats.org/officeDocument/2006/relationships/image" Target="../media/image6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0.png"/><Relationship Id="rId5" Type="http://schemas.openxmlformats.org/officeDocument/2006/relationships/image" Target="../media/image560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0.png"/><Relationship Id="rId7" Type="http://schemas.openxmlformats.org/officeDocument/2006/relationships/image" Target="../media/image3040.png"/><Relationship Id="rId2" Type="http://schemas.openxmlformats.org/officeDocument/2006/relationships/image" Target="../media/image5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0.png"/><Relationship Id="rId5" Type="http://schemas.openxmlformats.org/officeDocument/2006/relationships/image" Target="../media/image87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13" Type="http://schemas.openxmlformats.org/officeDocument/2006/relationships/image" Target="../media/image3500.png"/><Relationship Id="rId3" Type="http://schemas.openxmlformats.org/officeDocument/2006/relationships/image" Target="../media/image3230.png"/><Relationship Id="rId12" Type="http://schemas.openxmlformats.org/officeDocument/2006/relationships/image" Target="../media/image3410.png"/><Relationship Id="rId2" Type="http://schemas.openxmlformats.org/officeDocument/2006/relationships/image" Target="../media/image31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300.png"/><Relationship Id="rId10" Type="http://schemas.openxmlformats.org/officeDocument/2006/relationships/image" Target="../media/image800.png"/><Relationship Id="rId9" Type="http://schemas.openxmlformats.org/officeDocument/2006/relationships/image" Target="../media/image790.png"/><Relationship Id="rId14" Type="http://schemas.openxmlformats.org/officeDocument/2006/relationships/image" Target="../media/image360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1.png"/><Relationship Id="rId13" Type="http://schemas.openxmlformats.org/officeDocument/2006/relationships/image" Target="../media/image4001.png"/><Relationship Id="rId18" Type="http://schemas.openxmlformats.org/officeDocument/2006/relationships/image" Target="../media/image4500.png"/><Relationship Id="rId26" Type="http://schemas.openxmlformats.org/officeDocument/2006/relationships/image" Target="../media/image28.png"/><Relationship Id="rId3" Type="http://schemas.openxmlformats.org/officeDocument/2006/relationships/image" Target="../media/image3701.png"/><Relationship Id="rId12" Type="http://schemas.openxmlformats.org/officeDocument/2006/relationships/image" Target="../media/image19031.png"/><Relationship Id="rId17" Type="http://schemas.openxmlformats.org/officeDocument/2006/relationships/image" Target="../media/image4400.png"/><Relationship Id="rId25" Type="http://schemas.openxmlformats.org/officeDocument/2006/relationships/image" Target="../media/image4700.png"/><Relationship Id="rId2" Type="http://schemas.openxmlformats.org/officeDocument/2006/relationships/image" Target="../media/image18011.png"/><Relationship Id="rId16" Type="http://schemas.openxmlformats.org/officeDocument/2006/relationships/image" Target="../media/image4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01.png"/><Relationship Id="rId24" Type="http://schemas.openxmlformats.org/officeDocument/2006/relationships/image" Target="../media/image4600.png"/><Relationship Id="rId5" Type="http://schemas.openxmlformats.org/officeDocument/2006/relationships/image" Target="../media/image3801.png"/><Relationship Id="rId15" Type="http://schemas.openxmlformats.org/officeDocument/2006/relationships/image" Target="../media/image4200.png"/><Relationship Id="rId23" Type="http://schemas.openxmlformats.org/officeDocument/2006/relationships/image" Target="../media/image991.png"/><Relationship Id="rId10" Type="http://schemas.openxmlformats.org/officeDocument/2006/relationships/image" Target="../media/image850.png"/><Relationship Id="rId4" Type="http://schemas.openxmlformats.org/officeDocument/2006/relationships/image" Target="../media/image841.png"/><Relationship Id="rId9" Type="http://schemas.openxmlformats.org/officeDocument/2006/relationships/image" Target="../media/image3910.png"/><Relationship Id="rId14" Type="http://schemas.openxmlformats.org/officeDocument/2006/relationships/image" Target="../media/image411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910.png"/><Relationship Id="rId7" Type="http://schemas.openxmlformats.org/officeDocument/2006/relationships/image" Target="../media/image3040.png"/><Relationship Id="rId2" Type="http://schemas.openxmlformats.org/officeDocument/2006/relationships/image" Target="../media/image5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0.png"/><Relationship Id="rId5" Type="http://schemas.openxmlformats.org/officeDocument/2006/relationships/image" Target="../media/image87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0.png"/><Relationship Id="rId2" Type="http://schemas.openxmlformats.org/officeDocument/2006/relationships/image" Target="../media/image4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00.png"/><Relationship Id="rId5" Type="http://schemas.openxmlformats.org/officeDocument/2006/relationships/image" Target="../media/image5100.png"/><Relationship Id="rId4" Type="http://schemas.openxmlformats.org/officeDocument/2006/relationships/image" Target="../media/image500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2.png"/><Relationship Id="rId5" Type="http://schemas.openxmlformats.org/officeDocument/2006/relationships/image" Target="../media/image1361.png"/><Relationship Id="rId4" Type="http://schemas.openxmlformats.org/officeDocument/2006/relationships/image" Target="../media/image3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5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1.png"/><Relationship Id="rId3" Type="http://schemas.openxmlformats.org/officeDocument/2006/relationships/image" Target="../media/image54.png"/><Relationship Id="rId7" Type="http://schemas.openxmlformats.org/officeDocument/2006/relationships/image" Target="../media/image2500.png"/><Relationship Id="rId2" Type="http://schemas.openxmlformats.org/officeDocument/2006/relationships/image" Target="../media/image223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.png"/><Relationship Id="rId10" Type="http://schemas.openxmlformats.org/officeDocument/2006/relationships/image" Target="../media/image53.wmf"/><Relationship Id="rId9" Type="http://schemas.openxmlformats.org/officeDocument/2006/relationships/oleObject" Target="../embeddings/oleObject7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56.png"/><Relationship Id="rId7" Type="http://schemas.openxmlformats.org/officeDocument/2006/relationships/image" Target="../media/image58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59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61.png"/><Relationship Id="rId7" Type="http://schemas.openxmlformats.org/officeDocument/2006/relationships/image" Target="../media/image58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59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62.png"/><Relationship Id="rId7" Type="http://schemas.openxmlformats.org/officeDocument/2006/relationships/image" Target="../media/image58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59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01.png"/><Relationship Id="rId2" Type="http://schemas.openxmlformats.org/officeDocument/2006/relationships/image" Target="../media/image19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50.png"/><Relationship Id="rId4" Type="http://schemas.openxmlformats.org/officeDocument/2006/relationships/image" Target="../media/image234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1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0.png"/><Relationship Id="rId5" Type="http://schemas.openxmlformats.org/officeDocument/2006/relationships/image" Target="../media/image1980.png"/><Relationship Id="rId4" Type="http://schemas.openxmlformats.org/officeDocument/2006/relationships/image" Target="../media/image196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0.png"/><Relationship Id="rId3" Type="http://schemas.openxmlformats.org/officeDocument/2006/relationships/image" Target="../media/image1771.png"/><Relationship Id="rId7" Type="http://schemas.openxmlformats.org/officeDocument/2006/relationships/image" Target="../media/image1810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0.png"/><Relationship Id="rId5" Type="http://schemas.openxmlformats.org/officeDocument/2006/relationships/image" Target="../media/image1790.png"/><Relationship Id="rId10" Type="http://schemas.openxmlformats.org/officeDocument/2006/relationships/image" Target="../media/image14700.png"/><Relationship Id="rId4" Type="http://schemas.openxmlformats.org/officeDocument/2006/relationships/image" Target="../media/image1781.png"/><Relationship Id="rId9" Type="http://schemas.openxmlformats.org/officeDocument/2006/relationships/image" Target="../media/image1460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8FAA-DB2A-CAEF-750B-B29E7B37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3FADDE-D615-42EB-EF80-80433EF03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1FCCFDD-E70B-5132-31FE-4D09549C90D9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4DDCB6F-FD0A-8603-B479-6B3F7129F141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4C46CE-8541-D761-80C0-CC657394FFC5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March 24,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E16FB2-8CB2-CE2C-B0D0-810A32FE2E41}"/>
              </a:ext>
            </a:extLst>
          </p:cNvPr>
          <p:cNvSpPr txBox="1">
            <a:spLocks/>
          </p:cNvSpPr>
          <p:nvPr/>
        </p:nvSpPr>
        <p:spPr>
          <a:xfrm>
            <a:off x="1212348" y="3166183"/>
            <a:ext cx="8365285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Deterministic optimization as a sequential decision problem – We illustrate the power of using parameterized versions of deterministic optimization models as policies, known as cost function approximations.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640DE9-CE0A-D55E-5121-FA353CFA4363}"/>
              </a:ext>
            </a:extLst>
          </p:cNvPr>
          <p:cNvSpPr txBox="1">
            <a:spLocks/>
          </p:cNvSpPr>
          <p:nvPr/>
        </p:nvSpPr>
        <p:spPr>
          <a:xfrm>
            <a:off x="1214274" y="573589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Assumes familiarity with linear programming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F7EDCA6-85B3-3609-3B45-5545D8811F81}"/>
              </a:ext>
            </a:extLst>
          </p:cNvPr>
          <p:cNvSpPr txBox="1">
            <a:spLocks/>
          </p:cNvSpPr>
          <p:nvPr/>
        </p:nvSpPr>
        <p:spPr>
          <a:xfrm>
            <a:off x="1214274" y="4802056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sequential decision problems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(high level or 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7E04FA-1649-02A5-FCA1-174E0CFFF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08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8AA20C5-7776-43C3-0068-D1B2853F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8E75D-4F75-4C4A-70D3-F3C869D5F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7BDCF8DA-75A1-3760-A409-E0DD731F76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B8BFEA12-0E65-2E02-58F7-5F205046B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Deterministic optimization as SDPs</a:t>
            </a: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From static LPs to fully sequential problems</a:t>
            </a: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An energy illustration</a:t>
            </a:r>
          </a:p>
        </p:txBody>
      </p:sp>
    </p:spTree>
    <p:extLst>
      <p:ext uri="{BB962C8B-B14F-4D97-AF65-F5344CB8AC3E}">
        <p14:creationId xmlns:p14="http://schemas.microsoft.com/office/powerpoint/2010/main" val="35739018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23A182E-60C2-A309-508B-A702C410E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676CF-5DAF-4A45-35E1-3661D042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262E6192-FDA5-DD39-F645-BEC3E41FC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11920F17-7856-D91B-9068-3892D03FD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Deterministic optimization as SDPs</a:t>
            </a: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From static LPs to fully sequential problems</a:t>
            </a: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An energy illustration</a:t>
            </a:r>
          </a:p>
        </p:txBody>
      </p:sp>
    </p:spTree>
    <p:extLst>
      <p:ext uri="{BB962C8B-B14F-4D97-AF65-F5344CB8AC3E}">
        <p14:creationId xmlns:p14="http://schemas.microsoft.com/office/powerpoint/2010/main" val="3628713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86258-D883-1145-F8AC-1B93A66B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A768A-0E90-CD62-F519-E98A735C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03"/>
            <a:ext cx="10990811" cy="91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start with a static, deterministic optimization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4AFB39-AF8E-6E70-00FB-8AA82D79BA53}"/>
                  </a:ext>
                </a:extLst>
              </p:cNvPr>
              <p:cNvSpPr txBox="1"/>
              <p:nvPr/>
            </p:nvSpPr>
            <p:spPr>
              <a:xfrm>
                <a:off x="4394382" y="2597522"/>
                <a:ext cx="1856790" cy="8249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4AFB39-AF8E-6E70-00FB-8AA82D79B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382" y="2597522"/>
                <a:ext cx="1856790" cy="8249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4360744-35D1-0FDC-B057-8AD37660930C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0B631E-5DC3-A54A-04BC-59CFCF94C0D4}"/>
                  </a:ext>
                </a:extLst>
              </p:cNvPr>
              <p:cNvSpPr txBox="1"/>
              <p:nvPr/>
            </p:nvSpPr>
            <p:spPr>
              <a:xfrm>
                <a:off x="4263756" y="3901764"/>
                <a:ext cx="182056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0B631E-5DC3-A54A-04BC-59CFCF94C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3756" y="3901764"/>
                <a:ext cx="1820563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592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ADF2-0A05-E86A-2D2D-881C4CDEA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8A98-41C1-92B6-1D77-A5A346C6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E3795-BF6C-8437-F04E-5B3E52D2B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01203"/>
                <a:ext cx="10043809" cy="91108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 practice, these are solved at a point in time with data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is changing over time.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E3795-BF6C-8437-F04E-5B3E52D2B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01203"/>
                <a:ext cx="10043809" cy="911088"/>
              </a:xfrm>
              <a:blipFill>
                <a:blip r:embed="rId2"/>
                <a:stretch>
                  <a:fillRect l="-1092" t="-2013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601059A-E6E7-05D9-3FBB-E3EF33DD718D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FBC02-8CC0-E86A-C33E-FA71E9425B5A}"/>
                  </a:ext>
                </a:extLst>
              </p:cNvPr>
              <p:cNvSpPr txBox="1"/>
              <p:nvPr/>
            </p:nvSpPr>
            <p:spPr>
              <a:xfrm>
                <a:off x="3999681" y="3901763"/>
                <a:ext cx="232845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 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FBC02-8CC0-E86A-C33E-FA71E9425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681" y="3901763"/>
                <a:ext cx="2328458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C9D940-A896-EDA2-3648-4CFADF568F5A}"/>
                  </a:ext>
                </a:extLst>
              </p:cNvPr>
              <p:cNvSpPr txBox="1"/>
              <p:nvPr/>
            </p:nvSpPr>
            <p:spPr>
              <a:xfrm>
                <a:off x="4376626" y="2597522"/>
                <a:ext cx="1890453" cy="83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C9D940-A896-EDA2-3648-4CFADF56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626" y="2597522"/>
                <a:ext cx="1890453" cy="830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043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FE5F4-5628-8DBA-3374-E2307679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BB60-0017-DE68-01C6-BCB59024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624E06-CD86-2B07-DBA6-143CFF1C3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03"/>
                <a:ext cx="9667532" cy="91108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Any method for making a decision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can be called a </a:t>
                </a:r>
                <a:r>
                  <a:rPr lang="en-US" i="1" dirty="0"/>
                  <a:t>policy</a:t>
                </a:r>
                <a:r>
                  <a:rPr lang="en-US" dirty="0"/>
                  <a:t> that depends on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624E06-CD86-2B07-DBA6-143CFF1C3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03"/>
                <a:ext cx="9667532" cy="911088"/>
              </a:xfrm>
              <a:blipFill>
                <a:blip r:embed="rId2"/>
                <a:stretch>
                  <a:fillRect l="-1199" t="-2013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64CE6A4-0A17-6057-9B2A-E56FDEAEC79F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6839BB5-DAA5-2946-8414-ACF0F7C37E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718" y="5187310"/>
                <a:ext cx="11080795" cy="911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600" dirty="0">
                    <a:latin typeface="Raleway" pitchFamily="2" charset="0"/>
                  </a:rPr>
                  <a:t>where “</a:t>
                </a:r>
                <a:r>
                  <a:rPr lang="en-US" sz="2600" dirty="0" err="1">
                    <a:latin typeface="Raleway" pitchFamily="2" charset="0"/>
                  </a:rPr>
                  <a:t>argmin</a:t>
                </a:r>
                <a:r>
                  <a:rPr lang="en-US" sz="2600" dirty="0">
                    <a:latin typeface="Raleway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” is the value of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 that minimizes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 is a </a:t>
                </a:r>
                <a:r>
                  <a:rPr lang="en-US" sz="2600" i="1" dirty="0">
                    <a:latin typeface="Raleway" pitchFamily="2" charset="0"/>
                  </a:rPr>
                  <a:t>policy </a:t>
                </a:r>
                <a:r>
                  <a:rPr lang="en-US" sz="2600" dirty="0">
                    <a:latin typeface="Raleway" pitchFamily="2" charset="0"/>
                  </a:rPr>
                  <a:t>that represents how we make a decision at time </a:t>
                </a:r>
                <a:r>
                  <a:rPr lang="en-US" sz="2600" i="1" dirty="0">
                    <a:latin typeface="Raleway" pitchFamily="2" charset="0"/>
                  </a:rPr>
                  <a:t>t. </a:t>
                </a: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6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6839BB5-DAA5-2946-8414-ACF0F7C3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18" y="5187310"/>
                <a:ext cx="11080795" cy="911088"/>
              </a:xfrm>
              <a:prstGeom prst="rect">
                <a:avLst/>
              </a:prstGeom>
              <a:blipFill>
                <a:blip r:embed="rId5"/>
                <a:stretch>
                  <a:fillRect l="-991" t="-10067" b="-5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71EB33-3CE5-EEE1-DB9D-0DB7A1009E80}"/>
                  </a:ext>
                </a:extLst>
              </p:cNvPr>
              <p:cNvSpPr txBox="1"/>
              <p:nvPr/>
            </p:nvSpPr>
            <p:spPr>
              <a:xfrm>
                <a:off x="3999681" y="3901763"/>
                <a:ext cx="232845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 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71EB33-3CE5-EEE1-DB9D-0DB7A1009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681" y="3901763"/>
                <a:ext cx="2328458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307082-77B3-F73F-01AE-42C4AF168C89}"/>
                  </a:ext>
                </a:extLst>
              </p:cNvPr>
              <p:cNvSpPr txBox="1"/>
              <p:nvPr/>
            </p:nvSpPr>
            <p:spPr>
              <a:xfrm>
                <a:off x="1601865" y="2597522"/>
                <a:ext cx="4736233" cy="83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307082-77B3-F73F-01AE-42C4AF168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865" y="2597522"/>
                <a:ext cx="4736233" cy="8302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2971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9B55-3722-DAB9-1254-33C74523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2198-0882-3AEC-184E-49B8F6AC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69845-C324-6921-47E0-86771B229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03"/>
            <a:ext cx="10918371" cy="9110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can modify the behavior of our linear program by introducing tunable parameters in the objective function or constraints.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990DB-0103-8EEF-4BAB-82ABF169F5C9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A369100-9C1F-0390-251D-1A611474EE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718" y="5355920"/>
                <a:ext cx="11080795" cy="911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600" dirty="0">
                    <a:latin typeface="Raleway" pitchFamily="2" charset="0"/>
                  </a:rPr>
                  <a:t>The policy “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” captures how the problem is parameterized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, and the parameters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A369100-9C1F-0390-251D-1A611474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18" y="5355920"/>
                <a:ext cx="11080795" cy="911088"/>
              </a:xfrm>
              <a:prstGeom prst="rect">
                <a:avLst/>
              </a:prstGeom>
              <a:blipFill>
                <a:blip r:embed="rId2"/>
                <a:stretch>
                  <a:fillRect l="-991" t="-10738" b="-5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D11B0B-5948-5786-FCE3-23132C72F6FB}"/>
                  </a:ext>
                </a:extLst>
              </p:cNvPr>
              <p:cNvSpPr txBox="1"/>
              <p:nvPr/>
            </p:nvSpPr>
            <p:spPr>
              <a:xfrm>
                <a:off x="3502237" y="3901763"/>
                <a:ext cx="39081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D11B0B-5948-5786-FCE3-23132C72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237" y="3901763"/>
                <a:ext cx="390818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2C5645C-A8FD-5A06-E641-7DBC27FF4873}"/>
              </a:ext>
            </a:extLst>
          </p:cNvPr>
          <p:cNvGrpSpPr/>
          <p:nvPr/>
        </p:nvGrpSpPr>
        <p:grpSpPr>
          <a:xfrm>
            <a:off x="1718273" y="4023875"/>
            <a:ext cx="1999017" cy="1074910"/>
            <a:chOff x="1659005" y="4057743"/>
            <a:chExt cx="1999017" cy="1074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997FD5-2C63-692F-53AC-FC6FD457A35A}"/>
                    </a:ext>
                  </a:extLst>
                </p:cNvPr>
                <p:cNvSpPr txBox="1"/>
                <p:nvPr/>
              </p:nvSpPr>
              <p:spPr>
                <a:xfrm>
                  <a:off x="1659005" y="4308133"/>
                  <a:ext cx="156978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997FD5-2C63-692F-53AC-FC6FD457A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005" y="4308133"/>
                  <a:ext cx="156978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EF6145-6C67-1CED-8F1D-A567E86DC123}"/>
                    </a:ext>
                  </a:extLst>
                </p:cNvPr>
                <p:cNvSpPr txBox="1"/>
                <p:nvPr/>
              </p:nvSpPr>
              <p:spPr>
                <a:xfrm>
                  <a:off x="3014641" y="4057743"/>
                  <a:ext cx="643381" cy="1074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EF6145-6C67-1CED-8F1D-A567E86DC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4641" y="4057743"/>
                  <a:ext cx="643381" cy="10749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565D-E6BA-59AF-BE62-7336B50B1ADE}"/>
                  </a:ext>
                </a:extLst>
              </p:cNvPr>
              <p:cNvSpPr txBox="1"/>
              <p:nvPr/>
            </p:nvSpPr>
            <p:spPr>
              <a:xfrm>
                <a:off x="1255620" y="2597522"/>
                <a:ext cx="6235810" cy="9017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𝒳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565D-E6BA-59AF-BE62-7336B50B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620" y="2597522"/>
                <a:ext cx="6235810" cy="9017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5561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B10D-35EC-63D9-E9D8-3D70B772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79366-2C07-C5EC-9624-59FF5CB6D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2917" y="1060414"/>
            <a:ext cx="10363200" cy="635036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Which parameterization is best?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55151D-1A4F-B3D4-13FA-FCC109A58AD8}"/>
              </a:ext>
            </a:extLst>
          </p:cNvPr>
          <p:cNvGrpSpPr/>
          <p:nvPr/>
        </p:nvGrpSpPr>
        <p:grpSpPr>
          <a:xfrm>
            <a:off x="2639786" y="2702297"/>
            <a:ext cx="2319353" cy="1745879"/>
            <a:chOff x="4192361" y="3197597"/>
            <a:chExt cx="2319353" cy="174587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BC23174-98B7-E78B-D1A8-E62C87FA6603}"/>
                </a:ext>
              </a:extLst>
            </p:cNvPr>
            <p:cNvSpPr/>
            <p:nvPr/>
          </p:nvSpPr>
          <p:spPr>
            <a:xfrm>
              <a:off x="4394382" y="3197597"/>
              <a:ext cx="1911168" cy="1745879"/>
            </a:xfrm>
            <a:prstGeom prst="rect">
              <a:avLst/>
            </a:prstGeom>
            <a:solidFill>
              <a:srgbClr val="FFA3A3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918B9C0-EBE0-2837-0A47-C9F418D4A295}"/>
                </a:ext>
              </a:extLst>
            </p:cNvPr>
            <p:cNvGrpSpPr/>
            <p:nvPr/>
          </p:nvGrpSpPr>
          <p:grpSpPr>
            <a:xfrm>
              <a:off x="4192361" y="3197597"/>
              <a:ext cx="2319353" cy="1443951"/>
              <a:chOff x="4192361" y="3197597"/>
              <a:chExt cx="2319353" cy="14439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5ED27CB9-D342-E964-CE0D-FED6263E9253}"/>
                      </a:ext>
                    </a:extLst>
                  </p:cNvPr>
                  <p:cNvSpPr txBox="1"/>
                  <p:nvPr/>
                </p:nvSpPr>
                <p:spPr>
                  <a:xfrm>
                    <a:off x="4388399" y="3197597"/>
                    <a:ext cx="1880963" cy="629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5ED27CB9-D342-E964-CE0D-FED6263E92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8399" y="3197597"/>
                    <a:ext cx="1880963" cy="62991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197413D-B8A3-350C-70FB-E3B6DD861CDE}"/>
                      </a:ext>
                    </a:extLst>
                  </p:cNvPr>
                  <p:cNvSpPr txBox="1"/>
                  <p:nvPr/>
                </p:nvSpPr>
                <p:spPr>
                  <a:xfrm>
                    <a:off x="4192361" y="3933662"/>
                    <a:ext cx="2319353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b="0" dirty="0"/>
                  </a:p>
                  <a:p>
                    <a:r>
                      <a:rPr lang="en-US" sz="2000" b="0" dirty="0"/>
                      <a:t>    </a:t>
                    </a:r>
                    <a14:m>
                      <m:oMath xmlns:m="http://schemas.openxmlformats.org/officeDocument/2006/math"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197413D-B8A3-350C-70FB-E3B6DD861C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2361" y="3933662"/>
                    <a:ext cx="2319353" cy="70788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7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463639B-17BB-8A0E-A057-3B0FFA3E735E}"/>
              </a:ext>
            </a:extLst>
          </p:cNvPr>
          <p:cNvSpPr txBox="1"/>
          <p:nvPr/>
        </p:nvSpPr>
        <p:spPr>
          <a:xfrm>
            <a:off x="676275" y="3175630"/>
            <a:ext cx="1149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aleway" pitchFamily="2" charset="0"/>
              </a:rPr>
              <a:t>Model: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2C148-8270-E3C7-AEA9-7505C23E0C1F}"/>
              </a:ext>
            </a:extLst>
          </p:cNvPr>
          <p:cNvSpPr txBox="1"/>
          <p:nvPr/>
        </p:nvSpPr>
        <p:spPr>
          <a:xfrm>
            <a:off x="704850" y="4477212"/>
            <a:ext cx="1386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aleway" pitchFamily="2" charset="0"/>
              </a:rPr>
              <a:t>Optimal </a:t>
            </a:r>
          </a:p>
          <a:p>
            <a:r>
              <a:rPr lang="en-US" sz="2400" dirty="0">
                <a:latin typeface="Raleway" pitchFamily="2" charset="0"/>
              </a:rPr>
              <a:t>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7378076-09C5-A507-D3AD-F6F2E542A2BF}"/>
                  </a:ext>
                </a:extLst>
              </p:cNvPr>
              <p:cNvSpPr txBox="1"/>
              <p:nvPr/>
            </p:nvSpPr>
            <p:spPr>
              <a:xfrm>
                <a:off x="3479387" y="4585506"/>
                <a:ext cx="6360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7378076-09C5-A507-D3AD-F6F2E542A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387" y="4585506"/>
                <a:ext cx="63600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B11701-3193-1946-2FED-C8ED3EA6251B}"/>
                  </a:ext>
                </a:extLst>
              </p:cNvPr>
              <p:cNvSpPr txBox="1"/>
              <p:nvPr/>
            </p:nvSpPr>
            <p:spPr>
              <a:xfrm>
                <a:off x="6546437" y="4585506"/>
                <a:ext cx="6384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2B11701-3193-1946-2FED-C8ED3EA62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437" y="4585506"/>
                <a:ext cx="63844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BE4FE1-A787-DEFC-E90F-4978724BE0F9}"/>
                  </a:ext>
                </a:extLst>
              </p:cNvPr>
              <p:cNvSpPr txBox="1"/>
              <p:nvPr/>
            </p:nvSpPr>
            <p:spPr>
              <a:xfrm>
                <a:off x="9727787" y="4585506"/>
                <a:ext cx="6384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8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BE4FE1-A787-DEFC-E90F-4978724BE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787" y="4585506"/>
                <a:ext cx="63844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76AFCEF-9D79-67BF-8359-38413FF43C5E}"/>
              </a:ext>
            </a:extLst>
          </p:cNvPr>
          <p:cNvSpPr txBox="1">
            <a:spLocks/>
          </p:cNvSpPr>
          <p:nvPr/>
        </p:nvSpPr>
        <p:spPr>
          <a:xfrm>
            <a:off x="2199589" y="5439636"/>
            <a:ext cx="8371033" cy="1146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We need to evaluate how well each solution works in the field, over time.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A8ADF4-DA2B-8A07-A5FF-D343E4EF0705}"/>
              </a:ext>
            </a:extLst>
          </p:cNvPr>
          <p:cNvSpPr txBox="1"/>
          <p:nvPr/>
        </p:nvSpPr>
        <p:spPr>
          <a:xfrm>
            <a:off x="676275" y="2023105"/>
            <a:ext cx="1731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Raleway" pitchFamily="2" charset="0"/>
              </a:rPr>
              <a:t>Developer: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17DF7F-5033-0A86-A946-7AFC4B0AEE31}"/>
              </a:ext>
            </a:extLst>
          </p:cNvPr>
          <p:cNvSpPr txBox="1"/>
          <p:nvPr/>
        </p:nvSpPr>
        <p:spPr>
          <a:xfrm>
            <a:off x="3133725" y="2023105"/>
            <a:ext cx="1301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Raleway" pitchFamily="2" charset="0"/>
              </a:rPr>
              <a:t>Model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B33733-021B-B69C-2379-0DB198A3E7E3}"/>
              </a:ext>
            </a:extLst>
          </p:cNvPr>
          <p:cNvSpPr txBox="1"/>
          <p:nvPr/>
        </p:nvSpPr>
        <p:spPr>
          <a:xfrm>
            <a:off x="6229350" y="2032630"/>
            <a:ext cx="133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Model 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6C0949-F96D-FCF0-B571-A18B44968A76}"/>
              </a:ext>
            </a:extLst>
          </p:cNvPr>
          <p:cNvSpPr txBox="1"/>
          <p:nvPr/>
        </p:nvSpPr>
        <p:spPr>
          <a:xfrm>
            <a:off x="9286875" y="2032630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Raleway" pitchFamily="2" charset="0"/>
              </a:rPr>
              <a:t>Model 3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BD0312-7767-000E-D1D8-B1EC3A1534B4}"/>
              </a:ext>
            </a:extLst>
          </p:cNvPr>
          <p:cNvGrpSpPr/>
          <p:nvPr/>
        </p:nvGrpSpPr>
        <p:grpSpPr>
          <a:xfrm>
            <a:off x="5705509" y="2705839"/>
            <a:ext cx="2319353" cy="1745879"/>
            <a:chOff x="4192361" y="3197597"/>
            <a:chExt cx="2319353" cy="174587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E84FA01-3903-EB09-0BB8-D107FB17B427}"/>
                </a:ext>
              </a:extLst>
            </p:cNvPr>
            <p:cNvSpPr/>
            <p:nvPr/>
          </p:nvSpPr>
          <p:spPr>
            <a:xfrm>
              <a:off x="4394382" y="3197597"/>
              <a:ext cx="1911168" cy="174587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A71B61A-D326-1991-C3E8-177667E77C9C}"/>
                </a:ext>
              </a:extLst>
            </p:cNvPr>
            <p:cNvGrpSpPr/>
            <p:nvPr/>
          </p:nvGrpSpPr>
          <p:grpSpPr>
            <a:xfrm>
              <a:off x="4192361" y="3197597"/>
              <a:ext cx="2319353" cy="1443951"/>
              <a:chOff x="4192361" y="3197597"/>
              <a:chExt cx="2319353" cy="14439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87274451-606A-DE9F-EA67-6BAC30590CB6}"/>
                      </a:ext>
                    </a:extLst>
                  </p:cNvPr>
                  <p:cNvSpPr txBox="1"/>
                  <p:nvPr/>
                </p:nvSpPr>
                <p:spPr>
                  <a:xfrm>
                    <a:off x="4388399" y="3197597"/>
                    <a:ext cx="1880963" cy="629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87274451-606A-DE9F-EA67-6BAC30590C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8399" y="3197597"/>
                    <a:ext cx="1880963" cy="62991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4A3702F-1B7E-C642-620E-5E55D5D977A4}"/>
                      </a:ext>
                    </a:extLst>
                  </p:cNvPr>
                  <p:cNvSpPr txBox="1"/>
                  <p:nvPr/>
                </p:nvSpPr>
                <p:spPr>
                  <a:xfrm>
                    <a:off x="4192361" y="3933662"/>
                    <a:ext cx="2319353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b="0" dirty="0"/>
                  </a:p>
                  <a:p>
                    <a:r>
                      <a:rPr lang="en-US" sz="2000" b="0" dirty="0"/>
                      <a:t>    </a:t>
                    </a:r>
                    <a14:m>
                      <m:oMath xmlns:m="http://schemas.openxmlformats.org/officeDocument/2006/math"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4A3702F-1B7E-C642-620E-5E55D5D977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2361" y="3933662"/>
                    <a:ext cx="2319353" cy="70788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8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6D23A04-7CE5-3C27-4F5D-81B83FA15E79}"/>
              </a:ext>
            </a:extLst>
          </p:cNvPr>
          <p:cNvGrpSpPr/>
          <p:nvPr/>
        </p:nvGrpSpPr>
        <p:grpSpPr>
          <a:xfrm>
            <a:off x="8803136" y="2698748"/>
            <a:ext cx="2319353" cy="1745879"/>
            <a:chOff x="4192361" y="3197597"/>
            <a:chExt cx="2319353" cy="174587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B2F111B-CA20-E5D6-0006-0FF6A9686E8F}"/>
                </a:ext>
              </a:extLst>
            </p:cNvPr>
            <p:cNvSpPr/>
            <p:nvPr/>
          </p:nvSpPr>
          <p:spPr>
            <a:xfrm>
              <a:off x="4394382" y="3197597"/>
              <a:ext cx="1911168" cy="174587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974D641-5205-396A-AB20-5C33BC202FA0}"/>
                </a:ext>
              </a:extLst>
            </p:cNvPr>
            <p:cNvGrpSpPr/>
            <p:nvPr/>
          </p:nvGrpSpPr>
          <p:grpSpPr>
            <a:xfrm>
              <a:off x="4192361" y="3197597"/>
              <a:ext cx="2319353" cy="1443951"/>
              <a:chOff x="4192361" y="3197597"/>
              <a:chExt cx="2319353" cy="14439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2732250-7118-F2C4-EC97-85D937827A86}"/>
                      </a:ext>
                    </a:extLst>
                  </p:cNvPr>
                  <p:cNvSpPr txBox="1"/>
                  <p:nvPr/>
                </p:nvSpPr>
                <p:spPr>
                  <a:xfrm>
                    <a:off x="4388399" y="3197597"/>
                    <a:ext cx="1880963" cy="629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2732250-7118-F2C4-EC97-85D937827A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8399" y="3197597"/>
                    <a:ext cx="1880963" cy="62991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3876AF2-E836-48CB-350B-CAE75D45DADF}"/>
                      </a:ext>
                    </a:extLst>
                  </p:cNvPr>
                  <p:cNvSpPr txBox="1"/>
                  <p:nvPr/>
                </p:nvSpPr>
                <p:spPr>
                  <a:xfrm>
                    <a:off x="4192361" y="3933662"/>
                    <a:ext cx="2319353" cy="7078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b="0" dirty="0"/>
                  </a:p>
                  <a:p>
                    <a:r>
                      <a:rPr lang="en-US" sz="2000" b="0" dirty="0"/>
                      <a:t>    </a:t>
                    </a:r>
                    <a14:m>
                      <m:oMath xmlns:m="http://schemas.openxmlformats.org/officeDocument/2006/math"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3876AF2-E836-48CB-350B-CAE75D45DA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2361" y="3933662"/>
                    <a:ext cx="2319353" cy="70788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8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836985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55B5883-5904-3B27-0537-20334F6AA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03"/>
            <a:ext cx="10918371" cy="911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next simulate to evaluate the performance of our policy: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DDB6E0-38BA-48F0-D46D-9A6317B38A2C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504922" y="4582343"/>
            <a:ext cx="8202022" cy="348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521444-E1D2-12D3-C84E-8C5D423136C9}"/>
              </a:ext>
            </a:extLst>
          </p:cNvPr>
          <p:cNvCxnSpPr/>
          <p:nvPr/>
        </p:nvCxnSpPr>
        <p:spPr>
          <a:xfrm>
            <a:off x="2504925" y="4463912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196360D-3F19-295A-7708-816641070318}"/>
              </a:ext>
            </a:extLst>
          </p:cNvPr>
          <p:cNvCxnSpPr/>
          <p:nvPr/>
        </p:nvCxnSpPr>
        <p:spPr>
          <a:xfrm>
            <a:off x="2504922" y="4477455"/>
            <a:ext cx="162560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F822947-83DC-64D4-8BAB-DFF10554A41B}"/>
              </a:ext>
            </a:extLst>
          </p:cNvPr>
          <p:cNvGrpSpPr/>
          <p:nvPr/>
        </p:nvGrpSpPr>
        <p:grpSpPr>
          <a:xfrm>
            <a:off x="2323275" y="3158779"/>
            <a:ext cx="499817" cy="1272954"/>
            <a:chOff x="2474602" y="2919256"/>
            <a:chExt cx="499817" cy="127295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F56BE68-4DE0-5093-B22B-CF7948A8643D}"/>
                </a:ext>
              </a:extLst>
            </p:cNvPr>
            <p:cNvCxnSpPr>
              <a:cxnSpLocks/>
            </p:cNvCxnSpPr>
            <p:nvPr/>
          </p:nvCxnSpPr>
          <p:spPr>
            <a:xfrm>
              <a:off x="2657261" y="3299634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/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5DF836C-C317-9B0E-D20C-D8180FCC6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602" y="2919256"/>
                  <a:ext cx="499817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70CA9CF-2584-0D82-DFFD-83B43505E5F0}"/>
              </a:ext>
            </a:extLst>
          </p:cNvPr>
          <p:cNvGrpSpPr/>
          <p:nvPr/>
        </p:nvGrpSpPr>
        <p:grpSpPr>
          <a:xfrm>
            <a:off x="2417883" y="3491231"/>
            <a:ext cx="1769394" cy="952359"/>
            <a:chOff x="2569210" y="3251708"/>
            <a:chExt cx="1769394" cy="952359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E10C72A-D433-06E9-0059-F41332638804}"/>
                </a:ext>
              </a:extLst>
            </p:cNvPr>
            <p:cNvCxnSpPr>
              <a:cxnSpLocks/>
            </p:cNvCxnSpPr>
            <p:nvPr/>
          </p:nvCxnSpPr>
          <p:spPr>
            <a:xfrm>
              <a:off x="2789342" y="3621040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/>
                <p:nvPr/>
              </p:nvSpPr>
              <p:spPr>
                <a:xfrm>
                  <a:off x="2569210" y="3251708"/>
                  <a:ext cx="17693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7EDE9190-0AC0-8B08-0F9F-A6ABA2FF7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9210" y="3251708"/>
                  <a:ext cx="176939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D11361-881A-5AD9-9688-EC5BF5478DB4}"/>
              </a:ext>
            </a:extLst>
          </p:cNvPr>
          <p:cNvCxnSpPr/>
          <p:nvPr/>
        </p:nvCxnSpPr>
        <p:spPr>
          <a:xfrm>
            <a:off x="4137600" y="4463911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CA436B-C8F6-56D2-769D-5659B76279EB}"/>
              </a:ext>
            </a:extLst>
          </p:cNvPr>
          <p:cNvCxnSpPr/>
          <p:nvPr/>
        </p:nvCxnSpPr>
        <p:spPr>
          <a:xfrm>
            <a:off x="5770275" y="4470888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/>
              <p:nvPr/>
            </p:nvSpPr>
            <p:spPr>
              <a:xfrm>
                <a:off x="4669414" y="4153631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06A4C4-61C0-195A-CA2D-F301F5B16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414" y="4153631"/>
                <a:ext cx="53251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05434E5-04E4-6AA3-53A0-961B740EE3A8}"/>
              </a:ext>
            </a:extLst>
          </p:cNvPr>
          <p:cNvGrpSpPr/>
          <p:nvPr/>
        </p:nvGrpSpPr>
        <p:grpSpPr>
          <a:xfrm>
            <a:off x="2623847" y="3922071"/>
            <a:ext cx="1538563" cy="740360"/>
            <a:chOff x="2775174" y="3682548"/>
            <a:chExt cx="1538563" cy="7403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/>
                <p:nvPr/>
              </p:nvSpPr>
              <p:spPr>
                <a:xfrm rot="5400000">
                  <a:off x="3283262" y="3392433"/>
                  <a:ext cx="522387" cy="15385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D0B9D22-4319-DCEB-9AE3-78B1B1106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283262" y="3392433"/>
                  <a:ext cx="522387" cy="15385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/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2745CBA5-9EB1-0E89-D817-3EABADF96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861" y="3682548"/>
                  <a:ext cx="53976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391FE69-CA2E-29BD-26E5-01889DB60EA2}"/>
              </a:ext>
            </a:extLst>
          </p:cNvPr>
          <p:cNvCxnSpPr/>
          <p:nvPr/>
        </p:nvCxnSpPr>
        <p:spPr>
          <a:xfrm>
            <a:off x="7402996" y="4456537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0979314-13C0-623E-2520-6C842AD5F2B7}"/>
              </a:ext>
            </a:extLst>
          </p:cNvPr>
          <p:cNvGrpSpPr/>
          <p:nvPr/>
        </p:nvGrpSpPr>
        <p:grpSpPr>
          <a:xfrm>
            <a:off x="5588671" y="3151405"/>
            <a:ext cx="1869774" cy="1284811"/>
            <a:chOff x="5739998" y="2911882"/>
            <a:chExt cx="1869774" cy="1284811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7E9A2D7-D865-6E70-8B1F-25E1B07668F7}"/>
                </a:ext>
              </a:extLst>
            </p:cNvPr>
            <p:cNvCxnSpPr>
              <a:cxnSpLocks/>
            </p:cNvCxnSpPr>
            <p:nvPr/>
          </p:nvCxnSpPr>
          <p:spPr>
            <a:xfrm>
              <a:off x="5922657" y="3292260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/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6F029730-3D33-882F-A784-C8989311A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9998" y="2911882"/>
                  <a:ext cx="477567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3905546-6C8B-A61E-9FB3-655B2D653BE0}"/>
                </a:ext>
              </a:extLst>
            </p:cNvPr>
            <p:cNvCxnSpPr>
              <a:cxnSpLocks/>
            </p:cNvCxnSpPr>
            <p:nvPr/>
          </p:nvCxnSpPr>
          <p:spPr>
            <a:xfrm>
              <a:off x="6054738" y="3613666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/>
                <p:nvPr/>
              </p:nvSpPr>
              <p:spPr>
                <a:xfrm>
                  <a:off x="5834606" y="3244334"/>
                  <a:ext cx="17751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4EDBE034-6F74-60B3-3130-C0FFDE7F3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4606" y="3244334"/>
                  <a:ext cx="177516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/>
              <p:nvPr/>
            </p:nvSpPr>
            <p:spPr>
              <a:xfrm>
                <a:off x="7945662" y="4152076"/>
                <a:ext cx="5325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350788-B68C-CB58-6DBA-C6B1A9438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662" y="4152076"/>
                <a:ext cx="53251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1AACDAA-C93C-9145-7ECC-B527D26AAD4F}"/>
              </a:ext>
            </a:extLst>
          </p:cNvPr>
          <p:cNvCxnSpPr/>
          <p:nvPr/>
        </p:nvCxnSpPr>
        <p:spPr>
          <a:xfrm>
            <a:off x="9035717" y="4460089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D8A3284-39C7-771A-F2AF-7B4C35A35108}"/>
              </a:ext>
            </a:extLst>
          </p:cNvPr>
          <p:cNvCxnSpPr/>
          <p:nvPr/>
        </p:nvCxnSpPr>
        <p:spPr>
          <a:xfrm>
            <a:off x="9033396" y="4460983"/>
            <a:ext cx="0" cy="24384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DAA171-F0D7-272B-165E-ED4C935DFBE2}"/>
              </a:ext>
            </a:extLst>
          </p:cNvPr>
          <p:cNvGrpSpPr/>
          <p:nvPr/>
        </p:nvGrpSpPr>
        <p:grpSpPr>
          <a:xfrm>
            <a:off x="8851792" y="3141500"/>
            <a:ext cx="1903372" cy="1284811"/>
            <a:chOff x="9003119" y="2901977"/>
            <a:chExt cx="1903372" cy="1284811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C2925E1-07CB-F30C-8672-794037BB380F}"/>
                </a:ext>
              </a:extLst>
            </p:cNvPr>
            <p:cNvCxnSpPr>
              <a:cxnSpLocks/>
            </p:cNvCxnSpPr>
            <p:nvPr/>
          </p:nvCxnSpPr>
          <p:spPr>
            <a:xfrm>
              <a:off x="9185778" y="3282355"/>
              <a:ext cx="0" cy="89257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/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BF18C17-90D6-5149-F8E0-B2BB7CBC2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119" y="2901977"/>
                  <a:ext cx="521040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FAF795C-0331-4489-1A8C-9C255124BBC1}"/>
                </a:ext>
              </a:extLst>
            </p:cNvPr>
            <p:cNvCxnSpPr>
              <a:cxnSpLocks/>
            </p:cNvCxnSpPr>
            <p:nvPr/>
          </p:nvCxnSpPr>
          <p:spPr>
            <a:xfrm>
              <a:off x="9317859" y="3603761"/>
              <a:ext cx="0" cy="58302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/>
                <p:nvPr/>
              </p:nvSpPr>
              <p:spPr>
                <a:xfrm>
                  <a:off x="9097727" y="3234429"/>
                  <a:ext cx="18087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61C83698-321B-1D01-2239-CDBE7B8C8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7727" y="3234429"/>
                  <a:ext cx="1808764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/>
              <p:nvPr/>
            </p:nvSpPr>
            <p:spPr>
              <a:xfrm>
                <a:off x="1997379" y="4784357"/>
                <a:ext cx="11232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FCAB8CC-CE2F-BEB7-95F6-C51033FC7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379" y="4784357"/>
                <a:ext cx="1123256" cy="369332"/>
              </a:xfrm>
              <a:prstGeom prst="rect">
                <a:avLst/>
              </a:prstGeom>
              <a:blipFill>
                <a:blip r:embed="rId1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/>
              <p:nvPr/>
            </p:nvSpPr>
            <p:spPr>
              <a:xfrm>
                <a:off x="5215500" y="4787779"/>
                <a:ext cx="1084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E1DC825-8C3A-9F23-57E3-76CB586B6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500" y="4787779"/>
                <a:ext cx="1084143" cy="369332"/>
              </a:xfrm>
              <a:prstGeom prst="rect">
                <a:avLst/>
              </a:prstGeom>
              <a:blipFill>
                <a:blip r:embed="rId1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/>
              <p:nvPr/>
            </p:nvSpPr>
            <p:spPr>
              <a:xfrm>
                <a:off x="8504504" y="4785179"/>
                <a:ext cx="1202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295AADB-FA76-7144-F417-EDDD07238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504" y="4785179"/>
                <a:ext cx="1202893" cy="36933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/>
              <p:nvPr/>
            </p:nvSpPr>
            <p:spPr>
              <a:xfrm>
                <a:off x="623925" y="4802396"/>
                <a:ext cx="9567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d>
                        <m:d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          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+                      ⋯          +          </m:t>
                      </m:r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   +                        ⋯         + 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DA15860-0BF0-8E9A-73A4-8D1DFBF1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25" y="4802396"/>
                <a:ext cx="956757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36095B5-1C1D-DFDA-314A-313BBD7EFDFA}"/>
              </a:ext>
            </a:extLst>
          </p:cNvPr>
          <p:cNvSpPr txBox="1"/>
          <p:nvPr/>
        </p:nvSpPr>
        <p:spPr>
          <a:xfrm>
            <a:off x="10706944" y="439767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Time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BDB2F1-F1C7-FFF2-91E9-98BD7E24F5F6}"/>
              </a:ext>
            </a:extLst>
          </p:cNvPr>
          <p:cNvGrpSpPr/>
          <p:nvPr/>
        </p:nvGrpSpPr>
        <p:grpSpPr>
          <a:xfrm>
            <a:off x="5770318" y="3914697"/>
            <a:ext cx="1657488" cy="730933"/>
            <a:chOff x="6165910" y="3579446"/>
            <a:chExt cx="1657488" cy="730933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223FBB9-0077-110B-3C16-C68316840E6D}"/>
                </a:ext>
              </a:extLst>
            </p:cNvPr>
            <p:cNvCxnSpPr/>
            <p:nvPr/>
          </p:nvCxnSpPr>
          <p:spPr>
            <a:xfrm>
              <a:off x="6165910" y="4134830"/>
              <a:ext cx="1625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/>
                <p:nvPr/>
              </p:nvSpPr>
              <p:spPr>
                <a:xfrm rot="5400000">
                  <a:off x="6792923" y="3279904"/>
                  <a:ext cx="522387" cy="15385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B1321B0-3AC9-680A-11FD-8EEF600B7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6792923" y="3279904"/>
                  <a:ext cx="522387" cy="153856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/>
                <p:nvPr/>
              </p:nvSpPr>
              <p:spPr>
                <a:xfrm>
                  <a:off x="6878522" y="3579446"/>
                  <a:ext cx="7451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E63406-0F36-1031-16F3-46496D3F92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8522" y="3579446"/>
                  <a:ext cx="74514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D95486A7-3A86-BDB4-1F73-402A3BC5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58D68A-EA61-9CF6-5AD6-465EE07D9E7E}"/>
                  </a:ext>
                </a:extLst>
              </p:cNvPr>
              <p:cNvSpPr txBox="1"/>
              <p:nvPr/>
            </p:nvSpPr>
            <p:spPr>
              <a:xfrm>
                <a:off x="1768671" y="5149930"/>
                <a:ext cx="3845242" cy="871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58D68A-EA61-9CF6-5AD6-465EE07D9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671" y="5149930"/>
                <a:ext cx="3845242" cy="87145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5AEE2-DE90-51D7-94D3-74CCC5AB3031}"/>
                  </a:ext>
                </a:extLst>
              </p:cNvPr>
              <p:cNvSpPr txBox="1"/>
              <p:nvPr/>
            </p:nvSpPr>
            <p:spPr>
              <a:xfrm>
                <a:off x="4154881" y="5417775"/>
                <a:ext cx="53366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performance of policy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 over time, in the field</a:t>
                </a:r>
              </a:p>
              <a:p>
                <a:r>
                  <a:rPr lang="en-US" sz="1800" dirty="0">
                    <a:latin typeface="Raleway" pitchFamily="2" charset="0"/>
                  </a:rPr>
                  <a:t>   (not necessarily additive).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415AEE2-DE90-51D7-94D3-74CCC5AB3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881" y="5417775"/>
                <a:ext cx="5336662" cy="646331"/>
              </a:xfrm>
              <a:prstGeom prst="rect">
                <a:avLst/>
              </a:prstGeom>
              <a:blipFill>
                <a:blip r:embed="rId25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A7D25666-8EE5-533C-A566-EA2DD1C5ED0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38632" y="2367817"/>
            <a:ext cx="1075884" cy="10014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D234565-FD04-54E9-BF57-008F50C5DF8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81064" y="2352053"/>
            <a:ext cx="1075884" cy="100148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AE6F7F1-4B2E-3C07-4307-72DD6110ED5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49626" y="2357309"/>
            <a:ext cx="1075884" cy="100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5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1" grpId="0"/>
      <p:bldP spid="74" grpId="0"/>
      <p:bldP spid="76" grpId="0"/>
      <p:bldP spid="78" grpId="0"/>
      <p:bldP spid="79" grpId="0"/>
      <p:bldP spid="2" grpId="0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F086-F545-8F12-D372-CCA3D486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DBCA-8369-8279-A61C-00A0E05F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D542D-C7E0-D1CB-593F-E06D86CE2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03"/>
            <a:ext cx="10918371" cy="9110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can modify the behavior of our linear program by introducing tunable parameters in the objective function or constraints.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C8559-231B-FAA5-B4C4-407DCEB675E6}"/>
              </a:ext>
            </a:extLst>
          </p:cNvPr>
          <p:cNvSpPr txBox="1"/>
          <p:nvPr/>
        </p:nvSpPr>
        <p:spPr>
          <a:xfrm>
            <a:off x="3135255" y="3477461"/>
            <a:ext cx="1619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Subject to: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6AAF5EB-E9EF-4744-C796-571B7128A2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718" y="5355920"/>
                <a:ext cx="11080795" cy="9110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600" dirty="0">
                    <a:latin typeface="Raleway" pitchFamily="2" charset="0"/>
                  </a:rPr>
                  <a:t>The policy “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” captures how the problem is parameterized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, and the parameters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600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A369100-9C1F-0390-251D-1A611474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18" y="5355920"/>
                <a:ext cx="11080795" cy="911088"/>
              </a:xfrm>
              <a:prstGeom prst="rect">
                <a:avLst/>
              </a:prstGeom>
              <a:blipFill>
                <a:blip r:embed="rId2"/>
                <a:stretch>
                  <a:fillRect l="-991" t="-10738" b="-5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313B3E-2F2C-B35E-2980-36349B1ACF89}"/>
                  </a:ext>
                </a:extLst>
              </p:cNvPr>
              <p:cNvSpPr txBox="1"/>
              <p:nvPr/>
            </p:nvSpPr>
            <p:spPr>
              <a:xfrm>
                <a:off x="3502237" y="3901763"/>
                <a:ext cx="39081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b="0" dirty="0"/>
              </a:p>
              <a:p>
                <a:r>
                  <a:rPr lang="en-US" sz="3600" b="0" dirty="0"/>
                  <a:t>   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D11B0B-5948-5786-FCE3-23132C72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237" y="3901763"/>
                <a:ext cx="390818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D7CAEB7-8BEC-BA0D-DAE7-91C147C9E217}"/>
              </a:ext>
            </a:extLst>
          </p:cNvPr>
          <p:cNvGrpSpPr/>
          <p:nvPr/>
        </p:nvGrpSpPr>
        <p:grpSpPr>
          <a:xfrm>
            <a:off x="1718273" y="4023875"/>
            <a:ext cx="1999017" cy="1074910"/>
            <a:chOff x="1659005" y="4057743"/>
            <a:chExt cx="1999017" cy="1074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6976419-5219-9E28-EE80-0DB743230927}"/>
                    </a:ext>
                  </a:extLst>
                </p:cNvPr>
                <p:cNvSpPr txBox="1"/>
                <p:nvPr/>
              </p:nvSpPr>
              <p:spPr>
                <a:xfrm>
                  <a:off x="1659005" y="4308133"/>
                  <a:ext cx="156978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F997FD5-2C63-692F-53AC-FC6FD457A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005" y="4308133"/>
                  <a:ext cx="156978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08940F8-930A-8437-F276-968E90D2CEEE}"/>
                    </a:ext>
                  </a:extLst>
                </p:cNvPr>
                <p:cNvSpPr txBox="1"/>
                <p:nvPr/>
              </p:nvSpPr>
              <p:spPr>
                <a:xfrm>
                  <a:off x="3014641" y="4057743"/>
                  <a:ext cx="643381" cy="1074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7EF6145-6C67-1CED-8F1D-A567E86DC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4641" y="4057743"/>
                  <a:ext cx="643381" cy="10749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994990-A69B-3D6F-300C-9AE5DB9813B3}"/>
                  </a:ext>
                </a:extLst>
              </p:cNvPr>
              <p:cNvSpPr txBox="1"/>
              <p:nvPr/>
            </p:nvSpPr>
            <p:spPr>
              <a:xfrm>
                <a:off x="1255620" y="2597522"/>
                <a:ext cx="6235810" cy="9017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6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𝒳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565D-E6BA-59AF-BE62-7336B50B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620" y="2597522"/>
                <a:ext cx="6235810" cy="9017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50E1D6-440F-E055-046D-AA2AB385E0D1}"/>
                  </a:ext>
                </a:extLst>
              </p:cNvPr>
              <p:cNvSpPr txBox="1"/>
              <p:nvPr/>
            </p:nvSpPr>
            <p:spPr>
              <a:xfrm flipV="1">
                <a:off x="7335294" y="2499890"/>
                <a:ext cx="762453" cy="289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sz="24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sz="2400" i="1" smtClean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/>
                                              </m:mr>
                                              <m:mr>
                                                <m:e/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50E1D6-440F-E055-046D-AA2AB385E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V="1">
                <a:off x="7335294" y="2499890"/>
                <a:ext cx="762453" cy="28961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F34DD69-9C51-555B-09F6-EC37B6E9705B}"/>
              </a:ext>
            </a:extLst>
          </p:cNvPr>
          <p:cNvSpPr txBox="1"/>
          <p:nvPr/>
        </p:nvSpPr>
        <p:spPr>
          <a:xfrm>
            <a:off x="8183635" y="2886100"/>
            <a:ext cx="28447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This is called a “cost function approximation” which is a parametrically modified deterministic optimization model, tuned to work well over time.</a:t>
            </a:r>
          </a:p>
        </p:txBody>
      </p:sp>
    </p:spTree>
    <p:extLst>
      <p:ext uri="{BB962C8B-B14F-4D97-AF65-F5344CB8AC3E}">
        <p14:creationId xmlns:p14="http://schemas.microsoft.com/office/powerpoint/2010/main" val="15165737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1EF20-504E-A883-2B94-2241B952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D7B4A-B771-4BCA-466D-63C7F3D5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1329" y="1031101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We need to recognize two optimization problems:</a:t>
            </a:r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sz="3200" dirty="0"/>
          </a:p>
          <a:p>
            <a:pPr marL="86360" indent="0">
              <a:buNone/>
            </a:pPr>
            <a:endParaRPr lang="en-US" dirty="0"/>
          </a:p>
          <a:p>
            <a:pPr marL="801688" indent="0">
              <a:buNone/>
            </a:pPr>
            <a:endParaRPr lang="en-US" sz="2000" i="1" dirty="0"/>
          </a:p>
          <a:p>
            <a:pPr marL="801688" indent="0">
              <a:buNone/>
            </a:pPr>
            <a:r>
              <a:rPr lang="en-US" sz="2000" i="1" dirty="0"/>
              <a:t>An optimal solution to the surrogate optimization model is almost never an optimal policy; it may perform well, but not necessarily.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8B4BA-91D8-C648-15DA-27E595F319CC}"/>
              </a:ext>
            </a:extLst>
          </p:cNvPr>
          <p:cNvSpPr/>
          <p:nvPr/>
        </p:nvSpPr>
        <p:spPr>
          <a:xfrm>
            <a:off x="1250419" y="1990674"/>
            <a:ext cx="4273550" cy="31632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2">
                  <a:lumMod val="40000"/>
                  <a:lumOff val="60000"/>
                </a:schemeClr>
              </a:gs>
              <a:gs pos="92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081BF5-1F60-5341-872A-D0EE17B0DE5C}"/>
              </a:ext>
            </a:extLst>
          </p:cNvPr>
          <p:cNvSpPr/>
          <p:nvPr/>
        </p:nvSpPr>
        <p:spPr>
          <a:xfrm>
            <a:off x="6457419" y="1990674"/>
            <a:ext cx="4273550" cy="316323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2">
                  <a:lumMod val="40000"/>
                  <a:lumOff val="60000"/>
                </a:schemeClr>
              </a:gs>
              <a:gs pos="92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30EEC-0F53-C91A-68C2-7094FBD34F37}"/>
                  </a:ext>
                </a:extLst>
              </p:cNvPr>
              <p:cNvSpPr txBox="1"/>
              <p:nvPr/>
            </p:nvSpPr>
            <p:spPr>
              <a:xfrm>
                <a:off x="2333657" y="4437686"/>
                <a:ext cx="18042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230EEC-0F53-C91A-68C2-7094FBD34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657" y="4437686"/>
                <a:ext cx="1804212" cy="400110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D62FD1CA-11D3-30E1-7DB8-347A98036718}"/>
                  </a:ext>
                </a:extLst>
              </p:cNvPr>
              <p:cNvSpPr txBox="1"/>
              <p:nvPr/>
            </p:nvSpPr>
            <p:spPr bwMode="auto">
              <a:xfrm>
                <a:off x="6744069" y="2794512"/>
                <a:ext cx="3725757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D62FD1CA-11D3-30E1-7DB8-347A98036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4069" y="2794512"/>
                <a:ext cx="3725757" cy="1047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FF421D1-2C91-A66B-BDEA-C9388A86AF2B}"/>
              </a:ext>
            </a:extLst>
          </p:cNvPr>
          <p:cNvSpPr txBox="1"/>
          <p:nvPr/>
        </p:nvSpPr>
        <p:spPr>
          <a:xfrm>
            <a:off x="1523622" y="2142870"/>
            <a:ext cx="3690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surrogate optimization model – used for making decisions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FEDF3-655F-79EE-2F60-C29CA10200C3}"/>
              </a:ext>
            </a:extLst>
          </p:cNvPr>
          <p:cNvSpPr txBox="1"/>
          <p:nvPr/>
        </p:nvSpPr>
        <p:spPr>
          <a:xfrm>
            <a:off x="6747458" y="2130170"/>
            <a:ext cx="3454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The objective function, used for </a:t>
            </a:r>
          </a:p>
          <a:p>
            <a:r>
              <a:rPr lang="en-US" sz="1800" dirty="0"/>
              <a:t>evaluating policies.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A83BEF-C5C6-258C-A489-525BED5A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From static to sequential problems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FD8D61-D81F-D4C5-ED00-15C14E63A74F}"/>
              </a:ext>
            </a:extLst>
          </p:cNvPr>
          <p:cNvSpPr txBox="1"/>
          <p:nvPr/>
        </p:nvSpPr>
        <p:spPr>
          <a:xfrm>
            <a:off x="6713588" y="4339974"/>
            <a:ext cx="3896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evaluation may be done in a simulator or in the field.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FB87F7-D031-178F-9418-0D26D85AE7D2}"/>
                  </a:ext>
                </a:extLst>
              </p:cNvPr>
              <p:cNvSpPr txBox="1"/>
              <p:nvPr/>
            </p:nvSpPr>
            <p:spPr>
              <a:xfrm>
                <a:off x="1562689" y="3034817"/>
                <a:ext cx="3547702" cy="5420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𝒳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FB87F7-D031-178F-9418-0D26D85AE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689" y="3034817"/>
                <a:ext cx="3547702" cy="5420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AB6A15-322D-EC8C-E414-BF9B588FE51B}"/>
                  </a:ext>
                </a:extLst>
              </p:cNvPr>
              <p:cNvSpPr txBox="1"/>
              <p:nvPr/>
            </p:nvSpPr>
            <p:spPr>
              <a:xfrm>
                <a:off x="2210448" y="3566243"/>
                <a:ext cx="194848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b="0" dirty="0"/>
                  <a:t> 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AB6A15-322D-EC8C-E414-BF9B588FE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448" y="3566243"/>
                <a:ext cx="1948482" cy="707886"/>
              </a:xfrm>
              <a:prstGeom prst="rect">
                <a:avLst/>
              </a:prstGeom>
              <a:blipFill>
                <a:blip r:embed="rId5"/>
                <a:stretch>
                  <a:fillRect b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7AF3E2-33F4-B099-59C6-489EF14FB256}"/>
                  </a:ext>
                </a:extLst>
              </p:cNvPr>
              <p:cNvSpPr txBox="1"/>
              <p:nvPr/>
            </p:nvSpPr>
            <p:spPr>
              <a:xfrm>
                <a:off x="7150337" y="3834446"/>
                <a:ext cx="27960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7AF3E2-33F4-B099-59C6-489EF14FB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337" y="3834446"/>
                <a:ext cx="2796086" cy="4001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3757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4B5A-CE75-5BDC-72D4-4767F10E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71AB1-6241-84B6-3D63-491187FB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078524"/>
            <a:ext cx="10363200" cy="622460"/>
          </a:xfrm>
        </p:spPr>
        <p:txBody>
          <a:bodyPr/>
          <a:lstStyle/>
          <a:p>
            <a:pPr marL="86360" indent="0" algn="ctr">
              <a:buNone/>
            </a:pPr>
            <a:r>
              <a:rPr lang="en-US" dirty="0"/>
              <a:t>Canonical frameworks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32FD72-7A54-98DD-4C41-9B1829931EFA}"/>
              </a:ext>
            </a:extLst>
          </p:cNvPr>
          <p:cNvGrpSpPr/>
          <p:nvPr/>
        </p:nvGrpSpPr>
        <p:grpSpPr>
          <a:xfrm>
            <a:off x="1858945" y="3084843"/>
            <a:ext cx="1537398" cy="1778558"/>
            <a:chOff x="1858945" y="2622620"/>
            <a:chExt cx="1537398" cy="17785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D78B8AA-C7B5-26D6-7E9F-F894DED7CAD2}"/>
                </a:ext>
              </a:extLst>
            </p:cNvPr>
            <p:cNvSpPr/>
            <p:nvPr/>
          </p:nvSpPr>
          <p:spPr>
            <a:xfrm>
              <a:off x="1858945" y="2622620"/>
              <a:ext cx="1537398" cy="1778558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5E29BA-8A94-50F1-054E-6185937E3A9B}"/>
                </a:ext>
              </a:extLst>
            </p:cNvPr>
            <p:cNvGrpSpPr/>
            <p:nvPr/>
          </p:nvGrpSpPr>
          <p:grpSpPr>
            <a:xfrm>
              <a:off x="2021700" y="2798132"/>
              <a:ext cx="1236326" cy="1444077"/>
              <a:chOff x="2021700" y="2798132"/>
              <a:chExt cx="1236326" cy="1444077"/>
            </a:xfrm>
          </p:grpSpPr>
          <p:pic>
            <p:nvPicPr>
              <p:cNvPr id="4" name="Google Shape;665;p50">
                <a:extLst>
                  <a:ext uri="{FF2B5EF4-FFF2-40B4-BE49-F238E27FC236}">
                    <a16:creationId xmlns:a16="http://schemas.microsoft.com/office/drawing/2014/main" id="{03DC3D5C-BFE1-9EB8-B379-CCB9651AFCBA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2021700" y="2798132"/>
                <a:ext cx="1236326" cy="5478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666;p50">
                <a:extLst>
                  <a:ext uri="{FF2B5EF4-FFF2-40B4-BE49-F238E27FC236}">
                    <a16:creationId xmlns:a16="http://schemas.microsoft.com/office/drawing/2014/main" id="{6973A492-AD06-D866-771B-84E715B4B2FB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127612" y="3258445"/>
                <a:ext cx="1128377" cy="9837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0B342FB-0322-4A9F-9505-8223EE5EA70C}"/>
              </a:ext>
            </a:extLst>
          </p:cNvPr>
          <p:cNvSpPr txBox="1"/>
          <p:nvPr/>
        </p:nvSpPr>
        <p:spPr>
          <a:xfrm>
            <a:off x="934501" y="1959429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Math programming framework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56A55F-0491-BC91-D0DE-AF30F07C18C3}"/>
              </a:ext>
            </a:extLst>
          </p:cNvPr>
          <p:cNvGrpSpPr/>
          <p:nvPr/>
        </p:nvGrpSpPr>
        <p:grpSpPr>
          <a:xfrm>
            <a:off x="2994410" y="3084843"/>
            <a:ext cx="2995592" cy="686065"/>
            <a:chOff x="2994410" y="3084843"/>
            <a:chExt cx="2995592" cy="68606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0303CA-3FCA-C830-DDAF-AA08AEA73BDD}"/>
                </a:ext>
              </a:extLst>
            </p:cNvPr>
            <p:cNvSpPr/>
            <p:nvPr/>
          </p:nvSpPr>
          <p:spPr>
            <a:xfrm>
              <a:off x="2994410" y="3310595"/>
              <a:ext cx="241483" cy="460313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40D185B-09A0-6D16-409A-C8F893828D7E}"/>
                </a:ext>
              </a:extLst>
            </p:cNvPr>
            <p:cNvSpPr txBox="1"/>
            <p:nvPr/>
          </p:nvSpPr>
          <p:spPr>
            <a:xfrm>
              <a:off x="4239202" y="3084843"/>
              <a:ext cx="1750800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Decision variables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3868D48-A807-40F7-510C-67F235B110D9}"/>
                </a:ext>
              </a:extLst>
            </p:cNvPr>
            <p:cNvCxnSpPr>
              <a:stCxn id="14" idx="1"/>
              <a:endCxn id="13" idx="6"/>
            </p:cNvCxnSpPr>
            <p:nvPr/>
          </p:nvCxnSpPr>
          <p:spPr>
            <a:xfrm flipH="1">
              <a:off x="3235893" y="3238732"/>
              <a:ext cx="1003309" cy="302020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480F6E-2BFA-922E-95D3-1C78844B64F8}"/>
              </a:ext>
            </a:extLst>
          </p:cNvPr>
          <p:cNvGrpSpPr/>
          <p:nvPr/>
        </p:nvGrpSpPr>
        <p:grpSpPr>
          <a:xfrm>
            <a:off x="2864105" y="3312271"/>
            <a:ext cx="3141569" cy="644730"/>
            <a:chOff x="2872478" y="2747890"/>
            <a:chExt cx="3141569" cy="64473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423A899-F993-7FF4-8881-A1E4FDE5D2D8}"/>
                </a:ext>
              </a:extLst>
            </p:cNvPr>
            <p:cNvSpPr/>
            <p:nvPr/>
          </p:nvSpPr>
          <p:spPr>
            <a:xfrm>
              <a:off x="2872478" y="2747890"/>
              <a:ext cx="373464" cy="460313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8BBA09-271C-CDB4-6EDF-ED32E30D7878}"/>
                </a:ext>
              </a:extLst>
            </p:cNvPr>
            <p:cNvSpPr txBox="1"/>
            <p:nvPr/>
          </p:nvSpPr>
          <p:spPr>
            <a:xfrm>
              <a:off x="4239202" y="3084843"/>
              <a:ext cx="1774845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Objective function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3E349F7-4E6F-DF5E-97FF-3769C04545A7}"/>
                </a:ext>
              </a:extLst>
            </p:cNvPr>
            <p:cNvCxnSpPr>
              <a:cxnSpLocks/>
              <a:stCxn id="20" idx="1"/>
              <a:endCxn id="19" idx="6"/>
            </p:cNvCxnSpPr>
            <p:nvPr/>
          </p:nvCxnSpPr>
          <p:spPr>
            <a:xfrm flipH="1" flipV="1">
              <a:off x="3245942" y="2978047"/>
              <a:ext cx="993260" cy="260685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CC14090-5D18-E6A6-52DB-477EA822D5ED}"/>
              </a:ext>
            </a:extLst>
          </p:cNvPr>
          <p:cNvGrpSpPr/>
          <p:nvPr/>
        </p:nvGrpSpPr>
        <p:grpSpPr>
          <a:xfrm>
            <a:off x="2019716" y="3649224"/>
            <a:ext cx="3400192" cy="1133791"/>
            <a:chOff x="2006317" y="2419979"/>
            <a:chExt cx="3400192" cy="113379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4E0E257-CF6C-DAA7-9D1F-99486CB60019}"/>
                </a:ext>
              </a:extLst>
            </p:cNvPr>
            <p:cNvSpPr/>
            <p:nvPr/>
          </p:nvSpPr>
          <p:spPr>
            <a:xfrm>
              <a:off x="2006317" y="2419979"/>
              <a:ext cx="1330057" cy="1133791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A56257-8DDF-399B-1B7F-5BE1BA358843}"/>
                </a:ext>
              </a:extLst>
            </p:cNvPr>
            <p:cNvSpPr txBox="1"/>
            <p:nvPr/>
          </p:nvSpPr>
          <p:spPr>
            <a:xfrm>
              <a:off x="4239202" y="3084843"/>
              <a:ext cx="1167307" cy="307777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Constraints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DC9FDF7-334F-74E4-3AC0-1EC064CCC5E5}"/>
                </a:ext>
              </a:extLst>
            </p:cNvPr>
            <p:cNvCxnSpPr>
              <a:cxnSpLocks/>
              <a:stCxn id="25" idx="1"/>
              <a:endCxn id="24" idx="6"/>
            </p:cNvCxnSpPr>
            <p:nvPr/>
          </p:nvCxnSpPr>
          <p:spPr>
            <a:xfrm flipH="1" flipV="1">
              <a:off x="3336374" y="2986875"/>
              <a:ext cx="902828" cy="251857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380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146E0-00F2-0928-6A7D-8A6CE64B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6F18-52A8-0FFE-997C-F447EE5C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Universal Modeling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FEADF-3F00-5B14-9536-92A87CC55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078524"/>
            <a:ext cx="10363200" cy="622460"/>
          </a:xfrm>
        </p:spPr>
        <p:txBody>
          <a:bodyPr/>
          <a:lstStyle/>
          <a:p>
            <a:pPr marL="86360" indent="0" algn="ctr">
              <a:buNone/>
            </a:pPr>
            <a:r>
              <a:rPr lang="en-US" dirty="0"/>
              <a:t>Canonical frameworks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2803F47-2A07-DBC7-7163-9CC07496F9C3}"/>
              </a:ext>
            </a:extLst>
          </p:cNvPr>
          <p:cNvGrpSpPr/>
          <p:nvPr/>
        </p:nvGrpSpPr>
        <p:grpSpPr>
          <a:xfrm>
            <a:off x="1858945" y="3084843"/>
            <a:ext cx="1537398" cy="1778558"/>
            <a:chOff x="1858945" y="2622620"/>
            <a:chExt cx="1537398" cy="177855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983D2A-BA12-BF29-5ED2-660DF54F4A12}"/>
                </a:ext>
              </a:extLst>
            </p:cNvPr>
            <p:cNvSpPr/>
            <p:nvPr/>
          </p:nvSpPr>
          <p:spPr>
            <a:xfrm>
              <a:off x="1858945" y="2622620"/>
              <a:ext cx="1537398" cy="1778558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5F5E4CD-AB27-D959-B09A-6D7BFBB668CF}"/>
                </a:ext>
              </a:extLst>
            </p:cNvPr>
            <p:cNvGrpSpPr/>
            <p:nvPr/>
          </p:nvGrpSpPr>
          <p:grpSpPr>
            <a:xfrm>
              <a:off x="2021700" y="2798132"/>
              <a:ext cx="1236326" cy="1444077"/>
              <a:chOff x="2021700" y="2798132"/>
              <a:chExt cx="1236326" cy="1444077"/>
            </a:xfrm>
          </p:grpSpPr>
          <p:pic>
            <p:nvPicPr>
              <p:cNvPr id="4" name="Google Shape;665;p50">
                <a:extLst>
                  <a:ext uri="{FF2B5EF4-FFF2-40B4-BE49-F238E27FC236}">
                    <a16:creationId xmlns:a16="http://schemas.microsoft.com/office/drawing/2014/main" id="{66194814-0D64-2C60-9720-241729C29CE6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2021700" y="2798132"/>
                <a:ext cx="1236326" cy="5478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" name="Google Shape;666;p50">
                <a:extLst>
                  <a:ext uri="{FF2B5EF4-FFF2-40B4-BE49-F238E27FC236}">
                    <a16:creationId xmlns:a16="http://schemas.microsoft.com/office/drawing/2014/main" id="{8AA3C87A-BA74-0682-5FA3-1CB52ECEECE7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127612" y="3258445"/>
                <a:ext cx="1128377" cy="9837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EE9980-01C7-0040-9AC5-A0E509D3144E}"/>
              </a:ext>
            </a:extLst>
          </p:cNvPr>
          <p:cNvSpPr txBox="1"/>
          <p:nvPr/>
        </p:nvSpPr>
        <p:spPr>
          <a:xfrm>
            <a:off x="6653706" y="1961105"/>
            <a:ext cx="353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Universal Modeling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B4D30-1007-14D3-2F85-4BD94220E413}"/>
              </a:ext>
            </a:extLst>
          </p:cNvPr>
          <p:cNvSpPr txBox="1"/>
          <p:nvPr/>
        </p:nvSpPr>
        <p:spPr>
          <a:xfrm>
            <a:off x="934501" y="1959429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aleway" pitchFamily="2" charset="0"/>
              </a:rPr>
              <a:t>Math programming framework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CD7EB1-66C0-4C86-40FE-5D83B89BF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878" y="2764624"/>
            <a:ext cx="5326842" cy="289585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A37D11A-AF3D-6E78-2213-92F2ECAD3CF2}"/>
              </a:ext>
            </a:extLst>
          </p:cNvPr>
          <p:cNvGrpSpPr/>
          <p:nvPr/>
        </p:nvGrpSpPr>
        <p:grpSpPr>
          <a:xfrm>
            <a:off x="3396343" y="3544350"/>
            <a:ext cx="6966856" cy="2032485"/>
            <a:chOff x="3396343" y="3544350"/>
            <a:chExt cx="6966856" cy="203248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840CA9C-4686-3309-694E-0FAD4473F0AA}"/>
                </a:ext>
              </a:extLst>
            </p:cNvPr>
            <p:cNvSpPr/>
            <p:nvPr/>
          </p:nvSpPr>
          <p:spPr>
            <a:xfrm>
              <a:off x="9495691" y="3544350"/>
              <a:ext cx="867508" cy="434797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262DAF-0790-5621-EBE5-F5F50AFF8C37}"/>
                </a:ext>
              </a:extLst>
            </p:cNvPr>
            <p:cNvSpPr/>
            <p:nvPr/>
          </p:nvSpPr>
          <p:spPr>
            <a:xfrm>
              <a:off x="7596554" y="5195533"/>
              <a:ext cx="834013" cy="381302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C491F31-8B47-2ADE-F1C2-44334F4891F4}"/>
                </a:ext>
              </a:extLst>
            </p:cNvPr>
            <p:cNvCxnSpPr>
              <a:stCxn id="7" idx="3"/>
              <a:endCxn id="14" idx="2"/>
            </p:cNvCxnSpPr>
            <p:nvPr/>
          </p:nvCxnSpPr>
          <p:spPr>
            <a:xfrm flipV="1">
              <a:off x="3396343" y="3761749"/>
              <a:ext cx="6099348" cy="212373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DCC36E8-E3A1-6191-B7EB-5C6DAB3BCC76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3396343" y="3974122"/>
              <a:ext cx="4200211" cy="1432988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A2F393-727A-7B68-A29A-A0EB68188D2F}"/>
                  </a:ext>
                </a:extLst>
              </p:cNvPr>
              <p:cNvSpPr txBox="1"/>
              <p:nvPr/>
            </p:nvSpPr>
            <p:spPr>
              <a:xfrm>
                <a:off x="1477517" y="5875970"/>
                <a:ext cx="2152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… optimizes over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A2F393-727A-7B68-A29A-A0EB68188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517" y="5875970"/>
                <a:ext cx="2152128" cy="369332"/>
              </a:xfrm>
              <a:prstGeom prst="rect">
                <a:avLst/>
              </a:prstGeom>
              <a:blipFill>
                <a:blip r:embed="rId5"/>
                <a:stretch>
                  <a:fillRect l="-2266" t="-10000" r="-14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B7507F-6299-A01F-1DB1-10C724806452}"/>
                  </a:ext>
                </a:extLst>
              </p:cNvPr>
              <p:cNvSpPr txBox="1"/>
              <p:nvPr/>
            </p:nvSpPr>
            <p:spPr>
              <a:xfrm>
                <a:off x="6290707" y="5886326"/>
                <a:ext cx="3889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… optimizes over policies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B7507F-6299-A01F-1DB1-10C724806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707" y="5886326"/>
                <a:ext cx="3889976" cy="369332"/>
              </a:xfrm>
              <a:prstGeom prst="rect">
                <a:avLst/>
              </a:prstGeom>
              <a:blipFill>
                <a:blip r:embed="rId6"/>
                <a:stretch>
                  <a:fillRect l="-1411" t="-10000" r="-3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2682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12A7EBC-1C19-C3B1-FD3A-8AF482D7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13EEE-5B35-0741-ACCC-004124300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80E330C4-35D9-E5C7-35D1-A7F7A37EF0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92D0590D-7F2A-B0D8-ED61-DCE8ECD65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Deterministic optimization as SDPs</a:t>
            </a: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From static LPs to fully sequential problems</a:t>
            </a: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spcBef>
                <a:spcPts val="560"/>
              </a:spcBef>
              <a:buClr>
                <a:schemeClr val="lt1"/>
              </a:buClr>
              <a:buSzPts val="2240"/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An energy illustration</a:t>
            </a:r>
          </a:p>
        </p:txBody>
      </p:sp>
    </p:spTree>
    <p:extLst>
      <p:ext uri="{BB962C8B-B14F-4D97-AF65-F5344CB8AC3E}">
        <p14:creationId xmlns:p14="http://schemas.microsoft.com/office/powerpoint/2010/main" val="20039793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3">
          <a:extLst>
            <a:ext uri="{FF2B5EF4-FFF2-40B4-BE49-F238E27FC236}">
              <a16:creationId xmlns:a16="http://schemas.microsoft.com/office/drawing/2014/main" id="{9383746E-8751-1C8B-4326-F6F1429E6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" name="Google Shape;4404;p97">
            <a:extLst>
              <a:ext uri="{FF2B5EF4-FFF2-40B4-BE49-F238E27FC236}">
                <a16:creationId xmlns:a16="http://schemas.microsoft.com/office/drawing/2014/main" id="{9A13553E-E354-E42A-068B-94A4A94F3E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Optimizing a parameterized LP</a:t>
            </a:r>
            <a:endParaRPr dirty="0"/>
          </a:p>
        </p:txBody>
      </p:sp>
      <p:sp>
        <p:nvSpPr>
          <p:cNvPr id="4405" name="Google Shape;4405;p97">
            <a:extLst>
              <a:ext uri="{FF2B5EF4-FFF2-40B4-BE49-F238E27FC236}">
                <a16:creationId xmlns:a16="http://schemas.microsoft.com/office/drawing/2014/main" id="{5879E7DA-311B-1D36-5648-DD3FAC09A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9800" y="1316225"/>
            <a:ext cx="1036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aleway" pitchFamily="2" charset="0"/>
                <a:ea typeface="Raleway Thin"/>
                <a:cs typeface="Raleway Thin"/>
                <a:sym typeface="Raleway Thin"/>
              </a:rPr>
              <a:t>Consider a basic energy storage problem</a:t>
            </a:r>
            <a:endParaRPr dirty="0">
              <a:latin typeface="Raleway" pitchFamily="2" charset="0"/>
            </a:endParaRPr>
          </a:p>
        </p:txBody>
      </p:sp>
      <p:pic>
        <p:nvPicPr>
          <p:cNvPr id="4406" name="Google Shape;4406;p97">
            <a:extLst>
              <a:ext uri="{FF2B5EF4-FFF2-40B4-BE49-F238E27FC236}">
                <a16:creationId xmlns:a16="http://schemas.microsoft.com/office/drawing/2014/main" id="{F149AE39-91C2-15BF-1321-8666CEE77B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6168" y="2278740"/>
            <a:ext cx="1986900" cy="11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7" name="Google Shape;4407;p97">
            <a:extLst>
              <a:ext uri="{FF2B5EF4-FFF2-40B4-BE49-F238E27FC236}">
                <a16:creationId xmlns:a16="http://schemas.microsoft.com/office/drawing/2014/main" id="{E37B7292-84FA-A188-33B4-DCD8C27BDDA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3043"/>
          <a:stretch/>
        </p:blipFill>
        <p:spPr>
          <a:xfrm>
            <a:off x="1496163" y="3893838"/>
            <a:ext cx="21498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8" name="Google Shape;4408;p97">
            <a:extLst>
              <a:ext uri="{FF2B5EF4-FFF2-40B4-BE49-F238E27FC236}">
                <a16:creationId xmlns:a16="http://schemas.microsoft.com/office/drawing/2014/main" id="{9F92BC10-7499-0D85-C6A3-E2A5A4CFF8E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7364" y="2209047"/>
            <a:ext cx="1475570" cy="107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9" name="Google Shape;4409;p97">
            <a:extLst>
              <a:ext uri="{FF2B5EF4-FFF2-40B4-BE49-F238E27FC236}">
                <a16:creationId xmlns:a16="http://schemas.microsoft.com/office/drawing/2014/main" id="{CBAAB1C0-398E-9DFB-D559-1F1C1065C9B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99413" y="3797691"/>
            <a:ext cx="1250479" cy="130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0" name="Google Shape;4410;p97">
            <a:extLst>
              <a:ext uri="{FF2B5EF4-FFF2-40B4-BE49-F238E27FC236}">
                <a16:creationId xmlns:a16="http://schemas.microsoft.com/office/drawing/2014/main" id="{9787DBD8-EA0A-7F07-179A-B6F6DF1B872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5500" y="3129086"/>
            <a:ext cx="1294922" cy="8609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1" name="Google Shape;4411;p97">
            <a:extLst>
              <a:ext uri="{FF2B5EF4-FFF2-40B4-BE49-F238E27FC236}">
                <a16:creationId xmlns:a16="http://schemas.microsoft.com/office/drawing/2014/main" id="{7D212122-6960-364D-B850-6E2ADE56ADF7}"/>
              </a:ext>
            </a:extLst>
          </p:cNvPr>
          <p:cNvCxnSpPr>
            <a:stCxn id="4408" idx="3"/>
            <a:endCxn id="4410" idx="1"/>
          </p:cNvCxnSpPr>
          <p:nvPr/>
        </p:nvCxnSpPr>
        <p:spPr>
          <a:xfrm>
            <a:off x="4992934" y="2745872"/>
            <a:ext cx="522600" cy="8136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412" name="Google Shape;4412;p97">
            <a:extLst>
              <a:ext uri="{FF2B5EF4-FFF2-40B4-BE49-F238E27FC236}">
                <a16:creationId xmlns:a16="http://schemas.microsoft.com/office/drawing/2014/main" id="{5A270A6D-71BD-00C6-ED09-3731FF4CCC6F}"/>
              </a:ext>
            </a:extLst>
          </p:cNvPr>
          <p:cNvCxnSpPr>
            <a:stCxn id="4409" idx="3"/>
            <a:endCxn id="4410" idx="1"/>
          </p:cNvCxnSpPr>
          <p:nvPr/>
        </p:nvCxnSpPr>
        <p:spPr>
          <a:xfrm rot="10800000" flipH="1">
            <a:off x="4849891" y="3559509"/>
            <a:ext cx="665700" cy="8916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4413" name="Google Shape;4413;p97">
            <a:extLst>
              <a:ext uri="{FF2B5EF4-FFF2-40B4-BE49-F238E27FC236}">
                <a16:creationId xmlns:a16="http://schemas.microsoft.com/office/drawing/2014/main" id="{958BE58E-B11D-D9A9-CA88-5393BE47F0C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57353" y="2709913"/>
            <a:ext cx="1197279" cy="18365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14" name="Google Shape;4414;p97">
            <a:extLst>
              <a:ext uri="{FF2B5EF4-FFF2-40B4-BE49-F238E27FC236}">
                <a16:creationId xmlns:a16="http://schemas.microsoft.com/office/drawing/2014/main" id="{5287969B-5308-07EA-B1C1-32CB80BB8A39}"/>
              </a:ext>
            </a:extLst>
          </p:cNvPr>
          <p:cNvCxnSpPr>
            <a:stCxn id="4410" idx="3"/>
          </p:cNvCxnSpPr>
          <p:nvPr/>
        </p:nvCxnSpPr>
        <p:spPr>
          <a:xfrm>
            <a:off x="6810421" y="3559562"/>
            <a:ext cx="522600" cy="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15" name="Google Shape;4415;p97">
            <a:extLst>
              <a:ext uri="{FF2B5EF4-FFF2-40B4-BE49-F238E27FC236}">
                <a16:creationId xmlns:a16="http://schemas.microsoft.com/office/drawing/2014/main" id="{DAFBDBEE-98E5-D387-22DD-17E176FC4EA9}"/>
              </a:ext>
            </a:extLst>
          </p:cNvPr>
          <p:cNvSpPr txBox="1"/>
          <p:nvPr/>
        </p:nvSpPr>
        <p:spPr>
          <a:xfrm>
            <a:off x="5726973" y="3308845"/>
            <a:ext cx="84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Battery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storage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416" name="Google Shape;4416;p97">
            <a:extLst>
              <a:ext uri="{FF2B5EF4-FFF2-40B4-BE49-F238E27FC236}">
                <a16:creationId xmlns:a16="http://schemas.microsoft.com/office/drawing/2014/main" id="{BC182D28-7BB8-A35E-B344-FE9F174D141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1062" y="2929766"/>
            <a:ext cx="2025577" cy="14350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417" name="Google Shape;4417;p97">
            <a:extLst>
              <a:ext uri="{FF2B5EF4-FFF2-40B4-BE49-F238E27FC236}">
                <a16:creationId xmlns:a16="http://schemas.microsoft.com/office/drawing/2014/main" id="{5F2E6471-37E1-6BB2-DE71-B8F638284AF1}"/>
              </a:ext>
            </a:extLst>
          </p:cNvPr>
          <p:cNvSpPr txBox="1"/>
          <p:nvPr/>
        </p:nvSpPr>
        <p:spPr>
          <a:xfrm>
            <a:off x="8571572" y="2538699"/>
            <a:ext cx="143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Demand (load)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18" name="Google Shape;4418;p97">
            <a:extLst>
              <a:ext uri="{FF2B5EF4-FFF2-40B4-BE49-F238E27FC236}">
                <a16:creationId xmlns:a16="http://schemas.microsoft.com/office/drawing/2014/main" id="{CCB99D71-3AFF-50A7-0FCB-E52E3130D9D4}"/>
              </a:ext>
            </a:extLst>
          </p:cNvPr>
          <p:cNvSpPr txBox="1"/>
          <p:nvPr/>
        </p:nvSpPr>
        <p:spPr>
          <a:xfrm>
            <a:off x="2014082" y="2023502"/>
            <a:ext cx="12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Wind energy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4419" name="Google Shape;4419;p97">
            <a:extLst>
              <a:ext uri="{FF2B5EF4-FFF2-40B4-BE49-F238E27FC236}">
                <a16:creationId xmlns:a16="http://schemas.microsoft.com/office/drawing/2014/main" id="{119690D1-92FF-164C-B728-F011A258F848}"/>
              </a:ext>
            </a:extLst>
          </p:cNvPr>
          <p:cNvCxnSpPr>
            <a:stCxn id="4409" idx="3"/>
          </p:cNvCxnSpPr>
          <p:nvPr/>
        </p:nvCxnSpPr>
        <p:spPr>
          <a:xfrm rot="10800000" flipH="1">
            <a:off x="4849891" y="3836409"/>
            <a:ext cx="2390400" cy="6147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420" name="Google Shape;4420;p97">
            <a:extLst>
              <a:ext uri="{FF2B5EF4-FFF2-40B4-BE49-F238E27FC236}">
                <a16:creationId xmlns:a16="http://schemas.microsoft.com/office/drawing/2014/main" id="{8BF7B2B0-A68B-4381-D009-F0253C9BC30C}"/>
              </a:ext>
            </a:extLst>
          </p:cNvPr>
          <p:cNvCxnSpPr>
            <a:stCxn id="4408" idx="3"/>
          </p:cNvCxnSpPr>
          <p:nvPr/>
        </p:nvCxnSpPr>
        <p:spPr>
          <a:xfrm>
            <a:off x="4992934" y="2745872"/>
            <a:ext cx="2247300" cy="414900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0066CC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22" name="Google Shape;4422;p97">
            <a:extLst>
              <a:ext uri="{FF2B5EF4-FFF2-40B4-BE49-F238E27FC236}">
                <a16:creationId xmlns:a16="http://schemas.microsoft.com/office/drawing/2014/main" id="{66683E9A-0032-DAF4-4BA3-553789F0AA6E}"/>
              </a:ext>
            </a:extLst>
          </p:cNvPr>
          <p:cNvSpPr txBox="1"/>
          <p:nvPr/>
        </p:nvSpPr>
        <p:spPr>
          <a:xfrm>
            <a:off x="2014088" y="3559563"/>
            <a:ext cx="1210800" cy="36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Grid Prices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423" name="Google Shape;4423;p97">
            <a:extLst>
              <a:ext uri="{FF2B5EF4-FFF2-40B4-BE49-F238E27FC236}">
                <a16:creationId xmlns:a16="http://schemas.microsoft.com/office/drawing/2014/main" id="{6F86AE02-3CBE-C81F-C631-DF4AB922E886}"/>
              </a:ext>
            </a:extLst>
          </p:cNvPr>
          <p:cNvSpPr/>
          <p:nvPr/>
        </p:nvSpPr>
        <p:spPr>
          <a:xfrm rot="10800000">
            <a:off x="-12600" y="1911450"/>
            <a:ext cx="12204600" cy="3404700"/>
          </a:xfrm>
          <a:prstGeom prst="rect">
            <a:avLst/>
          </a:prstGeom>
          <a:solidFill>
            <a:schemeClr val="accent2">
              <a:lumMod val="75000"/>
              <a:alpha val="99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79026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pic>
        <p:nvPicPr>
          <p:cNvPr id="7034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865734"/>
            <a:ext cx="91440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5" y="1842147"/>
            <a:ext cx="9144001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5" y="1837158"/>
            <a:ext cx="9144001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5" y="1827860"/>
            <a:ext cx="91440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32622"/>
            <a:ext cx="91440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6" y="1832622"/>
            <a:ext cx="9144001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6" y="1823098"/>
            <a:ext cx="91440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7" y="1823097"/>
            <a:ext cx="9144001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8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9" y="1823096"/>
            <a:ext cx="9143999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499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8" y="1823097"/>
            <a:ext cx="91440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500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8" y="1827632"/>
            <a:ext cx="91440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3501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4" y="1822871"/>
            <a:ext cx="914399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 bwMode="auto">
          <a:xfrm>
            <a:off x="1524002" y="1837158"/>
            <a:ext cx="9143998" cy="243794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850341" y="5200220"/>
            <a:ext cx="825867" cy="369332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1800" i="0" dirty="0">
                <a:solidFill>
                  <a:schemeClr val="accent6">
                    <a:lumMod val="75000"/>
                  </a:schemeClr>
                </a:solidFill>
              </a:rPr>
              <a:t>Actual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5481852" y="4777143"/>
            <a:ext cx="354841" cy="640260"/>
          </a:xfrm>
          <a:prstGeom prst="straightConnector1">
            <a:avLst/>
          </a:prstGeom>
          <a:noFill/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602177" y="2729986"/>
            <a:ext cx="1871025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i="0" dirty="0">
                <a:solidFill>
                  <a:schemeClr val="accent6">
                    <a:lumMod val="75000"/>
                  </a:schemeClr>
                </a:solidFill>
              </a:rPr>
              <a:t>Rolling forecasts, updated each hour.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481673" y="2440259"/>
          <a:ext cx="402957" cy="1504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711000" progId="Equation.DSMT4">
                  <p:embed/>
                </p:oleObj>
              </mc:Choice>
              <mc:Fallback>
                <p:oleObj name="Equation" r:id="rId15" imgW="190440" imgH="711000" progId="Equation.DSMT4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81673" y="2440259"/>
                        <a:ext cx="402957" cy="1504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113924" y="4206578"/>
            <a:ext cx="2139629" cy="584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i="0" dirty="0">
                <a:solidFill>
                  <a:schemeClr val="accent6">
                    <a:lumMod val="75000"/>
                  </a:schemeClr>
                </a:solidFill>
              </a:rPr>
              <a:t>Forecast made at midnight:</a:t>
            </a:r>
          </a:p>
        </p:txBody>
      </p:sp>
      <p:cxnSp>
        <p:nvCxnSpPr>
          <p:cNvPr id="12" name="Straight Arrow Connector 11"/>
          <p:cNvCxnSpPr>
            <a:cxnSpLocks/>
            <a:stCxn id="23" idx="2"/>
          </p:cNvCxnSpPr>
          <p:nvPr/>
        </p:nvCxnSpPr>
        <p:spPr bwMode="auto">
          <a:xfrm flipH="1">
            <a:off x="2793242" y="4791353"/>
            <a:ext cx="390497" cy="709121"/>
          </a:xfrm>
          <a:prstGeom prst="straightConnector1">
            <a:avLst/>
          </a:prstGeom>
          <a:noFill/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228" y="1143000"/>
            <a:ext cx="9572371" cy="937952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Wind forecasts evolve over time as new information arrives: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D5CB04-04CB-1285-CF92-AA71C5CFBD48}"/>
              </a:ext>
            </a:extLst>
          </p:cNvPr>
          <p:cNvCxnSpPr>
            <a:cxnSpLocks/>
          </p:cNvCxnSpPr>
          <p:nvPr/>
        </p:nvCxnSpPr>
        <p:spPr>
          <a:xfrm>
            <a:off x="1934057" y="2170878"/>
            <a:ext cx="8733943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75E15A5-3A00-FF71-ACBB-B66BFDD12FD8}"/>
              </a:ext>
            </a:extLst>
          </p:cNvPr>
          <p:cNvSpPr txBox="1"/>
          <p:nvPr/>
        </p:nvSpPr>
        <p:spPr>
          <a:xfrm>
            <a:off x="5927154" y="2011825"/>
            <a:ext cx="88036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24 hours</a:t>
            </a:r>
          </a:p>
        </p:txBody>
      </p:sp>
    </p:spTree>
    <p:extLst>
      <p:ext uri="{BB962C8B-B14F-4D97-AF65-F5344CB8AC3E}">
        <p14:creationId xmlns:p14="http://schemas.microsoft.com/office/powerpoint/2010/main" val="409480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0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0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0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0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0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18A4DAC7-06B2-4430-B357-2566769522CB}"/>
                  </a:ext>
                </a:extLst>
              </p:cNvPr>
              <p:cNvSpPr txBox="1"/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  <m:oMath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𝑐ℎ𝑎𝑟𝑔𝑒</m:t>
                          </m:r>
                        </m:sup>
                      </m:s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𝑖𝑠𝑐ℎ𝑎𝑟𝑔𝑒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18A4DAC7-06B2-4430-B357-25667695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358C55C-E7E2-4A19-9324-B43763284634}"/>
              </a:ext>
            </a:extLst>
          </p:cNvPr>
          <p:cNvSpPr/>
          <p:nvPr/>
        </p:nvSpPr>
        <p:spPr bwMode="auto">
          <a:xfrm>
            <a:off x="4314065" y="5044662"/>
            <a:ext cx="4058816" cy="48519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DBD89ABA-8B00-4A3A-BC1E-C885DBDBC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5708" y="1993964"/>
          <a:ext cx="6649689" cy="1076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36680" imgH="507960" progId="Equation.DSMT4">
                  <p:embed/>
                </p:oleObj>
              </mc:Choice>
              <mc:Fallback>
                <p:oleObj name="Equation" r:id="rId3" imgW="3136680" imgH="50796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DBD89ABA-8B00-4A3A-BC1E-C885DBDBCC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5708" y="1993964"/>
                        <a:ext cx="6649689" cy="1076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4242A6F-9B29-1D15-2361-95E437C08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2364" y="4630593"/>
            <a:ext cx="2627402" cy="1268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D61969-583A-C4F3-FED2-8C3C2C0C4EC3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70769" y="1118716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Benchmark policy – Deterministic lookahead</a:t>
            </a:r>
          </a:p>
        </p:txBody>
      </p:sp>
    </p:spTree>
    <p:extLst>
      <p:ext uri="{BB962C8B-B14F-4D97-AF65-F5344CB8AC3E}">
        <p14:creationId xmlns:p14="http://schemas.microsoft.com/office/powerpoint/2010/main" val="331657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4314065" y="5044662"/>
            <a:ext cx="4058816" cy="48519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18A4DAC7-06B2-4430-B357-2566769522CB}"/>
                  </a:ext>
                </a:extLst>
              </p:cNvPr>
              <p:cNvSpPr txBox="1"/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  <m:oMath>
                      <m:r>
                        <m:rPr>
                          <m:nor/>
                        </m:rPr>
                        <a:rPr 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𝑤𝑑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′−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p>
                      </m:sSub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𝑤𝑟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𝑔𝑟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𝑐ℎ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𝑎𝑟𝑔𝑒</m:t>
                          </m:r>
                        </m:sup>
                      </m:sSup>
                    </m:oMath>
                    <m:oMath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</m:sup>
                      </m:sSub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𝑡𝑡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𝑟𝑔</m:t>
                          </m:r>
                        </m:sup>
                      </m:sSubSup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𝑑𝑖𝑠𝑐ℎ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𝑎𝑟𝑔𝑒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Object 7">
                <a:extLst>
                  <a:ext uri="{FF2B5EF4-FFF2-40B4-BE49-F238E27FC236}">
                    <a16:creationId xmlns:a16="http://schemas.microsoft.com/office/drawing/2014/main" id="{18A4DAC7-06B2-4430-B357-25667695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848" y="3318553"/>
                <a:ext cx="4617811" cy="3487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EAECFFD-122A-6F3B-6B51-1331475A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364" y="4630593"/>
            <a:ext cx="2627402" cy="12682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85D3E9C-D201-600C-918A-E969899C2F94}"/>
              </a:ext>
            </a:extLst>
          </p:cNvPr>
          <p:cNvGrpSpPr/>
          <p:nvPr/>
        </p:nvGrpSpPr>
        <p:grpSpPr>
          <a:xfrm>
            <a:off x="1157360" y="3429000"/>
            <a:ext cx="2644203" cy="2896177"/>
            <a:chOff x="1157360" y="3429000"/>
            <a:chExt cx="2644203" cy="2896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ED3466F-BBDD-3E18-2482-60F82C11EB53}"/>
                    </a:ext>
                  </a:extLst>
                </p:cNvPr>
                <p:cNvSpPr txBox="1"/>
                <p:nvPr/>
              </p:nvSpPr>
              <p:spPr>
                <a:xfrm>
                  <a:off x="3039110" y="3429000"/>
                  <a:ext cx="762453" cy="28961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sz="2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ED3466F-BBDD-3E18-2482-60F82C11E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9110" y="3429000"/>
                  <a:ext cx="762453" cy="28961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B110690-F589-7847-B3EC-F54F07BD881A}"/>
                    </a:ext>
                  </a:extLst>
                </p:cNvPr>
                <p:cNvSpPr txBox="1"/>
                <p:nvPr/>
              </p:nvSpPr>
              <p:spPr>
                <a:xfrm>
                  <a:off x="1157360" y="4560252"/>
                  <a:ext cx="19678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B110690-F589-7847-B3EC-F54F07BD8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360" y="4560252"/>
                  <a:ext cx="1967846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68C9851-8E40-1817-F52A-8762B42876F1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5D123955-0249-C265-86CB-0222BC4E5C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5708" y="1993964"/>
          <a:ext cx="6649689" cy="1076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36680" imgH="507960" progId="Equation.DSMT4">
                  <p:embed/>
                </p:oleObj>
              </mc:Choice>
              <mc:Fallback>
                <p:oleObj name="Equation" r:id="rId9" imgW="3136680" imgH="50796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5D123955-0249-C265-86CB-0222BC4E5C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15708" y="1993964"/>
                        <a:ext cx="6649689" cy="1076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5BFFA36A-07BE-F105-A50C-216FC2EB3B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2015" y="2123016"/>
            <a:ext cx="1902616" cy="73080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3C12A8E-5E89-7193-867D-F0D546BCD630}"/>
              </a:ext>
            </a:extLst>
          </p:cNvPr>
          <p:cNvGrpSpPr/>
          <p:nvPr/>
        </p:nvGrpSpPr>
        <p:grpSpPr>
          <a:xfrm>
            <a:off x="3362271" y="2119429"/>
            <a:ext cx="3785008" cy="3504984"/>
            <a:chOff x="1838271" y="2119429"/>
            <a:chExt cx="3785008" cy="350498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484D48-6209-D682-B687-156AAB02F1FE}"/>
                </a:ext>
              </a:extLst>
            </p:cNvPr>
            <p:cNvSpPr/>
            <p:nvPr/>
          </p:nvSpPr>
          <p:spPr>
            <a:xfrm>
              <a:off x="5023080" y="4926439"/>
              <a:ext cx="600199" cy="697974"/>
            </a:xfrm>
            <a:prstGeom prst="ellipse">
              <a:avLst/>
            </a:prstGeom>
            <a:ln w="28575">
              <a:solidFill>
                <a:srgbClr val="FF0000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B8F592D-A99C-B4DE-3C92-3EB017D03F3F}"/>
                </a:ext>
              </a:extLst>
            </p:cNvPr>
            <p:cNvCxnSpPr>
              <a:cxnSpLocks/>
              <a:endCxn id="10" idx="5"/>
            </p:cNvCxnSpPr>
            <p:nvPr/>
          </p:nvCxnSpPr>
          <p:spPr bwMode="auto">
            <a:xfrm flipH="1" flipV="1">
              <a:off x="2152314" y="2715187"/>
              <a:ext cx="2870766" cy="2601280"/>
            </a:xfrm>
            <a:prstGeom prst="straightConnector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D114812-8998-A834-B90E-40D9B43C4E1F}"/>
                </a:ext>
              </a:extLst>
            </p:cNvPr>
            <p:cNvSpPr/>
            <p:nvPr/>
          </p:nvSpPr>
          <p:spPr>
            <a:xfrm>
              <a:off x="1838271" y="2119429"/>
              <a:ext cx="367924" cy="697974"/>
            </a:xfrm>
            <a:prstGeom prst="ellipse">
              <a:avLst/>
            </a:prstGeom>
            <a:ln w="28575">
              <a:solidFill>
                <a:srgbClr val="FF0000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7753DA9-509C-1DDF-8BDD-065D0B025AAD}"/>
              </a:ext>
            </a:extLst>
          </p:cNvPr>
          <p:cNvSpPr txBox="1">
            <a:spLocks/>
          </p:cNvSpPr>
          <p:nvPr/>
        </p:nvSpPr>
        <p:spPr>
          <a:xfrm>
            <a:off x="770769" y="1118716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dirty="0"/>
              <a:t>Benchmark policy – Deterministic lookahead</a:t>
            </a:r>
          </a:p>
        </p:txBody>
      </p:sp>
    </p:spTree>
    <p:extLst>
      <p:ext uri="{BB962C8B-B14F-4D97-AF65-F5344CB8AC3E}">
        <p14:creationId xmlns:p14="http://schemas.microsoft.com/office/powerpoint/2010/main" val="311637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050" name="Picture 1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99347">
            <a:off x="2450220" y="3340879"/>
            <a:ext cx="41624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04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/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/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cxnSp>
        <p:nvCxnSpPr>
          <p:cNvPr id="45" name="Straight Arrow Connector 44"/>
          <p:cNvCxnSpPr>
            <a:cxnSpLocks/>
          </p:cNvCxnSpPr>
          <p:nvPr/>
        </p:nvCxnSpPr>
        <p:spPr bwMode="auto">
          <a:xfrm flipV="1">
            <a:off x="2213559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52280" progId="Equation.DSMT4">
                  <p:embed/>
                </p:oleObj>
              </mc:Choice>
              <mc:Fallback>
                <p:oleObj name="Equation" r:id="rId4" imgW="88560" imgH="152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/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177480" progId="Equation.DSMT4">
                  <p:embed/>
                </p:oleObj>
              </mc:Choice>
              <mc:Fallback>
                <p:oleObj name="Equation" r:id="rId6" imgW="279360" imgH="177480" progId="Equation.DSMT4">
                  <p:embed/>
                  <p:pic>
                    <p:nvPicPr>
                      <p:cNvPr id="4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177480" progId="Equation.DSMT4">
                  <p:embed/>
                </p:oleObj>
              </mc:Choice>
              <mc:Fallback>
                <p:oleObj name="Equation" r:id="rId8" imgW="304560" imgH="17748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77480" progId="Equation.DSMT4">
                  <p:embed/>
                </p:oleObj>
              </mc:Choice>
              <mc:Fallback>
                <p:oleObj name="Equation" r:id="rId10" imgW="291960" imgH="177480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/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810098757"/>
      </p:ext>
    </p:extLst>
  </p:cSld>
  <p:clrMapOvr>
    <a:masterClrMapping/>
  </p:clrMapOvr>
  <p:transition spd="slow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074" name="Picture 1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48014">
            <a:off x="3760836" y="3095625"/>
            <a:ext cx="523875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62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/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/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cxnSp>
        <p:nvCxnSpPr>
          <p:cNvPr id="45" name="Straight Arrow Connector 44"/>
          <p:cNvCxnSpPr>
            <a:cxnSpLocks/>
          </p:cNvCxnSpPr>
          <p:nvPr/>
        </p:nvCxnSpPr>
        <p:spPr bwMode="auto">
          <a:xfrm flipV="1">
            <a:off x="2219138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52280" progId="Equation.DSMT4">
                  <p:embed/>
                </p:oleObj>
              </mc:Choice>
              <mc:Fallback>
                <p:oleObj name="Equation" r:id="rId4" imgW="88560" imgH="152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/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177480" progId="Equation.DSMT4">
                  <p:embed/>
                </p:oleObj>
              </mc:Choice>
              <mc:Fallback>
                <p:oleObj name="Equation" r:id="rId6" imgW="279360" imgH="177480" progId="Equation.DSMT4">
                  <p:embed/>
                  <p:pic>
                    <p:nvPicPr>
                      <p:cNvPr id="4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177480" progId="Equation.DSMT4">
                  <p:embed/>
                </p:oleObj>
              </mc:Choice>
              <mc:Fallback>
                <p:oleObj name="Equation" r:id="rId8" imgW="304560" imgH="17748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77480" progId="Equation.DSMT4">
                  <p:embed/>
                </p:oleObj>
              </mc:Choice>
              <mc:Fallback>
                <p:oleObj name="Equation" r:id="rId10" imgW="291960" imgH="177480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/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918668676"/>
      </p:ext>
    </p:extLst>
  </p:cSld>
  <p:clrMapOvr>
    <a:masterClrMapping/>
  </p:clrMapOvr>
  <p:transition spd="slow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098" name="Picture 16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36609">
            <a:off x="4960179" y="3167965"/>
            <a:ext cx="5410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04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/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/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/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/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cxnSp>
        <p:nvCxnSpPr>
          <p:cNvPr id="45" name="Straight Arrow Connector 44"/>
          <p:cNvCxnSpPr>
            <a:cxnSpLocks/>
          </p:cNvCxnSpPr>
          <p:nvPr/>
        </p:nvCxnSpPr>
        <p:spPr bwMode="auto">
          <a:xfrm flipV="1">
            <a:off x="2202408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graphicFrame>
        <p:nvGraphicFramePr>
          <p:cNvPr id="47" name="Object 46"/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560" imgH="152280" progId="Equation.DSMT4">
                  <p:embed/>
                </p:oleObj>
              </mc:Choice>
              <mc:Fallback>
                <p:oleObj name="Equation" r:id="rId4" imgW="88560" imgH="152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/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60" imgH="177480" progId="Equation.DSMT4">
                  <p:embed/>
                </p:oleObj>
              </mc:Choice>
              <mc:Fallback>
                <p:oleObj name="Equation" r:id="rId6" imgW="279360" imgH="177480" progId="Equation.DSMT4">
                  <p:embed/>
                  <p:pic>
                    <p:nvPicPr>
                      <p:cNvPr id="4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/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60" imgH="177480" progId="Equation.DSMT4">
                  <p:embed/>
                </p:oleObj>
              </mc:Choice>
              <mc:Fallback>
                <p:oleObj name="Equation" r:id="rId8" imgW="304560" imgH="17748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1960" imgH="177480" progId="Equation.DSMT4">
                  <p:embed/>
                </p:oleObj>
              </mc:Choice>
              <mc:Fallback>
                <p:oleObj name="Equation" r:id="rId10" imgW="291960" imgH="177480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/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272177920"/>
      </p:ext>
    </p:extLst>
  </p:cSld>
  <p:clrMapOvr>
    <a:masterClrMapping/>
  </p:clrMapOvr>
  <p:transition spd="slow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EBF80-1A18-2B93-B0AF-6E6E10D93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107104"/>
            <a:ext cx="10827432" cy="4401600"/>
          </a:xfrm>
        </p:spPr>
        <p:txBody>
          <a:bodyPr/>
          <a:lstStyle/>
          <a:p>
            <a:r>
              <a:rPr lang="en-US" sz="2400" dirty="0"/>
              <a:t>The policy (deterministic linear program)</a:t>
            </a:r>
          </a:p>
          <a:p>
            <a:pPr lvl="1"/>
            <a:endParaRPr lang="en-US" sz="20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  <a:p>
            <a:r>
              <a:rPr lang="en-US" sz="2400" dirty="0"/>
              <a:t>The objective function (evaluated using simulation)</a:t>
            </a:r>
          </a:p>
          <a:p>
            <a:endParaRPr lang="en-US" sz="2400" dirty="0"/>
          </a:p>
          <a:p>
            <a:pPr marL="86360" indent="0">
              <a:buNone/>
            </a:pPr>
            <a:endParaRPr lang="en-US" sz="2400" dirty="0"/>
          </a:p>
          <a:p>
            <a:r>
              <a:rPr lang="en-US" sz="2400" dirty="0"/>
              <a:t>Stochastic optimization problem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Stochastic gradient algorithm (using Spall’s SPSA algorithm) </a:t>
            </a:r>
          </a:p>
          <a:p>
            <a:endParaRPr lang="en-US" sz="4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F4583-6798-5217-4F45-E8D70ADF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05DBA0AA-0D2C-31A3-F94A-39E3F74C5850}"/>
                  </a:ext>
                </a:extLst>
              </p:cNvPr>
              <p:cNvSpPr txBox="1"/>
              <p:nvPr/>
            </p:nvSpPr>
            <p:spPr bwMode="auto">
              <a:xfrm>
                <a:off x="1548593" y="1556090"/>
                <a:ext cx="6771441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𝒳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8">
                <a:extLst>
                  <a:ext uri="{FF2B5EF4-FFF2-40B4-BE49-F238E27FC236}">
                    <a16:creationId xmlns:a16="http://schemas.microsoft.com/office/drawing/2014/main" id="{05DBA0AA-0D2C-31A3-F94A-39E3F74C5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8593" y="1556090"/>
                <a:ext cx="6771441" cy="801687"/>
              </a:xfrm>
              <a:prstGeom prst="rect">
                <a:avLst/>
              </a:prstGeom>
              <a:blipFill>
                <a:blip r:embed="rId2"/>
                <a:stretch>
                  <a:fillRect b="-272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7420A7F0-2CF0-58D9-8BB7-B6CFF631B6EE}"/>
                  </a:ext>
                </a:extLst>
              </p:cNvPr>
              <p:cNvSpPr txBox="1"/>
              <p:nvPr/>
            </p:nvSpPr>
            <p:spPr bwMode="auto">
              <a:xfrm>
                <a:off x="861773" y="3132974"/>
                <a:ext cx="11330227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b/>
                        </m:sSub>
                      </m:e>
                    </m:nary>
                  </m:oMath>
                </a14:m>
                <a:r>
                  <a:rPr lang="en-US" sz="2000" dirty="0"/>
                  <a:t> 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b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8">
                <a:extLst>
                  <a:ext uri="{FF2B5EF4-FFF2-40B4-BE49-F238E27FC236}">
                    <a16:creationId xmlns:a16="http://schemas.microsoft.com/office/drawing/2014/main" id="{7420A7F0-2CF0-58D9-8BB7-B6CFF631B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1773" y="3132974"/>
                <a:ext cx="11330227" cy="801687"/>
              </a:xfrm>
              <a:prstGeom prst="rect">
                <a:avLst/>
              </a:prstGeom>
              <a:blipFill>
                <a:blip r:embed="rId3"/>
                <a:stretch>
                  <a:fillRect t="-60305" b="-43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A64DC6-67BF-CB09-38F9-E0A9819D9797}"/>
                  </a:ext>
                </a:extLst>
              </p:cNvPr>
              <p:cNvSpPr txBox="1"/>
              <p:nvPr/>
            </p:nvSpPr>
            <p:spPr>
              <a:xfrm>
                <a:off x="1693889" y="5771690"/>
                <a:ext cx="43327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A64DC6-67BF-CB09-38F9-E0A9819D9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889" y="5771690"/>
                <a:ext cx="4332725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7102D800-2BB8-B211-3D50-B2AC63FBC8DB}"/>
                  </a:ext>
                </a:extLst>
              </p:cNvPr>
              <p:cNvSpPr txBox="1"/>
              <p:nvPr/>
            </p:nvSpPr>
            <p:spPr bwMode="auto">
              <a:xfrm>
                <a:off x="1014173" y="4555009"/>
                <a:ext cx="3742023" cy="801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func>
                        <m:func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8">
                <a:extLst>
                  <a:ext uri="{FF2B5EF4-FFF2-40B4-BE49-F238E27FC236}">
                    <a16:creationId xmlns:a16="http://schemas.microsoft.com/office/drawing/2014/main" id="{7102D800-2BB8-B211-3D50-B2AC63FBC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4173" y="4555009"/>
                <a:ext cx="3742023" cy="801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CA33121-E438-4103-00C9-9789B6EEA28D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D5F51B2E-6FD4-EE65-F8DD-3F501CF79204}"/>
              </a:ext>
            </a:extLst>
          </p:cNvPr>
          <p:cNvSpPr/>
          <p:nvPr/>
        </p:nvSpPr>
        <p:spPr>
          <a:xfrm>
            <a:off x="0" y="2598612"/>
            <a:ext cx="12199632" cy="1197135"/>
          </a:xfrm>
          <a:prstGeom prst="trapezoid">
            <a:avLst>
              <a:gd name="adj" fmla="val 0"/>
            </a:avLst>
          </a:prstGeom>
          <a:solidFill>
            <a:srgbClr val="8585E0">
              <a:alpha val="30196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E4650CCC-A7C6-364B-53BC-4A5DA0B3A66D}"/>
              </a:ext>
            </a:extLst>
          </p:cNvPr>
          <p:cNvSpPr/>
          <p:nvPr/>
        </p:nvSpPr>
        <p:spPr>
          <a:xfrm>
            <a:off x="-12736" y="1139889"/>
            <a:ext cx="12192000" cy="1458197"/>
          </a:xfrm>
          <a:prstGeom prst="trapezoid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F4B01D31-057E-FC8C-D724-1BF4B039DFD7}"/>
              </a:ext>
            </a:extLst>
          </p:cNvPr>
          <p:cNvSpPr/>
          <p:nvPr/>
        </p:nvSpPr>
        <p:spPr>
          <a:xfrm>
            <a:off x="0" y="3795967"/>
            <a:ext cx="12199632" cy="1366093"/>
          </a:xfrm>
          <a:prstGeom prst="trapezoid">
            <a:avLst>
              <a:gd name="adj" fmla="val 0"/>
            </a:avLst>
          </a:prstGeom>
          <a:solidFill>
            <a:srgbClr val="8585E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73FD5F7C-9421-A7DE-FF89-A00220D61C47}"/>
              </a:ext>
            </a:extLst>
          </p:cNvPr>
          <p:cNvSpPr/>
          <p:nvPr/>
        </p:nvSpPr>
        <p:spPr>
          <a:xfrm>
            <a:off x="1104" y="5167010"/>
            <a:ext cx="12199632" cy="1242781"/>
          </a:xfrm>
          <a:prstGeom prst="trapezoid">
            <a:avLst>
              <a:gd name="adj" fmla="val 0"/>
            </a:avLst>
          </a:prstGeom>
          <a:solidFill>
            <a:srgbClr val="5C5CD6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6D53D5-7BA4-E745-947B-38853301C0CB}"/>
              </a:ext>
            </a:extLst>
          </p:cNvPr>
          <p:cNvGrpSpPr/>
          <p:nvPr/>
        </p:nvGrpSpPr>
        <p:grpSpPr>
          <a:xfrm>
            <a:off x="1829130" y="4206444"/>
            <a:ext cx="6345600" cy="991657"/>
            <a:chOff x="1829130" y="4206444"/>
            <a:chExt cx="6345600" cy="99165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5BB699E-A1DD-82EC-AB2C-CACCE7B0C97D}"/>
                </a:ext>
              </a:extLst>
            </p:cNvPr>
            <p:cNvGrpSpPr/>
            <p:nvPr/>
          </p:nvGrpSpPr>
          <p:grpSpPr>
            <a:xfrm>
              <a:off x="1829130" y="4206444"/>
              <a:ext cx="6345600" cy="991657"/>
              <a:chOff x="1993322" y="4206444"/>
              <a:chExt cx="6345600" cy="99165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B9F6D61-4730-A67A-B173-A30800239390}"/>
                  </a:ext>
                </a:extLst>
              </p:cNvPr>
              <p:cNvGrpSpPr/>
              <p:nvPr/>
            </p:nvGrpSpPr>
            <p:grpSpPr>
              <a:xfrm flipV="1">
                <a:off x="1993322" y="4356742"/>
                <a:ext cx="4093800" cy="841359"/>
                <a:chOff x="1895666" y="5135967"/>
                <a:chExt cx="4093800" cy="841359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F390148-D12E-BFF0-FB57-EA32B07DDF56}"/>
                    </a:ext>
                  </a:extLst>
                </p:cNvPr>
                <p:cNvSpPr/>
                <p:nvPr/>
              </p:nvSpPr>
              <p:spPr>
                <a:xfrm>
                  <a:off x="1895666" y="5135967"/>
                  <a:ext cx="169052" cy="468010"/>
                </a:xfrm>
                <a:prstGeom prst="ellipse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E432A04-AC18-8697-CBE3-BA6923CD1E8C}"/>
                    </a:ext>
                  </a:extLst>
                </p:cNvPr>
                <p:cNvSpPr/>
                <p:nvPr/>
              </p:nvSpPr>
              <p:spPr>
                <a:xfrm>
                  <a:off x="2015975" y="5612627"/>
                  <a:ext cx="3973491" cy="364699"/>
                </a:xfrm>
                <a:custGeom>
                  <a:avLst/>
                  <a:gdLst>
                    <a:gd name="connsiteX0" fmla="*/ 0 w 2266789"/>
                    <a:gd name="connsiteY0" fmla="*/ 0 h 353466"/>
                    <a:gd name="connsiteX1" fmla="*/ 245889 w 2266789"/>
                    <a:gd name="connsiteY1" fmla="*/ 353466 h 353466"/>
                    <a:gd name="connsiteX2" fmla="*/ 2266789 w 2266789"/>
                    <a:gd name="connsiteY2" fmla="*/ 353466 h 35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66789" h="353466">
                      <a:moveTo>
                        <a:pt x="0" y="0"/>
                      </a:moveTo>
                      <a:lnTo>
                        <a:pt x="245889" y="353466"/>
                      </a:lnTo>
                      <a:lnTo>
                        <a:pt x="2266789" y="353466"/>
                      </a:lnTo>
                    </a:path>
                  </a:pathLst>
                </a:cu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64C733-239A-2C86-465D-3D3329D7EA4D}"/>
                  </a:ext>
                </a:extLst>
              </p:cNvPr>
              <p:cNvSpPr txBox="1"/>
              <p:nvPr/>
            </p:nvSpPr>
            <p:spPr>
              <a:xfrm>
                <a:off x="6096000" y="4206444"/>
                <a:ext cx="2242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Testing parameterizations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02B272C-3904-D375-4CF6-83B6A3B291E7}"/>
                </a:ext>
              </a:extLst>
            </p:cNvPr>
            <p:cNvGrpSpPr/>
            <p:nvPr/>
          </p:nvGrpSpPr>
          <p:grpSpPr>
            <a:xfrm>
              <a:off x="2354394" y="4413437"/>
              <a:ext cx="5615379" cy="777264"/>
              <a:chOff x="2163477" y="4413437"/>
              <a:chExt cx="5615379" cy="77726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EFF7B0-A7F3-14D3-AD9E-C7BA139B12EE}"/>
                  </a:ext>
                </a:extLst>
              </p:cNvPr>
              <p:cNvSpPr txBox="1"/>
              <p:nvPr/>
            </p:nvSpPr>
            <p:spPr>
              <a:xfrm>
                <a:off x="6093779" y="4413437"/>
                <a:ext cx="1685077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Tuning parameters</a:t>
                </a: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7B5F5DE-C509-ABEC-6080-45F45635A004}"/>
                  </a:ext>
                </a:extLst>
              </p:cNvPr>
              <p:cNvGrpSpPr/>
              <p:nvPr/>
            </p:nvGrpSpPr>
            <p:grpSpPr>
              <a:xfrm flipV="1">
                <a:off x="2163477" y="4537250"/>
                <a:ext cx="3932523" cy="653451"/>
                <a:chOff x="1895665" y="5153722"/>
                <a:chExt cx="3932523" cy="810654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7CD0B458-CAB2-F0B2-81C5-D4B63206E193}"/>
                    </a:ext>
                  </a:extLst>
                </p:cNvPr>
                <p:cNvSpPr/>
                <p:nvPr/>
              </p:nvSpPr>
              <p:spPr>
                <a:xfrm>
                  <a:off x="1895665" y="5153722"/>
                  <a:ext cx="172829" cy="521003"/>
                </a:xfrm>
                <a:prstGeom prst="ellipse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06CA9D5-FF8B-0304-78DC-9710609F6F07}"/>
                    </a:ext>
                  </a:extLst>
                </p:cNvPr>
                <p:cNvSpPr/>
                <p:nvPr/>
              </p:nvSpPr>
              <p:spPr>
                <a:xfrm>
                  <a:off x="2024853" y="5637531"/>
                  <a:ext cx="3803335" cy="326845"/>
                </a:xfrm>
                <a:custGeom>
                  <a:avLst/>
                  <a:gdLst>
                    <a:gd name="connsiteX0" fmla="*/ 0 w 2266789"/>
                    <a:gd name="connsiteY0" fmla="*/ 0 h 353466"/>
                    <a:gd name="connsiteX1" fmla="*/ 245889 w 2266789"/>
                    <a:gd name="connsiteY1" fmla="*/ 353466 h 353466"/>
                    <a:gd name="connsiteX2" fmla="*/ 2266789 w 2266789"/>
                    <a:gd name="connsiteY2" fmla="*/ 353466 h 35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66789" h="353466">
                      <a:moveTo>
                        <a:pt x="0" y="0"/>
                      </a:moveTo>
                      <a:lnTo>
                        <a:pt x="245889" y="353466"/>
                      </a:lnTo>
                      <a:lnTo>
                        <a:pt x="2266789" y="353466"/>
                      </a:lnTo>
                    </a:path>
                  </a:pathLst>
                </a:cu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9737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6118F6F-9A76-41A0-A1DB-D40352D5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50" y="1323093"/>
            <a:ext cx="7979158" cy="50385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3CD7C5-75B1-468E-BFD7-1E19CB82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C23D4F-1536-45AB-9A3D-0E50068F0EF1}"/>
              </a:ext>
            </a:extLst>
          </p:cNvPr>
          <p:cNvSpPr txBox="1"/>
          <p:nvPr/>
        </p:nvSpPr>
        <p:spPr>
          <a:xfrm>
            <a:off x="6783468" y="2578428"/>
            <a:ext cx="194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660066"/>
                </a:solidFill>
              </a:rPr>
              <a:t>Mini-batch = 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730BE-F59A-4FBC-A3BC-AB175B299D97}"/>
              </a:ext>
            </a:extLst>
          </p:cNvPr>
          <p:cNvSpPr txBox="1"/>
          <p:nvPr/>
        </p:nvSpPr>
        <p:spPr>
          <a:xfrm>
            <a:off x="5137748" y="1844216"/>
            <a:ext cx="1943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BC8F00"/>
                </a:solidFill>
              </a:rPr>
              <a:t>Mini-batch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F897A2-4D56-48EE-B4A6-F5E6E7AEB894}"/>
              </a:ext>
            </a:extLst>
          </p:cNvPr>
          <p:cNvSpPr txBox="1"/>
          <p:nvPr/>
        </p:nvSpPr>
        <p:spPr>
          <a:xfrm>
            <a:off x="2688508" y="2595823"/>
            <a:ext cx="1367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C47500"/>
                </a:solidFill>
              </a:rPr>
              <a:t>Mini-batch</a:t>
            </a:r>
          </a:p>
          <a:p>
            <a:pPr algn="l"/>
            <a:r>
              <a:rPr lang="en-US" sz="2000" dirty="0">
                <a:solidFill>
                  <a:srgbClr val="C47500"/>
                </a:solidFill>
              </a:rPr>
              <a:t> = 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5F7B7C-009D-482A-8934-640EE9732312}"/>
              </a:ext>
            </a:extLst>
          </p:cNvPr>
          <p:cNvSpPr txBox="1"/>
          <p:nvPr/>
        </p:nvSpPr>
        <p:spPr>
          <a:xfrm>
            <a:off x="3155943" y="2034970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solidFill>
                  <a:srgbClr val="0C69A6"/>
                </a:solidFill>
              </a:rPr>
              <a:t>Mini-batch =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6B17A8-234A-4186-BBD6-CDE85891E762}"/>
              </a:ext>
            </a:extLst>
          </p:cNvPr>
          <p:cNvSpPr/>
          <p:nvPr/>
        </p:nvSpPr>
        <p:spPr>
          <a:xfrm>
            <a:off x="8276813" y="4911082"/>
            <a:ext cx="1493596" cy="87652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2F532-75DA-4D09-B605-21E88491E6F0}"/>
              </a:ext>
            </a:extLst>
          </p:cNvPr>
          <p:cNvSpPr txBox="1"/>
          <p:nvPr/>
        </p:nvSpPr>
        <p:spPr>
          <a:xfrm>
            <a:off x="4497478" y="6071712"/>
            <a:ext cx="37176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Number of function evaluations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BD674-B883-52EE-62E7-5656F3B2699A}"/>
              </a:ext>
            </a:extLst>
          </p:cNvPr>
          <p:cNvSpPr txBox="1"/>
          <p:nvPr/>
        </p:nvSpPr>
        <p:spPr>
          <a:xfrm>
            <a:off x="5896206" y="3174183"/>
            <a:ext cx="3717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32B8D"/>
                </a:solidFill>
              </a:rPr>
              <a:t>“mini-batch” = number of times we simulate the function to estimate the derivative.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8B9BC2F-6260-1774-E0AE-4B9343441741}"/>
              </a:ext>
            </a:extLst>
          </p:cNvPr>
          <p:cNvSpPr/>
          <p:nvPr/>
        </p:nvSpPr>
        <p:spPr>
          <a:xfrm>
            <a:off x="3084648" y="4145969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651FAD-DEFA-B51C-C1C4-BA3C73D7FD1C}"/>
              </a:ext>
            </a:extLst>
          </p:cNvPr>
          <p:cNvSpPr/>
          <p:nvPr/>
        </p:nvSpPr>
        <p:spPr>
          <a:xfrm>
            <a:off x="3337529" y="371556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7BDC29-B089-92CE-6C77-A919190D6BC6}"/>
              </a:ext>
            </a:extLst>
          </p:cNvPr>
          <p:cNvSpPr/>
          <p:nvPr/>
        </p:nvSpPr>
        <p:spPr>
          <a:xfrm>
            <a:off x="3610505" y="3737342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292C2E-E113-A73C-8A64-113D34CF9410}"/>
              </a:ext>
            </a:extLst>
          </p:cNvPr>
          <p:cNvSpPr/>
          <p:nvPr/>
        </p:nvSpPr>
        <p:spPr>
          <a:xfrm>
            <a:off x="3953823" y="321650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FAA21B-8A65-BC7B-B4C9-E19653203F80}"/>
              </a:ext>
            </a:extLst>
          </p:cNvPr>
          <p:cNvSpPr/>
          <p:nvPr/>
        </p:nvSpPr>
        <p:spPr>
          <a:xfrm>
            <a:off x="4256948" y="3589968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B1E288E-A722-8A10-24BF-C012F1F4ADBF}"/>
              </a:ext>
            </a:extLst>
          </p:cNvPr>
          <p:cNvSpPr/>
          <p:nvPr/>
        </p:nvSpPr>
        <p:spPr>
          <a:xfrm>
            <a:off x="4489732" y="3159567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6BCF248-4504-765C-9B95-4D5BA630A842}"/>
              </a:ext>
            </a:extLst>
          </p:cNvPr>
          <p:cNvSpPr/>
          <p:nvPr/>
        </p:nvSpPr>
        <p:spPr>
          <a:xfrm>
            <a:off x="4682324" y="2859795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716FB7-D53B-B812-189A-D486C7B7EEFF}"/>
              </a:ext>
            </a:extLst>
          </p:cNvPr>
          <p:cNvSpPr/>
          <p:nvPr/>
        </p:nvSpPr>
        <p:spPr>
          <a:xfrm>
            <a:off x="5065833" y="2539926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044478-C421-7C19-F603-4C9D694D8F7B}"/>
              </a:ext>
            </a:extLst>
          </p:cNvPr>
          <p:cNvSpPr/>
          <p:nvPr/>
        </p:nvSpPr>
        <p:spPr>
          <a:xfrm>
            <a:off x="5389057" y="2702374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0A8564-584A-5BF6-E87A-6519D376C89C}"/>
              </a:ext>
            </a:extLst>
          </p:cNvPr>
          <p:cNvSpPr/>
          <p:nvPr/>
        </p:nvSpPr>
        <p:spPr>
          <a:xfrm>
            <a:off x="5672085" y="2332263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4C002A-7F6E-0DD8-9444-F7963A77DB46}"/>
              </a:ext>
            </a:extLst>
          </p:cNvPr>
          <p:cNvSpPr/>
          <p:nvPr/>
        </p:nvSpPr>
        <p:spPr>
          <a:xfrm>
            <a:off x="5834533" y="2293747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8FF6B7-F38C-3F41-3E44-9DABF53F904B}"/>
              </a:ext>
            </a:extLst>
          </p:cNvPr>
          <p:cNvSpPr/>
          <p:nvPr/>
        </p:nvSpPr>
        <p:spPr>
          <a:xfrm>
            <a:off x="6107511" y="2144699"/>
            <a:ext cx="99600" cy="996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473A8C-29E9-4695-1951-F05EA8250FFE}"/>
              </a:ext>
            </a:extLst>
          </p:cNvPr>
          <p:cNvSpPr txBox="1"/>
          <p:nvPr/>
        </p:nvSpPr>
        <p:spPr>
          <a:xfrm>
            <a:off x="8950094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725F9-F3A8-8F2B-5B24-1D81A0D542F9}"/>
              </a:ext>
            </a:extLst>
          </p:cNvPr>
          <p:cNvSpPr txBox="1"/>
          <p:nvPr/>
        </p:nvSpPr>
        <p:spPr>
          <a:xfrm>
            <a:off x="5188578" y="4311949"/>
            <a:ext cx="3835033" cy="738664"/>
          </a:xfrm>
          <a:prstGeom prst="rect">
            <a:avLst/>
          </a:prstGeom>
          <a:noFill/>
          <a:ln w="19050">
            <a:solidFill>
              <a:srgbClr val="E2AC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2AC00"/>
                </a:solidFill>
              </a:rPr>
              <a:t>Each point represents the sum of optimal solutions to linear programs (but we keep changing the model).</a:t>
            </a:r>
          </a:p>
        </p:txBody>
      </p:sp>
    </p:spTree>
    <p:extLst>
      <p:ext uri="{BB962C8B-B14F-4D97-AF65-F5344CB8AC3E}">
        <p14:creationId xmlns:p14="http://schemas.microsoft.com/office/powerpoint/2010/main" val="355616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33C78E5-E86E-454C-A1A6-6258D4DE7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40" y="2096807"/>
            <a:ext cx="7044865" cy="44646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One-dimensional contour plots – perfect forecast</a:t>
            </a:r>
          </a:p>
          <a:p>
            <a:pPr lvl="1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74997" y="6112918"/>
            <a:ext cx="700063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200" i="0" dirty="0"/>
              <a:t>0.0                      0.2                     0.4                  0.6                   0.8                   1.0                   1.2 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8370208" y="2253343"/>
            <a:ext cx="0" cy="3859574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>
              <a:xfrm>
                <a:off x="3729038" y="2660650"/>
                <a:ext cx="3090862" cy="4413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for perfect forecasts.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038" y="2660650"/>
                <a:ext cx="3090862" cy="441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/>
              <p:cNvSpPr txBox="1"/>
              <p:nvPr/>
            </p:nvSpPr>
            <p:spPr>
              <a:xfrm>
                <a:off x="6080125" y="6232400"/>
                <a:ext cx="266700" cy="3444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5" y="6232400"/>
                <a:ext cx="266700" cy="344488"/>
              </a:xfrm>
              <a:prstGeom prst="rect">
                <a:avLst/>
              </a:prstGeom>
              <a:blipFill>
                <a:blip r:embed="rId7"/>
                <a:stretch>
                  <a:fillRect l="-4545" r="-38636" b="-29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170660B-F1FD-4216-93A2-2E04CD5C4236}"/>
              </a:ext>
            </a:extLst>
          </p:cNvPr>
          <p:cNvSpPr txBox="1"/>
          <p:nvPr/>
        </p:nvSpPr>
        <p:spPr>
          <a:xfrm>
            <a:off x="756517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3C271-612B-C5F1-3656-471FC5629F76}"/>
              </a:ext>
            </a:extLst>
          </p:cNvPr>
          <p:cNvSpPr/>
          <p:nvPr/>
        </p:nvSpPr>
        <p:spPr>
          <a:xfrm>
            <a:off x="4381080" y="2185988"/>
            <a:ext cx="3958886" cy="259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9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One-dimensional contour plots - uncertain forecast</a:t>
            </a:r>
          </a:p>
          <a:p>
            <a:pPr lvl="1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B356A9-75FA-4ACA-AA34-0680FE00A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8" y="2185988"/>
            <a:ext cx="7038975" cy="4352316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 bwMode="auto">
          <a:xfrm>
            <a:off x="8377903" y="2224768"/>
            <a:ext cx="0" cy="3859574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430201-E021-4B64-5383-A5F3B2657B80}"/>
              </a:ext>
            </a:extLst>
          </p:cNvPr>
          <p:cNvSpPr txBox="1"/>
          <p:nvPr/>
        </p:nvSpPr>
        <p:spPr>
          <a:xfrm>
            <a:off x="2874997" y="6084343"/>
            <a:ext cx="700063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200" i="0" dirty="0"/>
              <a:t>0.0                      0.2                     0.4                  0.6                   0.8                   1.0                   1.2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55E7A3DC-A72B-18DE-D91D-09863B090AD8}"/>
                  </a:ext>
                </a:extLst>
              </p:cNvPr>
              <p:cNvSpPr txBox="1"/>
              <p:nvPr/>
            </p:nvSpPr>
            <p:spPr>
              <a:xfrm>
                <a:off x="6080125" y="6203825"/>
                <a:ext cx="266700" cy="34448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55E7A3DC-A72B-18DE-D91D-09863B090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5" y="6203825"/>
                <a:ext cx="266700" cy="344488"/>
              </a:xfrm>
              <a:prstGeom prst="rect">
                <a:avLst/>
              </a:prstGeom>
              <a:blipFill>
                <a:blip r:embed="rId3"/>
                <a:stretch>
                  <a:fillRect l="-4545" r="-38636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6478029-9230-113A-3220-4E1CDAA0B733}"/>
              </a:ext>
            </a:extLst>
          </p:cNvPr>
          <p:cNvSpPr txBox="1"/>
          <p:nvPr/>
        </p:nvSpPr>
        <p:spPr>
          <a:xfrm>
            <a:off x="7565177" y="6401312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6F5321-7D57-7EA3-9C3F-98714A3A5133}"/>
              </a:ext>
            </a:extLst>
          </p:cNvPr>
          <p:cNvGrpSpPr/>
          <p:nvPr/>
        </p:nvGrpSpPr>
        <p:grpSpPr>
          <a:xfrm>
            <a:off x="5982878" y="3506836"/>
            <a:ext cx="448393" cy="632729"/>
            <a:chOff x="5982878" y="3535411"/>
            <a:chExt cx="448393" cy="63272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A8DD5E2-6F38-895A-7425-0CF77846C3F6}"/>
                </a:ext>
              </a:extLst>
            </p:cNvPr>
            <p:cNvSpPr/>
            <p:nvPr/>
          </p:nvSpPr>
          <p:spPr>
            <a:xfrm>
              <a:off x="6263640" y="3718560"/>
              <a:ext cx="167631" cy="44958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78C089F-E94E-FC87-2234-86E15FC3A634}"/>
                    </a:ext>
                  </a:extLst>
                </p:cNvPr>
                <p:cNvSpPr txBox="1"/>
                <p:nvPr/>
              </p:nvSpPr>
              <p:spPr>
                <a:xfrm>
                  <a:off x="5982878" y="3535411"/>
                  <a:ext cx="4076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8C089F-E94E-FC87-2234-86E15FC3A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878" y="3535411"/>
                  <a:ext cx="407676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02EA98D-303D-71D1-50D7-6FA69B740255}"/>
              </a:ext>
            </a:extLst>
          </p:cNvPr>
          <p:cNvGrpSpPr/>
          <p:nvPr/>
        </p:nvGrpSpPr>
        <p:grpSpPr>
          <a:xfrm>
            <a:off x="6215542" y="2622916"/>
            <a:ext cx="1250740" cy="609869"/>
            <a:chOff x="6215542" y="2651491"/>
            <a:chExt cx="1250740" cy="60986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7C6048E-9B30-B30B-5CB0-15CCF4FDBB80}"/>
                </a:ext>
              </a:extLst>
            </p:cNvPr>
            <p:cNvSpPr/>
            <p:nvPr/>
          </p:nvSpPr>
          <p:spPr>
            <a:xfrm>
              <a:off x="6215542" y="2811780"/>
              <a:ext cx="167631" cy="44958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2AD5D7E-4D28-FBFB-FC46-10CCF9A6DAF8}"/>
                    </a:ext>
                  </a:extLst>
                </p:cNvPr>
                <p:cNvSpPr txBox="1"/>
                <p:nvPr/>
              </p:nvSpPr>
              <p:spPr>
                <a:xfrm>
                  <a:off x="6325778" y="2651491"/>
                  <a:ext cx="114050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2AD5D7E-4D28-FBFB-FC46-10CCF9A6D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5778" y="2651491"/>
                  <a:ext cx="114050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C133CA4-D8AA-CCB1-F493-E5BBBD239B0E}"/>
              </a:ext>
            </a:extLst>
          </p:cNvPr>
          <p:cNvGrpSpPr/>
          <p:nvPr/>
        </p:nvGrpSpPr>
        <p:grpSpPr>
          <a:xfrm>
            <a:off x="6718081" y="4854989"/>
            <a:ext cx="448393" cy="632729"/>
            <a:chOff x="5982878" y="3535411"/>
            <a:chExt cx="448393" cy="6327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1D2BDE-1AA5-E79E-9685-E1C355E4FA24}"/>
                </a:ext>
              </a:extLst>
            </p:cNvPr>
            <p:cNvSpPr/>
            <p:nvPr/>
          </p:nvSpPr>
          <p:spPr>
            <a:xfrm>
              <a:off x="6263640" y="3718560"/>
              <a:ext cx="167631" cy="449580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E7DF901-A001-8143-5EE1-721ABDA6C881}"/>
                    </a:ext>
                  </a:extLst>
                </p:cNvPr>
                <p:cNvSpPr txBox="1"/>
                <p:nvPr/>
              </p:nvSpPr>
              <p:spPr>
                <a:xfrm>
                  <a:off x="5982878" y="3535411"/>
                  <a:ext cx="4118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E7DF901-A001-8143-5EE1-721ABDA6C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2878" y="3535411"/>
                  <a:ext cx="411844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3B4C1FA-3FA2-257E-F2C4-6009B4242C76}"/>
              </a:ext>
            </a:extLst>
          </p:cNvPr>
          <p:cNvSpPr/>
          <p:nvPr/>
        </p:nvSpPr>
        <p:spPr>
          <a:xfrm>
            <a:off x="4340888" y="2185988"/>
            <a:ext cx="3958886" cy="259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6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a parameterized 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092" y="1064743"/>
            <a:ext cx="10363200" cy="4401600"/>
          </a:xfrm>
        </p:spPr>
        <p:txBody>
          <a:bodyPr/>
          <a:lstStyle/>
          <a:p>
            <a:r>
              <a:rPr lang="en-US" dirty="0"/>
              <a:t>Tuning the parameters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0464E-B98E-4504-A7A6-4B1D93799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211" y="1734281"/>
            <a:ext cx="7994737" cy="475186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07CFA3F-9382-4AB0-B0E0-BE45052D8BF7}"/>
              </a:ext>
            </a:extLst>
          </p:cNvPr>
          <p:cNvCxnSpPr>
            <a:cxnSpLocks/>
          </p:cNvCxnSpPr>
          <p:nvPr/>
        </p:nvCxnSpPr>
        <p:spPr>
          <a:xfrm>
            <a:off x="5244167" y="1874985"/>
            <a:ext cx="16475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E48AC8-C3FB-48E9-8A75-E645BCD6D1BB}"/>
              </a:ext>
            </a:extLst>
          </p:cNvPr>
          <p:cNvCxnSpPr>
            <a:cxnSpLocks/>
          </p:cNvCxnSpPr>
          <p:nvPr/>
        </p:nvCxnSpPr>
        <p:spPr>
          <a:xfrm>
            <a:off x="6891739" y="1874985"/>
            <a:ext cx="17363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55300C-4316-4F4D-9F29-3B1694B02899}"/>
              </a:ext>
            </a:extLst>
          </p:cNvPr>
          <p:cNvCxnSpPr>
            <a:cxnSpLocks/>
          </p:cNvCxnSpPr>
          <p:nvPr/>
        </p:nvCxnSpPr>
        <p:spPr>
          <a:xfrm>
            <a:off x="3555096" y="1874985"/>
            <a:ext cx="16890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1D6357-EB16-4E0D-9FB3-E5D460EFD8FB}"/>
              </a:ext>
            </a:extLst>
          </p:cNvPr>
          <p:cNvCxnSpPr>
            <a:cxnSpLocks/>
          </p:cNvCxnSpPr>
          <p:nvPr/>
        </p:nvCxnSpPr>
        <p:spPr>
          <a:xfrm>
            <a:off x="3237247" y="1874985"/>
            <a:ext cx="3178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8AC0D2-BA31-4D43-9A57-26FA9F67DE2A}"/>
                  </a:ext>
                </a:extLst>
              </p:cNvPr>
              <p:cNvSpPr txBox="1"/>
              <p:nvPr/>
            </p:nvSpPr>
            <p:spPr>
              <a:xfrm>
                <a:off x="3146773" y="1701361"/>
                <a:ext cx="49879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8AC0D2-BA31-4D43-9A57-26FA9F67D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773" y="1701361"/>
                <a:ext cx="498797" cy="161583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00E83D-C04E-44F4-862C-7BA494558763}"/>
                  </a:ext>
                </a:extLst>
              </p:cNvPr>
              <p:cNvSpPr txBox="1"/>
              <p:nvPr/>
            </p:nvSpPr>
            <p:spPr>
              <a:xfrm>
                <a:off x="4016949" y="1701361"/>
                <a:ext cx="57586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00E83D-C04E-44F4-862C-7BA494558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6949" y="1701361"/>
                <a:ext cx="575863" cy="161583"/>
              </a:xfrm>
              <a:prstGeom prst="rect">
                <a:avLst/>
              </a:prstGeom>
              <a:blipFill>
                <a:blip r:embed="rId4"/>
                <a:stretch>
                  <a:fillRect l="-5319" t="-3704" r="-9574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4876F0-DE4B-465B-BCF4-778CE602B173}"/>
                  </a:ext>
                </a:extLst>
              </p:cNvPr>
              <p:cNvSpPr txBox="1"/>
              <p:nvPr/>
            </p:nvSpPr>
            <p:spPr>
              <a:xfrm>
                <a:off x="5645760" y="1690090"/>
                <a:ext cx="781048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∈[0.5,1.5]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4876F0-DE4B-465B-BCF4-778CE602B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760" y="1690090"/>
                <a:ext cx="781048" cy="161583"/>
              </a:xfrm>
              <a:prstGeom prst="rect">
                <a:avLst/>
              </a:prstGeom>
              <a:blipFill>
                <a:blip r:embed="rId5"/>
                <a:stretch>
                  <a:fillRect l="-3906" t="-3704" r="-7031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222F9-FF71-4D6C-B1D2-6F31495EE806}"/>
                  </a:ext>
                </a:extLst>
              </p:cNvPr>
              <p:cNvSpPr txBox="1"/>
              <p:nvPr/>
            </p:nvSpPr>
            <p:spPr>
              <a:xfrm>
                <a:off x="7479756" y="1702472"/>
                <a:ext cx="575863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05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50">
                          <a:latin typeface="Cambria Math" panose="02040503050406030204" pitchFamily="18" charset="0"/>
                        </a:rPr>
                        <m:t>∈[1,2]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222F9-FF71-4D6C-B1D2-6F31495EE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756" y="1702472"/>
                <a:ext cx="575863" cy="161583"/>
              </a:xfrm>
              <a:prstGeom prst="rect">
                <a:avLst/>
              </a:prstGeom>
              <a:blipFill>
                <a:blip r:embed="rId6"/>
                <a:stretch>
                  <a:fillRect l="-5319" r="-9574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1C618AF-8E5D-4FB0-B77E-D942CAF6A831}"/>
              </a:ext>
            </a:extLst>
          </p:cNvPr>
          <p:cNvSpPr/>
          <p:nvPr/>
        </p:nvSpPr>
        <p:spPr>
          <a:xfrm>
            <a:off x="5742709" y="6130636"/>
            <a:ext cx="741218" cy="145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ED90AF-1957-4A9F-86E3-64ED432C419B}"/>
                  </a:ext>
                </a:extLst>
              </p:cNvPr>
              <p:cNvSpPr txBox="1"/>
              <p:nvPr/>
            </p:nvSpPr>
            <p:spPr>
              <a:xfrm>
                <a:off x="4396117" y="6151066"/>
                <a:ext cx="34344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Starting points for stochastic search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ED90AF-1957-4A9F-86E3-64ED432C4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117" y="6151066"/>
                <a:ext cx="3434402" cy="307777"/>
              </a:xfrm>
              <a:prstGeom prst="rect">
                <a:avLst/>
              </a:prstGeom>
              <a:blipFill>
                <a:blip r:embed="rId7"/>
                <a:stretch>
                  <a:fillRect l="-532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0D9E982-36B6-4CBF-AD31-746EE1C6B122}"/>
              </a:ext>
            </a:extLst>
          </p:cNvPr>
          <p:cNvGrpSpPr/>
          <p:nvPr/>
        </p:nvGrpSpPr>
        <p:grpSpPr>
          <a:xfrm>
            <a:off x="2994053" y="5239767"/>
            <a:ext cx="7434253" cy="369332"/>
            <a:chOff x="2994053" y="5239767"/>
            <a:chExt cx="7434253" cy="3693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958413E-5EAD-4CD2-B527-2CDFFDFD5292}"/>
                </a:ext>
              </a:extLst>
            </p:cNvPr>
            <p:cNvCxnSpPr>
              <a:cxnSpLocks/>
            </p:cNvCxnSpPr>
            <p:nvPr/>
          </p:nvCxnSpPr>
          <p:spPr>
            <a:xfrm>
              <a:off x="2994053" y="5417791"/>
              <a:ext cx="6554549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2CC0806-DBAA-4B63-A935-F5555D2B37B9}"/>
                    </a:ext>
                  </a:extLst>
                </p:cNvPr>
                <p:cNvSpPr txBox="1"/>
                <p:nvPr/>
              </p:nvSpPr>
              <p:spPr>
                <a:xfrm>
                  <a:off x="9613339" y="5239767"/>
                  <a:ext cx="814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2CC0806-DBAA-4B63-A935-F5555D2B3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3339" y="5239767"/>
                  <a:ext cx="814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CBCDD53-41C0-DD1D-7262-4346FDA76973}"/>
              </a:ext>
            </a:extLst>
          </p:cNvPr>
          <p:cNvSpPr/>
          <p:nvPr/>
        </p:nvSpPr>
        <p:spPr>
          <a:xfrm>
            <a:off x="2402660" y="2098623"/>
            <a:ext cx="457200" cy="3694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FB6B67-CA0C-40C0-B2CF-FB5C41A45E95}"/>
                  </a:ext>
                </a:extLst>
              </p:cNvPr>
              <p:cNvSpPr txBox="1"/>
              <p:nvPr/>
            </p:nvSpPr>
            <p:spPr>
              <a:xfrm rot="16200000">
                <a:off x="1149453" y="3742830"/>
                <a:ext cx="277274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Percent improvement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FB6B67-CA0C-40C0-B2CF-FB5C41A45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49453" y="3742830"/>
                <a:ext cx="2772747" cy="307777"/>
              </a:xfrm>
              <a:prstGeom prst="rect">
                <a:avLst/>
              </a:prstGeom>
              <a:blipFill>
                <a:blip r:embed="rId9"/>
                <a:stretch>
                  <a:fillRect l="-4000" r="-20000" b="-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9F984D0-3890-41D8-4A96-BB02301923EC}"/>
              </a:ext>
            </a:extLst>
          </p:cNvPr>
          <p:cNvGrpSpPr/>
          <p:nvPr/>
        </p:nvGrpSpPr>
        <p:grpSpPr>
          <a:xfrm>
            <a:off x="2994053" y="3398207"/>
            <a:ext cx="8742714" cy="514706"/>
            <a:chOff x="2994053" y="3398207"/>
            <a:chExt cx="8742714" cy="51470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168F0B6-F829-535A-6AE7-DA8543D0CB23}"/>
                </a:ext>
              </a:extLst>
            </p:cNvPr>
            <p:cNvGrpSpPr/>
            <p:nvPr/>
          </p:nvGrpSpPr>
          <p:grpSpPr>
            <a:xfrm>
              <a:off x="2994053" y="3605136"/>
              <a:ext cx="8742714" cy="307777"/>
              <a:chOff x="2994053" y="3605136"/>
              <a:chExt cx="8742714" cy="307777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C585AEE-2A47-429E-AA7E-A1EC0C7491A7}"/>
                  </a:ext>
                </a:extLst>
              </p:cNvPr>
              <p:cNvCxnSpPr/>
              <p:nvPr/>
            </p:nvCxnSpPr>
            <p:spPr>
              <a:xfrm>
                <a:off x="2994053" y="3755036"/>
                <a:ext cx="668959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C96224C-F2C6-CD59-5E0D-59ADECBEB314}"/>
                  </a:ext>
                </a:extLst>
              </p:cNvPr>
              <p:cNvSpPr txBox="1"/>
              <p:nvPr/>
            </p:nvSpPr>
            <p:spPr>
              <a:xfrm>
                <a:off x="9623688" y="3605136"/>
                <a:ext cx="21130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30 percent improvement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83E3983-BD49-DB1F-210A-CC7C439C9707}"/>
                    </a:ext>
                  </a:extLst>
                </p:cNvPr>
                <p:cNvSpPr txBox="1"/>
                <p:nvPr/>
              </p:nvSpPr>
              <p:spPr>
                <a:xfrm>
                  <a:off x="3517205" y="3398207"/>
                  <a:ext cx="1146917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Optimized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83E3983-BD49-DB1F-210A-CC7C439C9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7205" y="3398207"/>
                  <a:ext cx="1146917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1596" t="-1961"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54E8409-4C06-D81B-CCA5-01FAFCC95691}"/>
              </a:ext>
            </a:extLst>
          </p:cNvPr>
          <p:cNvSpPr txBox="1"/>
          <p:nvPr/>
        </p:nvSpPr>
        <p:spPr>
          <a:xfrm>
            <a:off x="8408557" y="6429887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(joint with Saeed </a:t>
            </a:r>
            <a:r>
              <a:rPr lang="en-US" sz="1200" dirty="0" err="1"/>
              <a:t>Ghadimi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40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9B4ED-7533-5919-B6E0-0BA20B572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6338BFF-9BC4-C392-63DB-1F6B53B84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070762-5FBF-0C28-AF36-C952214C9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1EE4B-931E-78BD-5A4D-8C3EEDC7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1AA76A-DFB1-CE0D-4C52-BD204B92D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A5CF4-FBA3-AD34-0B98-178DC1A23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B93E92D-062E-66B4-0C24-EC1D48A95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C7B217-CBE4-3332-F715-FA015C694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E21AB5-4DFA-FE10-D025-C3D8ADC99A2C}"/>
              </a:ext>
            </a:extLst>
          </p:cNvPr>
          <p:cNvSpPr txBox="1"/>
          <p:nvPr/>
        </p:nvSpPr>
        <p:spPr>
          <a:xfrm>
            <a:off x="3854573" y="3563240"/>
            <a:ext cx="80631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optimal learning go to: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Cost function approximations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warrenpowell.org → Policies → Direct lookahead approximations Part III 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0564553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0C8D23-C824-4069-9D96-A056B9C750B2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b9a67f89-7d7d-48be-9399-9713d9f7587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468973</TotalTime>
  <Words>3576</Words>
  <Application>Microsoft Office PowerPoint</Application>
  <PresentationFormat>Widescreen</PresentationFormat>
  <Paragraphs>1017</Paragraphs>
  <Slides>81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Wingdings</vt:lpstr>
      <vt:lpstr>Cambria Math</vt:lpstr>
      <vt:lpstr>Oswald</vt:lpstr>
      <vt:lpstr>Raleway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OUTLINE</vt:lpstr>
      <vt:lpstr>OUTLINE</vt:lpstr>
      <vt:lpstr>Optimal learning</vt:lpstr>
      <vt:lpstr>PowerPoint Presentation</vt:lpstr>
      <vt:lpstr>Optimal learning</vt:lpstr>
      <vt:lpstr>PowerPoint Presentation</vt:lpstr>
      <vt:lpstr>Optimal learning</vt:lpstr>
      <vt:lpstr>Optimal learning</vt:lpstr>
      <vt:lpstr>Optimal learning</vt:lpstr>
      <vt:lpstr>Optimal learning</vt:lpstr>
      <vt:lpstr>OUTLINE</vt:lpstr>
      <vt:lpstr>Optimal learning</vt:lpstr>
      <vt:lpstr>Optimal learning</vt:lpstr>
      <vt:lpstr>Optimal learning</vt:lpstr>
      <vt:lpstr>Optimal learning</vt:lpstr>
      <vt:lpstr>Optimal learning</vt:lpstr>
      <vt:lpstr>OUTLINE</vt:lpstr>
      <vt:lpstr>Cost function approximations</vt:lpstr>
      <vt:lpstr>Cost function approximations</vt:lpstr>
      <vt:lpstr>Cost function approximations</vt:lpstr>
      <vt:lpstr>Optimal learning</vt:lpstr>
      <vt:lpstr>Cost function approximations</vt:lpstr>
      <vt:lpstr>Cost function approximations</vt:lpstr>
      <vt:lpstr>Cost function approximations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Optimal learning</vt:lpstr>
      <vt:lpstr>PowerPoint Presentation</vt:lpstr>
      <vt:lpstr>PowerPoint Presentation</vt:lpstr>
      <vt:lpstr>PowerPoint Presentation</vt:lpstr>
      <vt:lpstr>PowerPoint Presentation</vt:lpstr>
      <vt:lpstr>Cost function approximations</vt:lpstr>
      <vt:lpstr>Thank you!</vt:lpstr>
      <vt:lpstr>PowerPoint Presentation</vt:lpstr>
      <vt:lpstr>OUTLINE</vt:lpstr>
      <vt:lpstr>OUTLINE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The Universal Modeling Framework</vt:lpstr>
      <vt:lpstr>The Universal Modeling Framework</vt:lpstr>
      <vt:lpstr>OUTLINE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Thank you!</vt:lpstr>
      <vt:lpstr>PowerPoint Presentation</vt:lpstr>
      <vt:lpstr>OUTLINE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775</cp:revision>
  <cp:lastPrinted>2025-05-20T14:08:40Z</cp:lastPrinted>
  <dcterms:modified xsi:type="dcterms:W3CDTF">2026-09-07T19:44:00Z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