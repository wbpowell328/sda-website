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330"/>
  </p:notesMasterIdLst>
  <p:sldIdLst>
    <p:sldId id="10746" r:id="rId173"/>
    <p:sldId id="10345" r:id="rId174"/>
    <p:sldId id="10698" r:id="rId175"/>
    <p:sldId id="10703" r:id="rId176"/>
    <p:sldId id="10706" r:id="rId177"/>
    <p:sldId id="10704" r:id="rId178"/>
    <p:sldId id="10697" r:id="rId179"/>
    <p:sldId id="10471" r:id="rId180"/>
    <p:sldId id="10562" r:id="rId181"/>
    <p:sldId id="6101" r:id="rId182"/>
    <p:sldId id="5410" r:id="rId183"/>
    <p:sldId id="10724" r:id="rId184"/>
    <p:sldId id="10563" r:id="rId185"/>
    <p:sldId id="5354" r:id="rId186"/>
    <p:sldId id="10885" r:id="rId187"/>
    <p:sldId id="10564" r:id="rId188"/>
    <p:sldId id="5355" r:id="rId189"/>
    <p:sldId id="5356" r:id="rId190"/>
    <p:sldId id="10565" r:id="rId191"/>
    <p:sldId id="5357" r:id="rId192"/>
    <p:sldId id="10346" r:id="rId193"/>
    <p:sldId id="10886" r:id="rId194"/>
    <p:sldId id="10386" r:id="rId195"/>
    <p:sldId id="10566" r:id="rId196"/>
    <p:sldId id="5358" r:id="rId197"/>
    <p:sldId id="10584" r:id="rId198"/>
    <p:sldId id="10567" r:id="rId199"/>
    <p:sldId id="5359" r:id="rId200"/>
    <p:sldId id="10192" r:id="rId201"/>
    <p:sldId id="10585" r:id="rId202"/>
    <p:sldId id="10249" r:id="rId203"/>
    <p:sldId id="10193" r:id="rId204"/>
    <p:sldId id="10194" r:id="rId205"/>
    <p:sldId id="10195" r:id="rId206"/>
    <p:sldId id="10570" r:id="rId207"/>
    <p:sldId id="10367" r:id="rId208"/>
    <p:sldId id="10191" r:id="rId209"/>
    <p:sldId id="10969" r:id="rId210"/>
  </p:sldIdLst>
  <p:sldSz cx="12192000" cy="6858000"/>
  <p:notesSz cx="7102475" cy="9388475"/>
  <p:embeddedFontLst>
    <p:embeddedFont>
      <p:font typeface="Cambria Math" panose="02040503050406030204" pitchFamily="18" charset="0"/>
      <p:regular r:id="rId331"/>
    </p:embeddedFont>
    <p:embeddedFont>
      <p:font typeface="Oswald" panose="00000500000000000000" pitchFamily="2" charset="0"/>
      <p:regular r:id="rId332"/>
      <p:bold r:id="rId333"/>
    </p:embeddedFont>
    <p:embeddedFont>
      <p:font typeface="Oswald Regular" panose="00000500000000000000" charset="0"/>
      <p:regular r:id="rId334"/>
      <p:bold r:id="rId335"/>
    </p:embeddedFont>
    <p:embeddedFont>
      <p:font typeface="Playfair Display" panose="00000500000000000000" pitchFamily="2" charset="0"/>
      <p:regular r:id="rId336"/>
      <p:bold r:id="rId337"/>
      <p:italic r:id="rId338"/>
      <p:boldItalic r:id="rId339"/>
    </p:embeddedFont>
    <p:embeddedFont>
      <p:font typeface="Raleway" pitchFamily="2" charset="0"/>
      <p:regular r:id="rId340"/>
      <p:bold r:id="rId341"/>
      <p:italic r:id="rId342"/>
      <p:boldItalic r:id="rId343"/>
    </p:embeddedFont>
    <p:embeddedFont>
      <p:font typeface="Raleway Thin" pitchFamily="2" charset="0"/>
      <p:regular r:id="rId344"/>
      <p:bold r:id="rId345"/>
      <p:italic r:id="rId346"/>
      <p:boldItalic r:id="rId3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Opening" id="{15E8A6E9-652B-44EF-A433-602AA2C0CF1D}">
          <p14:sldIdLst/>
        </p14:section>
        <p14:section name="Background for this tutorial" id="{9E777E73-11DD-4A73-81F1-368F6E4B7E85}">
          <p14:sldIdLst>
            <p14:sldId id="10779"/>
            <p14:sldId id="9124"/>
            <p14:sldId id="8947"/>
            <p14:sldId id="9364"/>
            <p14:sldId id="8505"/>
            <p14:sldId id="258"/>
            <p14:sldId id="7813"/>
            <p14:sldId id="9228"/>
            <p14:sldId id="9227"/>
            <p14:sldId id="10645"/>
            <p14:sldId id="10330"/>
            <p14:sldId id="9922"/>
            <p14:sldId id="10477"/>
            <p14:sldId id="10174"/>
            <p14:sldId id="10022"/>
            <p14:sldId id="10173"/>
            <p14:sldId id="10172"/>
            <p14:sldId id="10419"/>
            <p14:sldId id="10907"/>
          </p14:sldIdLst>
        </p14:section>
        <p14:section name="History of RL (short)" id="{A11ABB24-D8C5-421E-8D7B-89403AEF34B0}">
          <p14:sldIdLst>
            <p14:sldId id="10742"/>
            <p14:sldId id="10530"/>
            <p14:sldId id="10481"/>
            <p14:sldId id="8657"/>
            <p14:sldId id="10483"/>
            <p14:sldId id="10657"/>
            <p14:sldId id="10531"/>
            <p14:sldId id="10679"/>
            <p14:sldId id="10488"/>
            <p14:sldId id="10489"/>
            <p14:sldId id="10654"/>
            <p14:sldId id="10491"/>
            <p14:sldId id="10492"/>
            <p14:sldId id="10658"/>
            <p14:sldId id="10494"/>
            <p14:sldId id="10721"/>
            <p14:sldId id="10577"/>
            <p14:sldId id="10660"/>
            <p14:sldId id="10838"/>
            <p14:sldId id="10840"/>
            <p14:sldId id="10499"/>
            <p14:sldId id="10500"/>
            <p14:sldId id="10576"/>
            <p14:sldId id="10501"/>
            <p14:sldId id="10502"/>
            <p14:sldId id="10503"/>
            <p14:sldId id="10575"/>
            <p14:sldId id="10963"/>
          </p14:sldIdLst>
        </p14:section>
        <p14:section name="Sequential decision problems" id="{ACC58C93-CA30-44E4-A6F7-33A7A138D8CC}">
          <p14:sldIdLst>
            <p14:sldId id="10743"/>
            <p14:sldId id="8053"/>
            <p14:sldId id="8621"/>
            <p14:sldId id="8630"/>
            <p14:sldId id="9224"/>
            <p14:sldId id="8650"/>
            <p14:sldId id="8284"/>
            <p14:sldId id="294"/>
            <p14:sldId id="293"/>
            <p14:sldId id="10064"/>
            <p14:sldId id="10065"/>
            <p14:sldId id="4727"/>
            <p14:sldId id="4732"/>
            <p14:sldId id="4600"/>
            <p14:sldId id="10451"/>
            <p14:sldId id="10714"/>
            <p14:sldId id="10465"/>
            <p14:sldId id="10591"/>
            <p14:sldId id="10728"/>
            <p14:sldId id="10729"/>
            <p14:sldId id="10964"/>
          </p14:sldIdLst>
        </p14:section>
        <p14:section name="Framing the problem" id="{D8CB74C6-BADA-4949-8842-1630826271F0}">
          <p14:sldIdLst>
            <p14:sldId id="10870"/>
            <p14:sldId id="10872"/>
            <p14:sldId id="10873"/>
            <p14:sldId id="10843"/>
            <p14:sldId id="10844"/>
            <p14:sldId id="10845"/>
            <p14:sldId id="10846"/>
            <p14:sldId id="10847"/>
            <p14:sldId id="10874"/>
            <p14:sldId id="10852"/>
            <p14:sldId id="10853"/>
            <p14:sldId id="10882"/>
            <p14:sldId id="10854"/>
            <p14:sldId id="10855"/>
            <p14:sldId id="9931"/>
            <p14:sldId id="9946"/>
            <p14:sldId id="10875"/>
            <p14:sldId id="10541"/>
            <p14:sldId id="10639"/>
            <p14:sldId id="9559"/>
            <p14:sldId id="10661"/>
            <p14:sldId id="10655"/>
            <p14:sldId id="10533"/>
            <p14:sldId id="10656"/>
            <p14:sldId id="10581"/>
            <p14:sldId id="10364"/>
            <p14:sldId id="10858"/>
            <p14:sldId id="9791"/>
            <p14:sldId id="9935"/>
            <p14:sldId id="10876"/>
            <p14:sldId id="10863"/>
            <p14:sldId id="10864"/>
            <p14:sldId id="10347"/>
            <p14:sldId id="10663"/>
            <p14:sldId id="10662"/>
            <p14:sldId id="10582"/>
            <p14:sldId id="10583"/>
            <p14:sldId id="10349"/>
            <p14:sldId id="10879"/>
            <p14:sldId id="10848"/>
            <p14:sldId id="10849"/>
            <p14:sldId id="10850"/>
            <p14:sldId id="10135"/>
            <p14:sldId id="10118"/>
            <p14:sldId id="10119"/>
            <p14:sldId id="10880"/>
            <p14:sldId id="10883"/>
            <p14:sldId id="10881"/>
            <p14:sldId id="10859"/>
            <p14:sldId id="10860"/>
            <p14:sldId id="10861"/>
            <p14:sldId id="10868"/>
            <p14:sldId id="10869"/>
            <p14:sldId id="10965"/>
          </p14:sldIdLst>
        </p14:section>
        <p14:section name="The universal modeling framework (high level)" id="{B4EDCA7E-9BFF-4C15-9330-9A564F4DF9C2}">
          <p14:sldIdLst>
            <p14:sldId id="10744"/>
            <p14:sldId id="10185"/>
            <p14:sldId id="10070"/>
            <p14:sldId id="10071"/>
            <p14:sldId id="10166"/>
            <p14:sldId id="10887"/>
            <p14:sldId id="10888"/>
            <p14:sldId id="10176"/>
            <p14:sldId id="10685"/>
            <p14:sldId id="9586"/>
            <p14:sldId id="10696"/>
            <p14:sldId id="10966"/>
          </p14:sldIdLst>
        </p14:section>
        <p14:section name="Estimation methods" id="{DD45CA11-C71B-4DFB-931F-CCF5075140C5}">
          <p14:sldIdLst>
            <p14:sldId id="10745"/>
            <p14:sldId id="10555"/>
            <p14:sldId id="10841"/>
            <p14:sldId id="5161"/>
            <p14:sldId id="10556"/>
            <p14:sldId id="10731"/>
            <p14:sldId id="3326"/>
            <p14:sldId id="3327"/>
            <p14:sldId id="3328"/>
            <p14:sldId id="10402"/>
            <p14:sldId id="7482"/>
            <p14:sldId id="7492"/>
            <p14:sldId id="10557"/>
            <p14:sldId id="6635"/>
            <p14:sldId id="6636"/>
            <p14:sldId id="6651"/>
            <p14:sldId id="6641"/>
            <p14:sldId id="6642"/>
            <p14:sldId id="6643"/>
            <p14:sldId id="6644"/>
            <p14:sldId id="6645"/>
            <p14:sldId id="6646"/>
            <p14:sldId id="6647"/>
            <p14:sldId id="6599"/>
            <p14:sldId id="6600"/>
            <p14:sldId id="6601"/>
            <p14:sldId id="5763"/>
            <p14:sldId id="10579"/>
            <p14:sldId id="10580"/>
            <p14:sldId id="10558"/>
            <p14:sldId id="10682"/>
            <p14:sldId id="5435"/>
            <p14:sldId id="10681"/>
            <p14:sldId id="10967"/>
          </p14:sldIdLst>
        </p14:section>
        <p14:section name="The universal modeling framework (detailed)" id="{821755DE-5A4C-4C1D-9ABA-B5A3E99D2088}">
          <p14:sldIdLst>
            <p14:sldId id="10746"/>
            <p14:sldId id="10345"/>
            <p14:sldId id="10698"/>
            <p14:sldId id="10703"/>
            <p14:sldId id="10706"/>
            <p14:sldId id="10704"/>
            <p14:sldId id="10697"/>
            <p14:sldId id="10471"/>
            <p14:sldId id="10562"/>
            <p14:sldId id="6101"/>
            <p14:sldId id="5410"/>
            <p14:sldId id="10724"/>
            <p14:sldId id="10563"/>
            <p14:sldId id="5354"/>
            <p14:sldId id="10885"/>
            <p14:sldId id="10564"/>
            <p14:sldId id="5355"/>
            <p14:sldId id="5356"/>
            <p14:sldId id="10565"/>
            <p14:sldId id="5357"/>
            <p14:sldId id="10346"/>
            <p14:sldId id="10886"/>
            <p14:sldId id="10386"/>
            <p14:sldId id="10566"/>
            <p14:sldId id="5358"/>
            <p14:sldId id="10584"/>
            <p14:sldId id="10567"/>
            <p14:sldId id="5359"/>
            <p14:sldId id="10192"/>
            <p14:sldId id="10585"/>
            <p14:sldId id="10249"/>
            <p14:sldId id="10193"/>
            <p14:sldId id="10194"/>
            <p14:sldId id="10195"/>
            <p14:sldId id="10570"/>
            <p14:sldId id="10367"/>
            <p14:sldId id="10191"/>
            <p14:sldId id="10969"/>
          </p14:sldIdLst>
        </p14:section>
        <p14:section name="State variables" id="{EF92328B-1E57-457D-B684-87CD0E42401A}">
          <p14:sldIdLst>
            <p14:sldId id="10747"/>
            <p14:sldId id="9925"/>
            <p14:sldId id="10442"/>
            <p14:sldId id="10707"/>
            <p14:sldId id="10231"/>
            <p14:sldId id="5340"/>
            <p14:sldId id="5341"/>
            <p14:sldId id="5343"/>
            <p14:sldId id="10359"/>
            <p14:sldId id="10713"/>
            <p14:sldId id="10411"/>
            <p14:sldId id="10537"/>
            <p14:sldId id="10587"/>
            <p14:sldId id="8003"/>
            <p14:sldId id="5345"/>
            <p14:sldId id="5346"/>
            <p14:sldId id="5347"/>
            <p14:sldId id="5806"/>
            <p14:sldId id="5348"/>
            <p14:sldId id="5349"/>
            <p14:sldId id="10538"/>
            <p14:sldId id="5397"/>
            <p14:sldId id="10708"/>
            <p14:sldId id="10709"/>
            <p14:sldId id="6049"/>
            <p14:sldId id="6050"/>
            <p14:sldId id="6040"/>
            <p14:sldId id="10390"/>
            <p14:sldId id="10539"/>
            <p14:sldId id="10444"/>
            <p14:sldId id="5386"/>
            <p14:sldId id="10445"/>
            <p14:sldId id="5389"/>
            <p14:sldId id="5390"/>
            <p14:sldId id="5391"/>
            <p14:sldId id="5373"/>
            <p14:sldId id="10970"/>
          </p14:sldIdLst>
        </p14:section>
        <p14:section name="Modeling uncertainty" id="{273EC5AA-4BFE-49D9-AEE9-6F0DCC951FB4}">
          <p14:sldIdLst>
            <p14:sldId id="10973"/>
            <p14:sldId id="10975"/>
            <p14:sldId id="11002"/>
            <p14:sldId id="10992"/>
            <p14:sldId id="10976"/>
            <p14:sldId id="10997"/>
            <p14:sldId id="10990"/>
            <p14:sldId id="10980"/>
            <p14:sldId id="11020"/>
            <p14:sldId id="11003"/>
            <p14:sldId id="10977"/>
            <p14:sldId id="10981"/>
            <p14:sldId id="10982"/>
            <p14:sldId id="10983"/>
            <p14:sldId id="10984"/>
            <p14:sldId id="10985"/>
            <p14:sldId id="11004"/>
            <p14:sldId id="10986"/>
            <p14:sldId id="10998"/>
            <p14:sldId id="10999"/>
            <p14:sldId id="11000"/>
            <p14:sldId id="11005"/>
            <p14:sldId id="10979"/>
            <p14:sldId id="11007"/>
            <p14:sldId id="11008"/>
            <p14:sldId id="11013"/>
            <p14:sldId id="11014"/>
            <p14:sldId id="11016"/>
            <p14:sldId id="11017"/>
            <p14:sldId id="11009"/>
            <p14:sldId id="6048"/>
            <p14:sldId id="11015"/>
            <p14:sldId id="5487"/>
            <p14:sldId id="11018"/>
            <p14:sldId id="11021"/>
            <p14:sldId id="11019"/>
            <p14:sldId id="10974"/>
          </p14:sldIdLst>
        </p14:section>
        <p14:section name="Designing policies - overview" id="{41540112-45D0-49AB-B584-51A2771BCDA9}">
          <p14:sldIdLst>
            <p14:sldId id="10748"/>
            <p14:sldId id="7834"/>
            <p14:sldId id="7835"/>
            <p14:sldId id="307"/>
            <p14:sldId id="9747"/>
            <p14:sldId id="9748"/>
            <p14:sldId id="10504"/>
            <p14:sldId id="9767"/>
            <p14:sldId id="9856"/>
            <p14:sldId id="9750"/>
            <p14:sldId id="9751"/>
            <p14:sldId id="10669"/>
            <p14:sldId id="10672"/>
            <p14:sldId id="9763"/>
            <p14:sldId id="10040"/>
            <p14:sldId id="9873"/>
            <p14:sldId id="10391"/>
            <p14:sldId id="10392"/>
            <p14:sldId id="10393"/>
            <p14:sldId id="10394"/>
            <p14:sldId id="9836"/>
            <p14:sldId id="9758"/>
            <p14:sldId id="10041"/>
            <p14:sldId id="9760"/>
            <p14:sldId id="9768"/>
            <p14:sldId id="9950"/>
            <p14:sldId id="10686"/>
            <p14:sldId id="10726"/>
            <p14:sldId id="10687"/>
            <p14:sldId id="8862"/>
            <p14:sldId id="10189"/>
            <p14:sldId id="5775"/>
            <p14:sldId id="10971"/>
          </p14:sldIdLst>
        </p14:section>
        <p14:section name="Choosing policies" id="{E08E9834-D518-4D97-8BC2-73F067E8DD93}">
          <p14:sldIdLst>
            <p14:sldId id="10780"/>
            <p14:sldId id="10890"/>
            <p14:sldId id="10889"/>
            <p14:sldId id="10099"/>
            <p14:sldId id="10100"/>
            <p14:sldId id="10110"/>
            <p14:sldId id="9548"/>
            <p14:sldId id="9837"/>
            <p14:sldId id="7930"/>
            <p14:sldId id="8043"/>
            <p14:sldId id="9284"/>
            <p14:sldId id="10972"/>
          </p14:sldIdLst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651" autoAdjust="0"/>
    <p:restoredTop sz="94699" autoAdjust="0"/>
  </p:normalViewPr>
  <p:slideViewPr>
    <p:cSldViewPr snapToGrid="0">
      <p:cViewPr varScale="1">
        <p:scale>
          <a:sx n="81" d="100"/>
          <a:sy n="81" d="100"/>
        </p:scale>
        <p:origin x="17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0187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35" Type="http://schemas.openxmlformats.org/officeDocument/2006/relationships/font" Target="fonts/font5.fntdata"/><Relationship Id="rId181" Type="http://schemas.openxmlformats.org/officeDocument/2006/relationships/slide" Target="slides/slide177.xml"/><Relationship Id="rId346" Type="http://schemas.openxmlformats.org/officeDocument/2006/relationships/font" Target="fonts/font16.fntdata"/><Relationship Id="rId192" Type="http://schemas.openxmlformats.org/officeDocument/2006/relationships/slide" Target="slides/slide188.xml"/><Relationship Id="rId206" Type="http://schemas.openxmlformats.org/officeDocument/2006/relationships/slide" Target="slides/slide202.xml"/><Relationship Id="rId337" Type="http://schemas.openxmlformats.org/officeDocument/2006/relationships/font" Target="fonts/font7.fntdata"/><Relationship Id="rId183" Type="http://schemas.openxmlformats.org/officeDocument/2006/relationships/slide" Target="slides/slide179.xml"/><Relationship Id="rId348" Type="http://schemas.openxmlformats.org/officeDocument/2006/relationships/presProps" Target="presProps.xml"/><Relationship Id="rId194" Type="http://schemas.openxmlformats.org/officeDocument/2006/relationships/slide" Target="slides/slide190.xml"/><Relationship Id="rId208" Type="http://schemas.openxmlformats.org/officeDocument/2006/relationships/slide" Target="slides/slide204.xml"/><Relationship Id="rId184" Type="http://schemas.openxmlformats.org/officeDocument/2006/relationships/slide" Target="slides/slide180.xml"/><Relationship Id="rId349" Type="http://schemas.openxmlformats.org/officeDocument/2006/relationships/viewProps" Target="viewProps.xml"/><Relationship Id="rId174" Type="http://schemas.openxmlformats.org/officeDocument/2006/relationships/slide" Target="slides/slide170.xml"/><Relationship Id="rId195" Type="http://schemas.openxmlformats.org/officeDocument/2006/relationships/slide" Target="slides/slide191.xml"/><Relationship Id="rId209" Type="http://schemas.openxmlformats.org/officeDocument/2006/relationships/slide" Target="slides/slide205.xml"/><Relationship Id="rId339" Type="http://schemas.openxmlformats.org/officeDocument/2006/relationships/font" Target="fonts/font9.fntdata"/><Relationship Id="rId185" Type="http://schemas.openxmlformats.org/officeDocument/2006/relationships/slide" Target="slides/slide181.xml"/><Relationship Id="rId350" Type="http://schemas.openxmlformats.org/officeDocument/2006/relationships/theme" Target="theme/theme1.xml"/><Relationship Id="rId210" Type="http://schemas.openxmlformats.org/officeDocument/2006/relationships/slide" Target="slides/slide206.xml"/><Relationship Id="rId175" Type="http://schemas.openxmlformats.org/officeDocument/2006/relationships/slide" Target="slides/slide171.xml"/><Relationship Id="rId340" Type="http://schemas.openxmlformats.org/officeDocument/2006/relationships/font" Target="fonts/font10.fntdata"/><Relationship Id="rId196" Type="http://schemas.openxmlformats.org/officeDocument/2006/relationships/slide" Target="slides/slide192.xml"/><Relationship Id="rId200" Type="http://schemas.openxmlformats.org/officeDocument/2006/relationships/slide" Target="slides/slide196.xml"/><Relationship Id="rId330" Type="http://schemas.openxmlformats.org/officeDocument/2006/relationships/notesMaster" Target="notesMasters/notesMaster1.xml"/><Relationship Id="rId186" Type="http://schemas.openxmlformats.org/officeDocument/2006/relationships/slide" Target="slides/slide182.xml"/><Relationship Id="rId351" Type="http://schemas.openxmlformats.org/officeDocument/2006/relationships/tableStyles" Target="tableStyles.xml"/><Relationship Id="rId176" Type="http://schemas.openxmlformats.org/officeDocument/2006/relationships/slide" Target="slides/slide172.xml"/><Relationship Id="rId197" Type="http://schemas.openxmlformats.org/officeDocument/2006/relationships/slide" Target="slides/slide193.xml"/><Relationship Id="rId341" Type="http://schemas.openxmlformats.org/officeDocument/2006/relationships/font" Target="fonts/font11.fntdata"/><Relationship Id="rId201" Type="http://schemas.openxmlformats.org/officeDocument/2006/relationships/slide" Target="slides/slide197.xml"/><Relationship Id="rId187" Type="http://schemas.openxmlformats.org/officeDocument/2006/relationships/slide" Target="slides/slide183.xml"/><Relationship Id="rId331" Type="http://schemas.openxmlformats.org/officeDocument/2006/relationships/font" Target="fonts/font1.fntdata"/><Relationship Id="rId1" Type="http://schemas.openxmlformats.org/officeDocument/2006/relationships/customXml" Target="../customXml/item1.xml"/><Relationship Id="rId177" Type="http://schemas.openxmlformats.org/officeDocument/2006/relationships/slide" Target="slides/slide173.xml"/><Relationship Id="rId198" Type="http://schemas.openxmlformats.org/officeDocument/2006/relationships/slide" Target="slides/slide194.xml"/><Relationship Id="rId342" Type="http://schemas.openxmlformats.org/officeDocument/2006/relationships/font" Target="fonts/font12.fntdata"/><Relationship Id="rId202" Type="http://schemas.openxmlformats.org/officeDocument/2006/relationships/slide" Target="slides/slide198.xml"/><Relationship Id="rId188" Type="http://schemas.openxmlformats.org/officeDocument/2006/relationships/slide" Target="slides/slide184.xml"/><Relationship Id="rId332" Type="http://schemas.openxmlformats.org/officeDocument/2006/relationships/font" Target="fonts/font2.fntdata"/><Relationship Id="rId2" Type="http://schemas.openxmlformats.org/officeDocument/2006/relationships/customXml" Target="../customXml/item2.xml"/><Relationship Id="rId178" Type="http://schemas.openxmlformats.org/officeDocument/2006/relationships/slide" Target="slides/slide174.xml"/><Relationship Id="rId343" Type="http://schemas.openxmlformats.org/officeDocument/2006/relationships/font" Target="fonts/font13.fntdata"/><Relationship Id="rId199" Type="http://schemas.openxmlformats.org/officeDocument/2006/relationships/slide" Target="slides/slide195.xml"/><Relationship Id="rId203" Type="http://schemas.openxmlformats.org/officeDocument/2006/relationships/slide" Target="slides/slide199.xml"/><Relationship Id="rId333" Type="http://schemas.openxmlformats.org/officeDocument/2006/relationships/font" Target="fonts/font3.fntdata"/><Relationship Id="rId189" Type="http://schemas.openxmlformats.org/officeDocument/2006/relationships/slide" Target="slides/slide185.xml"/><Relationship Id="rId3" Type="http://schemas.openxmlformats.org/officeDocument/2006/relationships/customXml" Target="../customXml/item3.xml"/><Relationship Id="rId344" Type="http://schemas.openxmlformats.org/officeDocument/2006/relationships/font" Target="fonts/font14.fntdata"/><Relationship Id="rId179" Type="http://schemas.openxmlformats.org/officeDocument/2006/relationships/slide" Target="slides/slide175.xml"/><Relationship Id="rId190" Type="http://schemas.openxmlformats.org/officeDocument/2006/relationships/slide" Target="slides/slide186.xml"/><Relationship Id="rId204" Type="http://schemas.openxmlformats.org/officeDocument/2006/relationships/slide" Target="slides/slide200.xml"/><Relationship Id="rId334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180" Type="http://schemas.openxmlformats.org/officeDocument/2006/relationships/slide" Target="slides/slide176.xml"/><Relationship Id="rId345" Type="http://schemas.openxmlformats.org/officeDocument/2006/relationships/font" Target="fonts/font15.fntdata"/><Relationship Id="rId191" Type="http://schemas.openxmlformats.org/officeDocument/2006/relationships/slide" Target="slides/slide187.xml"/><Relationship Id="rId205" Type="http://schemas.openxmlformats.org/officeDocument/2006/relationships/slide" Target="slides/slide201.xml"/><Relationship Id="rId336" Type="http://schemas.openxmlformats.org/officeDocument/2006/relationships/font" Target="fonts/font6.fntdata"/><Relationship Id="rId182" Type="http://schemas.openxmlformats.org/officeDocument/2006/relationships/slide" Target="slides/slide178.xml"/><Relationship Id="rId347" Type="http://schemas.openxmlformats.org/officeDocument/2006/relationships/font" Target="fonts/font17.fntdata"/><Relationship Id="rId193" Type="http://schemas.openxmlformats.org/officeDocument/2006/relationships/slide" Target="slides/slide189.xml"/><Relationship Id="rId207" Type="http://schemas.openxmlformats.org/officeDocument/2006/relationships/slide" Target="slides/slide203.xml"/><Relationship Id="rId173" Type="http://schemas.openxmlformats.org/officeDocument/2006/relationships/slide" Target="slides/slide169.xml"/><Relationship Id="rId3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A8122B8-1CEC-18A5-EBE6-D2B1DF4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7F01CF3E-17CB-758B-B1D4-8F1D799786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2D88EFB6-1760-5C88-CFC4-B7D198CCC9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72110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B89D6EE-58B0-26C6-2930-9D4997CC7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62DB8EDE-BF66-0DDE-ACE9-17E2A289E8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DF5D446A-1114-24ED-795A-D979286D7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61332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D2A7751-2945-7CB5-03F5-3485DCC01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933E37DC-87ED-D8FB-3DC5-3D7160F539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B681FF05-4392-83BF-7020-CE78F945A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66396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A94095-CF1F-48D6-AF5D-67110DA8A981}" type="slidenum">
              <a:rPr lang="en-US"/>
              <a:pPr/>
              <a:t>179</a:t>
            </a:fld>
            <a:endParaRPr lang="en-US"/>
          </a:p>
        </p:txBody>
      </p:sp>
      <p:sp>
        <p:nvSpPr>
          <p:cNvPr id="18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9212" cy="3600450"/>
          </a:xfrm>
          <a:ln/>
        </p:spPr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1" y="4561226"/>
            <a:ext cx="5364480" cy="431857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525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2EAAF4F-D057-661E-7B7D-250DC0B16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B37FA64C-2350-0998-94DC-AAFC0E45B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780A99E6-8827-8AAC-3503-EEC0E5E7F1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705160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Rectangle 7"/>
          <p:cNvSpPr txBox="1">
            <a:spLocks noGrp="1" noChangeArrowheads="1"/>
          </p:cNvSpPr>
          <p:nvPr/>
        </p:nvSpPr>
        <p:spPr bwMode="auto">
          <a:xfrm>
            <a:off x="3934222" y="8819900"/>
            <a:ext cx="3048794" cy="493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 lIns="97244" tIns="48621" rIns="97244" bIns="48621" anchor="b"/>
          <a:lstStyle>
            <a:lvl1pPr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fld id="{7319C55D-1D1A-4EBB-A2D5-1D6409430FB0}" type="slidenum">
              <a:rPr lang="en-US" sz="1300" i="0"/>
              <a:pPr algn="r"/>
              <a:t>182</a:t>
            </a:fld>
            <a:endParaRPr lang="en-US" sz="1300" i="0"/>
          </a:p>
        </p:txBody>
      </p:sp>
      <p:sp>
        <p:nvSpPr>
          <p:cNvPr id="532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138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0BE4AF2-28A8-728E-4823-881FA291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AD788B04-FE6E-2F80-EDC9-4B86F43912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83197DA9-427C-A09B-2904-7335C8CC7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446256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7"/>
          <p:cNvSpPr txBox="1">
            <a:spLocks noGrp="1" noChangeArrowheads="1"/>
          </p:cNvSpPr>
          <p:nvPr/>
        </p:nvSpPr>
        <p:spPr bwMode="auto">
          <a:xfrm>
            <a:off x="3934222" y="8819900"/>
            <a:ext cx="3048794" cy="493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 lIns="97244" tIns="48621" rIns="97244" bIns="48621" anchor="b"/>
          <a:lstStyle>
            <a:lvl1pPr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fld id="{C1501A62-29A4-484A-94EF-8C9264949D2E}" type="slidenum">
              <a:rPr lang="en-US" sz="1300" i="0"/>
              <a:pPr algn="r"/>
              <a:t>185</a:t>
            </a:fld>
            <a:endParaRPr lang="en-US" sz="1300" i="0"/>
          </a:p>
        </p:txBody>
      </p:sp>
      <p:sp>
        <p:nvSpPr>
          <p:cNvPr id="534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0713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5A36000-81E5-54EA-67EE-DB72396F8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90309FA6-9CA1-8D9B-2F18-FE2BDFF64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89B9C1E3-E67F-F0DF-F5F5-8D4C38365D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859475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7"/>
          <p:cNvSpPr txBox="1">
            <a:spLocks noGrp="1" noChangeArrowheads="1"/>
          </p:cNvSpPr>
          <p:nvPr/>
        </p:nvSpPr>
        <p:spPr bwMode="auto">
          <a:xfrm>
            <a:off x="3934222" y="8819900"/>
            <a:ext cx="3048794" cy="493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 lIns="97244" tIns="48621" rIns="97244" bIns="48621" anchor="b"/>
          <a:lstStyle>
            <a:lvl1pPr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fld id="{79DA9D5A-2258-4D2D-8529-72D2E57FDF3B}" type="slidenum">
              <a:rPr lang="en-US" sz="1300" i="0"/>
              <a:pPr algn="r"/>
              <a:t>188</a:t>
            </a:fld>
            <a:endParaRPr lang="en-US" sz="1300" i="0"/>
          </a:p>
        </p:txBody>
      </p:sp>
      <p:sp>
        <p:nvSpPr>
          <p:cNvPr id="536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442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25F67A1-B84A-2CC4-24E4-61D5B363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AF77C22F-5350-B538-C194-B8A65E15EA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5545AE0E-99D9-15BC-AE11-442B2F0653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738362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7"/>
          <p:cNvSpPr txBox="1">
            <a:spLocks noGrp="1" noChangeArrowheads="1"/>
          </p:cNvSpPr>
          <p:nvPr/>
        </p:nvSpPr>
        <p:spPr bwMode="auto">
          <a:xfrm>
            <a:off x="3934222" y="8819900"/>
            <a:ext cx="3048794" cy="493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 lIns="97244" tIns="48621" rIns="97244" bIns="48621" anchor="b"/>
          <a:lstStyle>
            <a:lvl1pPr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fld id="{6A81A30D-3AF3-4E86-B9EE-5E1CB8CAA44F}" type="slidenum">
              <a:rPr lang="en-US" sz="1300" i="0"/>
              <a:pPr algn="r"/>
              <a:t>193</a:t>
            </a:fld>
            <a:endParaRPr lang="en-US" sz="1300" i="0"/>
          </a:p>
        </p:txBody>
      </p:sp>
      <p:sp>
        <p:nvSpPr>
          <p:cNvPr id="538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8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5077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64CA3E7-EB46-C690-2884-49CD513D3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A1005200-5367-AFBC-D43B-8E984DB0B2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EB812D64-A070-F18F-9A47-2F45E1442F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92340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7"/>
          <p:cNvSpPr txBox="1">
            <a:spLocks noGrp="1" noChangeArrowheads="1"/>
          </p:cNvSpPr>
          <p:nvPr/>
        </p:nvSpPr>
        <p:spPr bwMode="auto">
          <a:xfrm>
            <a:off x="3934222" y="8819900"/>
            <a:ext cx="3048794" cy="493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 lIns="97244" tIns="48621" rIns="97244" bIns="48621" anchor="b"/>
          <a:lstStyle>
            <a:lvl1pPr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008063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1008063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/>
            <a:fld id="{6A81A30D-3AF3-4E86-B9EE-5E1CB8CAA44F}" type="slidenum">
              <a:rPr lang="en-US" sz="1300" i="0"/>
              <a:pPr algn="r"/>
              <a:t>196</a:t>
            </a:fld>
            <a:endParaRPr lang="en-US" sz="1300" i="0"/>
          </a:p>
        </p:txBody>
      </p:sp>
      <p:sp>
        <p:nvSpPr>
          <p:cNvPr id="538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8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3340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ED4E9-8FEC-0D35-7A83-54BBF54B2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>
            <a:extLst>
              <a:ext uri="{FF2B5EF4-FFF2-40B4-BE49-F238E27FC236}">
                <a16:creationId xmlns:a16="http://schemas.microsoft.com/office/drawing/2014/main" id="{C24B89A4-0FF8-96C1-758D-A132F758B1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6888" y="741363"/>
            <a:ext cx="6164262" cy="3467100"/>
          </a:xfrm>
          <a:ln/>
        </p:spPr>
      </p:sp>
      <p:sp>
        <p:nvSpPr>
          <p:cNvPr id="589827" name="Rectangle 3">
            <a:extLst>
              <a:ext uri="{FF2B5EF4-FFF2-40B4-BE49-F238E27FC236}">
                <a16:creationId xmlns:a16="http://schemas.microsoft.com/office/drawing/2014/main" id="{8B850396-4CA5-7672-2F6E-70AD6F71C6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46237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4E580-FE27-3DDC-29E1-3D50D720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>
            <a:extLst>
              <a:ext uri="{FF2B5EF4-FFF2-40B4-BE49-F238E27FC236}">
                <a16:creationId xmlns:a16="http://schemas.microsoft.com/office/drawing/2014/main" id="{ECCD3993-45A4-5B99-CBE4-BB7C26E62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6888" y="741363"/>
            <a:ext cx="6164262" cy="3467100"/>
          </a:xfrm>
          <a:ln/>
        </p:spPr>
      </p:sp>
      <p:sp>
        <p:nvSpPr>
          <p:cNvPr id="589827" name="Rectangle 3">
            <a:extLst>
              <a:ext uri="{FF2B5EF4-FFF2-40B4-BE49-F238E27FC236}">
                <a16:creationId xmlns:a16="http://schemas.microsoft.com/office/drawing/2014/main" id="{E33DC91F-DA92-5A7E-F137-D2D9AF1295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744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57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2.png"/><Relationship Id="rId4" Type="http://schemas.openxmlformats.org/officeDocument/2006/relationships/image" Target="../media/image1890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png"/><Relationship Id="rId7" Type="http://schemas.openxmlformats.org/officeDocument/2006/relationships/image" Target="../media/image263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png"/><Relationship Id="rId5" Type="http://schemas.openxmlformats.org/officeDocument/2006/relationships/image" Target="../media/image261.png"/><Relationship Id="rId4" Type="http://schemas.openxmlformats.org/officeDocument/2006/relationships/image" Target="../media/image260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.png"/><Relationship Id="rId7" Type="http://schemas.openxmlformats.org/officeDocument/2006/relationships/image" Target="../media/image268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7.png"/><Relationship Id="rId5" Type="http://schemas.openxmlformats.org/officeDocument/2006/relationships/image" Target="../media/image266.png"/><Relationship Id="rId4" Type="http://schemas.openxmlformats.org/officeDocument/2006/relationships/image" Target="../media/image265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7" Type="http://schemas.openxmlformats.org/officeDocument/2006/relationships/image" Target="../media/image271.pn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226.png"/><Relationship Id="rId4" Type="http://schemas.openxmlformats.org/officeDocument/2006/relationships/image" Target="../media/image225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0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30.png"/><Relationship Id="rId5" Type="http://schemas.openxmlformats.org/officeDocument/2006/relationships/image" Target="../media/image409.png"/><Relationship Id="rId4" Type="http://schemas.openxmlformats.org/officeDocument/2006/relationships/image" Target="../media/image408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.bin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18.bin"/><Relationship Id="rId39" Type="http://schemas.openxmlformats.org/officeDocument/2006/relationships/image" Target="../media/image284.wmf"/><Relationship Id="rId21" Type="http://schemas.openxmlformats.org/officeDocument/2006/relationships/image" Target="../media/image275.wmf"/><Relationship Id="rId34" Type="http://schemas.openxmlformats.org/officeDocument/2006/relationships/oleObject" Target="../embeddings/oleObject20.bin"/><Relationship Id="rId42" Type="http://schemas.openxmlformats.org/officeDocument/2006/relationships/oleObject" Target="../embeddings/oleObject24.bin"/><Relationship Id="rId47" Type="http://schemas.openxmlformats.org/officeDocument/2006/relationships/image" Target="../media/image286.wmf"/><Relationship Id="rId50" Type="http://schemas.openxmlformats.org/officeDocument/2006/relationships/image" Target="../media/image2262.png"/><Relationship Id="rId7" Type="http://schemas.openxmlformats.org/officeDocument/2006/relationships/image" Target="../media/image272.wmf"/><Relationship Id="rId2" Type="http://schemas.openxmlformats.org/officeDocument/2006/relationships/notesSlide" Target="../notesSlides/notesSlide50.xml"/><Relationship Id="rId16" Type="http://schemas.openxmlformats.org/officeDocument/2006/relationships/oleObject" Target="../embeddings/oleObject14.bin"/><Relationship Id="rId29" Type="http://schemas.openxmlformats.org/officeDocument/2006/relationships/image" Target="../media/image276.wmf"/><Relationship Id="rId11" Type="http://schemas.openxmlformats.org/officeDocument/2006/relationships/image" Target="../media/image273.wmf"/><Relationship Id="rId24" Type="http://schemas.openxmlformats.org/officeDocument/2006/relationships/oleObject" Target="../embeddings/oleObject17.bin"/><Relationship Id="rId32" Type="http://schemas.openxmlformats.org/officeDocument/2006/relationships/oleObject" Target="../embeddings/oleObject19.bin"/><Relationship Id="rId37" Type="http://schemas.openxmlformats.org/officeDocument/2006/relationships/image" Target="../media/image283.wmf"/><Relationship Id="rId40" Type="http://schemas.openxmlformats.org/officeDocument/2006/relationships/oleObject" Target="../embeddings/oleObject23.bin"/><Relationship Id="rId45" Type="http://schemas.openxmlformats.org/officeDocument/2006/relationships/image" Target="../media/image285.wmf"/><Relationship Id="rId53" Type="http://schemas.openxmlformats.org/officeDocument/2006/relationships/image" Target="../media/image2290.png"/><Relationship Id="rId5" Type="http://schemas.openxmlformats.org/officeDocument/2006/relationships/image" Target="../media/image272.wmf"/><Relationship Id="rId10" Type="http://schemas.openxmlformats.org/officeDocument/2006/relationships/oleObject" Target="../embeddings/oleObject12.bin"/><Relationship Id="rId19" Type="http://schemas.openxmlformats.org/officeDocument/2006/relationships/oleObject" Target="../embeddings/oleObject15.bin"/><Relationship Id="rId31" Type="http://schemas.openxmlformats.org/officeDocument/2006/relationships/image" Target="../media/image282.wmf"/><Relationship Id="rId44" Type="http://schemas.openxmlformats.org/officeDocument/2006/relationships/oleObject" Target="../embeddings/oleObject24.bin"/><Relationship Id="rId52" Type="http://schemas.openxmlformats.org/officeDocument/2006/relationships/image" Target="../media/image2282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73.wmf"/><Relationship Id="rId14" Type="http://schemas.openxmlformats.org/officeDocument/2006/relationships/oleObject" Target="../embeddings/oleObject14.bin"/><Relationship Id="rId22" Type="http://schemas.openxmlformats.org/officeDocument/2006/relationships/oleObject" Target="../embeddings/oleObject16.bin"/><Relationship Id="rId27" Type="http://schemas.openxmlformats.org/officeDocument/2006/relationships/image" Target="../media/image276.wmf"/><Relationship Id="rId30" Type="http://schemas.openxmlformats.org/officeDocument/2006/relationships/oleObject" Target="../embeddings/oleObject19.bin"/><Relationship Id="rId35" Type="http://schemas.openxmlformats.org/officeDocument/2006/relationships/image" Target="../media/image283.wmf"/><Relationship Id="rId43" Type="http://schemas.openxmlformats.org/officeDocument/2006/relationships/image" Target="../media/image285.wmf"/><Relationship Id="rId48" Type="http://schemas.openxmlformats.org/officeDocument/2006/relationships/oleObject" Target="../embeddings/oleObject25.bin"/><Relationship Id="rId8" Type="http://schemas.openxmlformats.org/officeDocument/2006/relationships/oleObject" Target="../embeddings/oleObject12.bin"/><Relationship Id="rId51" Type="http://schemas.openxmlformats.org/officeDocument/2006/relationships/image" Target="../media/image2272.png"/><Relationship Id="rId3" Type="http://schemas.openxmlformats.org/officeDocument/2006/relationships/image" Target="../media/image2151.png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274.wmf"/><Relationship Id="rId25" Type="http://schemas.openxmlformats.org/officeDocument/2006/relationships/oleObject" Target="../embeddings/oleObject17.bin"/><Relationship Id="rId33" Type="http://schemas.openxmlformats.org/officeDocument/2006/relationships/image" Target="../media/image282.wmf"/><Relationship Id="rId38" Type="http://schemas.openxmlformats.org/officeDocument/2006/relationships/oleObject" Target="../embeddings/oleObject23.bin"/><Relationship Id="rId46" Type="http://schemas.openxmlformats.org/officeDocument/2006/relationships/oleObject" Target="../embeddings/oleObject25.bin"/><Relationship Id="rId20" Type="http://schemas.openxmlformats.org/officeDocument/2006/relationships/oleObject" Target="../embeddings/oleObject16.bin"/><Relationship Id="rId41" Type="http://schemas.openxmlformats.org/officeDocument/2006/relationships/image" Target="../media/image28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5" Type="http://schemas.openxmlformats.org/officeDocument/2006/relationships/image" Target="../media/image274.wmf"/><Relationship Id="rId23" Type="http://schemas.openxmlformats.org/officeDocument/2006/relationships/image" Target="../media/image275.wmf"/><Relationship Id="rId28" Type="http://schemas.openxmlformats.org/officeDocument/2006/relationships/oleObject" Target="../embeddings/oleObject18.bin"/><Relationship Id="rId36" Type="http://schemas.openxmlformats.org/officeDocument/2006/relationships/oleObject" Target="../embeddings/oleObject20.bin"/><Relationship Id="rId49" Type="http://schemas.openxmlformats.org/officeDocument/2006/relationships/image" Target="../media/image286.wmf"/></Relationships>
</file>

<file path=ppt/slides/_rels/slide1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1.png"/><Relationship Id="rId3" Type="http://schemas.openxmlformats.org/officeDocument/2006/relationships/image" Target="../media/image288.png"/><Relationship Id="rId7" Type="http://schemas.openxmlformats.org/officeDocument/2006/relationships/image" Target="../media/image47.png"/><Relationship Id="rId2" Type="http://schemas.openxmlformats.org/officeDocument/2006/relationships/image" Target="../media/image2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38.jpeg"/><Relationship Id="rId4" Type="http://schemas.openxmlformats.org/officeDocument/2006/relationships/image" Target="../media/image289.png"/><Relationship Id="rId9" Type="http://schemas.openxmlformats.org/officeDocument/2006/relationships/image" Target="../media/image2352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jpeg"/><Relationship Id="rId3" Type="http://schemas.openxmlformats.org/officeDocument/2006/relationships/image" Target="../media/image2032.png"/><Relationship Id="rId7" Type="http://schemas.openxmlformats.org/officeDocument/2006/relationships/image" Target="../media/image292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1.png"/><Relationship Id="rId5" Type="http://schemas.openxmlformats.org/officeDocument/2006/relationships/image" Target="../media/image290.wmf"/><Relationship Id="rId4" Type="http://schemas.openxmlformats.org/officeDocument/2006/relationships/oleObject" Target="../embeddings/oleObject26.bin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jpeg"/><Relationship Id="rId3" Type="http://schemas.openxmlformats.org/officeDocument/2006/relationships/image" Target="../media/image2302.png"/><Relationship Id="rId7" Type="http://schemas.openxmlformats.org/officeDocument/2006/relationships/image" Target="../media/image29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05.png"/><Relationship Id="rId5" Type="http://schemas.openxmlformats.org/officeDocument/2006/relationships/image" Target="../media/image290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293.jpeg"/></Relationships>
</file>

<file path=ppt/slides/_rels/slide1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299.wmf"/><Relationship Id="rId3" Type="http://schemas.openxmlformats.org/officeDocument/2006/relationships/image" Target="../media/image294.wmf"/><Relationship Id="rId7" Type="http://schemas.openxmlformats.org/officeDocument/2006/relationships/image" Target="../media/image296.wmf"/><Relationship Id="rId12" Type="http://schemas.openxmlformats.org/officeDocument/2006/relationships/oleObject" Target="../embeddings/oleObject33.bin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298.wmf"/><Relationship Id="rId5" Type="http://schemas.openxmlformats.org/officeDocument/2006/relationships/image" Target="../media/image295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297.wmf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2.jpeg"/><Relationship Id="rId3" Type="http://schemas.openxmlformats.org/officeDocument/2006/relationships/oleObject" Target="../embeddings/oleObject34.bin"/><Relationship Id="rId7" Type="http://schemas.openxmlformats.org/officeDocument/2006/relationships/image" Target="../media/image29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04.png"/><Relationship Id="rId5" Type="http://schemas.openxmlformats.org/officeDocument/2006/relationships/image" Target="../media/image2392.png"/><Relationship Id="rId4" Type="http://schemas.openxmlformats.org/officeDocument/2006/relationships/image" Target="../media/image290.wmf"/><Relationship Id="rId9" Type="http://schemas.openxmlformats.org/officeDocument/2006/relationships/image" Target="../media/image293.jpe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hyperlink" Target="https://tinyurl.com/LearningWhileDoing/" TargetMode="Externa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jpeg"/><Relationship Id="rId3" Type="http://schemas.openxmlformats.org/officeDocument/2006/relationships/oleObject" Target="../embeddings/oleObject35.bin"/><Relationship Id="rId7" Type="http://schemas.openxmlformats.org/officeDocument/2006/relationships/image" Target="../media/image292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1.png"/><Relationship Id="rId11" Type="http://schemas.openxmlformats.org/officeDocument/2006/relationships/image" Target="../media/image2621.png"/><Relationship Id="rId5" Type="http://schemas.openxmlformats.org/officeDocument/2006/relationships/image" Target="../media/image2593.png"/><Relationship Id="rId10" Type="http://schemas.openxmlformats.org/officeDocument/2006/relationships/image" Target="../media/image2612.png"/><Relationship Id="rId4" Type="http://schemas.openxmlformats.org/officeDocument/2006/relationships/image" Target="../media/image290.wmf"/><Relationship Id="rId9" Type="http://schemas.openxmlformats.org/officeDocument/2006/relationships/image" Target="../media/image2602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0.png"/><Relationship Id="rId2" Type="http://schemas.openxmlformats.org/officeDocument/2006/relationships/image" Target="../media/image2470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7" Type="http://schemas.openxmlformats.org/officeDocument/2006/relationships/image" Target="../media/image293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2.jpeg"/><Relationship Id="rId5" Type="http://schemas.openxmlformats.org/officeDocument/2006/relationships/image" Target="../media/image291.png"/><Relationship Id="rId4" Type="http://schemas.openxmlformats.org/officeDocument/2006/relationships/image" Target="../media/image290.wmf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1.png"/><Relationship Id="rId2" Type="http://schemas.openxmlformats.org/officeDocument/2006/relationships/image" Target="../media/image2461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1.png"/><Relationship Id="rId2" Type="http://schemas.openxmlformats.org/officeDocument/2006/relationships/image" Target="../media/image2480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0.png"/><Relationship Id="rId7" Type="http://schemas.openxmlformats.org/officeDocument/2006/relationships/image" Target="../media/image15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1.png"/><Relationship Id="rId5" Type="http://schemas.openxmlformats.org/officeDocument/2006/relationships/image" Target="../media/image1340.png"/><Relationship Id="rId4" Type="http://schemas.openxmlformats.org/officeDocument/2006/relationships/image" Target="../media/image1330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5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0.png"/></Relationships>
</file>

<file path=ppt/slides/_rels/slide2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0.png"/><Relationship Id="rId3" Type="http://schemas.openxmlformats.org/officeDocument/2006/relationships/image" Target="../media/image155.jpeg"/><Relationship Id="rId2" Type="http://schemas.openxmlformats.org/officeDocument/2006/relationships/image" Target="../media/image25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0.png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2.png"/><Relationship Id="rId5" Type="http://schemas.openxmlformats.org/officeDocument/2006/relationships/image" Target="../media/image1930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30.png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43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0.png"/><Relationship Id="rId3" Type="http://schemas.openxmlformats.org/officeDocument/2006/relationships/image" Target="../media/image2542.png"/><Relationship Id="rId7" Type="http://schemas.openxmlformats.org/officeDocument/2006/relationships/image" Target="../media/image114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3.png"/><Relationship Id="rId9" Type="http://schemas.openxmlformats.org/officeDocument/2006/relationships/image" Target="../media/image2561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43B13-9A2E-B4C9-506E-313BEA55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361CF73-9757-7336-FDC3-90611E67C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81071BF-38E2-C5D6-6550-2321CA729507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9757ECC-FDFD-E533-48A6-22106E44571C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B498AA-3228-91C8-2BDC-B97501CF8910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August 12,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35E791-F5B5-6171-4CEA-AD74FBB50064}"/>
              </a:ext>
            </a:extLst>
          </p:cNvPr>
          <p:cNvSpPr txBox="1">
            <a:spLocks/>
          </p:cNvSpPr>
          <p:nvPr/>
        </p:nvSpPr>
        <p:spPr>
          <a:xfrm>
            <a:off x="1212348" y="2751400"/>
            <a:ext cx="8195603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</a:t>
            </a:r>
            <a:r>
              <a:rPr lang="en-US" sz="2400" dirty="0">
                <a:solidFill>
                  <a:schemeClr val="bg1"/>
                </a:solidFill>
              </a:rPr>
              <a:t>The universal modeling framework (detailed)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We are going to present the five elements of the universal modeling framework in much more detail.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3E684C-CEAE-D8F2-9A12-AE76DE338294}"/>
              </a:ext>
            </a:extLst>
          </p:cNvPr>
          <p:cNvSpPr txBox="1">
            <a:spLocks/>
          </p:cNvSpPr>
          <p:nvPr/>
        </p:nvSpPr>
        <p:spPr>
          <a:xfrm>
            <a:off x="1214274" y="5641633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More detailed mathematical modeling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A6F279-6FD7-2D76-F403-5E24D67F2C6C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Introduction to sequential decision problems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universal modeling framework (high level)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 brief reference to material in estimation methods.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C76587-8B85-5FD1-527B-4AB0CF8D2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6730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16A4086-FC98-DEAF-706D-F401223A4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8CFD7B-429B-8D08-C202-E63C0F026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2732B499-5A20-CA00-FB70-B426CD3C1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05517DF0-A05E-2D16-F0D2-E39AABEF8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The universal modeling framework (detailed)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Textbook modeling styles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Modeling time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Decision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Exogenous information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Transition function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243813311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6EF5C09-5FE5-CBE3-000E-2AC3024F2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61A12-1B80-8EEA-1D3E-3B5125F10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061A1553-6C00-8FA1-B986-9E81FE90D9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5" name="Google Shape;247;p26">
            <a:extLst>
              <a:ext uri="{FF2B5EF4-FFF2-40B4-BE49-F238E27FC236}">
                <a16:creationId xmlns:a16="http://schemas.microsoft.com/office/drawing/2014/main" id="{25559800-892C-718C-BDB1-DA28925897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The universal modeling framework (detailed)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Textbook modeling styles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Modeling time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Decision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Exogenous information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Transition function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211706932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715B3-CC35-78B0-7051-4821F8A99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414BD-CC9B-E850-59BA-03C260B5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– Textbook modeling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32E23-FD06-D796-72EA-57FB672A0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320" y="1061774"/>
            <a:ext cx="6772194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 err="1"/>
              <a:t>Puterman</a:t>
            </a:r>
            <a:r>
              <a:rPr lang="en-US" dirty="0"/>
              <a:t> -Chapter 3 – Examples</a:t>
            </a:r>
          </a:p>
          <a:p>
            <a:pPr marL="631825" indent="-369888">
              <a:buSzPct val="80000"/>
              <a:buFont typeface="Wingdings" panose="05000000000000000000" pitchFamily="2" charset="2"/>
              <a:buChar char="Ø"/>
            </a:pPr>
            <a:r>
              <a:rPr lang="en-US" sz="2000" dirty="0"/>
              <a:t>Canonical model: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AD4082-53AC-5818-D982-3669FD815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13" y="2331012"/>
            <a:ext cx="5502117" cy="334547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6" descr="http://ecx.images-amazon.com/images/I/41SqMuaUIZL.jpg">
            <a:extLst>
              <a:ext uri="{FF2B5EF4-FFF2-40B4-BE49-F238E27FC236}">
                <a16:creationId xmlns:a16="http://schemas.microsoft.com/office/drawing/2014/main" id="{62A0A153-787D-6E66-9547-6F2F9B475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55"/>
          <a:stretch>
            <a:fillRect/>
          </a:stretch>
        </p:blipFill>
        <p:spPr bwMode="auto">
          <a:xfrm>
            <a:off x="8237133" y="1275108"/>
            <a:ext cx="3096677" cy="4776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ECB6B0-7864-0223-08A7-6525EEAB985D}"/>
                  </a:ext>
                </a:extLst>
              </p:cNvPr>
              <p:cNvSpPr txBox="1"/>
              <p:nvPr/>
            </p:nvSpPr>
            <p:spPr>
              <a:xfrm>
                <a:off x="1773011" y="4220936"/>
                <a:ext cx="80804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ECB6B0-7864-0223-08A7-6525EEAB9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011" y="4220936"/>
                <a:ext cx="808042" cy="338554"/>
              </a:xfrm>
              <a:prstGeom prst="rect">
                <a:avLst/>
              </a:prstGeom>
              <a:blipFill>
                <a:blip r:embed="rId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2B2DEDB-16D9-DC4D-434C-E7758DFCF18C}"/>
                  </a:ext>
                </a:extLst>
              </p:cNvPr>
              <p:cNvSpPr txBox="1"/>
              <p:nvPr/>
            </p:nvSpPr>
            <p:spPr>
              <a:xfrm>
                <a:off x="2759529" y="4797876"/>
                <a:ext cx="10535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2B2DEDB-16D9-DC4D-434C-E7758DFCF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529" y="4797876"/>
                <a:ext cx="1053558" cy="338554"/>
              </a:xfrm>
              <a:prstGeom prst="rect">
                <a:avLst/>
              </a:prstGeom>
              <a:blipFill>
                <a:blip r:embed="rId5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95205EC-DD2F-50E0-19D0-DF946DFBBA1F}"/>
              </a:ext>
            </a:extLst>
          </p:cNvPr>
          <p:cNvSpPr txBox="1"/>
          <p:nvPr/>
        </p:nvSpPr>
        <p:spPr>
          <a:xfrm>
            <a:off x="1773011" y="5929458"/>
            <a:ext cx="3384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No objective function!!</a:t>
            </a:r>
          </a:p>
        </p:txBody>
      </p:sp>
    </p:spTree>
    <p:extLst>
      <p:ext uri="{BB962C8B-B14F-4D97-AF65-F5344CB8AC3E}">
        <p14:creationId xmlns:p14="http://schemas.microsoft.com/office/powerpoint/2010/main" val="2350791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FF39F-976E-33F7-CC64-80AFF920A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CC35312-EA59-863E-1C19-FDC867BF9030}"/>
              </a:ext>
            </a:extLst>
          </p:cNvPr>
          <p:cNvSpPr/>
          <p:nvPr/>
        </p:nvSpPr>
        <p:spPr>
          <a:xfrm>
            <a:off x="533400" y="1970315"/>
            <a:ext cx="7075453" cy="4085914"/>
          </a:xfrm>
          <a:prstGeom prst="rect">
            <a:avLst/>
          </a:prstGeom>
          <a:solidFill>
            <a:schemeClr val="bg1"/>
          </a:solidFill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FA91B-078C-6173-70FA-2E4D79913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– Textbook modeling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E9398-64F1-4694-AC24-52BFBB5E5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018233"/>
            <a:ext cx="7021286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Sutton &amp; Barto - The objective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45E008-C798-4652-8481-24F1E4FDA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107" y="1275109"/>
            <a:ext cx="3577990" cy="4753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DD0A1A-27AF-164A-0F29-23FD9C7D4A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12122" b="-8459"/>
          <a:stretch>
            <a:fillRect/>
          </a:stretch>
        </p:blipFill>
        <p:spPr>
          <a:xfrm>
            <a:off x="627243" y="2053211"/>
            <a:ext cx="6338335" cy="5970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894A47-4E0B-3916-A251-42A292354C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92" b="6967"/>
          <a:stretch>
            <a:fillRect/>
          </a:stretch>
        </p:blipFill>
        <p:spPr>
          <a:xfrm>
            <a:off x="627242" y="2505362"/>
            <a:ext cx="6165181" cy="5970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300F1E-8F3B-45B0-0BDC-699CD0FCDB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23" y="3189167"/>
            <a:ext cx="6490975" cy="20724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C12C90-A667-F6C3-3A7B-2CE66AD18A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654" y="5277782"/>
            <a:ext cx="6382120" cy="5870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632599-2DC6-9D02-30E3-03E7B156ED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582" y="1606916"/>
            <a:ext cx="9266018" cy="459180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7BFDD27E-C2BB-BB15-D798-5106E9252EF5}"/>
              </a:ext>
            </a:extLst>
          </p:cNvPr>
          <p:cNvGrpSpPr/>
          <p:nvPr/>
        </p:nvGrpSpPr>
        <p:grpSpPr>
          <a:xfrm>
            <a:off x="2457450" y="2543462"/>
            <a:ext cx="4449222" cy="667645"/>
            <a:chOff x="2457450" y="2543462"/>
            <a:chExt cx="4449222" cy="667645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CE7776E-57CF-1E1D-42C9-0E84C7829F3B}"/>
                </a:ext>
              </a:extLst>
            </p:cNvPr>
            <p:cNvSpPr/>
            <p:nvPr/>
          </p:nvSpPr>
          <p:spPr>
            <a:xfrm>
              <a:off x="2457450" y="2543462"/>
              <a:ext cx="647700" cy="66764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13D491-85C1-D91E-2841-E1B32BC50DA6}"/>
                </a:ext>
              </a:extLst>
            </p:cNvPr>
            <p:cNvSpPr txBox="1"/>
            <p:nvPr/>
          </p:nvSpPr>
          <p:spPr>
            <a:xfrm>
              <a:off x="3876675" y="2647950"/>
              <a:ext cx="30299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Optimizing over policies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5345DD6-C267-7F3A-7A6A-2931073DC1C4}"/>
              </a:ext>
            </a:extLst>
          </p:cNvPr>
          <p:cNvGrpSpPr/>
          <p:nvPr/>
        </p:nvGrpSpPr>
        <p:grpSpPr>
          <a:xfrm>
            <a:off x="2667000" y="4096037"/>
            <a:ext cx="4449222" cy="667645"/>
            <a:chOff x="2457450" y="2543462"/>
            <a:chExt cx="4449222" cy="667645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1E15FA8-0189-FC9B-8406-08450E06B78C}"/>
                </a:ext>
              </a:extLst>
            </p:cNvPr>
            <p:cNvSpPr/>
            <p:nvPr/>
          </p:nvSpPr>
          <p:spPr>
            <a:xfrm>
              <a:off x="2457450" y="2543462"/>
              <a:ext cx="647700" cy="66764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8C195F2-A852-33D9-5E6A-AB18A75B25E8}"/>
                </a:ext>
              </a:extLst>
            </p:cNvPr>
            <p:cNvSpPr txBox="1"/>
            <p:nvPr/>
          </p:nvSpPr>
          <p:spPr>
            <a:xfrm>
              <a:off x="3876675" y="2657475"/>
              <a:ext cx="30299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Optimizing over policies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888227D-C07F-8F10-783D-742F5E36C10A}"/>
              </a:ext>
            </a:extLst>
          </p:cNvPr>
          <p:cNvGrpSpPr/>
          <p:nvPr/>
        </p:nvGrpSpPr>
        <p:grpSpPr>
          <a:xfrm>
            <a:off x="1571626" y="5610512"/>
            <a:ext cx="7540867" cy="667645"/>
            <a:chOff x="1333501" y="2543462"/>
            <a:chExt cx="7540867" cy="66764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9BD12B3-B810-9DFF-EE0F-07A1828F1B3D}"/>
                </a:ext>
              </a:extLst>
            </p:cNvPr>
            <p:cNvSpPr/>
            <p:nvPr/>
          </p:nvSpPr>
          <p:spPr>
            <a:xfrm>
              <a:off x="1333501" y="2543462"/>
              <a:ext cx="3286124" cy="66764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AA0067F-445D-5C79-FBA7-042226D612F3}"/>
                </a:ext>
              </a:extLst>
            </p:cNvPr>
            <p:cNvSpPr txBox="1"/>
            <p:nvPr/>
          </p:nvSpPr>
          <p:spPr>
            <a:xfrm>
              <a:off x="6419850" y="2657475"/>
              <a:ext cx="2454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Bellman’s equation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405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7083-9BE3-49A5-A14D-AD30FE49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8" descr="http://ecx.images-amazon.com/images/I/61FBoML56%2BL.jpg">
            <a:extLst>
              <a:ext uri="{FF2B5EF4-FFF2-40B4-BE49-F238E27FC236}">
                <a16:creationId xmlns:a16="http://schemas.microsoft.com/office/drawing/2014/main" id="{09180527-07F8-4689-FC2A-D2BEBB5D5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4658" y="1264223"/>
            <a:ext cx="2677885" cy="476426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5E6473D-2DEE-E8E9-9225-3DA19D1DCCD6}"/>
              </a:ext>
            </a:extLst>
          </p:cNvPr>
          <p:cNvSpPr/>
          <p:nvPr/>
        </p:nvSpPr>
        <p:spPr>
          <a:xfrm>
            <a:off x="1127029" y="1556657"/>
            <a:ext cx="4130396" cy="4863652"/>
          </a:xfrm>
          <a:prstGeom prst="rect">
            <a:avLst/>
          </a:prstGeom>
          <a:solidFill>
            <a:schemeClr val="bg1"/>
          </a:solidFill>
          <a:ln w="952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1018-EDAE-647F-D6F1-0C9A449E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– Textbook modeling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0410A-E980-D4E1-B733-6203D3695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578" y="942028"/>
            <a:ext cx="6772194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 err="1"/>
              <a:t>Bertsekas</a:t>
            </a:r>
            <a:r>
              <a:rPr lang="en-US" dirty="0"/>
              <a:t> - Chapter 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CD93B26-88CF-5607-4FCB-D6E588F8E9D5}"/>
              </a:ext>
            </a:extLst>
          </p:cNvPr>
          <p:cNvGrpSpPr/>
          <p:nvPr/>
        </p:nvGrpSpPr>
        <p:grpSpPr>
          <a:xfrm>
            <a:off x="1218475" y="1656191"/>
            <a:ext cx="4038950" cy="4572395"/>
            <a:chOff x="1218475" y="1656191"/>
            <a:chExt cx="4038950" cy="457239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BD69E9-1892-1568-BA12-4971435BB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16" r="6702"/>
            <a:stretch>
              <a:fillRect/>
            </a:stretch>
          </p:blipFill>
          <p:spPr>
            <a:xfrm>
              <a:off x="1218475" y="1656191"/>
              <a:ext cx="3939882" cy="160795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7E5868F-ACB8-CA17-B63B-4672BECB3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17544" y="3264150"/>
              <a:ext cx="3840813" cy="102878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377396E-D161-5484-DA73-25CFEF14A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17544" y="4292939"/>
              <a:ext cx="3939881" cy="82303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FEDB8E1-E2D2-F79B-90D0-1D05E5762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55287" y="5115970"/>
              <a:ext cx="3627434" cy="1112616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2197C-E9A0-AD93-3F71-5F11E4091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442" y="473686"/>
            <a:ext cx="10368443" cy="216594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9EBD23-E236-00BA-DDA0-5389D183D3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029" y="2744964"/>
            <a:ext cx="7010183" cy="363385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820F010-E132-BAAC-C793-1CEAC0AB9F3E}"/>
              </a:ext>
            </a:extLst>
          </p:cNvPr>
          <p:cNvGrpSpPr/>
          <p:nvPr/>
        </p:nvGrpSpPr>
        <p:grpSpPr>
          <a:xfrm>
            <a:off x="4371975" y="1943387"/>
            <a:ext cx="6116097" cy="667645"/>
            <a:chOff x="2457450" y="2543462"/>
            <a:chExt cx="6116097" cy="667645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1996BBC-B109-0753-9646-BC9259A5A5D3}"/>
                </a:ext>
              </a:extLst>
            </p:cNvPr>
            <p:cNvSpPr/>
            <p:nvPr/>
          </p:nvSpPr>
          <p:spPr>
            <a:xfrm>
              <a:off x="2457450" y="2543462"/>
              <a:ext cx="647700" cy="66764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A4CE8BB-7CF2-FBA5-D088-090241A64A85}"/>
                </a:ext>
              </a:extLst>
            </p:cNvPr>
            <p:cNvSpPr txBox="1"/>
            <p:nvPr/>
          </p:nvSpPr>
          <p:spPr>
            <a:xfrm>
              <a:off x="5543550" y="2562225"/>
              <a:ext cx="30299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Optimizing over policies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1ACC90-2C9A-022F-44E1-6C2177CA9998}"/>
              </a:ext>
            </a:extLst>
          </p:cNvPr>
          <p:cNvGrpSpPr/>
          <p:nvPr/>
        </p:nvGrpSpPr>
        <p:grpSpPr>
          <a:xfrm>
            <a:off x="1647826" y="5686712"/>
            <a:ext cx="8067464" cy="914771"/>
            <a:chOff x="1409701" y="2619662"/>
            <a:chExt cx="8067464" cy="91477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A13D202-3F04-1112-24A0-C293D8D9517D}"/>
                </a:ext>
              </a:extLst>
            </p:cNvPr>
            <p:cNvSpPr/>
            <p:nvPr/>
          </p:nvSpPr>
          <p:spPr>
            <a:xfrm>
              <a:off x="1409701" y="2619662"/>
              <a:ext cx="5191124" cy="66764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775C5B6-6E25-3481-20F0-F2AE0E06D6A4}"/>
                </a:ext>
              </a:extLst>
            </p:cNvPr>
            <p:cNvSpPr txBox="1"/>
            <p:nvPr/>
          </p:nvSpPr>
          <p:spPr>
            <a:xfrm>
              <a:off x="7022647" y="3134323"/>
              <a:ext cx="245451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Bellman’s equation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201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DBA8-AA48-8905-C501-65F372D9A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– Textbook modeling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8BD9DFA-DA2E-8459-755C-AFA8B9581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125" y="1113483"/>
            <a:ext cx="10604046" cy="1314674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From Princeton’s Reinforcement Learning course: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BD21F3-006A-5177-F1C8-9A5C042A3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020" y="2257549"/>
            <a:ext cx="3756059" cy="34750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5D957D8-DACF-53B9-AFC2-C200373BA24D}"/>
              </a:ext>
            </a:extLst>
          </p:cNvPr>
          <p:cNvGrpSpPr/>
          <p:nvPr/>
        </p:nvGrpSpPr>
        <p:grpSpPr>
          <a:xfrm>
            <a:off x="326575" y="2035631"/>
            <a:ext cx="7316000" cy="4217391"/>
            <a:chOff x="4920423" y="1820636"/>
            <a:chExt cx="6902261" cy="418011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6A92AE-3A5C-7BB3-5E00-3F6F1ACC4C7A}"/>
                </a:ext>
              </a:extLst>
            </p:cNvPr>
            <p:cNvSpPr/>
            <p:nvPr/>
          </p:nvSpPr>
          <p:spPr>
            <a:xfrm>
              <a:off x="4920423" y="1847850"/>
              <a:ext cx="6902261" cy="4152900"/>
            </a:xfrm>
            <a:prstGeom prst="rect">
              <a:avLst/>
            </a:prstGeom>
            <a:solidFill>
              <a:schemeClr val="bg1"/>
            </a:solidFill>
            <a:ln w="127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60DE3A-39D4-1068-847A-260924AB0D45}"/>
                </a:ext>
              </a:extLst>
            </p:cNvPr>
            <p:cNvGrpSpPr/>
            <p:nvPr/>
          </p:nvGrpSpPr>
          <p:grpSpPr>
            <a:xfrm>
              <a:off x="4920423" y="1820636"/>
              <a:ext cx="6900576" cy="4161064"/>
              <a:chOff x="3692291" y="898491"/>
              <a:chExt cx="8130406" cy="4860930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0EB2EE6-FA74-80AB-90A1-DAA5CA6BB7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9151" y="1212601"/>
                <a:ext cx="7783231" cy="679599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CEFBFC-CA2F-96C5-B3E7-2682B4B220D7}"/>
                  </a:ext>
                </a:extLst>
              </p:cNvPr>
              <p:cNvSpPr txBox="1"/>
              <p:nvPr/>
            </p:nvSpPr>
            <p:spPr>
              <a:xfrm>
                <a:off x="3692291" y="898491"/>
                <a:ext cx="20890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 function:</a:t>
                </a: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BCB8804-B6E6-5606-CA06-A0BFE1EFAC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892" b="37952"/>
              <a:stretch>
                <a:fillRect/>
              </a:stretch>
            </p:blipFill>
            <p:spPr>
              <a:xfrm>
                <a:off x="3769150" y="1855655"/>
                <a:ext cx="7976500" cy="2240095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30CE1AD-6324-F5D4-8D5D-5CB2BA956C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69150" y="4113359"/>
                <a:ext cx="8053547" cy="1646062"/>
              </a:xfrm>
              <a:prstGeom prst="rect">
                <a:avLst/>
              </a:prstGeom>
            </p:spPr>
          </p:pic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5D7EA8E-6F16-7623-23B7-0313831FFD44}"/>
              </a:ext>
            </a:extLst>
          </p:cNvPr>
          <p:cNvGrpSpPr/>
          <p:nvPr/>
        </p:nvGrpSpPr>
        <p:grpSpPr>
          <a:xfrm>
            <a:off x="118571" y="5382381"/>
            <a:ext cx="10931599" cy="774183"/>
            <a:chOff x="630200" y="2906694"/>
            <a:chExt cx="10931599" cy="77418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76A59B1-6690-0F40-D4F4-EE6140028DE5}"/>
                </a:ext>
              </a:extLst>
            </p:cNvPr>
            <p:cNvSpPr/>
            <p:nvPr/>
          </p:nvSpPr>
          <p:spPr>
            <a:xfrm>
              <a:off x="630200" y="2906694"/>
              <a:ext cx="10931599" cy="774183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104561B-DE45-6FB9-2A0C-8A94EF45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4343" y="2972010"/>
              <a:ext cx="10821574" cy="63737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192ACE2-E6E0-1B7D-0174-7873975D1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75175" y="3298371"/>
              <a:ext cx="4386624" cy="311015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0C8299-7345-F819-80DD-00A305AAE0B5}"/>
              </a:ext>
            </a:extLst>
          </p:cNvPr>
          <p:cNvGrpSpPr/>
          <p:nvPr/>
        </p:nvGrpSpPr>
        <p:grpSpPr>
          <a:xfrm>
            <a:off x="182713" y="2992859"/>
            <a:ext cx="10931599" cy="1421630"/>
            <a:chOff x="662855" y="4082352"/>
            <a:chExt cx="10931599" cy="142163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0C35F18-904A-3C14-BC4E-EB7BCC489E2C}"/>
                </a:ext>
              </a:extLst>
            </p:cNvPr>
            <p:cNvSpPr/>
            <p:nvPr/>
          </p:nvSpPr>
          <p:spPr>
            <a:xfrm>
              <a:off x="662855" y="4082352"/>
              <a:ext cx="10931599" cy="1421630"/>
            </a:xfrm>
            <a:prstGeom prst="rect">
              <a:avLst/>
            </a:prstGeom>
            <a:solidFill>
              <a:schemeClr val="bg1"/>
            </a:solidFill>
            <a:ln w="127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25DDF92-AC2E-0E18-3049-1A807748458E}"/>
                </a:ext>
              </a:extLst>
            </p:cNvPr>
            <p:cNvSpPr txBox="1"/>
            <p:nvPr/>
          </p:nvSpPr>
          <p:spPr>
            <a:xfrm>
              <a:off x="718458" y="4180168"/>
              <a:ext cx="107659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1800" dirty="0">
                  <a:solidFill>
                    <a:schemeClr val="tx1"/>
                  </a:solidFill>
                  <a:latin typeface="Raleway" pitchFamily="2" charset="0"/>
                </a:rPr>
                <a:t>The description never answers the question of what is being optimized over.  Instead, instead the instructor veers off into a discussion on the use of randomized policies.   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en-US" sz="1800" dirty="0">
                <a:solidFill>
                  <a:schemeClr val="tx1"/>
                </a:solidFill>
                <a:latin typeface="Raleway" pitchFamily="2" charset="0"/>
              </a:endParaRP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sz="1800" dirty="0">
                  <a:solidFill>
                    <a:schemeClr val="tx1"/>
                  </a:solidFill>
                  <a:latin typeface="Raleway" pitchFamily="2" charset="0"/>
                </a:rPr>
                <a:t>The answer to the question of what we are optimizing over: We are optimizing over policies.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389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9192-4ED0-C48A-C78C-802DED8EA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C9F06AA-CF79-8257-29C1-09B9EADF555F}"/>
              </a:ext>
            </a:extLst>
          </p:cNvPr>
          <p:cNvGrpSpPr/>
          <p:nvPr/>
        </p:nvGrpSpPr>
        <p:grpSpPr>
          <a:xfrm>
            <a:off x="8421068" y="1275108"/>
            <a:ext cx="2638820" cy="4779885"/>
            <a:chOff x="8421068" y="1275108"/>
            <a:chExt cx="2638820" cy="4779885"/>
          </a:xfrm>
        </p:grpSpPr>
        <p:pic>
          <p:nvPicPr>
            <p:cNvPr id="11" name="Picture 10" descr="http://ecx.images-amazon.com/images/I/41AIbgU%2BR5L.jpg">
              <a:extLst>
                <a:ext uri="{FF2B5EF4-FFF2-40B4-BE49-F238E27FC236}">
                  <a16:creationId xmlns:a16="http://schemas.microsoft.com/office/drawing/2014/main" id="{71D41D01-F2BD-3477-A25D-0276C4F1CA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1068" y="1275108"/>
              <a:ext cx="2638820" cy="4779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8B2E109-BA42-BAF1-C007-AB2EDF5BFF56}"/>
                </a:ext>
              </a:extLst>
            </p:cNvPr>
            <p:cNvSpPr txBox="1"/>
            <p:nvPr/>
          </p:nvSpPr>
          <p:spPr>
            <a:xfrm>
              <a:off x="9076452" y="1585907"/>
              <a:ext cx="13805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Raleway" pitchFamily="2" charset="0"/>
                </a:rPr>
                <a:t>Chapter 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E625C-E1DD-8EBE-F8FD-A77F7B6A74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4410" y="1043816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My modeling framework</a:t>
                </a:r>
                <a:endParaRPr lang="en-US" sz="2000" dirty="0"/>
              </a:p>
              <a:p>
                <a:pPr lvl="1"/>
                <a:r>
                  <a:rPr lang="en-US" sz="2000" dirty="0"/>
                  <a:t>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at time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lvl="2"/>
                <a:endParaRPr lang="en-US" sz="1600" dirty="0"/>
              </a:p>
              <a:p>
                <a:pPr lvl="1"/>
                <a:r>
                  <a:rPr lang="en-US" sz="2000" dirty="0"/>
                  <a:t>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determined by policy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 lvl="3"/>
                <a:endParaRPr lang="en-US" sz="1400" dirty="0"/>
              </a:p>
              <a:p>
                <a:pPr lvl="1"/>
                <a:r>
                  <a:rPr lang="en-US" sz="2000" dirty="0"/>
                  <a:t>Exogenous information process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3"/>
                <a:endParaRPr lang="en-US" sz="1600" dirty="0"/>
              </a:p>
              <a:p>
                <a:pPr lvl="2"/>
                <a:r>
                  <a:rPr lang="en-US" sz="1600" dirty="0"/>
                  <a:t> </a:t>
                </a:r>
                <a:endParaRPr lang="en-US" sz="2000" dirty="0"/>
              </a:p>
              <a:p>
                <a:pPr lvl="2"/>
                <a:endParaRPr lang="en-US" sz="1600" dirty="0"/>
              </a:p>
              <a:p>
                <a:pPr lvl="1"/>
                <a:r>
                  <a:rPr lang="en-US" sz="2000" dirty="0"/>
                  <a:t>Transition function:  </a:t>
                </a:r>
              </a:p>
              <a:p>
                <a:pPr lvl="3"/>
                <a:endParaRPr lang="en-US" sz="1600" dirty="0"/>
              </a:p>
              <a:p>
                <a:pPr lvl="1"/>
                <a:endParaRPr lang="en-US" sz="2000" dirty="0"/>
              </a:p>
              <a:p>
                <a:pPr lvl="1"/>
                <a:r>
                  <a:rPr lang="en-US" sz="2000" dirty="0"/>
                  <a:t>Objective function</a:t>
                </a: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CE625C-E1DD-8EBE-F8FD-A77F7B6A74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4410" y="1043816"/>
                <a:ext cx="10363200" cy="4401600"/>
              </a:xfrm>
              <a:blipFill>
                <a:blip r:embed="rId3"/>
                <a:stretch>
                  <a:fillRect l="-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10AA7FC-6CD0-3366-E946-0C99610AE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– Textbook modeling styles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99470A-57E4-215B-8AD8-CF9A6E72A36C}"/>
                  </a:ext>
                </a:extLst>
              </p:cNvPr>
              <p:cNvSpPr txBox="1"/>
              <p:nvPr/>
            </p:nvSpPr>
            <p:spPr>
              <a:xfrm>
                <a:off x="1927430" y="3289953"/>
                <a:ext cx="5049203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latin typeface="Raleway" pitchFamily="2" charset="0"/>
                  </a:rPr>
                  <a:t>Remember: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𝑡𝑖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𝑖𝑛𝑓𝑜𝑟𝑚𝑎𝑡𝑖𝑜𝑛</m:t>
                        </m:r>
                      </m:sup>
                    </m:sSup>
                  </m:oMath>
                </a14:m>
                <a:endParaRPr lang="en-US" sz="18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99470A-57E4-215B-8AD8-CF9A6E72A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430" y="3289953"/>
                <a:ext cx="5049203" cy="404983"/>
              </a:xfrm>
              <a:prstGeom prst="rect">
                <a:avLst/>
              </a:prstGeom>
              <a:blipFill>
                <a:blip r:embed="rId4"/>
                <a:stretch>
                  <a:fillRect l="-966" t="-4545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26BDB58C-07B9-70BD-7C54-7A8663F7D2B1}"/>
                  </a:ext>
                </a:extLst>
              </p:cNvPr>
              <p:cNvSpPr txBox="1"/>
              <p:nvPr/>
            </p:nvSpPr>
            <p:spPr bwMode="auto">
              <a:xfrm>
                <a:off x="1998442" y="5201073"/>
                <a:ext cx="5276039" cy="1245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=(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fName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func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nary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26BDB58C-07B9-70BD-7C54-7A8663F7D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8442" y="5201073"/>
                <a:ext cx="5276039" cy="12450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0A75C7-17C8-7CA9-85C3-31DB2A8E0BCE}"/>
                  </a:ext>
                </a:extLst>
              </p:cNvPr>
              <p:cNvSpPr txBox="1"/>
              <p:nvPr/>
            </p:nvSpPr>
            <p:spPr>
              <a:xfrm>
                <a:off x="1847654" y="4349808"/>
                <a:ext cx="253428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0A75C7-17C8-7CA9-85C3-31DB2A8E0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654" y="4349808"/>
                <a:ext cx="2534284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9E4D558-D2BF-70DF-D242-C81844FD350B}"/>
              </a:ext>
            </a:extLst>
          </p:cNvPr>
          <p:cNvSpPr txBox="1"/>
          <p:nvPr/>
        </p:nvSpPr>
        <p:spPr>
          <a:xfrm>
            <a:off x="7005300" y="4994909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Raleway" pitchFamily="2" charset="0"/>
              </a:rPr>
              <a:t>Chapter 9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0974E05-1F6E-29EC-BDC6-7D4F5B47CD24}"/>
              </a:ext>
            </a:extLst>
          </p:cNvPr>
          <p:cNvGrpSpPr/>
          <p:nvPr/>
        </p:nvGrpSpPr>
        <p:grpSpPr>
          <a:xfrm>
            <a:off x="2381250" y="5543550"/>
            <a:ext cx="6097079" cy="1002833"/>
            <a:chOff x="2381250" y="5543550"/>
            <a:chExt cx="6097079" cy="100283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C267A6B-5DF9-1ACF-57F9-B778F1571DB1}"/>
                </a:ext>
              </a:extLst>
            </p:cNvPr>
            <p:cNvSpPr/>
            <p:nvPr/>
          </p:nvSpPr>
          <p:spPr>
            <a:xfrm>
              <a:off x="2381250" y="5543550"/>
              <a:ext cx="914400" cy="482868"/>
            </a:xfrm>
            <a:prstGeom prst="ellipse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472A0AB-505E-6C79-0D52-BC691EDAA391}"/>
                </a:ext>
              </a:extLst>
            </p:cNvPr>
            <p:cNvSpPr txBox="1"/>
            <p:nvPr/>
          </p:nvSpPr>
          <p:spPr>
            <a:xfrm>
              <a:off x="3016577" y="6146273"/>
              <a:ext cx="54617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Optimizes over policies (hint: all four classes)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077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225BA75-2E93-5A76-F8C8-1724E7B2C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2466E6-2660-0F27-7B1B-CE39D0535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D57EA2ED-459D-4704-7DE9-8A09BBB6A4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0E88CB41-CD40-EE9A-C517-46DAEAC1D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The universal modeling framework (detailed)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Textbook modeling styles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Modeling time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Decision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Exogenous information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Transition function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360386776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scales in energy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328" y="1143000"/>
            <a:ext cx="7276154" cy="4953000"/>
          </a:xfrm>
        </p:spPr>
        <p:txBody>
          <a:bodyPr/>
          <a:lstStyle/>
          <a:p>
            <a:r>
              <a:rPr lang="en-US" sz="2400" dirty="0"/>
              <a:t>Frequency regulation</a:t>
            </a:r>
          </a:p>
          <a:p>
            <a:pPr lvl="1"/>
            <a:endParaRPr lang="en-US" sz="1600" dirty="0"/>
          </a:p>
          <a:p>
            <a:r>
              <a:rPr lang="en-US" sz="2400" dirty="0"/>
              <a:t>Power quality management</a:t>
            </a:r>
          </a:p>
          <a:p>
            <a:pPr lvl="1"/>
            <a:endParaRPr lang="en-US" sz="1600" dirty="0"/>
          </a:p>
          <a:p>
            <a:r>
              <a:rPr lang="en-US" sz="2400" dirty="0"/>
              <a:t>Battery arbitrage</a:t>
            </a:r>
          </a:p>
          <a:p>
            <a:pPr lvl="1"/>
            <a:endParaRPr lang="en-US" sz="1600" dirty="0"/>
          </a:p>
          <a:p>
            <a:r>
              <a:rPr lang="en-US" sz="2400" dirty="0"/>
              <a:t>Energy shifting</a:t>
            </a:r>
          </a:p>
          <a:p>
            <a:pPr lvl="1"/>
            <a:endParaRPr lang="en-US" sz="1600" dirty="0"/>
          </a:p>
          <a:p>
            <a:r>
              <a:rPr lang="en-US" sz="2400" dirty="0"/>
              <a:t>Demand peak management</a:t>
            </a:r>
          </a:p>
          <a:p>
            <a:pPr lvl="1"/>
            <a:endParaRPr lang="en-US" sz="1600" dirty="0"/>
          </a:p>
          <a:p>
            <a:r>
              <a:rPr lang="en-US" sz="2400" dirty="0"/>
              <a:t>Peak capacity management </a:t>
            </a:r>
          </a:p>
          <a:p>
            <a:pPr lvl="1"/>
            <a:endParaRPr lang="en-US" sz="1600" dirty="0"/>
          </a:p>
          <a:p>
            <a:r>
              <a:rPr lang="en-US" sz="2400" dirty="0"/>
              <a:t>Backup power for outages</a:t>
            </a:r>
          </a:p>
          <a:p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7466191" y="1160890"/>
            <a:ext cx="2246519" cy="5016758"/>
          </a:xfrm>
          <a:prstGeom prst="rect">
            <a:avLst/>
          </a:prstGeom>
          <a:gradFill>
            <a:gsLst>
              <a:gs pos="0">
                <a:srgbClr val="FBDFA7"/>
              </a:gs>
              <a:gs pos="39000">
                <a:srgbClr val="F89600"/>
              </a:gs>
              <a:gs pos="72000">
                <a:srgbClr val="D47800"/>
              </a:gs>
              <a:gs pos="100000">
                <a:srgbClr val="AE6100"/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seconds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minutes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hours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days-weeks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weeks-months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months-years</a:t>
            </a:r>
          </a:p>
        </p:txBody>
      </p:sp>
    </p:spTree>
    <p:extLst>
      <p:ext uri="{BB962C8B-B14F-4D97-AF65-F5344CB8AC3E}">
        <p14:creationId xmlns:p14="http://schemas.microsoft.com/office/powerpoint/2010/main" val="199035614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D49E68A5-C651-4B23-82BF-3139F9109B65}" type="slidenum">
              <a:rPr lang="en-US"/>
              <a:pPr/>
              <a:t>179</a:t>
            </a:fld>
            <a:endParaRPr lang="en-US"/>
          </a:p>
        </p:txBody>
      </p:sp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Modeling: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25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0982" y="1100378"/>
                <a:ext cx="10363200" cy="5253287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Modeling time</a:t>
                </a:r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200" dirty="0"/>
                  <a:t>It is important to know the mapping between discrete and continuous time.</a:t>
                </a:r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None/>
                </a:pPr>
                <a:endParaRPr lang="en-US" sz="2400" dirty="0"/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000" i="1" dirty="0">
                    <a:latin typeface="Raleway" pitchFamily="2" charset="0"/>
                  </a:rPr>
                  <a:t>It is useful to think of information as arriving continuously over time. Functions (states, decisions) are measured at a point in time.</a:t>
                </a:r>
              </a:p>
              <a:p>
                <a:pPr marL="803275" indent="-342900">
                  <a:buSzPct val="90000"/>
                  <a:buFont typeface="Wingdings" panose="05000000000000000000" pitchFamily="2" charset="2"/>
                  <a:buChar char="Ø"/>
                </a:pPr>
                <a:r>
                  <a:rPr lang="en-US" sz="2000" b="1" i="1" dirty="0">
                    <a:latin typeface="Raleway" pitchFamily="2" charset="0"/>
                  </a:rPr>
                  <a:t>At time t, any variable indexed by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b="1" i="1" dirty="0">
                    <a:latin typeface="Raleway" pitchFamily="2" charset="0"/>
                  </a:rPr>
                  <a:t>  is known; if  t’ &gt; t  it is unknown. </a:t>
                </a:r>
              </a:p>
              <a:p>
                <a:pPr marL="1030288" indent="-342900">
                  <a:buSzPct val="90000"/>
                  <a:buFont typeface="Wingdings" panose="05000000000000000000" pitchFamily="2" charset="2"/>
                  <a:buChar char="Ø"/>
                </a:pPr>
                <a:endParaRPr lang="en-US" sz="2000" i="1" dirty="0">
                  <a:latin typeface="Raleway" pitchFamily="2" charset="0"/>
                </a:endParaRPr>
              </a:p>
              <a:p>
                <a:pPr marL="86360" indent="0">
                  <a:buNone/>
                </a:pPr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8125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0982" y="1100378"/>
                <a:ext cx="10363200" cy="5253287"/>
              </a:xfrm>
              <a:blipFill>
                <a:blip r:embed="rId3"/>
                <a:stretch>
                  <a:fillRect l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1252" name="Group 4"/>
          <p:cNvGrpSpPr>
            <a:grpSpLocks/>
          </p:cNvGrpSpPr>
          <p:nvPr/>
        </p:nvGrpSpPr>
        <p:grpSpPr bwMode="auto">
          <a:xfrm>
            <a:off x="1275615" y="2572835"/>
            <a:ext cx="8629651" cy="2017713"/>
            <a:chOff x="87" y="1574"/>
            <a:chExt cx="5436" cy="1271"/>
          </a:xfrm>
        </p:grpSpPr>
        <p:grpSp>
          <p:nvGrpSpPr>
            <p:cNvPr id="181253" name="Group 5"/>
            <p:cNvGrpSpPr>
              <a:grpSpLocks/>
            </p:cNvGrpSpPr>
            <p:nvPr/>
          </p:nvGrpSpPr>
          <p:grpSpPr bwMode="auto">
            <a:xfrm>
              <a:off x="1143" y="2015"/>
              <a:ext cx="4380" cy="728"/>
              <a:chOff x="670" y="3087"/>
              <a:chExt cx="4380" cy="728"/>
            </a:xfrm>
          </p:grpSpPr>
          <p:sp>
            <p:nvSpPr>
              <p:cNvPr id="181254" name="Line 6"/>
              <p:cNvSpPr>
                <a:spLocks noChangeShapeType="1"/>
              </p:cNvSpPr>
              <p:nvPr/>
            </p:nvSpPr>
            <p:spPr bwMode="auto">
              <a:xfrm>
                <a:off x="845" y="3480"/>
                <a:ext cx="420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lg" len="lg"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255" name="Line 7"/>
              <p:cNvSpPr>
                <a:spLocks noChangeShapeType="1"/>
              </p:cNvSpPr>
              <p:nvPr/>
            </p:nvSpPr>
            <p:spPr bwMode="auto">
              <a:xfrm>
                <a:off x="846" y="3389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56" name="Object 8"/>
                  <p:cNvGraphicFramePr>
                    <a:graphicFrameLocks noChangeAspect="1"/>
                  </p:cNvGraphicFramePr>
                  <p:nvPr/>
                </p:nvGraphicFramePr>
                <p:xfrm>
                  <a:off x="838" y="3214"/>
                  <a:ext cx="981" cy="36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" imgW="1002960" imgH="368280" progId="Equation.DSMT4">
                          <p:embed/>
                        </p:oleObj>
                      </mc:Choice>
                      <mc:Fallback>
                        <p:oleObj name="Equation" r:id="rId4" imgW="1002960" imgH="368280" progId="Equation.DSMT4">
                          <p:embed/>
                          <p:pic>
                            <p:nvPicPr>
                              <p:cNvPr id="181256" name="Object 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38" y="3214"/>
                                <a:ext cx="981" cy="36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56" name="Object 8"/>
                  <p:cNvGraphicFramePr>
                    <a:graphicFrameLocks noChangeAspect="1"/>
                  </p:cNvGraphicFramePr>
                  <p:nvPr/>
                </p:nvGraphicFramePr>
                <p:xfrm>
                  <a:off x="838" y="3214"/>
                  <a:ext cx="981" cy="36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6" imgW="1002960" imgH="368280" progId="Equation.DSMT4">
                          <p:embed/>
                        </p:oleObj>
                      </mc:Choice>
                      <mc:Fallback>
                        <p:oleObj name="Equation" r:id="rId6" imgW="1002960" imgH="368280" progId="Equation.DSMT4">
                          <p:embed/>
                          <p:pic>
                            <p:nvPicPr>
                              <p:cNvPr id="181256" name="Object 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838" y="3214"/>
                                <a:ext cx="981" cy="36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57" name="Object 9"/>
                  <p:cNvGraphicFramePr>
                    <a:graphicFrameLocks noChangeAspect="1"/>
                  </p:cNvGraphicFramePr>
                  <p:nvPr/>
                </p:nvGraphicFramePr>
                <p:xfrm>
                  <a:off x="1146" y="3093"/>
                  <a:ext cx="35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8" imgW="304560" imgH="177480" progId="Equation.DSMT4">
                          <p:embed/>
                        </p:oleObj>
                      </mc:Choice>
                      <mc:Fallback>
                        <p:oleObj name="Equation" r:id="rId8" imgW="304560" imgH="177480" progId="Equation.DSMT4">
                          <p:embed/>
                          <p:pic>
                            <p:nvPicPr>
                              <p:cNvPr id="181257" name="Object 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146" y="3093"/>
                                <a:ext cx="35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57" name="Object 9"/>
                  <p:cNvGraphicFramePr>
                    <a:graphicFrameLocks noChangeAspect="1"/>
                  </p:cNvGraphicFramePr>
                  <p:nvPr/>
                </p:nvGraphicFramePr>
                <p:xfrm>
                  <a:off x="1146" y="3093"/>
                  <a:ext cx="35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0" imgW="304560" imgH="177480" progId="Equation.DSMT4">
                          <p:embed/>
                        </p:oleObj>
                      </mc:Choice>
                      <mc:Fallback>
                        <p:oleObj name="Equation" r:id="rId10" imgW="304560" imgH="177480" progId="Equation.DSMT4">
                          <p:embed/>
                          <p:pic>
                            <p:nvPicPr>
                              <p:cNvPr id="181257" name="Object 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146" y="3093"/>
                                <a:ext cx="35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81258" name="Line 10"/>
              <p:cNvSpPr>
                <a:spLocks noChangeShapeType="1"/>
              </p:cNvSpPr>
              <p:nvPr/>
            </p:nvSpPr>
            <p:spPr bwMode="auto">
              <a:xfrm>
                <a:off x="1797" y="3386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59" name="Object 11"/>
                  <p:cNvGraphicFramePr>
                    <a:graphicFrameLocks noChangeAspect="1"/>
                  </p:cNvGraphicFramePr>
                  <p:nvPr/>
                </p:nvGraphicFramePr>
                <p:xfrm>
                  <a:off x="1789" y="3211"/>
                  <a:ext cx="981" cy="36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2" imgW="1002960" imgH="368280" progId="Equation.DSMT4">
                          <p:embed/>
                        </p:oleObj>
                      </mc:Choice>
                      <mc:Fallback>
                        <p:oleObj name="Equation" r:id="rId12" imgW="1002960" imgH="368280" progId="Equation.DSMT4">
                          <p:embed/>
                          <p:pic>
                            <p:nvPicPr>
                              <p:cNvPr id="181259" name="Object 1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789" y="3211"/>
                                <a:ext cx="981" cy="36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59" name="Object 11"/>
                  <p:cNvGraphicFramePr>
                    <a:graphicFrameLocks noChangeAspect="1"/>
                  </p:cNvGraphicFramePr>
                  <p:nvPr/>
                </p:nvGraphicFramePr>
                <p:xfrm>
                  <a:off x="1789" y="3211"/>
                  <a:ext cx="981" cy="36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3" imgW="1002960" imgH="368280" progId="Equation.DSMT4">
                          <p:embed/>
                        </p:oleObj>
                      </mc:Choice>
                      <mc:Fallback>
                        <p:oleObj name="Equation" r:id="rId13" imgW="1002960" imgH="368280" progId="Equation.DSMT4">
                          <p:embed/>
                          <p:pic>
                            <p:nvPicPr>
                              <p:cNvPr id="181259" name="Object 1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789" y="3211"/>
                                <a:ext cx="981" cy="36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60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2082" y="3090"/>
                  <a:ext cx="38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4" imgW="330120" imgH="177480" progId="Equation.DSMT4">
                          <p:embed/>
                        </p:oleObj>
                      </mc:Choice>
                      <mc:Fallback>
                        <p:oleObj name="Equation" r:id="rId14" imgW="330120" imgH="177480" progId="Equation.DSMT4">
                          <p:embed/>
                          <p:pic>
                            <p:nvPicPr>
                              <p:cNvPr id="181260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082" y="3090"/>
                                <a:ext cx="38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60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2082" y="3090"/>
                  <a:ext cx="38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6" imgW="330120" imgH="177480" progId="Equation.DSMT4">
                          <p:embed/>
                        </p:oleObj>
                      </mc:Choice>
                      <mc:Fallback>
                        <p:oleObj name="Equation" r:id="rId16" imgW="330120" imgH="177480" progId="Equation.DSMT4">
                          <p:embed/>
                          <p:pic>
                            <p:nvPicPr>
                              <p:cNvPr id="181260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082" y="3090"/>
                                <a:ext cx="38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81261" name="Line 13"/>
              <p:cNvSpPr>
                <a:spLocks noChangeShapeType="1"/>
              </p:cNvSpPr>
              <p:nvPr/>
            </p:nvSpPr>
            <p:spPr bwMode="auto">
              <a:xfrm>
                <a:off x="2757" y="3383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62" name="Object 14"/>
                  <p:cNvGraphicFramePr>
                    <a:graphicFrameLocks noChangeAspect="1"/>
                  </p:cNvGraphicFramePr>
                  <p:nvPr/>
                </p:nvGraphicFramePr>
                <p:xfrm>
                  <a:off x="2749" y="3208"/>
                  <a:ext cx="981" cy="36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8" imgW="1002960" imgH="368280" progId="Equation.DSMT4">
                          <p:embed/>
                        </p:oleObj>
                      </mc:Choice>
                      <mc:Fallback>
                        <p:oleObj name="Equation" r:id="rId18" imgW="1002960" imgH="368280" progId="Equation.DSMT4">
                          <p:embed/>
                          <p:pic>
                            <p:nvPicPr>
                              <p:cNvPr id="181262" name="Object 1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749" y="3208"/>
                                <a:ext cx="981" cy="36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62" name="Object 14"/>
                  <p:cNvGraphicFramePr>
                    <a:graphicFrameLocks noChangeAspect="1"/>
                  </p:cNvGraphicFramePr>
                  <p:nvPr/>
                </p:nvGraphicFramePr>
                <p:xfrm>
                  <a:off x="2749" y="3208"/>
                  <a:ext cx="981" cy="36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19" imgW="1002960" imgH="368280" progId="Equation.DSMT4">
                          <p:embed/>
                        </p:oleObj>
                      </mc:Choice>
                      <mc:Fallback>
                        <p:oleObj name="Equation" r:id="rId19" imgW="1002960" imgH="368280" progId="Equation.DSMT4">
                          <p:embed/>
                          <p:pic>
                            <p:nvPicPr>
                              <p:cNvPr id="181262" name="Object 1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749" y="3208"/>
                                <a:ext cx="981" cy="36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63" name="Object 15"/>
                  <p:cNvGraphicFramePr>
                    <a:graphicFrameLocks noChangeAspect="1"/>
                  </p:cNvGraphicFramePr>
                  <p:nvPr/>
                </p:nvGraphicFramePr>
                <p:xfrm>
                  <a:off x="3050" y="3087"/>
                  <a:ext cx="365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0" imgW="317160" imgH="177480" progId="Equation.DSMT4">
                          <p:embed/>
                        </p:oleObj>
                      </mc:Choice>
                      <mc:Fallback>
                        <p:oleObj name="Equation" r:id="rId20" imgW="317160" imgH="177480" progId="Equation.DSMT4">
                          <p:embed/>
                          <p:pic>
                            <p:nvPicPr>
                              <p:cNvPr id="181263" name="Object 1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050" y="3087"/>
                                <a:ext cx="365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63" name="Object 15"/>
                  <p:cNvGraphicFramePr>
                    <a:graphicFrameLocks noChangeAspect="1"/>
                  </p:cNvGraphicFramePr>
                  <p:nvPr/>
                </p:nvGraphicFramePr>
                <p:xfrm>
                  <a:off x="3050" y="3087"/>
                  <a:ext cx="365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2" imgW="317160" imgH="177480" progId="Equation.DSMT4">
                          <p:embed/>
                        </p:oleObj>
                      </mc:Choice>
                      <mc:Fallback>
                        <p:oleObj name="Equation" r:id="rId22" imgW="317160" imgH="177480" progId="Equation.DSMT4">
                          <p:embed/>
                          <p:pic>
                            <p:nvPicPr>
                              <p:cNvPr id="181263" name="Object 1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050" y="3087"/>
                                <a:ext cx="365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81264" name="Line 16"/>
              <p:cNvSpPr>
                <a:spLocks noChangeShapeType="1"/>
              </p:cNvSpPr>
              <p:nvPr/>
            </p:nvSpPr>
            <p:spPr bwMode="auto">
              <a:xfrm>
                <a:off x="3735" y="3389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65" name="Object 17"/>
                  <p:cNvGraphicFramePr>
                    <a:graphicFrameLocks noChangeAspect="1"/>
                  </p:cNvGraphicFramePr>
                  <p:nvPr/>
                </p:nvGraphicFramePr>
                <p:xfrm>
                  <a:off x="3745" y="3214"/>
                  <a:ext cx="981" cy="36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4" imgW="1002960" imgH="368280" progId="Equation.DSMT4">
                          <p:embed/>
                        </p:oleObj>
                      </mc:Choice>
                      <mc:Fallback>
                        <p:oleObj name="Equation" r:id="rId24" imgW="1002960" imgH="368280" progId="Equation.DSMT4">
                          <p:embed/>
                          <p:pic>
                            <p:nvPicPr>
                              <p:cNvPr id="181265" name="Object 1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45" y="3214"/>
                                <a:ext cx="981" cy="36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65" name="Object 17"/>
                  <p:cNvGraphicFramePr>
                    <a:graphicFrameLocks noChangeAspect="1"/>
                  </p:cNvGraphicFramePr>
                  <p:nvPr/>
                </p:nvGraphicFramePr>
                <p:xfrm>
                  <a:off x="3745" y="3214"/>
                  <a:ext cx="981" cy="36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5" imgW="1002960" imgH="368280" progId="Equation.DSMT4">
                          <p:embed/>
                        </p:oleObj>
                      </mc:Choice>
                      <mc:Fallback>
                        <p:oleObj name="Equation" r:id="rId25" imgW="1002960" imgH="368280" progId="Equation.DSMT4">
                          <p:embed/>
                          <p:pic>
                            <p:nvPicPr>
                              <p:cNvPr id="181265" name="Object 1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45" y="3214"/>
                                <a:ext cx="981" cy="36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66" name="Object 18"/>
                  <p:cNvGraphicFramePr>
                    <a:graphicFrameLocks noChangeAspect="1"/>
                  </p:cNvGraphicFramePr>
                  <p:nvPr/>
                </p:nvGraphicFramePr>
                <p:xfrm>
                  <a:off x="4021" y="3093"/>
                  <a:ext cx="380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6" imgW="330120" imgH="177480" progId="Equation.DSMT4">
                          <p:embed/>
                        </p:oleObj>
                      </mc:Choice>
                      <mc:Fallback>
                        <p:oleObj name="Equation" r:id="rId26" imgW="330120" imgH="177480" progId="Equation.DSMT4">
                          <p:embed/>
                          <p:pic>
                            <p:nvPicPr>
                              <p:cNvPr id="181266" name="Object 1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7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21" y="3093"/>
                                <a:ext cx="380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66" name="Object 18"/>
                  <p:cNvGraphicFramePr>
                    <a:graphicFrameLocks noChangeAspect="1"/>
                  </p:cNvGraphicFramePr>
                  <p:nvPr/>
                </p:nvGraphicFramePr>
                <p:xfrm>
                  <a:off x="4021" y="3093"/>
                  <a:ext cx="380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8" imgW="330120" imgH="177480" progId="Equation.DSMT4">
                          <p:embed/>
                        </p:oleObj>
                      </mc:Choice>
                      <mc:Fallback>
                        <p:oleObj name="Equation" r:id="rId28" imgW="330120" imgH="177480" progId="Equation.DSMT4">
                          <p:embed/>
                          <p:pic>
                            <p:nvPicPr>
                              <p:cNvPr id="181266" name="Object 18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021" y="3093"/>
                                <a:ext cx="380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p:sp>
            <p:nvSpPr>
              <p:cNvPr id="181267" name="Line 19"/>
              <p:cNvSpPr>
                <a:spLocks noChangeShapeType="1"/>
              </p:cNvSpPr>
              <p:nvPr/>
            </p:nvSpPr>
            <p:spPr bwMode="auto">
              <a:xfrm>
                <a:off x="4677" y="3386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68" name="Object 20"/>
                  <p:cNvGraphicFramePr>
                    <a:graphicFrameLocks noChangeAspect="1"/>
                  </p:cNvGraphicFramePr>
                  <p:nvPr/>
                </p:nvGraphicFramePr>
                <p:xfrm>
                  <a:off x="670" y="3601"/>
                  <a:ext cx="380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0" imgW="330120" imgH="177480" progId="Equation.DSMT4">
                          <p:embed/>
                        </p:oleObj>
                      </mc:Choice>
                      <mc:Fallback>
                        <p:oleObj name="Equation" r:id="rId30" imgW="330120" imgH="177480" progId="Equation.DSMT4">
                          <p:embed/>
                          <p:pic>
                            <p:nvPicPr>
                              <p:cNvPr id="181268" name="Object 2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1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70" y="3601"/>
                                <a:ext cx="380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68" name="Object 20"/>
                  <p:cNvGraphicFramePr>
                    <a:graphicFrameLocks noChangeAspect="1"/>
                  </p:cNvGraphicFramePr>
                  <p:nvPr/>
                </p:nvGraphicFramePr>
                <p:xfrm>
                  <a:off x="670" y="3601"/>
                  <a:ext cx="380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2" imgW="330120" imgH="177480" progId="Equation.DSMT4">
                          <p:embed/>
                        </p:oleObj>
                      </mc:Choice>
                      <mc:Fallback>
                        <p:oleObj name="Equation" r:id="rId32" imgW="330120" imgH="177480" progId="Equation.DSMT4">
                          <p:embed/>
                          <p:pic>
                            <p:nvPicPr>
                              <p:cNvPr id="181268" name="Object 2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70" y="3601"/>
                                <a:ext cx="380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69" name="Object 21"/>
                  <p:cNvGraphicFramePr>
                    <a:graphicFrameLocks noChangeAspect="1"/>
                  </p:cNvGraphicFramePr>
                  <p:nvPr/>
                </p:nvGraphicFramePr>
                <p:xfrm>
                  <a:off x="1620" y="3607"/>
                  <a:ext cx="35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4" imgW="304560" imgH="177480" progId="Equation.DSMT4">
                          <p:embed/>
                        </p:oleObj>
                      </mc:Choice>
                      <mc:Fallback>
                        <p:oleObj name="Equation" r:id="rId34" imgW="304560" imgH="177480" progId="Equation.DSMT4">
                          <p:embed/>
                          <p:pic>
                            <p:nvPicPr>
                              <p:cNvPr id="181269" name="Object 2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5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620" y="3607"/>
                                <a:ext cx="35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69" name="Object 21"/>
                  <p:cNvGraphicFramePr>
                    <a:graphicFrameLocks noChangeAspect="1"/>
                  </p:cNvGraphicFramePr>
                  <p:nvPr/>
                </p:nvGraphicFramePr>
                <p:xfrm>
                  <a:off x="1620" y="3607"/>
                  <a:ext cx="35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6" imgW="304560" imgH="177480" progId="Equation.DSMT4">
                          <p:embed/>
                        </p:oleObj>
                      </mc:Choice>
                      <mc:Fallback>
                        <p:oleObj name="Equation" r:id="rId36" imgW="304560" imgH="177480" progId="Equation.DSMT4">
                          <p:embed/>
                          <p:pic>
                            <p:nvPicPr>
                              <p:cNvPr id="181269" name="Object 2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7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1620" y="3607"/>
                                <a:ext cx="35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70" name="Object 22"/>
                  <p:cNvGraphicFramePr>
                    <a:graphicFrameLocks noChangeAspect="1"/>
                  </p:cNvGraphicFramePr>
                  <p:nvPr/>
                </p:nvGraphicFramePr>
                <p:xfrm>
                  <a:off x="2557" y="3604"/>
                  <a:ext cx="380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38" imgW="330120" imgH="177480" progId="Equation.DSMT4">
                          <p:embed/>
                        </p:oleObj>
                      </mc:Choice>
                      <mc:Fallback>
                        <p:oleObj name="Equation" r:id="rId38" imgW="330120" imgH="177480" progId="Equation.DSMT4">
                          <p:embed/>
                          <p:pic>
                            <p:nvPicPr>
                              <p:cNvPr id="181270" name="Object 2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9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557" y="3604"/>
                                <a:ext cx="380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70" name="Object 22"/>
                  <p:cNvGraphicFramePr>
                    <a:graphicFrameLocks noChangeAspect="1"/>
                  </p:cNvGraphicFramePr>
                  <p:nvPr/>
                </p:nvGraphicFramePr>
                <p:xfrm>
                  <a:off x="2557" y="3604"/>
                  <a:ext cx="380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0" imgW="330120" imgH="177480" progId="Equation.DSMT4">
                          <p:embed/>
                        </p:oleObj>
                      </mc:Choice>
                      <mc:Fallback>
                        <p:oleObj name="Equation" r:id="rId40" imgW="330120" imgH="177480" progId="Equation.DSMT4">
                          <p:embed/>
                          <p:pic>
                            <p:nvPicPr>
                              <p:cNvPr id="181270" name="Object 2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557" y="3604"/>
                                <a:ext cx="380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71" name="Object 23"/>
                  <p:cNvGraphicFramePr>
                    <a:graphicFrameLocks noChangeAspect="1"/>
                  </p:cNvGraphicFramePr>
                  <p:nvPr/>
                </p:nvGraphicFramePr>
                <p:xfrm>
                  <a:off x="3551" y="3610"/>
                  <a:ext cx="366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2" imgW="317160" imgH="177480" progId="Equation.DSMT4">
                          <p:embed/>
                        </p:oleObj>
                      </mc:Choice>
                      <mc:Fallback>
                        <p:oleObj name="Equation" r:id="rId42" imgW="317160" imgH="177480" progId="Equation.DSMT4">
                          <p:embed/>
                          <p:pic>
                            <p:nvPicPr>
                              <p:cNvPr id="181271" name="Object 2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3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551" y="3610"/>
                                <a:ext cx="366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71" name="Object 23"/>
                  <p:cNvGraphicFramePr>
                    <a:graphicFrameLocks noChangeAspect="1"/>
                  </p:cNvGraphicFramePr>
                  <p:nvPr/>
                </p:nvGraphicFramePr>
                <p:xfrm>
                  <a:off x="3551" y="3610"/>
                  <a:ext cx="366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4" imgW="317160" imgH="177480" progId="Equation.DSMT4">
                          <p:embed/>
                        </p:oleObj>
                      </mc:Choice>
                      <mc:Fallback>
                        <p:oleObj name="Equation" r:id="rId44" imgW="317160" imgH="177480" progId="Equation.DSMT4">
                          <p:embed/>
                          <p:pic>
                            <p:nvPicPr>
                              <p:cNvPr id="181271" name="Object 2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551" y="3610"/>
                                <a:ext cx="366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81272" name="Object 24"/>
                  <p:cNvGraphicFramePr>
                    <a:graphicFrameLocks noChangeAspect="1"/>
                  </p:cNvGraphicFramePr>
                  <p:nvPr/>
                </p:nvGraphicFramePr>
                <p:xfrm>
                  <a:off x="4486" y="3607"/>
                  <a:ext cx="38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6" imgW="330120" imgH="177480" progId="Equation.DSMT4">
                          <p:embed/>
                        </p:oleObj>
                      </mc:Choice>
                      <mc:Fallback>
                        <p:oleObj name="Equation" r:id="rId46" imgW="330120" imgH="177480" progId="Equation.DSMT4">
                          <p:embed/>
                          <p:pic>
                            <p:nvPicPr>
                              <p:cNvPr id="181272" name="Object 2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7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486" y="3607"/>
                                <a:ext cx="38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81272" name="Object 24"/>
                  <p:cNvGraphicFramePr>
                    <a:graphicFrameLocks noChangeAspect="1"/>
                  </p:cNvGraphicFramePr>
                  <p:nvPr/>
                </p:nvGraphicFramePr>
                <p:xfrm>
                  <a:off x="4486" y="3607"/>
                  <a:ext cx="381" cy="20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8" imgW="330120" imgH="177480" progId="Equation.DSMT4">
                          <p:embed/>
                        </p:oleObj>
                      </mc:Choice>
                      <mc:Fallback>
                        <p:oleObj name="Equation" r:id="rId48" imgW="330120" imgH="177480" progId="Equation.DSMT4">
                          <p:embed/>
                          <p:pic>
                            <p:nvPicPr>
                              <p:cNvPr id="181272" name="Object 24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486" y="3607"/>
                                <a:ext cx="381" cy="20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273" name="Object 25"/>
                <p:cNvSpPr txBox="1"/>
                <p:nvPr/>
              </p:nvSpPr>
              <p:spPr bwMode="auto">
                <a:xfrm>
                  <a:off x="1669" y="1654"/>
                  <a:ext cx="227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1273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69" y="1654"/>
                  <a:ext cx="227" cy="303"/>
                </a:xfrm>
                <a:prstGeom prst="rect">
                  <a:avLst/>
                </a:prstGeom>
                <a:blipFill>
                  <a:blip r:embed="rId50"/>
                  <a:stretch>
                    <a:fillRect r="-2711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274" name="Object 26"/>
                <p:cNvSpPr txBox="1"/>
                <p:nvPr/>
              </p:nvSpPr>
              <p:spPr bwMode="auto">
                <a:xfrm>
                  <a:off x="2613" y="1660"/>
                  <a:ext cx="242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1274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13" y="1660"/>
                  <a:ext cx="242" cy="302"/>
                </a:xfrm>
                <a:prstGeom prst="rect">
                  <a:avLst/>
                </a:prstGeom>
                <a:blipFill>
                  <a:blip r:embed="rId51"/>
                  <a:stretch>
                    <a:fillRect r="-2063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275" name="Object 27"/>
                <p:cNvSpPr txBox="1"/>
                <p:nvPr/>
              </p:nvSpPr>
              <p:spPr bwMode="auto">
                <a:xfrm>
                  <a:off x="3582" y="1657"/>
                  <a:ext cx="242" cy="3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1275" name="Object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82" y="1657"/>
                  <a:ext cx="242" cy="302"/>
                </a:xfrm>
                <a:prstGeom prst="rect">
                  <a:avLst/>
                </a:prstGeom>
                <a:blipFill>
                  <a:blip r:embed="rId52"/>
                  <a:stretch>
                    <a:fillRect r="-2063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276" name="Object 28"/>
                <p:cNvSpPr txBox="1"/>
                <p:nvPr/>
              </p:nvSpPr>
              <p:spPr bwMode="auto">
                <a:xfrm>
                  <a:off x="4578" y="1654"/>
                  <a:ext cx="242" cy="3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1276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78" y="1654"/>
                  <a:ext cx="242" cy="303"/>
                </a:xfrm>
                <a:prstGeom prst="rect">
                  <a:avLst/>
                </a:prstGeom>
                <a:blipFill>
                  <a:blip r:embed="rId53"/>
                  <a:stretch>
                    <a:fillRect r="-2063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1282" name="Text Box 34"/>
            <p:cNvSpPr txBox="1">
              <a:spLocks noChangeArrowheads="1"/>
            </p:cNvSpPr>
            <p:nvPr/>
          </p:nvSpPr>
          <p:spPr bwMode="auto">
            <a:xfrm>
              <a:off x="87" y="1574"/>
              <a:ext cx="967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Raleway" pitchFamily="2" charset="0"/>
                </a:rPr>
                <a:t>Continuous</a:t>
              </a:r>
            </a:p>
            <a:p>
              <a:pPr algn="ctr"/>
              <a:r>
                <a:rPr lang="en-US" sz="2000" dirty="0">
                  <a:latin typeface="Raleway" pitchFamily="2" charset="0"/>
                </a:rPr>
                <a:t>time</a:t>
              </a:r>
            </a:p>
          </p:txBody>
        </p:sp>
        <p:sp>
          <p:nvSpPr>
            <p:cNvPr id="181283" name="Text Box 35"/>
            <p:cNvSpPr txBox="1">
              <a:spLocks noChangeArrowheads="1"/>
            </p:cNvSpPr>
            <p:nvPr/>
          </p:nvSpPr>
          <p:spPr bwMode="auto">
            <a:xfrm>
              <a:off x="199" y="2399"/>
              <a:ext cx="765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latin typeface="Raleway" pitchFamily="2" charset="0"/>
                </a:rPr>
                <a:t>Discrete</a:t>
              </a:r>
            </a:p>
            <a:p>
              <a:pPr algn="ctr"/>
              <a:r>
                <a:rPr lang="en-US" sz="2000" dirty="0">
                  <a:latin typeface="Raleway" pitchFamily="2" charset="0"/>
                </a:rPr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928234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525A1-83C1-71AC-55FA-599AFFC4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Modeling: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1B3C1-78F5-1F25-C82C-CC712942F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 err="1"/>
              <a:t>Bertsekas</a:t>
            </a:r>
            <a:r>
              <a:rPr lang="en-US" dirty="0"/>
              <a:t> – Standard notation used in control theory:</a:t>
            </a:r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r>
              <a:rPr lang="en-US" dirty="0"/>
              <a:t>Powell – ADP books, RLSO, etc.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8E87E-A70E-C6A2-9B1F-56363A3E5B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78" r="36310" b="2907"/>
          <a:stretch>
            <a:fillRect/>
          </a:stretch>
        </p:blipFill>
        <p:spPr>
          <a:xfrm>
            <a:off x="219075" y="2383143"/>
            <a:ext cx="4762500" cy="636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79790E-04D7-A999-10CB-697ED1670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419" y="1919709"/>
            <a:ext cx="1240747" cy="20236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6F16BC-1CD0-0F1F-9398-F52953563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967" y="4825703"/>
            <a:ext cx="5035480" cy="855386"/>
          </a:xfrm>
          <a:prstGeom prst="rect">
            <a:avLst/>
          </a:prstGeom>
        </p:spPr>
      </p:pic>
      <p:pic>
        <p:nvPicPr>
          <p:cNvPr id="10" name="Picture 9" descr="http://ecx.images-amazon.com/images/I/41AIbgU%2BR5L.jpg">
            <a:extLst>
              <a:ext uri="{FF2B5EF4-FFF2-40B4-BE49-F238E27FC236}">
                <a16:creationId xmlns:a16="http://schemas.microsoft.com/office/drawing/2014/main" id="{313D549B-1290-E3B4-FC98-D97F677D8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046" y="4613764"/>
            <a:ext cx="1000184" cy="13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517FDA-4665-072B-FA95-E512AFB974E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230"/>
          <a:stretch/>
        </p:blipFill>
        <p:spPr>
          <a:xfrm>
            <a:off x="9720580" y="4613764"/>
            <a:ext cx="943663" cy="13350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57F599-25C0-59D6-56AF-56C1E888B5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8100" y="4613764"/>
            <a:ext cx="896066" cy="133507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80EEE40D-2FBE-C2B0-8030-97E59A0E4653}"/>
              </a:ext>
            </a:extLst>
          </p:cNvPr>
          <p:cNvGrpSpPr/>
          <p:nvPr/>
        </p:nvGrpSpPr>
        <p:grpSpPr>
          <a:xfrm>
            <a:off x="3667125" y="2200275"/>
            <a:ext cx="3431874" cy="942975"/>
            <a:chOff x="3667125" y="2200275"/>
            <a:chExt cx="3431874" cy="94297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8E672D-E094-4BA4-8760-2F4373336337}"/>
                </a:ext>
              </a:extLst>
            </p:cNvPr>
            <p:cNvSpPr/>
            <p:nvPr/>
          </p:nvSpPr>
          <p:spPr>
            <a:xfrm>
              <a:off x="3667125" y="2200275"/>
              <a:ext cx="533400" cy="94297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F8034C2-23EC-E693-77F0-F3E883983384}"/>
                    </a:ext>
                  </a:extLst>
                </p:cNvPr>
                <p:cNvSpPr txBox="1"/>
                <p:nvPr/>
              </p:nvSpPr>
              <p:spPr>
                <a:xfrm>
                  <a:off x="4648200" y="2457450"/>
                  <a:ext cx="245079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Random at “time”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endParaRPr lang="en-US" sz="20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F8034C2-23EC-E693-77F0-F3E883983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8200" y="2457450"/>
                  <a:ext cx="2450799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2736" t="-7576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0EE047-488E-47A4-FB44-F540BC19654E}"/>
              </a:ext>
            </a:extLst>
          </p:cNvPr>
          <p:cNvGrpSpPr/>
          <p:nvPr/>
        </p:nvGrpSpPr>
        <p:grpSpPr>
          <a:xfrm>
            <a:off x="3324224" y="4772025"/>
            <a:ext cx="3622397" cy="942975"/>
            <a:chOff x="3324224" y="4772025"/>
            <a:chExt cx="3622397" cy="94297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6F84B9A-BFDB-2F15-2A68-C4761DB4DAF1}"/>
                </a:ext>
              </a:extLst>
            </p:cNvPr>
            <p:cNvSpPr/>
            <p:nvPr/>
          </p:nvSpPr>
          <p:spPr>
            <a:xfrm>
              <a:off x="3324224" y="4772025"/>
              <a:ext cx="695325" cy="942975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D2574D4-9BCC-D12C-2A31-AA89894A3C1D}"/>
                    </a:ext>
                  </a:extLst>
                </p:cNvPr>
                <p:cNvSpPr txBox="1"/>
                <p:nvPr/>
              </p:nvSpPr>
              <p:spPr>
                <a:xfrm>
                  <a:off x="4657725" y="5019675"/>
                  <a:ext cx="228889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Random at time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endParaRPr lang="en-US" sz="2000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D2574D4-9BCC-D12C-2A31-AA89894A3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7725" y="5019675"/>
                  <a:ext cx="2288896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2660" t="-7576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0223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E817149-411C-8A03-2312-5FF1D5B23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913584-1E78-473E-AC13-DCBB9288E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FC8D3DFB-A5B1-2F74-B909-09E8D88BDD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A307FB3F-E764-E2F6-E4E6-CC397B01E5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The universal modeling framework (detailed)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Textbook modeling styles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Modeling time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Decision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Exogenous information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Transition function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1626340863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6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Modeling: State variables</a:t>
            </a:r>
          </a:p>
        </p:txBody>
      </p:sp>
      <p:sp>
        <p:nvSpPr>
          <p:cNvPr id="53146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>
                <a:latin typeface="Raleway" pitchFamily="2" charset="0"/>
              </a:rPr>
              <a:t>The system state: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1467" name="Object 9"/>
              <p:cNvSpPr txBox="1"/>
              <p:nvPr/>
            </p:nvSpPr>
            <p:spPr bwMode="auto">
              <a:xfrm>
                <a:off x="4113213" y="1647825"/>
                <a:ext cx="6558373" cy="46767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Controls community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"Information state</m:t>
                      </m:r>
                      <m:r>
                        <a:rPr lang="en-US" sz="1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“</m:t>
                      </m:r>
                    </m:oMath>
                  </m:oMathPara>
                </a14:m>
                <a:endParaRPr lang="en-US" sz="18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b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Operations research/MDP/Computer science</m:t>
                    </m:r>
                  </m:oMath>
                </a14:m>
                <a: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:</a:t>
                </a:r>
              </a:p>
              <a:p>
                <a:pPr/>
                <a:b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System state, where:</m:t>
                      </m:r>
                    </m:oMath>
                  </m:oMathPara>
                </a14:m>
                <a:b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sz="18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sz="18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Resource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/physical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state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(quantities)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Inventories; location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/status of truck/train/plane</m:t>
                      </m:r>
                    </m:oMath>
                  </m:oMathPara>
                </a14:m>
                <a:b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</m:t>
                    </m:r>
                    <m:r>
                      <m:rPr>
                        <m:nor/>
                      </m:rPr>
                      <a:rPr lang="en-US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sz="1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Energy in storage</m:t>
                    </m:r>
                  </m:oMath>
                </a14:m>
                <a: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, water, money</a:t>
                </a:r>
              </a:p>
              <a:p>
                <a:pPr/>
                <a:b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Information state</m:t>
                    </m:r>
                  </m:oMath>
                </a14:m>
                <a: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(parameters/values, functions)</a:t>
                </a:r>
                <a:b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</m:t>
                    </m:r>
                    <m:r>
                      <m:rPr>
                        <m:nor/>
                      </m:rPr>
                      <a:rPr lang="en-US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sz="1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Prices</m:t>
                    </m:r>
                  </m:oMath>
                </a14:m>
                <a: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/weather/tariffs</a:t>
                </a:r>
                <a:b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Policies/forecasting methods/transition functions</m:t>
                      </m:r>
                    </m:oMath>
                  </m:oMathPara>
                </a14:m>
                <a:endParaRPr lang="en-US" sz="180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Belief state</m:t>
                    </m:r>
                  </m:oMath>
                </a14:m>
                <a: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(frequentist or Bayesian)</a:t>
                </a:r>
                <a:br>
                  <a:rPr lang="en-US" sz="18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Estimates of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traffic delays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m:rPr>
                          <m:nor/>
                        </m:rPr>
                        <a:rPr lang="en-US" sz="1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Belief about the status of equipment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3146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3213" y="1647825"/>
                <a:ext cx="6558373" cy="4676775"/>
              </a:xfrm>
              <a:prstGeom prst="rect">
                <a:avLst/>
              </a:prstGeom>
              <a:blipFill>
                <a:blip r:embed="rId3"/>
                <a:stretch>
                  <a:fillRect l="-279" b="-10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31468" name="Object 10"/>
          <p:cNvGraphicFramePr>
            <a:graphicFrameLocks noChangeAspect="1"/>
          </p:cNvGraphicFramePr>
          <p:nvPr/>
        </p:nvGraphicFramePr>
        <p:xfrm>
          <a:off x="3333750" y="2017714"/>
          <a:ext cx="558800" cy="40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1371600" progId="Equation.DSMT4">
                  <p:embed/>
                </p:oleObj>
              </mc:Choice>
              <mc:Fallback>
                <p:oleObj name="Equation" r:id="rId4" imgW="190440" imgH="1371600" progId="Equation.DSMT4">
                  <p:embed/>
                  <p:pic>
                    <p:nvPicPr>
                      <p:cNvPr id="53146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2017714"/>
                        <a:ext cx="558800" cy="402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2001839" y="2206626"/>
            <a:ext cx="1339851" cy="3870325"/>
            <a:chOff x="477838" y="2206625"/>
            <a:chExt cx="1339851" cy="3870325"/>
          </a:xfrm>
        </p:grpSpPr>
        <p:grpSp>
          <p:nvGrpSpPr>
            <p:cNvPr id="13" name="Group 31"/>
            <p:cNvGrpSpPr>
              <a:grpSpLocks/>
            </p:cNvGrpSpPr>
            <p:nvPr/>
          </p:nvGrpSpPr>
          <p:grpSpPr bwMode="auto">
            <a:xfrm>
              <a:off x="1039813" y="2206625"/>
              <a:ext cx="288925" cy="895350"/>
              <a:chOff x="2803" y="1278"/>
              <a:chExt cx="342" cy="956"/>
            </a:xfrm>
          </p:grpSpPr>
          <p:grpSp>
            <p:nvGrpSpPr>
              <p:cNvPr id="17" name="Group 32"/>
              <p:cNvGrpSpPr>
                <a:grpSpLocks/>
              </p:cNvGrpSpPr>
              <p:nvPr/>
            </p:nvGrpSpPr>
            <p:grpSpPr bwMode="auto">
              <a:xfrm>
                <a:off x="2803" y="1401"/>
                <a:ext cx="342" cy="833"/>
                <a:chOff x="2803" y="1401"/>
                <a:chExt cx="342" cy="833"/>
              </a:xfrm>
            </p:grpSpPr>
            <p:grpSp>
              <p:nvGrpSpPr>
                <p:cNvPr id="28" name="Group 33"/>
                <p:cNvGrpSpPr>
                  <a:grpSpLocks/>
                </p:cNvGrpSpPr>
                <p:nvPr/>
              </p:nvGrpSpPr>
              <p:grpSpPr bwMode="auto">
                <a:xfrm>
                  <a:off x="2815" y="2143"/>
                  <a:ext cx="301" cy="91"/>
                  <a:chOff x="2815" y="2143"/>
                  <a:chExt cx="301" cy="91"/>
                </a:xfrm>
              </p:grpSpPr>
              <p:sp>
                <p:nvSpPr>
                  <p:cNvPr id="38" name="Freeform 34"/>
                  <p:cNvSpPr>
                    <a:spLocks/>
                  </p:cNvSpPr>
                  <p:nvPr/>
                </p:nvSpPr>
                <p:spPr bwMode="auto">
                  <a:xfrm>
                    <a:off x="2815" y="2164"/>
                    <a:ext cx="93" cy="70"/>
                  </a:xfrm>
                  <a:custGeom>
                    <a:avLst/>
                    <a:gdLst>
                      <a:gd name="T0" fmla="*/ 35 w 93"/>
                      <a:gd name="T1" fmla="*/ 11 h 70"/>
                      <a:gd name="T2" fmla="*/ 12 w 93"/>
                      <a:gd name="T3" fmla="*/ 32 h 70"/>
                      <a:gd name="T4" fmla="*/ 0 w 93"/>
                      <a:gd name="T5" fmla="*/ 48 h 70"/>
                      <a:gd name="T6" fmla="*/ 0 w 93"/>
                      <a:gd name="T7" fmla="*/ 65 h 70"/>
                      <a:gd name="T8" fmla="*/ 12 w 93"/>
                      <a:gd name="T9" fmla="*/ 70 h 70"/>
                      <a:gd name="T10" fmla="*/ 41 w 93"/>
                      <a:gd name="T11" fmla="*/ 65 h 70"/>
                      <a:gd name="T12" fmla="*/ 58 w 93"/>
                      <a:gd name="T13" fmla="*/ 59 h 70"/>
                      <a:gd name="T14" fmla="*/ 70 w 93"/>
                      <a:gd name="T15" fmla="*/ 43 h 70"/>
                      <a:gd name="T16" fmla="*/ 93 w 93"/>
                      <a:gd name="T17" fmla="*/ 32 h 70"/>
                      <a:gd name="T18" fmla="*/ 93 w 93"/>
                      <a:gd name="T19" fmla="*/ 16 h 70"/>
                      <a:gd name="T20" fmla="*/ 87 w 93"/>
                      <a:gd name="T21" fmla="*/ 0 h 70"/>
                      <a:gd name="T22" fmla="*/ 64 w 93"/>
                      <a:gd name="T23" fmla="*/ 11 h 70"/>
                      <a:gd name="T24" fmla="*/ 35 w 93"/>
                      <a:gd name="T25" fmla="*/ 11 h 70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93"/>
                      <a:gd name="T40" fmla="*/ 0 h 70"/>
                      <a:gd name="T41" fmla="*/ 93 w 93"/>
                      <a:gd name="T42" fmla="*/ 70 h 70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93" h="70">
                        <a:moveTo>
                          <a:pt x="35" y="11"/>
                        </a:moveTo>
                        <a:lnTo>
                          <a:pt x="12" y="32"/>
                        </a:lnTo>
                        <a:lnTo>
                          <a:pt x="0" y="48"/>
                        </a:lnTo>
                        <a:lnTo>
                          <a:pt x="0" y="65"/>
                        </a:lnTo>
                        <a:lnTo>
                          <a:pt x="12" y="70"/>
                        </a:lnTo>
                        <a:lnTo>
                          <a:pt x="41" y="65"/>
                        </a:lnTo>
                        <a:lnTo>
                          <a:pt x="58" y="59"/>
                        </a:lnTo>
                        <a:lnTo>
                          <a:pt x="70" y="43"/>
                        </a:lnTo>
                        <a:lnTo>
                          <a:pt x="93" y="32"/>
                        </a:lnTo>
                        <a:lnTo>
                          <a:pt x="93" y="16"/>
                        </a:lnTo>
                        <a:lnTo>
                          <a:pt x="87" y="0"/>
                        </a:lnTo>
                        <a:lnTo>
                          <a:pt x="64" y="11"/>
                        </a:lnTo>
                        <a:lnTo>
                          <a:pt x="35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9" name="Freeform 35"/>
                  <p:cNvSpPr>
                    <a:spLocks/>
                  </p:cNvSpPr>
                  <p:nvPr/>
                </p:nvSpPr>
                <p:spPr bwMode="auto">
                  <a:xfrm>
                    <a:off x="3012" y="2143"/>
                    <a:ext cx="104" cy="75"/>
                  </a:xfrm>
                  <a:custGeom>
                    <a:avLst/>
                    <a:gdLst>
                      <a:gd name="T0" fmla="*/ 0 w 104"/>
                      <a:gd name="T1" fmla="*/ 5 h 75"/>
                      <a:gd name="T2" fmla="*/ 0 w 104"/>
                      <a:gd name="T3" fmla="*/ 32 h 75"/>
                      <a:gd name="T4" fmla="*/ 12 w 104"/>
                      <a:gd name="T5" fmla="*/ 43 h 75"/>
                      <a:gd name="T6" fmla="*/ 29 w 104"/>
                      <a:gd name="T7" fmla="*/ 48 h 75"/>
                      <a:gd name="T8" fmla="*/ 41 w 104"/>
                      <a:gd name="T9" fmla="*/ 53 h 75"/>
                      <a:gd name="T10" fmla="*/ 58 w 104"/>
                      <a:gd name="T11" fmla="*/ 64 h 75"/>
                      <a:gd name="T12" fmla="*/ 87 w 104"/>
                      <a:gd name="T13" fmla="*/ 75 h 75"/>
                      <a:gd name="T14" fmla="*/ 99 w 104"/>
                      <a:gd name="T15" fmla="*/ 69 h 75"/>
                      <a:gd name="T16" fmla="*/ 104 w 104"/>
                      <a:gd name="T17" fmla="*/ 64 h 75"/>
                      <a:gd name="T18" fmla="*/ 104 w 104"/>
                      <a:gd name="T19" fmla="*/ 59 h 75"/>
                      <a:gd name="T20" fmla="*/ 93 w 104"/>
                      <a:gd name="T21" fmla="*/ 43 h 75"/>
                      <a:gd name="T22" fmla="*/ 70 w 104"/>
                      <a:gd name="T23" fmla="*/ 26 h 75"/>
                      <a:gd name="T24" fmla="*/ 52 w 104"/>
                      <a:gd name="T25" fmla="*/ 10 h 75"/>
                      <a:gd name="T26" fmla="*/ 46 w 104"/>
                      <a:gd name="T27" fmla="*/ 0 h 75"/>
                      <a:gd name="T28" fmla="*/ 0 w 104"/>
                      <a:gd name="T29" fmla="*/ 5 h 7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04"/>
                      <a:gd name="T46" fmla="*/ 0 h 75"/>
                      <a:gd name="T47" fmla="*/ 104 w 104"/>
                      <a:gd name="T48" fmla="*/ 75 h 7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04" h="75">
                        <a:moveTo>
                          <a:pt x="0" y="5"/>
                        </a:moveTo>
                        <a:lnTo>
                          <a:pt x="0" y="32"/>
                        </a:lnTo>
                        <a:lnTo>
                          <a:pt x="12" y="43"/>
                        </a:lnTo>
                        <a:lnTo>
                          <a:pt x="29" y="48"/>
                        </a:lnTo>
                        <a:lnTo>
                          <a:pt x="41" y="53"/>
                        </a:lnTo>
                        <a:lnTo>
                          <a:pt x="58" y="64"/>
                        </a:lnTo>
                        <a:lnTo>
                          <a:pt x="87" y="75"/>
                        </a:lnTo>
                        <a:lnTo>
                          <a:pt x="99" y="69"/>
                        </a:lnTo>
                        <a:lnTo>
                          <a:pt x="104" y="64"/>
                        </a:lnTo>
                        <a:lnTo>
                          <a:pt x="104" y="59"/>
                        </a:lnTo>
                        <a:lnTo>
                          <a:pt x="93" y="43"/>
                        </a:lnTo>
                        <a:lnTo>
                          <a:pt x="70" y="26"/>
                        </a:lnTo>
                        <a:lnTo>
                          <a:pt x="52" y="10"/>
                        </a:lnTo>
                        <a:lnTo>
                          <a:pt x="46" y="0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9" name="Group 36"/>
                <p:cNvGrpSpPr>
                  <a:grpSpLocks/>
                </p:cNvGrpSpPr>
                <p:nvPr/>
              </p:nvGrpSpPr>
              <p:grpSpPr bwMode="auto">
                <a:xfrm>
                  <a:off x="2803" y="1401"/>
                  <a:ext cx="342" cy="785"/>
                  <a:chOff x="2803" y="1401"/>
                  <a:chExt cx="342" cy="785"/>
                </a:xfrm>
              </p:grpSpPr>
              <p:grpSp>
                <p:nvGrpSpPr>
                  <p:cNvPr id="30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2844" y="1401"/>
                    <a:ext cx="220" cy="253"/>
                    <a:chOff x="2844" y="1401"/>
                    <a:chExt cx="220" cy="253"/>
                  </a:xfrm>
                </p:grpSpPr>
                <p:sp>
                  <p:nvSpPr>
                    <p:cNvPr id="35" name="Freeform 38"/>
                    <p:cNvSpPr>
                      <a:spLocks/>
                    </p:cNvSpPr>
                    <p:nvPr/>
                  </p:nvSpPr>
                  <p:spPr bwMode="auto">
                    <a:xfrm>
                      <a:off x="2844" y="1417"/>
                      <a:ext cx="220" cy="237"/>
                    </a:xfrm>
                    <a:custGeom>
                      <a:avLst/>
                      <a:gdLst>
                        <a:gd name="T0" fmla="*/ 0 w 220"/>
                        <a:gd name="T1" fmla="*/ 43 h 237"/>
                        <a:gd name="T2" fmla="*/ 70 w 220"/>
                        <a:gd name="T3" fmla="*/ 0 h 237"/>
                        <a:gd name="T4" fmla="*/ 139 w 220"/>
                        <a:gd name="T5" fmla="*/ 102 h 237"/>
                        <a:gd name="T6" fmla="*/ 151 w 220"/>
                        <a:gd name="T7" fmla="*/ 6 h 237"/>
                        <a:gd name="T8" fmla="*/ 197 w 220"/>
                        <a:gd name="T9" fmla="*/ 17 h 237"/>
                        <a:gd name="T10" fmla="*/ 220 w 220"/>
                        <a:gd name="T11" fmla="*/ 54 h 237"/>
                        <a:gd name="T12" fmla="*/ 214 w 220"/>
                        <a:gd name="T13" fmla="*/ 237 h 237"/>
                        <a:gd name="T14" fmla="*/ 23 w 220"/>
                        <a:gd name="T15" fmla="*/ 237 h 237"/>
                        <a:gd name="T16" fmla="*/ 0 w 220"/>
                        <a:gd name="T17" fmla="*/ 43 h 237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20"/>
                        <a:gd name="T28" fmla="*/ 0 h 237"/>
                        <a:gd name="T29" fmla="*/ 220 w 220"/>
                        <a:gd name="T30" fmla="*/ 237 h 237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20" h="237">
                          <a:moveTo>
                            <a:pt x="0" y="43"/>
                          </a:moveTo>
                          <a:lnTo>
                            <a:pt x="70" y="0"/>
                          </a:lnTo>
                          <a:lnTo>
                            <a:pt x="139" y="102"/>
                          </a:lnTo>
                          <a:lnTo>
                            <a:pt x="151" y="6"/>
                          </a:lnTo>
                          <a:lnTo>
                            <a:pt x="197" y="17"/>
                          </a:lnTo>
                          <a:lnTo>
                            <a:pt x="220" y="54"/>
                          </a:lnTo>
                          <a:lnTo>
                            <a:pt x="214" y="237"/>
                          </a:lnTo>
                          <a:lnTo>
                            <a:pt x="23" y="237"/>
                          </a:lnTo>
                          <a:lnTo>
                            <a:pt x="0" y="43"/>
                          </a:lnTo>
                          <a:close/>
                        </a:path>
                      </a:pathLst>
                    </a:custGeom>
                    <a:solidFill>
                      <a:srgbClr val="7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" name="Freeform 39"/>
                    <p:cNvSpPr>
                      <a:spLocks/>
                    </p:cNvSpPr>
                    <p:nvPr/>
                  </p:nvSpPr>
                  <p:spPr bwMode="auto">
                    <a:xfrm>
                      <a:off x="2908" y="1401"/>
                      <a:ext cx="87" cy="140"/>
                    </a:xfrm>
                    <a:custGeom>
                      <a:avLst/>
                      <a:gdLst>
                        <a:gd name="T0" fmla="*/ 0 w 87"/>
                        <a:gd name="T1" fmla="*/ 16 h 140"/>
                        <a:gd name="T2" fmla="*/ 6 w 87"/>
                        <a:gd name="T3" fmla="*/ 0 h 140"/>
                        <a:gd name="T4" fmla="*/ 64 w 87"/>
                        <a:gd name="T5" fmla="*/ 27 h 140"/>
                        <a:gd name="T6" fmla="*/ 75 w 87"/>
                        <a:gd name="T7" fmla="*/ 11 h 140"/>
                        <a:gd name="T8" fmla="*/ 81 w 87"/>
                        <a:gd name="T9" fmla="*/ 16 h 140"/>
                        <a:gd name="T10" fmla="*/ 87 w 87"/>
                        <a:gd name="T11" fmla="*/ 97 h 140"/>
                        <a:gd name="T12" fmla="*/ 87 w 87"/>
                        <a:gd name="T13" fmla="*/ 140 h 140"/>
                        <a:gd name="T14" fmla="*/ 0 w 87"/>
                        <a:gd name="T15" fmla="*/ 16 h 140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87"/>
                        <a:gd name="T25" fmla="*/ 0 h 140"/>
                        <a:gd name="T26" fmla="*/ 87 w 87"/>
                        <a:gd name="T27" fmla="*/ 140 h 140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87" h="140">
                          <a:moveTo>
                            <a:pt x="0" y="16"/>
                          </a:moveTo>
                          <a:lnTo>
                            <a:pt x="6" y="0"/>
                          </a:lnTo>
                          <a:lnTo>
                            <a:pt x="64" y="27"/>
                          </a:lnTo>
                          <a:lnTo>
                            <a:pt x="75" y="11"/>
                          </a:lnTo>
                          <a:lnTo>
                            <a:pt x="81" y="16"/>
                          </a:lnTo>
                          <a:lnTo>
                            <a:pt x="87" y="97"/>
                          </a:lnTo>
                          <a:lnTo>
                            <a:pt x="87" y="140"/>
                          </a:lnTo>
                          <a:lnTo>
                            <a:pt x="0" y="16"/>
                          </a:lnTo>
                          <a:close/>
                        </a:path>
                      </a:pathLst>
                    </a:custGeom>
                    <a:solidFill>
                      <a:srgbClr val="FFD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" name="Freeform 40"/>
                    <p:cNvSpPr>
                      <a:spLocks/>
                    </p:cNvSpPr>
                    <p:nvPr/>
                  </p:nvSpPr>
                  <p:spPr bwMode="auto">
                    <a:xfrm>
                      <a:off x="2937" y="1428"/>
                      <a:ext cx="52" cy="27"/>
                    </a:xfrm>
                    <a:custGeom>
                      <a:avLst/>
                      <a:gdLst>
                        <a:gd name="T0" fmla="*/ 0 w 52"/>
                        <a:gd name="T1" fmla="*/ 27 h 27"/>
                        <a:gd name="T2" fmla="*/ 29 w 52"/>
                        <a:gd name="T3" fmla="*/ 0 h 27"/>
                        <a:gd name="T4" fmla="*/ 52 w 52"/>
                        <a:gd name="T5" fmla="*/ 22 h 27"/>
                        <a:gd name="T6" fmla="*/ 0 60000 65536"/>
                        <a:gd name="T7" fmla="*/ 0 60000 65536"/>
                        <a:gd name="T8" fmla="*/ 0 60000 65536"/>
                        <a:gd name="T9" fmla="*/ 0 w 52"/>
                        <a:gd name="T10" fmla="*/ 0 h 27"/>
                        <a:gd name="T11" fmla="*/ 52 w 52"/>
                        <a:gd name="T12" fmla="*/ 27 h 27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52" h="27">
                          <a:moveTo>
                            <a:pt x="0" y="27"/>
                          </a:moveTo>
                          <a:lnTo>
                            <a:pt x="29" y="0"/>
                          </a:lnTo>
                          <a:lnTo>
                            <a:pt x="52" y="22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1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2803" y="1412"/>
                    <a:ext cx="342" cy="774"/>
                    <a:chOff x="2803" y="1412"/>
                    <a:chExt cx="342" cy="774"/>
                  </a:xfrm>
                </p:grpSpPr>
                <p:sp>
                  <p:nvSpPr>
                    <p:cNvPr id="32" name="Freeform 42"/>
                    <p:cNvSpPr>
                      <a:spLocks/>
                    </p:cNvSpPr>
                    <p:nvPr/>
                  </p:nvSpPr>
                  <p:spPr bwMode="auto">
                    <a:xfrm>
                      <a:off x="2803" y="1412"/>
                      <a:ext cx="342" cy="774"/>
                    </a:xfrm>
                    <a:custGeom>
                      <a:avLst/>
                      <a:gdLst>
                        <a:gd name="T0" fmla="*/ 105 w 342"/>
                        <a:gd name="T1" fmla="*/ 0 h 774"/>
                        <a:gd name="T2" fmla="*/ 24 w 342"/>
                        <a:gd name="T3" fmla="*/ 59 h 774"/>
                        <a:gd name="T4" fmla="*/ 0 w 342"/>
                        <a:gd name="T5" fmla="*/ 242 h 774"/>
                        <a:gd name="T6" fmla="*/ 64 w 342"/>
                        <a:gd name="T7" fmla="*/ 360 h 774"/>
                        <a:gd name="T8" fmla="*/ 64 w 342"/>
                        <a:gd name="T9" fmla="*/ 381 h 774"/>
                        <a:gd name="T10" fmla="*/ 70 w 342"/>
                        <a:gd name="T11" fmla="*/ 414 h 774"/>
                        <a:gd name="T12" fmla="*/ 76 w 342"/>
                        <a:gd name="T13" fmla="*/ 430 h 774"/>
                        <a:gd name="T14" fmla="*/ 64 w 342"/>
                        <a:gd name="T15" fmla="*/ 559 h 774"/>
                        <a:gd name="T16" fmla="*/ 47 w 342"/>
                        <a:gd name="T17" fmla="*/ 768 h 774"/>
                        <a:gd name="T18" fmla="*/ 64 w 342"/>
                        <a:gd name="T19" fmla="*/ 774 h 774"/>
                        <a:gd name="T20" fmla="*/ 105 w 342"/>
                        <a:gd name="T21" fmla="*/ 763 h 774"/>
                        <a:gd name="T22" fmla="*/ 128 w 342"/>
                        <a:gd name="T23" fmla="*/ 618 h 774"/>
                        <a:gd name="T24" fmla="*/ 140 w 342"/>
                        <a:gd name="T25" fmla="*/ 569 h 774"/>
                        <a:gd name="T26" fmla="*/ 180 w 342"/>
                        <a:gd name="T27" fmla="*/ 430 h 774"/>
                        <a:gd name="T28" fmla="*/ 186 w 342"/>
                        <a:gd name="T29" fmla="*/ 575 h 774"/>
                        <a:gd name="T30" fmla="*/ 203 w 342"/>
                        <a:gd name="T31" fmla="*/ 747 h 774"/>
                        <a:gd name="T32" fmla="*/ 261 w 342"/>
                        <a:gd name="T33" fmla="*/ 752 h 774"/>
                        <a:gd name="T34" fmla="*/ 267 w 342"/>
                        <a:gd name="T35" fmla="*/ 564 h 774"/>
                        <a:gd name="T36" fmla="*/ 261 w 342"/>
                        <a:gd name="T37" fmla="*/ 376 h 774"/>
                        <a:gd name="T38" fmla="*/ 261 w 342"/>
                        <a:gd name="T39" fmla="*/ 285 h 774"/>
                        <a:gd name="T40" fmla="*/ 273 w 342"/>
                        <a:gd name="T41" fmla="*/ 252 h 774"/>
                        <a:gd name="T42" fmla="*/ 279 w 342"/>
                        <a:gd name="T43" fmla="*/ 258 h 774"/>
                        <a:gd name="T44" fmla="*/ 337 w 342"/>
                        <a:gd name="T45" fmla="*/ 226 h 774"/>
                        <a:gd name="T46" fmla="*/ 342 w 342"/>
                        <a:gd name="T47" fmla="*/ 167 h 774"/>
                        <a:gd name="T48" fmla="*/ 250 w 342"/>
                        <a:gd name="T49" fmla="*/ 22 h 774"/>
                        <a:gd name="T50" fmla="*/ 186 w 342"/>
                        <a:gd name="T51" fmla="*/ 0 h 774"/>
                        <a:gd name="T52" fmla="*/ 198 w 342"/>
                        <a:gd name="T53" fmla="*/ 97 h 774"/>
                        <a:gd name="T54" fmla="*/ 186 w 342"/>
                        <a:gd name="T55" fmla="*/ 193 h 774"/>
                        <a:gd name="T56" fmla="*/ 157 w 342"/>
                        <a:gd name="T57" fmla="*/ 102 h 774"/>
                        <a:gd name="T58" fmla="*/ 105 w 342"/>
                        <a:gd name="T59" fmla="*/ 0 h 77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42"/>
                        <a:gd name="T91" fmla="*/ 0 h 774"/>
                        <a:gd name="T92" fmla="*/ 342 w 342"/>
                        <a:gd name="T93" fmla="*/ 774 h 77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42" h="774">
                          <a:moveTo>
                            <a:pt x="105" y="0"/>
                          </a:moveTo>
                          <a:lnTo>
                            <a:pt x="24" y="59"/>
                          </a:lnTo>
                          <a:lnTo>
                            <a:pt x="0" y="242"/>
                          </a:lnTo>
                          <a:lnTo>
                            <a:pt x="64" y="360"/>
                          </a:lnTo>
                          <a:lnTo>
                            <a:pt x="64" y="381"/>
                          </a:lnTo>
                          <a:lnTo>
                            <a:pt x="70" y="414"/>
                          </a:lnTo>
                          <a:lnTo>
                            <a:pt x="76" y="430"/>
                          </a:lnTo>
                          <a:lnTo>
                            <a:pt x="64" y="559"/>
                          </a:lnTo>
                          <a:lnTo>
                            <a:pt x="47" y="768"/>
                          </a:lnTo>
                          <a:lnTo>
                            <a:pt x="64" y="774"/>
                          </a:lnTo>
                          <a:lnTo>
                            <a:pt x="105" y="763"/>
                          </a:lnTo>
                          <a:lnTo>
                            <a:pt x="128" y="618"/>
                          </a:lnTo>
                          <a:lnTo>
                            <a:pt x="140" y="569"/>
                          </a:lnTo>
                          <a:lnTo>
                            <a:pt x="180" y="430"/>
                          </a:lnTo>
                          <a:lnTo>
                            <a:pt x="186" y="575"/>
                          </a:lnTo>
                          <a:lnTo>
                            <a:pt x="203" y="747"/>
                          </a:lnTo>
                          <a:lnTo>
                            <a:pt x="261" y="752"/>
                          </a:lnTo>
                          <a:lnTo>
                            <a:pt x="267" y="564"/>
                          </a:lnTo>
                          <a:lnTo>
                            <a:pt x="261" y="376"/>
                          </a:lnTo>
                          <a:lnTo>
                            <a:pt x="261" y="285"/>
                          </a:lnTo>
                          <a:lnTo>
                            <a:pt x="273" y="252"/>
                          </a:lnTo>
                          <a:lnTo>
                            <a:pt x="279" y="258"/>
                          </a:lnTo>
                          <a:lnTo>
                            <a:pt x="337" y="226"/>
                          </a:lnTo>
                          <a:lnTo>
                            <a:pt x="342" y="167"/>
                          </a:lnTo>
                          <a:lnTo>
                            <a:pt x="250" y="22"/>
                          </a:lnTo>
                          <a:lnTo>
                            <a:pt x="186" y="0"/>
                          </a:lnTo>
                          <a:lnTo>
                            <a:pt x="198" y="97"/>
                          </a:lnTo>
                          <a:lnTo>
                            <a:pt x="186" y="193"/>
                          </a:lnTo>
                          <a:lnTo>
                            <a:pt x="157" y="102"/>
                          </a:lnTo>
                          <a:lnTo>
                            <a:pt x="105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3" name="Freeform 43"/>
                    <p:cNvSpPr>
                      <a:spLocks/>
                    </p:cNvSpPr>
                    <p:nvPr/>
                  </p:nvSpPr>
                  <p:spPr bwMode="auto">
                    <a:xfrm>
                      <a:off x="2821" y="1498"/>
                      <a:ext cx="87" cy="199"/>
                    </a:xfrm>
                    <a:custGeom>
                      <a:avLst/>
                      <a:gdLst>
                        <a:gd name="T0" fmla="*/ 40 w 87"/>
                        <a:gd name="T1" fmla="*/ 0 h 199"/>
                        <a:gd name="T2" fmla="*/ 52 w 87"/>
                        <a:gd name="T3" fmla="*/ 48 h 199"/>
                        <a:gd name="T4" fmla="*/ 46 w 87"/>
                        <a:gd name="T5" fmla="*/ 118 h 199"/>
                        <a:gd name="T6" fmla="*/ 0 w 87"/>
                        <a:gd name="T7" fmla="*/ 129 h 199"/>
                        <a:gd name="T8" fmla="*/ 46 w 87"/>
                        <a:gd name="T9" fmla="*/ 134 h 199"/>
                        <a:gd name="T10" fmla="*/ 58 w 87"/>
                        <a:gd name="T11" fmla="*/ 177 h 199"/>
                        <a:gd name="T12" fmla="*/ 87 w 87"/>
                        <a:gd name="T13" fmla="*/ 199 h 199"/>
                        <a:gd name="T14" fmla="*/ 75 w 87"/>
                        <a:gd name="T15" fmla="*/ 161 h 199"/>
                        <a:gd name="T16" fmla="*/ 69 w 87"/>
                        <a:gd name="T17" fmla="*/ 145 h 199"/>
                        <a:gd name="T18" fmla="*/ 64 w 87"/>
                        <a:gd name="T19" fmla="*/ 97 h 199"/>
                        <a:gd name="T20" fmla="*/ 40 w 87"/>
                        <a:gd name="T21" fmla="*/ 0 h 199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w 87"/>
                        <a:gd name="T34" fmla="*/ 0 h 199"/>
                        <a:gd name="T35" fmla="*/ 87 w 87"/>
                        <a:gd name="T36" fmla="*/ 199 h 199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T33" t="T34" r="T35" b="T36"/>
                      <a:pathLst>
                        <a:path w="87" h="199">
                          <a:moveTo>
                            <a:pt x="40" y="0"/>
                          </a:moveTo>
                          <a:lnTo>
                            <a:pt x="52" y="48"/>
                          </a:lnTo>
                          <a:lnTo>
                            <a:pt x="46" y="118"/>
                          </a:lnTo>
                          <a:lnTo>
                            <a:pt x="0" y="129"/>
                          </a:lnTo>
                          <a:lnTo>
                            <a:pt x="46" y="134"/>
                          </a:lnTo>
                          <a:lnTo>
                            <a:pt x="58" y="177"/>
                          </a:lnTo>
                          <a:lnTo>
                            <a:pt x="87" y="199"/>
                          </a:lnTo>
                          <a:lnTo>
                            <a:pt x="75" y="161"/>
                          </a:lnTo>
                          <a:lnTo>
                            <a:pt x="69" y="145"/>
                          </a:lnTo>
                          <a:lnTo>
                            <a:pt x="64" y="97"/>
                          </a:lnTo>
                          <a:lnTo>
                            <a:pt x="40" y="0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" name="Freeform 44"/>
                    <p:cNvSpPr>
                      <a:spLocks/>
                    </p:cNvSpPr>
                    <p:nvPr/>
                  </p:nvSpPr>
                  <p:spPr bwMode="auto">
                    <a:xfrm>
                      <a:off x="2902" y="1509"/>
                      <a:ext cx="29" cy="27"/>
                    </a:xfrm>
                    <a:custGeom>
                      <a:avLst/>
                      <a:gdLst>
                        <a:gd name="T0" fmla="*/ 0 w 29"/>
                        <a:gd name="T1" fmla="*/ 27 h 27"/>
                        <a:gd name="T2" fmla="*/ 6 w 29"/>
                        <a:gd name="T3" fmla="*/ 0 h 27"/>
                        <a:gd name="T4" fmla="*/ 29 w 29"/>
                        <a:gd name="T5" fmla="*/ 21 h 27"/>
                        <a:gd name="T6" fmla="*/ 0 w 29"/>
                        <a:gd name="T7" fmla="*/ 27 h 2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"/>
                        <a:gd name="T13" fmla="*/ 0 h 27"/>
                        <a:gd name="T14" fmla="*/ 29 w 29"/>
                        <a:gd name="T15" fmla="*/ 27 h 2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" h="27">
                          <a:moveTo>
                            <a:pt x="0" y="27"/>
                          </a:moveTo>
                          <a:lnTo>
                            <a:pt x="6" y="0"/>
                          </a:lnTo>
                          <a:lnTo>
                            <a:pt x="29" y="21"/>
                          </a:lnTo>
                          <a:lnTo>
                            <a:pt x="0" y="27"/>
                          </a:lnTo>
                          <a:close/>
                        </a:path>
                      </a:pathLst>
                    </a:custGeom>
                    <a:solidFill>
                      <a:srgbClr val="FFD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18" name="Group 45"/>
              <p:cNvGrpSpPr>
                <a:grpSpLocks/>
              </p:cNvGrpSpPr>
              <p:nvPr/>
            </p:nvGrpSpPr>
            <p:grpSpPr bwMode="auto">
              <a:xfrm>
                <a:off x="2896" y="1278"/>
                <a:ext cx="186" cy="386"/>
                <a:chOff x="2896" y="1278"/>
                <a:chExt cx="186" cy="386"/>
              </a:xfrm>
            </p:grpSpPr>
            <p:grpSp>
              <p:nvGrpSpPr>
                <p:cNvPr id="19" name="Group 46"/>
                <p:cNvGrpSpPr>
                  <a:grpSpLocks/>
                </p:cNvGrpSpPr>
                <p:nvPr/>
              </p:nvGrpSpPr>
              <p:grpSpPr bwMode="auto">
                <a:xfrm>
                  <a:off x="2896" y="1278"/>
                  <a:ext cx="110" cy="150"/>
                  <a:chOff x="2896" y="1278"/>
                  <a:chExt cx="110" cy="150"/>
                </a:xfrm>
              </p:grpSpPr>
              <p:grpSp>
                <p:nvGrpSpPr>
                  <p:cNvPr id="21" name="Group 47"/>
                  <p:cNvGrpSpPr>
                    <a:grpSpLocks/>
                  </p:cNvGrpSpPr>
                  <p:nvPr/>
                </p:nvGrpSpPr>
                <p:grpSpPr bwMode="auto">
                  <a:xfrm>
                    <a:off x="2902" y="1283"/>
                    <a:ext cx="99" cy="145"/>
                    <a:chOff x="2902" y="1283"/>
                    <a:chExt cx="99" cy="145"/>
                  </a:xfrm>
                </p:grpSpPr>
                <p:sp>
                  <p:nvSpPr>
                    <p:cNvPr id="23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2902" y="1283"/>
                      <a:ext cx="99" cy="145"/>
                    </a:xfrm>
                    <a:custGeom>
                      <a:avLst/>
                      <a:gdLst>
                        <a:gd name="T0" fmla="*/ 93 w 99"/>
                        <a:gd name="T1" fmla="*/ 22 h 145"/>
                        <a:gd name="T2" fmla="*/ 99 w 99"/>
                        <a:gd name="T3" fmla="*/ 48 h 145"/>
                        <a:gd name="T4" fmla="*/ 93 w 99"/>
                        <a:gd name="T5" fmla="*/ 54 h 145"/>
                        <a:gd name="T6" fmla="*/ 99 w 99"/>
                        <a:gd name="T7" fmla="*/ 65 h 145"/>
                        <a:gd name="T8" fmla="*/ 93 w 99"/>
                        <a:gd name="T9" fmla="*/ 70 h 145"/>
                        <a:gd name="T10" fmla="*/ 93 w 99"/>
                        <a:gd name="T11" fmla="*/ 86 h 145"/>
                        <a:gd name="T12" fmla="*/ 93 w 99"/>
                        <a:gd name="T13" fmla="*/ 97 h 145"/>
                        <a:gd name="T14" fmla="*/ 93 w 99"/>
                        <a:gd name="T15" fmla="*/ 108 h 145"/>
                        <a:gd name="T16" fmla="*/ 87 w 99"/>
                        <a:gd name="T17" fmla="*/ 118 h 145"/>
                        <a:gd name="T18" fmla="*/ 81 w 99"/>
                        <a:gd name="T19" fmla="*/ 124 h 145"/>
                        <a:gd name="T20" fmla="*/ 81 w 99"/>
                        <a:gd name="T21" fmla="*/ 129 h 145"/>
                        <a:gd name="T22" fmla="*/ 64 w 99"/>
                        <a:gd name="T23" fmla="*/ 145 h 145"/>
                        <a:gd name="T24" fmla="*/ 12 w 99"/>
                        <a:gd name="T25" fmla="*/ 124 h 145"/>
                        <a:gd name="T26" fmla="*/ 12 w 99"/>
                        <a:gd name="T27" fmla="*/ 91 h 145"/>
                        <a:gd name="T28" fmla="*/ 12 w 99"/>
                        <a:gd name="T29" fmla="*/ 86 h 145"/>
                        <a:gd name="T30" fmla="*/ 6 w 99"/>
                        <a:gd name="T31" fmla="*/ 81 h 145"/>
                        <a:gd name="T32" fmla="*/ 0 w 99"/>
                        <a:gd name="T33" fmla="*/ 70 h 145"/>
                        <a:gd name="T34" fmla="*/ 0 w 99"/>
                        <a:gd name="T35" fmla="*/ 54 h 145"/>
                        <a:gd name="T36" fmla="*/ 6 w 99"/>
                        <a:gd name="T37" fmla="*/ 48 h 145"/>
                        <a:gd name="T38" fmla="*/ 6 w 99"/>
                        <a:gd name="T39" fmla="*/ 43 h 145"/>
                        <a:gd name="T40" fmla="*/ 6 w 99"/>
                        <a:gd name="T41" fmla="*/ 32 h 145"/>
                        <a:gd name="T42" fmla="*/ 6 w 99"/>
                        <a:gd name="T43" fmla="*/ 27 h 145"/>
                        <a:gd name="T44" fmla="*/ 12 w 99"/>
                        <a:gd name="T45" fmla="*/ 16 h 145"/>
                        <a:gd name="T46" fmla="*/ 12 w 99"/>
                        <a:gd name="T47" fmla="*/ 11 h 145"/>
                        <a:gd name="T48" fmla="*/ 23 w 99"/>
                        <a:gd name="T49" fmla="*/ 0 h 145"/>
                        <a:gd name="T50" fmla="*/ 35 w 99"/>
                        <a:gd name="T51" fmla="*/ 0 h 145"/>
                        <a:gd name="T52" fmla="*/ 46 w 99"/>
                        <a:gd name="T53" fmla="*/ 0 h 145"/>
                        <a:gd name="T54" fmla="*/ 58 w 99"/>
                        <a:gd name="T55" fmla="*/ 0 h 145"/>
                        <a:gd name="T56" fmla="*/ 64 w 99"/>
                        <a:gd name="T57" fmla="*/ 0 h 145"/>
                        <a:gd name="T58" fmla="*/ 75 w 99"/>
                        <a:gd name="T59" fmla="*/ 0 h 145"/>
                        <a:gd name="T60" fmla="*/ 87 w 99"/>
                        <a:gd name="T61" fmla="*/ 5 h 145"/>
                        <a:gd name="T62" fmla="*/ 87 w 99"/>
                        <a:gd name="T63" fmla="*/ 11 h 145"/>
                        <a:gd name="T64" fmla="*/ 93 w 99"/>
                        <a:gd name="T65" fmla="*/ 16 h 145"/>
                        <a:gd name="T66" fmla="*/ 93 w 99"/>
                        <a:gd name="T67" fmla="*/ 22 h 145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w 99"/>
                        <a:gd name="T103" fmla="*/ 0 h 145"/>
                        <a:gd name="T104" fmla="*/ 99 w 99"/>
                        <a:gd name="T105" fmla="*/ 145 h 145"/>
                      </a:gdLst>
                      <a:ahLst/>
                      <a:cxnLst>
                        <a:cxn ang="T68">
                          <a:pos x="T0" y="T1"/>
                        </a:cxn>
                        <a:cxn ang="T69">
                          <a:pos x="T2" y="T3"/>
                        </a:cxn>
                        <a:cxn ang="T70">
                          <a:pos x="T4" y="T5"/>
                        </a:cxn>
                        <a:cxn ang="T71">
                          <a:pos x="T6" y="T7"/>
                        </a:cxn>
                        <a:cxn ang="T72">
                          <a:pos x="T8" y="T9"/>
                        </a:cxn>
                        <a:cxn ang="T73">
                          <a:pos x="T10" y="T11"/>
                        </a:cxn>
                        <a:cxn ang="T74">
                          <a:pos x="T12" y="T13"/>
                        </a:cxn>
                        <a:cxn ang="T75">
                          <a:pos x="T14" y="T15"/>
                        </a:cxn>
                        <a:cxn ang="T76">
                          <a:pos x="T16" y="T17"/>
                        </a:cxn>
                        <a:cxn ang="T77">
                          <a:pos x="T18" y="T19"/>
                        </a:cxn>
                        <a:cxn ang="T78">
                          <a:pos x="T20" y="T21"/>
                        </a:cxn>
                        <a:cxn ang="T79">
                          <a:pos x="T22" y="T23"/>
                        </a:cxn>
                        <a:cxn ang="T80">
                          <a:pos x="T24" y="T25"/>
                        </a:cxn>
                        <a:cxn ang="T81">
                          <a:pos x="T26" y="T27"/>
                        </a:cxn>
                        <a:cxn ang="T82">
                          <a:pos x="T28" y="T29"/>
                        </a:cxn>
                        <a:cxn ang="T83">
                          <a:pos x="T30" y="T31"/>
                        </a:cxn>
                        <a:cxn ang="T84">
                          <a:pos x="T32" y="T33"/>
                        </a:cxn>
                        <a:cxn ang="T85">
                          <a:pos x="T34" y="T35"/>
                        </a:cxn>
                        <a:cxn ang="T86">
                          <a:pos x="T36" y="T37"/>
                        </a:cxn>
                        <a:cxn ang="T87">
                          <a:pos x="T38" y="T39"/>
                        </a:cxn>
                        <a:cxn ang="T88">
                          <a:pos x="T40" y="T41"/>
                        </a:cxn>
                        <a:cxn ang="T89">
                          <a:pos x="T42" y="T43"/>
                        </a:cxn>
                        <a:cxn ang="T90">
                          <a:pos x="T44" y="T45"/>
                        </a:cxn>
                        <a:cxn ang="T91">
                          <a:pos x="T46" y="T47"/>
                        </a:cxn>
                        <a:cxn ang="T92">
                          <a:pos x="T48" y="T49"/>
                        </a:cxn>
                        <a:cxn ang="T93">
                          <a:pos x="T50" y="T51"/>
                        </a:cxn>
                        <a:cxn ang="T94">
                          <a:pos x="T52" y="T53"/>
                        </a:cxn>
                        <a:cxn ang="T95">
                          <a:pos x="T54" y="T55"/>
                        </a:cxn>
                        <a:cxn ang="T96">
                          <a:pos x="T56" y="T57"/>
                        </a:cxn>
                        <a:cxn ang="T97">
                          <a:pos x="T58" y="T59"/>
                        </a:cxn>
                        <a:cxn ang="T98">
                          <a:pos x="T60" y="T61"/>
                        </a:cxn>
                        <a:cxn ang="T99">
                          <a:pos x="T62" y="T63"/>
                        </a:cxn>
                        <a:cxn ang="T100">
                          <a:pos x="T64" y="T65"/>
                        </a:cxn>
                        <a:cxn ang="T101">
                          <a:pos x="T66" y="T67"/>
                        </a:cxn>
                      </a:cxnLst>
                      <a:rect l="T102" t="T103" r="T104" b="T105"/>
                      <a:pathLst>
                        <a:path w="99" h="145">
                          <a:moveTo>
                            <a:pt x="93" y="22"/>
                          </a:moveTo>
                          <a:lnTo>
                            <a:pt x="99" y="48"/>
                          </a:lnTo>
                          <a:lnTo>
                            <a:pt x="93" y="54"/>
                          </a:lnTo>
                          <a:lnTo>
                            <a:pt x="99" y="65"/>
                          </a:lnTo>
                          <a:lnTo>
                            <a:pt x="93" y="70"/>
                          </a:lnTo>
                          <a:lnTo>
                            <a:pt x="93" y="86"/>
                          </a:lnTo>
                          <a:lnTo>
                            <a:pt x="93" y="97"/>
                          </a:lnTo>
                          <a:lnTo>
                            <a:pt x="93" y="108"/>
                          </a:lnTo>
                          <a:lnTo>
                            <a:pt x="87" y="118"/>
                          </a:lnTo>
                          <a:lnTo>
                            <a:pt x="81" y="124"/>
                          </a:lnTo>
                          <a:lnTo>
                            <a:pt x="81" y="129"/>
                          </a:lnTo>
                          <a:lnTo>
                            <a:pt x="64" y="145"/>
                          </a:lnTo>
                          <a:lnTo>
                            <a:pt x="12" y="124"/>
                          </a:lnTo>
                          <a:lnTo>
                            <a:pt x="12" y="91"/>
                          </a:lnTo>
                          <a:lnTo>
                            <a:pt x="12" y="86"/>
                          </a:lnTo>
                          <a:lnTo>
                            <a:pt x="6" y="81"/>
                          </a:lnTo>
                          <a:lnTo>
                            <a:pt x="0" y="70"/>
                          </a:lnTo>
                          <a:lnTo>
                            <a:pt x="0" y="54"/>
                          </a:lnTo>
                          <a:lnTo>
                            <a:pt x="6" y="48"/>
                          </a:lnTo>
                          <a:lnTo>
                            <a:pt x="6" y="43"/>
                          </a:lnTo>
                          <a:lnTo>
                            <a:pt x="6" y="32"/>
                          </a:lnTo>
                          <a:lnTo>
                            <a:pt x="6" y="27"/>
                          </a:lnTo>
                          <a:lnTo>
                            <a:pt x="12" y="16"/>
                          </a:lnTo>
                          <a:lnTo>
                            <a:pt x="12" y="11"/>
                          </a:lnTo>
                          <a:lnTo>
                            <a:pt x="23" y="0"/>
                          </a:lnTo>
                          <a:lnTo>
                            <a:pt x="35" y="0"/>
                          </a:lnTo>
                          <a:lnTo>
                            <a:pt x="46" y="0"/>
                          </a:lnTo>
                          <a:lnTo>
                            <a:pt x="58" y="0"/>
                          </a:lnTo>
                          <a:lnTo>
                            <a:pt x="64" y="0"/>
                          </a:lnTo>
                          <a:lnTo>
                            <a:pt x="75" y="0"/>
                          </a:lnTo>
                          <a:lnTo>
                            <a:pt x="87" y="5"/>
                          </a:lnTo>
                          <a:lnTo>
                            <a:pt x="87" y="11"/>
                          </a:lnTo>
                          <a:lnTo>
                            <a:pt x="93" y="16"/>
                          </a:lnTo>
                          <a:lnTo>
                            <a:pt x="93" y="22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4" name="Group 4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14" y="1331"/>
                      <a:ext cx="81" cy="70"/>
                      <a:chOff x="2914" y="1331"/>
                      <a:chExt cx="81" cy="70"/>
                    </a:xfrm>
                  </p:grpSpPr>
                  <p:sp>
                    <p:nvSpPr>
                      <p:cNvPr id="25" name="Freeform 5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43" y="1331"/>
                        <a:ext cx="34" cy="11"/>
                      </a:xfrm>
                      <a:custGeom>
                        <a:avLst/>
                        <a:gdLst>
                          <a:gd name="T0" fmla="*/ 0 w 34"/>
                          <a:gd name="T1" fmla="*/ 0 h 11"/>
                          <a:gd name="T2" fmla="*/ 17 w 34"/>
                          <a:gd name="T3" fmla="*/ 0 h 11"/>
                          <a:gd name="T4" fmla="*/ 23 w 34"/>
                          <a:gd name="T5" fmla="*/ 0 h 11"/>
                          <a:gd name="T6" fmla="*/ 29 w 34"/>
                          <a:gd name="T7" fmla="*/ 6 h 11"/>
                          <a:gd name="T8" fmla="*/ 34 w 34"/>
                          <a:gd name="T9" fmla="*/ 6 h 11"/>
                          <a:gd name="T10" fmla="*/ 29 w 34"/>
                          <a:gd name="T11" fmla="*/ 6 h 11"/>
                          <a:gd name="T12" fmla="*/ 29 w 34"/>
                          <a:gd name="T13" fmla="*/ 11 h 11"/>
                          <a:gd name="T14" fmla="*/ 29 w 34"/>
                          <a:gd name="T15" fmla="*/ 11 h 11"/>
                          <a:gd name="T16" fmla="*/ 17 w 34"/>
                          <a:gd name="T17" fmla="*/ 11 h 11"/>
                          <a:gd name="T18" fmla="*/ 5 w 34"/>
                          <a:gd name="T19" fmla="*/ 11 h 11"/>
                          <a:gd name="T20" fmla="*/ 11 w 34"/>
                          <a:gd name="T21" fmla="*/ 11 h 11"/>
                          <a:gd name="T22" fmla="*/ 5 w 34"/>
                          <a:gd name="T23" fmla="*/ 6 h 11"/>
                          <a:gd name="T24" fmla="*/ 0 w 34"/>
                          <a:gd name="T25" fmla="*/ 0 h 11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  <a:gd name="T30" fmla="*/ 0 60000 65536"/>
                          <a:gd name="T31" fmla="*/ 0 60000 65536"/>
                          <a:gd name="T32" fmla="*/ 0 60000 65536"/>
                          <a:gd name="T33" fmla="*/ 0 60000 65536"/>
                          <a:gd name="T34" fmla="*/ 0 60000 65536"/>
                          <a:gd name="T35" fmla="*/ 0 60000 65536"/>
                          <a:gd name="T36" fmla="*/ 0 60000 65536"/>
                          <a:gd name="T37" fmla="*/ 0 60000 65536"/>
                          <a:gd name="T38" fmla="*/ 0 60000 65536"/>
                          <a:gd name="T39" fmla="*/ 0 w 34"/>
                          <a:gd name="T40" fmla="*/ 0 h 11"/>
                          <a:gd name="T41" fmla="*/ 34 w 34"/>
                          <a:gd name="T42" fmla="*/ 11 h 11"/>
                        </a:gdLst>
                        <a:ahLst/>
                        <a:cxnLst>
                          <a:cxn ang="T26">
                            <a:pos x="T0" y="T1"/>
                          </a:cxn>
                          <a:cxn ang="T27">
                            <a:pos x="T2" y="T3"/>
                          </a:cxn>
                          <a:cxn ang="T28">
                            <a:pos x="T4" y="T5"/>
                          </a:cxn>
                          <a:cxn ang="T29">
                            <a:pos x="T6" y="T7"/>
                          </a:cxn>
                          <a:cxn ang="T30">
                            <a:pos x="T8" y="T9"/>
                          </a:cxn>
                          <a:cxn ang="T31">
                            <a:pos x="T10" y="T11"/>
                          </a:cxn>
                          <a:cxn ang="T32">
                            <a:pos x="T12" y="T13"/>
                          </a:cxn>
                          <a:cxn ang="T33">
                            <a:pos x="T14" y="T15"/>
                          </a:cxn>
                          <a:cxn ang="T34">
                            <a:pos x="T16" y="T17"/>
                          </a:cxn>
                          <a:cxn ang="T35">
                            <a:pos x="T18" y="T19"/>
                          </a:cxn>
                          <a:cxn ang="T36">
                            <a:pos x="T20" y="T21"/>
                          </a:cxn>
                          <a:cxn ang="T37">
                            <a:pos x="T22" y="T23"/>
                          </a:cxn>
                          <a:cxn ang="T38">
                            <a:pos x="T24" y="T25"/>
                          </a:cxn>
                        </a:cxnLst>
                        <a:rect l="T39" t="T40" r="T41" b="T42"/>
                        <a:pathLst>
                          <a:path w="34" h="11">
                            <a:moveTo>
                              <a:pt x="0" y="0"/>
                            </a:moveTo>
                            <a:lnTo>
                              <a:pt x="17" y="0"/>
                            </a:lnTo>
                            <a:lnTo>
                              <a:pt x="23" y="0"/>
                            </a:lnTo>
                            <a:lnTo>
                              <a:pt x="29" y="6"/>
                            </a:lnTo>
                            <a:lnTo>
                              <a:pt x="34" y="6"/>
                            </a:lnTo>
                            <a:lnTo>
                              <a:pt x="29" y="6"/>
                            </a:lnTo>
                            <a:lnTo>
                              <a:pt x="29" y="11"/>
                            </a:lnTo>
                            <a:lnTo>
                              <a:pt x="17" y="11"/>
                            </a:lnTo>
                            <a:lnTo>
                              <a:pt x="5" y="11"/>
                            </a:lnTo>
                            <a:lnTo>
                              <a:pt x="11" y="11"/>
                            </a:lnTo>
                            <a:lnTo>
                              <a:pt x="5" y="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6" name="Freeform 5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83" y="1364"/>
                        <a:ext cx="12" cy="10"/>
                      </a:xfrm>
                      <a:custGeom>
                        <a:avLst/>
                        <a:gdLst>
                          <a:gd name="T0" fmla="*/ 0 w 12"/>
                          <a:gd name="T1" fmla="*/ 0 h 10"/>
                          <a:gd name="T2" fmla="*/ 12 w 12"/>
                          <a:gd name="T3" fmla="*/ 0 h 10"/>
                          <a:gd name="T4" fmla="*/ 12 w 12"/>
                          <a:gd name="T5" fmla="*/ 10 h 10"/>
                          <a:gd name="T6" fmla="*/ 0 w 12"/>
                          <a:gd name="T7" fmla="*/ 0 h 10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  <a:gd name="T12" fmla="*/ 0 w 12"/>
                          <a:gd name="T13" fmla="*/ 0 h 10"/>
                          <a:gd name="T14" fmla="*/ 12 w 12"/>
                          <a:gd name="T15" fmla="*/ 10 h 10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T12" t="T13" r="T14" b="T15"/>
                        <a:pathLst>
                          <a:path w="12" h="10">
                            <a:moveTo>
                              <a:pt x="0" y="0"/>
                            </a:moveTo>
                            <a:lnTo>
                              <a:pt x="12" y="0"/>
                            </a:lnTo>
                            <a:lnTo>
                              <a:pt x="12" y="1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" name="Freeform 5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14" y="1364"/>
                        <a:ext cx="52" cy="37"/>
                      </a:xfrm>
                      <a:custGeom>
                        <a:avLst/>
                        <a:gdLst>
                          <a:gd name="T0" fmla="*/ 0 w 52"/>
                          <a:gd name="T1" fmla="*/ 5 h 37"/>
                          <a:gd name="T2" fmla="*/ 5 w 52"/>
                          <a:gd name="T3" fmla="*/ 5 h 37"/>
                          <a:gd name="T4" fmla="*/ 23 w 52"/>
                          <a:gd name="T5" fmla="*/ 27 h 37"/>
                          <a:gd name="T6" fmla="*/ 52 w 52"/>
                          <a:gd name="T7" fmla="*/ 37 h 37"/>
                          <a:gd name="T8" fmla="*/ 17 w 52"/>
                          <a:gd name="T9" fmla="*/ 32 h 37"/>
                          <a:gd name="T10" fmla="*/ 5 w 52"/>
                          <a:gd name="T11" fmla="*/ 21 h 37"/>
                          <a:gd name="T12" fmla="*/ 0 w 52"/>
                          <a:gd name="T13" fmla="*/ 21 h 37"/>
                          <a:gd name="T14" fmla="*/ 0 w 52"/>
                          <a:gd name="T15" fmla="*/ 0 h 37"/>
                          <a:gd name="T16" fmla="*/ 0 w 52"/>
                          <a:gd name="T17" fmla="*/ 5 h 37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w 52"/>
                          <a:gd name="T28" fmla="*/ 0 h 37"/>
                          <a:gd name="T29" fmla="*/ 52 w 52"/>
                          <a:gd name="T30" fmla="*/ 37 h 37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T27" t="T28" r="T29" b="T30"/>
                        <a:pathLst>
                          <a:path w="52" h="37">
                            <a:moveTo>
                              <a:pt x="0" y="5"/>
                            </a:moveTo>
                            <a:lnTo>
                              <a:pt x="5" y="5"/>
                            </a:lnTo>
                            <a:lnTo>
                              <a:pt x="23" y="27"/>
                            </a:lnTo>
                            <a:lnTo>
                              <a:pt x="52" y="37"/>
                            </a:lnTo>
                            <a:lnTo>
                              <a:pt x="17" y="32"/>
                            </a:lnTo>
                            <a:lnTo>
                              <a:pt x="5" y="21"/>
                            </a:lnTo>
                            <a:lnTo>
                              <a:pt x="0" y="21"/>
                            </a:lnTo>
                            <a:lnTo>
                              <a:pt x="0" y="0"/>
                            </a:lnTo>
                            <a:lnTo>
                              <a:pt x="0" y="5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22" name="Freeform 53"/>
                  <p:cNvSpPr>
                    <a:spLocks/>
                  </p:cNvSpPr>
                  <p:nvPr/>
                </p:nvSpPr>
                <p:spPr bwMode="auto">
                  <a:xfrm>
                    <a:off x="2896" y="1278"/>
                    <a:ext cx="110" cy="96"/>
                  </a:xfrm>
                  <a:custGeom>
                    <a:avLst/>
                    <a:gdLst>
                      <a:gd name="T0" fmla="*/ 18 w 110"/>
                      <a:gd name="T1" fmla="*/ 96 h 96"/>
                      <a:gd name="T2" fmla="*/ 12 w 110"/>
                      <a:gd name="T3" fmla="*/ 86 h 96"/>
                      <a:gd name="T4" fmla="*/ 6 w 110"/>
                      <a:gd name="T5" fmla="*/ 70 h 96"/>
                      <a:gd name="T6" fmla="*/ 0 w 110"/>
                      <a:gd name="T7" fmla="*/ 53 h 96"/>
                      <a:gd name="T8" fmla="*/ 0 w 110"/>
                      <a:gd name="T9" fmla="*/ 32 h 96"/>
                      <a:gd name="T10" fmla="*/ 6 w 110"/>
                      <a:gd name="T11" fmla="*/ 16 h 96"/>
                      <a:gd name="T12" fmla="*/ 18 w 110"/>
                      <a:gd name="T13" fmla="*/ 10 h 96"/>
                      <a:gd name="T14" fmla="*/ 29 w 110"/>
                      <a:gd name="T15" fmla="*/ 5 h 96"/>
                      <a:gd name="T16" fmla="*/ 52 w 110"/>
                      <a:gd name="T17" fmla="*/ 0 h 96"/>
                      <a:gd name="T18" fmla="*/ 76 w 110"/>
                      <a:gd name="T19" fmla="*/ 5 h 96"/>
                      <a:gd name="T20" fmla="*/ 93 w 110"/>
                      <a:gd name="T21" fmla="*/ 10 h 96"/>
                      <a:gd name="T22" fmla="*/ 105 w 110"/>
                      <a:gd name="T23" fmla="*/ 10 h 96"/>
                      <a:gd name="T24" fmla="*/ 110 w 110"/>
                      <a:gd name="T25" fmla="*/ 10 h 96"/>
                      <a:gd name="T26" fmla="*/ 105 w 110"/>
                      <a:gd name="T27" fmla="*/ 16 h 96"/>
                      <a:gd name="T28" fmla="*/ 99 w 110"/>
                      <a:gd name="T29" fmla="*/ 27 h 96"/>
                      <a:gd name="T30" fmla="*/ 99 w 110"/>
                      <a:gd name="T31" fmla="*/ 32 h 96"/>
                      <a:gd name="T32" fmla="*/ 93 w 110"/>
                      <a:gd name="T33" fmla="*/ 27 h 96"/>
                      <a:gd name="T34" fmla="*/ 76 w 110"/>
                      <a:gd name="T35" fmla="*/ 21 h 96"/>
                      <a:gd name="T36" fmla="*/ 64 w 110"/>
                      <a:gd name="T37" fmla="*/ 21 h 96"/>
                      <a:gd name="T38" fmla="*/ 52 w 110"/>
                      <a:gd name="T39" fmla="*/ 21 h 96"/>
                      <a:gd name="T40" fmla="*/ 41 w 110"/>
                      <a:gd name="T41" fmla="*/ 21 h 96"/>
                      <a:gd name="T42" fmla="*/ 47 w 110"/>
                      <a:gd name="T43" fmla="*/ 27 h 96"/>
                      <a:gd name="T44" fmla="*/ 47 w 110"/>
                      <a:gd name="T45" fmla="*/ 32 h 96"/>
                      <a:gd name="T46" fmla="*/ 41 w 110"/>
                      <a:gd name="T47" fmla="*/ 37 h 96"/>
                      <a:gd name="T48" fmla="*/ 35 w 110"/>
                      <a:gd name="T49" fmla="*/ 48 h 96"/>
                      <a:gd name="T50" fmla="*/ 29 w 110"/>
                      <a:gd name="T51" fmla="*/ 59 h 96"/>
                      <a:gd name="T52" fmla="*/ 29 w 110"/>
                      <a:gd name="T53" fmla="*/ 70 h 96"/>
                      <a:gd name="T54" fmla="*/ 23 w 110"/>
                      <a:gd name="T55" fmla="*/ 64 h 96"/>
                      <a:gd name="T56" fmla="*/ 23 w 110"/>
                      <a:gd name="T57" fmla="*/ 59 h 96"/>
                      <a:gd name="T58" fmla="*/ 18 w 110"/>
                      <a:gd name="T59" fmla="*/ 53 h 96"/>
                      <a:gd name="T60" fmla="*/ 6 w 110"/>
                      <a:gd name="T61" fmla="*/ 59 h 96"/>
                      <a:gd name="T62" fmla="*/ 6 w 110"/>
                      <a:gd name="T63" fmla="*/ 59 h 96"/>
                      <a:gd name="T64" fmla="*/ 12 w 110"/>
                      <a:gd name="T65" fmla="*/ 80 h 96"/>
                      <a:gd name="T66" fmla="*/ 12 w 110"/>
                      <a:gd name="T67" fmla="*/ 86 h 96"/>
                      <a:gd name="T68" fmla="*/ 18 w 110"/>
                      <a:gd name="T69" fmla="*/ 96 h 9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w 110"/>
                      <a:gd name="T106" fmla="*/ 0 h 96"/>
                      <a:gd name="T107" fmla="*/ 110 w 110"/>
                      <a:gd name="T108" fmla="*/ 96 h 96"/>
                    </a:gdLst>
                    <a:ahLst/>
                    <a:cxnLst>
                      <a:cxn ang="T70">
                        <a:pos x="T0" y="T1"/>
                      </a:cxn>
                      <a:cxn ang="T71">
                        <a:pos x="T2" y="T3"/>
                      </a:cxn>
                      <a:cxn ang="T72">
                        <a:pos x="T4" y="T5"/>
                      </a:cxn>
                      <a:cxn ang="T73">
                        <a:pos x="T6" y="T7"/>
                      </a:cxn>
                      <a:cxn ang="T74">
                        <a:pos x="T8" y="T9"/>
                      </a:cxn>
                      <a:cxn ang="T75">
                        <a:pos x="T10" y="T11"/>
                      </a:cxn>
                      <a:cxn ang="T76">
                        <a:pos x="T12" y="T13"/>
                      </a:cxn>
                      <a:cxn ang="T77">
                        <a:pos x="T14" y="T15"/>
                      </a:cxn>
                      <a:cxn ang="T78">
                        <a:pos x="T16" y="T17"/>
                      </a:cxn>
                      <a:cxn ang="T79">
                        <a:pos x="T18" y="T19"/>
                      </a:cxn>
                      <a:cxn ang="T80">
                        <a:pos x="T20" y="T21"/>
                      </a:cxn>
                      <a:cxn ang="T81">
                        <a:pos x="T22" y="T23"/>
                      </a:cxn>
                      <a:cxn ang="T82">
                        <a:pos x="T24" y="T25"/>
                      </a:cxn>
                      <a:cxn ang="T83">
                        <a:pos x="T26" y="T27"/>
                      </a:cxn>
                      <a:cxn ang="T84">
                        <a:pos x="T28" y="T29"/>
                      </a:cxn>
                      <a:cxn ang="T85">
                        <a:pos x="T30" y="T31"/>
                      </a:cxn>
                      <a:cxn ang="T86">
                        <a:pos x="T32" y="T33"/>
                      </a:cxn>
                      <a:cxn ang="T87">
                        <a:pos x="T34" y="T35"/>
                      </a:cxn>
                      <a:cxn ang="T88">
                        <a:pos x="T36" y="T37"/>
                      </a:cxn>
                      <a:cxn ang="T89">
                        <a:pos x="T38" y="T39"/>
                      </a:cxn>
                      <a:cxn ang="T90">
                        <a:pos x="T40" y="T41"/>
                      </a:cxn>
                      <a:cxn ang="T91">
                        <a:pos x="T42" y="T43"/>
                      </a:cxn>
                      <a:cxn ang="T92">
                        <a:pos x="T44" y="T45"/>
                      </a:cxn>
                      <a:cxn ang="T93">
                        <a:pos x="T46" y="T47"/>
                      </a:cxn>
                      <a:cxn ang="T94">
                        <a:pos x="T48" y="T49"/>
                      </a:cxn>
                      <a:cxn ang="T95">
                        <a:pos x="T50" y="T51"/>
                      </a:cxn>
                      <a:cxn ang="T96">
                        <a:pos x="T52" y="T53"/>
                      </a:cxn>
                      <a:cxn ang="T97">
                        <a:pos x="T54" y="T55"/>
                      </a:cxn>
                      <a:cxn ang="T98">
                        <a:pos x="T56" y="T57"/>
                      </a:cxn>
                      <a:cxn ang="T99">
                        <a:pos x="T58" y="T59"/>
                      </a:cxn>
                      <a:cxn ang="T100">
                        <a:pos x="T60" y="T61"/>
                      </a:cxn>
                      <a:cxn ang="T101">
                        <a:pos x="T62" y="T63"/>
                      </a:cxn>
                      <a:cxn ang="T102">
                        <a:pos x="T64" y="T65"/>
                      </a:cxn>
                      <a:cxn ang="T103">
                        <a:pos x="T66" y="T67"/>
                      </a:cxn>
                      <a:cxn ang="T104">
                        <a:pos x="T68" y="T69"/>
                      </a:cxn>
                    </a:cxnLst>
                    <a:rect l="T105" t="T106" r="T107" b="T108"/>
                    <a:pathLst>
                      <a:path w="110" h="96">
                        <a:moveTo>
                          <a:pt x="18" y="96"/>
                        </a:moveTo>
                        <a:lnTo>
                          <a:pt x="12" y="86"/>
                        </a:lnTo>
                        <a:lnTo>
                          <a:pt x="6" y="70"/>
                        </a:lnTo>
                        <a:lnTo>
                          <a:pt x="0" y="53"/>
                        </a:lnTo>
                        <a:lnTo>
                          <a:pt x="0" y="32"/>
                        </a:lnTo>
                        <a:lnTo>
                          <a:pt x="6" y="16"/>
                        </a:lnTo>
                        <a:lnTo>
                          <a:pt x="18" y="10"/>
                        </a:lnTo>
                        <a:lnTo>
                          <a:pt x="29" y="5"/>
                        </a:lnTo>
                        <a:lnTo>
                          <a:pt x="52" y="0"/>
                        </a:lnTo>
                        <a:lnTo>
                          <a:pt x="76" y="5"/>
                        </a:lnTo>
                        <a:lnTo>
                          <a:pt x="93" y="10"/>
                        </a:lnTo>
                        <a:lnTo>
                          <a:pt x="105" y="10"/>
                        </a:lnTo>
                        <a:lnTo>
                          <a:pt x="110" y="10"/>
                        </a:lnTo>
                        <a:lnTo>
                          <a:pt x="105" y="16"/>
                        </a:lnTo>
                        <a:lnTo>
                          <a:pt x="99" y="27"/>
                        </a:lnTo>
                        <a:lnTo>
                          <a:pt x="99" y="32"/>
                        </a:lnTo>
                        <a:lnTo>
                          <a:pt x="93" y="27"/>
                        </a:lnTo>
                        <a:lnTo>
                          <a:pt x="76" y="21"/>
                        </a:lnTo>
                        <a:lnTo>
                          <a:pt x="64" y="21"/>
                        </a:lnTo>
                        <a:lnTo>
                          <a:pt x="52" y="21"/>
                        </a:lnTo>
                        <a:lnTo>
                          <a:pt x="41" y="21"/>
                        </a:lnTo>
                        <a:lnTo>
                          <a:pt x="47" y="27"/>
                        </a:lnTo>
                        <a:lnTo>
                          <a:pt x="47" y="32"/>
                        </a:lnTo>
                        <a:lnTo>
                          <a:pt x="41" y="37"/>
                        </a:lnTo>
                        <a:lnTo>
                          <a:pt x="35" y="48"/>
                        </a:lnTo>
                        <a:lnTo>
                          <a:pt x="29" y="59"/>
                        </a:lnTo>
                        <a:lnTo>
                          <a:pt x="29" y="70"/>
                        </a:lnTo>
                        <a:lnTo>
                          <a:pt x="23" y="64"/>
                        </a:lnTo>
                        <a:lnTo>
                          <a:pt x="23" y="59"/>
                        </a:lnTo>
                        <a:lnTo>
                          <a:pt x="18" y="53"/>
                        </a:lnTo>
                        <a:lnTo>
                          <a:pt x="6" y="59"/>
                        </a:lnTo>
                        <a:lnTo>
                          <a:pt x="12" y="80"/>
                        </a:lnTo>
                        <a:lnTo>
                          <a:pt x="12" y="86"/>
                        </a:lnTo>
                        <a:lnTo>
                          <a:pt x="18" y="96"/>
                        </a:lnTo>
                        <a:close/>
                      </a:path>
                    </a:pathLst>
                  </a:custGeom>
                  <a:solidFill>
                    <a:srgbClr val="BF7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0" name="Freeform 54"/>
                <p:cNvSpPr>
                  <a:spLocks/>
                </p:cNvSpPr>
                <p:nvPr/>
              </p:nvSpPr>
              <p:spPr bwMode="auto">
                <a:xfrm>
                  <a:off x="2989" y="1622"/>
                  <a:ext cx="93" cy="42"/>
                </a:xfrm>
                <a:custGeom>
                  <a:avLst/>
                  <a:gdLst>
                    <a:gd name="T0" fmla="*/ 93 w 93"/>
                    <a:gd name="T1" fmla="*/ 37 h 42"/>
                    <a:gd name="T2" fmla="*/ 69 w 93"/>
                    <a:gd name="T3" fmla="*/ 42 h 42"/>
                    <a:gd name="T4" fmla="*/ 40 w 93"/>
                    <a:gd name="T5" fmla="*/ 42 h 42"/>
                    <a:gd name="T6" fmla="*/ 17 w 93"/>
                    <a:gd name="T7" fmla="*/ 32 h 42"/>
                    <a:gd name="T8" fmla="*/ 0 w 93"/>
                    <a:gd name="T9" fmla="*/ 5 h 42"/>
                    <a:gd name="T10" fmla="*/ 40 w 93"/>
                    <a:gd name="T11" fmla="*/ 10 h 42"/>
                    <a:gd name="T12" fmla="*/ 40 w 93"/>
                    <a:gd name="T13" fmla="*/ 0 h 42"/>
                    <a:gd name="T14" fmla="*/ 58 w 93"/>
                    <a:gd name="T15" fmla="*/ 0 h 42"/>
                    <a:gd name="T16" fmla="*/ 81 w 93"/>
                    <a:gd name="T17" fmla="*/ 10 h 42"/>
                    <a:gd name="T18" fmla="*/ 87 w 93"/>
                    <a:gd name="T19" fmla="*/ 10 h 42"/>
                    <a:gd name="T20" fmla="*/ 93 w 93"/>
                    <a:gd name="T21" fmla="*/ 37 h 4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93"/>
                    <a:gd name="T34" fmla="*/ 0 h 42"/>
                    <a:gd name="T35" fmla="*/ 93 w 93"/>
                    <a:gd name="T36" fmla="*/ 42 h 4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93" h="42">
                      <a:moveTo>
                        <a:pt x="93" y="37"/>
                      </a:moveTo>
                      <a:lnTo>
                        <a:pt x="69" y="42"/>
                      </a:lnTo>
                      <a:lnTo>
                        <a:pt x="40" y="42"/>
                      </a:lnTo>
                      <a:lnTo>
                        <a:pt x="17" y="32"/>
                      </a:lnTo>
                      <a:lnTo>
                        <a:pt x="0" y="5"/>
                      </a:lnTo>
                      <a:lnTo>
                        <a:pt x="40" y="10"/>
                      </a:lnTo>
                      <a:lnTo>
                        <a:pt x="40" y="0"/>
                      </a:lnTo>
                      <a:lnTo>
                        <a:pt x="58" y="0"/>
                      </a:lnTo>
                      <a:lnTo>
                        <a:pt x="81" y="10"/>
                      </a:lnTo>
                      <a:lnTo>
                        <a:pt x="87" y="10"/>
                      </a:lnTo>
                      <a:lnTo>
                        <a:pt x="93" y="37"/>
                      </a:lnTo>
                      <a:close/>
                    </a:path>
                  </a:pathLst>
                </a:custGeom>
                <a:solidFill>
                  <a:srgbClr val="FF7F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pic>
          <p:nvPicPr>
            <p:cNvPr id="14" name="Picture 5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53" t="11359" r="2036" b="5432"/>
            <a:stretch>
              <a:fillRect/>
            </a:stretch>
          </p:blipFill>
          <p:spPr bwMode="auto">
            <a:xfrm>
              <a:off x="477838" y="3349625"/>
              <a:ext cx="1254125" cy="755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56" descr="bnsf locomotive"/>
            <p:cNvPicPr>
              <a:picLocks noChangeAspect="1" noChangeArrowheads="1"/>
            </p:cNvPicPr>
            <p:nvPr/>
          </p:nvPicPr>
          <p:blipFill>
            <a:blip r:embed="rId7">
              <a:lum bright="22000"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1" y="418147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57" descr="windmills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07" b="28030"/>
            <a:stretch>
              <a:fillRect/>
            </a:stretch>
          </p:blipFill>
          <p:spPr bwMode="auto">
            <a:xfrm>
              <a:off x="479426" y="5167313"/>
              <a:ext cx="1338263" cy="909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6684910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89370-FE50-0F88-A606-FA2DC0D2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Modeling: State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4BDE1-5592-A9C0-A62A-3A76C1532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9434" y="1543438"/>
            <a:ext cx="9503857" cy="4401600"/>
          </a:xfrm>
        </p:spPr>
        <p:txBody>
          <a:bodyPr/>
          <a:lstStyle/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r>
              <a:rPr lang="en-US" dirty="0"/>
              <a:t>State variables are of central importance to any sequential decision problem, and yet are widely misunderstood in the academic literature.</a:t>
            </a:r>
          </a:p>
          <a:p>
            <a:pPr marL="86360" indent="0">
              <a:buNone/>
            </a:pPr>
            <a:endParaRPr lang="en-US" dirty="0"/>
          </a:p>
          <a:p>
            <a:pPr marL="86360" indent="0">
              <a:buNone/>
            </a:pPr>
            <a:r>
              <a:rPr lang="en-US" dirty="0"/>
              <a:t>We defer a discussion of state variables to the module “</a:t>
            </a:r>
            <a:r>
              <a:rPr lang="en-US" i="1" dirty="0"/>
              <a:t>State variables” – </a:t>
            </a:r>
            <a:r>
              <a:rPr lang="en-US" dirty="0"/>
              <a:t>please watch this module next.</a:t>
            </a:r>
          </a:p>
        </p:txBody>
      </p:sp>
    </p:spTree>
    <p:extLst>
      <p:ext uri="{BB962C8B-B14F-4D97-AF65-F5344CB8AC3E}">
        <p14:creationId xmlns:p14="http://schemas.microsoft.com/office/powerpoint/2010/main" val="3788290909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749FDA2-CD62-51D9-2AA6-5994DF683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782B8-00E5-9C29-8379-50E1611E5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FF0F57E6-460C-66BD-5398-41AD481160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41181008-E83C-2EBD-AB37-745A0FCDDB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The universal modeling framework (detailed)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Textbook modeling styles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Modeling time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Decision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Exogenous information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Transition function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188491431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300" dirty="0">
                <a:latin typeface="Oswald" panose="00000500000000000000" pitchFamily="2" charset="0"/>
              </a:rPr>
              <a:t>Modeling: Decisions</a:t>
            </a:r>
          </a:p>
        </p:txBody>
      </p:sp>
      <p:sp>
        <p:nvSpPr>
          <p:cNvPr id="53350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>
                <a:latin typeface="Raleway" pitchFamily="2" charset="0"/>
              </a:rPr>
              <a:t>Decisions: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3515" name="Object 9"/>
              <p:cNvSpPr txBox="1"/>
              <p:nvPr/>
            </p:nvSpPr>
            <p:spPr bwMode="auto">
              <a:xfrm>
                <a:off x="4273550" y="1820863"/>
                <a:ext cx="6891274" cy="25320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800" i="0" smtClean="0">
                          <a:latin typeface="Raleway" pitchFamily="2" charset="0"/>
                        </a:rPr>
                        <m:t>Operations research</m:t>
                      </m:r>
                    </m:oMath>
                  </m:oMathPara>
                </a14:m>
                <a:br>
                  <a:rPr lang="en-US" sz="180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>
                        <a:latin typeface="Raleway" pitchFamily="2" charset="0"/>
                      </a:rPr>
                      <m:t>    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800" b="0" dirty="0">
                    <a:latin typeface="Raleway" pitchFamily="2" charset="0"/>
                  </a:rPr>
                  <a:t> Decision (any type)</a:t>
                </a:r>
              </a:p>
              <a:p>
                <a:endParaRPr lang="en-US" sz="1800" i="0" dirty="0">
                  <a:solidFill>
                    <a:srgbClr val="000000"/>
                  </a:solidFill>
                  <a:latin typeface="Raleway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Markov decision processes/Computer science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 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Discrete action</m:t>
                      </m:r>
                    </m:oMath>
                  </m:oMathPara>
                </a14:m>
                <a:br>
                  <a:rPr lang="en-US" sz="1800" i="0" dirty="0">
                    <a:solidFill>
                      <a:srgbClr val="000000"/>
                    </a:solidFill>
                    <a:latin typeface="Raleway" pitchFamily="2" charset="0"/>
                  </a:rPr>
                </a:br>
                <a:endParaRPr lang="en-US" sz="1800" i="0" dirty="0">
                  <a:solidFill>
                    <a:srgbClr val="000000"/>
                  </a:solidFill>
                  <a:latin typeface="Raleway" pitchFamily="2" charset="0"/>
                </a:endParaRPr>
              </a:p>
              <a:p>
                <a:endParaRPr lang="en-US" sz="1800" dirty="0">
                  <a:latin typeface="Raleway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Control theory</m:t>
                      </m:r>
                    </m:oMath>
                    <m:oMath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 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Low−dimensional continuous vector</m:t>
                      </m:r>
                    </m:oMath>
                  </m:oMathPara>
                </a14:m>
                <a:endParaRPr lang="en-US" sz="1800" i="0" dirty="0">
                  <a:solidFill>
                    <a:srgbClr val="000000"/>
                  </a:solidFill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53351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3550" y="1820863"/>
                <a:ext cx="6891274" cy="2532062"/>
              </a:xfrm>
              <a:prstGeom prst="rect">
                <a:avLst/>
              </a:prstGeom>
              <a:blipFill>
                <a:blip r:embed="rId3"/>
                <a:stretch>
                  <a:fillRect l="-2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33516" name="Object 10"/>
          <p:cNvGraphicFramePr>
            <a:graphicFrameLocks noChangeAspect="1"/>
          </p:cNvGraphicFramePr>
          <p:nvPr/>
        </p:nvGraphicFramePr>
        <p:xfrm>
          <a:off x="3333750" y="2017714"/>
          <a:ext cx="558800" cy="40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1371600" progId="Equation.DSMT4">
                  <p:embed/>
                </p:oleObj>
              </mc:Choice>
              <mc:Fallback>
                <p:oleObj name="Equation" r:id="rId4" imgW="190440" imgH="1371600" progId="Equation.DSMT4">
                  <p:embed/>
                  <p:pic>
                    <p:nvPicPr>
                      <p:cNvPr id="53351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2017714"/>
                        <a:ext cx="558800" cy="402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3517" name="Object 13"/>
              <p:cNvSpPr txBox="1"/>
              <p:nvPr/>
            </p:nvSpPr>
            <p:spPr bwMode="auto">
              <a:xfrm>
                <a:off x="4105275" y="4352925"/>
                <a:ext cx="7172325" cy="1730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r>
                  <a:rPr lang="en-US" sz="2000" i="0" dirty="0">
                    <a:solidFill>
                      <a:srgbClr val="000000"/>
                    </a:solidFill>
                    <a:latin typeface="Raleway" pitchFamily="2" charset="0"/>
                  </a:rPr>
                  <a:t>Constraints: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i="0" dirty="0">
                  <a:solidFill>
                    <a:srgbClr val="000000"/>
                  </a:solidFill>
                  <a:latin typeface="Raleway" pitchFamily="2" charset="0"/>
                </a:endParaRPr>
              </a:p>
              <a:p>
                <a:endParaRPr lang="en-US" sz="2000" i="0" dirty="0">
                  <a:solidFill>
                    <a:srgbClr val="000000"/>
                  </a:solidFill>
                  <a:latin typeface="Raleway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e do not specify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ℎ𝑜𝑤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to make a decision.  Instead, we define the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function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(the "policy") 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where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</m:t>
                      </m:r>
                    </m:oMath>
                  </m:oMathPara>
                </a14:m>
                <a:endParaRPr lang="en-US" sz="2000" i="0" dirty="0">
                  <a:solidFill>
                    <a:srgbClr val="000000"/>
                  </a:solidFill>
                  <a:latin typeface="Raleway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carries information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about the type of function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, and any tunable parameters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sup>
                      </m:sSup>
                    </m:oMath>
                  </m:oMathPara>
                </a14:m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53351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5275" y="4352925"/>
                <a:ext cx="7172325" cy="1730375"/>
              </a:xfrm>
              <a:prstGeom prst="rect">
                <a:avLst/>
              </a:prstGeom>
              <a:blipFill>
                <a:blip r:embed="rId6"/>
                <a:stretch>
                  <a:fillRect l="-850" t="-1761" b="-147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2001839" y="2206626"/>
            <a:ext cx="1339851" cy="3870325"/>
            <a:chOff x="477838" y="2206625"/>
            <a:chExt cx="1339851" cy="3870325"/>
          </a:xfrm>
        </p:grpSpPr>
        <p:grpSp>
          <p:nvGrpSpPr>
            <p:cNvPr id="14" name="Group 31"/>
            <p:cNvGrpSpPr>
              <a:grpSpLocks/>
            </p:cNvGrpSpPr>
            <p:nvPr/>
          </p:nvGrpSpPr>
          <p:grpSpPr bwMode="auto">
            <a:xfrm>
              <a:off x="1039813" y="2206625"/>
              <a:ext cx="288925" cy="895350"/>
              <a:chOff x="2803" y="1278"/>
              <a:chExt cx="342" cy="956"/>
            </a:xfrm>
          </p:grpSpPr>
          <p:grpSp>
            <p:nvGrpSpPr>
              <p:cNvPr id="18" name="Group 32"/>
              <p:cNvGrpSpPr>
                <a:grpSpLocks/>
              </p:cNvGrpSpPr>
              <p:nvPr/>
            </p:nvGrpSpPr>
            <p:grpSpPr bwMode="auto">
              <a:xfrm>
                <a:off x="2803" y="1401"/>
                <a:ext cx="342" cy="833"/>
                <a:chOff x="2803" y="1401"/>
                <a:chExt cx="342" cy="833"/>
              </a:xfrm>
            </p:grpSpPr>
            <p:grpSp>
              <p:nvGrpSpPr>
                <p:cNvPr id="29" name="Group 33"/>
                <p:cNvGrpSpPr>
                  <a:grpSpLocks/>
                </p:cNvGrpSpPr>
                <p:nvPr/>
              </p:nvGrpSpPr>
              <p:grpSpPr bwMode="auto">
                <a:xfrm>
                  <a:off x="2815" y="2143"/>
                  <a:ext cx="301" cy="91"/>
                  <a:chOff x="2815" y="2143"/>
                  <a:chExt cx="301" cy="91"/>
                </a:xfrm>
              </p:grpSpPr>
              <p:sp>
                <p:nvSpPr>
                  <p:cNvPr id="39" name="Freeform 34"/>
                  <p:cNvSpPr>
                    <a:spLocks/>
                  </p:cNvSpPr>
                  <p:nvPr/>
                </p:nvSpPr>
                <p:spPr bwMode="auto">
                  <a:xfrm>
                    <a:off x="2815" y="2164"/>
                    <a:ext cx="93" cy="70"/>
                  </a:xfrm>
                  <a:custGeom>
                    <a:avLst/>
                    <a:gdLst>
                      <a:gd name="T0" fmla="*/ 35 w 93"/>
                      <a:gd name="T1" fmla="*/ 11 h 70"/>
                      <a:gd name="T2" fmla="*/ 12 w 93"/>
                      <a:gd name="T3" fmla="*/ 32 h 70"/>
                      <a:gd name="T4" fmla="*/ 0 w 93"/>
                      <a:gd name="T5" fmla="*/ 48 h 70"/>
                      <a:gd name="T6" fmla="*/ 0 w 93"/>
                      <a:gd name="T7" fmla="*/ 65 h 70"/>
                      <a:gd name="T8" fmla="*/ 12 w 93"/>
                      <a:gd name="T9" fmla="*/ 70 h 70"/>
                      <a:gd name="T10" fmla="*/ 41 w 93"/>
                      <a:gd name="T11" fmla="*/ 65 h 70"/>
                      <a:gd name="T12" fmla="*/ 58 w 93"/>
                      <a:gd name="T13" fmla="*/ 59 h 70"/>
                      <a:gd name="T14" fmla="*/ 70 w 93"/>
                      <a:gd name="T15" fmla="*/ 43 h 70"/>
                      <a:gd name="T16" fmla="*/ 93 w 93"/>
                      <a:gd name="T17" fmla="*/ 32 h 70"/>
                      <a:gd name="T18" fmla="*/ 93 w 93"/>
                      <a:gd name="T19" fmla="*/ 16 h 70"/>
                      <a:gd name="T20" fmla="*/ 87 w 93"/>
                      <a:gd name="T21" fmla="*/ 0 h 70"/>
                      <a:gd name="T22" fmla="*/ 64 w 93"/>
                      <a:gd name="T23" fmla="*/ 11 h 70"/>
                      <a:gd name="T24" fmla="*/ 35 w 93"/>
                      <a:gd name="T25" fmla="*/ 11 h 70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93"/>
                      <a:gd name="T40" fmla="*/ 0 h 70"/>
                      <a:gd name="T41" fmla="*/ 93 w 93"/>
                      <a:gd name="T42" fmla="*/ 70 h 70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93" h="70">
                        <a:moveTo>
                          <a:pt x="35" y="11"/>
                        </a:moveTo>
                        <a:lnTo>
                          <a:pt x="12" y="32"/>
                        </a:lnTo>
                        <a:lnTo>
                          <a:pt x="0" y="48"/>
                        </a:lnTo>
                        <a:lnTo>
                          <a:pt x="0" y="65"/>
                        </a:lnTo>
                        <a:lnTo>
                          <a:pt x="12" y="70"/>
                        </a:lnTo>
                        <a:lnTo>
                          <a:pt x="41" y="65"/>
                        </a:lnTo>
                        <a:lnTo>
                          <a:pt x="58" y="59"/>
                        </a:lnTo>
                        <a:lnTo>
                          <a:pt x="70" y="43"/>
                        </a:lnTo>
                        <a:lnTo>
                          <a:pt x="93" y="32"/>
                        </a:lnTo>
                        <a:lnTo>
                          <a:pt x="93" y="16"/>
                        </a:lnTo>
                        <a:lnTo>
                          <a:pt x="87" y="0"/>
                        </a:lnTo>
                        <a:lnTo>
                          <a:pt x="64" y="11"/>
                        </a:lnTo>
                        <a:lnTo>
                          <a:pt x="35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" name="Freeform 35"/>
                  <p:cNvSpPr>
                    <a:spLocks/>
                  </p:cNvSpPr>
                  <p:nvPr/>
                </p:nvSpPr>
                <p:spPr bwMode="auto">
                  <a:xfrm>
                    <a:off x="3012" y="2143"/>
                    <a:ext cx="104" cy="75"/>
                  </a:xfrm>
                  <a:custGeom>
                    <a:avLst/>
                    <a:gdLst>
                      <a:gd name="T0" fmla="*/ 0 w 104"/>
                      <a:gd name="T1" fmla="*/ 5 h 75"/>
                      <a:gd name="T2" fmla="*/ 0 w 104"/>
                      <a:gd name="T3" fmla="*/ 32 h 75"/>
                      <a:gd name="T4" fmla="*/ 12 w 104"/>
                      <a:gd name="T5" fmla="*/ 43 h 75"/>
                      <a:gd name="T6" fmla="*/ 29 w 104"/>
                      <a:gd name="T7" fmla="*/ 48 h 75"/>
                      <a:gd name="T8" fmla="*/ 41 w 104"/>
                      <a:gd name="T9" fmla="*/ 53 h 75"/>
                      <a:gd name="T10" fmla="*/ 58 w 104"/>
                      <a:gd name="T11" fmla="*/ 64 h 75"/>
                      <a:gd name="T12" fmla="*/ 87 w 104"/>
                      <a:gd name="T13" fmla="*/ 75 h 75"/>
                      <a:gd name="T14" fmla="*/ 99 w 104"/>
                      <a:gd name="T15" fmla="*/ 69 h 75"/>
                      <a:gd name="T16" fmla="*/ 104 w 104"/>
                      <a:gd name="T17" fmla="*/ 64 h 75"/>
                      <a:gd name="T18" fmla="*/ 104 w 104"/>
                      <a:gd name="T19" fmla="*/ 59 h 75"/>
                      <a:gd name="T20" fmla="*/ 93 w 104"/>
                      <a:gd name="T21" fmla="*/ 43 h 75"/>
                      <a:gd name="T22" fmla="*/ 70 w 104"/>
                      <a:gd name="T23" fmla="*/ 26 h 75"/>
                      <a:gd name="T24" fmla="*/ 52 w 104"/>
                      <a:gd name="T25" fmla="*/ 10 h 75"/>
                      <a:gd name="T26" fmla="*/ 46 w 104"/>
                      <a:gd name="T27" fmla="*/ 0 h 75"/>
                      <a:gd name="T28" fmla="*/ 0 w 104"/>
                      <a:gd name="T29" fmla="*/ 5 h 7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04"/>
                      <a:gd name="T46" fmla="*/ 0 h 75"/>
                      <a:gd name="T47" fmla="*/ 104 w 104"/>
                      <a:gd name="T48" fmla="*/ 75 h 7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04" h="75">
                        <a:moveTo>
                          <a:pt x="0" y="5"/>
                        </a:moveTo>
                        <a:lnTo>
                          <a:pt x="0" y="32"/>
                        </a:lnTo>
                        <a:lnTo>
                          <a:pt x="12" y="43"/>
                        </a:lnTo>
                        <a:lnTo>
                          <a:pt x="29" y="48"/>
                        </a:lnTo>
                        <a:lnTo>
                          <a:pt x="41" y="53"/>
                        </a:lnTo>
                        <a:lnTo>
                          <a:pt x="58" y="64"/>
                        </a:lnTo>
                        <a:lnTo>
                          <a:pt x="87" y="75"/>
                        </a:lnTo>
                        <a:lnTo>
                          <a:pt x="99" y="69"/>
                        </a:lnTo>
                        <a:lnTo>
                          <a:pt x="104" y="64"/>
                        </a:lnTo>
                        <a:lnTo>
                          <a:pt x="104" y="59"/>
                        </a:lnTo>
                        <a:lnTo>
                          <a:pt x="93" y="43"/>
                        </a:lnTo>
                        <a:lnTo>
                          <a:pt x="70" y="26"/>
                        </a:lnTo>
                        <a:lnTo>
                          <a:pt x="52" y="10"/>
                        </a:lnTo>
                        <a:lnTo>
                          <a:pt x="46" y="0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0" name="Group 36"/>
                <p:cNvGrpSpPr>
                  <a:grpSpLocks/>
                </p:cNvGrpSpPr>
                <p:nvPr/>
              </p:nvGrpSpPr>
              <p:grpSpPr bwMode="auto">
                <a:xfrm>
                  <a:off x="2803" y="1401"/>
                  <a:ext cx="342" cy="785"/>
                  <a:chOff x="2803" y="1401"/>
                  <a:chExt cx="342" cy="785"/>
                </a:xfrm>
              </p:grpSpPr>
              <p:grpSp>
                <p:nvGrpSpPr>
                  <p:cNvPr id="31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2844" y="1401"/>
                    <a:ext cx="220" cy="253"/>
                    <a:chOff x="2844" y="1401"/>
                    <a:chExt cx="220" cy="253"/>
                  </a:xfrm>
                </p:grpSpPr>
                <p:sp>
                  <p:nvSpPr>
                    <p:cNvPr id="36" name="Freeform 38"/>
                    <p:cNvSpPr>
                      <a:spLocks/>
                    </p:cNvSpPr>
                    <p:nvPr/>
                  </p:nvSpPr>
                  <p:spPr bwMode="auto">
                    <a:xfrm>
                      <a:off x="2844" y="1417"/>
                      <a:ext cx="220" cy="237"/>
                    </a:xfrm>
                    <a:custGeom>
                      <a:avLst/>
                      <a:gdLst>
                        <a:gd name="T0" fmla="*/ 0 w 220"/>
                        <a:gd name="T1" fmla="*/ 43 h 237"/>
                        <a:gd name="T2" fmla="*/ 70 w 220"/>
                        <a:gd name="T3" fmla="*/ 0 h 237"/>
                        <a:gd name="T4" fmla="*/ 139 w 220"/>
                        <a:gd name="T5" fmla="*/ 102 h 237"/>
                        <a:gd name="T6" fmla="*/ 151 w 220"/>
                        <a:gd name="T7" fmla="*/ 6 h 237"/>
                        <a:gd name="T8" fmla="*/ 197 w 220"/>
                        <a:gd name="T9" fmla="*/ 17 h 237"/>
                        <a:gd name="T10" fmla="*/ 220 w 220"/>
                        <a:gd name="T11" fmla="*/ 54 h 237"/>
                        <a:gd name="T12" fmla="*/ 214 w 220"/>
                        <a:gd name="T13" fmla="*/ 237 h 237"/>
                        <a:gd name="T14" fmla="*/ 23 w 220"/>
                        <a:gd name="T15" fmla="*/ 237 h 237"/>
                        <a:gd name="T16" fmla="*/ 0 w 220"/>
                        <a:gd name="T17" fmla="*/ 43 h 237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20"/>
                        <a:gd name="T28" fmla="*/ 0 h 237"/>
                        <a:gd name="T29" fmla="*/ 220 w 220"/>
                        <a:gd name="T30" fmla="*/ 237 h 237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20" h="237">
                          <a:moveTo>
                            <a:pt x="0" y="43"/>
                          </a:moveTo>
                          <a:lnTo>
                            <a:pt x="70" y="0"/>
                          </a:lnTo>
                          <a:lnTo>
                            <a:pt x="139" y="102"/>
                          </a:lnTo>
                          <a:lnTo>
                            <a:pt x="151" y="6"/>
                          </a:lnTo>
                          <a:lnTo>
                            <a:pt x="197" y="17"/>
                          </a:lnTo>
                          <a:lnTo>
                            <a:pt x="220" y="54"/>
                          </a:lnTo>
                          <a:lnTo>
                            <a:pt x="214" y="237"/>
                          </a:lnTo>
                          <a:lnTo>
                            <a:pt x="23" y="237"/>
                          </a:lnTo>
                          <a:lnTo>
                            <a:pt x="0" y="43"/>
                          </a:lnTo>
                          <a:close/>
                        </a:path>
                      </a:pathLst>
                    </a:custGeom>
                    <a:solidFill>
                      <a:srgbClr val="7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" name="Freeform 39"/>
                    <p:cNvSpPr>
                      <a:spLocks/>
                    </p:cNvSpPr>
                    <p:nvPr/>
                  </p:nvSpPr>
                  <p:spPr bwMode="auto">
                    <a:xfrm>
                      <a:off x="2908" y="1401"/>
                      <a:ext cx="87" cy="140"/>
                    </a:xfrm>
                    <a:custGeom>
                      <a:avLst/>
                      <a:gdLst>
                        <a:gd name="T0" fmla="*/ 0 w 87"/>
                        <a:gd name="T1" fmla="*/ 16 h 140"/>
                        <a:gd name="T2" fmla="*/ 6 w 87"/>
                        <a:gd name="T3" fmla="*/ 0 h 140"/>
                        <a:gd name="T4" fmla="*/ 64 w 87"/>
                        <a:gd name="T5" fmla="*/ 27 h 140"/>
                        <a:gd name="T6" fmla="*/ 75 w 87"/>
                        <a:gd name="T7" fmla="*/ 11 h 140"/>
                        <a:gd name="T8" fmla="*/ 81 w 87"/>
                        <a:gd name="T9" fmla="*/ 16 h 140"/>
                        <a:gd name="T10" fmla="*/ 87 w 87"/>
                        <a:gd name="T11" fmla="*/ 97 h 140"/>
                        <a:gd name="T12" fmla="*/ 87 w 87"/>
                        <a:gd name="T13" fmla="*/ 140 h 140"/>
                        <a:gd name="T14" fmla="*/ 0 w 87"/>
                        <a:gd name="T15" fmla="*/ 16 h 140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87"/>
                        <a:gd name="T25" fmla="*/ 0 h 140"/>
                        <a:gd name="T26" fmla="*/ 87 w 87"/>
                        <a:gd name="T27" fmla="*/ 140 h 140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87" h="140">
                          <a:moveTo>
                            <a:pt x="0" y="16"/>
                          </a:moveTo>
                          <a:lnTo>
                            <a:pt x="6" y="0"/>
                          </a:lnTo>
                          <a:lnTo>
                            <a:pt x="64" y="27"/>
                          </a:lnTo>
                          <a:lnTo>
                            <a:pt x="75" y="11"/>
                          </a:lnTo>
                          <a:lnTo>
                            <a:pt x="81" y="16"/>
                          </a:lnTo>
                          <a:lnTo>
                            <a:pt x="87" y="97"/>
                          </a:lnTo>
                          <a:lnTo>
                            <a:pt x="87" y="140"/>
                          </a:lnTo>
                          <a:lnTo>
                            <a:pt x="0" y="16"/>
                          </a:lnTo>
                          <a:close/>
                        </a:path>
                      </a:pathLst>
                    </a:custGeom>
                    <a:solidFill>
                      <a:srgbClr val="FFD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" name="Freeform 40"/>
                    <p:cNvSpPr>
                      <a:spLocks/>
                    </p:cNvSpPr>
                    <p:nvPr/>
                  </p:nvSpPr>
                  <p:spPr bwMode="auto">
                    <a:xfrm>
                      <a:off x="2937" y="1428"/>
                      <a:ext cx="52" cy="27"/>
                    </a:xfrm>
                    <a:custGeom>
                      <a:avLst/>
                      <a:gdLst>
                        <a:gd name="T0" fmla="*/ 0 w 52"/>
                        <a:gd name="T1" fmla="*/ 27 h 27"/>
                        <a:gd name="T2" fmla="*/ 29 w 52"/>
                        <a:gd name="T3" fmla="*/ 0 h 27"/>
                        <a:gd name="T4" fmla="*/ 52 w 52"/>
                        <a:gd name="T5" fmla="*/ 22 h 27"/>
                        <a:gd name="T6" fmla="*/ 0 60000 65536"/>
                        <a:gd name="T7" fmla="*/ 0 60000 65536"/>
                        <a:gd name="T8" fmla="*/ 0 60000 65536"/>
                        <a:gd name="T9" fmla="*/ 0 w 52"/>
                        <a:gd name="T10" fmla="*/ 0 h 27"/>
                        <a:gd name="T11" fmla="*/ 52 w 52"/>
                        <a:gd name="T12" fmla="*/ 27 h 27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52" h="27">
                          <a:moveTo>
                            <a:pt x="0" y="27"/>
                          </a:moveTo>
                          <a:lnTo>
                            <a:pt x="29" y="0"/>
                          </a:lnTo>
                          <a:lnTo>
                            <a:pt x="52" y="22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2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2803" y="1412"/>
                    <a:ext cx="342" cy="774"/>
                    <a:chOff x="2803" y="1412"/>
                    <a:chExt cx="342" cy="774"/>
                  </a:xfrm>
                </p:grpSpPr>
                <p:sp>
                  <p:nvSpPr>
                    <p:cNvPr id="33" name="Freeform 42"/>
                    <p:cNvSpPr>
                      <a:spLocks/>
                    </p:cNvSpPr>
                    <p:nvPr/>
                  </p:nvSpPr>
                  <p:spPr bwMode="auto">
                    <a:xfrm>
                      <a:off x="2803" y="1412"/>
                      <a:ext cx="342" cy="774"/>
                    </a:xfrm>
                    <a:custGeom>
                      <a:avLst/>
                      <a:gdLst>
                        <a:gd name="T0" fmla="*/ 105 w 342"/>
                        <a:gd name="T1" fmla="*/ 0 h 774"/>
                        <a:gd name="T2" fmla="*/ 24 w 342"/>
                        <a:gd name="T3" fmla="*/ 59 h 774"/>
                        <a:gd name="T4" fmla="*/ 0 w 342"/>
                        <a:gd name="T5" fmla="*/ 242 h 774"/>
                        <a:gd name="T6" fmla="*/ 64 w 342"/>
                        <a:gd name="T7" fmla="*/ 360 h 774"/>
                        <a:gd name="T8" fmla="*/ 64 w 342"/>
                        <a:gd name="T9" fmla="*/ 381 h 774"/>
                        <a:gd name="T10" fmla="*/ 70 w 342"/>
                        <a:gd name="T11" fmla="*/ 414 h 774"/>
                        <a:gd name="T12" fmla="*/ 76 w 342"/>
                        <a:gd name="T13" fmla="*/ 430 h 774"/>
                        <a:gd name="T14" fmla="*/ 64 w 342"/>
                        <a:gd name="T15" fmla="*/ 559 h 774"/>
                        <a:gd name="T16" fmla="*/ 47 w 342"/>
                        <a:gd name="T17" fmla="*/ 768 h 774"/>
                        <a:gd name="T18" fmla="*/ 64 w 342"/>
                        <a:gd name="T19" fmla="*/ 774 h 774"/>
                        <a:gd name="T20" fmla="*/ 105 w 342"/>
                        <a:gd name="T21" fmla="*/ 763 h 774"/>
                        <a:gd name="T22" fmla="*/ 128 w 342"/>
                        <a:gd name="T23" fmla="*/ 618 h 774"/>
                        <a:gd name="T24" fmla="*/ 140 w 342"/>
                        <a:gd name="T25" fmla="*/ 569 h 774"/>
                        <a:gd name="T26" fmla="*/ 180 w 342"/>
                        <a:gd name="T27" fmla="*/ 430 h 774"/>
                        <a:gd name="T28" fmla="*/ 186 w 342"/>
                        <a:gd name="T29" fmla="*/ 575 h 774"/>
                        <a:gd name="T30" fmla="*/ 203 w 342"/>
                        <a:gd name="T31" fmla="*/ 747 h 774"/>
                        <a:gd name="T32" fmla="*/ 261 w 342"/>
                        <a:gd name="T33" fmla="*/ 752 h 774"/>
                        <a:gd name="T34" fmla="*/ 267 w 342"/>
                        <a:gd name="T35" fmla="*/ 564 h 774"/>
                        <a:gd name="T36" fmla="*/ 261 w 342"/>
                        <a:gd name="T37" fmla="*/ 376 h 774"/>
                        <a:gd name="T38" fmla="*/ 261 w 342"/>
                        <a:gd name="T39" fmla="*/ 285 h 774"/>
                        <a:gd name="T40" fmla="*/ 273 w 342"/>
                        <a:gd name="T41" fmla="*/ 252 h 774"/>
                        <a:gd name="T42" fmla="*/ 279 w 342"/>
                        <a:gd name="T43" fmla="*/ 258 h 774"/>
                        <a:gd name="T44" fmla="*/ 337 w 342"/>
                        <a:gd name="T45" fmla="*/ 226 h 774"/>
                        <a:gd name="T46" fmla="*/ 342 w 342"/>
                        <a:gd name="T47" fmla="*/ 167 h 774"/>
                        <a:gd name="T48" fmla="*/ 250 w 342"/>
                        <a:gd name="T49" fmla="*/ 22 h 774"/>
                        <a:gd name="T50" fmla="*/ 186 w 342"/>
                        <a:gd name="T51" fmla="*/ 0 h 774"/>
                        <a:gd name="T52" fmla="*/ 198 w 342"/>
                        <a:gd name="T53" fmla="*/ 97 h 774"/>
                        <a:gd name="T54" fmla="*/ 186 w 342"/>
                        <a:gd name="T55" fmla="*/ 193 h 774"/>
                        <a:gd name="T56" fmla="*/ 157 w 342"/>
                        <a:gd name="T57" fmla="*/ 102 h 774"/>
                        <a:gd name="T58" fmla="*/ 105 w 342"/>
                        <a:gd name="T59" fmla="*/ 0 h 77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42"/>
                        <a:gd name="T91" fmla="*/ 0 h 774"/>
                        <a:gd name="T92" fmla="*/ 342 w 342"/>
                        <a:gd name="T93" fmla="*/ 774 h 77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42" h="774">
                          <a:moveTo>
                            <a:pt x="105" y="0"/>
                          </a:moveTo>
                          <a:lnTo>
                            <a:pt x="24" y="59"/>
                          </a:lnTo>
                          <a:lnTo>
                            <a:pt x="0" y="242"/>
                          </a:lnTo>
                          <a:lnTo>
                            <a:pt x="64" y="360"/>
                          </a:lnTo>
                          <a:lnTo>
                            <a:pt x="64" y="381"/>
                          </a:lnTo>
                          <a:lnTo>
                            <a:pt x="70" y="414"/>
                          </a:lnTo>
                          <a:lnTo>
                            <a:pt x="76" y="430"/>
                          </a:lnTo>
                          <a:lnTo>
                            <a:pt x="64" y="559"/>
                          </a:lnTo>
                          <a:lnTo>
                            <a:pt x="47" y="768"/>
                          </a:lnTo>
                          <a:lnTo>
                            <a:pt x="64" y="774"/>
                          </a:lnTo>
                          <a:lnTo>
                            <a:pt x="105" y="763"/>
                          </a:lnTo>
                          <a:lnTo>
                            <a:pt x="128" y="618"/>
                          </a:lnTo>
                          <a:lnTo>
                            <a:pt x="140" y="569"/>
                          </a:lnTo>
                          <a:lnTo>
                            <a:pt x="180" y="430"/>
                          </a:lnTo>
                          <a:lnTo>
                            <a:pt x="186" y="575"/>
                          </a:lnTo>
                          <a:lnTo>
                            <a:pt x="203" y="747"/>
                          </a:lnTo>
                          <a:lnTo>
                            <a:pt x="261" y="752"/>
                          </a:lnTo>
                          <a:lnTo>
                            <a:pt x="267" y="564"/>
                          </a:lnTo>
                          <a:lnTo>
                            <a:pt x="261" y="376"/>
                          </a:lnTo>
                          <a:lnTo>
                            <a:pt x="261" y="285"/>
                          </a:lnTo>
                          <a:lnTo>
                            <a:pt x="273" y="252"/>
                          </a:lnTo>
                          <a:lnTo>
                            <a:pt x="279" y="258"/>
                          </a:lnTo>
                          <a:lnTo>
                            <a:pt x="337" y="226"/>
                          </a:lnTo>
                          <a:lnTo>
                            <a:pt x="342" y="167"/>
                          </a:lnTo>
                          <a:lnTo>
                            <a:pt x="250" y="22"/>
                          </a:lnTo>
                          <a:lnTo>
                            <a:pt x="186" y="0"/>
                          </a:lnTo>
                          <a:lnTo>
                            <a:pt x="198" y="97"/>
                          </a:lnTo>
                          <a:lnTo>
                            <a:pt x="186" y="193"/>
                          </a:lnTo>
                          <a:lnTo>
                            <a:pt x="157" y="102"/>
                          </a:lnTo>
                          <a:lnTo>
                            <a:pt x="105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" name="Freeform 43"/>
                    <p:cNvSpPr>
                      <a:spLocks/>
                    </p:cNvSpPr>
                    <p:nvPr/>
                  </p:nvSpPr>
                  <p:spPr bwMode="auto">
                    <a:xfrm>
                      <a:off x="2821" y="1498"/>
                      <a:ext cx="87" cy="199"/>
                    </a:xfrm>
                    <a:custGeom>
                      <a:avLst/>
                      <a:gdLst>
                        <a:gd name="T0" fmla="*/ 40 w 87"/>
                        <a:gd name="T1" fmla="*/ 0 h 199"/>
                        <a:gd name="T2" fmla="*/ 52 w 87"/>
                        <a:gd name="T3" fmla="*/ 48 h 199"/>
                        <a:gd name="T4" fmla="*/ 46 w 87"/>
                        <a:gd name="T5" fmla="*/ 118 h 199"/>
                        <a:gd name="T6" fmla="*/ 0 w 87"/>
                        <a:gd name="T7" fmla="*/ 129 h 199"/>
                        <a:gd name="T8" fmla="*/ 46 w 87"/>
                        <a:gd name="T9" fmla="*/ 134 h 199"/>
                        <a:gd name="T10" fmla="*/ 58 w 87"/>
                        <a:gd name="T11" fmla="*/ 177 h 199"/>
                        <a:gd name="T12" fmla="*/ 87 w 87"/>
                        <a:gd name="T13" fmla="*/ 199 h 199"/>
                        <a:gd name="T14" fmla="*/ 75 w 87"/>
                        <a:gd name="T15" fmla="*/ 161 h 199"/>
                        <a:gd name="T16" fmla="*/ 69 w 87"/>
                        <a:gd name="T17" fmla="*/ 145 h 199"/>
                        <a:gd name="T18" fmla="*/ 64 w 87"/>
                        <a:gd name="T19" fmla="*/ 97 h 199"/>
                        <a:gd name="T20" fmla="*/ 40 w 87"/>
                        <a:gd name="T21" fmla="*/ 0 h 199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w 87"/>
                        <a:gd name="T34" fmla="*/ 0 h 199"/>
                        <a:gd name="T35" fmla="*/ 87 w 87"/>
                        <a:gd name="T36" fmla="*/ 199 h 199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T33" t="T34" r="T35" b="T36"/>
                      <a:pathLst>
                        <a:path w="87" h="199">
                          <a:moveTo>
                            <a:pt x="40" y="0"/>
                          </a:moveTo>
                          <a:lnTo>
                            <a:pt x="52" y="48"/>
                          </a:lnTo>
                          <a:lnTo>
                            <a:pt x="46" y="118"/>
                          </a:lnTo>
                          <a:lnTo>
                            <a:pt x="0" y="129"/>
                          </a:lnTo>
                          <a:lnTo>
                            <a:pt x="46" y="134"/>
                          </a:lnTo>
                          <a:lnTo>
                            <a:pt x="58" y="177"/>
                          </a:lnTo>
                          <a:lnTo>
                            <a:pt x="87" y="199"/>
                          </a:lnTo>
                          <a:lnTo>
                            <a:pt x="75" y="161"/>
                          </a:lnTo>
                          <a:lnTo>
                            <a:pt x="69" y="145"/>
                          </a:lnTo>
                          <a:lnTo>
                            <a:pt x="64" y="97"/>
                          </a:lnTo>
                          <a:lnTo>
                            <a:pt x="40" y="0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" name="Freeform 44"/>
                    <p:cNvSpPr>
                      <a:spLocks/>
                    </p:cNvSpPr>
                    <p:nvPr/>
                  </p:nvSpPr>
                  <p:spPr bwMode="auto">
                    <a:xfrm>
                      <a:off x="2902" y="1509"/>
                      <a:ext cx="29" cy="27"/>
                    </a:xfrm>
                    <a:custGeom>
                      <a:avLst/>
                      <a:gdLst>
                        <a:gd name="T0" fmla="*/ 0 w 29"/>
                        <a:gd name="T1" fmla="*/ 27 h 27"/>
                        <a:gd name="T2" fmla="*/ 6 w 29"/>
                        <a:gd name="T3" fmla="*/ 0 h 27"/>
                        <a:gd name="T4" fmla="*/ 29 w 29"/>
                        <a:gd name="T5" fmla="*/ 21 h 27"/>
                        <a:gd name="T6" fmla="*/ 0 w 29"/>
                        <a:gd name="T7" fmla="*/ 27 h 2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"/>
                        <a:gd name="T13" fmla="*/ 0 h 27"/>
                        <a:gd name="T14" fmla="*/ 29 w 29"/>
                        <a:gd name="T15" fmla="*/ 27 h 2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" h="27">
                          <a:moveTo>
                            <a:pt x="0" y="27"/>
                          </a:moveTo>
                          <a:lnTo>
                            <a:pt x="6" y="0"/>
                          </a:lnTo>
                          <a:lnTo>
                            <a:pt x="29" y="21"/>
                          </a:lnTo>
                          <a:lnTo>
                            <a:pt x="0" y="27"/>
                          </a:lnTo>
                          <a:close/>
                        </a:path>
                      </a:pathLst>
                    </a:custGeom>
                    <a:solidFill>
                      <a:srgbClr val="FFD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19" name="Group 45"/>
              <p:cNvGrpSpPr>
                <a:grpSpLocks/>
              </p:cNvGrpSpPr>
              <p:nvPr/>
            </p:nvGrpSpPr>
            <p:grpSpPr bwMode="auto">
              <a:xfrm>
                <a:off x="2896" y="1278"/>
                <a:ext cx="186" cy="386"/>
                <a:chOff x="2896" y="1278"/>
                <a:chExt cx="186" cy="386"/>
              </a:xfrm>
            </p:grpSpPr>
            <p:grpSp>
              <p:nvGrpSpPr>
                <p:cNvPr id="20" name="Group 46"/>
                <p:cNvGrpSpPr>
                  <a:grpSpLocks/>
                </p:cNvGrpSpPr>
                <p:nvPr/>
              </p:nvGrpSpPr>
              <p:grpSpPr bwMode="auto">
                <a:xfrm>
                  <a:off x="2896" y="1278"/>
                  <a:ext cx="110" cy="150"/>
                  <a:chOff x="2896" y="1278"/>
                  <a:chExt cx="110" cy="150"/>
                </a:xfrm>
              </p:grpSpPr>
              <p:grpSp>
                <p:nvGrpSpPr>
                  <p:cNvPr id="22" name="Group 47"/>
                  <p:cNvGrpSpPr>
                    <a:grpSpLocks/>
                  </p:cNvGrpSpPr>
                  <p:nvPr/>
                </p:nvGrpSpPr>
                <p:grpSpPr bwMode="auto">
                  <a:xfrm>
                    <a:off x="2902" y="1283"/>
                    <a:ext cx="99" cy="145"/>
                    <a:chOff x="2902" y="1283"/>
                    <a:chExt cx="99" cy="145"/>
                  </a:xfrm>
                </p:grpSpPr>
                <p:sp>
                  <p:nvSpPr>
                    <p:cNvPr id="24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2902" y="1283"/>
                      <a:ext cx="99" cy="145"/>
                    </a:xfrm>
                    <a:custGeom>
                      <a:avLst/>
                      <a:gdLst>
                        <a:gd name="T0" fmla="*/ 93 w 99"/>
                        <a:gd name="T1" fmla="*/ 22 h 145"/>
                        <a:gd name="T2" fmla="*/ 99 w 99"/>
                        <a:gd name="T3" fmla="*/ 48 h 145"/>
                        <a:gd name="T4" fmla="*/ 93 w 99"/>
                        <a:gd name="T5" fmla="*/ 54 h 145"/>
                        <a:gd name="T6" fmla="*/ 99 w 99"/>
                        <a:gd name="T7" fmla="*/ 65 h 145"/>
                        <a:gd name="T8" fmla="*/ 93 w 99"/>
                        <a:gd name="T9" fmla="*/ 70 h 145"/>
                        <a:gd name="T10" fmla="*/ 93 w 99"/>
                        <a:gd name="T11" fmla="*/ 86 h 145"/>
                        <a:gd name="T12" fmla="*/ 93 w 99"/>
                        <a:gd name="T13" fmla="*/ 97 h 145"/>
                        <a:gd name="T14" fmla="*/ 93 w 99"/>
                        <a:gd name="T15" fmla="*/ 108 h 145"/>
                        <a:gd name="T16" fmla="*/ 87 w 99"/>
                        <a:gd name="T17" fmla="*/ 118 h 145"/>
                        <a:gd name="T18" fmla="*/ 81 w 99"/>
                        <a:gd name="T19" fmla="*/ 124 h 145"/>
                        <a:gd name="T20" fmla="*/ 81 w 99"/>
                        <a:gd name="T21" fmla="*/ 129 h 145"/>
                        <a:gd name="T22" fmla="*/ 64 w 99"/>
                        <a:gd name="T23" fmla="*/ 145 h 145"/>
                        <a:gd name="T24" fmla="*/ 12 w 99"/>
                        <a:gd name="T25" fmla="*/ 124 h 145"/>
                        <a:gd name="T26" fmla="*/ 12 w 99"/>
                        <a:gd name="T27" fmla="*/ 91 h 145"/>
                        <a:gd name="T28" fmla="*/ 12 w 99"/>
                        <a:gd name="T29" fmla="*/ 86 h 145"/>
                        <a:gd name="T30" fmla="*/ 6 w 99"/>
                        <a:gd name="T31" fmla="*/ 81 h 145"/>
                        <a:gd name="T32" fmla="*/ 0 w 99"/>
                        <a:gd name="T33" fmla="*/ 70 h 145"/>
                        <a:gd name="T34" fmla="*/ 0 w 99"/>
                        <a:gd name="T35" fmla="*/ 54 h 145"/>
                        <a:gd name="T36" fmla="*/ 6 w 99"/>
                        <a:gd name="T37" fmla="*/ 48 h 145"/>
                        <a:gd name="T38" fmla="*/ 6 w 99"/>
                        <a:gd name="T39" fmla="*/ 43 h 145"/>
                        <a:gd name="T40" fmla="*/ 6 w 99"/>
                        <a:gd name="T41" fmla="*/ 32 h 145"/>
                        <a:gd name="T42" fmla="*/ 6 w 99"/>
                        <a:gd name="T43" fmla="*/ 27 h 145"/>
                        <a:gd name="T44" fmla="*/ 12 w 99"/>
                        <a:gd name="T45" fmla="*/ 16 h 145"/>
                        <a:gd name="T46" fmla="*/ 12 w 99"/>
                        <a:gd name="T47" fmla="*/ 11 h 145"/>
                        <a:gd name="T48" fmla="*/ 23 w 99"/>
                        <a:gd name="T49" fmla="*/ 0 h 145"/>
                        <a:gd name="T50" fmla="*/ 35 w 99"/>
                        <a:gd name="T51" fmla="*/ 0 h 145"/>
                        <a:gd name="T52" fmla="*/ 46 w 99"/>
                        <a:gd name="T53" fmla="*/ 0 h 145"/>
                        <a:gd name="T54" fmla="*/ 58 w 99"/>
                        <a:gd name="T55" fmla="*/ 0 h 145"/>
                        <a:gd name="T56" fmla="*/ 64 w 99"/>
                        <a:gd name="T57" fmla="*/ 0 h 145"/>
                        <a:gd name="T58" fmla="*/ 75 w 99"/>
                        <a:gd name="T59" fmla="*/ 0 h 145"/>
                        <a:gd name="T60" fmla="*/ 87 w 99"/>
                        <a:gd name="T61" fmla="*/ 5 h 145"/>
                        <a:gd name="T62" fmla="*/ 87 w 99"/>
                        <a:gd name="T63" fmla="*/ 11 h 145"/>
                        <a:gd name="T64" fmla="*/ 93 w 99"/>
                        <a:gd name="T65" fmla="*/ 16 h 145"/>
                        <a:gd name="T66" fmla="*/ 93 w 99"/>
                        <a:gd name="T67" fmla="*/ 22 h 145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w 99"/>
                        <a:gd name="T103" fmla="*/ 0 h 145"/>
                        <a:gd name="T104" fmla="*/ 99 w 99"/>
                        <a:gd name="T105" fmla="*/ 145 h 145"/>
                      </a:gdLst>
                      <a:ahLst/>
                      <a:cxnLst>
                        <a:cxn ang="T68">
                          <a:pos x="T0" y="T1"/>
                        </a:cxn>
                        <a:cxn ang="T69">
                          <a:pos x="T2" y="T3"/>
                        </a:cxn>
                        <a:cxn ang="T70">
                          <a:pos x="T4" y="T5"/>
                        </a:cxn>
                        <a:cxn ang="T71">
                          <a:pos x="T6" y="T7"/>
                        </a:cxn>
                        <a:cxn ang="T72">
                          <a:pos x="T8" y="T9"/>
                        </a:cxn>
                        <a:cxn ang="T73">
                          <a:pos x="T10" y="T11"/>
                        </a:cxn>
                        <a:cxn ang="T74">
                          <a:pos x="T12" y="T13"/>
                        </a:cxn>
                        <a:cxn ang="T75">
                          <a:pos x="T14" y="T15"/>
                        </a:cxn>
                        <a:cxn ang="T76">
                          <a:pos x="T16" y="T17"/>
                        </a:cxn>
                        <a:cxn ang="T77">
                          <a:pos x="T18" y="T19"/>
                        </a:cxn>
                        <a:cxn ang="T78">
                          <a:pos x="T20" y="T21"/>
                        </a:cxn>
                        <a:cxn ang="T79">
                          <a:pos x="T22" y="T23"/>
                        </a:cxn>
                        <a:cxn ang="T80">
                          <a:pos x="T24" y="T25"/>
                        </a:cxn>
                        <a:cxn ang="T81">
                          <a:pos x="T26" y="T27"/>
                        </a:cxn>
                        <a:cxn ang="T82">
                          <a:pos x="T28" y="T29"/>
                        </a:cxn>
                        <a:cxn ang="T83">
                          <a:pos x="T30" y="T31"/>
                        </a:cxn>
                        <a:cxn ang="T84">
                          <a:pos x="T32" y="T33"/>
                        </a:cxn>
                        <a:cxn ang="T85">
                          <a:pos x="T34" y="T35"/>
                        </a:cxn>
                        <a:cxn ang="T86">
                          <a:pos x="T36" y="T37"/>
                        </a:cxn>
                        <a:cxn ang="T87">
                          <a:pos x="T38" y="T39"/>
                        </a:cxn>
                        <a:cxn ang="T88">
                          <a:pos x="T40" y="T41"/>
                        </a:cxn>
                        <a:cxn ang="T89">
                          <a:pos x="T42" y="T43"/>
                        </a:cxn>
                        <a:cxn ang="T90">
                          <a:pos x="T44" y="T45"/>
                        </a:cxn>
                        <a:cxn ang="T91">
                          <a:pos x="T46" y="T47"/>
                        </a:cxn>
                        <a:cxn ang="T92">
                          <a:pos x="T48" y="T49"/>
                        </a:cxn>
                        <a:cxn ang="T93">
                          <a:pos x="T50" y="T51"/>
                        </a:cxn>
                        <a:cxn ang="T94">
                          <a:pos x="T52" y="T53"/>
                        </a:cxn>
                        <a:cxn ang="T95">
                          <a:pos x="T54" y="T55"/>
                        </a:cxn>
                        <a:cxn ang="T96">
                          <a:pos x="T56" y="T57"/>
                        </a:cxn>
                        <a:cxn ang="T97">
                          <a:pos x="T58" y="T59"/>
                        </a:cxn>
                        <a:cxn ang="T98">
                          <a:pos x="T60" y="T61"/>
                        </a:cxn>
                        <a:cxn ang="T99">
                          <a:pos x="T62" y="T63"/>
                        </a:cxn>
                        <a:cxn ang="T100">
                          <a:pos x="T64" y="T65"/>
                        </a:cxn>
                        <a:cxn ang="T101">
                          <a:pos x="T66" y="T67"/>
                        </a:cxn>
                      </a:cxnLst>
                      <a:rect l="T102" t="T103" r="T104" b="T105"/>
                      <a:pathLst>
                        <a:path w="99" h="145">
                          <a:moveTo>
                            <a:pt x="93" y="22"/>
                          </a:moveTo>
                          <a:lnTo>
                            <a:pt x="99" y="48"/>
                          </a:lnTo>
                          <a:lnTo>
                            <a:pt x="93" y="54"/>
                          </a:lnTo>
                          <a:lnTo>
                            <a:pt x="99" y="65"/>
                          </a:lnTo>
                          <a:lnTo>
                            <a:pt x="93" y="70"/>
                          </a:lnTo>
                          <a:lnTo>
                            <a:pt x="93" y="86"/>
                          </a:lnTo>
                          <a:lnTo>
                            <a:pt x="93" y="97"/>
                          </a:lnTo>
                          <a:lnTo>
                            <a:pt x="93" y="108"/>
                          </a:lnTo>
                          <a:lnTo>
                            <a:pt x="87" y="118"/>
                          </a:lnTo>
                          <a:lnTo>
                            <a:pt x="81" y="124"/>
                          </a:lnTo>
                          <a:lnTo>
                            <a:pt x="81" y="129"/>
                          </a:lnTo>
                          <a:lnTo>
                            <a:pt x="64" y="145"/>
                          </a:lnTo>
                          <a:lnTo>
                            <a:pt x="12" y="124"/>
                          </a:lnTo>
                          <a:lnTo>
                            <a:pt x="12" y="91"/>
                          </a:lnTo>
                          <a:lnTo>
                            <a:pt x="12" y="86"/>
                          </a:lnTo>
                          <a:lnTo>
                            <a:pt x="6" y="81"/>
                          </a:lnTo>
                          <a:lnTo>
                            <a:pt x="0" y="70"/>
                          </a:lnTo>
                          <a:lnTo>
                            <a:pt x="0" y="54"/>
                          </a:lnTo>
                          <a:lnTo>
                            <a:pt x="6" y="48"/>
                          </a:lnTo>
                          <a:lnTo>
                            <a:pt x="6" y="43"/>
                          </a:lnTo>
                          <a:lnTo>
                            <a:pt x="6" y="32"/>
                          </a:lnTo>
                          <a:lnTo>
                            <a:pt x="6" y="27"/>
                          </a:lnTo>
                          <a:lnTo>
                            <a:pt x="12" y="16"/>
                          </a:lnTo>
                          <a:lnTo>
                            <a:pt x="12" y="11"/>
                          </a:lnTo>
                          <a:lnTo>
                            <a:pt x="23" y="0"/>
                          </a:lnTo>
                          <a:lnTo>
                            <a:pt x="35" y="0"/>
                          </a:lnTo>
                          <a:lnTo>
                            <a:pt x="46" y="0"/>
                          </a:lnTo>
                          <a:lnTo>
                            <a:pt x="58" y="0"/>
                          </a:lnTo>
                          <a:lnTo>
                            <a:pt x="64" y="0"/>
                          </a:lnTo>
                          <a:lnTo>
                            <a:pt x="75" y="0"/>
                          </a:lnTo>
                          <a:lnTo>
                            <a:pt x="87" y="5"/>
                          </a:lnTo>
                          <a:lnTo>
                            <a:pt x="87" y="11"/>
                          </a:lnTo>
                          <a:lnTo>
                            <a:pt x="93" y="16"/>
                          </a:lnTo>
                          <a:lnTo>
                            <a:pt x="93" y="22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5" name="Group 4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14" y="1331"/>
                      <a:ext cx="81" cy="70"/>
                      <a:chOff x="2914" y="1331"/>
                      <a:chExt cx="81" cy="70"/>
                    </a:xfrm>
                  </p:grpSpPr>
                  <p:sp>
                    <p:nvSpPr>
                      <p:cNvPr id="26" name="Freeform 5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43" y="1331"/>
                        <a:ext cx="34" cy="11"/>
                      </a:xfrm>
                      <a:custGeom>
                        <a:avLst/>
                        <a:gdLst>
                          <a:gd name="T0" fmla="*/ 0 w 34"/>
                          <a:gd name="T1" fmla="*/ 0 h 11"/>
                          <a:gd name="T2" fmla="*/ 17 w 34"/>
                          <a:gd name="T3" fmla="*/ 0 h 11"/>
                          <a:gd name="T4" fmla="*/ 23 w 34"/>
                          <a:gd name="T5" fmla="*/ 0 h 11"/>
                          <a:gd name="T6" fmla="*/ 29 w 34"/>
                          <a:gd name="T7" fmla="*/ 6 h 11"/>
                          <a:gd name="T8" fmla="*/ 34 w 34"/>
                          <a:gd name="T9" fmla="*/ 6 h 11"/>
                          <a:gd name="T10" fmla="*/ 29 w 34"/>
                          <a:gd name="T11" fmla="*/ 6 h 11"/>
                          <a:gd name="T12" fmla="*/ 29 w 34"/>
                          <a:gd name="T13" fmla="*/ 11 h 11"/>
                          <a:gd name="T14" fmla="*/ 29 w 34"/>
                          <a:gd name="T15" fmla="*/ 11 h 11"/>
                          <a:gd name="T16" fmla="*/ 17 w 34"/>
                          <a:gd name="T17" fmla="*/ 11 h 11"/>
                          <a:gd name="T18" fmla="*/ 5 w 34"/>
                          <a:gd name="T19" fmla="*/ 11 h 11"/>
                          <a:gd name="T20" fmla="*/ 11 w 34"/>
                          <a:gd name="T21" fmla="*/ 11 h 11"/>
                          <a:gd name="T22" fmla="*/ 5 w 34"/>
                          <a:gd name="T23" fmla="*/ 6 h 11"/>
                          <a:gd name="T24" fmla="*/ 0 w 34"/>
                          <a:gd name="T25" fmla="*/ 0 h 11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  <a:gd name="T30" fmla="*/ 0 60000 65536"/>
                          <a:gd name="T31" fmla="*/ 0 60000 65536"/>
                          <a:gd name="T32" fmla="*/ 0 60000 65536"/>
                          <a:gd name="T33" fmla="*/ 0 60000 65536"/>
                          <a:gd name="T34" fmla="*/ 0 60000 65536"/>
                          <a:gd name="T35" fmla="*/ 0 60000 65536"/>
                          <a:gd name="T36" fmla="*/ 0 60000 65536"/>
                          <a:gd name="T37" fmla="*/ 0 60000 65536"/>
                          <a:gd name="T38" fmla="*/ 0 60000 65536"/>
                          <a:gd name="T39" fmla="*/ 0 w 34"/>
                          <a:gd name="T40" fmla="*/ 0 h 11"/>
                          <a:gd name="T41" fmla="*/ 34 w 34"/>
                          <a:gd name="T42" fmla="*/ 11 h 11"/>
                        </a:gdLst>
                        <a:ahLst/>
                        <a:cxnLst>
                          <a:cxn ang="T26">
                            <a:pos x="T0" y="T1"/>
                          </a:cxn>
                          <a:cxn ang="T27">
                            <a:pos x="T2" y="T3"/>
                          </a:cxn>
                          <a:cxn ang="T28">
                            <a:pos x="T4" y="T5"/>
                          </a:cxn>
                          <a:cxn ang="T29">
                            <a:pos x="T6" y="T7"/>
                          </a:cxn>
                          <a:cxn ang="T30">
                            <a:pos x="T8" y="T9"/>
                          </a:cxn>
                          <a:cxn ang="T31">
                            <a:pos x="T10" y="T11"/>
                          </a:cxn>
                          <a:cxn ang="T32">
                            <a:pos x="T12" y="T13"/>
                          </a:cxn>
                          <a:cxn ang="T33">
                            <a:pos x="T14" y="T15"/>
                          </a:cxn>
                          <a:cxn ang="T34">
                            <a:pos x="T16" y="T17"/>
                          </a:cxn>
                          <a:cxn ang="T35">
                            <a:pos x="T18" y="T19"/>
                          </a:cxn>
                          <a:cxn ang="T36">
                            <a:pos x="T20" y="T21"/>
                          </a:cxn>
                          <a:cxn ang="T37">
                            <a:pos x="T22" y="T23"/>
                          </a:cxn>
                          <a:cxn ang="T38">
                            <a:pos x="T24" y="T25"/>
                          </a:cxn>
                        </a:cxnLst>
                        <a:rect l="T39" t="T40" r="T41" b="T42"/>
                        <a:pathLst>
                          <a:path w="34" h="11">
                            <a:moveTo>
                              <a:pt x="0" y="0"/>
                            </a:moveTo>
                            <a:lnTo>
                              <a:pt x="17" y="0"/>
                            </a:lnTo>
                            <a:lnTo>
                              <a:pt x="23" y="0"/>
                            </a:lnTo>
                            <a:lnTo>
                              <a:pt x="29" y="6"/>
                            </a:lnTo>
                            <a:lnTo>
                              <a:pt x="34" y="6"/>
                            </a:lnTo>
                            <a:lnTo>
                              <a:pt x="29" y="6"/>
                            </a:lnTo>
                            <a:lnTo>
                              <a:pt x="29" y="11"/>
                            </a:lnTo>
                            <a:lnTo>
                              <a:pt x="17" y="11"/>
                            </a:lnTo>
                            <a:lnTo>
                              <a:pt x="5" y="11"/>
                            </a:lnTo>
                            <a:lnTo>
                              <a:pt x="11" y="11"/>
                            </a:lnTo>
                            <a:lnTo>
                              <a:pt x="5" y="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" name="Freeform 5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83" y="1364"/>
                        <a:ext cx="12" cy="10"/>
                      </a:xfrm>
                      <a:custGeom>
                        <a:avLst/>
                        <a:gdLst>
                          <a:gd name="T0" fmla="*/ 0 w 12"/>
                          <a:gd name="T1" fmla="*/ 0 h 10"/>
                          <a:gd name="T2" fmla="*/ 12 w 12"/>
                          <a:gd name="T3" fmla="*/ 0 h 10"/>
                          <a:gd name="T4" fmla="*/ 12 w 12"/>
                          <a:gd name="T5" fmla="*/ 10 h 10"/>
                          <a:gd name="T6" fmla="*/ 0 w 12"/>
                          <a:gd name="T7" fmla="*/ 0 h 10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  <a:gd name="T12" fmla="*/ 0 w 12"/>
                          <a:gd name="T13" fmla="*/ 0 h 10"/>
                          <a:gd name="T14" fmla="*/ 12 w 12"/>
                          <a:gd name="T15" fmla="*/ 10 h 10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T12" t="T13" r="T14" b="T15"/>
                        <a:pathLst>
                          <a:path w="12" h="10">
                            <a:moveTo>
                              <a:pt x="0" y="0"/>
                            </a:moveTo>
                            <a:lnTo>
                              <a:pt x="12" y="0"/>
                            </a:lnTo>
                            <a:lnTo>
                              <a:pt x="12" y="1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8" name="Freeform 5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14" y="1364"/>
                        <a:ext cx="52" cy="37"/>
                      </a:xfrm>
                      <a:custGeom>
                        <a:avLst/>
                        <a:gdLst>
                          <a:gd name="T0" fmla="*/ 0 w 52"/>
                          <a:gd name="T1" fmla="*/ 5 h 37"/>
                          <a:gd name="T2" fmla="*/ 5 w 52"/>
                          <a:gd name="T3" fmla="*/ 5 h 37"/>
                          <a:gd name="T4" fmla="*/ 23 w 52"/>
                          <a:gd name="T5" fmla="*/ 27 h 37"/>
                          <a:gd name="T6" fmla="*/ 52 w 52"/>
                          <a:gd name="T7" fmla="*/ 37 h 37"/>
                          <a:gd name="T8" fmla="*/ 17 w 52"/>
                          <a:gd name="T9" fmla="*/ 32 h 37"/>
                          <a:gd name="T10" fmla="*/ 5 w 52"/>
                          <a:gd name="T11" fmla="*/ 21 h 37"/>
                          <a:gd name="T12" fmla="*/ 0 w 52"/>
                          <a:gd name="T13" fmla="*/ 21 h 37"/>
                          <a:gd name="T14" fmla="*/ 0 w 52"/>
                          <a:gd name="T15" fmla="*/ 0 h 37"/>
                          <a:gd name="T16" fmla="*/ 0 w 52"/>
                          <a:gd name="T17" fmla="*/ 5 h 37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w 52"/>
                          <a:gd name="T28" fmla="*/ 0 h 37"/>
                          <a:gd name="T29" fmla="*/ 52 w 52"/>
                          <a:gd name="T30" fmla="*/ 37 h 37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T27" t="T28" r="T29" b="T30"/>
                        <a:pathLst>
                          <a:path w="52" h="37">
                            <a:moveTo>
                              <a:pt x="0" y="5"/>
                            </a:moveTo>
                            <a:lnTo>
                              <a:pt x="5" y="5"/>
                            </a:lnTo>
                            <a:lnTo>
                              <a:pt x="23" y="27"/>
                            </a:lnTo>
                            <a:lnTo>
                              <a:pt x="52" y="37"/>
                            </a:lnTo>
                            <a:lnTo>
                              <a:pt x="17" y="32"/>
                            </a:lnTo>
                            <a:lnTo>
                              <a:pt x="5" y="21"/>
                            </a:lnTo>
                            <a:lnTo>
                              <a:pt x="0" y="21"/>
                            </a:lnTo>
                            <a:lnTo>
                              <a:pt x="0" y="0"/>
                            </a:lnTo>
                            <a:lnTo>
                              <a:pt x="0" y="5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23" name="Freeform 53"/>
                  <p:cNvSpPr>
                    <a:spLocks/>
                  </p:cNvSpPr>
                  <p:nvPr/>
                </p:nvSpPr>
                <p:spPr bwMode="auto">
                  <a:xfrm>
                    <a:off x="2896" y="1278"/>
                    <a:ext cx="110" cy="96"/>
                  </a:xfrm>
                  <a:custGeom>
                    <a:avLst/>
                    <a:gdLst>
                      <a:gd name="T0" fmla="*/ 18 w 110"/>
                      <a:gd name="T1" fmla="*/ 96 h 96"/>
                      <a:gd name="T2" fmla="*/ 12 w 110"/>
                      <a:gd name="T3" fmla="*/ 86 h 96"/>
                      <a:gd name="T4" fmla="*/ 6 w 110"/>
                      <a:gd name="T5" fmla="*/ 70 h 96"/>
                      <a:gd name="T6" fmla="*/ 0 w 110"/>
                      <a:gd name="T7" fmla="*/ 53 h 96"/>
                      <a:gd name="T8" fmla="*/ 0 w 110"/>
                      <a:gd name="T9" fmla="*/ 32 h 96"/>
                      <a:gd name="T10" fmla="*/ 6 w 110"/>
                      <a:gd name="T11" fmla="*/ 16 h 96"/>
                      <a:gd name="T12" fmla="*/ 18 w 110"/>
                      <a:gd name="T13" fmla="*/ 10 h 96"/>
                      <a:gd name="T14" fmla="*/ 29 w 110"/>
                      <a:gd name="T15" fmla="*/ 5 h 96"/>
                      <a:gd name="T16" fmla="*/ 52 w 110"/>
                      <a:gd name="T17" fmla="*/ 0 h 96"/>
                      <a:gd name="T18" fmla="*/ 76 w 110"/>
                      <a:gd name="T19" fmla="*/ 5 h 96"/>
                      <a:gd name="T20" fmla="*/ 93 w 110"/>
                      <a:gd name="T21" fmla="*/ 10 h 96"/>
                      <a:gd name="T22" fmla="*/ 105 w 110"/>
                      <a:gd name="T23" fmla="*/ 10 h 96"/>
                      <a:gd name="T24" fmla="*/ 110 w 110"/>
                      <a:gd name="T25" fmla="*/ 10 h 96"/>
                      <a:gd name="T26" fmla="*/ 105 w 110"/>
                      <a:gd name="T27" fmla="*/ 16 h 96"/>
                      <a:gd name="T28" fmla="*/ 99 w 110"/>
                      <a:gd name="T29" fmla="*/ 27 h 96"/>
                      <a:gd name="T30" fmla="*/ 99 w 110"/>
                      <a:gd name="T31" fmla="*/ 32 h 96"/>
                      <a:gd name="T32" fmla="*/ 93 w 110"/>
                      <a:gd name="T33" fmla="*/ 27 h 96"/>
                      <a:gd name="T34" fmla="*/ 76 w 110"/>
                      <a:gd name="T35" fmla="*/ 21 h 96"/>
                      <a:gd name="T36" fmla="*/ 64 w 110"/>
                      <a:gd name="T37" fmla="*/ 21 h 96"/>
                      <a:gd name="T38" fmla="*/ 52 w 110"/>
                      <a:gd name="T39" fmla="*/ 21 h 96"/>
                      <a:gd name="T40" fmla="*/ 41 w 110"/>
                      <a:gd name="T41" fmla="*/ 21 h 96"/>
                      <a:gd name="T42" fmla="*/ 47 w 110"/>
                      <a:gd name="T43" fmla="*/ 27 h 96"/>
                      <a:gd name="T44" fmla="*/ 47 w 110"/>
                      <a:gd name="T45" fmla="*/ 32 h 96"/>
                      <a:gd name="T46" fmla="*/ 41 w 110"/>
                      <a:gd name="T47" fmla="*/ 37 h 96"/>
                      <a:gd name="T48" fmla="*/ 35 w 110"/>
                      <a:gd name="T49" fmla="*/ 48 h 96"/>
                      <a:gd name="T50" fmla="*/ 29 w 110"/>
                      <a:gd name="T51" fmla="*/ 59 h 96"/>
                      <a:gd name="T52" fmla="*/ 29 w 110"/>
                      <a:gd name="T53" fmla="*/ 70 h 96"/>
                      <a:gd name="T54" fmla="*/ 23 w 110"/>
                      <a:gd name="T55" fmla="*/ 64 h 96"/>
                      <a:gd name="T56" fmla="*/ 23 w 110"/>
                      <a:gd name="T57" fmla="*/ 59 h 96"/>
                      <a:gd name="T58" fmla="*/ 18 w 110"/>
                      <a:gd name="T59" fmla="*/ 53 h 96"/>
                      <a:gd name="T60" fmla="*/ 6 w 110"/>
                      <a:gd name="T61" fmla="*/ 59 h 96"/>
                      <a:gd name="T62" fmla="*/ 6 w 110"/>
                      <a:gd name="T63" fmla="*/ 59 h 96"/>
                      <a:gd name="T64" fmla="*/ 12 w 110"/>
                      <a:gd name="T65" fmla="*/ 80 h 96"/>
                      <a:gd name="T66" fmla="*/ 12 w 110"/>
                      <a:gd name="T67" fmla="*/ 86 h 96"/>
                      <a:gd name="T68" fmla="*/ 18 w 110"/>
                      <a:gd name="T69" fmla="*/ 96 h 9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w 110"/>
                      <a:gd name="T106" fmla="*/ 0 h 96"/>
                      <a:gd name="T107" fmla="*/ 110 w 110"/>
                      <a:gd name="T108" fmla="*/ 96 h 96"/>
                    </a:gdLst>
                    <a:ahLst/>
                    <a:cxnLst>
                      <a:cxn ang="T70">
                        <a:pos x="T0" y="T1"/>
                      </a:cxn>
                      <a:cxn ang="T71">
                        <a:pos x="T2" y="T3"/>
                      </a:cxn>
                      <a:cxn ang="T72">
                        <a:pos x="T4" y="T5"/>
                      </a:cxn>
                      <a:cxn ang="T73">
                        <a:pos x="T6" y="T7"/>
                      </a:cxn>
                      <a:cxn ang="T74">
                        <a:pos x="T8" y="T9"/>
                      </a:cxn>
                      <a:cxn ang="T75">
                        <a:pos x="T10" y="T11"/>
                      </a:cxn>
                      <a:cxn ang="T76">
                        <a:pos x="T12" y="T13"/>
                      </a:cxn>
                      <a:cxn ang="T77">
                        <a:pos x="T14" y="T15"/>
                      </a:cxn>
                      <a:cxn ang="T78">
                        <a:pos x="T16" y="T17"/>
                      </a:cxn>
                      <a:cxn ang="T79">
                        <a:pos x="T18" y="T19"/>
                      </a:cxn>
                      <a:cxn ang="T80">
                        <a:pos x="T20" y="T21"/>
                      </a:cxn>
                      <a:cxn ang="T81">
                        <a:pos x="T22" y="T23"/>
                      </a:cxn>
                      <a:cxn ang="T82">
                        <a:pos x="T24" y="T25"/>
                      </a:cxn>
                      <a:cxn ang="T83">
                        <a:pos x="T26" y="T27"/>
                      </a:cxn>
                      <a:cxn ang="T84">
                        <a:pos x="T28" y="T29"/>
                      </a:cxn>
                      <a:cxn ang="T85">
                        <a:pos x="T30" y="T31"/>
                      </a:cxn>
                      <a:cxn ang="T86">
                        <a:pos x="T32" y="T33"/>
                      </a:cxn>
                      <a:cxn ang="T87">
                        <a:pos x="T34" y="T35"/>
                      </a:cxn>
                      <a:cxn ang="T88">
                        <a:pos x="T36" y="T37"/>
                      </a:cxn>
                      <a:cxn ang="T89">
                        <a:pos x="T38" y="T39"/>
                      </a:cxn>
                      <a:cxn ang="T90">
                        <a:pos x="T40" y="T41"/>
                      </a:cxn>
                      <a:cxn ang="T91">
                        <a:pos x="T42" y="T43"/>
                      </a:cxn>
                      <a:cxn ang="T92">
                        <a:pos x="T44" y="T45"/>
                      </a:cxn>
                      <a:cxn ang="T93">
                        <a:pos x="T46" y="T47"/>
                      </a:cxn>
                      <a:cxn ang="T94">
                        <a:pos x="T48" y="T49"/>
                      </a:cxn>
                      <a:cxn ang="T95">
                        <a:pos x="T50" y="T51"/>
                      </a:cxn>
                      <a:cxn ang="T96">
                        <a:pos x="T52" y="T53"/>
                      </a:cxn>
                      <a:cxn ang="T97">
                        <a:pos x="T54" y="T55"/>
                      </a:cxn>
                      <a:cxn ang="T98">
                        <a:pos x="T56" y="T57"/>
                      </a:cxn>
                      <a:cxn ang="T99">
                        <a:pos x="T58" y="T59"/>
                      </a:cxn>
                      <a:cxn ang="T100">
                        <a:pos x="T60" y="T61"/>
                      </a:cxn>
                      <a:cxn ang="T101">
                        <a:pos x="T62" y="T63"/>
                      </a:cxn>
                      <a:cxn ang="T102">
                        <a:pos x="T64" y="T65"/>
                      </a:cxn>
                      <a:cxn ang="T103">
                        <a:pos x="T66" y="T67"/>
                      </a:cxn>
                      <a:cxn ang="T104">
                        <a:pos x="T68" y="T69"/>
                      </a:cxn>
                    </a:cxnLst>
                    <a:rect l="T105" t="T106" r="T107" b="T108"/>
                    <a:pathLst>
                      <a:path w="110" h="96">
                        <a:moveTo>
                          <a:pt x="18" y="96"/>
                        </a:moveTo>
                        <a:lnTo>
                          <a:pt x="12" y="86"/>
                        </a:lnTo>
                        <a:lnTo>
                          <a:pt x="6" y="70"/>
                        </a:lnTo>
                        <a:lnTo>
                          <a:pt x="0" y="53"/>
                        </a:lnTo>
                        <a:lnTo>
                          <a:pt x="0" y="32"/>
                        </a:lnTo>
                        <a:lnTo>
                          <a:pt x="6" y="16"/>
                        </a:lnTo>
                        <a:lnTo>
                          <a:pt x="18" y="10"/>
                        </a:lnTo>
                        <a:lnTo>
                          <a:pt x="29" y="5"/>
                        </a:lnTo>
                        <a:lnTo>
                          <a:pt x="52" y="0"/>
                        </a:lnTo>
                        <a:lnTo>
                          <a:pt x="76" y="5"/>
                        </a:lnTo>
                        <a:lnTo>
                          <a:pt x="93" y="10"/>
                        </a:lnTo>
                        <a:lnTo>
                          <a:pt x="105" y="10"/>
                        </a:lnTo>
                        <a:lnTo>
                          <a:pt x="110" y="10"/>
                        </a:lnTo>
                        <a:lnTo>
                          <a:pt x="105" y="16"/>
                        </a:lnTo>
                        <a:lnTo>
                          <a:pt x="99" y="27"/>
                        </a:lnTo>
                        <a:lnTo>
                          <a:pt x="99" y="32"/>
                        </a:lnTo>
                        <a:lnTo>
                          <a:pt x="93" y="27"/>
                        </a:lnTo>
                        <a:lnTo>
                          <a:pt x="76" y="21"/>
                        </a:lnTo>
                        <a:lnTo>
                          <a:pt x="64" y="21"/>
                        </a:lnTo>
                        <a:lnTo>
                          <a:pt x="52" y="21"/>
                        </a:lnTo>
                        <a:lnTo>
                          <a:pt x="41" y="21"/>
                        </a:lnTo>
                        <a:lnTo>
                          <a:pt x="47" y="27"/>
                        </a:lnTo>
                        <a:lnTo>
                          <a:pt x="47" y="32"/>
                        </a:lnTo>
                        <a:lnTo>
                          <a:pt x="41" y="37"/>
                        </a:lnTo>
                        <a:lnTo>
                          <a:pt x="35" y="48"/>
                        </a:lnTo>
                        <a:lnTo>
                          <a:pt x="29" y="59"/>
                        </a:lnTo>
                        <a:lnTo>
                          <a:pt x="29" y="70"/>
                        </a:lnTo>
                        <a:lnTo>
                          <a:pt x="23" y="64"/>
                        </a:lnTo>
                        <a:lnTo>
                          <a:pt x="23" y="59"/>
                        </a:lnTo>
                        <a:lnTo>
                          <a:pt x="18" y="53"/>
                        </a:lnTo>
                        <a:lnTo>
                          <a:pt x="6" y="59"/>
                        </a:lnTo>
                        <a:lnTo>
                          <a:pt x="12" y="80"/>
                        </a:lnTo>
                        <a:lnTo>
                          <a:pt x="12" y="86"/>
                        </a:lnTo>
                        <a:lnTo>
                          <a:pt x="18" y="96"/>
                        </a:lnTo>
                        <a:close/>
                      </a:path>
                    </a:pathLst>
                  </a:custGeom>
                  <a:solidFill>
                    <a:srgbClr val="BF7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1" name="Freeform 54"/>
                <p:cNvSpPr>
                  <a:spLocks/>
                </p:cNvSpPr>
                <p:nvPr/>
              </p:nvSpPr>
              <p:spPr bwMode="auto">
                <a:xfrm>
                  <a:off x="2989" y="1622"/>
                  <a:ext cx="93" cy="42"/>
                </a:xfrm>
                <a:custGeom>
                  <a:avLst/>
                  <a:gdLst>
                    <a:gd name="T0" fmla="*/ 93 w 93"/>
                    <a:gd name="T1" fmla="*/ 37 h 42"/>
                    <a:gd name="T2" fmla="*/ 69 w 93"/>
                    <a:gd name="T3" fmla="*/ 42 h 42"/>
                    <a:gd name="T4" fmla="*/ 40 w 93"/>
                    <a:gd name="T5" fmla="*/ 42 h 42"/>
                    <a:gd name="T6" fmla="*/ 17 w 93"/>
                    <a:gd name="T7" fmla="*/ 32 h 42"/>
                    <a:gd name="T8" fmla="*/ 0 w 93"/>
                    <a:gd name="T9" fmla="*/ 5 h 42"/>
                    <a:gd name="T10" fmla="*/ 40 w 93"/>
                    <a:gd name="T11" fmla="*/ 10 h 42"/>
                    <a:gd name="T12" fmla="*/ 40 w 93"/>
                    <a:gd name="T13" fmla="*/ 0 h 42"/>
                    <a:gd name="T14" fmla="*/ 58 w 93"/>
                    <a:gd name="T15" fmla="*/ 0 h 42"/>
                    <a:gd name="T16" fmla="*/ 81 w 93"/>
                    <a:gd name="T17" fmla="*/ 10 h 42"/>
                    <a:gd name="T18" fmla="*/ 87 w 93"/>
                    <a:gd name="T19" fmla="*/ 10 h 42"/>
                    <a:gd name="T20" fmla="*/ 93 w 93"/>
                    <a:gd name="T21" fmla="*/ 37 h 4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93"/>
                    <a:gd name="T34" fmla="*/ 0 h 42"/>
                    <a:gd name="T35" fmla="*/ 93 w 93"/>
                    <a:gd name="T36" fmla="*/ 42 h 4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93" h="42">
                      <a:moveTo>
                        <a:pt x="93" y="37"/>
                      </a:moveTo>
                      <a:lnTo>
                        <a:pt x="69" y="42"/>
                      </a:lnTo>
                      <a:lnTo>
                        <a:pt x="40" y="42"/>
                      </a:lnTo>
                      <a:lnTo>
                        <a:pt x="17" y="32"/>
                      </a:lnTo>
                      <a:lnTo>
                        <a:pt x="0" y="5"/>
                      </a:lnTo>
                      <a:lnTo>
                        <a:pt x="40" y="10"/>
                      </a:lnTo>
                      <a:lnTo>
                        <a:pt x="40" y="0"/>
                      </a:lnTo>
                      <a:lnTo>
                        <a:pt x="58" y="0"/>
                      </a:lnTo>
                      <a:lnTo>
                        <a:pt x="81" y="10"/>
                      </a:lnTo>
                      <a:lnTo>
                        <a:pt x="87" y="10"/>
                      </a:lnTo>
                      <a:lnTo>
                        <a:pt x="93" y="37"/>
                      </a:lnTo>
                      <a:close/>
                    </a:path>
                  </a:pathLst>
                </a:custGeom>
                <a:solidFill>
                  <a:srgbClr val="FF7F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pic>
          <p:nvPicPr>
            <p:cNvPr id="15" name="Picture 55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53" t="11359" r="2036" b="5432"/>
            <a:stretch>
              <a:fillRect/>
            </a:stretch>
          </p:blipFill>
          <p:spPr bwMode="auto">
            <a:xfrm>
              <a:off x="477838" y="3349625"/>
              <a:ext cx="1254125" cy="755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56" descr="bnsf locomotive"/>
            <p:cNvPicPr>
              <a:picLocks noChangeAspect="1" noChangeArrowheads="1"/>
            </p:cNvPicPr>
            <p:nvPr/>
          </p:nvPicPr>
          <p:blipFill>
            <a:blip r:embed="rId8">
              <a:lum bright="22000"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1" y="418147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57" descr="windmills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07" b="28030"/>
            <a:stretch>
              <a:fillRect/>
            </a:stretch>
          </p:blipFill>
          <p:spPr bwMode="auto">
            <a:xfrm>
              <a:off x="479426" y="5167313"/>
              <a:ext cx="1338263" cy="909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2358856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Modeling: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Types of decisions</a:t>
            </a:r>
          </a:p>
          <a:p>
            <a:pPr lvl="1"/>
            <a:r>
              <a:rPr lang="en-US" dirty="0"/>
              <a:t>Binary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Finite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Continuous scalar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Continuous vector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Discrete vector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Categorical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230808" y="2032416"/>
          <a:ext cx="1660736" cy="495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680" imgH="253800" progId="Equation.DSMT4">
                  <p:embed/>
                </p:oleObj>
              </mc:Choice>
              <mc:Fallback>
                <p:oleObj name="Equation" r:id="rId2" imgW="850680" imgH="2538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30808" y="2032416"/>
                        <a:ext cx="1660736" cy="4957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623942"/>
              </p:ext>
            </p:extLst>
          </p:nvPr>
        </p:nvGraphicFramePr>
        <p:xfrm>
          <a:off x="3245691" y="2910055"/>
          <a:ext cx="2400992" cy="495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253800" progId="Equation.DSMT4">
                  <p:embed/>
                </p:oleObj>
              </mc:Choice>
              <mc:Fallback>
                <p:oleObj name="Equation" r:id="rId4" imgW="1231560" imgH="25380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5691" y="2910055"/>
                        <a:ext cx="2400992" cy="4958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589706"/>
              </p:ext>
            </p:extLst>
          </p:nvPr>
        </p:nvGraphicFramePr>
        <p:xfrm>
          <a:off x="3239828" y="3635789"/>
          <a:ext cx="1683304" cy="495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280" imgH="253800" progId="Equation.DSMT4">
                  <p:embed/>
                </p:oleObj>
              </mc:Choice>
              <mc:Fallback>
                <p:oleObj name="Equation" r:id="rId6" imgW="863280" imgH="2538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9828" y="3635789"/>
                        <a:ext cx="1683304" cy="4958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507276"/>
              </p:ext>
            </p:extLst>
          </p:nvPr>
        </p:nvGraphicFramePr>
        <p:xfrm>
          <a:off x="3225801" y="4393062"/>
          <a:ext cx="2798983" cy="44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34960" imgH="228600" progId="Equation.DSMT4">
                  <p:embed/>
                </p:oleObj>
              </mc:Choice>
              <mc:Fallback>
                <p:oleObj name="Equation" r:id="rId8" imgW="1434960" imgH="2286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1" y="4393062"/>
                        <a:ext cx="2798983" cy="44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66445"/>
              </p:ext>
            </p:extLst>
          </p:nvPr>
        </p:nvGraphicFramePr>
        <p:xfrm>
          <a:off x="3233738" y="5122644"/>
          <a:ext cx="2798981" cy="44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34960" imgH="228600" progId="Equation.DSMT4">
                  <p:embed/>
                </p:oleObj>
              </mc:Choice>
              <mc:Fallback>
                <p:oleObj name="Equation" r:id="rId10" imgW="1434960" imgH="2286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8" y="5122644"/>
                        <a:ext cx="2798981" cy="44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203576" y="5822950"/>
          <a:ext cx="629126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25600" imgH="228600" progId="Equation.DSMT4">
                  <p:embed/>
                </p:oleObj>
              </mc:Choice>
              <mc:Fallback>
                <p:oleObj name="Equation" r:id="rId12" imgW="3225600" imgH="2286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6" y="5822950"/>
                        <a:ext cx="6291263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92773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A827221-15D4-93D3-D556-DF4D7684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F4BF3D-7406-4357-BCAB-A54116AD1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9D7D3BA2-754D-BDE2-68BB-F5F86016B5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5B752527-4A0C-C0F9-699B-A015419945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The universal modeling framework (detailed)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Textbook modeling styles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Modeling time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Decision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Exogenous information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Transition function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388897769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300" dirty="0">
                <a:latin typeface="Oswald" panose="00000500000000000000" pitchFamily="2" charset="0"/>
              </a:rPr>
              <a:t>Modeling: Exogenous information</a:t>
            </a:r>
          </a:p>
        </p:txBody>
      </p:sp>
      <p:sp>
        <p:nvSpPr>
          <p:cNvPr id="53555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59536" y="1047750"/>
            <a:ext cx="7772400" cy="533400"/>
          </a:xfrm>
        </p:spPr>
        <p:txBody>
          <a:bodyPr/>
          <a:lstStyle/>
          <a:p>
            <a:pPr marL="86360" indent="0">
              <a:buNone/>
            </a:pPr>
            <a:r>
              <a:rPr lang="en-US" dirty="0">
                <a:latin typeface="Raleway" pitchFamily="2" charset="0"/>
              </a:rPr>
              <a:t>Exogenous information:</a:t>
            </a:r>
          </a:p>
        </p:txBody>
      </p:sp>
      <p:graphicFrame>
        <p:nvGraphicFramePr>
          <p:cNvPr id="535563" name="Object 9"/>
          <p:cNvGraphicFramePr>
            <a:graphicFrameLocks noChangeAspect="1"/>
          </p:cNvGraphicFramePr>
          <p:nvPr/>
        </p:nvGraphicFramePr>
        <p:xfrm>
          <a:off x="3333750" y="2017714"/>
          <a:ext cx="558800" cy="40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1371600" progId="Equation.DSMT4">
                  <p:embed/>
                </p:oleObj>
              </mc:Choice>
              <mc:Fallback>
                <p:oleObj name="Equation" r:id="rId3" imgW="190440" imgH="1371600" progId="Equation.DSMT4">
                  <p:embed/>
                  <p:pic>
                    <p:nvPicPr>
                      <p:cNvPr id="53556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2017714"/>
                        <a:ext cx="558800" cy="402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5564" name="Object 10"/>
              <p:cNvSpPr txBox="1"/>
              <p:nvPr/>
            </p:nvSpPr>
            <p:spPr bwMode="auto">
              <a:xfrm>
                <a:off x="4130675" y="1728788"/>
                <a:ext cx="7683373" cy="29289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New information that first became known at time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i="1" dirty="0">
                  <a:solidFill>
                    <a:srgbClr val="000000"/>
                  </a:solidFill>
                  <a:latin typeface="Raleway" pitchFamily="2" charset="0"/>
                </a:endParaRPr>
              </a:p>
              <a:p>
                <a:pPr/>
                <a:br>
                  <a:rPr lang="en-US" i="1" dirty="0">
                    <a:solidFill>
                      <a:srgbClr val="000000"/>
                    </a:solidFill>
                    <a:latin typeface="Raleway" pitchFamily="2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quipment failures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, theft, exogenous deliveries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</m:t>
                      </m:r>
                    </m:oMath>
                  </m:oMathPara>
                </a14:m>
                <a:br>
                  <a:rPr lang="en-US" sz="20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en-US" sz="20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i="0">
                        <a:solidFill>
                          <a:srgbClr val="000000"/>
                        </a:solidFill>
                        <a:latin typeface="Raleway" pitchFamily="2" charset="0"/>
                      </a:rPr>
                      <m:t>New customer demands</m:t>
                    </m:r>
                  </m:oMath>
                </a14:m>
                <a:br>
                  <a:rPr lang="en-US" sz="20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>
                        <a:solidFill>
                          <a:srgbClr val="000000"/>
                        </a:solidFill>
                        <a:latin typeface="Raleway" pitchFamily="2" charset="0"/>
                      </a:rPr>
                      <m:t>   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i="0">
                        <a:solidFill>
                          <a:srgbClr val="000000"/>
                        </a:solidFill>
                        <a:latin typeface="Raleway" pitchFamily="2" charset="0"/>
                      </a:rPr>
                      <m:t>Changes in prices</m:t>
                    </m:r>
                  </m:oMath>
                </a14:m>
                <a:r>
                  <a:rPr lang="en-US" sz="20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</a:t>
                </a:r>
                <a:br>
                  <a:rPr lang="en-US" sz="2000" i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Information about the environment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temperature, ...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latin typeface="Raleway" pitchFamily="2" charset="0"/>
                </a:endParaRPr>
              </a:p>
              <a:p>
                <a:endParaRPr lang="en-US" dirty="0">
                  <a:latin typeface="Raleway" pitchFamily="2" charset="0"/>
                </a:endParaRPr>
              </a:p>
              <a:p>
                <a:r>
                  <a:rPr lang="en-US" sz="2000" dirty="0">
                    <a:latin typeface="Raleway" pitchFamily="2" charset="0"/>
                  </a:rPr>
                  <a:t>More general notation:</a:t>
                </a:r>
              </a:p>
              <a:p>
                <a:endParaRPr lang="en-US" dirty="0">
                  <a:latin typeface="Raleway" pitchFamily="2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Raleway" pitchFamily="2" charset="0"/>
                  </a:rPr>
                  <a:t> information in class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𝑐𝑙𝑎𝑠𝑠</m:t>
                        </m:r>
                      </m:sup>
                    </m:sSup>
                  </m:oMath>
                </a14:m>
                <a:r>
                  <a:rPr lang="en-US" sz="2000" dirty="0">
                    <a:latin typeface="Raleway" pitchFamily="2" charset="0"/>
                  </a:rPr>
                  <a:t> that may depend on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Raleway" pitchFamily="2" charset="0"/>
                  </a:rPr>
                  <a:t> and/or decision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Raleway" pitchFamily="2" charset="0"/>
                  </a:rPr>
                  <a:t>.</a:t>
                </a:r>
              </a:p>
              <a:p>
                <a:endParaRPr lang="en-US" sz="2000" dirty="0">
                  <a:latin typeface="Raleway" pitchFamily="2" charset="0"/>
                </a:endParaRPr>
              </a:p>
              <a:p>
                <a:endParaRPr lang="en-US" sz="2000" dirty="0">
                  <a:latin typeface="Raleway" pitchFamily="2" charset="0"/>
                </a:endParaRPr>
              </a:p>
              <a:p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53556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0675" y="1728788"/>
                <a:ext cx="7683373" cy="2928937"/>
              </a:xfrm>
              <a:prstGeom prst="rect">
                <a:avLst/>
              </a:prstGeom>
              <a:blipFill>
                <a:blip r:embed="rId5"/>
                <a:stretch>
                  <a:fillRect l="-873" b="-252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358418" y="5550199"/>
                <a:ext cx="674773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Raleway" pitchFamily="2" charset="0"/>
                  </a:rPr>
                  <a:t>Note: Any variable indexed by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Raleway" pitchFamily="2" charset="0"/>
                  </a:rPr>
                  <a:t> is known at time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Raleway" pitchFamily="2" charset="0"/>
                  </a:rPr>
                  <a:t>. This convention, which is not standard in control theory, dramatically simplifies the modeling of information.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418" y="5550199"/>
                <a:ext cx="6747731" cy="830997"/>
              </a:xfrm>
              <a:prstGeom prst="rect">
                <a:avLst/>
              </a:prstGeom>
              <a:blipFill>
                <a:blip r:embed="rId6"/>
                <a:stretch>
                  <a:fillRect l="-542" t="-2190" b="-8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2001839" y="2206626"/>
            <a:ext cx="1339851" cy="3870325"/>
            <a:chOff x="477838" y="2206625"/>
            <a:chExt cx="1339851" cy="3870325"/>
          </a:xfrm>
        </p:grpSpPr>
        <p:grpSp>
          <p:nvGrpSpPr>
            <p:cNvPr id="15" name="Group 31"/>
            <p:cNvGrpSpPr>
              <a:grpSpLocks/>
            </p:cNvGrpSpPr>
            <p:nvPr/>
          </p:nvGrpSpPr>
          <p:grpSpPr bwMode="auto">
            <a:xfrm>
              <a:off x="1039813" y="2206625"/>
              <a:ext cx="288925" cy="895350"/>
              <a:chOff x="2803" y="1278"/>
              <a:chExt cx="342" cy="956"/>
            </a:xfrm>
          </p:grpSpPr>
          <p:grpSp>
            <p:nvGrpSpPr>
              <p:cNvPr id="19" name="Group 32"/>
              <p:cNvGrpSpPr>
                <a:grpSpLocks/>
              </p:cNvGrpSpPr>
              <p:nvPr/>
            </p:nvGrpSpPr>
            <p:grpSpPr bwMode="auto">
              <a:xfrm>
                <a:off x="2803" y="1401"/>
                <a:ext cx="342" cy="833"/>
                <a:chOff x="2803" y="1401"/>
                <a:chExt cx="342" cy="833"/>
              </a:xfrm>
            </p:grpSpPr>
            <p:grpSp>
              <p:nvGrpSpPr>
                <p:cNvPr id="30" name="Group 33"/>
                <p:cNvGrpSpPr>
                  <a:grpSpLocks/>
                </p:cNvGrpSpPr>
                <p:nvPr/>
              </p:nvGrpSpPr>
              <p:grpSpPr bwMode="auto">
                <a:xfrm>
                  <a:off x="2815" y="2143"/>
                  <a:ext cx="301" cy="91"/>
                  <a:chOff x="2815" y="2143"/>
                  <a:chExt cx="301" cy="91"/>
                </a:xfrm>
              </p:grpSpPr>
              <p:sp>
                <p:nvSpPr>
                  <p:cNvPr id="40" name="Freeform 34"/>
                  <p:cNvSpPr>
                    <a:spLocks/>
                  </p:cNvSpPr>
                  <p:nvPr/>
                </p:nvSpPr>
                <p:spPr bwMode="auto">
                  <a:xfrm>
                    <a:off x="2815" y="2164"/>
                    <a:ext cx="93" cy="70"/>
                  </a:xfrm>
                  <a:custGeom>
                    <a:avLst/>
                    <a:gdLst>
                      <a:gd name="T0" fmla="*/ 35 w 93"/>
                      <a:gd name="T1" fmla="*/ 11 h 70"/>
                      <a:gd name="T2" fmla="*/ 12 w 93"/>
                      <a:gd name="T3" fmla="*/ 32 h 70"/>
                      <a:gd name="T4" fmla="*/ 0 w 93"/>
                      <a:gd name="T5" fmla="*/ 48 h 70"/>
                      <a:gd name="T6" fmla="*/ 0 w 93"/>
                      <a:gd name="T7" fmla="*/ 65 h 70"/>
                      <a:gd name="T8" fmla="*/ 12 w 93"/>
                      <a:gd name="T9" fmla="*/ 70 h 70"/>
                      <a:gd name="T10" fmla="*/ 41 w 93"/>
                      <a:gd name="T11" fmla="*/ 65 h 70"/>
                      <a:gd name="T12" fmla="*/ 58 w 93"/>
                      <a:gd name="T13" fmla="*/ 59 h 70"/>
                      <a:gd name="T14" fmla="*/ 70 w 93"/>
                      <a:gd name="T15" fmla="*/ 43 h 70"/>
                      <a:gd name="T16" fmla="*/ 93 w 93"/>
                      <a:gd name="T17" fmla="*/ 32 h 70"/>
                      <a:gd name="T18" fmla="*/ 93 w 93"/>
                      <a:gd name="T19" fmla="*/ 16 h 70"/>
                      <a:gd name="T20" fmla="*/ 87 w 93"/>
                      <a:gd name="T21" fmla="*/ 0 h 70"/>
                      <a:gd name="T22" fmla="*/ 64 w 93"/>
                      <a:gd name="T23" fmla="*/ 11 h 70"/>
                      <a:gd name="T24" fmla="*/ 35 w 93"/>
                      <a:gd name="T25" fmla="*/ 11 h 70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93"/>
                      <a:gd name="T40" fmla="*/ 0 h 70"/>
                      <a:gd name="T41" fmla="*/ 93 w 93"/>
                      <a:gd name="T42" fmla="*/ 70 h 70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93" h="70">
                        <a:moveTo>
                          <a:pt x="35" y="11"/>
                        </a:moveTo>
                        <a:lnTo>
                          <a:pt x="12" y="32"/>
                        </a:lnTo>
                        <a:lnTo>
                          <a:pt x="0" y="48"/>
                        </a:lnTo>
                        <a:lnTo>
                          <a:pt x="0" y="65"/>
                        </a:lnTo>
                        <a:lnTo>
                          <a:pt x="12" y="70"/>
                        </a:lnTo>
                        <a:lnTo>
                          <a:pt x="41" y="65"/>
                        </a:lnTo>
                        <a:lnTo>
                          <a:pt x="58" y="59"/>
                        </a:lnTo>
                        <a:lnTo>
                          <a:pt x="70" y="43"/>
                        </a:lnTo>
                        <a:lnTo>
                          <a:pt x="93" y="32"/>
                        </a:lnTo>
                        <a:lnTo>
                          <a:pt x="93" y="16"/>
                        </a:lnTo>
                        <a:lnTo>
                          <a:pt x="87" y="0"/>
                        </a:lnTo>
                        <a:lnTo>
                          <a:pt x="64" y="11"/>
                        </a:lnTo>
                        <a:lnTo>
                          <a:pt x="35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" name="Freeform 35"/>
                  <p:cNvSpPr>
                    <a:spLocks/>
                  </p:cNvSpPr>
                  <p:nvPr/>
                </p:nvSpPr>
                <p:spPr bwMode="auto">
                  <a:xfrm>
                    <a:off x="3012" y="2143"/>
                    <a:ext cx="104" cy="75"/>
                  </a:xfrm>
                  <a:custGeom>
                    <a:avLst/>
                    <a:gdLst>
                      <a:gd name="T0" fmla="*/ 0 w 104"/>
                      <a:gd name="T1" fmla="*/ 5 h 75"/>
                      <a:gd name="T2" fmla="*/ 0 w 104"/>
                      <a:gd name="T3" fmla="*/ 32 h 75"/>
                      <a:gd name="T4" fmla="*/ 12 w 104"/>
                      <a:gd name="T5" fmla="*/ 43 h 75"/>
                      <a:gd name="T6" fmla="*/ 29 w 104"/>
                      <a:gd name="T7" fmla="*/ 48 h 75"/>
                      <a:gd name="T8" fmla="*/ 41 w 104"/>
                      <a:gd name="T9" fmla="*/ 53 h 75"/>
                      <a:gd name="T10" fmla="*/ 58 w 104"/>
                      <a:gd name="T11" fmla="*/ 64 h 75"/>
                      <a:gd name="T12" fmla="*/ 87 w 104"/>
                      <a:gd name="T13" fmla="*/ 75 h 75"/>
                      <a:gd name="T14" fmla="*/ 99 w 104"/>
                      <a:gd name="T15" fmla="*/ 69 h 75"/>
                      <a:gd name="T16" fmla="*/ 104 w 104"/>
                      <a:gd name="T17" fmla="*/ 64 h 75"/>
                      <a:gd name="T18" fmla="*/ 104 w 104"/>
                      <a:gd name="T19" fmla="*/ 59 h 75"/>
                      <a:gd name="T20" fmla="*/ 93 w 104"/>
                      <a:gd name="T21" fmla="*/ 43 h 75"/>
                      <a:gd name="T22" fmla="*/ 70 w 104"/>
                      <a:gd name="T23" fmla="*/ 26 h 75"/>
                      <a:gd name="T24" fmla="*/ 52 w 104"/>
                      <a:gd name="T25" fmla="*/ 10 h 75"/>
                      <a:gd name="T26" fmla="*/ 46 w 104"/>
                      <a:gd name="T27" fmla="*/ 0 h 75"/>
                      <a:gd name="T28" fmla="*/ 0 w 104"/>
                      <a:gd name="T29" fmla="*/ 5 h 7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04"/>
                      <a:gd name="T46" fmla="*/ 0 h 75"/>
                      <a:gd name="T47" fmla="*/ 104 w 104"/>
                      <a:gd name="T48" fmla="*/ 75 h 7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04" h="75">
                        <a:moveTo>
                          <a:pt x="0" y="5"/>
                        </a:moveTo>
                        <a:lnTo>
                          <a:pt x="0" y="32"/>
                        </a:lnTo>
                        <a:lnTo>
                          <a:pt x="12" y="43"/>
                        </a:lnTo>
                        <a:lnTo>
                          <a:pt x="29" y="48"/>
                        </a:lnTo>
                        <a:lnTo>
                          <a:pt x="41" y="53"/>
                        </a:lnTo>
                        <a:lnTo>
                          <a:pt x="58" y="64"/>
                        </a:lnTo>
                        <a:lnTo>
                          <a:pt x="87" y="75"/>
                        </a:lnTo>
                        <a:lnTo>
                          <a:pt x="99" y="69"/>
                        </a:lnTo>
                        <a:lnTo>
                          <a:pt x="104" y="64"/>
                        </a:lnTo>
                        <a:lnTo>
                          <a:pt x="104" y="59"/>
                        </a:lnTo>
                        <a:lnTo>
                          <a:pt x="93" y="43"/>
                        </a:lnTo>
                        <a:lnTo>
                          <a:pt x="70" y="26"/>
                        </a:lnTo>
                        <a:lnTo>
                          <a:pt x="52" y="10"/>
                        </a:lnTo>
                        <a:lnTo>
                          <a:pt x="46" y="0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1" name="Group 36"/>
                <p:cNvGrpSpPr>
                  <a:grpSpLocks/>
                </p:cNvGrpSpPr>
                <p:nvPr/>
              </p:nvGrpSpPr>
              <p:grpSpPr bwMode="auto">
                <a:xfrm>
                  <a:off x="2803" y="1401"/>
                  <a:ext cx="342" cy="785"/>
                  <a:chOff x="2803" y="1401"/>
                  <a:chExt cx="342" cy="785"/>
                </a:xfrm>
              </p:grpSpPr>
              <p:grpSp>
                <p:nvGrpSpPr>
                  <p:cNvPr id="32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2844" y="1401"/>
                    <a:ext cx="220" cy="253"/>
                    <a:chOff x="2844" y="1401"/>
                    <a:chExt cx="220" cy="253"/>
                  </a:xfrm>
                </p:grpSpPr>
                <p:sp>
                  <p:nvSpPr>
                    <p:cNvPr id="37" name="Freeform 38"/>
                    <p:cNvSpPr>
                      <a:spLocks/>
                    </p:cNvSpPr>
                    <p:nvPr/>
                  </p:nvSpPr>
                  <p:spPr bwMode="auto">
                    <a:xfrm>
                      <a:off x="2844" y="1417"/>
                      <a:ext cx="220" cy="237"/>
                    </a:xfrm>
                    <a:custGeom>
                      <a:avLst/>
                      <a:gdLst>
                        <a:gd name="T0" fmla="*/ 0 w 220"/>
                        <a:gd name="T1" fmla="*/ 43 h 237"/>
                        <a:gd name="T2" fmla="*/ 70 w 220"/>
                        <a:gd name="T3" fmla="*/ 0 h 237"/>
                        <a:gd name="T4" fmla="*/ 139 w 220"/>
                        <a:gd name="T5" fmla="*/ 102 h 237"/>
                        <a:gd name="T6" fmla="*/ 151 w 220"/>
                        <a:gd name="T7" fmla="*/ 6 h 237"/>
                        <a:gd name="T8" fmla="*/ 197 w 220"/>
                        <a:gd name="T9" fmla="*/ 17 h 237"/>
                        <a:gd name="T10" fmla="*/ 220 w 220"/>
                        <a:gd name="T11" fmla="*/ 54 h 237"/>
                        <a:gd name="T12" fmla="*/ 214 w 220"/>
                        <a:gd name="T13" fmla="*/ 237 h 237"/>
                        <a:gd name="T14" fmla="*/ 23 w 220"/>
                        <a:gd name="T15" fmla="*/ 237 h 237"/>
                        <a:gd name="T16" fmla="*/ 0 w 220"/>
                        <a:gd name="T17" fmla="*/ 43 h 237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20"/>
                        <a:gd name="T28" fmla="*/ 0 h 237"/>
                        <a:gd name="T29" fmla="*/ 220 w 220"/>
                        <a:gd name="T30" fmla="*/ 237 h 237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20" h="237">
                          <a:moveTo>
                            <a:pt x="0" y="43"/>
                          </a:moveTo>
                          <a:lnTo>
                            <a:pt x="70" y="0"/>
                          </a:lnTo>
                          <a:lnTo>
                            <a:pt x="139" y="102"/>
                          </a:lnTo>
                          <a:lnTo>
                            <a:pt x="151" y="6"/>
                          </a:lnTo>
                          <a:lnTo>
                            <a:pt x="197" y="17"/>
                          </a:lnTo>
                          <a:lnTo>
                            <a:pt x="220" y="54"/>
                          </a:lnTo>
                          <a:lnTo>
                            <a:pt x="214" y="237"/>
                          </a:lnTo>
                          <a:lnTo>
                            <a:pt x="23" y="237"/>
                          </a:lnTo>
                          <a:lnTo>
                            <a:pt x="0" y="43"/>
                          </a:lnTo>
                          <a:close/>
                        </a:path>
                      </a:pathLst>
                    </a:custGeom>
                    <a:solidFill>
                      <a:srgbClr val="7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" name="Freeform 39"/>
                    <p:cNvSpPr>
                      <a:spLocks/>
                    </p:cNvSpPr>
                    <p:nvPr/>
                  </p:nvSpPr>
                  <p:spPr bwMode="auto">
                    <a:xfrm>
                      <a:off x="2908" y="1401"/>
                      <a:ext cx="87" cy="140"/>
                    </a:xfrm>
                    <a:custGeom>
                      <a:avLst/>
                      <a:gdLst>
                        <a:gd name="T0" fmla="*/ 0 w 87"/>
                        <a:gd name="T1" fmla="*/ 16 h 140"/>
                        <a:gd name="T2" fmla="*/ 6 w 87"/>
                        <a:gd name="T3" fmla="*/ 0 h 140"/>
                        <a:gd name="T4" fmla="*/ 64 w 87"/>
                        <a:gd name="T5" fmla="*/ 27 h 140"/>
                        <a:gd name="T6" fmla="*/ 75 w 87"/>
                        <a:gd name="T7" fmla="*/ 11 h 140"/>
                        <a:gd name="T8" fmla="*/ 81 w 87"/>
                        <a:gd name="T9" fmla="*/ 16 h 140"/>
                        <a:gd name="T10" fmla="*/ 87 w 87"/>
                        <a:gd name="T11" fmla="*/ 97 h 140"/>
                        <a:gd name="T12" fmla="*/ 87 w 87"/>
                        <a:gd name="T13" fmla="*/ 140 h 140"/>
                        <a:gd name="T14" fmla="*/ 0 w 87"/>
                        <a:gd name="T15" fmla="*/ 16 h 140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87"/>
                        <a:gd name="T25" fmla="*/ 0 h 140"/>
                        <a:gd name="T26" fmla="*/ 87 w 87"/>
                        <a:gd name="T27" fmla="*/ 140 h 140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87" h="140">
                          <a:moveTo>
                            <a:pt x="0" y="16"/>
                          </a:moveTo>
                          <a:lnTo>
                            <a:pt x="6" y="0"/>
                          </a:lnTo>
                          <a:lnTo>
                            <a:pt x="64" y="27"/>
                          </a:lnTo>
                          <a:lnTo>
                            <a:pt x="75" y="11"/>
                          </a:lnTo>
                          <a:lnTo>
                            <a:pt x="81" y="16"/>
                          </a:lnTo>
                          <a:lnTo>
                            <a:pt x="87" y="97"/>
                          </a:lnTo>
                          <a:lnTo>
                            <a:pt x="87" y="140"/>
                          </a:lnTo>
                          <a:lnTo>
                            <a:pt x="0" y="16"/>
                          </a:lnTo>
                          <a:close/>
                        </a:path>
                      </a:pathLst>
                    </a:custGeom>
                    <a:solidFill>
                      <a:srgbClr val="FFD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9" name="Freeform 40"/>
                    <p:cNvSpPr>
                      <a:spLocks/>
                    </p:cNvSpPr>
                    <p:nvPr/>
                  </p:nvSpPr>
                  <p:spPr bwMode="auto">
                    <a:xfrm>
                      <a:off x="2937" y="1428"/>
                      <a:ext cx="52" cy="27"/>
                    </a:xfrm>
                    <a:custGeom>
                      <a:avLst/>
                      <a:gdLst>
                        <a:gd name="T0" fmla="*/ 0 w 52"/>
                        <a:gd name="T1" fmla="*/ 27 h 27"/>
                        <a:gd name="T2" fmla="*/ 29 w 52"/>
                        <a:gd name="T3" fmla="*/ 0 h 27"/>
                        <a:gd name="T4" fmla="*/ 52 w 52"/>
                        <a:gd name="T5" fmla="*/ 22 h 27"/>
                        <a:gd name="T6" fmla="*/ 0 60000 65536"/>
                        <a:gd name="T7" fmla="*/ 0 60000 65536"/>
                        <a:gd name="T8" fmla="*/ 0 60000 65536"/>
                        <a:gd name="T9" fmla="*/ 0 w 52"/>
                        <a:gd name="T10" fmla="*/ 0 h 27"/>
                        <a:gd name="T11" fmla="*/ 52 w 52"/>
                        <a:gd name="T12" fmla="*/ 27 h 27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52" h="27">
                          <a:moveTo>
                            <a:pt x="0" y="27"/>
                          </a:moveTo>
                          <a:lnTo>
                            <a:pt x="29" y="0"/>
                          </a:lnTo>
                          <a:lnTo>
                            <a:pt x="52" y="22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3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2803" y="1412"/>
                    <a:ext cx="342" cy="774"/>
                    <a:chOff x="2803" y="1412"/>
                    <a:chExt cx="342" cy="774"/>
                  </a:xfrm>
                </p:grpSpPr>
                <p:sp>
                  <p:nvSpPr>
                    <p:cNvPr id="34" name="Freeform 42"/>
                    <p:cNvSpPr>
                      <a:spLocks/>
                    </p:cNvSpPr>
                    <p:nvPr/>
                  </p:nvSpPr>
                  <p:spPr bwMode="auto">
                    <a:xfrm>
                      <a:off x="2803" y="1412"/>
                      <a:ext cx="342" cy="774"/>
                    </a:xfrm>
                    <a:custGeom>
                      <a:avLst/>
                      <a:gdLst>
                        <a:gd name="T0" fmla="*/ 105 w 342"/>
                        <a:gd name="T1" fmla="*/ 0 h 774"/>
                        <a:gd name="T2" fmla="*/ 24 w 342"/>
                        <a:gd name="T3" fmla="*/ 59 h 774"/>
                        <a:gd name="T4" fmla="*/ 0 w 342"/>
                        <a:gd name="T5" fmla="*/ 242 h 774"/>
                        <a:gd name="T6" fmla="*/ 64 w 342"/>
                        <a:gd name="T7" fmla="*/ 360 h 774"/>
                        <a:gd name="T8" fmla="*/ 64 w 342"/>
                        <a:gd name="T9" fmla="*/ 381 h 774"/>
                        <a:gd name="T10" fmla="*/ 70 w 342"/>
                        <a:gd name="T11" fmla="*/ 414 h 774"/>
                        <a:gd name="T12" fmla="*/ 76 w 342"/>
                        <a:gd name="T13" fmla="*/ 430 h 774"/>
                        <a:gd name="T14" fmla="*/ 64 w 342"/>
                        <a:gd name="T15" fmla="*/ 559 h 774"/>
                        <a:gd name="T16" fmla="*/ 47 w 342"/>
                        <a:gd name="T17" fmla="*/ 768 h 774"/>
                        <a:gd name="T18" fmla="*/ 64 w 342"/>
                        <a:gd name="T19" fmla="*/ 774 h 774"/>
                        <a:gd name="T20" fmla="*/ 105 w 342"/>
                        <a:gd name="T21" fmla="*/ 763 h 774"/>
                        <a:gd name="T22" fmla="*/ 128 w 342"/>
                        <a:gd name="T23" fmla="*/ 618 h 774"/>
                        <a:gd name="T24" fmla="*/ 140 w 342"/>
                        <a:gd name="T25" fmla="*/ 569 h 774"/>
                        <a:gd name="T26" fmla="*/ 180 w 342"/>
                        <a:gd name="T27" fmla="*/ 430 h 774"/>
                        <a:gd name="T28" fmla="*/ 186 w 342"/>
                        <a:gd name="T29" fmla="*/ 575 h 774"/>
                        <a:gd name="T30" fmla="*/ 203 w 342"/>
                        <a:gd name="T31" fmla="*/ 747 h 774"/>
                        <a:gd name="T32" fmla="*/ 261 w 342"/>
                        <a:gd name="T33" fmla="*/ 752 h 774"/>
                        <a:gd name="T34" fmla="*/ 267 w 342"/>
                        <a:gd name="T35" fmla="*/ 564 h 774"/>
                        <a:gd name="T36" fmla="*/ 261 w 342"/>
                        <a:gd name="T37" fmla="*/ 376 h 774"/>
                        <a:gd name="T38" fmla="*/ 261 w 342"/>
                        <a:gd name="T39" fmla="*/ 285 h 774"/>
                        <a:gd name="T40" fmla="*/ 273 w 342"/>
                        <a:gd name="T41" fmla="*/ 252 h 774"/>
                        <a:gd name="T42" fmla="*/ 279 w 342"/>
                        <a:gd name="T43" fmla="*/ 258 h 774"/>
                        <a:gd name="T44" fmla="*/ 337 w 342"/>
                        <a:gd name="T45" fmla="*/ 226 h 774"/>
                        <a:gd name="T46" fmla="*/ 342 w 342"/>
                        <a:gd name="T47" fmla="*/ 167 h 774"/>
                        <a:gd name="T48" fmla="*/ 250 w 342"/>
                        <a:gd name="T49" fmla="*/ 22 h 774"/>
                        <a:gd name="T50" fmla="*/ 186 w 342"/>
                        <a:gd name="T51" fmla="*/ 0 h 774"/>
                        <a:gd name="T52" fmla="*/ 198 w 342"/>
                        <a:gd name="T53" fmla="*/ 97 h 774"/>
                        <a:gd name="T54" fmla="*/ 186 w 342"/>
                        <a:gd name="T55" fmla="*/ 193 h 774"/>
                        <a:gd name="T56" fmla="*/ 157 w 342"/>
                        <a:gd name="T57" fmla="*/ 102 h 774"/>
                        <a:gd name="T58" fmla="*/ 105 w 342"/>
                        <a:gd name="T59" fmla="*/ 0 h 77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42"/>
                        <a:gd name="T91" fmla="*/ 0 h 774"/>
                        <a:gd name="T92" fmla="*/ 342 w 342"/>
                        <a:gd name="T93" fmla="*/ 774 h 77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42" h="774">
                          <a:moveTo>
                            <a:pt x="105" y="0"/>
                          </a:moveTo>
                          <a:lnTo>
                            <a:pt x="24" y="59"/>
                          </a:lnTo>
                          <a:lnTo>
                            <a:pt x="0" y="242"/>
                          </a:lnTo>
                          <a:lnTo>
                            <a:pt x="64" y="360"/>
                          </a:lnTo>
                          <a:lnTo>
                            <a:pt x="64" y="381"/>
                          </a:lnTo>
                          <a:lnTo>
                            <a:pt x="70" y="414"/>
                          </a:lnTo>
                          <a:lnTo>
                            <a:pt x="76" y="430"/>
                          </a:lnTo>
                          <a:lnTo>
                            <a:pt x="64" y="559"/>
                          </a:lnTo>
                          <a:lnTo>
                            <a:pt x="47" y="768"/>
                          </a:lnTo>
                          <a:lnTo>
                            <a:pt x="64" y="774"/>
                          </a:lnTo>
                          <a:lnTo>
                            <a:pt x="105" y="763"/>
                          </a:lnTo>
                          <a:lnTo>
                            <a:pt x="128" y="618"/>
                          </a:lnTo>
                          <a:lnTo>
                            <a:pt x="140" y="569"/>
                          </a:lnTo>
                          <a:lnTo>
                            <a:pt x="180" y="430"/>
                          </a:lnTo>
                          <a:lnTo>
                            <a:pt x="186" y="575"/>
                          </a:lnTo>
                          <a:lnTo>
                            <a:pt x="203" y="747"/>
                          </a:lnTo>
                          <a:lnTo>
                            <a:pt x="261" y="752"/>
                          </a:lnTo>
                          <a:lnTo>
                            <a:pt x="267" y="564"/>
                          </a:lnTo>
                          <a:lnTo>
                            <a:pt x="261" y="376"/>
                          </a:lnTo>
                          <a:lnTo>
                            <a:pt x="261" y="285"/>
                          </a:lnTo>
                          <a:lnTo>
                            <a:pt x="273" y="252"/>
                          </a:lnTo>
                          <a:lnTo>
                            <a:pt x="279" y="258"/>
                          </a:lnTo>
                          <a:lnTo>
                            <a:pt x="337" y="226"/>
                          </a:lnTo>
                          <a:lnTo>
                            <a:pt x="342" y="167"/>
                          </a:lnTo>
                          <a:lnTo>
                            <a:pt x="250" y="22"/>
                          </a:lnTo>
                          <a:lnTo>
                            <a:pt x="186" y="0"/>
                          </a:lnTo>
                          <a:lnTo>
                            <a:pt x="198" y="97"/>
                          </a:lnTo>
                          <a:lnTo>
                            <a:pt x="186" y="193"/>
                          </a:lnTo>
                          <a:lnTo>
                            <a:pt x="157" y="102"/>
                          </a:lnTo>
                          <a:lnTo>
                            <a:pt x="105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" name="Freeform 43"/>
                    <p:cNvSpPr>
                      <a:spLocks/>
                    </p:cNvSpPr>
                    <p:nvPr/>
                  </p:nvSpPr>
                  <p:spPr bwMode="auto">
                    <a:xfrm>
                      <a:off x="2821" y="1498"/>
                      <a:ext cx="87" cy="199"/>
                    </a:xfrm>
                    <a:custGeom>
                      <a:avLst/>
                      <a:gdLst>
                        <a:gd name="T0" fmla="*/ 40 w 87"/>
                        <a:gd name="T1" fmla="*/ 0 h 199"/>
                        <a:gd name="T2" fmla="*/ 52 w 87"/>
                        <a:gd name="T3" fmla="*/ 48 h 199"/>
                        <a:gd name="T4" fmla="*/ 46 w 87"/>
                        <a:gd name="T5" fmla="*/ 118 h 199"/>
                        <a:gd name="T6" fmla="*/ 0 w 87"/>
                        <a:gd name="T7" fmla="*/ 129 h 199"/>
                        <a:gd name="T8" fmla="*/ 46 w 87"/>
                        <a:gd name="T9" fmla="*/ 134 h 199"/>
                        <a:gd name="T10" fmla="*/ 58 w 87"/>
                        <a:gd name="T11" fmla="*/ 177 h 199"/>
                        <a:gd name="T12" fmla="*/ 87 w 87"/>
                        <a:gd name="T13" fmla="*/ 199 h 199"/>
                        <a:gd name="T14" fmla="*/ 75 w 87"/>
                        <a:gd name="T15" fmla="*/ 161 h 199"/>
                        <a:gd name="T16" fmla="*/ 69 w 87"/>
                        <a:gd name="T17" fmla="*/ 145 h 199"/>
                        <a:gd name="T18" fmla="*/ 64 w 87"/>
                        <a:gd name="T19" fmla="*/ 97 h 199"/>
                        <a:gd name="T20" fmla="*/ 40 w 87"/>
                        <a:gd name="T21" fmla="*/ 0 h 199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w 87"/>
                        <a:gd name="T34" fmla="*/ 0 h 199"/>
                        <a:gd name="T35" fmla="*/ 87 w 87"/>
                        <a:gd name="T36" fmla="*/ 199 h 199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T33" t="T34" r="T35" b="T36"/>
                      <a:pathLst>
                        <a:path w="87" h="199">
                          <a:moveTo>
                            <a:pt x="40" y="0"/>
                          </a:moveTo>
                          <a:lnTo>
                            <a:pt x="52" y="48"/>
                          </a:lnTo>
                          <a:lnTo>
                            <a:pt x="46" y="118"/>
                          </a:lnTo>
                          <a:lnTo>
                            <a:pt x="0" y="129"/>
                          </a:lnTo>
                          <a:lnTo>
                            <a:pt x="46" y="134"/>
                          </a:lnTo>
                          <a:lnTo>
                            <a:pt x="58" y="177"/>
                          </a:lnTo>
                          <a:lnTo>
                            <a:pt x="87" y="199"/>
                          </a:lnTo>
                          <a:lnTo>
                            <a:pt x="75" y="161"/>
                          </a:lnTo>
                          <a:lnTo>
                            <a:pt x="69" y="145"/>
                          </a:lnTo>
                          <a:lnTo>
                            <a:pt x="64" y="97"/>
                          </a:lnTo>
                          <a:lnTo>
                            <a:pt x="40" y="0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6" name="Freeform 44"/>
                    <p:cNvSpPr>
                      <a:spLocks/>
                    </p:cNvSpPr>
                    <p:nvPr/>
                  </p:nvSpPr>
                  <p:spPr bwMode="auto">
                    <a:xfrm>
                      <a:off x="2902" y="1509"/>
                      <a:ext cx="29" cy="27"/>
                    </a:xfrm>
                    <a:custGeom>
                      <a:avLst/>
                      <a:gdLst>
                        <a:gd name="T0" fmla="*/ 0 w 29"/>
                        <a:gd name="T1" fmla="*/ 27 h 27"/>
                        <a:gd name="T2" fmla="*/ 6 w 29"/>
                        <a:gd name="T3" fmla="*/ 0 h 27"/>
                        <a:gd name="T4" fmla="*/ 29 w 29"/>
                        <a:gd name="T5" fmla="*/ 21 h 27"/>
                        <a:gd name="T6" fmla="*/ 0 w 29"/>
                        <a:gd name="T7" fmla="*/ 27 h 2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"/>
                        <a:gd name="T13" fmla="*/ 0 h 27"/>
                        <a:gd name="T14" fmla="*/ 29 w 29"/>
                        <a:gd name="T15" fmla="*/ 27 h 2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" h="27">
                          <a:moveTo>
                            <a:pt x="0" y="27"/>
                          </a:moveTo>
                          <a:lnTo>
                            <a:pt x="6" y="0"/>
                          </a:lnTo>
                          <a:lnTo>
                            <a:pt x="29" y="21"/>
                          </a:lnTo>
                          <a:lnTo>
                            <a:pt x="0" y="27"/>
                          </a:lnTo>
                          <a:close/>
                        </a:path>
                      </a:pathLst>
                    </a:custGeom>
                    <a:solidFill>
                      <a:srgbClr val="FFD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20" name="Group 45"/>
              <p:cNvGrpSpPr>
                <a:grpSpLocks/>
              </p:cNvGrpSpPr>
              <p:nvPr/>
            </p:nvGrpSpPr>
            <p:grpSpPr bwMode="auto">
              <a:xfrm>
                <a:off x="2896" y="1278"/>
                <a:ext cx="186" cy="386"/>
                <a:chOff x="2896" y="1278"/>
                <a:chExt cx="186" cy="386"/>
              </a:xfrm>
            </p:grpSpPr>
            <p:grpSp>
              <p:nvGrpSpPr>
                <p:cNvPr id="21" name="Group 46"/>
                <p:cNvGrpSpPr>
                  <a:grpSpLocks/>
                </p:cNvGrpSpPr>
                <p:nvPr/>
              </p:nvGrpSpPr>
              <p:grpSpPr bwMode="auto">
                <a:xfrm>
                  <a:off x="2896" y="1278"/>
                  <a:ext cx="110" cy="150"/>
                  <a:chOff x="2896" y="1278"/>
                  <a:chExt cx="110" cy="150"/>
                </a:xfrm>
              </p:grpSpPr>
              <p:grpSp>
                <p:nvGrpSpPr>
                  <p:cNvPr id="23" name="Group 47"/>
                  <p:cNvGrpSpPr>
                    <a:grpSpLocks/>
                  </p:cNvGrpSpPr>
                  <p:nvPr/>
                </p:nvGrpSpPr>
                <p:grpSpPr bwMode="auto">
                  <a:xfrm>
                    <a:off x="2902" y="1283"/>
                    <a:ext cx="99" cy="145"/>
                    <a:chOff x="2902" y="1283"/>
                    <a:chExt cx="99" cy="145"/>
                  </a:xfrm>
                </p:grpSpPr>
                <p:sp>
                  <p:nvSpPr>
                    <p:cNvPr id="25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2902" y="1283"/>
                      <a:ext cx="99" cy="145"/>
                    </a:xfrm>
                    <a:custGeom>
                      <a:avLst/>
                      <a:gdLst>
                        <a:gd name="T0" fmla="*/ 93 w 99"/>
                        <a:gd name="T1" fmla="*/ 22 h 145"/>
                        <a:gd name="T2" fmla="*/ 99 w 99"/>
                        <a:gd name="T3" fmla="*/ 48 h 145"/>
                        <a:gd name="T4" fmla="*/ 93 w 99"/>
                        <a:gd name="T5" fmla="*/ 54 h 145"/>
                        <a:gd name="T6" fmla="*/ 99 w 99"/>
                        <a:gd name="T7" fmla="*/ 65 h 145"/>
                        <a:gd name="T8" fmla="*/ 93 w 99"/>
                        <a:gd name="T9" fmla="*/ 70 h 145"/>
                        <a:gd name="T10" fmla="*/ 93 w 99"/>
                        <a:gd name="T11" fmla="*/ 86 h 145"/>
                        <a:gd name="T12" fmla="*/ 93 w 99"/>
                        <a:gd name="T13" fmla="*/ 97 h 145"/>
                        <a:gd name="T14" fmla="*/ 93 w 99"/>
                        <a:gd name="T15" fmla="*/ 108 h 145"/>
                        <a:gd name="T16" fmla="*/ 87 w 99"/>
                        <a:gd name="T17" fmla="*/ 118 h 145"/>
                        <a:gd name="T18" fmla="*/ 81 w 99"/>
                        <a:gd name="T19" fmla="*/ 124 h 145"/>
                        <a:gd name="T20" fmla="*/ 81 w 99"/>
                        <a:gd name="T21" fmla="*/ 129 h 145"/>
                        <a:gd name="T22" fmla="*/ 64 w 99"/>
                        <a:gd name="T23" fmla="*/ 145 h 145"/>
                        <a:gd name="T24" fmla="*/ 12 w 99"/>
                        <a:gd name="T25" fmla="*/ 124 h 145"/>
                        <a:gd name="T26" fmla="*/ 12 w 99"/>
                        <a:gd name="T27" fmla="*/ 91 h 145"/>
                        <a:gd name="T28" fmla="*/ 12 w 99"/>
                        <a:gd name="T29" fmla="*/ 86 h 145"/>
                        <a:gd name="T30" fmla="*/ 6 w 99"/>
                        <a:gd name="T31" fmla="*/ 81 h 145"/>
                        <a:gd name="T32" fmla="*/ 0 w 99"/>
                        <a:gd name="T33" fmla="*/ 70 h 145"/>
                        <a:gd name="T34" fmla="*/ 0 w 99"/>
                        <a:gd name="T35" fmla="*/ 54 h 145"/>
                        <a:gd name="T36" fmla="*/ 6 w 99"/>
                        <a:gd name="T37" fmla="*/ 48 h 145"/>
                        <a:gd name="T38" fmla="*/ 6 w 99"/>
                        <a:gd name="T39" fmla="*/ 43 h 145"/>
                        <a:gd name="T40" fmla="*/ 6 w 99"/>
                        <a:gd name="T41" fmla="*/ 32 h 145"/>
                        <a:gd name="T42" fmla="*/ 6 w 99"/>
                        <a:gd name="T43" fmla="*/ 27 h 145"/>
                        <a:gd name="T44" fmla="*/ 12 w 99"/>
                        <a:gd name="T45" fmla="*/ 16 h 145"/>
                        <a:gd name="T46" fmla="*/ 12 w 99"/>
                        <a:gd name="T47" fmla="*/ 11 h 145"/>
                        <a:gd name="T48" fmla="*/ 23 w 99"/>
                        <a:gd name="T49" fmla="*/ 0 h 145"/>
                        <a:gd name="T50" fmla="*/ 35 w 99"/>
                        <a:gd name="T51" fmla="*/ 0 h 145"/>
                        <a:gd name="T52" fmla="*/ 46 w 99"/>
                        <a:gd name="T53" fmla="*/ 0 h 145"/>
                        <a:gd name="T54" fmla="*/ 58 w 99"/>
                        <a:gd name="T55" fmla="*/ 0 h 145"/>
                        <a:gd name="T56" fmla="*/ 64 w 99"/>
                        <a:gd name="T57" fmla="*/ 0 h 145"/>
                        <a:gd name="T58" fmla="*/ 75 w 99"/>
                        <a:gd name="T59" fmla="*/ 0 h 145"/>
                        <a:gd name="T60" fmla="*/ 87 w 99"/>
                        <a:gd name="T61" fmla="*/ 5 h 145"/>
                        <a:gd name="T62" fmla="*/ 87 w 99"/>
                        <a:gd name="T63" fmla="*/ 11 h 145"/>
                        <a:gd name="T64" fmla="*/ 93 w 99"/>
                        <a:gd name="T65" fmla="*/ 16 h 145"/>
                        <a:gd name="T66" fmla="*/ 93 w 99"/>
                        <a:gd name="T67" fmla="*/ 22 h 145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w 99"/>
                        <a:gd name="T103" fmla="*/ 0 h 145"/>
                        <a:gd name="T104" fmla="*/ 99 w 99"/>
                        <a:gd name="T105" fmla="*/ 145 h 145"/>
                      </a:gdLst>
                      <a:ahLst/>
                      <a:cxnLst>
                        <a:cxn ang="T68">
                          <a:pos x="T0" y="T1"/>
                        </a:cxn>
                        <a:cxn ang="T69">
                          <a:pos x="T2" y="T3"/>
                        </a:cxn>
                        <a:cxn ang="T70">
                          <a:pos x="T4" y="T5"/>
                        </a:cxn>
                        <a:cxn ang="T71">
                          <a:pos x="T6" y="T7"/>
                        </a:cxn>
                        <a:cxn ang="T72">
                          <a:pos x="T8" y="T9"/>
                        </a:cxn>
                        <a:cxn ang="T73">
                          <a:pos x="T10" y="T11"/>
                        </a:cxn>
                        <a:cxn ang="T74">
                          <a:pos x="T12" y="T13"/>
                        </a:cxn>
                        <a:cxn ang="T75">
                          <a:pos x="T14" y="T15"/>
                        </a:cxn>
                        <a:cxn ang="T76">
                          <a:pos x="T16" y="T17"/>
                        </a:cxn>
                        <a:cxn ang="T77">
                          <a:pos x="T18" y="T19"/>
                        </a:cxn>
                        <a:cxn ang="T78">
                          <a:pos x="T20" y="T21"/>
                        </a:cxn>
                        <a:cxn ang="T79">
                          <a:pos x="T22" y="T23"/>
                        </a:cxn>
                        <a:cxn ang="T80">
                          <a:pos x="T24" y="T25"/>
                        </a:cxn>
                        <a:cxn ang="T81">
                          <a:pos x="T26" y="T27"/>
                        </a:cxn>
                        <a:cxn ang="T82">
                          <a:pos x="T28" y="T29"/>
                        </a:cxn>
                        <a:cxn ang="T83">
                          <a:pos x="T30" y="T31"/>
                        </a:cxn>
                        <a:cxn ang="T84">
                          <a:pos x="T32" y="T33"/>
                        </a:cxn>
                        <a:cxn ang="T85">
                          <a:pos x="T34" y="T35"/>
                        </a:cxn>
                        <a:cxn ang="T86">
                          <a:pos x="T36" y="T37"/>
                        </a:cxn>
                        <a:cxn ang="T87">
                          <a:pos x="T38" y="T39"/>
                        </a:cxn>
                        <a:cxn ang="T88">
                          <a:pos x="T40" y="T41"/>
                        </a:cxn>
                        <a:cxn ang="T89">
                          <a:pos x="T42" y="T43"/>
                        </a:cxn>
                        <a:cxn ang="T90">
                          <a:pos x="T44" y="T45"/>
                        </a:cxn>
                        <a:cxn ang="T91">
                          <a:pos x="T46" y="T47"/>
                        </a:cxn>
                        <a:cxn ang="T92">
                          <a:pos x="T48" y="T49"/>
                        </a:cxn>
                        <a:cxn ang="T93">
                          <a:pos x="T50" y="T51"/>
                        </a:cxn>
                        <a:cxn ang="T94">
                          <a:pos x="T52" y="T53"/>
                        </a:cxn>
                        <a:cxn ang="T95">
                          <a:pos x="T54" y="T55"/>
                        </a:cxn>
                        <a:cxn ang="T96">
                          <a:pos x="T56" y="T57"/>
                        </a:cxn>
                        <a:cxn ang="T97">
                          <a:pos x="T58" y="T59"/>
                        </a:cxn>
                        <a:cxn ang="T98">
                          <a:pos x="T60" y="T61"/>
                        </a:cxn>
                        <a:cxn ang="T99">
                          <a:pos x="T62" y="T63"/>
                        </a:cxn>
                        <a:cxn ang="T100">
                          <a:pos x="T64" y="T65"/>
                        </a:cxn>
                        <a:cxn ang="T101">
                          <a:pos x="T66" y="T67"/>
                        </a:cxn>
                      </a:cxnLst>
                      <a:rect l="T102" t="T103" r="T104" b="T105"/>
                      <a:pathLst>
                        <a:path w="99" h="145">
                          <a:moveTo>
                            <a:pt x="93" y="22"/>
                          </a:moveTo>
                          <a:lnTo>
                            <a:pt x="99" y="48"/>
                          </a:lnTo>
                          <a:lnTo>
                            <a:pt x="93" y="54"/>
                          </a:lnTo>
                          <a:lnTo>
                            <a:pt x="99" y="65"/>
                          </a:lnTo>
                          <a:lnTo>
                            <a:pt x="93" y="70"/>
                          </a:lnTo>
                          <a:lnTo>
                            <a:pt x="93" y="86"/>
                          </a:lnTo>
                          <a:lnTo>
                            <a:pt x="93" y="97"/>
                          </a:lnTo>
                          <a:lnTo>
                            <a:pt x="93" y="108"/>
                          </a:lnTo>
                          <a:lnTo>
                            <a:pt x="87" y="118"/>
                          </a:lnTo>
                          <a:lnTo>
                            <a:pt x="81" y="124"/>
                          </a:lnTo>
                          <a:lnTo>
                            <a:pt x="81" y="129"/>
                          </a:lnTo>
                          <a:lnTo>
                            <a:pt x="64" y="145"/>
                          </a:lnTo>
                          <a:lnTo>
                            <a:pt x="12" y="124"/>
                          </a:lnTo>
                          <a:lnTo>
                            <a:pt x="12" y="91"/>
                          </a:lnTo>
                          <a:lnTo>
                            <a:pt x="12" y="86"/>
                          </a:lnTo>
                          <a:lnTo>
                            <a:pt x="6" y="81"/>
                          </a:lnTo>
                          <a:lnTo>
                            <a:pt x="0" y="70"/>
                          </a:lnTo>
                          <a:lnTo>
                            <a:pt x="0" y="54"/>
                          </a:lnTo>
                          <a:lnTo>
                            <a:pt x="6" y="48"/>
                          </a:lnTo>
                          <a:lnTo>
                            <a:pt x="6" y="43"/>
                          </a:lnTo>
                          <a:lnTo>
                            <a:pt x="6" y="32"/>
                          </a:lnTo>
                          <a:lnTo>
                            <a:pt x="6" y="27"/>
                          </a:lnTo>
                          <a:lnTo>
                            <a:pt x="12" y="16"/>
                          </a:lnTo>
                          <a:lnTo>
                            <a:pt x="12" y="11"/>
                          </a:lnTo>
                          <a:lnTo>
                            <a:pt x="23" y="0"/>
                          </a:lnTo>
                          <a:lnTo>
                            <a:pt x="35" y="0"/>
                          </a:lnTo>
                          <a:lnTo>
                            <a:pt x="46" y="0"/>
                          </a:lnTo>
                          <a:lnTo>
                            <a:pt x="58" y="0"/>
                          </a:lnTo>
                          <a:lnTo>
                            <a:pt x="64" y="0"/>
                          </a:lnTo>
                          <a:lnTo>
                            <a:pt x="75" y="0"/>
                          </a:lnTo>
                          <a:lnTo>
                            <a:pt x="87" y="5"/>
                          </a:lnTo>
                          <a:lnTo>
                            <a:pt x="87" y="11"/>
                          </a:lnTo>
                          <a:lnTo>
                            <a:pt x="93" y="16"/>
                          </a:lnTo>
                          <a:lnTo>
                            <a:pt x="93" y="22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6" name="Group 4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14" y="1331"/>
                      <a:ext cx="81" cy="70"/>
                      <a:chOff x="2914" y="1331"/>
                      <a:chExt cx="81" cy="70"/>
                    </a:xfrm>
                  </p:grpSpPr>
                  <p:sp>
                    <p:nvSpPr>
                      <p:cNvPr id="27" name="Freeform 5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43" y="1331"/>
                        <a:ext cx="34" cy="11"/>
                      </a:xfrm>
                      <a:custGeom>
                        <a:avLst/>
                        <a:gdLst>
                          <a:gd name="T0" fmla="*/ 0 w 34"/>
                          <a:gd name="T1" fmla="*/ 0 h 11"/>
                          <a:gd name="T2" fmla="*/ 17 w 34"/>
                          <a:gd name="T3" fmla="*/ 0 h 11"/>
                          <a:gd name="T4" fmla="*/ 23 w 34"/>
                          <a:gd name="T5" fmla="*/ 0 h 11"/>
                          <a:gd name="T6" fmla="*/ 29 w 34"/>
                          <a:gd name="T7" fmla="*/ 6 h 11"/>
                          <a:gd name="T8" fmla="*/ 34 w 34"/>
                          <a:gd name="T9" fmla="*/ 6 h 11"/>
                          <a:gd name="T10" fmla="*/ 29 w 34"/>
                          <a:gd name="T11" fmla="*/ 6 h 11"/>
                          <a:gd name="T12" fmla="*/ 29 w 34"/>
                          <a:gd name="T13" fmla="*/ 11 h 11"/>
                          <a:gd name="T14" fmla="*/ 29 w 34"/>
                          <a:gd name="T15" fmla="*/ 11 h 11"/>
                          <a:gd name="T16" fmla="*/ 17 w 34"/>
                          <a:gd name="T17" fmla="*/ 11 h 11"/>
                          <a:gd name="T18" fmla="*/ 5 w 34"/>
                          <a:gd name="T19" fmla="*/ 11 h 11"/>
                          <a:gd name="T20" fmla="*/ 11 w 34"/>
                          <a:gd name="T21" fmla="*/ 11 h 11"/>
                          <a:gd name="T22" fmla="*/ 5 w 34"/>
                          <a:gd name="T23" fmla="*/ 6 h 11"/>
                          <a:gd name="T24" fmla="*/ 0 w 34"/>
                          <a:gd name="T25" fmla="*/ 0 h 11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  <a:gd name="T30" fmla="*/ 0 60000 65536"/>
                          <a:gd name="T31" fmla="*/ 0 60000 65536"/>
                          <a:gd name="T32" fmla="*/ 0 60000 65536"/>
                          <a:gd name="T33" fmla="*/ 0 60000 65536"/>
                          <a:gd name="T34" fmla="*/ 0 60000 65536"/>
                          <a:gd name="T35" fmla="*/ 0 60000 65536"/>
                          <a:gd name="T36" fmla="*/ 0 60000 65536"/>
                          <a:gd name="T37" fmla="*/ 0 60000 65536"/>
                          <a:gd name="T38" fmla="*/ 0 60000 65536"/>
                          <a:gd name="T39" fmla="*/ 0 w 34"/>
                          <a:gd name="T40" fmla="*/ 0 h 11"/>
                          <a:gd name="T41" fmla="*/ 34 w 34"/>
                          <a:gd name="T42" fmla="*/ 11 h 11"/>
                        </a:gdLst>
                        <a:ahLst/>
                        <a:cxnLst>
                          <a:cxn ang="T26">
                            <a:pos x="T0" y="T1"/>
                          </a:cxn>
                          <a:cxn ang="T27">
                            <a:pos x="T2" y="T3"/>
                          </a:cxn>
                          <a:cxn ang="T28">
                            <a:pos x="T4" y="T5"/>
                          </a:cxn>
                          <a:cxn ang="T29">
                            <a:pos x="T6" y="T7"/>
                          </a:cxn>
                          <a:cxn ang="T30">
                            <a:pos x="T8" y="T9"/>
                          </a:cxn>
                          <a:cxn ang="T31">
                            <a:pos x="T10" y="T11"/>
                          </a:cxn>
                          <a:cxn ang="T32">
                            <a:pos x="T12" y="T13"/>
                          </a:cxn>
                          <a:cxn ang="T33">
                            <a:pos x="T14" y="T15"/>
                          </a:cxn>
                          <a:cxn ang="T34">
                            <a:pos x="T16" y="T17"/>
                          </a:cxn>
                          <a:cxn ang="T35">
                            <a:pos x="T18" y="T19"/>
                          </a:cxn>
                          <a:cxn ang="T36">
                            <a:pos x="T20" y="T21"/>
                          </a:cxn>
                          <a:cxn ang="T37">
                            <a:pos x="T22" y="T23"/>
                          </a:cxn>
                          <a:cxn ang="T38">
                            <a:pos x="T24" y="T25"/>
                          </a:cxn>
                        </a:cxnLst>
                        <a:rect l="T39" t="T40" r="T41" b="T42"/>
                        <a:pathLst>
                          <a:path w="34" h="11">
                            <a:moveTo>
                              <a:pt x="0" y="0"/>
                            </a:moveTo>
                            <a:lnTo>
                              <a:pt x="17" y="0"/>
                            </a:lnTo>
                            <a:lnTo>
                              <a:pt x="23" y="0"/>
                            </a:lnTo>
                            <a:lnTo>
                              <a:pt x="29" y="6"/>
                            </a:lnTo>
                            <a:lnTo>
                              <a:pt x="34" y="6"/>
                            </a:lnTo>
                            <a:lnTo>
                              <a:pt x="29" y="6"/>
                            </a:lnTo>
                            <a:lnTo>
                              <a:pt x="29" y="11"/>
                            </a:lnTo>
                            <a:lnTo>
                              <a:pt x="17" y="11"/>
                            </a:lnTo>
                            <a:lnTo>
                              <a:pt x="5" y="11"/>
                            </a:lnTo>
                            <a:lnTo>
                              <a:pt x="11" y="11"/>
                            </a:lnTo>
                            <a:lnTo>
                              <a:pt x="5" y="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8" name="Freeform 5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83" y="1364"/>
                        <a:ext cx="12" cy="10"/>
                      </a:xfrm>
                      <a:custGeom>
                        <a:avLst/>
                        <a:gdLst>
                          <a:gd name="T0" fmla="*/ 0 w 12"/>
                          <a:gd name="T1" fmla="*/ 0 h 10"/>
                          <a:gd name="T2" fmla="*/ 12 w 12"/>
                          <a:gd name="T3" fmla="*/ 0 h 10"/>
                          <a:gd name="T4" fmla="*/ 12 w 12"/>
                          <a:gd name="T5" fmla="*/ 10 h 10"/>
                          <a:gd name="T6" fmla="*/ 0 w 12"/>
                          <a:gd name="T7" fmla="*/ 0 h 10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  <a:gd name="T12" fmla="*/ 0 w 12"/>
                          <a:gd name="T13" fmla="*/ 0 h 10"/>
                          <a:gd name="T14" fmla="*/ 12 w 12"/>
                          <a:gd name="T15" fmla="*/ 10 h 10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T12" t="T13" r="T14" b="T15"/>
                        <a:pathLst>
                          <a:path w="12" h="10">
                            <a:moveTo>
                              <a:pt x="0" y="0"/>
                            </a:moveTo>
                            <a:lnTo>
                              <a:pt x="12" y="0"/>
                            </a:lnTo>
                            <a:lnTo>
                              <a:pt x="12" y="1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9" name="Freeform 5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14" y="1364"/>
                        <a:ext cx="52" cy="37"/>
                      </a:xfrm>
                      <a:custGeom>
                        <a:avLst/>
                        <a:gdLst>
                          <a:gd name="T0" fmla="*/ 0 w 52"/>
                          <a:gd name="T1" fmla="*/ 5 h 37"/>
                          <a:gd name="T2" fmla="*/ 5 w 52"/>
                          <a:gd name="T3" fmla="*/ 5 h 37"/>
                          <a:gd name="T4" fmla="*/ 23 w 52"/>
                          <a:gd name="T5" fmla="*/ 27 h 37"/>
                          <a:gd name="T6" fmla="*/ 52 w 52"/>
                          <a:gd name="T7" fmla="*/ 37 h 37"/>
                          <a:gd name="T8" fmla="*/ 17 w 52"/>
                          <a:gd name="T9" fmla="*/ 32 h 37"/>
                          <a:gd name="T10" fmla="*/ 5 w 52"/>
                          <a:gd name="T11" fmla="*/ 21 h 37"/>
                          <a:gd name="T12" fmla="*/ 0 w 52"/>
                          <a:gd name="T13" fmla="*/ 21 h 37"/>
                          <a:gd name="T14" fmla="*/ 0 w 52"/>
                          <a:gd name="T15" fmla="*/ 0 h 37"/>
                          <a:gd name="T16" fmla="*/ 0 w 52"/>
                          <a:gd name="T17" fmla="*/ 5 h 37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w 52"/>
                          <a:gd name="T28" fmla="*/ 0 h 37"/>
                          <a:gd name="T29" fmla="*/ 52 w 52"/>
                          <a:gd name="T30" fmla="*/ 37 h 37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T27" t="T28" r="T29" b="T30"/>
                        <a:pathLst>
                          <a:path w="52" h="37">
                            <a:moveTo>
                              <a:pt x="0" y="5"/>
                            </a:moveTo>
                            <a:lnTo>
                              <a:pt x="5" y="5"/>
                            </a:lnTo>
                            <a:lnTo>
                              <a:pt x="23" y="27"/>
                            </a:lnTo>
                            <a:lnTo>
                              <a:pt x="52" y="37"/>
                            </a:lnTo>
                            <a:lnTo>
                              <a:pt x="17" y="32"/>
                            </a:lnTo>
                            <a:lnTo>
                              <a:pt x="5" y="21"/>
                            </a:lnTo>
                            <a:lnTo>
                              <a:pt x="0" y="21"/>
                            </a:lnTo>
                            <a:lnTo>
                              <a:pt x="0" y="0"/>
                            </a:lnTo>
                            <a:lnTo>
                              <a:pt x="0" y="5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24" name="Freeform 53"/>
                  <p:cNvSpPr>
                    <a:spLocks/>
                  </p:cNvSpPr>
                  <p:nvPr/>
                </p:nvSpPr>
                <p:spPr bwMode="auto">
                  <a:xfrm>
                    <a:off x="2896" y="1278"/>
                    <a:ext cx="110" cy="96"/>
                  </a:xfrm>
                  <a:custGeom>
                    <a:avLst/>
                    <a:gdLst>
                      <a:gd name="T0" fmla="*/ 18 w 110"/>
                      <a:gd name="T1" fmla="*/ 96 h 96"/>
                      <a:gd name="T2" fmla="*/ 12 w 110"/>
                      <a:gd name="T3" fmla="*/ 86 h 96"/>
                      <a:gd name="T4" fmla="*/ 6 w 110"/>
                      <a:gd name="T5" fmla="*/ 70 h 96"/>
                      <a:gd name="T6" fmla="*/ 0 w 110"/>
                      <a:gd name="T7" fmla="*/ 53 h 96"/>
                      <a:gd name="T8" fmla="*/ 0 w 110"/>
                      <a:gd name="T9" fmla="*/ 32 h 96"/>
                      <a:gd name="T10" fmla="*/ 6 w 110"/>
                      <a:gd name="T11" fmla="*/ 16 h 96"/>
                      <a:gd name="T12" fmla="*/ 18 w 110"/>
                      <a:gd name="T13" fmla="*/ 10 h 96"/>
                      <a:gd name="T14" fmla="*/ 29 w 110"/>
                      <a:gd name="T15" fmla="*/ 5 h 96"/>
                      <a:gd name="T16" fmla="*/ 52 w 110"/>
                      <a:gd name="T17" fmla="*/ 0 h 96"/>
                      <a:gd name="T18" fmla="*/ 76 w 110"/>
                      <a:gd name="T19" fmla="*/ 5 h 96"/>
                      <a:gd name="T20" fmla="*/ 93 w 110"/>
                      <a:gd name="T21" fmla="*/ 10 h 96"/>
                      <a:gd name="T22" fmla="*/ 105 w 110"/>
                      <a:gd name="T23" fmla="*/ 10 h 96"/>
                      <a:gd name="T24" fmla="*/ 110 w 110"/>
                      <a:gd name="T25" fmla="*/ 10 h 96"/>
                      <a:gd name="T26" fmla="*/ 105 w 110"/>
                      <a:gd name="T27" fmla="*/ 16 h 96"/>
                      <a:gd name="T28" fmla="*/ 99 w 110"/>
                      <a:gd name="T29" fmla="*/ 27 h 96"/>
                      <a:gd name="T30" fmla="*/ 99 w 110"/>
                      <a:gd name="T31" fmla="*/ 32 h 96"/>
                      <a:gd name="T32" fmla="*/ 93 w 110"/>
                      <a:gd name="T33" fmla="*/ 27 h 96"/>
                      <a:gd name="T34" fmla="*/ 76 w 110"/>
                      <a:gd name="T35" fmla="*/ 21 h 96"/>
                      <a:gd name="T36" fmla="*/ 64 w 110"/>
                      <a:gd name="T37" fmla="*/ 21 h 96"/>
                      <a:gd name="T38" fmla="*/ 52 w 110"/>
                      <a:gd name="T39" fmla="*/ 21 h 96"/>
                      <a:gd name="T40" fmla="*/ 41 w 110"/>
                      <a:gd name="T41" fmla="*/ 21 h 96"/>
                      <a:gd name="T42" fmla="*/ 47 w 110"/>
                      <a:gd name="T43" fmla="*/ 27 h 96"/>
                      <a:gd name="T44" fmla="*/ 47 w 110"/>
                      <a:gd name="T45" fmla="*/ 32 h 96"/>
                      <a:gd name="T46" fmla="*/ 41 w 110"/>
                      <a:gd name="T47" fmla="*/ 37 h 96"/>
                      <a:gd name="T48" fmla="*/ 35 w 110"/>
                      <a:gd name="T49" fmla="*/ 48 h 96"/>
                      <a:gd name="T50" fmla="*/ 29 w 110"/>
                      <a:gd name="T51" fmla="*/ 59 h 96"/>
                      <a:gd name="T52" fmla="*/ 29 w 110"/>
                      <a:gd name="T53" fmla="*/ 70 h 96"/>
                      <a:gd name="T54" fmla="*/ 23 w 110"/>
                      <a:gd name="T55" fmla="*/ 64 h 96"/>
                      <a:gd name="T56" fmla="*/ 23 w 110"/>
                      <a:gd name="T57" fmla="*/ 59 h 96"/>
                      <a:gd name="T58" fmla="*/ 18 w 110"/>
                      <a:gd name="T59" fmla="*/ 53 h 96"/>
                      <a:gd name="T60" fmla="*/ 6 w 110"/>
                      <a:gd name="T61" fmla="*/ 59 h 96"/>
                      <a:gd name="T62" fmla="*/ 6 w 110"/>
                      <a:gd name="T63" fmla="*/ 59 h 96"/>
                      <a:gd name="T64" fmla="*/ 12 w 110"/>
                      <a:gd name="T65" fmla="*/ 80 h 96"/>
                      <a:gd name="T66" fmla="*/ 12 w 110"/>
                      <a:gd name="T67" fmla="*/ 86 h 96"/>
                      <a:gd name="T68" fmla="*/ 18 w 110"/>
                      <a:gd name="T69" fmla="*/ 96 h 9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w 110"/>
                      <a:gd name="T106" fmla="*/ 0 h 96"/>
                      <a:gd name="T107" fmla="*/ 110 w 110"/>
                      <a:gd name="T108" fmla="*/ 96 h 96"/>
                    </a:gdLst>
                    <a:ahLst/>
                    <a:cxnLst>
                      <a:cxn ang="T70">
                        <a:pos x="T0" y="T1"/>
                      </a:cxn>
                      <a:cxn ang="T71">
                        <a:pos x="T2" y="T3"/>
                      </a:cxn>
                      <a:cxn ang="T72">
                        <a:pos x="T4" y="T5"/>
                      </a:cxn>
                      <a:cxn ang="T73">
                        <a:pos x="T6" y="T7"/>
                      </a:cxn>
                      <a:cxn ang="T74">
                        <a:pos x="T8" y="T9"/>
                      </a:cxn>
                      <a:cxn ang="T75">
                        <a:pos x="T10" y="T11"/>
                      </a:cxn>
                      <a:cxn ang="T76">
                        <a:pos x="T12" y="T13"/>
                      </a:cxn>
                      <a:cxn ang="T77">
                        <a:pos x="T14" y="T15"/>
                      </a:cxn>
                      <a:cxn ang="T78">
                        <a:pos x="T16" y="T17"/>
                      </a:cxn>
                      <a:cxn ang="T79">
                        <a:pos x="T18" y="T19"/>
                      </a:cxn>
                      <a:cxn ang="T80">
                        <a:pos x="T20" y="T21"/>
                      </a:cxn>
                      <a:cxn ang="T81">
                        <a:pos x="T22" y="T23"/>
                      </a:cxn>
                      <a:cxn ang="T82">
                        <a:pos x="T24" y="T25"/>
                      </a:cxn>
                      <a:cxn ang="T83">
                        <a:pos x="T26" y="T27"/>
                      </a:cxn>
                      <a:cxn ang="T84">
                        <a:pos x="T28" y="T29"/>
                      </a:cxn>
                      <a:cxn ang="T85">
                        <a:pos x="T30" y="T31"/>
                      </a:cxn>
                      <a:cxn ang="T86">
                        <a:pos x="T32" y="T33"/>
                      </a:cxn>
                      <a:cxn ang="T87">
                        <a:pos x="T34" y="T35"/>
                      </a:cxn>
                      <a:cxn ang="T88">
                        <a:pos x="T36" y="T37"/>
                      </a:cxn>
                      <a:cxn ang="T89">
                        <a:pos x="T38" y="T39"/>
                      </a:cxn>
                      <a:cxn ang="T90">
                        <a:pos x="T40" y="T41"/>
                      </a:cxn>
                      <a:cxn ang="T91">
                        <a:pos x="T42" y="T43"/>
                      </a:cxn>
                      <a:cxn ang="T92">
                        <a:pos x="T44" y="T45"/>
                      </a:cxn>
                      <a:cxn ang="T93">
                        <a:pos x="T46" y="T47"/>
                      </a:cxn>
                      <a:cxn ang="T94">
                        <a:pos x="T48" y="T49"/>
                      </a:cxn>
                      <a:cxn ang="T95">
                        <a:pos x="T50" y="T51"/>
                      </a:cxn>
                      <a:cxn ang="T96">
                        <a:pos x="T52" y="T53"/>
                      </a:cxn>
                      <a:cxn ang="T97">
                        <a:pos x="T54" y="T55"/>
                      </a:cxn>
                      <a:cxn ang="T98">
                        <a:pos x="T56" y="T57"/>
                      </a:cxn>
                      <a:cxn ang="T99">
                        <a:pos x="T58" y="T59"/>
                      </a:cxn>
                      <a:cxn ang="T100">
                        <a:pos x="T60" y="T61"/>
                      </a:cxn>
                      <a:cxn ang="T101">
                        <a:pos x="T62" y="T63"/>
                      </a:cxn>
                      <a:cxn ang="T102">
                        <a:pos x="T64" y="T65"/>
                      </a:cxn>
                      <a:cxn ang="T103">
                        <a:pos x="T66" y="T67"/>
                      </a:cxn>
                      <a:cxn ang="T104">
                        <a:pos x="T68" y="T69"/>
                      </a:cxn>
                    </a:cxnLst>
                    <a:rect l="T105" t="T106" r="T107" b="T108"/>
                    <a:pathLst>
                      <a:path w="110" h="96">
                        <a:moveTo>
                          <a:pt x="18" y="96"/>
                        </a:moveTo>
                        <a:lnTo>
                          <a:pt x="12" y="86"/>
                        </a:lnTo>
                        <a:lnTo>
                          <a:pt x="6" y="70"/>
                        </a:lnTo>
                        <a:lnTo>
                          <a:pt x="0" y="53"/>
                        </a:lnTo>
                        <a:lnTo>
                          <a:pt x="0" y="32"/>
                        </a:lnTo>
                        <a:lnTo>
                          <a:pt x="6" y="16"/>
                        </a:lnTo>
                        <a:lnTo>
                          <a:pt x="18" y="10"/>
                        </a:lnTo>
                        <a:lnTo>
                          <a:pt x="29" y="5"/>
                        </a:lnTo>
                        <a:lnTo>
                          <a:pt x="52" y="0"/>
                        </a:lnTo>
                        <a:lnTo>
                          <a:pt x="76" y="5"/>
                        </a:lnTo>
                        <a:lnTo>
                          <a:pt x="93" y="10"/>
                        </a:lnTo>
                        <a:lnTo>
                          <a:pt x="105" y="10"/>
                        </a:lnTo>
                        <a:lnTo>
                          <a:pt x="110" y="10"/>
                        </a:lnTo>
                        <a:lnTo>
                          <a:pt x="105" y="16"/>
                        </a:lnTo>
                        <a:lnTo>
                          <a:pt x="99" y="27"/>
                        </a:lnTo>
                        <a:lnTo>
                          <a:pt x="99" y="32"/>
                        </a:lnTo>
                        <a:lnTo>
                          <a:pt x="93" y="27"/>
                        </a:lnTo>
                        <a:lnTo>
                          <a:pt x="76" y="21"/>
                        </a:lnTo>
                        <a:lnTo>
                          <a:pt x="64" y="21"/>
                        </a:lnTo>
                        <a:lnTo>
                          <a:pt x="52" y="21"/>
                        </a:lnTo>
                        <a:lnTo>
                          <a:pt x="41" y="21"/>
                        </a:lnTo>
                        <a:lnTo>
                          <a:pt x="47" y="27"/>
                        </a:lnTo>
                        <a:lnTo>
                          <a:pt x="47" y="32"/>
                        </a:lnTo>
                        <a:lnTo>
                          <a:pt x="41" y="37"/>
                        </a:lnTo>
                        <a:lnTo>
                          <a:pt x="35" y="48"/>
                        </a:lnTo>
                        <a:lnTo>
                          <a:pt x="29" y="59"/>
                        </a:lnTo>
                        <a:lnTo>
                          <a:pt x="29" y="70"/>
                        </a:lnTo>
                        <a:lnTo>
                          <a:pt x="23" y="64"/>
                        </a:lnTo>
                        <a:lnTo>
                          <a:pt x="23" y="59"/>
                        </a:lnTo>
                        <a:lnTo>
                          <a:pt x="18" y="53"/>
                        </a:lnTo>
                        <a:lnTo>
                          <a:pt x="6" y="59"/>
                        </a:lnTo>
                        <a:lnTo>
                          <a:pt x="12" y="80"/>
                        </a:lnTo>
                        <a:lnTo>
                          <a:pt x="12" y="86"/>
                        </a:lnTo>
                        <a:lnTo>
                          <a:pt x="18" y="96"/>
                        </a:lnTo>
                        <a:close/>
                      </a:path>
                    </a:pathLst>
                  </a:custGeom>
                  <a:solidFill>
                    <a:srgbClr val="BF7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2" name="Freeform 54"/>
                <p:cNvSpPr>
                  <a:spLocks/>
                </p:cNvSpPr>
                <p:nvPr/>
              </p:nvSpPr>
              <p:spPr bwMode="auto">
                <a:xfrm>
                  <a:off x="2989" y="1622"/>
                  <a:ext cx="93" cy="42"/>
                </a:xfrm>
                <a:custGeom>
                  <a:avLst/>
                  <a:gdLst>
                    <a:gd name="T0" fmla="*/ 93 w 93"/>
                    <a:gd name="T1" fmla="*/ 37 h 42"/>
                    <a:gd name="T2" fmla="*/ 69 w 93"/>
                    <a:gd name="T3" fmla="*/ 42 h 42"/>
                    <a:gd name="T4" fmla="*/ 40 w 93"/>
                    <a:gd name="T5" fmla="*/ 42 h 42"/>
                    <a:gd name="T6" fmla="*/ 17 w 93"/>
                    <a:gd name="T7" fmla="*/ 32 h 42"/>
                    <a:gd name="T8" fmla="*/ 0 w 93"/>
                    <a:gd name="T9" fmla="*/ 5 h 42"/>
                    <a:gd name="T10" fmla="*/ 40 w 93"/>
                    <a:gd name="T11" fmla="*/ 10 h 42"/>
                    <a:gd name="T12" fmla="*/ 40 w 93"/>
                    <a:gd name="T13" fmla="*/ 0 h 42"/>
                    <a:gd name="T14" fmla="*/ 58 w 93"/>
                    <a:gd name="T15" fmla="*/ 0 h 42"/>
                    <a:gd name="T16" fmla="*/ 81 w 93"/>
                    <a:gd name="T17" fmla="*/ 10 h 42"/>
                    <a:gd name="T18" fmla="*/ 87 w 93"/>
                    <a:gd name="T19" fmla="*/ 10 h 42"/>
                    <a:gd name="T20" fmla="*/ 93 w 93"/>
                    <a:gd name="T21" fmla="*/ 37 h 4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93"/>
                    <a:gd name="T34" fmla="*/ 0 h 42"/>
                    <a:gd name="T35" fmla="*/ 93 w 93"/>
                    <a:gd name="T36" fmla="*/ 42 h 4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93" h="42">
                      <a:moveTo>
                        <a:pt x="93" y="37"/>
                      </a:moveTo>
                      <a:lnTo>
                        <a:pt x="69" y="42"/>
                      </a:lnTo>
                      <a:lnTo>
                        <a:pt x="40" y="42"/>
                      </a:lnTo>
                      <a:lnTo>
                        <a:pt x="17" y="32"/>
                      </a:lnTo>
                      <a:lnTo>
                        <a:pt x="0" y="5"/>
                      </a:lnTo>
                      <a:lnTo>
                        <a:pt x="40" y="10"/>
                      </a:lnTo>
                      <a:lnTo>
                        <a:pt x="40" y="0"/>
                      </a:lnTo>
                      <a:lnTo>
                        <a:pt x="58" y="0"/>
                      </a:lnTo>
                      <a:lnTo>
                        <a:pt x="81" y="10"/>
                      </a:lnTo>
                      <a:lnTo>
                        <a:pt x="87" y="10"/>
                      </a:lnTo>
                      <a:lnTo>
                        <a:pt x="93" y="37"/>
                      </a:lnTo>
                      <a:close/>
                    </a:path>
                  </a:pathLst>
                </a:custGeom>
                <a:solidFill>
                  <a:srgbClr val="FF7F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pic>
          <p:nvPicPr>
            <p:cNvPr id="16" name="Picture 55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53" t="11359" r="2036" b="5432"/>
            <a:stretch>
              <a:fillRect/>
            </a:stretch>
          </p:blipFill>
          <p:spPr bwMode="auto">
            <a:xfrm>
              <a:off x="477838" y="3349625"/>
              <a:ext cx="1254125" cy="755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56" descr="bnsf locomotive"/>
            <p:cNvPicPr>
              <a:picLocks noChangeAspect="1" noChangeArrowheads="1"/>
            </p:cNvPicPr>
            <p:nvPr/>
          </p:nvPicPr>
          <p:blipFill>
            <a:blip r:embed="rId8">
              <a:lum bright="22000"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1" y="418147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57" descr="windmills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07" b="28030"/>
            <a:stretch>
              <a:fillRect/>
            </a:stretch>
          </p:blipFill>
          <p:spPr bwMode="auto">
            <a:xfrm>
              <a:off x="479426" y="5167313"/>
              <a:ext cx="1338263" cy="909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80361978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2104-0A3B-2DB3-C8A9-DC375B68D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9899A-3E96-F4DF-0E7F-82781F664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Modeling: Exogenous information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1B0006-6313-C0CB-9760-C901EC534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05" y="2111604"/>
            <a:ext cx="6287478" cy="42891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AD9CBE0-7863-4DFE-BDAF-D535C0A002AC}"/>
              </a:ext>
            </a:extLst>
          </p:cNvPr>
          <p:cNvSpPr txBox="1"/>
          <p:nvPr/>
        </p:nvSpPr>
        <p:spPr>
          <a:xfrm>
            <a:off x="1775644" y="1603000"/>
            <a:ext cx="2643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Language of models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19810A0-7CD2-120E-F614-6EE00197106D}"/>
              </a:ext>
            </a:extLst>
          </p:cNvPr>
          <p:cNvSpPr txBox="1">
            <a:spLocks/>
          </p:cNvSpPr>
          <p:nvPr/>
        </p:nvSpPr>
        <p:spPr>
          <a:xfrm>
            <a:off x="351435" y="2226355"/>
            <a:ext cx="3176427" cy="3206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Clr>
                <a:schemeClr val="accent2">
                  <a:lumMod val="75000"/>
                </a:schemeClr>
              </a:buClr>
              <a:buFont typeface="Raleway"/>
              <a:buNone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12 classes of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Observational errors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Exogenous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Prognostic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Inferential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Experimental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Model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Transitional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Implementation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Communication errors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Algorithmic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Goal uncertainty</a:t>
            </a:r>
          </a:p>
          <a:p>
            <a:pPr marL="771525" indent="-342900">
              <a:buClr>
                <a:schemeClr val="accent2">
                  <a:lumMod val="75000"/>
                </a:schemeClr>
              </a:buClr>
              <a:buSzPct val="100000"/>
              <a:buFont typeface="+mj-lt"/>
              <a:buAutoNum type="arabicParenR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Environmental uncertainty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BE86D-FBAA-E877-81A2-E87171752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377" y="2780905"/>
            <a:ext cx="1851676" cy="27937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DA0A74-FA85-EB77-FF27-203E3178FDED}"/>
              </a:ext>
            </a:extLst>
          </p:cNvPr>
          <p:cNvSpPr txBox="1"/>
          <p:nvPr/>
        </p:nvSpPr>
        <p:spPr>
          <a:xfrm>
            <a:off x="4083120" y="4740428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Chapter 10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5A1BB4F-6D12-E95B-0850-536B21537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6790" y="1668985"/>
            <a:ext cx="4304090" cy="5024563"/>
          </a:xfrm>
          <a:solidFill>
            <a:schemeClr val="bg1"/>
          </a:solidFill>
        </p:spPr>
        <p:txBody>
          <a:bodyPr/>
          <a:lstStyle/>
          <a:p>
            <a:pPr marL="86360" indent="0">
              <a:buNone/>
            </a:pPr>
            <a:endParaRPr lang="en-US" sz="2000" dirty="0"/>
          </a:p>
          <a:p>
            <a:pPr lvl="1"/>
            <a:r>
              <a:rPr lang="en-US" sz="1800" dirty="0"/>
              <a:t>Suppliers:</a:t>
            </a:r>
          </a:p>
          <a:p>
            <a:pPr lvl="2"/>
            <a:r>
              <a:rPr lang="en-US" sz="1400" dirty="0"/>
              <a:t>Daily production, yield</a:t>
            </a:r>
          </a:p>
          <a:p>
            <a:pPr lvl="2"/>
            <a:r>
              <a:rPr lang="en-US" sz="1400" dirty="0"/>
              <a:t>Future commitments</a:t>
            </a:r>
          </a:p>
          <a:p>
            <a:pPr lvl="2"/>
            <a:r>
              <a:rPr lang="en-US" sz="1400" dirty="0"/>
              <a:t>Delivery times</a:t>
            </a:r>
          </a:p>
          <a:p>
            <a:pPr lvl="2"/>
            <a:r>
              <a:rPr lang="en-US" sz="1400" dirty="0"/>
              <a:t>Costs</a:t>
            </a:r>
          </a:p>
          <a:p>
            <a:pPr lvl="1"/>
            <a:r>
              <a:rPr lang="en-US" sz="1800" dirty="0"/>
              <a:t>Market/customers</a:t>
            </a:r>
          </a:p>
          <a:p>
            <a:pPr lvl="2"/>
            <a:r>
              <a:rPr lang="en-US" sz="1400" dirty="0"/>
              <a:t>Orders, returns</a:t>
            </a:r>
          </a:p>
          <a:p>
            <a:pPr lvl="2"/>
            <a:r>
              <a:rPr lang="en-US" sz="1400" dirty="0"/>
              <a:t>Price paid</a:t>
            </a:r>
          </a:p>
          <a:p>
            <a:pPr lvl="2"/>
            <a:r>
              <a:rPr lang="en-US" sz="1400" dirty="0"/>
              <a:t>Service requirements</a:t>
            </a:r>
          </a:p>
          <a:p>
            <a:pPr lvl="1"/>
            <a:r>
              <a:rPr lang="en-US" sz="1800" dirty="0"/>
              <a:t>Personnel</a:t>
            </a:r>
          </a:p>
          <a:p>
            <a:pPr lvl="2"/>
            <a:r>
              <a:rPr lang="en-US" sz="1400" dirty="0"/>
              <a:t>Availability</a:t>
            </a:r>
          </a:p>
          <a:p>
            <a:pPr lvl="2"/>
            <a:r>
              <a:rPr lang="en-US" sz="1400" dirty="0"/>
              <a:t>Departures, hiring</a:t>
            </a:r>
          </a:p>
          <a:p>
            <a:pPr lvl="2"/>
            <a:r>
              <a:rPr lang="en-US" sz="1400" dirty="0"/>
              <a:t>Performance</a:t>
            </a:r>
          </a:p>
          <a:p>
            <a:pPr lvl="1"/>
            <a:r>
              <a:rPr lang="en-US" sz="1600" dirty="0"/>
              <a:t>Equipment</a:t>
            </a:r>
          </a:p>
          <a:p>
            <a:pPr lvl="2"/>
            <a:r>
              <a:rPr lang="en-US" sz="1200" dirty="0"/>
              <a:t>Up-time, failures</a:t>
            </a:r>
          </a:p>
          <a:p>
            <a:pPr lvl="2"/>
            <a:r>
              <a:rPr lang="en-US" sz="1200" dirty="0"/>
              <a:t>Productivity</a:t>
            </a:r>
          </a:p>
          <a:p>
            <a:pPr lvl="1"/>
            <a:r>
              <a:rPr lang="en-US" sz="1800" dirty="0"/>
              <a:t>Network</a:t>
            </a:r>
          </a:p>
          <a:p>
            <a:pPr lvl="2"/>
            <a:r>
              <a:rPr lang="en-US" sz="1400" dirty="0"/>
              <a:t>Transit times</a:t>
            </a:r>
          </a:p>
          <a:p>
            <a:pPr lvl="2"/>
            <a:r>
              <a:rPr lang="en-US" sz="1400" dirty="0"/>
              <a:t>Weather, earthquakes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A773CD-DEB6-663E-4667-813748DBEDFE}"/>
              </a:ext>
            </a:extLst>
          </p:cNvPr>
          <p:cNvSpPr txBox="1"/>
          <p:nvPr/>
        </p:nvSpPr>
        <p:spPr>
          <a:xfrm>
            <a:off x="7078342" y="1590916"/>
            <a:ext cx="4177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Language of the problem domain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B74BD-E2F9-A752-CAF9-B2A8CD96CA66}"/>
              </a:ext>
            </a:extLst>
          </p:cNvPr>
          <p:cNvSpPr txBox="1">
            <a:spLocks/>
          </p:cNvSpPr>
          <p:nvPr/>
        </p:nvSpPr>
        <p:spPr>
          <a:xfrm>
            <a:off x="78858" y="1046029"/>
            <a:ext cx="10363200" cy="678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sz="2400" dirty="0"/>
              <a:t>We have to identify the different classes of uncertainty:</a:t>
            </a:r>
          </a:p>
        </p:txBody>
      </p:sp>
    </p:spTree>
    <p:extLst>
      <p:ext uri="{BB962C8B-B14F-4D97-AF65-F5344CB8AC3E}">
        <p14:creationId xmlns:p14="http://schemas.microsoft.com/office/powerpoint/2010/main" val="1341886385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CD9D-583E-FB70-C5DD-D6FB53C2D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2CAA41-2CE2-E63A-214F-659DCD09047E}"/>
              </a:ext>
            </a:extLst>
          </p:cNvPr>
          <p:cNvSpPr txBox="1"/>
          <p:nvPr/>
        </p:nvSpPr>
        <p:spPr>
          <a:xfrm>
            <a:off x="638684" y="1356004"/>
            <a:ext cx="5067833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aleway" pitchFamily="2" charset="0"/>
              </a:rPr>
              <a:t> 12 Classes of uncertainty</a:t>
            </a:r>
          </a:p>
          <a:p>
            <a:endParaRPr lang="en-US" sz="2200" dirty="0">
              <a:latin typeface="Raleway" pitchFamily="2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Observational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Exogenous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Prognostic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Inferential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Experimental variability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Model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Transitional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Implementation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Communication errors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Algorithmic instability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Goal uncertainty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Environmental uncertainty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03A924-3682-D38C-43F1-27E1F3903771}"/>
              </a:ext>
            </a:extLst>
          </p:cNvPr>
          <p:cNvSpPr txBox="1"/>
          <p:nvPr/>
        </p:nvSpPr>
        <p:spPr>
          <a:xfrm>
            <a:off x="6147652" y="1356006"/>
            <a:ext cx="5165390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aleway" pitchFamily="2" charset="0"/>
              </a:rPr>
              <a:t>      Public health</a:t>
            </a:r>
          </a:p>
          <a:p>
            <a:endParaRPr lang="en-US" sz="2200" dirty="0">
              <a:latin typeface="Raleway" pitchFamily="2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What are infection rates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Mutations of the virus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Forecasting prevalent flu this fall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Estimating transmission rates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Testing dosages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Modeling spread of disease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Actual disease transitions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Failure to get vaccinated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Lack of clarity in instructions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Variations in algorithmic results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Minimize infections? Costs?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200" dirty="0">
                <a:latin typeface="Raleway" pitchFamily="2" charset="0"/>
              </a:rPr>
              <a:t>Changing policies on vaccinations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B17B808-AADE-FD93-0DE8-63BC973B1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Modeling: Exogenous information</a:t>
            </a:r>
          </a:p>
        </p:txBody>
      </p:sp>
    </p:spTree>
    <p:extLst>
      <p:ext uri="{BB962C8B-B14F-4D97-AF65-F5344CB8AC3E}">
        <p14:creationId xmlns:p14="http://schemas.microsoft.com/office/powerpoint/2010/main" val="2567971345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AA41-E6C0-4979-3628-620804900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Modeling: Exogenous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E4031-2A72-D670-AC46-861DF7B98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6360" indent="0">
              <a:buNone/>
            </a:pPr>
            <a:r>
              <a:rPr lang="en-US" dirty="0"/>
              <a:t>Generating sample observations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From history</a:t>
            </a:r>
          </a:p>
          <a:p>
            <a:pPr lvl="2"/>
            <a:r>
              <a:rPr lang="en-US" dirty="0"/>
              <a:t>Use observations from the past</a:t>
            </a:r>
          </a:p>
          <a:p>
            <a:pPr lvl="2"/>
            <a:r>
              <a:rPr lang="en-US" dirty="0"/>
              <a:t>Assumes that these are not affected by prior decisions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Learning while doing</a:t>
            </a:r>
          </a:p>
          <a:p>
            <a:pPr lvl="2"/>
            <a:r>
              <a:rPr lang="en-US" dirty="0"/>
              <a:t>Optimize in the field as decisions are being made.</a:t>
            </a:r>
          </a:p>
          <a:p>
            <a:pPr lvl="2"/>
            <a:r>
              <a:rPr lang="en-US" dirty="0">
                <a:solidFill>
                  <a:schemeClr val="accent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https://tinyurl.com/LearningWhileDoing/</a:t>
            </a:r>
            <a:r>
              <a:rPr lang="en-US" dirty="0"/>
              <a:t> 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Create samples from a mathematical model</a:t>
            </a:r>
          </a:p>
          <a:p>
            <a:pPr lvl="2"/>
            <a:r>
              <a:rPr lang="en-US" dirty="0"/>
              <a:t>Requires creating a mathematical model that captures actual behaviors</a:t>
            </a:r>
          </a:p>
          <a:p>
            <a:pPr lvl="2"/>
            <a:r>
              <a:rPr lang="en-US" dirty="0"/>
              <a:t>Allows us to capture the effect of state/decision on observations</a:t>
            </a:r>
          </a:p>
        </p:txBody>
      </p:sp>
    </p:spTree>
    <p:extLst>
      <p:ext uri="{BB962C8B-B14F-4D97-AF65-F5344CB8AC3E}">
        <p14:creationId xmlns:p14="http://schemas.microsoft.com/office/powerpoint/2010/main" val="1531254220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03184D8-A561-0755-8CD7-0312A32CE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EE729F-9E1A-0842-5A10-0D5B657E2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951A3509-7681-99F2-52FA-DE8E349FBA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F8D138E9-3B6E-CCEB-B664-85E5BE1071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The universal modeling framework (detailed)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Textbook modeling styles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Modeling time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Decision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Exogenous information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Transition function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396872772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300" dirty="0">
                <a:latin typeface="Oswald" panose="00000500000000000000" pitchFamily="2" charset="0"/>
              </a:rPr>
              <a:t>Modeling: Transition function</a:t>
            </a:r>
          </a:p>
        </p:txBody>
      </p:sp>
      <p:sp>
        <p:nvSpPr>
          <p:cNvPr id="53760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165" y="1001486"/>
            <a:ext cx="9028176" cy="533400"/>
          </a:xfrm>
        </p:spPr>
        <p:txBody>
          <a:bodyPr/>
          <a:lstStyle/>
          <a:p>
            <a:pPr marL="86360" indent="0">
              <a:buNone/>
            </a:pPr>
            <a:r>
              <a:rPr lang="en-US" dirty="0">
                <a:latin typeface="Raleway" pitchFamily="2" charset="0"/>
              </a:rPr>
              <a:t>The transition function (or “state transition model”)</a:t>
            </a:r>
          </a:p>
        </p:txBody>
      </p:sp>
      <p:graphicFrame>
        <p:nvGraphicFramePr>
          <p:cNvPr id="537611" name="Object 9"/>
          <p:cNvGraphicFramePr>
            <a:graphicFrameLocks noChangeAspect="1"/>
          </p:cNvGraphicFramePr>
          <p:nvPr/>
        </p:nvGraphicFramePr>
        <p:xfrm>
          <a:off x="3333750" y="2017714"/>
          <a:ext cx="558800" cy="40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1371600" progId="Equation.DSMT4">
                  <p:embed/>
                </p:oleObj>
              </mc:Choice>
              <mc:Fallback>
                <p:oleObj name="Equation" r:id="rId3" imgW="190440" imgH="1371600" progId="Equation.DSMT4">
                  <p:embed/>
                  <p:pic>
                    <p:nvPicPr>
                      <p:cNvPr id="53761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2017714"/>
                        <a:ext cx="558800" cy="402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7612" name="Object 10"/>
              <p:cNvSpPr txBox="1"/>
              <p:nvPr/>
            </p:nvSpPr>
            <p:spPr bwMode="auto">
              <a:xfrm>
                <a:off x="4446959" y="3073622"/>
                <a:ext cx="7480300" cy="19415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br>
                  <a:rPr lang="en-US" sz="11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⁡{0,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Inventories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 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Spot prices</m:t>
                      </m:r>
                    </m:oMath>
                    <m:oMath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 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  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                          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Raleway" pitchFamily="2" charset="0"/>
                        </a:rPr>
                        <m:t>Market demands</m:t>
                      </m:r>
                    </m:oMath>
                  </m:oMathPara>
                </a14:m>
                <a:endParaRPr lang="en-US" sz="2000" dirty="0">
                  <a:latin typeface="Raleway" pitchFamily="2" charset="0"/>
                </a:endParaRPr>
              </a:p>
              <a:p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       </a:t>
                </a:r>
                <a:r>
                  <a:rPr lang="en-US" sz="2000" dirty="0">
                    <a:latin typeface="Raleway" pitchFamily="2" charset="0"/>
                    <a:ea typeface="Cambria Math" panose="02040503050406030204" pitchFamily="18" charset="0"/>
                  </a:rPr>
                  <a:t>Bayesian updating: mean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sup>
                    </m:sSubSup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            </a:t>
                </a:r>
                <a:r>
                  <a:rPr lang="en-US" sz="2000" dirty="0">
                    <a:latin typeface="Raleway" pitchFamily="2" charset="0"/>
                    <a:ea typeface="Cambria Math" panose="02040503050406030204" pitchFamily="18" charset="0"/>
                  </a:rPr>
                  <a:t>Bayesian updating: precision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</a:t>
                </a:r>
              </a:p>
              <a:p>
                <a:endParaRPr lang="en-US" sz="2000" dirty="0">
                  <a:latin typeface="Raleway" pitchFamily="2" charset="0"/>
                </a:endParaRPr>
              </a:p>
              <a:p>
                <a:endParaRPr lang="en-US" sz="2000" dirty="0">
                  <a:latin typeface="Raleway" pitchFamily="2" charset="0"/>
                </a:endParaRPr>
              </a:p>
            </p:txBody>
          </p:sp>
        </mc:Choice>
        <mc:Fallback xmlns="">
          <p:sp>
            <p:nvSpPr>
              <p:cNvPr id="53761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6959" y="3073622"/>
                <a:ext cx="7480300" cy="1941513"/>
              </a:xfrm>
              <a:prstGeom prst="rect">
                <a:avLst/>
              </a:prstGeom>
              <a:blipFill>
                <a:blip r:embed="rId5"/>
                <a:stretch>
                  <a:fillRect r="-814" b="-257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7613" name="Text Box 13"/>
          <p:cNvSpPr txBox="1">
            <a:spLocks noChangeArrowheads="1"/>
          </p:cNvSpPr>
          <p:nvPr/>
        </p:nvSpPr>
        <p:spPr bwMode="auto">
          <a:xfrm>
            <a:off x="4070335" y="5803096"/>
            <a:ext cx="62494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57200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defTabSz="457200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defTabSz="457200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defTabSz="457200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defTabSz="457200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algn="ctr" defTabSz="457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algn="ctr" defTabSz="457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algn="ctr" defTabSz="457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algn="ctr" defTabSz="457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lang="en-US" sz="1800" i="0" dirty="0">
                <a:latin typeface="Raleway" pitchFamily="2" charset="0"/>
              </a:rPr>
              <a:t>Also known as the system model, plant model, plant equation, and transfer function.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001839" y="2206626"/>
            <a:ext cx="1339851" cy="3870325"/>
            <a:chOff x="477838" y="2206625"/>
            <a:chExt cx="1339851" cy="3870325"/>
          </a:xfrm>
        </p:grpSpPr>
        <p:grpSp>
          <p:nvGrpSpPr>
            <p:cNvPr id="14" name="Group 31"/>
            <p:cNvGrpSpPr>
              <a:grpSpLocks/>
            </p:cNvGrpSpPr>
            <p:nvPr/>
          </p:nvGrpSpPr>
          <p:grpSpPr bwMode="auto">
            <a:xfrm>
              <a:off x="1039813" y="2206625"/>
              <a:ext cx="288925" cy="895350"/>
              <a:chOff x="2803" y="1278"/>
              <a:chExt cx="342" cy="956"/>
            </a:xfrm>
          </p:grpSpPr>
          <p:grpSp>
            <p:nvGrpSpPr>
              <p:cNvPr id="18" name="Group 32"/>
              <p:cNvGrpSpPr>
                <a:grpSpLocks/>
              </p:cNvGrpSpPr>
              <p:nvPr/>
            </p:nvGrpSpPr>
            <p:grpSpPr bwMode="auto">
              <a:xfrm>
                <a:off x="2803" y="1401"/>
                <a:ext cx="342" cy="833"/>
                <a:chOff x="2803" y="1401"/>
                <a:chExt cx="342" cy="833"/>
              </a:xfrm>
            </p:grpSpPr>
            <p:grpSp>
              <p:nvGrpSpPr>
                <p:cNvPr id="29" name="Group 33"/>
                <p:cNvGrpSpPr>
                  <a:grpSpLocks/>
                </p:cNvGrpSpPr>
                <p:nvPr/>
              </p:nvGrpSpPr>
              <p:grpSpPr bwMode="auto">
                <a:xfrm>
                  <a:off x="2815" y="2143"/>
                  <a:ext cx="301" cy="91"/>
                  <a:chOff x="2815" y="2143"/>
                  <a:chExt cx="301" cy="91"/>
                </a:xfrm>
              </p:grpSpPr>
              <p:sp>
                <p:nvSpPr>
                  <p:cNvPr id="39" name="Freeform 34"/>
                  <p:cNvSpPr>
                    <a:spLocks/>
                  </p:cNvSpPr>
                  <p:nvPr/>
                </p:nvSpPr>
                <p:spPr bwMode="auto">
                  <a:xfrm>
                    <a:off x="2815" y="2164"/>
                    <a:ext cx="93" cy="70"/>
                  </a:xfrm>
                  <a:custGeom>
                    <a:avLst/>
                    <a:gdLst>
                      <a:gd name="T0" fmla="*/ 35 w 93"/>
                      <a:gd name="T1" fmla="*/ 11 h 70"/>
                      <a:gd name="T2" fmla="*/ 12 w 93"/>
                      <a:gd name="T3" fmla="*/ 32 h 70"/>
                      <a:gd name="T4" fmla="*/ 0 w 93"/>
                      <a:gd name="T5" fmla="*/ 48 h 70"/>
                      <a:gd name="T6" fmla="*/ 0 w 93"/>
                      <a:gd name="T7" fmla="*/ 65 h 70"/>
                      <a:gd name="T8" fmla="*/ 12 w 93"/>
                      <a:gd name="T9" fmla="*/ 70 h 70"/>
                      <a:gd name="T10" fmla="*/ 41 w 93"/>
                      <a:gd name="T11" fmla="*/ 65 h 70"/>
                      <a:gd name="T12" fmla="*/ 58 w 93"/>
                      <a:gd name="T13" fmla="*/ 59 h 70"/>
                      <a:gd name="T14" fmla="*/ 70 w 93"/>
                      <a:gd name="T15" fmla="*/ 43 h 70"/>
                      <a:gd name="T16" fmla="*/ 93 w 93"/>
                      <a:gd name="T17" fmla="*/ 32 h 70"/>
                      <a:gd name="T18" fmla="*/ 93 w 93"/>
                      <a:gd name="T19" fmla="*/ 16 h 70"/>
                      <a:gd name="T20" fmla="*/ 87 w 93"/>
                      <a:gd name="T21" fmla="*/ 0 h 70"/>
                      <a:gd name="T22" fmla="*/ 64 w 93"/>
                      <a:gd name="T23" fmla="*/ 11 h 70"/>
                      <a:gd name="T24" fmla="*/ 35 w 93"/>
                      <a:gd name="T25" fmla="*/ 11 h 70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93"/>
                      <a:gd name="T40" fmla="*/ 0 h 70"/>
                      <a:gd name="T41" fmla="*/ 93 w 93"/>
                      <a:gd name="T42" fmla="*/ 70 h 70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93" h="70">
                        <a:moveTo>
                          <a:pt x="35" y="11"/>
                        </a:moveTo>
                        <a:lnTo>
                          <a:pt x="12" y="32"/>
                        </a:lnTo>
                        <a:lnTo>
                          <a:pt x="0" y="48"/>
                        </a:lnTo>
                        <a:lnTo>
                          <a:pt x="0" y="65"/>
                        </a:lnTo>
                        <a:lnTo>
                          <a:pt x="12" y="70"/>
                        </a:lnTo>
                        <a:lnTo>
                          <a:pt x="41" y="65"/>
                        </a:lnTo>
                        <a:lnTo>
                          <a:pt x="58" y="59"/>
                        </a:lnTo>
                        <a:lnTo>
                          <a:pt x="70" y="43"/>
                        </a:lnTo>
                        <a:lnTo>
                          <a:pt x="93" y="32"/>
                        </a:lnTo>
                        <a:lnTo>
                          <a:pt x="93" y="16"/>
                        </a:lnTo>
                        <a:lnTo>
                          <a:pt x="87" y="0"/>
                        </a:lnTo>
                        <a:lnTo>
                          <a:pt x="64" y="11"/>
                        </a:lnTo>
                        <a:lnTo>
                          <a:pt x="35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" name="Freeform 35"/>
                  <p:cNvSpPr>
                    <a:spLocks/>
                  </p:cNvSpPr>
                  <p:nvPr/>
                </p:nvSpPr>
                <p:spPr bwMode="auto">
                  <a:xfrm>
                    <a:off x="3012" y="2143"/>
                    <a:ext cx="104" cy="75"/>
                  </a:xfrm>
                  <a:custGeom>
                    <a:avLst/>
                    <a:gdLst>
                      <a:gd name="T0" fmla="*/ 0 w 104"/>
                      <a:gd name="T1" fmla="*/ 5 h 75"/>
                      <a:gd name="T2" fmla="*/ 0 w 104"/>
                      <a:gd name="T3" fmla="*/ 32 h 75"/>
                      <a:gd name="T4" fmla="*/ 12 w 104"/>
                      <a:gd name="T5" fmla="*/ 43 h 75"/>
                      <a:gd name="T6" fmla="*/ 29 w 104"/>
                      <a:gd name="T7" fmla="*/ 48 h 75"/>
                      <a:gd name="T8" fmla="*/ 41 w 104"/>
                      <a:gd name="T9" fmla="*/ 53 h 75"/>
                      <a:gd name="T10" fmla="*/ 58 w 104"/>
                      <a:gd name="T11" fmla="*/ 64 h 75"/>
                      <a:gd name="T12" fmla="*/ 87 w 104"/>
                      <a:gd name="T13" fmla="*/ 75 h 75"/>
                      <a:gd name="T14" fmla="*/ 99 w 104"/>
                      <a:gd name="T15" fmla="*/ 69 h 75"/>
                      <a:gd name="T16" fmla="*/ 104 w 104"/>
                      <a:gd name="T17" fmla="*/ 64 h 75"/>
                      <a:gd name="T18" fmla="*/ 104 w 104"/>
                      <a:gd name="T19" fmla="*/ 59 h 75"/>
                      <a:gd name="T20" fmla="*/ 93 w 104"/>
                      <a:gd name="T21" fmla="*/ 43 h 75"/>
                      <a:gd name="T22" fmla="*/ 70 w 104"/>
                      <a:gd name="T23" fmla="*/ 26 h 75"/>
                      <a:gd name="T24" fmla="*/ 52 w 104"/>
                      <a:gd name="T25" fmla="*/ 10 h 75"/>
                      <a:gd name="T26" fmla="*/ 46 w 104"/>
                      <a:gd name="T27" fmla="*/ 0 h 75"/>
                      <a:gd name="T28" fmla="*/ 0 w 104"/>
                      <a:gd name="T29" fmla="*/ 5 h 7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04"/>
                      <a:gd name="T46" fmla="*/ 0 h 75"/>
                      <a:gd name="T47" fmla="*/ 104 w 104"/>
                      <a:gd name="T48" fmla="*/ 75 h 7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04" h="75">
                        <a:moveTo>
                          <a:pt x="0" y="5"/>
                        </a:moveTo>
                        <a:lnTo>
                          <a:pt x="0" y="32"/>
                        </a:lnTo>
                        <a:lnTo>
                          <a:pt x="12" y="43"/>
                        </a:lnTo>
                        <a:lnTo>
                          <a:pt x="29" y="48"/>
                        </a:lnTo>
                        <a:lnTo>
                          <a:pt x="41" y="53"/>
                        </a:lnTo>
                        <a:lnTo>
                          <a:pt x="58" y="64"/>
                        </a:lnTo>
                        <a:lnTo>
                          <a:pt x="87" y="75"/>
                        </a:lnTo>
                        <a:lnTo>
                          <a:pt x="99" y="69"/>
                        </a:lnTo>
                        <a:lnTo>
                          <a:pt x="104" y="64"/>
                        </a:lnTo>
                        <a:lnTo>
                          <a:pt x="104" y="59"/>
                        </a:lnTo>
                        <a:lnTo>
                          <a:pt x="93" y="43"/>
                        </a:lnTo>
                        <a:lnTo>
                          <a:pt x="70" y="26"/>
                        </a:lnTo>
                        <a:lnTo>
                          <a:pt x="52" y="10"/>
                        </a:lnTo>
                        <a:lnTo>
                          <a:pt x="46" y="0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0" name="Group 36"/>
                <p:cNvGrpSpPr>
                  <a:grpSpLocks/>
                </p:cNvGrpSpPr>
                <p:nvPr/>
              </p:nvGrpSpPr>
              <p:grpSpPr bwMode="auto">
                <a:xfrm>
                  <a:off x="2803" y="1401"/>
                  <a:ext cx="342" cy="785"/>
                  <a:chOff x="2803" y="1401"/>
                  <a:chExt cx="342" cy="785"/>
                </a:xfrm>
              </p:grpSpPr>
              <p:grpSp>
                <p:nvGrpSpPr>
                  <p:cNvPr id="31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2844" y="1401"/>
                    <a:ext cx="220" cy="253"/>
                    <a:chOff x="2844" y="1401"/>
                    <a:chExt cx="220" cy="253"/>
                  </a:xfrm>
                </p:grpSpPr>
                <p:sp>
                  <p:nvSpPr>
                    <p:cNvPr id="36" name="Freeform 38"/>
                    <p:cNvSpPr>
                      <a:spLocks/>
                    </p:cNvSpPr>
                    <p:nvPr/>
                  </p:nvSpPr>
                  <p:spPr bwMode="auto">
                    <a:xfrm>
                      <a:off x="2844" y="1417"/>
                      <a:ext cx="220" cy="237"/>
                    </a:xfrm>
                    <a:custGeom>
                      <a:avLst/>
                      <a:gdLst>
                        <a:gd name="T0" fmla="*/ 0 w 220"/>
                        <a:gd name="T1" fmla="*/ 43 h 237"/>
                        <a:gd name="T2" fmla="*/ 70 w 220"/>
                        <a:gd name="T3" fmla="*/ 0 h 237"/>
                        <a:gd name="T4" fmla="*/ 139 w 220"/>
                        <a:gd name="T5" fmla="*/ 102 h 237"/>
                        <a:gd name="T6" fmla="*/ 151 w 220"/>
                        <a:gd name="T7" fmla="*/ 6 h 237"/>
                        <a:gd name="T8" fmla="*/ 197 w 220"/>
                        <a:gd name="T9" fmla="*/ 17 h 237"/>
                        <a:gd name="T10" fmla="*/ 220 w 220"/>
                        <a:gd name="T11" fmla="*/ 54 h 237"/>
                        <a:gd name="T12" fmla="*/ 214 w 220"/>
                        <a:gd name="T13" fmla="*/ 237 h 237"/>
                        <a:gd name="T14" fmla="*/ 23 w 220"/>
                        <a:gd name="T15" fmla="*/ 237 h 237"/>
                        <a:gd name="T16" fmla="*/ 0 w 220"/>
                        <a:gd name="T17" fmla="*/ 43 h 237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20"/>
                        <a:gd name="T28" fmla="*/ 0 h 237"/>
                        <a:gd name="T29" fmla="*/ 220 w 220"/>
                        <a:gd name="T30" fmla="*/ 237 h 237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20" h="237">
                          <a:moveTo>
                            <a:pt x="0" y="43"/>
                          </a:moveTo>
                          <a:lnTo>
                            <a:pt x="70" y="0"/>
                          </a:lnTo>
                          <a:lnTo>
                            <a:pt x="139" y="102"/>
                          </a:lnTo>
                          <a:lnTo>
                            <a:pt x="151" y="6"/>
                          </a:lnTo>
                          <a:lnTo>
                            <a:pt x="197" y="17"/>
                          </a:lnTo>
                          <a:lnTo>
                            <a:pt x="220" y="54"/>
                          </a:lnTo>
                          <a:lnTo>
                            <a:pt x="214" y="237"/>
                          </a:lnTo>
                          <a:lnTo>
                            <a:pt x="23" y="237"/>
                          </a:lnTo>
                          <a:lnTo>
                            <a:pt x="0" y="43"/>
                          </a:lnTo>
                          <a:close/>
                        </a:path>
                      </a:pathLst>
                    </a:custGeom>
                    <a:solidFill>
                      <a:srgbClr val="7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" name="Freeform 39"/>
                    <p:cNvSpPr>
                      <a:spLocks/>
                    </p:cNvSpPr>
                    <p:nvPr/>
                  </p:nvSpPr>
                  <p:spPr bwMode="auto">
                    <a:xfrm>
                      <a:off x="2908" y="1401"/>
                      <a:ext cx="87" cy="140"/>
                    </a:xfrm>
                    <a:custGeom>
                      <a:avLst/>
                      <a:gdLst>
                        <a:gd name="T0" fmla="*/ 0 w 87"/>
                        <a:gd name="T1" fmla="*/ 16 h 140"/>
                        <a:gd name="T2" fmla="*/ 6 w 87"/>
                        <a:gd name="T3" fmla="*/ 0 h 140"/>
                        <a:gd name="T4" fmla="*/ 64 w 87"/>
                        <a:gd name="T5" fmla="*/ 27 h 140"/>
                        <a:gd name="T6" fmla="*/ 75 w 87"/>
                        <a:gd name="T7" fmla="*/ 11 h 140"/>
                        <a:gd name="T8" fmla="*/ 81 w 87"/>
                        <a:gd name="T9" fmla="*/ 16 h 140"/>
                        <a:gd name="T10" fmla="*/ 87 w 87"/>
                        <a:gd name="T11" fmla="*/ 97 h 140"/>
                        <a:gd name="T12" fmla="*/ 87 w 87"/>
                        <a:gd name="T13" fmla="*/ 140 h 140"/>
                        <a:gd name="T14" fmla="*/ 0 w 87"/>
                        <a:gd name="T15" fmla="*/ 16 h 140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87"/>
                        <a:gd name="T25" fmla="*/ 0 h 140"/>
                        <a:gd name="T26" fmla="*/ 87 w 87"/>
                        <a:gd name="T27" fmla="*/ 140 h 140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87" h="140">
                          <a:moveTo>
                            <a:pt x="0" y="16"/>
                          </a:moveTo>
                          <a:lnTo>
                            <a:pt x="6" y="0"/>
                          </a:lnTo>
                          <a:lnTo>
                            <a:pt x="64" y="27"/>
                          </a:lnTo>
                          <a:lnTo>
                            <a:pt x="75" y="11"/>
                          </a:lnTo>
                          <a:lnTo>
                            <a:pt x="81" y="16"/>
                          </a:lnTo>
                          <a:lnTo>
                            <a:pt x="87" y="97"/>
                          </a:lnTo>
                          <a:lnTo>
                            <a:pt x="87" y="140"/>
                          </a:lnTo>
                          <a:lnTo>
                            <a:pt x="0" y="16"/>
                          </a:lnTo>
                          <a:close/>
                        </a:path>
                      </a:pathLst>
                    </a:custGeom>
                    <a:solidFill>
                      <a:srgbClr val="FFD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" name="Freeform 40"/>
                    <p:cNvSpPr>
                      <a:spLocks/>
                    </p:cNvSpPr>
                    <p:nvPr/>
                  </p:nvSpPr>
                  <p:spPr bwMode="auto">
                    <a:xfrm>
                      <a:off x="2937" y="1428"/>
                      <a:ext cx="52" cy="27"/>
                    </a:xfrm>
                    <a:custGeom>
                      <a:avLst/>
                      <a:gdLst>
                        <a:gd name="T0" fmla="*/ 0 w 52"/>
                        <a:gd name="T1" fmla="*/ 27 h 27"/>
                        <a:gd name="T2" fmla="*/ 29 w 52"/>
                        <a:gd name="T3" fmla="*/ 0 h 27"/>
                        <a:gd name="T4" fmla="*/ 52 w 52"/>
                        <a:gd name="T5" fmla="*/ 22 h 27"/>
                        <a:gd name="T6" fmla="*/ 0 60000 65536"/>
                        <a:gd name="T7" fmla="*/ 0 60000 65536"/>
                        <a:gd name="T8" fmla="*/ 0 60000 65536"/>
                        <a:gd name="T9" fmla="*/ 0 w 52"/>
                        <a:gd name="T10" fmla="*/ 0 h 27"/>
                        <a:gd name="T11" fmla="*/ 52 w 52"/>
                        <a:gd name="T12" fmla="*/ 27 h 27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52" h="27">
                          <a:moveTo>
                            <a:pt x="0" y="27"/>
                          </a:moveTo>
                          <a:lnTo>
                            <a:pt x="29" y="0"/>
                          </a:lnTo>
                          <a:lnTo>
                            <a:pt x="52" y="22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2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2803" y="1412"/>
                    <a:ext cx="342" cy="774"/>
                    <a:chOff x="2803" y="1412"/>
                    <a:chExt cx="342" cy="774"/>
                  </a:xfrm>
                </p:grpSpPr>
                <p:sp>
                  <p:nvSpPr>
                    <p:cNvPr id="33" name="Freeform 42"/>
                    <p:cNvSpPr>
                      <a:spLocks/>
                    </p:cNvSpPr>
                    <p:nvPr/>
                  </p:nvSpPr>
                  <p:spPr bwMode="auto">
                    <a:xfrm>
                      <a:off x="2803" y="1412"/>
                      <a:ext cx="342" cy="774"/>
                    </a:xfrm>
                    <a:custGeom>
                      <a:avLst/>
                      <a:gdLst>
                        <a:gd name="T0" fmla="*/ 105 w 342"/>
                        <a:gd name="T1" fmla="*/ 0 h 774"/>
                        <a:gd name="T2" fmla="*/ 24 w 342"/>
                        <a:gd name="T3" fmla="*/ 59 h 774"/>
                        <a:gd name="T4" fmla="*/ 0 w 342"/>
                        <a:gd name="T5" fmla="*/ 242 h 774"/>
                        <a:gd name="T6" fmla="*/ 64 w 342"/>
                        <a:gd name="T7" fmla="*/ 360 h 774"/>
                        <a:gd name="T8" fmla="*/ 64 w 342"/>
                        <a:gd name="T9" fmla="*/ 381 h 774"/>
                        <a:gd name="T10" fmla="*/ 70 w 342"/>
                        <a:gd name="T11" fmla="*/ 414 h 774"/>
                        <a:gd name="T12" fmla="*/ 76 w 342"/>
                        <a:gd name="T13" fmla="*/ 430 h 774"/>
                        <a:gd name="T14" fmla="*/ 64 w 342"/>
                        <a:gd name="T15" fmla="*/ 559 h 774"/>
                        <a:gd name="T16" fmla="*/ 47 w 342"/>
                        <a:gd name="T17" fmla="*/ 768 h 774"/>
                        <a:gd name="T18" fmla="*/ 64 w 342"/>
                        <a:gd name="T19" fmla="*/ 774 h 774"/>
                        <a:gd name="T20" fmla="*/ 105 w 342"/>
                        <a:gd name="T21" fmla="*/ 763 h 774"/>
                        <a:gd name="T22" fmla="*/ 128 w 342"/>
                        <a:gd name="T23" fmla="*/ 618 h 774"/>
                        <a:gd name="T24" fmla="*/ 140 w 342"/>
                        <a:gd name="T25" fmla="*/ 569 h 774"/>
                        <a:gd name="T26" fmla="*/ 180 w 342"/>
                        <a:gd name="T27" fmla="*/ 430 h 774"/>
                        <a:gd name="T28" fmla="*/ 186 w 342"/>
                        <a:gd name="T29" fmla="*/ 575 h 774"/>
                        <a:gd name="T30" fmla="*/ 203 w 342"/>
                        <a:gd name="T31" fmla="*/ 747 h 774"/>
                        <a:gd name="T32" fmla="*/ 261 w 342"/>
                        <a:gd name="T33" fmla="*/ 752 h 774"/>
                        <a:gd name="T34" fmla="*/ 267 w 342"/>
                        <a:gd name="T35" fmla="*/ 564 h 774"/>
                        <a:gd name="T36" fmla="*/ 261 w 342"/>
                        <a:gd name="T37" fmla="*/ 376 h 774"/>
                        <a:gd name="T38" fmla="*/ 261 w 342"/>
                        <a:gd name="T39" fmla="*/ 285 h 774"/>
                        <a:gd name="T40" fmla="*/ 273 w 342"/>
                        <a:gd name="T41" fmla="*/ 252 h 774"/>
                        <a:gd name="T42" fmla="*/ 279 w 342"/>
                        <a:gd name="T43" fmla="*/ 258 h 774"/>
                        <a:gd name="T44" fmla="*/ 337 w 342"/>
                        <a:gd name="T45" fmla="*/ 226 h 774"/>
                        <a:gd name="T46" fmla="*/ 342 w 342"/>
                        <a:gd name="T47" fmla="*/ 167 h 774"/>
                        <a:gd name="T48" fmla="*/ 250 w 342"/>
                        <a:gd name="T49" fmla="*/ 22 h 774"/>
                        <a:gd name="T50" fmla="*/ 186 w 342"/>
                        <a:gd name="T51" fmla="*/ 0 h 774"/>
                        <a:gd name="T52" fmla="*/ 198 w 342"/>
                        <a:gd name="T53" fmla="*/ 97 h 774"/>
                        <a:gd name="T54" fmla="*/ 186 w 342"/>
                        <a:gd name="T55" fmla="*/ 193 h 774"/>
                        <a:gd name="T56" fmla="*/ 157 w 342"/>
                        <a:gd name="T57" fmla="*/ 102 h 774"/>
                        <a:gd name="T58" fmla="*/ 105 w 342"/>
                        <a:gd name="T59" fmla="*/ 0 h 77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42"/>
                        <a:gd name="T91" fmla="*/ 0 h 774"/>
                        <a:gd name="T92" fmla="*/ 342 w 342"/>
                        <a:gd name="T93" fmla="*/ 774 h 77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42" h="774">
                          <a:moveTo>
                            <a:pt x="105" y="0"/>
                          </a:moveTo>
                          <a:lnTo>
                            <a:pt x="24" y="59"/>
                          </a:lnTo>
                          <a:lnTo>
                            <a:pt x="0" y="242"/>
                          </a:lnTo>
                          <a:lnTo>
                            <a:pt x="64" y="360"/>
                          </a:lnTo>
                          <a:lnTo>
                            <a:pt x="64" y="381"/>
                          </a:lnTo>
                          <a:lnTo>
                            <a:pt x="70" y="414"/>
                          </a:lnTo>
                          <a:lnTo>
                            <a:pt x="76" y="430"/>
                          </a:lnTo>
                          <a:lnTo>
                            <a:pt x="64" y="559"/>
                          </a:lnTo>
                          <a:lnTo>
                            <a:pt x="47" y="768"/>
                          </a:lnTo>
                          <a:lnTo>
                            <a:pt x="64" y="774"/>
                          </a:lnTo>
                          <a:lnTo>
                            <a:pt x="105" y="763"/>
                          </a:lnTo>
                          <a:lnTo>
                            <a:pt x="128" y="618"/>
                          </a:lnTo>
                          <a:lnTo>
                            <a:pt x="140" y="569"/>
                          </a:lnTo>
                          <a:lnTo>
                            <a:pt x="180" y="430"/>
                          </a:lnTo>
                          <a:lnTo>
                            <a:pt x="186" y="575"/>
                          </a:lnTo>
                          <a:lnTo>
                            <a:pt x="203" y="747"/>
                          </a:lnTo>
                          <a:lnTo>
                            <a:pt x="261" y="752"/>
                          </a:lnTo>
                          <a:lnTo>
                            <a:pt x="267" y="564"/>
                          </a:lnTo>
                          <a:lnTo>
                            <a:pt x="261" y="376"/>
                          </a:lnTo>
                          <a:lnTo>
                            <a:pt x="261" y="285"/>
                          </a:lnTo>
                          <a:lnTo>
                            <a:pt x="273" y="252"/>
                          </a:lnTo>
                          <a:lnTo>
                            <a:pt x="279" y="258"/>
                          </a:lnTo>
                          <a:lnTo>
                            <a:pt x="337" y="226"/>
                          </a:lnTo>
                          <a:lnTo>
                            <a:pt x="342" y="167"/>
                          </a:lnTo>
                          <a:lnTo>
                            <a:pt x="250" y="22"/>
                          </a:lnTo>
                          <a:lnTo>
                            <a:pt x="186" y="0"/>
                          </a:lnTo>
                          <a:lnTo>
                            <a:pt x="198" y="97"/>
                          </a:lnTo>
                          <a:lnTo>
                            <a:pt x="186" y="193"/>
                          </a:lnTo>
                          <a:lnTo>
                            <a:pt x="157" y="102"/>
                          </a:lnTo>
                          <a:lnTo>
                            <a:pt x="105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" name="Freeform 43"/>
                    <p:cNvSpPr>
                      <a:spLocks/>
                    </p:cNvSpPr>
                    <p:nvPr/>
                  </p:nvSpPr>
                  <p:spPr bwMode="auto">
                    <a:xfrm>
                      <a:off x="2821" y="1498"/>
                      <a:ext cx="87" cy="199"/>
                    </a:xfrm>
                    <a:custGeom>
                      <a:avLst/>
                      <a:gdLst>
                        <a:gd name="T0" fmla="*/ 40 w 87"/>
                        <a:gd name="T1" fmla="*/ 0 h 199"/>
                        <a:gd name="T2" fmla="*/ 52 w 87"/>
                        <a:gd name="T3" fmla="*/ 48 h 199"/>
                        <a:gd name="T4" fmla="*/ 46 w 87"/>
                        <a:gd name="T5" fmla="*/ 118 h 199"/>
                        <a:gd name="T6" fmla="*/ 0 w 87"/>
                        <a:gd name="T7" fmla="*/ 129 h 199"/>
                        <a:gd name="T8" fmla="*/ 46 w 87"/>
                        <a:gd name="T9" fmla="*/ 134 h 199"/>
                        <a:gd name="T10" fmla="*/ 58 w 87"/>
                        <a:gd name="T11" fmla="*/ 177 h 199"/>
                        <a:gd name="T12" fmla="*/ 87 w 87"/>
                        <a:gd name="T13" fmla="*/ 199 h 199"/>
                        <a:gd name="T14" fmla="*/ 75 w 87"/>
                        <a:gd name="T15" fmla="*/ 161 h 199"/>
                        <a:gd name="T16" fmla="*/ 69 w 87"/>
                        <a:gd name="T17" fmla="*/ 145 h 199"/>
                        <a:gd name="T18" fmla="*/ 64 w 87"/>
                        <a:gd name="T19" fmla="*/ 97 h 199"/>
                        <a:gd name="T20" fmla="*/ 40 w 87"/>
                        <a:gd name="T21" fmla="*/ 0 h 199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w 87"/>
                        <a:gd name="T34" fmla="*/ 0 h 199"/>
                        <a:gd name="T35" fmla="*/ 87 w 87"/>
                        <a:gd name="T36" fmla="*/ 199 h 199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T33" t="T34" r="T35" b="T36"/>
                      <a:pathLst>
                        <a:path w="87" h="199">
                          <a:moveTo>
                            <a:pt x="40" y="0"/>
                          </a:moveTo>
                          <a:lnTo>
                            <a:pt x="52" y="48"/>
                          </a:lnTo>
                          <a:lnTo>
                            <a:pt x="46" y="118"/>
                          </a:lnTo>
                          <a:lnTo>
                            <a:pt x="0" y="129"/>
                          </a:lnTo>
                          <a:lnTo>
                            <a:pt x="46" y="134"/>
                          </a:lnTo>
                          <a:lnTo>
                            <a:pt x="58" y="177"/>
                          </a:lnTo>
                          <a:lnTo>
                            <a:pt x="87" y="199"/>
                          </a:lnTo>
                          <a:lnTo>
                            <a:pt x="75" y="161"/>
                          </a:lnTo>
                          <a:lnTo>
                            <a:pt x="69" y="145"/>
                          </a:lnTo>
                          <a:lnTo>
                            <a:pt x="64" y="97"/>
                          </a:lnTo>
                          <a:lnTo>
                            <a:pt x="40" y="0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" name="Freeform 44"/>
                    <p:cNvSpPr>
                      <a:spLocks/>
                    </p:cNvSpPr>
                    <p:nvPr/>
                  </p:nvSpPr>
                  <p:spPr bwMode="auto">
                    <a:xfrm>
                      <a:off x="2902" y="1509"/>
                      <a:ext cx="29" cy="27"/>
                    </a:xfrm>
                    <a:custGeom>
                      <a:avLst/>
                      <a:gdLst>
                        <a:gd name="T0" fmla="*/ 0 w 29"/>
                        <a:gd name="T1" fmla="*/ 27 h 27"/>
                        <a:gd name="T2" fmla="*/ 6 w 29"/>
                        <a:gd name="T3" fmla="*/ 0 h 27"/>
                        <a:gd name="T4" fmla="*/ 29 w 29"/>
                        <a:gd name="T5" fmla="*/ 21 h 27"/>
                        <a:gd name="T6" fmla="*/ 0 w 29"/>
                        <a:gd name="T7" fmla="*/ 27 h 2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"/>
                        <a:gd name="T13" fmla="*/ 0 h 27"/>
                        <a:gd name="T14" fmla="*/ 29 w 29"/>
                        <a:gd name="T15" fmla="*/ 27 h 2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" h="27">
                          <a:moveTo>
                            <a:pt x="0" y="27"/>
                          </a:moveTo>
                          <a:lnTo>
                            <a:pt x="6" y="0"/>
                          </a:lnTo>
                          <a:lnTo>
                            <a:pt x="29" y="21"/>
                          </a:lnTo>
                          <a:lnTo>
                            <a:pt x="0" y="27"/>
                          </a:lnTo>
                          <a:close/>
                        </a:path>
                      </a:pathLst>
                    </a:custGeom>
                    <a:solidFill>
                      <a:srgbClr val="FFD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19" name="Group 45"/>
              <p:cNvGrpSpPr>
                <a:grpSpLocks/>
              </p:cNvGrpSpPr>
              <p:nvPr/>
            </p:nvGrpSpPr>
            <p:grpSpPr bwMode="auto">
              <a:xfrm>
                <a:off x="2896" y="1278"/>
                <a:ext cx="186" cy="386"/>
                <a:chOff x="2896" y="1278"/>
                <a:chExt cx="186" cy="386"/>
              </a:xfrm>
            </p:grpSpPr>
            <p:grpSp>
              <p:nvGrpSpPr>
                <p:cNvPr id="20" name="Group 46"/>
                <p:cNvGrpSpPr>
                  <a:grpSpLocks/>
                </p:cNvGrpSpPr>
                <p:nvPr/>
              </p:nvGrpSpPr>
              <p:grpSpPr bwMode="auto">
                <a:xfrm>
                  <a:off x="2896" y="1278"/>
                  <a:ext cx="110" cy="150"/>
                  <a:chOff x="2896" y="1278"/>
                  <a:chExt cx="110" cy="150"/>
                </a:xfrm>
              </p:grpSpPr>
              <p:grpSp>
                <p:nvGrpSpPr>
                  <p:cNvPr id="22" name="Group 47"/>
                  <p:cNvGrpSpPr>
                    <a:grpSpLocks/>
                  </p:cNvGrpSpPr>
                  <p:nvPr/>
                </p:nvGrpSpPr>
                <p:grpSpPr bwMode="auto">
                  <a:xfrm>
                    <a:off x="2902" y="1283"/>
                    <a:ext cx="99" cy="145"/>
                    <a:chOff x="2902" y="1283"/>
                    <a:chExt cx="99" cy="145"/>
                  </a:xfrm>
                </p:grpSpPr>
                <p:sp>
                  <p:nvSpPr>
                    <p:cNvPr id="24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2902" y="1283"/>
                      <a:ext cx="99" cy="145"/>
                    </a:xfrm>
                    <a:custGeom>
                      <a:avLst/>
                      <a:gdLst>
                        <a:gd name="T0" fmla="*/ 93 w 99"/>
                        <a:gd name="T1" fmla="*/ 22 h 145"/>
                        <a:gd name="T2" fmla="*/ 99 w 99"/>
                        <a:gd name="T3" fmla="*/ 48 h 145"/>
                        <a:gd name="T4" fmla="*/ 93 w 99"/>
                        <a:gd name="T5" fmla="*/ 54 h 145"/>
                        <a:gd name="T6" fmla="*/ 99 w 99"/>
                        <a:gd name="T7" fmla="*/ 65 h 145"/>
                        <a:gd name="T8" fmla="*/ 93 w 99"/>
                        <a:gd name="T9" fmla="*/ 70 h 145"/>
                        <a:gd name="T10" fmla="*/ 93 w 99"/>
                        <a:gd name="T11" fmla="*/ 86 h 145"/>
                        <a:gd name="T12" fmla="*/ 93 w 99"/>
                        <a:gd name="T13" fmla="*/ 97 h 145"/>
                        <a:gd name="T14" fmla="*/ 93 w 99"/>
                        <a:gd name="T15" fmla="*/ 108 h 145"/>
                        <a:gd name="T16" fmla="*/ 87 w 99"/>
                        <a:gd name="T17" fmla="*/ 118 h 145"/>
                        <a:gd name="T18" fmla="*/ 81 w 99"/>
                        <a:gd name="T19" fmla="*/ 124 h 145"/>
                        <a:gd name="T20" fmla="*/ 81 w 99"/>
                        <a:gd name="T21" fmla="*/ 129 h 145"/>
                        <a:gd name="T22" fmla="*/ 64 w 99"/>
                        <a:gd name="T23" fmla="*/ 145 h 145"/>
                        <a:gd name="T24" fmla="*/ 12 w 99"/>
                        <a:gd name="T25" fmla="*/ 124 h 145"/>
                        <a:gd name="T26" fmla="*/ 12 w 99"/>
                        <a:gd name="T27" fmla="*/ 91 h 145"/>
                        <a:gd name="T28" fmla="*/ 12 w 99"/>
                        <a:gd name="T29" fmla="*/ 86 h 145"/>
                        <a:gd name="T30" fmla="*/ 6 w 99"/>
                        <a:gd name="T31" fmla="*/ 81 h 145"/>
                        <a:gd name="T32" fmla="*/ 0 w 99"/>
                        <a:gd name="T33" fmla="*/ 70 h 145"/>
                        <a:gd name="T34" fmla="*/ 0 w 99"/>
                        <a:gd name="T35" fmla="*/ 54 h 145"/>
                        <a:gd name="T36" fmla="*/ 6 w 99"/>
                        <a:gd name="T37" fmla="*/ 48 h 145"/>
                        <a:gd name="T38" fmla="*/ 6 w 99"/>
                        <a:gd name="T39" fmla="*/ 43 h 145"/>
                        <a:gd name="T40" fmla="*/ 6 w 99"/>
                        <a:gd name="T41" fmla="*/ 32 h 145"/>
                        <a:gd name="T42" fmla="*/ 6 w 99"/>
                        <a:gd name="T43" fmla="*/ 27 h 145"/>
                        <a:gd name="T44" fmla="*/ 12 w 99"/>
                        <a:gd name="T45" fmla="*/ 16 h 145"/>
                        <a:gd name="T46" fmla="*/ 12 w 99"/>
                        <a:gd name="T47" fmla="*/ 11 h 145"/>
                        <a:gd name="T48" fmla="*/ 23 w 99"/>
                        <a:gd name="T49" fmla="*/ 0 h 145"/>
                        <a:gd name="T50" fmla="*/ 35 w 99"/>
                        <a:gd name="T51" fmla="*/ 0 h 145"/>
                        <a:gd name="T52" fmla="*/ 46 w 99"/>
                        <a:gd name="T53" fmla="*/ 0 h 145"/>
                        <a:gd name="T54" fmla="*/ 58 w 99"/>
                        <a:gd name="T55" fmla="*/ 0 h 145"/>
                        <a:gd name="T56" fmla="*/ 64 w 99"/>
                        <a:gd name="T57" fmla="*/ 0 h 145"/>
                        <a:gd name="T58" fmla="*/ 75 w 99"/>
                        <a:gd name="T59" fmla="*/ 0 h 145"/>
                        <a:gd name="T60" fmla="*/ 87 w 99"/>
                        <a:gd name="T61" fmla="*/ 5 h 145"/>
                        <a:gd name="T62" fmla="*/ 87 w 99"/>
                        <a:gd name="T63" fmla="*/ 11 h 145"/>
                        <a:gd name="T64" fmla="*/ 93 w 99"/>
                        <a:gd name="T65" fmla="*/ 16 h 145"/>
                        <a:gd name="T66" fmla="*/ 93 w 99"/>
                        <a:gd name="T67" fmla="*/ 22 h 145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w 99"/>
                        <a:gd name="T103" fmla="*/ 0 h 145"/>
                        <a:gd name="T104" fmla="*/ 99 w 99"/>
                        <a:gd name="T105" fmla="*/ 145 h 145"/>
                      </a:gdLst>
                      <a:ahLst/>
                      <a:cxnLst>
                        <a:cxn ang="T68">
                          <a:pos x="T0" y="T1"/>
                        </a:cxn>
                        <a:cxn ang="T69">
                          <a:pos x="T2" y="T3"/>
                        </a:cxn>
                        <a:cxn ang="T70">
                          <a:pos x="T4" y="T5"/>
                        </a:cxn>
                        <a:cxn ang="T71">
                          <a:pos x="T6" y="T7"/>
                        </a:cxn>
                        <a:cxn ang="T72">
                          <a:pos x="T8" y="T9"/>
                        </a:cxn>
                        <a:cxn ang="T73">
                          <a:pos x="T10" y="T11"/>
                        </a:cxn>
                        <a:cxn ang="T74">
                          <a:pos x="T12" y="T13"/>
                        </a:cxn>
                        <a:cxn ang="T75">
                          <a:pos x="T14" y="T15"/>
                        </a:cxn>
                        <a:cxn ang="T76">
                          <a:pos x="T16" y="T17"/>
                        </a:cxn>
                        <a:cxn ang="T77">
                          <a:pos x="T18" y="T19"/>
                        </a:cxn>
                        <a:cxn ang="T78">
                          <a:pos x="T20" y="T21"/>
                        </a:cxn>
                        <a:cxn ang="T79">
                          <a:pos x="T22" y="T23"/>
                        </a:cxn>
                        <a:cxn ang="T80">
                          <a:pos x="T24" y="T25"/>
                        </a:cxn>
                        <a:cxn ang="T81">
                          <a:pos x="T26" y="T27"/>
                        </a:cxn>
                        <a:cxn ang="T82">
                          <a:pos x="T28" y="T29"/>
                        </a:cxn>
                        <a:cxn ang="T83">
                          <a:pos x="T30" y="T31"/>
                        </a:cxn>
                        <a:cxn ang="T84">
                          <a:pos x="T32" y="T33"/>
                        </a:cxn>
                        <a:cxn ang="T85">
                          <a:pos x="T34" y="T35"/>
                        </a:cxn>
                        <a:cxn ang="T86">
                          <a:pos x="T36" y="T37"/>
                        </a:cxn>
                        <a:cxn ang="T87">
                          <a:pos x="T38" y="T39"/>
                        </a:cxn>
                        <a:cxn ang="T88">
                          <a:pos x="T40" y="T41"/>
                        </a:cxn>
                        <a:cxn ang="T89">
                          <a:pos x="T42" y="T43"/>
                        </a:cxn>
                        <a:cxn ang="T90">
                          <a:pos x="T44" y="T45"/>
                        </a:cxn>
                        <a:cxn ang="T91">
                          <a:pos x="T46" y="T47"/>
                        </a:cxn>
                        <a:cxn ang="T92">
                          <a:pos x="T48" y="T49"/>
                        </a:cxn>
                        <a:cxn ang="T93">
                          <a:pos x="T50" y="T51"/>
                        </a:cxn>
                        <a:cxn ang="T94">
                          <a:pos x="T52" y="T53"/>
                        </a:cxn>
                        <a:cxn ang="T95">
                          <a:pos x="T54" y="T55"/>
                        </a:cxn>
                        <a:cxn ang="T96">
                          <a:pos x="T56" y="T57"/>
                        </a:cxn>
                        <a:cxn ang="T97">
                          <a:pos x="T58" y="T59"/>
                        </a:cxn>
                        <a:cxn ang="T98">
                          <a:pos x="T60" y="T61"/>
                        </a:cxn>
                        <a:cxn ang="T99">
                          <a:pos x="T62" y="T63"/>
                        </a:cxn>
                        <a:cxn ang="T100">
                          <a:pos x="T64" y="T65"/>
                        </a:cxn>
                        <a:cxn ang="T101">
                          <a:pos x="T66" y="T67"/>
                        </a:cxn>
                      </a:cxnLst>
                      <a:rect l="T102" t="T103" r="T104" b="T105"/>
                      <a:pathLst>
                        <a:path w="99" h="145">
                          <a:moveTo>
                            <a:pt x="93" y="22"/>
                          </a:moveTo>
                          <a:lnTo>
                            <a:pt x="99" y="48"/>
                          </a:lnTo>
                          <a:lnTo>
                            <a:pt x="93" y="54"/>
                          </a:lnTo>
                          <a:lnTo>
                            <a:pt x="99" y="65"/>
                          </a:lnTo>
                          <a:lnTo>
                            <a:pt x="93" y="70"/>
                          </a:lnTo>
                          <a:lnTo>
                            <a:pt x="93" y="86"/>
                          </a:lnTo>
                          <a:lnTo>
                            <a:pt x="93" y="97"/>
                          </a:lnTo>
                          <a:lnTo>
                            <a:pt x="93" y="108"/>
                          </a:lnTo>
                          <a:lnTo>
                            <a:pt x="87" y="118"/>
                          </a:lnTo>
                          <a:lnTo>
                            <a:pt x="81" y="124"/>
                          </a:lnTo>
                          <a:lnTo>
                            <a:pt x="81" y="129"/>
                          </a:lnTo>
                          <a:lnTo>
                            <a:pt x="64" y="145"/>
                          </a:lnTo>
                          <a:lnTo>
                            <a:pt x="12" y="124"/>
                          </a:lnTo>
                          <a:lnTo>
                            <a:pt x="12" y="91"/>
                          </a:lnTo>
                          <a:lnTo>
                            <a:pt x="12" y="86"/>
                          </a:lnTo>
                          <a:lnTo>
                            <a:pt x="6" y="81"/>
                          </a:lnTo>
                          <a:lnTo>
                            <a:pt x="0" y="70"/>
                          </a:lnTo>
                          <a:lnTo>
                            <a:pt x="0" y="54"/>
                          </a:lnTo>
                          <a:lnTo>
                            <a:pt x="6" y="48"/>
                          </a:lnTo>
                          <a:lnTo>
                            <a:pt x="6" y="43"/>
                          </a:lnTo>
                          <a:lnTo>
                            <a:pt x="6" y="32"/>
                          </a:lnTo>
                          <a:lnTo>
                            <a:pt x="6" y="27"/>
                          </a:lnTo>
                          <a:lnTo>
                            <a:pt x="12" y="16"/>
                          </a:lnTo>
                          <a:lnTo>
                            <a:pt x="12" y="11"/>
                          </a:lnTo>
                          <a:lnTo>
                            <a:pt x="23" y="0"/>
                          </a:lnTo>
                          <a:lnTo>
                            <a:pt x="35" y="0"/>
                          </a:lnTo>
                          <a:lnTo>
                            <a:pt x="46" y="0"/>
                          </a:lnTo>
                          <a:lnTo>
                            <a:pt x="58" y="0"/>
                          </a:lnTo>
                          <a:lnTo>
                            <a:pt x="64" y="0"/>
                          </a:lnTo>
                          <a:lnTo>
                            <a:pt x="75" y="0"/>
                          </a:lnTo>
                          <a:lnTo>
                            <a:pt x="87" y="5"/>
                          </a:lnTo>
                          <a:lnTo>
                            <a:pt x="87" y="11"/>
                          </a:lnTo>
                          <a:lnTo>
                            <a:pt x="93" y="16"/>
                          </a:lnTo>
                          <a:lnTo>
                            <a:pt x="93" y="22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5" name="Group 4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14" y="1331"/>
                      <a:ext cx="81" cy="70"/>
                      <a:chOff x="2914" y="1331"/>
                      <a:chExt cx="81" cy="70"/>
                    </a:xfrm>
                  </p:grpSpPr>
                  <p:sp>
                    <p:nvSpPr>
                      <p:cNvPr id="26" name="Freeform 5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43" y="1331"/>
                        <a:ext cx="34" cy="11"/>
                      </a:xfrm>
                      <a:custGeom>
                        <a:avLst/>
                        <a:gdLst>
                          <a:gd name="T0" fmla="*/ 0 w 34"/>
                          <a:gd name="T1" fmla="*/ 0 h 11"/>
                          <a:gd name="T2" fmla="*/ 17 w 34"/>
                          <a:gd name="T3" fmla="*/ 0 h 11"/>
                          <a:gd name="T4" fmla="*/ 23 w 34"/>
                          <a:gd name="T5" fmla="*/ 0 h 11"/>
                          <a:gd name="T6" fmla="*/ 29 w 34"/>
                          <a:gd name="T7" fmla="*/ 6 h 11"/>
                          <a:gd name="T8" fmla="*/ 34 w 34"/>
                          <a:gd name="T9" fmla="*/ 6 h 11"/>
                          <a:gd name="T10" fmla="*/ 29 w 34"/>
                          <a:gd name="T11" fmla="*/ 6 h 11"/>
                          <a:gd name="T12" fmla="*/ 29 w 34"/>
                          <a:gd name="T13" fmla="*/ 11 h 11"/>
                          <a:gd name="T14" fmla="*/ 29 w 34"/>
                          <a:gd name="T15" fmla="*/ 11 h 11"/>
                          <a:gd name="T16" fmla="*/ 17 w 34"/>
                          <a:gd name="T17" fmla="*/ 11 h 11"/>
                          <a:gd name="T18" fmla="*/ 5 w 34"/>
                          <a:gd name="T19" fmla="*/ 11 h 11"/>
                          <a:gd name="T20" fmla="*/ 11 w 34"/>
                          <a:gd name="T21" fmla="*/ 11 h 11"/>
                          <a:gd name="T22" fmla="*/ 5 w 34"/>
                          <a:gd name="T23" fmla="*/ 6 h 11"/>
                          <a:gd name="T24" fmla="*/ 0 w 34"/>
                          <a:gd name="T25" fmla="*/ 0 h 11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  <a:gd name="T30" fmla="*/ 0 60000 65536"/>
                          <a:gd name="T31" fmla="*/ 0 60000 65536"/>
                          <a:gd name="T32" fmla="*/ 0 60000 65536"/>
                          <a:gd name="T33" fmla="*/ 0 60000 65536"/>
                          <a:gd name="T34" fmla="*/ 0 60000 65536"/>
                          <a:gd name="T35" fmla="*/ 0 60000 65536"/>
                          <a:gd name="T36" fmla="*/ 0 60000 65536"/>
                          <a:gd name="T37" fmla="*/ 0 60000 65536"/>
                          <a:gd name="T38" fmla="*/ 0 60000 65536"/>
                          <a:gd name="T39" fmla="*/ 0 w 34"/>
                          <a:gd name="T40" fmla="*/ 0 h 11"/>
                          <a:gd name="T41" fmla="*/ 34 w 34"/>
                          <a:gd name="T42" fmla="*/ 11 h 11"/>
                        </a:gdLst>
                        <a:ahLst/>
                        <a:cxnLst>
                          <a:cxn ang="T26">
                            <a:pos x="T0" y="T1"/>
                          </a:cxn>
                          <a:cxn ang="T27">
                            <a:pos x="T2" y="T3"/>
                          </a:cxn>
                          <a:cxn ang="T28">
                            <a:pos x="T4" y="T5"/>
                          </a:cxn>
                          <a:cxn ang="T29">
                            <a:pos x="T6" y="T7"/>
                          </a:cxn>
                          <a:cxn ang="T30">
                            <a:pos x="T8" y="T9"/>
                          </a:cxn>
                          <a:cxn ang="T31">
                            <a:pos x="T10" y="T11"/>
                          </a:cxn>
                          <a:cxn ang="T32">
                            <a:pos x="T12" y="T13"/>
                          </a:cxn>
                          <a:cxn ang="T33">
                            <a:pos x="T14" y="T15"/>
                          </a:cxn>
                          <a:cxn ang="T34">
                            <a:pos x="T16" y="T17"/>
                          </a:cxn>
                          <a:cxn ang="T35">
                            <a:pos x="T18" y="T19"/>
                          </a:cxn>
                          <a:cxn ang="T36">
                            <a:pos x="T20" y="T21"/>
                          </a:cxn>
                          <a:cxn ang="T37">
                            <a:pos x="T22" y="T23"/>
                          </a:cxn>
                          <a:cxn ang="T38">
                            <a:pos x="T24" y="T25"/>
                          </a:cxn>
                        </a:cxnLst>
                        <a:rect l="T39" t="T40" r="T41" b="T42"/>
                        <a:pathLst>
                          <a:path w="34" h="11">
                            <a:moveTo>
                              <a:pt x="0" y="0"/>
                            </a:moveTo>
                            <a:lnTo>
                              <a:pt x="17" y="0"/>
                            </a:lnTo>
                            <a:lnTo>
                              <a:pt x="23" y="0"/>
                            </a:lnTo>
                            <a:lnTo>
                              <a:pt x="29" y="6"/>
                            </a:lnTo>
                            <a:lnTo>
                              <a:pt x="34" y="6"/>
                            </a:lnTo>
                            <a:lnTo>
                              <a:pt x="29" y="6"/>
                            </a:lnTo>
                            <a:lnTo>
                              <a:pt x="29" y="11"/>
                            </a:lnTo>
                            <a:lnTo>
                              <a:pt x="17" y="11"/>
                            </a:lnTo>
                            <a:lnTo>
                              <a:pt x="5" y="11"/>
                            </a:lnTo>
                            <a:lnTo>
                              <a:pt x="11" y="11"/>
                            </a:lnTo>
                            <a:lnTo>
                              <a:pt x="5" y="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" name="Freeform 5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83" y="1364"/>
                        <a:ext cx="12" cy="10"/>
                      </a:xfrm>
                      <a:custGeom>
                        <a:avLst/>
                        <a:gdLst>
                          <a:gd name="T0" fmla="*/ 0 w 12"/>
                          <a:gd name="T1" fmla="*/ 0 h 10"/>
                          <a:gd name="T2" fmla="*/ 12 w 12"/>
                          <a:gd name="T3" fmla="*/ 0 h 10"/>
                          <a:gd name="T4" fmla="*/ 12 w 12"/>
                          <a:gd name="T5" fmla="*/ 10 h 10"/>
                          <a:gd name="T6" fmla="*/ 0 w 12"/>
                          <a:gd name="T7" fmla="*/ 0 h 10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  <a:gd name="T12" fmla="*/ 0 w 12"/>
                          <a:gd name="T13" fmla="*/ 0 h 10"/>
                          <a:gd name="T14" fmla="*/ 12 w 12"/>
                          <a:gd name="T15" fmla="*/ 10 h 10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T12" t="T13" r="T14" b="T15"/>
                        <a:pathLst>
                          <a:path w="12" h="10">
                            <a:moveTo>
                              <a:pt x="0" y="0"/>
                            </a:moveTo>
                            <a:lnTo>
                              <a:pt x="12" y="0"/>
                            </a:lnTo>
                            <a:lnTo>
                              <a:pt x="12" y="1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8" name="Freeform 5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14" y="1364"/>
                        <a:ext cx="52" cy="37"/>
                      </a:xfrm>
                      <a:custGeom>
                        <a:avLst/>
                        <a:gdLst>
                          <a:gd name="T0" fmla="*/ 0 w 52"/>
                          <a:gd name="T1" fmla="*/ 5 h 37"/>
                          <a:gd name="T2" fmla="*/ 5 w 52"/>
                          <a:gd name="T3" fmla="*/ 5 h 37"/>
                          <a:gd name="T4" fmla="*/ 23 w 52"/>
                          <a:gd name="T5" fmla="*/ 27 h 37"/>
                          <a:gd name="T6" fmla="*/ 52 w 52"/>
                          <a:gd name="T7" fmla="*/ 37 h 37"/>
                          <a:gd name="T8" fmla="*/ 17 w 52"/>
                          <a:gd name="T9" fmla="*/ 32 h 37"/>
                          <a:gd name="T10" fmla="*/ 5 w 52"/>
                          <a:gd name="T11" fmla="*/ 21 h 37"/>
                          <a:gd name="T12" fmla="*/ 0 w 52"/>
                          <a:gd name="T13" fmla="*/ 21 h 37"/>
                          <a:gd name="T14" fmla="*/ 0 w 52"/>
                          <a:gd name="T15" fmla="*/ 0 h 37"/>
                          <a:gd name="T16" fmla="*/ 0 w 52"/>
                          <a:gd name="T17" fmla="*/ 5 h 37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w 52"/>
                          <a:gd name="T28" fmla="*/ 0 h 37"/>
                          <a:gd name="T29" fmla="*/ 52 w 52"/>
                          <a:gd name="T30" fmla="*/ 37 h 37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T27" t="T28" r="T29" b="T30"/>
                        <a:pathLst>
                          <a:path w="52" h="37">
                            <a:moveTo>
                              <a:pt x="0" y="5"/>
                            </a:moveTo>
                            <a:lnTo>
                              <a:pt x="5" y="5"/>
                            </a:lnTo>
                            <a:lnTo>
                              <a:pt x="23" y="27"/>
                            </a:lnTo>
                            <a:lnTo>
                              <a:pt x="52" y="37"/>
                            </a:lnTo>
                            <a:lnTo>
                              <a:pt x="17" y="32"/>
                            </a:lnTo>
                            <a:lnTo>
                              <a:pt x="5" y="21"/>
                            </a:lnTo>
                            <a:lnTo>
                              <a:pt x="0" y="21"/>
                            </a:lnTo>
                            <a:lnTo>
                              <a:pt x="0" y="0"/>
                            </a:lnTo>
                            <a:lnTo>
                              <a:pt x="0" y="5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23" name="Freeform 53"/>
                  <p:cNvSpPr>
                    <a:spLocks/>
                  </p:cNvSpPr>
                  <p:nvPr/>
                </p:nvSpPr>
                <p:spPr bwMode="auto">
                  <a:xfrm>
                    <a:off x="2896" y="1278"/>
                    <a:ext cx="110" cy="96"/>
                  </a:xfrm>
                  <a:custGeom>
                    <a:avLst/>
                    <a:gdLst>
                      <a:gd name="T0" fmla="*/ 18 w 110"/>
                      <a:gd name="T1" fmla="*/ 96 h 96"/>
                      <a:gd name="T2" fmla="*/ 12 w 110"/>
                      <a:gd name="T3" fmla="*/ 86 h 96"/>
                      <a:gd name="T4" fmla="*/ 6 w 110"/>
                      <a:gd name="T5" fmla="*/ 70 h 96"/>
                      <a:gd name="T6" fmla="*/ 0 w 110"/>
                      <a:gd name="T7" fmla="*/ 53 h 96"/>
                      <a:gd name="T8" fmla="*/ 0 w 110"/>
                      <a:gd name="T9" fmla="*/ 32 h 96"/>
                      <a:gd name="T10" fmla="*/ 6 w 110"/>
                      <a:gd name="T11" fmla="*/ 16 h 96"/>
                      <a:gd name="T12" fmla="*/ 18 w 110"/>
                      <a:gd name="T13" fmla="*/ 10 h 96"/>
                      <a:gd name="T14" fmla="*/ 29 w 110"/>
                      <a:gd name="T15" fmla="*/ 5 h 96"/>
                      <a:gd name="T16" fmla="*/ 52 w 110"/>
                      <a:gd name="T17" fmla="*/ 0 h 96"/>
                      <a:gd name="T18" fmla="*/ 76 w 110"/>
                      <a:gd name="T19" fmla="*/ 5 h 96"/>
                      <a:gd name="T20" fmla="*/ 93 w 110"/>
                      <a:gd name="T21" fmla="*/ 10 h 96"/>
                      <a:gd name="T22" fmla="*/ 105 w 110"/>
                      <a:gd name="T23" fmla="*/ 10 h 96"/>
                      <a:gd name="T24" fmla="*/ 110 w 110"/>
                      <a:gd name="T25" fmla="*/ 10 h 96"/>
                      <a:gd name="T26" fmla="*/ 105 w 110"/>
                      <a:gd name="T27" fmla="*/ 16 h 96"/>
                      <a:gd name="T28" fmla="*/ 99 w 110"/>
                      <a:gd name="T29" fmla="*/ 27 h 96"/>
                      <a:gd name="T30" fmla="*/ 99 w 110"/>
                      <a:gd name="T31" fmla="*/ 32 h 96"/>
                      <a:gd name="T32" fmla="*/ 93 w 110"/>
                      <a:gd name="T33" fmla="*/ 27 h 96"/>
                      <a:gd name="T34" fmla="*/ 76 w 110"/>
                      <a:gd name="T35" fmla="*/ 21 h 96"/>
                      <a:gd name="T36" fmla="*/ 64 w 110"/>
                      <a:gd name="T37" fmla="*/ 21 h 96"/>
                      <a:gd name="T38" fmla="*/ 52 w 110"/>
                      <a:gd name="T39" fmla="*/ 21 h 96"/>
                      <a:gd name="T40" fmla="*/ 41 w 110"/>
                      <a:gd name="T41" fmla="*/ 21 h 96"/>
                      <a:gd name="T42" fmla="*/ 47 w 110"/>
                      <a:gd name="T43" fmla="*/ 27 h 96"/>
                      <a:gd name="T44" fmla="*/ 47 w 110"/>
                      <a:gd name="T45" fmla="*/ 32 h 96"/>
                      <a:gd name="T46" fmla="*/ 41 w 110"/>
                      <a:gd name="T47" fmla="*/ 37 h 96"/>
                      <a:gd name="T48" fmla="*/ 35 w 110"/>
                      <a:gd name="T49" fmla="*/ 48 h 96"/>
                      <a:gd name="T50" fmla="*/ 29 w 110"/>
                      <a:gd name="T51" fmla="*/ 59 h 96"/>
                      <a:gd name="T52" fmla="*/ 29 w 110"/>
                      <a:gd name="T53" fmla="*/ 70 h 96"/>
                      <a:gd name="T54" fmla="*/ 23 w 110"/>
                      <a:gd name="T55" fmla="*/ 64 h 96"/>
                      <a:gd name="T56" fmla="*/ 23 w 110"/>
                      <a:gd name="T57" fmla="*/ 59 h 96"/>
                      <a:gd name="T58" fmla="*/ 18 w 110"/>
                      <a:gd name="T59" fmla="*/ 53 h 96"/>
                      <a:gd name="T60" fmla="*/ 6 w 110"/>
                      <a:gd name="T61" fmla="*/ 59 h 96"/>
                      <a:gd name="T62" fmla="*/ 6 w 110"/>
                      <a:gd name="T63" fmla="*/ 59 h 96"/>
                      <a:gd name="T64" fmla="*/ 12 w 110"/>
                      <a:gd name="T65" fmla="*/ 80 h 96"/>
                      <a:gd name="T66" fmla="*/ 12 w 110"/>
                      <a:gd name="T67" fmla="*/ 86 h 96"/>
                      <a:gd name="T68" fmla="*/ 18 w 110"/>
                      <a:gd name="T69" fmla="*/ 96 h 9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w 110"/>
                      <a:gd name="T106" fmla="*/ 0 h 96"/>
                      <a:gd name="T107" fmla="*/ 110 w 110"/>
                      <a:gd name="T108" fmla="*/ 96 h 96"/>
                    </a:gdLst>
                    <a:ahLst/>
                    <a:cxnLst>
                      <a:cxn ang="T70">
                        <a:pos x="T0" y="T1"/>
                      </a:cxn>
                      <a:cxn ang="T71">
                        <a:pos x="T2" y="T3"/>
                      </a:cxn>
                      <a:cxn ang="T72">
                        <a:pos x="T4" y="T5"/>
                      </a:cxn>
                      <a:cxn ang="T73">
                        <a:pos x="T6" y="T7"/>
                      </a:cxn>
                      <a:cxn ang="T74">
                        <a:pos x="T8" y="T9"/>
                      </a:cxn>
                      <a:cxn ang="T75">
                        <a:pos x="T10" y="T11"/>
                      </a:cxn>
                      <a:cxn ang="T76">
                        <a:pos x="T12" y="T13"/>
                      </a:cxn>
                      <a:cxn ang="T77">
                        <a:pos x="T14" y="T15"/>
                      </a:cxn>
                      <a:cxn ang="T78">
                        <a:pos x="T16" y="T17"/>
                      </a:cxn>
                      <a:cxn ang="T79">
                        <a:pos x="T18" y="T19"/>
                      </a:cxn>
                      <a:cxn ang="T80">
                        <a:pos x="T20" y="T21"/>
                      </a:cxn>
                      <a:cxn ang="T81">
                        <a:pos x="T22" y="T23"/>
                      </a:cxn>
                      <a:cxn ang="T82">
                        <a:pos x="T24" y="T25"/>
                      </a:cxn>
                      <a:cxn ang="T83">
                        <a:pos x="T26" y="T27"/>
                      </a:cxn>
                      <a:cxn ang="T84">
                        <a:pos x="T28" y="T29"/>
                      </a:cxn>
                      <a:cxn ang="T85">
                        <a:pos x="T30" y="T31"/>
                      </a:cxn>
                      <a:cxn ang="T86">
                        <a:pos x="T32" y="T33"/>
                      </a:cxn>
                      <a:cxn ang="T87">
                        <a:pos x="T34" y="T35"/>
                      </a:cxn>
                      <a:cxn ang="T88">
                        <a:pos x="T36" y="T37"/>
                      </a:cxn>
                      <a:cxn ang="T89">
                        <a:pos x="T38" y="T39"/>
                      </a:cxn>
                      <a:cxn ang="T90">
                        <a:pos x="T40" y="T41"/>
                      </a:cxn>
                      <a:cxn ang="T91">
                        <a:pos x="T42" y="T43"/>
                      </a:cxn>
                      <a:cxn ang="T92">
                        <a:pos x="T44" y="T45"/>
                      </a:cxn>
                      <a:cxn ang="T93">
                        <a:pos x="T46" y="T47"/>
                      </a:cxn>
                      <a:cxn ang="T94">
                        <a:pos x="T48" y="T49"/>
                      </a:cxn>
                      <a:cxn ang="T95">
                        <a:pos x="T50" y="T51"/>
                      </a:cxn>
                      <a:cxn ang="T96">
                        <a:pos x="T52" y="T53"/>
                      </a:cxn>
                      <a:cxn ang="T97">
                        <a:pos x="T54" y="T55"/>
                      </a:cxn>
                      <a:cxn ang="T98">
                        <a:pos x="T56" y="T57"/>
                      </a:cxn>
                      <a:cxn ang="T99">
                        <a:pos x="T58" y="T59"/>
                      </a:cxn>
                      <a:cxn ang="T100">
                        <a:pos x="T60" y="T61"/>
                      </a:cxn>
                      <a:cxn ang="T101">
                        <a:pos x="T62" y="T63"/>
                      </a:cxn>
                      <a:cxn ang="T102">
                        <a:pos x="T64" y="T65"/>
                      </a:cxn>
                      <a:cxn ang="T103">
                        <a:pos x="T66" y="T67"/>
                      </a:cxn>
                      <a:cxn ang="T104">
                        <a:pos x="T68" y="T69"/>
                      </a:cxn>
                    </a:cxnLst>
                    <a:rect l="T105" t="T106" r="T107" b="T108"/>
                    <a:pathLst>
                      <a:path w="110" h="96">
                        <a:moveTo>
                          <a:pt x="18" y="96"/>
                        </a:moveTo>
                        <a:lnTo>
                          <a:pt x="12" y="86"/>
                        </a:lnTo>
                        <a:lnTo>
                          <a:pt x="6" y="70"/>
                        </a:lnTo>
                        <a:lnTo>
                          <a:pt x="0" y="53"/>
                        </a:lnTo>
                        <a:lnTo>
                          <a:pt x="0" y="32"/>
                        </a:lnTo>
                        <a:lnTo>
                          <a:pt x="6" y="16"/>
                        </a:lnTo>
                        <a:lnTo>
                          <a:pt x="18" y="10"/>
                        </a:lnTo>
                        <a:lnTo>
                          <a:pt x="29" y="5"/>
                        </a:lnTo>
                        <a:lnTo>
                          <a:pt x="52" y="0"/>
                        </a:lnTo>
                        <a:lnTo>
                          <a:pt x="76" y="5"/>
                        </a:lnTo>
                        <a:lnTo>
                          <a:pt x="93" y="10"/>
                        </a:lnTo>
                        <a:lnTo>
                          <a:pt x="105" y="10"/>
                        </a:lnTo>
                        <a:lnTo>
                          <a:pt x="110" y="10"/>
                        </a:lnTo>
                        <a:lnTo>
                          <a:pt x="105" y="16"/>
                        </a:lnTo>
                        <a:lnTo>
                          <a:pt x="99" y="27"/>
                        </a:lnTo>
                        <a:lnTo>
                          <a:pt x="99" y="32"/>
                        </a:lnTo>
                        <a:lnTo>
                          <a:pt x="93" y="27"/>
                        </a:lnTo>
                        <a:lnTo>
                          <a:pt x="76" y="21"/>
                        </a:lnTo>
                        <a:lnTo>
                          <a:pt x="64" y="21"/>
                        </a:lnTo>
                        <a:lnTo>
                          <a:pt x="52" y="21"/>
                        </a:lnTo>
                        <a:lnTo>
                          <a:pt x="41" y="21"/>
                        </a:lnTo>
                        <a:lnTo>
                          <a:pt x="47" y="27"/>
                        </a:lnTo>
                        <a:lnTo>
                          <a:pt x="47" y="32"/>
                        </a:lnTo>
                        <a:lnTo>
                          <a:pt x="41" y="37"/>
                        </a:lnTo>
                        <a:lnTo>
                          <a:pt x="35" y="48"/>
                        </a:lnTo>
                        <a:lnTo>
                          <a:pt x="29" y="59"/>
                        </a:lnTo>
                        <a:lnTo>
                          <a:pt x="29" y="70"/>
                        </a:lnTo>
                        <a:lnTo>
                          <a:pt x="23" y="64"/>
                        </a:lnTo>
                        <a:lnTo>
                          <a:pt x="23" y="59"/>
                        </a:lnTo>
                        <a:lnTo>
                          <a:pt x="18" y="53"/>
                        </a:lnTo>
                        <a:lnTo>
                          <a:pt x="6" y="59"/>
                        </a:lnTo>
                        <a:lnTo>
                          <a:pt x="12" y="80"/>
                        </a:lnTo>
                        <a:lnTo>
                          <a:pt x="12" y="86"/>
                        </a:lnTo>
                        <a:lnTo>
                          <a:pt x="18" y="96"/>
                        </a:lnTo>
                        <a:close/>
                      </a:path>
                    </a:pathLst>
                  </a:custGeom>
                  <a:solidFill>
                    <a:srgbClr val="BF7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1" name="Freeform 54"/>
                <p:cNvSpPr>
                  <a:spLocks/>
                </p:cNvSpPr>
                <p:nvPr/>
              </p:nvSpPr>
              <p:spPr bwMode="auto">
                <a:xfrm>
                  <a:off x="2989" y="1622"/>
                  <a:ext cx="93" cy="42"/>
                </a:xfrm>
                <a:custGeom>
                  <a:avLst/>
                  <a:gdLst>
                    <a:gd name="T0" fmla="*/ 93 w 93"/>
                    <a:gd name="T1" fmla="*/ 37 h 42"/>
                    <a:gd name="T2" fmla="*/ 69 w 93"/>
                    <a:gd name="T3" fmla="*/ 42 h 42"/>
                    <a:gd name="T4" fmla="*/ 40 w 93"/>
                    <a:gd name="T5" fmla="*/ 42 h 42"/>
                    <a:gd name="T6" fmla="*/ 17 w 93"/>
                    <a:gd name="T7" fmla="*/ 32 h 42"/>
                    <a:gd name="T8" fmla="*/ 0 w 93"/>
                    <a:gd name="T9" fmla="*/ 5 h 42"/>
                    <a:gd name="T10" fmla="*/ 40 w 93"/>
                    <a:gd name="T11" fmla="*/ 10 h 42"/>
                    <a:gd name="T12" fmla="*/ 40 w 93"/>
                    <a:gd name="T13" fmla="*/ 0 h 42"/>
                    <a:gd name="T14" fmla="*/ 58 w 93"/>
                    <a:gd name="T15" fmla="*/ 0 h 42"/>
                    <a:gd name="T16" fmla="*/ 81 w 93"/>
                    <a:gd name="T17" fmla="*/ 10 h 42"/>
                    <a:gd name="T18" fmla="*/ 87 w 93"/>
                    <a:gd name="T19" fmla="*/ 10 h 42"/>
                    <a:gd name="T20" fmla="*/ 93 w 93"/>
                    <a:gd name="T21" fmla="*/ 37 h 4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93"/>
                    <a:gd name="T34" fmla="*/ 0 h 42"/>
                    <a:gd name="T35" fmla="*/ 93 w 93"/>
                    <a:gd name="T36" fmla="*/ 42 h 4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93" h="42">
                      <a:moveTo>
                        <a:pt x="93" y="37"/>
                      </a:moveTo>
                      <a:lnTo>
                        <a:pt x="69" y="42"/>
                      </a:lnTo>
                      <a:lnTo>
                        <a:pt x="40" y="42"/>
                      </a:lnTo>
                      <a:lnTo>
                        <a:pt x="17" y="32"/>
                      </a:lnTo>
                      <a:lnTo>
                        <a:pt x="0" y="5"/>
                      </a:lnTo>
                      <a:lnTo>
                        <a:pt x="40" y="10"/>
                      </a:lnTo>
                      <a:lnTo>
                        <a:pt x="40" y="0"/>
                      </a:lnTo>
                      <a:lnTo>
                        <a:pt x="58" y="0"/>
                      </a:lnTo>
                      <a:lnTo>
                        <a:pt x="81" y="10"/>
                      </a:lnTo>
                      <a:lnTo>
                        <a:pt x="87" y="10"/>
                      </a:lnTo>
                      <a:lnTo>
                        <a:pt x="93" y="37"/>
                      </a:lnTo>
                      <a:close/>
                    </a:path>
                  </a:pathLst>
                </a:custGeom>
                <a:solidFill>
                  <a:srgbClr val="FF7F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pic>
          <p:nvPicPr>
            <p:cNvPr id="15" name="Picture 5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53" t="11359" r="2036" b="5432"/>
            <a:stretch>
              <a:fillRect/>
            </a:stretch>
          </p:blipFill>
          <p:spPr bwMode="auto">
            <a:xfrm>
              <a:off x="477838" y="3349625"/>
              <a:ext cx="1254125" cy="755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56" descr="bnsf locomotive"/>
            <p:cNvPicPr>
              <a:picLocks noChangeAspect="1" noChangeArrowheads="1"/>
            </p:cNvPicPr>
            <p:nvPr/>
          </p:nvPicPr>
          <p:blipFill>
            <a:blip r:embed="rId7">
              <a:lum bright="22000"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1" y="418147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57" descr="windmills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07" b="28030"/>
            <a:stretch>
              <a:fillRect/>
            </a:stretch>
          </p:blipFill>
          <p:spPr bwMode="auto">
            <a:xfrm>
              <a:off x="479426" y="5167313"/>
              <a:ext cx="1338263" cy="909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A1C46D9-34EA-F14B-8640-51C0B262243A}"/>
                  </a:ext>
                </a:extLst>
              </p:cNvPr>
              <p:cNvSpPr txBox="1"/>
              <p:nvPr/>
            </p:nvSpPr>
            <p:spPr>
              <a:xfrm>
                <a:off x="4633731" y="3576870"/>
                <a:ext cx="522387" cy="193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/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/>
                                                    </m:mr>
                                                    <m:mr>
                                                      <m:e/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A1C46D9-34EA-F14B-8640-51C0B2622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731" y="3576870"/>
                <a:ext cx="522387" cy="19323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A201A2-E35F-16E3-9991-3656BF0DFE83}"/>
                  </a:ext>
                </a:extLst>
              </p:cNvPr>
              <p:cNvSpPr txBox="1"/>
              <p:nvPr/>
            </p:nvSpPr>
            <p:spPr>
              <a:xfrm>
                <a:off x="3871274" y="4333644"/>
                <a:ext cx="9864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FA201A2-E35F-16E3-9991-3656BF0DF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274" y="4333644"/>
                <a:ext cx="986424" cy="400110"/>
              </a:xfrm>
              <a:prstGeom prst="rect">
                <a:avLst/>
              </a:prstGeom>
              <a:blipFill>
                <a:blip r:embed="rId10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03ACB64-C32B-7C81-428C-08B2192FCF94}"/>
              </a:ext>
            </a:extLst>
          </p:cNvPr>
          <p:cNvSpPr txBox="1"/>
          <p:nvPr/>
        </p:nvSpPr>
        <p:spPr>
          <a:xfrm>
            <a:off x="4063998" y="1661140"/>
            <a:ext cx="2598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Controls community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A1332-042F-7376-8EC9-243112517C49}"/>
              </a:ext>
            </a:extLst>
          </p:cNvPr>
          <p:cNvSpPr txBox="1"/>
          <p:nvPr/>
        </p:nvSpPr>
        <p:spPr>
          <a:xfrm>
            <a:off x="4053113" y="2684400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Raleway" pitchFamily="2" charset="0"/>
              </a:rPr>
              <a:t>My notation: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A2B688-0632-56C1-8FA5-D39B984E0730}"/>
                  </a:ext>
                </a:extLst>
              </p:cNvPr>
              <p:cNvSpPr txBox="1"/>
              <p:nvPr/>
            </p:nvSpPr>
            <p:spPr>
              <a:xfrm>
                <a:off x="4415889" y="2115239"/>
                <a:ext cx="23719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A2B688-0632-56C1-8FA5-D39B984E0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889" y="2115239"/>
                <a:ext cx="2371996" cy="400110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787546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5DE28-865D-5ADB-D559-C9DBAD7CA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swald" panose="00000500000000000000" pitchFamily="2" charset="0"/>
              </a:rPr>
              <a:t>Modeling: Transition function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8D366-708A-A75D-E8BE-C17F3A514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092" y="1132346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From transition function to transition matrix: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The transition function: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/>
              <a:t>Easy to compute, scales to ultra large-scale problems.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transition matrix: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Impossible to compute for anything larger than a toy problem, even if we use Monte Carlo simulation!</a:t>
            </a:r>
          </a:p>
          <a:p>
            <a:pPr marL="571500" lvl="1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ED08A8-A02F-50F3-0650-780756F22CA2}"/>
                  </a:ext>
                </a:extLst>
              </p:cNvPr>
              <p:cNvSpPr txBox="1"/>
              <p:nvPr/>
            </p:nvSpPr>
            <p:spPr>
              <a:xfrm>
                <a:off x="695957" y="4483747"/>
                <a:ext cx="11289436" cy="9359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23"/>
                                        </m:r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  <m:nary>
                                    <m:nary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sup>
                                      </m:s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b>
                                          <m:d>
                                            <m:dPr>
                                              <m:begChr m:val="{"/>
                                              <m:endChr m:val="}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𝑆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sup>
                                              </m:sSup>
                                              <m:d>
                                                <m:dPr>
                                                  <m:ctrlP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𝑠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𝑊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  <m:r>
                                                        <a:rPr lang="en-US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+1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=</m:t>
                                                  </m:r>
                                                  <m:r>
                                                    <a:rPr 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</m:e>
                            <m:sup/>
                          </m:sSup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ED08A8-A02F-50F3-0650-780756F22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57" y="4483747"/>
                <a:ext cx="11289436" cy="9359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6A0916-2EC3-95B8-F726-7442838FABCB}"/>
                  </a:ext>
                </a:extLst>
              </p:cNvPr>
              <p:cNvSpPr txBox="1"/>
              <p:nvPr/>
            </p:nvSpPr>
            <p:spPr>
              <a:xfrm>
                <a:off x="2617075" y="2602700"/>
                <a:ext cx="304025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6A0916-2EC3-95B8-F726-7442838FA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075" y="2602700"/>
                <a:ext cx="3040255" cy="430887"/>
              </a:xfrm>
              <a:prstGeom prst="rect">
                <a:avLst/>
              </a:prstGeom>
              <a:blipFill>
                <a:blip r:embed="rId3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084736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2FBE26E-530F-DB1C-E8A0-27CAA5B2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CD3D9-7A1F-8B88-AF37-6BE654B12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BFDA670A-1938-2A96-BA31-12DE104220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EB0EF53D-E44C-FFCC-DADD-27755B9734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058399"/>
            <a:ext cx="9840879" cy="53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The universal modeling framework (detailed)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Textbook modeling styles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Modeling time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State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Decision variables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Exogenous information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Transition function</a:t>
            </a:r>
          </a:p>
          <a:p>
            <a:pPr marL="800100" lvl="1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1365990765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sz="3300" dirty="0">
                <a:latin typeface="Oswald" panose="00000500000000000000" pitchFamily="2" charset="0"/>
              </a:rPr>
              <a:t>Modeling: Objective function</a:t>
            </a:r>
          </a:p>
        </p:txBody>
      </p:sp>
      <p:sp>
        <p:nvSpPr>
          <p:cNvPr id="53760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19912" y="1143000"/>
            <a:ext cx="7772400" cy="533400"/>
          </a:xfrm>
        </p:spPr>
        <p:txBody>
          <a:bodyPr/>
          <a:lstStyle/>
          <a:p>
            <a:pPr marL="86360" indent="0">
              <a:buNone/>
            </a:pPr>
            <a:r>
              <a:rPr lang="en-US" dirty="0">
                <a:latin typeface="Raleway" pitchFamily="2" charset="0"/>
              </a:rPr>
              <a:t>The objective function:</a:t>
            </a:r>
          </a:p>
        </p:txBody>
      </p:sp>
      <p:graphicFrame>
        <p:nvGraphicFramePr>
          <p:cNvPr id="537611" name="Object 9"/>
          <p:cNvGraphicFramePr>
            <a:graphicFrameLocks noChangeAspect="1"/>
          </p:cNvGraphicFramePr>
          <p:nvPr/>
        </p:nvGraphicFramePr>
        <p:xfrm>
          <a:off x="3333750" y="2017714"/>
          <a:ext cx="558800" cy="40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1371600" progId="Equation.DSMT4">
                  <p:embed/>
                </p:oleObj>
              </mc:Choice>
              <mc:Fallback>
                <p:oleObj name="Equation" r:id="rId3" imgW="190440" imgH="1371600" progId="Equation.DSMT4">
                  <p:embed/>
                  <p:pic>
                    <p:nvPicPr>
                      <p:cNvPr id="53761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2017714"/>
                        <a:ext cx="558800" cy="402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2001839" y="2206626"/>
            <a:ext cx="1339851" cy="3870325"/>
            <a:chOff x="477838" y="2206625"/>
            <a:chExt cx="1339851" cy="3870325"/>
          </a:xfrm>
        </p:grpSpPr>
        <p:grpSp>
          <p:nvGrpSpPr>
            <p:cNvPr id="14" name="Group 31"/>
            <p:cNvGrpSpPr>
              <a:grpSpLocks/>
            </p:cNvGrpSpPr>
            <p:nvPr/>
          </p:nvGrpSpPr>
          <p:grpSpPr bwMode="auto">
            <a:xfrm>
              <a:off x="1039813" y="2206625"/>
              <a:ext cx="288925" cy="895350"/>
              <a:chOff x="2803" y="1278"/>
              <a:chExt cx="342" cy="956"/>
            </a:xfrm>
          </p:grpSpPr>
          <p:grpSp>
            <p:nvGrpSpPr>
              <p:cNvPr id="18" name="Group 32"/>
              <p:cNvGrpSpPr>
                <a:grpSpLocks/>
              </p:cNvGrpSpPr>
              <p:nvPr/>
            </p:nvGrpSpPr>
            <p:grpSpPr bwMode="auto">
              <a:xfrm>
                <a:off x="2803" y="1401"/>
                <a:ext cx="342" cy="833"/>
                <a:chOff x="2803" y="1401"/>
                <a:chExt cx="342" cy="833"/>
              </a:xfrm>
            </p:grpSpPr>
            <p:grpSp>
              <p:nvGrpSpPr>
                <p:cNvPr id="29" name="Group 33"/>
                <p:cNvGrpSpPr>
                  <a:grpSpLocks/>
                </p:cNvGrpSpPr>
                <p:nvPr/>
              </p:nvGrpSpPr>
              <p:grpSpPr bwMode="auto">
                <a:xfrm>
                  <a:off x="2815" y="2143"/>
                  <a:ext cx="301" cy="91"/>
                  <a:chOff x="2815" y="2143"/>
                  <a:chExt cx="301" cy="91"/>
                </a:xfrm>
              </p:grpSpPr>
              <p:sp>
                <p:nvSpPr>
                  <p:cNvPr id="39" name="Freeform 34"/>
                  <p:cNvSpPr>
                    <a:spLocks/>
                  </p:cNvSpPr>
                  <p:nvPr/>
                </p:nvSpPr>
                <p:spPr bwMode="auto">
                  <a:xfrm>
                    <a:off x="2815" y="2164"/>
                    <a:ext cx="93" cy="70"/>
                  </a:xfrm>
                  <a:custGeom>
                    <a:avLst/>
                    <a:gdLst>
                      <a:gd name="T0" fmla="*/ 35 w 93"/>
                      <a:gd name="T1" fmla="*/ 11 h 70"/>
                      <a:gd name="T2" fmla="*/ 12 w 93"/>
                      <a:gd name="T3" fmla="*/ 32 h 70"/>
                      <a:gd name="T4" fmla="*/ 0 w 93"/>
                      <a:gd name="T5" fmla="*/ 48 h 70"/>
                      <a:gd name="T6" fmla="*/ 0 w 93"/>
                      <a:gd name="T7" fmla="*/ 65 h 70"/>
                      <a:gd name="T8" fmla="*/ 12 w 93"/>
                      <a:gd name="T9" fmla="*/ 70 h 70"/>
                      <a:gd name="T10" fmla="*/ 41 w 93"/>
                      <a:gd name="T11" fmla="*/ 65 h 70"/>
                      <a:gd name="T12" fmla="*/ 58 w 93"/>
                      <a:gd name="T13" fmla="*/ 59 h 70"/>
                      <a:gd name="T14" fmla="*/ 70 w 93"/>
                      <a:gd name="T15" fmla="*/ 43 h 70"/>
                      <a:gd name="T16" fmla="*/ 93 w 93"/>
                      <a:gd name="T17" fmla="*/ 32 h 70"/>
                      <a:gd name="T18" fmla="*/ 93 w 93"/>
                      <a:gd name="T19" fmla="*/ 16 h 70"/>
                      <a:gd name="T20" fmla="*/ 87 w 93"/>
                      <a:gd name="T21" fmla="*/ 0 h 70"/>
                      <a:gd name="T22" fmla="*/ 64 w 93"/>
                      <a:gd name="T23" fmla="*/ 11 h 70"/>
                      <a:gd name="T24" fmla="*/ 35 w 93"/>
                      <a:gd name="T25" fmla="*/ 11 h 70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93"/>
                      <a:gd name="T40" fmla="*/ 0 h 70"/>
                      <a:gd name="T41" fmla="*/ 93 w 93"/>
                      <a:gd name="T42" fmla="*/ 70 h 70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93" h="70">
                        <a:moveTo>
                          <a:pt x="35" y="11"/>
                        </a:moveTo>
                        <a:lnTo>
                          <a:pt x="12" y="32"/>
                        </a:lnTo>
                        <a:lnTo>
                          <a:pt x="0" y="48"/>
                        </a:lnTo>
                        <a:lnTo>
                          <a:pt x="0" y="65"/>
                        </a:lnTo>
                        <a:lnTo>
                          <a:pt x="12" y="70"/>
                        </a:lnTo>
                        <a:lnTo>
                          <a:pt x="41" y="65"/>
                        </a:lnTo>
                        <a:lnTo>
                          <a:pt x="58" y="59"/>
                        </a:lnTo>
                        <a:lnTo>
                          <a:pt x="70" y="43"/>
                        </a:lnTo>
                        <a:lnTo>
                          <a:pt x="93" y="32"/>
                        </a:lnTo>
                        <a:lnTo>
                          <a:pt x="93" y="16"/>
                        </a:lnTo>
                        <a:lnTo>
                          <a:pt x="87" y="0"/>
                        </a:lnTo>
                        <a:lnTo>
                          <a:pt x="64" y="11"/>
                        </a:lnTo>
                        <a:lnTo>
                          <a:pt x="35" y="1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" name="Freeform 35"/>
                  <p:cNvSpPr>
                    <a:spLocks/>
                  </p:cNvSpPr>
                  <p:nvPr/>
                </p:nvSpPr>
                <p:spPr bwMode="auto">
                  <a:xfrm>
                    <a:off x="3012" y="2143"/>
                    <a:ext cx="104" cy="75"/>
                  </a:xfrm>
                  <a:custGeom>
                    <a:avLst/>
                    <a:gdLst>
                      <a:gd name="T0" fmla="*/ 0 w 104"/>
                      <a:gd name="T1" fmla="*/ 5 h 75"/>
                      <a:gd name="T2" fmla="*/ 0 w 104"/>
                      <a:gd name="T3" fmla="*/ 32 h 75"/>
                      <a:gd name="T4" fmla="*/ 12 w 104"/>
                      <a:gd name="T5" fmla="*/ 43 h 75"/>
                      <a:gd name="T6" fmla="*/ 29 w 104"/>
                      <a:gd name="T7" fmla="*/ 48 h 75"/>
                      <a:gd name="T8" fmla="*/ 41 w 104"/>
                      <a:gd name="T9" fmla="*/ 53 h 75"/>
                      <a:gd name="T10" fmla="*/ 58 w 104"/>
                      <a:gd name="T11" fmla="*/ 64 h 75"/>
                      <a:gd name="T12" fmla="*/ 87 w 104"/>
                      <a:gd name="T13" fmla="*/ 75 h 75"/>
                      <a:gd name="T14" fmla="*/ 99 w 104"/>
                      <a:gd name="T15" fmla="*/ 69 h 75"/>
                      <a:gd name="T16" fmla="*/ 104 w 104"/>
                      <a:gd name="T17" fmla="*/ 64 h 75"/>
                      <a:gd name="T18" fmla="*/ 104 w 104"/>
                      <a:gd name="T19" fmla="*/ 59 h 75"/>
                      <a:gd name="T20" fmla="*/ 93 w 104"/>
                      <a:gd name="T21" fmla="*/ 43 h 75"/>
                      <a:gd name="T22" fmla="*/ 70 w 104"/>
                      <a:gd name="T23" fmla="*/ 26 h 75"/>
                      <a:gd name="T24" fmla="*/ 52 w 104"/>
                      <a:gd name="T25" fmla="*/ 10 h 75"/>
                      <a:gd name="T26" fmla="*/ 46 w 104"/>
                      <a:gd name="T27" fmla="*/ 0 h 75"/>
                      <a:gd name="T28" fmla="*/ 0 w 104"/>
                      <a:gd name="T29" fmla="*/ 5 h 7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04"/>
                      <a:gd name="T46" fmla="*/ 0 h 75"/>
                      <a:gd name="T47" fmla="*/ 104 w 104"/>
                      <a:gd name="T48" fmla="*/ 75 h 7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04" h="75">
                        <a:moveTo>
                          <a:pt x="0" y="5"/>
                        </a:moveTo>
                        <a:lnTo>
                          <a:pt x="0" y="32"/>
                        </a:lnTo>
                        <a:lnTo>
                          <a:pt x="12" y="43"/>
                        </a:lnTo>
                        <a:lnTo>
                          <a:pt x="29" y="48"/>
                        </a:lnTo>
                        <a:lnTo>
                          <a:pt x="41" y="53"/>
                        </a:lnTo>
                        <a:lnTo>
                          <a:pt x="58" y="64"/>
                        </a:lnTo>
                        <a:lnTo>
                          <a:pt x="87" y="75"/>
                        </a:lnTo>
                        <a:lnTo>
                          <a:pt x="99" y="69"/>
                        </a:lnTo>
                        <a:lnTo>
                          <a:pt x="104" y="64"/>
                        </a:lnTo>
                        <a:lnTo>
                          <a:pt x="104" y="59"/>
                        </a:lnTo>
                        <a:lnTo>
                          <a:pt x="93" y="43"/>
                        </a:lnTo>
                        <a:lnTo>
                          <a:pt x="70" y="26"/>
                        </a:lnTo>
                        <a:lnTo>
                          <a:pt x="52" y="10"/>
                        </a:lnTo>
                        <a:lnTo>
                          <a:pt x="46" y="0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0" name="Group 36"/>
                <p:cNvGrpSpPr>
                  <a:grpSpLocks/>
                </p:cNvGrpSpPr>
                <p:nvPr/>
              </p:nvGrpSpPr>
              <p:grpSpPr bwMode="auto">
                <a:xfrm>
                  <a:off x="2803" y="1401"/>
                  <a:ext cx="342" cy="785"/>
                  <a:chOff x="2803" y="1401"/>
                  <a:chExt cx="342" cy="785"/>
                </a:xfrm>
              </p:grpSpPr>
              <p:grpSp>
                <p:nvGrpSpPr>
                  <p:cNvPr id="31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2844" y="1401"/>
                    <a:ext cx="220" cy="253"/>
                    <a:chOff x="2844" y="1401"/>
                    <a:chExt cx="220" cy="253"/>
                  </a:xfrm>
                </p:grpSpPr>
                <p:sp>
                  <p:nvSpPr>
                    <p:cNvPr id="36" name="Freeform 38"/>
                    <p:cNvSpPr>
                      <a:spLocks/>
                    </p:cNvSpPr>
                    <p:nvPr/>
                  </p:nvSpPr>
                  <p:spPr bwMode="auto">
                    <a:xfrm>
                      <a:off x="2844" y="1417"/>
                      <a:ext cx="220" cy="237"/>
                    </a:xfrm>
                    <a:custGeom>
                      <a:avLst/>
                      <a:gdLst>
                        <a:gd name="T0" fmla="*/ 0 w 220"/>
                        <a:gd name="T1" fmla="*/ 43 h 237"/>
                        <a:gd name="T2" fmla="*/ 70 w 220"/>
                        <a:gd name="T3" fmla="*/ 0 h 237"/>
                        <a:gd name="T4" fmla="*/ 139 w 220"/>
                        <a:gd name="T5" fmla="*/ 102 h 237"/>
                        <a:gd name="T6" fmla="*/ 151 w 220"/>
                        <a:gd name="T7" fmla="*/ 6 h 237"/>
                        <a:gd name="T8" fmla="*/ 197 w 220"/>
                        <a:gd name="T9" fmla="*/ 17 h 237"/>
                        <a:gd name="T10" fmla="*/ 220 w 220"/>
                        <a:gd name="T11" fmla="*/ 54 h 237"/>
                        <a:gd name="T12" fmla="*/ 214 w 220"/>
                        <a:gd name="T13" fmla="*/ 237 h 237"/>
                        <a:gd name="T14" fmla="*/ 23 w 220"/>
                        <a:gd name="T15" fmla="*/ 237 h 237"/>
                        <a:gd name="T16" fmla="*/ 0 w 220"/>
                        <a:gd name="T17" fmla="*/ 43 h 237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w 220"/>
                        <a:gd name="T28" fmla="*/ 0 h 237"/>
                        <a:gd name="T29" fmla="*/ 220 w 220"/>
                        <a:gd name="T30" fmla="*/ 237 h 237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T27" t="T28" r="T29" b="T30"/>
                      <a:pathLst>
                        <a:path w="220" h="237">
                          <a:moveTo>
                            <a:pt x="0" y="43"/>
                          </a:moveTo>
                          <a:lnTo>
                            <a:pt x="70" y="0"/>
                          </a:lnTo>
                          <a:lnTo>
                            <a:pt x="139" y="102"/>
                          </a:lnTo>
                          <a:lnTo>
                            <a:pt x="151" y="6"/>
                          </a:lnTo>
                          <a:lnTo>
                            <a:pt x="197" y="17"/>
                          </a:lnTo>
                          <a:lnTo>
                            <a:pt x="220" y="54"/>
                          </a:lnTo>
                          <a:lnTo>
                            <a:pt x="214" y="237"/>
                          </a:lnTo>
                          <a:lnTo>
                            <a:pt x="23" y="237"/>
                          </a:lnTo>
                          <a:lnTo>
                            <a:pt x="0" y="43"/>
                          </a:lnTo>
                          <a:close/>
                        </a:path>
                      </a:pathLst>
                    </a:custGeom>
                    <a:solidFill>
                      <a:srgbClr val="7F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7" name="Freeform 39"/>
                    <p:cNvSpPr>
                      <a:spLocks/>
                    </p:cNvSpPr>
                    <p:nvPr/>
                  </p:nvSpPr>
                  <p:spPr bwMode="auto">
                    <a:xfrm>
                      <a:off x="2908" y="1401"/>
                      <a:ext cx="87" cy="140"/>
                    </a:xfrm>
                    <a:custGeom>
                      <a:avLst/>
                      <a:gdLst>
                        <a:gd name="T0" fmla="*/ 0 w 87"/>
                        <a:gd name="T1" fmla="*/ 16 h 140"/>
                        <a:gd name="T2" fmla="*/ 6 w 87"/>
                        <a:gd name="T3" fmla="*/ 0 h 140"/>
                        <a:gd name="T4" fmla="*/ 64 w 87"/>
                        <a:gd name="T5" fmla="*/ 27 h 140"/>
                        <a:gd name="T6" fmla="*/ 75 w 87"/>
                        <a:gd name="T7" fmla="*/ 11 h 140"/>
                        <a:gd name="T8" fmla="*/ 81 w 87"/>
                        <a:gd name="T9" fmla="*/ 16 h 140"/>
                        <a:gd name="T10" fmla="*/ 87 w 87"/>
                        <a:gd name="T11" fmla="*/ 97 h 140"/>
                        <a:gd name="T12" fmla="*/ 87 w 87"/>
                        <a:gd name="T13" fmla="*/ 140 h 140"/>
                        <a:gd name="T14" fmla="*/ 0 w 87"/>
                        <a:gd name="T15" fmla="*/ 16 h 140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87"/>
                        <a:gd name="T25" fmla="*/ 0 h 140"/>
                        <a:gd name="T26" fmla="*/ 87 w 87"/>
                        <a:gd name="T27" fmla="*/ 140 h 140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87" h="140">
                          <a:moveTo>
                            <a:pt x="0" y="16"/>
                          </a:moveTo>
                          <a:lnTo>
                            <a:pt x="6" y="0"/>
                          </a:lnTo>
                          <a:lnTo>
                            <a:pt x="64" y="27"/>
                          </a:lnTo>
                          <a:lnTo>
                            <a:pt x="75" y="11"/>
                          </a:lnTo>
                          <a:lnTo>
                            <a:pt x="81" y="16"/>
                          </a:lnTo>
                          <a:lnTo>
                            <a:pt x="87" y="97"/>
                          </a:lnTo>
                          <a:lnTo>
                            <a:pt x="87" y="140"/>
                          </a:lnTo>
                          <a:lnTo>
                            <a:pt x="0" y="16"/>
                          </a:lnTo>
                          <a:close/>
                        </a:path>
                      </a:pathLst>
                    </a:custGeom>
                    <a:solidFill>
                      <a:srgbClr val="FFD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8" name="Freeform 40"/>
                    <p:cNvSpPr>
                      <a:spLocks/>
                    </p:cNvSpPr>
                    <p:nvPr/>
                  </p:nvSpPr>
                  <p:spPr bwMode="auto">
                    <a:xfrm>
                      <a:off x="2937" y="1428"/>
                      <a:ext cx="52" cy="27"/>
                    </a:xfrm>
                    <a:custGeom>
                      <a:avLst/>
                      <a:gdLst>
                        <a:gd name="T0" fmla="*/ 0 w 52"/>
                        <a:gd name="T1" fmla="*/ 27 h 27"/>
                        <a:gd name="T2" fmla="*/ 29 w 52"/>
                        <a:gd name="T3" fmla="*/ 0 h 27"/>
                        <a:gd name="T4" fmla="*/ 52 w 52"/>
                        <a:gd name="T5" fmla="*/ 22 h 27"/>
                        <a:gd name="T6" fmla="*/ 0 60000 65536"/>
                        <a:gd name="T7" fmla="*/ 0 60000 65536"/>
                        <a:gd name="T8" fmla="*/ 0 60000 65536"/>
                        <a:gd name="T9" fmla="*/ 0 w 52"/>
                        <a:gd name="T10" fmla="*/ 0 h 27"/>
                        <a:gd name="T11" fmla="*/ 52 w 52"/>
                        <a:gd name="T12" fmla="*/ 27 h 27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52" h="27">
                          <a:moveTo>
                            <a:pt x="0" y="27"/>
                          </a:moveTo>
                          <a:lnTo>
                            <a:pt x="29" y="0"/>
                          </a:lnTo>
                          <a:lnTo>
                            <a:pt x="52" y="22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32" name="Group 41"/>
                  <p:cNvGrpSpPr>
                    <a:grpSpLocks/>
                  </p:cNvGrpSpPr>
                  <p:nvPr/>
                </p:nvGrpSpPr>
                <p:grpSpPr bwMode="auto">
                  <a:xfrm>
                    <a:off x="2803" y="1412"/>
                    <a:ext cx="342" cy="774"/>
                    <a:chOff x="2803" y="1412"/>
                    <a:chExt cx="342" cy="774"/>
                  </a:xfrm>
                </p:grpSpPr>
                <p:sp>
                  <p:nvSpPr>
                    <p:cNvPr id="33" name="Freeform 42"/>
                    <p:cNvSpPr>
                      <a:spLocks/>
                    </p:cNvSpPr>
                    <p:nvPr/>
                  </p:nvSpPr>
                  <p:spPr bwMode="auto">
                    <a:xfrm>
                      <a:off x="2803" y="1412"/>
                      <a:ext cx="342" cy="774"/>
                    </a:xfrm>
                    <a:custGeom>
                      <a:avLst/>
                      <a:gdLst>
                        <a:gd name="T0" fmla="*/ 105 w 342"/>
                        <a:gd name="T1" fmla="*/ 0 h 774"/>
                        <a:gd name="T2" fmla="*/ 24 w 342"/>
                        <a:gd name="T3" fmla="*/ 59 h 774"/>
                        <a:gd name="T4" fmla="*/ 0 w 342"/>
                        <a:gd name="T5" fmla="*/ 242 h 774"/>
                        <a:gd name="T6" fmla="*/ 64 w 342"/>
                        <a:gd name="T7" fmla="*/ 360 h 774"/>
                        <a:gd name="T8" fmla="*/ 64 w 342"/>
                        <a:gd name="T9" fmla="*/ 381 h 774"/>
                        <a:gd name="T10" fmla="*/ 70 w 342"/>
                        <a:gd name="T11" fmla="*/ 414 h 774"/>
                        <a:gd name="T12" fmla="*/ 76 w 342"/>
                        <a:gd name="T13" fmla="*/ 430 h 774"/>
                        <a:gd name="T14" fmla="*/ 64 w 342"/>
                        <a:gd name="T15" fmla="*/ 559 h 774"/>
                        <a:gd name="T16" fmla="*/ 47 w 342"/>
                        <a:gd name="T17" fmla="*/ 768 h 774"/>
                        <a:gd name="T18" fmla="*/ 64 w 342"/>
                        <a:gd name="T19" fmla="*/ 774 h 774"/>
                        <a:gd name="T20" fmla="*/ 105 w 342"/>
                        <a:gd name="T21" fmla="*/ 763 h 774"/>
                        <a:gd name="T22" fmla="*/ 128 w 342"/>
                        <a:gd name="T23" fmla="*/ 618 h 774"/>
                        <a:gd name="T24" fmla="*/ 140 w 342"/>
                        <a:gd name="T25" fmla="*/ 569 h 774"/>
                        <a:gd name="T26" fmla="*/ 180 w 342"/>
                        <a:gd name="T27" fmla="*/ 430 h 774"/>
                        <a:gd name="T28" fmla="*/ 186 w 342"/>
                        <a:gd name="T29" fmla="*/ 575 h 774"/>
                        <a:gd name="T30" fmla="*/ 203 w 342"/>
                        <a:gd name="T31" fmla="*/ 747 h 774"/>
                        <a:gd name="T32" fmla="*/ 261 w 342"/>
                        <a:gd name="T33" fmla="*/ 752 h 774"/>
                        <a:gd name="T34" fmla="*/ 267 w 342"/>
                        <a:gd name="T35" fmla="*/ 564 h 774"/>
                        <a:gd name="T36" fmla="*/ 261 w 342"/>
                        <a:gd name="T37" fmla="*/ 376 h 774"/>
                        <a:gd name="T38" fmla="*/ 261 w 342"/>
                        <a:gd name="T39" fmla="*/ 285 h 774"/>
                        <a:gd name="T40" fmla="*/ 273 w 342"/>
                        <a:gd name="T41" fmla="*/ 252 h 774"/>
                        <a:gd name="T42" fmla="*/ 279 w 342"/>
                        <a:gd name="T43" fmla="*/ 258 h 774"/>
                        <a:gd name="T44" fmla="*/ 337 w 342"/>
                        <a:gd name="T45" fmla="*/ 226 h 774"/>
                        <a:gd name="T46" fmla="*/ 342 w 342"/>
                        <a:gd name="T47" fmla="*/ 167 h 774"/>
                        <a:gd name="T48" fmla="*/ 250 w 342"/>
                        <a:gd name="T49" fmla="*/ 22 h 774"/>
                        <a:gd name="T50" fmla="*/ 186 w 342"/>
                        <a:gd name="T51" fmla="*/ 0 h 774"/>
                        <a:gd name="T52" fmla="*/ 198 w 342"/>
                        <a:gd name="T53" fmla="*/ 97 h 774"/>
                        <a:gd name="T54" fmla="*/ 186 w 342"/>
                        <a:gd name="T55" fmla="*/ 193 h 774"/>
                        <a:gd name="T56" fmla="*/ 157 w 342"/>
                        <a:gd name="T57" fmla="*/ 102 h 774"/>
                        <a:gd name="T58" fmla="*/ 105 w 342"/>
                        <a:gd name="T59" fmla="*/ 0 h 77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42"/>
                        <a:gd name="T91" fmla="*/ 0 h 774"/>
                        <a:gd name="T92" fmla="*/ 342 w 342"/>
                        <a:gd name="T93" fmla="*/ 774 h 77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42" h="774">
                          <a:moveTo>
                            <a:pt x="105" y="0"/>
                          </a:moveTo>
                          <a:lnTo>
                            <a:pt x="24" y="59"/>
                          </a:lnTo>
                          <a:lnTo>
                            <a:pt x="0" y="242"/>
                          </a:lnTo>
                          <a:lnTo>
                            <a:pt x="64" y="360"/>
                          </a:lnTo>
                          <a:lnTo>
                            <a:pt x="64" y="381"/>
                          </a:lnTo>
                          <a:lnTo>
                            <a:pt x="70" y="414"/>
                          </a:lnTo>
                          <a:lnTo>
                            <a:pt x="76" y="430"/>
                          </a:lnTo>
                          <a:lnTo>
                            <a:pt x="64" y="559"/>
                          </a:lnTo>
                          <a:lnTo>
                            <a:pt x="47" y="768"/>
                          </a:lnTo>
                          <a:lnTo>
                            <a:pt x="64" y="774"/>
                          </a:lnTo>
                          <a:lnTo>
                            <a:pt x="105" y="763"/>
                          </a:lnTo>
                          <a:lnTo>
                            <a:pt x="128" y="618"/>
                          </a:lnTo>
                          <a:lnTo>
                            <a:pt x="140" y="569"/>
                          </a:lnTo>
                          <a:lnTo>
                            <a:pt x="180" y="430"/>
                          </a:lnTo>
                          <a:lnTo>
                            <a:pt x="186" y="575"/>
                          </a:lnTo>
                          <a:lnTo>
                            <a:pt x="203" y="747"/>
                          </a:lnTo>
                          <a:lnTo>
                            <a:pt x="261" y="752"/>
                          </a:lnTo>
                          <a:lnTo>
                            <a:pt x="267" y="564"/>
                          </a:lnTo>
                          <a:lnTo>
                            <a:pt x="261" y="376"/>
                          </a:lnTo>
                          <a:lnTo>
                            <a:pt x="261" y="285"/>
                          </a:lnTo>
                          <a:lnTo>
                            <a:pt x="273" y="252"/>
                          </a:lnTo>
                          <a:lnTo>
                            <a:pt x="279" y="258"/>
                          </a:lnTo>
                          <a:lnTo>
                            <a:pt x="337" y="226"/>
                          </a:lnTo>
                          <a:lnTo>
                            <a:pt x="342" y="167"/>
                          </a:lnTo>
                          <a:lnTo>
                            <a:pt x="250" y="22"/>
                          </a:lnTo>
                          <a:lnTo>
                            <a:pt x="186" y="0"/>
                          </a:lnTo>
                          <a:lnTo>
                            <a:pt x="198" y="97"/>
                          </a:lnTo>
                          <a:lnTo>
                            <a:pt x="186" y="193"/>
                          </a:lnTo>
                          <a:lnTo>
                            <a:pt x="157" y="102"/>
                          </a:lnTo>
                          <a:lnTo>
                            <a:pt x="105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4" name="Freeform 43"/>
                    <p:cNvSpPr>
                      <a:spLocks/>
                    </p:cNvSpPr>
                    <p:nvPr/>
                  </p:nvSpPr>
                  <p:spPr bwMode="auto">
                    <a:xfrm>
                      <a:off x="2821" y="1498"/>
                      <a:ext cx="87" cy="199"/>
                    </a:xfrm>
                    <a:custGeom>
                      <a:avLst/>
                      <a:gdLst>
                        <a:gd name="T0" fmla="*/ 40 w 87"/>
                        <a:gd name="T1" fmla="*/ 0 h 199"/>
                        <a:gd name="T2" fmla="*/ 52 w 87"/>
                        <a:gd name="T3" fmla="*/ 48 h 199"/>
                        <a:gd name="T4" fmla="*/ 46 w 87"/>
                        <a:gd name="T5" fmla="*/ 118 h 199"/>
                        <a:gd name="T6" fmla="*/ 0 w 87"/>
                        <a:gd name="T7" fmla="*/ 129 h 199"/>
                        <a:gd name="T8" fmla="*/ 46 w 87"/>
                        <a:gd name="T9" fmla="*/ 134 h 199"/>
                        <a:gd name="T10" fmla="*/ 58 w 87"/>
                        <a:gd name="T11" fmla="*/ 177 h 199"/>
                        <a:gd name="T12" fmla="*/ 87 w 87"/>
                        <a:gd name="T13" fmla="*/ 199 h 199"/>
                        <a:gd name="T14" fmla="*/ 75 w 87"/>
                        <a:gd name="T15" fmla="*/ 161 h 199"/>
                        <a:gd name="T16" fmla="*/ 69 w 87"/>
                        <a:gd name="T17" fmla="*/ 145 h 199"/>
                        <a:gd name="T18" fmla="*/ 64 w 87"/>
                        <a:gd name="T19" fmla="*/ 97 h 199"/>
                        <a:gd name="T20" fmla="*/ 40 w 87"/>
                        <a:gd name="T21" fmla="*/ 0 h 199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w 87"/>
                        <a:gd name="T34" fmla="*/ 0 h 199"/>
                        <a:gd name="T35" fmla="*/ 87 w 87"/>
                        <a:gd name="T36" fmla="*/ 199 h 199"/>
                      </a:gdLst>
                      <a:ahLst/>
                      <a:cxnLst>
                        <a:cxn ang="T22">
                          <a:pos x="T0" y="T1"/>
                        </a:cxn>
                        <a:cxn ang="T23">
                          <a:pos x="T2" y="T3"/>
                        </a:cxn>
                        <a:cxn ang="T24">
                          <a:pos x="T4" y="T5"/>
                        </a:cxn>
                        <a:cxn ang="T25">
                          <a:pos x="T6" y="T7"/>
                        </a:cxn>
                        <a:cxn ang="T26">
                          <a:pos x="T8" y="T9"/>
                        </a:cxn>
                        <a:cxn ang="T27">
                          <a:pos x="T10" y="T11"/>
                        </a:cxn>
                        <a:cxn ang="T28">
                          <a:pos x="T12" y="T13"/>
                        </a:cxn>
                        <a:cxn ang="T29">
                          <a:pos x="T14" y="T15"/>
                        </a:cxn>
                        <a:cxn ang="T30">
                          <a:pos x="T16" y="T17"/>
                        </a:cxn>
                        <a:cxn ang="T31">
                          <a:pos x="T18" y="T19"/>
                        </a:cxn>
                        <a:cxn ang="T32">
                          <a:pos x="T20" y="T21"/>
                        </a:cxn>
                      </a:cxnLst>
                      <a:rect l="T33" t="T34" r="T35" b="T36"/>
                      <a:pathLst>
                        <a:path w="87" h="199">
                          <a:moveTo>
                            <a:pt x="40" y="0"/>
                          </a:moveTo>
                          <a:lnTo>
                            <a:pt x="52" y="48"/>
                          </a:lnTo>
                          <a:lnTo>
                            <a:pt x="46" y="118"/>
                          </a:lnTo>
                          <a:lnTo>
                            <a:pt x="0" y="129"/>
                          </a:lnTo>
                          <a:lnTo>
                            <a:pt x="46" y="134"/>
                          </a:lnTo>
                          <a:lnTo>
                            <a:pt x="58" y="177"/>
                          </a:lnTo>
                          <a:lnTo>
                            <a:pt x="87" y="199"/>
                          </a:lnTo>
                          <a:lnTo>
                            <a:pt x="75" y="161"/>
                          </a:lnTo>
                          <a:lnTo>
                            <a:pt x="69" y="145"/>
                          </a:lnTo>
                          <a:lnTo>
                            <a:pt x="64" y="97"/>
                          </a:lnTo>
                          <a:lnTo>
                            <a:pt x="40" y="0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5" name="Freeform 44"/>
                    <p:cNvSpPr>
                      <a:spLocks/>
                    </p:cNvSpPr>
                    <p:nvPr/>
                  </p:nvSpPr>
                  <p:spPr bwMode="auto">
                    <a:xfrm>
                      <a:off x="2902" y="1509"/>
                      <a:ext cx="29" cy="27"/>
                    </a:xfrm>
                    <a:custGeom>
                      <a:avLst/>
                      <a:gdLst>
                        <a:gd name="T0" fmla="*/ 0 w 29"/>
                        <a:gd name="T1" fmla="*/ 27 h 27"/>
                        <a:gd name="T2" fmla="*/ 6 w 29"/>
                        <a:gd name="T3" fmla="*/ 0 h 27"/>
                        <a:gd name="T4" fmla="*/ 29 w 29"/>
                        <a:gd name="T5" fmla="*/ 21 h 27"/>
                        <a:gd name="T6" fmla="*/ 0 w 29"/>
                        <a:gd name="T7" fmla="*/ 27 h 2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29"/>
                        <a:gd name="T13" fmla="*/ 0 h 27"/>
                        <a:gd name="T14" fmla="*/ 29 w 29"/>
                        <a:gd name="T15" fmla="*/ 27 h 2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9" h="27">
                          <a:moveTo>
                            <a:pt x="0" y="27"/>
                          </a:moveTo>
                          <a:lnTo>
                            <a:pt x="6" y="0"/>
                          </a:lnTo>
                          <a:lnTo>
                            <a:pt x="29" y="21"/>
                          </a:lnTo>
                          <a:lnTo>
                            <a:pt x="0" y="27"/>
                          </a:lnTo>
                          <a:close/>
                        </a:path>
                      </a:pathLst>
                    </a:custGeom>
                    <a:solidFill>
                      <a:srgbClr val="FFD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19" name="Group 45"/>
              <p:cNvGrpSpPr>
                <a:grpSpLocks/>
              </p:cNvGrpSpPr>
              <p:nvPr/>
            </p:nvGrpSpPr>
            <p:grpSpPr bwMode="auto">
              <a:xfrm>
                <a:off x="2896" y="1278"/>
                <a:ext cx="186" cy="386"/>
                <a:chOff x="2896" y="1278"/>
                <a:chExt cx="186" cy="386"/>
              </a:xfrm>
            </p:grpSpPr>
            <p:grpSp>
              <p:nvGrpSpPr>
                <p:cNvPr id="20" name="Group 46"/>
                <p:cNvGrpSpPr>
                  <a:grpSpLocks/>
                </p:cNvGrpSpPr>
                <p:nvPr/>
              </p:nvGrpSpPr>
              <p:grpSpPr bwMode="auto">
                <a:xfrm>
                  <a:off x="2896" y="1278"/>
                  <a:ext cx="110" cy="150"/>
                  <a:chOff x="2896" y="1278"/>
                  <a:chExt cx="110" cy="150"/>
                </a:xfrm>
              </p:grpSpPr>
              <p:grpSp>
                <p:nvGrpSpPr>
                  <p:cNvPr id="22" name="Group 47"/>
                  <p:cNvGrpSpPr>
                    <a:grpSpLocks/>
                  </p:cNvGrpSpPr>
                  <p:nvPr/>
                </p:nvGrpSpPr>
                <p:grpSpPr bwMode="auto">
                  <a:xfrm>
                    <a:off x="2902" y="1283"/>
                    <a:ext cx="99" cy="145"/>
                    <a:chOff x="2902" y="1283"/>
                    <a:chExt cx="99" cy="145"/>
                  </a:xfrm>
                </p:grpSpPr>
                <p:sp>
                  <p:nvSpPr>
                    <p:cNvPr id="24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2902" y="1283"/>
                      <a:ext cx="99" cy="145"/>
                    </a:xfrm>
                    <a:custGeom>
                      <a:avLst/>
                      <a:gdLst>
                        <a:gd name="T0" fmla="*/ 93 w 99"/>
                        <a:gd name="T1" fmla="*/ 22 h 145"/>
                        <a:gd name="T2" fmla="*/ 99 w 99"/>
                        <a:gd name="T3" fmla="*/ 48 h 145"/>
                        <a:gd name="T4" fmla="*/ 93 w 99"/>
                        <a:gd name="T5" fmla="*/ 54 h 145"/>
                        <a:gd name="T6" fmla="*/ 99 w 99"/>
                        <a:gd name="T7" fmla="*/ 65 h 145"/>
                        <a:gd name="T8" fmla="*/ 93 w 99"/>
                        <a:gd name="T9" fmla="*/ 70 h 145"/>
                        <a:gd name="T10" fmla="*/ 93 w 99"/>
                        <a:gd name="T11" fmla="*/ 86 h 145"/>
                        <a:gd name="T12" fmla="*/ 93 w 99"/>
                        <a:gd name="T13" fmla="*/ 97 h 145"/>
                        <a:gd name="T14" fmla="*/ 93 w 99"/>
                        <a:gd name="T15" fmla="*/ 108 h 145"/>
                        <a:gd name="T16" fmla="*/ 87 w 99"/>
                        <a:gd name="T17" fmla="*/ 118 h 145"/>
                        <a:gd name="T18" fmla="*/ 81 w 99"/>
                        <a:gd name="T19" fmla="*/ 124 h 145"/>
                        <a:gd name="T20" fmla="*/ 81 w 99"/>
                        <a:gd name="T21" fmla="*/ 129 h 145"/>
                        <a:gd name="T22" fmla="*/ 64 w 99"/>
                        <a:gd name="T23" fmla="*/ 145 h 145"/>
                        <a:gd name="T24" fmla="*/ 12 w 99"/>
                        <a:gd name="T25" fmla="*/ 124 h 145"/>
                        <a:gd name="T26" fmla="*/ 12 w 99"/>
                        <a:gd name="T27" fmla="*/ 91 h 145"/>
                        <a:gd name="T28" fmla="*/ 12 w 99"/>
                        <a:gd name="T29" fmla="*/ 86 h 145"/>
                        <a:gd name="T30" fmla="*/ 6 w 99"/>
                        <a:gd name="T31" fmla="*/ 81 h 145"/>
                        <a:gd name="T32" fmla="*/ 0 w 99"/>
                        <a:gd name="T33" fmla="*/ 70 h 145"/>
                        <a:gd name="T34" fmla="*/ 0 w 99"/>
                        <a:gd name="T35" fmla="*/ 54 h 145"/>
                        <a:gd name="T36" fmla="*/ 6 w 99"/>
                        <a:gd name="T37" fmla="*/ 48 h 145"/>
                        <a:gd name="T38" fmla="*/ 6 w 99"/>
                        <a:gd name="T39" fmla="*/ 43 h 145"/>
                        <a:gd name="T40" fmla="*/ 6 w 99"/>
                        <a:gd name="T41" fmla="*/ 32 h 145"/>
                        <a:gd name="T42" fmla="*/ 6 w 99"/>
                        <a:gd name="T43" fmla="*/ 27 h 145"/>
                        <a:gd name="T44" fmla="*/ 12 w 99"/>
                        <a:gd name="T45" fmla="*/ 16 h 145"/>
                        <a:gd name="T46" fmla="*/ 12 w 99"/>
                        <a:gd name="T47" fmla="*/ 11 h 145"/>
                        <a:gd name="T48" fmla="*/ 23 w 99"/>
                        <a:gd name="T49" fmla="*/ 0 h 145"/>
                        <a:gd name="T50" fmla="*/ 35 w 99"/>
                        <a:gd name="T51" fmla="*/ 0 h 145"/>
                        <a:gd name="T52" fmla="*/ 46 w 99"/>
                        <a:gd name="T53" fmla="*/ 0 h 145"/>
                        <a:gd name="T54" fmla="*/ 58 w 99"/>
                        <a:gd name="T55" fmla="*/ 0 h 145"/>
                        <a:gd name="T56" fmla="*/ 64 w 99"/>
                        <a:gd name="T57" fmla="*/ 0 h 145"/>
                        <a:gd name="T58" fmla="*/ 75 w 99"/>
                        <a:gd name="T59" fmla="*/ 0 h 145"/>
                        <a:gd name="T60" fmla="*/ 87 w 99"/>
                        <a:gd name="T61" fmla="*/ 5 h 145"/>
                        <a:gd name="T62" fmla="*/ 87 w 99"/>
                        <a:gd name="T63" fmla="*/ 11 h 145"/>
                        <a:gd name="T64" fmla="*/ 93 w 99"/>
                        <a:gd name="T65" fmla="*/ 16 h 145"/>
                        <a:gd name="T66" fmla="*/ 93 w 99"/>
                        <a:gd name="T67" fmla="*/ 22 h 145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w 99"/>
                        <a:gd name="T103" fmla="*/ 0 h 145"/>
                        <a:gd name="T104" fmla="*/ 99 w 99"/>
                        <a:gd name="T105" fmla="*/ 145 h 145"/>
                      </a:gdLst>
                      <a:ahLst/>
                      <a:cxnLst>
                        <a:cxn ang="T68">
                          <a:pos x="T0" y="T1"/>
                        </a:cxn>
                        <a:cxn ang="T69">
                          <a:pos x="T2" y="T3"/>
                        </a:cxn>
                        <a:cxn ang="T70">
                          <a:pos x="T4" y="T5"/>
                        </a:cxn>
                        <a:cxn ang="T71">
                          <a:pos x="T6" y="T7"/>
                        </a:cxn>
                        <a:cxn ang="T72">
                          <a:pos x="T8" y="T9"/>
                        </a:cxn>
                        <a:cxn ang="T73">
                          <a:pos x="T10" y="T11"/>
                        </a:cxn>
                        <a:cxn ang="T74">
                          <a:pos x="T12" y="T13"/>
                        </a:cxn>
                        <a:cxn ang="T75">
                          <a:pos x="T14" y="T15"/>
                        </a:cxn>
                        <a:cxn ang="T76">
                          <a:pos x="T16" y="T17"/>
                        </a:cxn>
                        <a:cxn ang="T77">
                          <a:pos x="T18" y="T19"/>
                        </a:cxn>
                        <a:cxn ang="T78">
                          <a:pos x="T20" y="T21"/>
                        </a:cxn>
                        <a:cxn ang="T79">
                          <a:pos x="T22" y="T23"/>
                        </a:cxn>
                        <a:cxn ang="T80">
                          <a:pos x="T24" y="T25"/>
                        </a:cxn>
                        <a:cxn ang="T81">
                          <a:pos x="T26" y="T27"/>
                        </a:cxn>
                        <a:cxn ang="T82">
                          <a:pos x="T28" y="T29"/>
                        </a:cxn>
                        <a:cxn ang="T83">
                          <a:pos x="T30" y="T31"/>
                        </a:cxn>
                        <a:cxn ang="T84">
                          <a:pos x="T32" y="T33"/>
                        </a:cxn>
                        <a:cxn ang="T85">
                          <a:pos x="T34" y="T35"/>
                        </a:cxn>
                        <a:cxn ang="T86">
                          <a:pos x="T36" y="T37"/>
                        </a:cxn>
                        <a:cxn ang="T87">
                          <a:pos x="T38" y="T39"/>
                        </a:cxn>
                        <a:cxn ang="T88">
                          <a:pos x="T40" y="T41"/>
                        </a:cxn>
                        <a:cxn ang="T89">
                          <a:pos x="T42" y="T43"/>
                        </a:cxn>
                        <a:cxn ang="T90">
                          <a:pos x="T44" y="T45"/>
                        </a:cxn>
                        <a:cxn ang="T91">
                          <a:pos x="T46" y="T47"/>
                        </a:cxn>
                        <a:cxn ang="T92">
                          <a:pos x="T48" y="T49"/>
                        </a:cxn>
                        <a:cxn ang="T93">
                          <a:pos x="T50" y="T51"/>
                        </a:cxn>
                        <a:cxn ang="T94">
                          <a:pos x="T52" y="T53"/>
                        </a:cxn>
                        <a:cxn ang="T95">
                          <a:pos x="T54" y="T55"/>
                        </a:cxn>
                        <a:cxn ang="T96">
                          <a:pos x="T56" y="T57"/>
                        </a:cxn>
                        <a:cxn ang="T97">
                          <a:pos x="T58" y="T59"/>
                        </a:cxn>
                        <a:cxn ang="T98">
                          <a:pos x="T60" y="T61"/>
                        </a:cxn>
                        <a:cxn ang="T99">
                          <a:pos x="T62" y="T63"/>
                        </a:cxn>
                        <a:cxn ang="T100">
                          <a:pos x="T64" y="T65"/>
                        </a:cxn>
                        <a:cxn ang="T101">
                          <a:pos x="T66" y="T67"/>
                        </a:cxn>
                      </a:cxnLst>
                      <a:rect l="T102" t="T103" r="T104" b="T105"/>
                      <a:pathLst>
                        <a:path w="99" h="145">
                          <a:moveTo>
                            <a:pt x="93" y="22"/>
                          </a:moveTo>
                          <a:lnTo>
                            <a:pt x="99" y="48"/>
                          </a:lnTo>
                          <a:lnTo>
                            <a:pt x="93" y="54"/>
                          </a:lnTo>
                          <a:lnTo>
                            <a:pt x="99" y="65"/>
                          </a:lnTo>
                          <a:lnTo>
                            <a:pt x="93" y="70"/>
                          </a:lnTo>
                          <a:lnTo>
                            <a:pt x="93" y="86"/>
                          </a:lnTo>
                          <a:lnTo>
                            <a:pt x="93" y="97"/>
                          </a:lnTo>
                          <a:lnTo>
                            <a:pt x="93" y="108"/>
                          </a:lnTo>
                          <a:lnTo>
                            <a:pt x="87" y="118"/>
                          </a:lnTo>
                          <a:lnTo>
                            <a:pt x="81" y="124"/>
                          </a:lnTo>
                          <a:lnTo>
                            <a:pt x="81" y="129"/>
                          </a:lnTo>
                          <a:lnTo>
                            <a:pt x="64" y="145"/>
                          </a:lnTo>
                          <a:lnTo>
                            <a:pt x="12" y="124"/>
                          </a:lnTo>
                          <a:lnTo>
                            <a:pt x="12" y="91"/>
                          </a:lnTo>
                          <a:lnTo>
                            <a:pt x="12" y="86"/>
                          </a:lnTo>
                          <a:lnTo>
                            <a:pt x="6" y="81"/>
                          </a:lnTo>
                          <a:lnTo>
                            <a:pt x="0" y="70"/>
                          </a:lnTo>
                          <a:lnTo>
                            <a:pt x="0" y="54"/>
                          </a:lnTo>
                          <a:lnTo>
                            <a:pt x="6" y="48"/>
                          </a:lnTo>
                          <a:lnTo>
                            <a:pt x="6" y="43"/>
                          </a:lnTo>
                          <a:lnTo>
                            <a:pt x="6" y="32"/>
                          </a:lnTo>
                          <a:lnTo>
                            <a:pt x="6" y="27"/>
                          </a:lnTo>
                          <a:lnTo>
                            <a:pt x="12" y="16"/>
                          </a:lnTo>
                          <a:lnTo>
                            <a:pt x="12" y="11"/>
                          </a:lnTo>
                          <a:lnTo>
                            <a:pt x="23" y="0"/>
                          </a:lnTo>
                          <a:lnTo>
                            <a:pt x="35" y="0"/>
                          </a:lnTo>
                          <a:lnTo>
                            <a:pt x="46" y="0"/>
                          </a:lnTo>
                          <a:lnTo>
                            <a:pt x="58" y="0"/>
                          </a:lnTo>
                          <a:lnTo>
                            <a:pt x="64" y="0"/>
                          </a:lnTo>
                          <a:lnTo>
                            <a:pt x="75" y="0"/>
                          </a:lnTo>
                          <a:lnTo>
                            <a:pt x="87" y="5"/>
                          </a:lnTo>
                          <a:lnTo>
                            <a:pt x="87" y="11"/>
                          </a:lnTo>
                          <a:lnTo>
                            <a:pt x="93" y="16"/>
                          </a:lnTo>
                          <a:lnTo>
                            <a:pt x="93" y="22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25" name="Group 4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14" y="1331"/>
                      <a:ext cx="81" cy="70"/>
                      <a:chOff x="2914" y="1331"/>
                      <a:chExt cx="81" cy="70"/>
                    </a:xfrm>
                  </p:grpSpPr>
                  <p:sp>
                    <p:nvSpPr>
                      <p:cNvPr id="26" name="Freeform 5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43" y="1331"/>
                        <a:ext cx="34" cy="11"/>
                      </a:xfrm>
                      <a:custGeom>
                        <a:avLst/>
                        <a:gdLst>
                          <a:gd name="T0" fmla="*/ 0 w 34"/>
                          <a:gd name="T1" fmla="*/ 0 h 11"/>
                          <a:gd name="T2" fmla="*/ 17 w 34"/>
                          <a:gd name="T3" fmla="*/ 0 h 11"/>
                          <a:gd name="T4" fmla="*/ 23 w 34"/>
                          <a:gd name="T5" fmla="*/ 0 h 11"/>
                          <a:gd name="T6" fmla="*/ 29 w 34"/>
                          <a:gd name="T7" fmla="*/ 6 h 11"/>
                          <a:gd name="T8" fmla="*/ 34 w 34"/>
                          <a:gd name="T9" fmla="*/ 6 h 11"/>
                          <a:gd name="T10" fmla="*/ 29 w 34"/>
                          <a:gd name="T11" fmla="*/ 6 h 11"/>
                          <a:gd name="T12" fmla="*/ 29 w 34"/>
                          <a:gd name="T13" fmla="*/ 11 h 11"/>
                          <a:gd name="T14" fmla="*/ 29 w 34"/>
                          <a:gd name="T15" fmla="*/ 11 h 11"/>
                          <a:gd name="T16" fmla="*/ 17 w 34"/>
                          <a:gd name="T17" fmla="*/ 11 h 11"/>
                          <a:gd name="T18" fmla="*/ 5 w 34"/>
                          <a:gd name="T19" fmla="*/ 11 h 11"/>
                          <a:gd name="T20" fmla="*/ 11 w 34"/>
                          <a:gd name="T21" fmla="*/ 11 h 11"/>
                          <a:gd name="T22" fmla="*/ 5 w 34"/>
                          <a:gd name="T23" fmla="*/ 6 h 11"/>
                          <a:gd name="T24" fmla="*/ 0 w 34"/>
                          <a:gd name="T25" fmla="*/ 0 h 11"/>
                          <a:gd name="T26" fmla="*/ 0 60000 65536"/>
                          <a:gd name="T27" fmla="*/ 0 60000 65536"/>
                          <a:gd name="T28" fmla="*/ 0 60000 65536"/>
                          <a:gd name="T29" fmla="*/ 0 60000 65536"/>
                          <a:gd name="T30" fmla="*/ 0 60000 65536"/>
                          <a:gd name="T31" fmla="*/ 0 60000 65536"/>
                          <a:gd name="T32" fmla="*/ 0 60000 65536"/>
                          <a:gd name="T33" fmla="*/ 0 60000 65536"/>
                          <a:gd name="T34" fmla="*/ 0 60000 65536"/>
                          <a:gd name="T35" fmla="*/ 0 60000 65536"/>
                          <a:gd name="T36" fmla="*/ 0 60000 65536"/>
                          <a:gd name="T37" fmla="*/ 0 60000 65536"/>
                          <a:gd name="T38" fmla="*/ 0 60000 65536"/>
                          <a:gd name="T39" fmla="*/ 0 w 34"/>
                          <a:gd name="T40" fmla="*/ 0 h 11"/>
                          <a:gd name="T41" fmla="*/ 34 w 34"/>
                          <a:gd name="T42" fmla="*/ 11 h 11"/>
                        </a:gdLst>
                        <a:ahLst/>
                        <a:cxnLst>
                          <a:cxn ang="T26">
                            <a:pos x="T0" y="T1"/>
                          </a:cxn>
                          <a:cxn ang="T27">
                            <a:pos x="T2" y="T3"/>
                          </a:cxn>
                          <a:cxn ang="T28">
                            <a:pos x="T4" y="T5"/>
                          </a:cxn>
                          <a:cxn ang="T29">
                            <a:pos x="T6" y="T7"/>
                          </a:cxn>
                          <a:cxn ang="T30">
                            <a:pos x="T8" y="T9"/>
                          </a:cxn>
                          <a:cxn ang="T31">
                            <a:pos x="T10" y="T11"/>
                          </a:cxn>
                          <a:cxn ang="T32">
                            <a:pos x="T12" y="T13"/>
                          </a:cxn>
                          <a:cxn ang="T33">
                            <a:pos x="T14" y="T15"/>
                          </a:cxn>
                          <a:cxn ang="T34">
                            <a:pos x="T16" y="T17"/>
                          </a:cxn>
                          <a:cxn ang="T35">
                            <a:pos x="T18" y="T19"/>
                          </a:cxn>
                          <a:cxn ang="T36">
                            <a:pos x="T20" y="T21"/>
                          </a:cxn>
                          <a:cxn ang="T37">
                            <a:pos x="T22" y="T23"/>
                          </a:cxn>
                          <a:cxn ang="T38">
                            <a:pos x="T24" y="T25"/>
                          </a:cxn>
                        </a:cxnLst>
                        <a:rect l="T39" t="T40" r="T41" b="T42"/>
                        <a:pathLst>
                          <a:path w="34" h="11">
                            <a:moveTo>
                              <a:pt x="0" y="0"/>
                            </a:moveTo>
                            <a:lnTo>
                              <a:pt x="17" y="0"/>
                            </a:lnTo>
                            <a:lnTo>
                              <a:pt x="23" y="0"/>
                            </a:lnTo>
                            <a:lnTo>
                              <a:pt x="29" y="6"/>
                            </a:lnTo>
                            <a:lnTo>
                              <a:pt x="34" y="6"/>
                            </a:lnTo>
                            <a:lnTo>
                              <a:pt x="29" y="6"/>
                            </a:lnTo>
                            <a:lnTo>
                              <a:pt x="29" y="11"/>
                            </a:lnTo>
                            <a:lnTo>
                              <a:pt x="17" y="11"/>
                            </a:lnTo>
                            <a:lnTo>
                              <a:pt x="5" y="11"/>
                            </a:lnTo>
                            <a:lnTo>
                              <a:pt x="11" y="11"/>
                            </a:lnTo>
                            <a:lnTo>
                              <a:pt x="5" y="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7" name="Freeform 5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83" y="1364"/>
                        <a:ext cx="12" cy="10"/>
                      </a:xfrm>
                      <a:custGeom>
                        <a:avLst/>
                        <a:gdLst>
                          <a:gd name="T0" fmla="*/ 0 w 12"/>
                          <a:gd name="T1" fmla="*/ 0 h 10"/>
                          <a:gd name="T2" fmla="*/ 12 w 12"/>
                          <a:gd name="T3" fmla="*/ 0 h 10"/>
                          <a:gd name="T4" fmla="*/ 12 w 12"/>
                          <a:gd name="T5" fmla="*/ 10 h 10"/>
                          <a:gd name="T6" fmla="*/ 0 w 12"/>
                          <a:gd name="T7" fmla="*/ 0 h 10"/>
                          <a:gd name="T8" fmla="*/ 0 60000 65536"/>
                          <a:gd name="T9" fmla="*/ 0 60000 65536"/>
                          <a:gd name="T10" fmla="*/ 0 60000 65536"/>
                          <a:gd name="T11" fmla="*/ 0 60000 65536"/>
                          <a:gd name="T12" fmla="*/ 0 w 12"/>
                          <a:gd name="T13" fmla="*/ 0 h 10"/>
                          <a:gd name="T14" fmla="*/ 12 w 12"/>
                          <a:gd name="T15" fmla="*/ 10 h 10"/>
                        </a:gdLst>
                        <a:ahLst/>
                        <a:cxnLst>
                          <a:cxn ang="T8">
                            <a:pos x="T0" y="T1"/>
                          </a:cxn>
                          <a:cxn ang="T9">
                            <a:pos x="T2" y="T3"/>
                          </a:cxn>
                          <a:cxn ang="T10">
                            <a:pos x="T4" y="T5"/>
                          </a:cxn>
                          <a:cxn ang="T11">
                            <a:pos x="T6" y="T7"/>
                          </a:cxn>
                        </a:cxnLst>
                        <a:rect l="T12" t="T13" r="T14" b="T15"/>
                        <a:pathLst>
                          <a:path w="12" h="10">
                            <a:moveTo>
                              <a:pt x="0" y="0"/>
                            </a:moveTo>
                            <a:lnTo>
                              <a:pt x="12" y="0"/>
                            </a:lnTo>
                            <a:lnTo>
                              <a:pt x="12" y="1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8" name="Freeform 5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14" y="1364"/>
                        <a:ext cx="52" cy="37"/>
                      </a:xfrm>
                      <a:custGeom>
                        <a:avLst/>
                        <a:gdLst>
                          <a:gd name="T0" fmla="*/ 0 w 52"/>
                          <a:gd name="T1" fmla="*/ 5 h 37"/>
                          <a:gd name="T2" fmla="*/ 5 w 52"/>
                          <a:gd name="T3" fmla="*/ 5 h 37"/>
                          <a:gd name="T4" fmla="*/ 23 w 52"/>
                          <a:gd name="T5" fmla="*/ 27 h 37"/>
                          <a:gd name="T6" fmla="*/ 52 w 52"/>
                          <a:gd name="T7" fmla="*/ 37 h 37"/>
                          <a:gd name="T8" fmla="*/ 17 w 52"/>
                          <a:gd name="T9" fmla="*/ 32 h 37"/>
                          <a:gd name="T10" fmla="*/ 5 w 52"/>
                          <a:gd name="T11" fmla="*/ 21 h 37"/>
                          <a:gd name="T12" fmla="*/ 0 w 52"/>
                          <a:gd name="T13" fmla="*/ 21 h 37"/>
                          <a:gd name="T14" fmla="*/ 0 w 52"/>
                          <a:gd name="T15" fmla="*/ 0 h 37"/>
                          <a:gd name="T16" fmla="*/ 0 w 52"/>
                          <a:gd name="T17" fmla="*/ 5 h 37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  <a:gd name="T27" fmla="*/ 0 w 52"/>
                          <a:gd name="T28" fmla="*/ 0 h 37"/>
                          <a:gd name="T29" fmla="*/ 52 w 52"/>
                          <a:gd name="T30" fmla="*/ 37 h 37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T27" t="T28" r="T29" b="T30"/>
                        <a:pathLst>
                          <a:path w="52" h="37">
                            <a:moveTo>
                              <a:pt x="0" y="5"/>
                            </a:moveTo>
                            <a:lnTo>
                              <a:pt x="5" y="5"/>
                            </a:lnTo>
                            <a:lnTo>
                              <a:pt x="23" y="27"/>
                            </a:lnTo>
                            <a:lnTo>
                              <a:pt x="52" y="37"/>
                            </a:lnTo>
                            <a:lnTo>
                              <a:pt x="17" y="32"/>
                            </a:lnTo>
                            <a:lnTo>
                              <a:pt x="5" y="21"/>
                            </a:lnTo>
                            <a:lnTo>
                              <a:pt x="0" y="21"/>
                            </a:lnTo>
                            <a:lnTo>
                              <a:pt x="0" y="0"/>
                            </a:lnTo>
                            <a:lnTo>
                              <a:pt x="0" y="5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sp>
                <p:nvSpPr>
                  <p:cNvPr id="23" name="Freeform 53"/>
                  <p:cNvSpPr>
                    <a:spLocks/>
                  </p:cNvSpPr>
                  <p:nvPr/>
                </p:nvSpPr>
                <p:spPr bwMode="auto">
                  <a:xfrm>
                    <a:off x="2896" y="1278"/>
                    <a:ext cx="110" cy="96"/>
                  </a:xfrm>
                  <a:custGeom>
                    <a:avLst/>
                    <a:gdLst>
                      <a:gd name="T0" fmla="*/ 18 w 110"/>
                      <a:gd name="T1" fmla="*/ 96 h 96"/>
                      <a:gd name="T2" fmla="*/ 12 w 110"/>
                      <a:gd name="T3" fmla="*/ 86 h 96"/>
                      <a:gd name="T4" fmla="*/ 6 w 110"/>
                      <a:gd name="T5" fmla="*/ 70 h 96"/>
                      <a:gd name="T6" fmla="*/ 0 w 110"/>
                      <a:gd name="T7" fmla="*/ 53 h 96"/>
                      <a:gd name="T8" fmla="*/ 0 w 110"/>
                      <a:gd name="T9" fmla="*/ 32 h 96"/>
                      <a:gd name="T10" fmla="*/ 6 w 110"/>
                      <a:gd name="T11" fmla="*/ 16 h 96"/>
                      <a:gd name="T12" fmla="*/ 18 w 110"/>
                      <a:gd name="T13" fmla="*/ 10 h 96"/>
                      <a:gd name="T14" fmla="*/ 29 w 110"/>
                      <a:gd name="T15" fmla="*/ 5 h 96"/>
                      <a:gd name="T16" fmla="*/ 52 w 110"/>
                      <a:gd name="T17" fmla="*/ 0 h 96"/>
                      <a:gd name="T18" fmla="*/ 76 w 110"/>
                      <a:gd name="T19" fmla="*/ 5 h 96"/>
                      <a:gd name="T20" fmla="*/ 93 w 110"/>
                      <a:gd name="T21" fmla="*/ 10 h 96"/>
                      <a:gd name="T22" fmla="*/ 105 w 110"/>
                      <a:gd name="T23" fmla="*/ 10 h 96"/>
                      <a:gd name="T24" fmla="*/ 110 w 110"/>
                      <a:gd name="T25" fmla="*/ 10 h 96"/>
                      <a:gd name="T26" fmla="*/ 105 w 110"/>
                      <a:gd name="T27" fmla="*/ 16 h 96"/>
                      <a:gd name="T28" fmla="*/ 99 w 110"/>
                      <a:gd name="T29" fmla="*/ 27 h 96"/>
                      <a:gd name="T30" fmla="*/ 99 w 110"/>
                      <a:gd name="T31" fmla="*/ 32 h 96"/>
                      <a:gd name="T32" fmla="*/ 93 w 110"/>
                      <a:gd name="T33" fmla="*/ 27 h 96"/>
                      <a:gd name="T34" fmla="*/ 76 w 110"/>
                      <a:gd name="T35" fmla="*/ 21 h 96"/>
                      <a:gd name="T36" fmla="*/ 64 w 110"/>
                      <a:gd name="T37" fmla="*/ 21 h 96"/>
                      <a:gd name="T38" fmla="*/ 52 w 110"/>
                      <a:gd name="T39" fmla="*/ 21 h 96"/>
                      <a:gd name="T40" fmla="*/ 41 w 110"/>
                      <a:gd name="T41" fmla="*/ 21 h 96"/>
                      <a:gd name="T42" fmla="*/ 47 w 110"/>
                      <a:gd name="T43" fmla="*/ 27 h 96"/>
                      <a:gd name="T44" fmla="*/ 47 w 110"/>
                      <a:gd name="T45" fmla="*/ 32 h 96"/>
                      <a:gd name="T46" fmla="*/ 41 w 110"/>
                      <a:gd name="T47" fmla="*/ 37 h 96"/>
                      <a:gd name="T48" fmla="*/ 35 w 110"/>
                      <a:gd name="T49" fmla="*/ 48 h 96"/>
                      <a:gd name="T50" fmla="*/ 29 w 110"/>
                      <a:gd name="T51" fmla="*/ 59 h 96"/>
                      <a:gd name="T52" fmla="*/ 29 w 110"/>
                      <a:gd name="T53" fmla="*/ 70 h 96"/>
                      <a:gd name="T54" fmla="*/ 23 w 110"/>
                      <a:gd name="T55" fmla="*/ 64 h 96"/>
                      <a:gd name="T56" fmla="*/ 23 w 110"/>
                      <a:gd name="T57" fmla="*/ 59 h 96"/>
                      <a:gd name="T58" fmla="*/ 18 w 110"/>
                      <a:gd name="T59" fmla="*/ 53 h 96"/>
                      <a:gd name="T60" fmla="*/ 6 w 110"/>
                      <a:gd name="T61" fmla="*/ 59 h 96"/>
                      <a:gd name="T62" fmla="*/ 6 w 110"/>
                      <a:gd name="T63" fmla="*/ 59 h 96"/>
                      <a:gd name="T64" fmla="*/ 12 w 110"/>
                      <a:gd name="T65" fmla="*/ 80 h 96"/>
                      <a:gd name="T66" fmla="*/ 12 w 110"/>
                      <a:gd name="T67" fmla="*/ 86 h 96"/>
                      <a:gd name="T68" fmla="*/ 18 w 110"/>
                      <a:gd name="T69" fmla="*/ 96 h 9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w 110"/>
                      <a:gd name="T106" fmla="*/ 0 h 96"/>
                      <a:gd name="T107" fmla="*/ 110 w 110"/>
                      <a:gd name="T108" fmla="*/ 96 h 96"/>
                    </a:gdLst>
                    <a:ahLst/>
                    <a:cxnLst>
                      <a:cxn ang="T70">
                        <a:pos x="T0" y="T1"/>
                      </a:cxn>
                      <a:cxn ang="T71">
                        <a:pos x="T2" y="T3"/>
                      </a:cxn>
                      <a:cxn ang="T72">
                        <a:pos x="T4" y="T5"/>
                      </a:cxn>
                      <a:cxn ang="T73">
                        <a:pos x="T6" y="T7"/>
                      </a:cxn>
                      <a:cxn ang="T74">
                        <a:pos x="T8" y="T9"/>
                      </a:cxn>
                      <a:cxn ang="T75">
                        <a:pos x="T10" y="T11"/>
                      </a:cxn>
                      <a:cxn ang="T76">
                        <a:pos x="T12" y="T13"/>
                      </a:cxn>
                      <a:cxn ang="T77">
                        <a:pos x="T14" y="T15"/>
                      </a:cxn>
                      <a:cxn ang="T78">
                        <a:pos x="T16" y="T17"/>
                      </a:cxn>
                      <a:cxn ang="T79">
                        <a:pos x="T18" y="T19"/>
                      </a:cxn>
                      <a:cxn ang="T80">
                        <a:pos x="T20" y="T21"/>
                      </a:cxn>
                      <a:cxn ang="T81">
                        <a:pos x="T22" y="T23"/>
                      </a:cxn>
                      <a:cxn ang="T82">
                        <a:pos x="T24" y="T25"/>
                      </a:cxn>
                      <a:cxn ang="T83">
                        <a:pos x="T26" y="T27"/>
                      </a:cxn>
                      <a:cxn ang="T84">
                        <a:pos x="T28" y="T29"/>
                      </a:cxn>
                      <a:cxn ang="T85">
                        <a:pos x="T30" y="T31"/>
                      </a:cxn>
                      <a:cxn ang="T86">
                        <a:pos x="T32" y="T33"/>
                      </a:cxn>
                      <a:cxn ang="T87">
                        <a:pos x="T34" y="T35"/>
                      </a:cxn>
                      <a:cxn ang="T88">
                        <a:pos x="T36" y="T37"/>
                      </a:cxn>
                      <a:cxn ang="T89">
                        <a:pos x="T38" y="T39"/>
                      </a:cxn>
                      <a:cxn ang="T90">
                        <a:pos x="T40" y="T41"/>
                      </a:cxn>
                      <a:cxn ang="T91">
                        <a:pos x="T42" y="T43"/>
                      </a:cxn>
                      <a:cxn ang="T92">
                        <a:pos x="T44" y="T45"/>
                      </a:cxn>
                      <a:cxn ang="T93">
                        <a:pos x="T46" y="T47"/>
                      </a:cxn>
                      <a:cxn ang="T94">
                        <a:pos x="T48" y="T49"/>
                      </a:cxn>
                      <a:cxn ang="T95">
                        <a:pos x="T50" y="T51"/>
                      </a:cxn>
                      <a:cxn ang="T96">
                        <a:pos x="T52" y="T53"/>
                      </a:cxn>
                      <a:cxn ang="T97">
                        <a:pos x="T54" y="T55"/>
                      </a:cxn>
                      <a:cxn ang="T98">
                        <a:pos x="T56" y="T57"/>
                      </a:cxn>
                      <a:cxn ang="T99">
                        <a:pos x="T58" y="T59"/>
                      </a:cxn>
                      <a:cxn ang="T100">
                        <a:pos x="T60" y="T61"/>
                      </a:cxn>
                      <a:cxn ang="T101">
                        <a:pos x="T62" y="T63"/>
                      </a:cxn>
                      <a:cxn ang="T102">
                        <a:pos x="T64" y="T65"/>
                      </a:cxn>
                      <a:cxn ang="T103">
                        <a:pos x="T66" y="T67"/>
                      </a:cxn>
                      <a:cxn ang="T104">
                        <a:pos x="T68" y="T69"/>
                      </a:cxn>
                    </a:cxnLst>
                    <a:rect l="T105" t="T106" r="T107" b="T108"/>
                    <a:pathLst>
                      <a:path w="110" h="96">
                        <a:moveTo>
                          <a:pt x="18" y="96"/>
                        </a:moveTo>
                        <a:lnTo>
                          <a:pt x="12" y="86"/>
                        </a:lnTo>
                        <a:lnTo>
                          <a:pt x="6" y="70"/>
                        </a:lnTo>
                        <a:lnTo>
                          <a:pt x="0" y="53"/>
                        </a:lnTo>
                        <a:lnTo>
                          <a:pt x="0" y="32"/>
                        </a:lnTo>
                        <a:lnTo>
                          <a:pt x="6" y="16"/>
                        </a:lnTo>
                        <a:lnTo>
                          <a:pt x="18" y="10"/>
                        </a:lnTo>
                        <a:lnTo>
                          <a:pt x="29" y="5"/>
                        </a:lnTo>
                        <a:lnTo>
                          <a:pt x="52" y="0"/>
                        </a:lnTo>
                        <a:lnTo>
                          <a:pt x="76" y="5"/>
                        </a:lnTo>
                        <a:lnTo>
                          <a:pt x="93" y="10"/>
                        </a:lnTo>
                        <a:lnTo>
                          <a:pt x="105" y="10"/>
                        </a:lnTo>
                        <a:lnTo>
                          <a:pt x="110" y="10"/>
                        </a:lnTo>
                        <a:lnTo>
                          <a:pt x="105" y="16"/>
                        </a:lnTo>
                        <a:lnTo>
                          <a:pt x="99" y="27"/>
                        </a:lnTo>
                        <a:lnTo>
                          <a:pt x="99" y="32"/>
                        </a:lnTo>
                        <a:lnTo>
                          <a:pt x="93" y="27"/>
                        </a:lnTo>
                        <a:lnTo>
                          <a:pt x="76" y="21"/>
                        </a:lnTo>
                        <a:lnTo>
                          <a:pt x="64" y="21"/>
                        </a:lnTo>
                        <a:lnTo>
                          <a:pt x="52" y="21"/>
                        </a:lnTo>
                        <a:lnTo>
                          <a:pt x="41" y="21"/>
                        </a:lnTo>
                        <a:lnTo>
                          <a:pt x="47" y="27"/>
                        </a:lnTo>
                        <a:lnTo>
                          <a:pt x="47" y="32"/>
                        </a:lnTo>
                        <a:lnTo>
                          <a:pt x="41" y="37"/>
                        </a:lnTo>
                        <a:lnTo>
                          <a:pt x="35" y="48"/>
                        </a:lnTo>
                        <a:lnTo>
                          <a:pt x="29" y="59"/>
                        </a:lnTo>
                        <a:lnTo>
                          <a:pt x="29" y="70"/>
                        </a:lnTo>
                        <a:lnTo>
                          <a:pt x="23" y="64"/>
                        </a:lnTo>
                        <a:lnTo>
                          <a:pt x="23" y="59"/>
                        </a:lnTo>
                        <a:lnTo>
                          <a:pt x="18" y="53"/>
                        </a:lnTo>
                        <a:lnTo>
                          <a:pt x="6" y="59"/>
                        </a:lnTo>
                        <a:lnTo>
                          <a:pt x="12" y="80"/>
                        </a:lnTo>
                        <a:lnTo>
                          <a:pt x="12" y="86"/>
                        </a:lnTo>
                        <a:lnTo>
                          <a:pt x="18" y="96"/>
                        </a:lnTo>
                        <a:close/>
                      </a:path>
                    </a:pathLst>
                  </a:custGeom>
                  <a:solidFill>
                    <a:srgbClr val="BF7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1" name="Freeform 54"/>
                <p:cNvSpPr>
                  <a:spLocks/>
                </p:cNvSpPr>
                <p:nvPr/>
              </p:nvSpPr>
              <p:spPr bwMode="auto">
                <a:xfrm>
                  <a:off x="2989" y="1622"/>
                  <a:ext cx="93" cy="42"/>
                </a:xfrm>
                <a:custGeom>
                  <a:avLst/>
                  <a:gdLst>
                    <a:gd name="T0" fmla="*/ 93 w 93"/>
                    <a:gd name="T1" fmla="*/ 37 h 42"/>
                    <a:gd name="T2" fmla="*/ 69 w 93"/>
                    <a:gd name="T3" fmla="*/ 42 h 42"/>
                    <a:gd name="T4" fmla="*/ 40 w 93"/>
                    <a:gd name="T5" fmla="*/ 42 h 42"/>
                    <a:gd name="T6" fmla="*/ 17 w 93"/>
                    <a:gd name="T7" fmla="*/ 32 h 42"/>
                    <a:gd name="T8" fmla="*/ 0 w 93"/>
                    <a:gd name="T9" fmla="*/ 5 h 42"/>
                    <a:gd name="T10" fmla="*/ 40 w 93"/>
                    <a:gd name="T11" fmla="*/ 10 h 42"/>
                    <a:gd name="T12" fmla="*/ 40 w 93"/>
                    <a:gd name="T13" fmla="*/ 0 h 42"/>
                    <a:gd name="T14" fmla="*/ 58 w 93"/>
                    <a:gd name="T15" fmla="*/ 0 h 42"/>
                    <a:gd name="T16" fmla="*/ 81 w 93"/>
                    <a:gd name="T17" fmla="*/ 10 h 42"/>
                    <a:gd name="T18" fmla="*/ 87 w 93"/>
                    <a:gd name="T19" fmla="*/ 10 h 42"/>
                    <a:gd name="T20" fmla="*/ 93 w 93"/>
                    <a:gd name="T21" fmla="*/ 37 h 4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93"/>
                    <a:gd name="T34" fmla="*/ 0 h 42"/>
                    <a:gd name="T35" fmla="*/ 93 w 93"/>
                    <a:gd name="T36" fmla="*/ 42 h 42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93" h="42">
                      <a:moveTo>
                        <a:pt x="93" y="37"/>
                      </a:moveTo>
                      <a:lnTo>
                        <a:pt x="69" y="42"/>
                      </a:lnTo>
                      <a:lnTo>
                        <a:pt x="40" y="42"/>
                      </a:lnTo>
                      <a:lnTo>
                        <a:pt x="17" y="32"/>
                      </a:lnTo>
                      <a:lnTo>
                        <a:pt x="0" y="5"/>
                      </a:lnTo>
                      <a:lnTo>
                        <a:pt x="40" y="10"/>
                      </a:lnTo>
                      <a:lnTo>
                        <a:pt x="40" y="0"/>
                      </a:lnTo>
                      <a:lnTo>
                        <a:pt x="58" y="0"/>
                      </a:lnTo>
                      <a:lnTo>
                        <a:pt x="81" y="10"/>
                      </a:lnTo>
                      <a:lnTo>
                        <a:pt x="87" y="10"/>
                      </a:lnTo>
                      <a:lnTo>
                        <a:pt x="93" y="37"/>
                      </a:lnTo>
                      <a:close/>
                    </a:path>
                  </a:pathLst>
                </a:custGeom>
                <a:solidFill>
                  <a:srgbClr val="FF7F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pic>
          <p:nvPicPr>
            <p:cNvPr id="15" name="Picture 5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53" t="11359" r="2036" b="5432"/>
            <a:stretch>
              <a:fillRect/>
            </a:stretch>
          </p:blipFill>
          <p:spPr bwMode="auto">
            <a:xfrm>
              <a:off x="477838" y="3349625"/>
              <a:ext cx="1254125" cy="755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56" descr="bnsf locomotive"/>
            <p:cNvPicPr>
              <a:picLocks noChangeAspect="1" noChangeArrowheads="1"/>
            </p:cNvPicPr>
            <p:nvPr/>
          </p:nvPicPr>
          <p:blipFill>
            <a:blip r:embed="rId6">
              <a:lum bright="22000" contras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1" y="418147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57" descr="windmills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07" b="28030"/>
            <a:stretch>
              <a:fillRect/>
            </a:stretch>
          </p:blipFill>
          <p:spPr bwMode="auto">
            <a:xfrm>
              <a:off x="479426" y="5167313"/>
              <a:ext cx="1338263" cy="909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3" name="Rectangle 3"/>
          <p:cNvSpPr txBox="1">
            <a:spLocks noChangeArrowheads="1"/>
          </p:cNvSpPr>
          <p:nvPr/>
        </p:nvSpPr>
        <p:spPr bwMode="auto">
          <a:xfrm>
            <a:off x="3994075" y="1758525"/>
            <a:ext cx="6426275" cy="3906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Raleway" pitchFamily="2" charset="0"/>
              </a:rPr>
              <a:t>Categories of performance metrics:</a:t>
            </a:r>
          </a:p>
          <a:p>
            <a:pPr marL="1235075" lvl="1" indent="-457200">
              <a:buSzPct val="90000"/>
              <a:buFont typeface="+mj-lt"/>
              <a:buAutoNum type="arabicParenR"/>
            </a:pPr>
            <a:endParaRPr lang="en-US" sz="1100" dirty="0">
              <a:latin typeface="Raleway" pitchFamily="2" charset="0"/>
            </a:endParaRPr>
          </a:p>
          <a:p>
            <a:pPr marL="835025" indent="-457200">
              <a:buSzPct val="90000"/>
              <a:buFont typeface="+mj-lt"/>
              <a:buAutoNum type="arabicParenR"/>
            </a:pPr>
            <a:r>
              <a:rPr lang="en-US" sz="2400" dirty="0">
                <a:latin typeface="Raleway" pitchFamily="2" charset="0"/>
              </a:rPr>
              <a:t>Financial metrics</a:t>
            </a:r>
          </a:p>
          <a:p>
            <a:pPr marL="835025" indent="-457200">
              <a:buSzPct val="90000"/>
              <a:buFont typeface="+mj-lt"/>
              <a:buAutoNum type="arabicParenR"/>
            </a:pPr>
            <a:r>
              <a:rPr lang="en-US" sz="2400" dirty="0">
                <a:latin typeface="Raleway" pitchFamily="2" charset="0"/>
              </a:rPr>
              <a:t>Productivity metrics</a:t>
            </a:r>
          </a:p>
          <a:p>
            <a:pPr marL="835025" indent="-457200">
              <a:buSzPct val="90000"/>
              <a:buFont typeface="+mj-lt"/>
              <a:buAutoNum type="arabicParenR"/>
            </a:pPr>
            <a:r>
              <a:rPr lang="en-US" sz="2400" dirty="0">
                <a:latin typeface="Raleway" pitchFamily="2" charset="0"/>
              </a:rPr>
              <a:t>Effectiveness metrics</a:t>
            </a:r>
          </a:p>
          <a:p>
            <a:pPr marL="835025" indent="-457200">
              <a:buSzPct val="90000"/>
              <a:buFont typeface="+mj-lt"/>
              <a:buAutoNum type="arabicParenR"/>
            </a:pPr>
            <a:r>
              <a:rPr lang="en-US" sz="2400" dirty="0">
                <a:latin typeface="Raleway" pitchFamily="2" charset="0"/>
              </a:rPr>
              <a:t>Service performance</a:t>
            </a:r>
          </a:p>
          <a:p>
            <a:pPr marL="835025" indent="-457200">
              <a:buSzPct val="90000"/>
              <a:buFont typeface="+mj-lt"/>
              <a:buAutoNum type="arabicParenR"/>
            </a:pPr>
            <a:r>
              <a:rPr lang="en-US" sz="2400" dirty="0">
                <a:latin typeface="Raleway" pitchFamily="2" charset="0"/>
              </a:rPr>
              <a:t>External performance ratings</a:t>
            </a:r>
          </a:p>
          <a:p>
            <a:pPr marL="835025" indent="-457200">
              <a:buSzPct val="90000"/>
              <a:buFont typeface="+mj-lt"/>
              <a:buAutoNum type="arabicParenR"/>
            </a:pPr>
            <a:r>
              <a:rPr lang="en-US" sz="2400" dirty="0">
                <a:latin typeface="Raleway" pitchFamily="2" charset="0"/>
              </a:rPr>
              <a:t>Behavior metrics</a:t>
            </a:r>
          </a:p>
          <a:p>
            <a:pPr marL="835025" indent="-457200">
              <a:buSzPct val="90000"/>
              <a:buFont typeface="+mj-lt"/>
              <a:buAutoNum type="arabicParenR"/>
            </a:pPr>
            <a:r>
              <a:rPr lang="en-US" sz="2400" dirty="0">
                <a:latin typeface="Raleway" pitchFamily="2" charset="0"/>
              </a:rPr>
              <a:t>Estimation metrics</a:t>
            </a:r>
          </a:p>
          <a:p>
            <a:pPr marL="835025" indent="-457200">
              <a:buSzPct val="90000"/>
              <a:buFont typeface="+mj-lt"/>
              <a:buAutoNum type="arabicParenR"/>
            </a:pPr>
            <a:endParaRPr lang="en-US" sz="2400" dirty="0">
              <a:latin typeface="Raleway" pitchFamily="2" charset="0"/>
            </a:endParaRPr>
          </a:p>
          <a:p>
            <a:pPr marL="0" indent="0">
              <a:buSzPct val="90000"/>
              <a:buNone/>
            </a:pPr>
            <a:r>
              <a:rPr lang="en-US" sz="2000" dirty="0">
                <a:latin typeface="Raleway" pitchFamily="2" charset="0"/>
              </a:rPr>
              <a:t>This is modeling for real-world problems.</a:t>
            </a:r>
            <a:endParaRPr lang="en-US" sz="1800" dirty="0"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914251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E978E-2AFC-7A6A-50FF-A12B528EB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6B9A7-7F3B-D569-BA14-5FD30738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42" y="1051476"/>
            <a:ext cx="10925638" cy="5038237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The base objective function</a:t>
            </a:r>
            <a:endParaRPr lang="en-US" sz="2000" dirty="0"/>
          </a:p>
          <a:p>
            <a:pPr marL="576263" indent="0">
              <a:buNone/>
            </a:pPr>
            <a:endParaRPr lang="en-US" sz="1400" dirty="0"/>
          </a:p>
          <a:p>
            <a:pPr marL="576263" indent="0">
              <a:buNone/>
            </a:pPr>
            <a:r>
              <a:rPr lang="en-US" sz="2000" dirty="0"/>
              <a:t>We approximate the objective function (assuming cumulative reward):</a:t>
            </a:r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1600" dirty="0"/>
          </a:p>
          <a:p>
            <a:pPr marL="86360" indent="0">
              <a:buNone/>
            </a:pPr>
            <a:r>
              <a:rPr lang="en-US" sz="20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754CEA4E-793E-F8AE-AF82-023511E5252C}"/>
                  </a:ext>
                </a:extLst>
              </p:cNvPr>
              <p:cNvSpPr txBox="1"/>
              <p:nvPr/>
            </p:nvSpPr>
            <p:spPr bwMode="auto">
              <a:xfrm>
                <a:off x="1151079" y="2344814"/>
                <a:ext cx="7531008" cy="1047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754CEA4E-793E-F8AE-AF82-023511E52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1079" y="2344814"/>
                <a:ext cx="7531008" cy="1047346"/>
              </a:xfrm>
              <a:prstGeom prst="rect">
                <a:avLst/>
              </a:prstGeom>
              <a:blipFill>
                <a:blip r:embed="rId2"/>
                <a:stretch>
                  <a:fillRect b="-58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D99C7D0C-84D0-3AB0-81CF-6C63B252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Modeling: Objective function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83AC30E-899A-1CAB-45A4-3CDB385018EB}"/>
              </a:ext>
            </a:extLst>
          </p:cNvPr>
          <p:cNvGrpSpPr/>
          <p:nvPr/>
        </p:nvGrpSpPr>
        <p:grpSpPr>
          <a:xfrm>
            <a:off x="1084084" y="2535810"/>
            <a:ext cx="3073138" cy="1992429"/>
            <a:chOff x="1084084" y="2535810"/>
            <a:chExt cx="3073138" cy="199242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AAD1354E-750C-7B61-C8FD-1936C2B96D67}"/>
                </a:ext>
              </a:extLst>
            </p:cNvPr>
            <p:cNvSpPr/>
            <p:nvPr/>
          </p:nvSpPr>
          <p:spPr>
            <a:xfrm>
              <a:off x="3355941" y="2535810"/>
              <a:ext cx="471341" cy="856350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57ECB30-0170-910B-418E-6EE17F840A2C}"/>
                </a:ext>
              </a:extLst>
            </p:cNvPr>
            <p:cNvSpPr txBox="1"/>
            <p:nvPr/>
          </p:nvSpPr>
          <p:spPr>
            <a:xfrm>
              <a:off x="1084084" y="3789575"/>
              <a:ext cx="3073138" cy="738664"/>
            </a:xfrm>
            <a:prstGeom prst="rect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rPr>
                <a:t>If there are probabilistic beliefs about inputs, we take the expectation over these beliefs.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6217E0A-12D9-E90E-539A-0D04AE6C1467}"/>
                </a:ext>
              </a:extLst>
            </p:cNvPr>
            <p:cNvCxnSpPr>
              <a:endCxn id="2" idx="4"/>
            </p:cNvCxnSpPr>
            <p:nvPr/>
          </p:nvCxnSpPr>
          <p:spPr>
            <a:xfrm flipV="1">
              <a:off x="2564090" y="3392160"/>
              <a:ext cx="1027522" cy="387988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877327-F7E9-8AE1-F8E5-F9267E815720}"/>
              </a:ext>
            </a:extLst>
          </p:cNvPr>
          <p:cNvGrpSpPr/>
          <p:nvPr/>
        </p:nvGrpSpPr>
        <p:grpSpPr>
          <a:xfrm>
            <a:off x="3817856" y="2495192"/>
            <a:ext cx="3659171" cy="2306620"/>
            <a:chOff x="498051" y="2437062"/>
            <a:chExt cx="3659171" cy="23066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24141E3-CD21-FA06-F5A6-CA66F1A29E7B}"/>
                </a:ext>
              </a:extLst>
            </p:cNvPr>
            <p:cNvSpPr/>
            <p:nvPr/>
          </p:nvSpPr>
          <p:spPr>
            <a:xfrm>
              <a:off x="498051" y="2437062"/>
              <a:ext cx="1366886" cy="856350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8342A06-8480-F7BF-0975-45E4F7A515CC}"/>
                    </a:ext>
                  </a:extLst>
                </p:cNvPr>
                <p:cNvSpPr txBox="1"/>
                <p:nvPr/>
              </p:nvSpPr>
              <p:spPr>
                <a:xfrm>
                  <a:off x="1084084" y="3789575"/>
                  <a:ext cx="3073138" cy="954107"/>
                </a:xfrm>
                <a:prstGeom prst="rect">
                  <a:avLst/>
                </a:prstGeom>
                <a:noFill/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Expectation over the exogenous information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 which may depend on quantities and parameters in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8342A06-8480-F7BF-0975-45E4F7A51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084" y="3789575"/>
                  <a:ext cx="3073138" cy="954107"/>
                </a:xfrm>
                <a:prstGeom prst="rect">
                  <a:avLst/>
                </a:prstGeom>
                <a:blipFill>
                  <a:blip r:embed="rId3"/>
                  <a:stretch>
                    <a:fillRect l="-394" t="-625" b="-4375"/>
                  </a:stretch>
                </a:blipFill>
                <a:ln w="19050"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0F59FAF-1584-8EAB-2B9F-BFEB446192D3}"/>
                </a:ext>
              </a:extLst>
            </p:cNvPr>
            <p:cNvCxnSpPr>
              <a:cxnSpLocks/>
              <a:stCxn id="12" idx="0"/>
              <a:endCxn id="11" idx="4"/>
            </p:cNvCxnSpPr>
            <p:nvPr/>
          </p:nvCxnSpPr>
          <p:spPr>
            <a:xfrm flipH="1" flipV="1">
              <a:off x="1181494" y="3293412"/>
              <a:ext cx="1439159" cy="496163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230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7246-D4FE-B1BE-1536-750D7BF48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7BDA59-0690-C315-52EF-2FFE68FBE0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8642" y="1051476"/>
                <a:ext cx="10925638" cy="5038237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dirty="0"/>
                  <a:t>The base objective function</a:t>
                </a:r>
                <a:endParaRPr lang="en-US" sz="2000" dirty="0"/>
              </a:p>
              <a:p>
                <a:pPr marL="576263" indent="0">
                  <a:buNone/>
                </a:pPr>
                <a:endParaRPr lang="en-US" sz="1400" dirty="0"/>
              </a:p>
              <a:p>
                <a:pPr marL="576263" indent="0">
                  <a:buNone/>
                </a:pPr>
                <a:r>
                  <a:rPr lang="en-US" sz="2000" dirty="0"/>
                  <a:t>We approximate the objective function (assuming cumulative reward):</a:t>
                </a:r>
              </a:p>
              <a:p>
                <a:pPr marL="86360" indent="0">
                  <a:buNone/>
                </a:pPr>
                <a:endParaRPr lang="en-US" sz="2000" dirty="0"/>
              </a:p>
              <a:p>
                <a:pPr marL="86360" indent="0">
                  <a:buNone/>
                </a:pPr>
                <a:endParaRPr lang="en-US" sz="2000" dirty="0"/>
              </a:p>
              <a:p>
                <a:pPr marL="86360" indent="0">
                  <a:buNone/>
                </a:pPr>
                <a:endParaRPr lang="en-US" sz="2000" dirty="0"/>
              </a:p>
              <a:p>
                <a:pPr marL="576263" indent="0">
                  <a:buNone/>
                </a:pPr>
                <a:r>
                  <a:rPr lang="en-US" sz="2000" dirty="0">
                    <a:latin typeface="Raleway" pitchFamily="2" charset="0"/>
                  </a:rPr>
                  <a:t>We write the value of a policy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Raleway" pitchFamily="2" charset="0"/>
                  </a:rPr>
                  <a:t> as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Raleway" pitchFamily="2" charset="0"/>
                  </a:rPr>
                  <a:t> because the entire process depends on information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Raleway" pitchFamily="2" charset="0"/>
                  </a:rPr>
                  <a:t>.  This may include:</a:t>
                </a:r>
              </a:p>
              <a:p>
                <a:pPr marL="1087438" indent="-258763"/>
                <a:r>
                  <a:rPr lang="en-US" sz="1800" dirty="0">
                    <a:latin typeface="Raleway" pitchFamily="2" charset="0"/>
                  </a:rPr>
                  <a:t>Static information that never changes</a:t>
                </a:r>
              </a:p>
              <a:p>
                <a:pPr marL="1544638" lvl="1" indent="-258763"/>
                <a:r>
                  <a:rPr lang="en-US" sz="1400" dirty="0">
                    <a:latin typeface="Raleway" pitchFamily="2" charset="0"/>
                  </a:rPr>
                  <a:t>Functions that the system depends on (which are not changing). </a:t>
                </a:r>
              </a:p>
              <a:p>
                <a:pPr marL="1544638" lvl="1" indent="-258763"/>
                <a:r>
                  <a:rPr lang="en-US" sz="1400" dirty="0">
                    <a:latin typeface="Raleway" pitchFamily="2" charset="0"/>
                  </a:rPr>
                  <a:t>Static parameters that do not change over time</a:t>
                </a:r>
              </a:p>
              <a:p>
                <a:pPr marL="1087438" indent="-258763"/>
                <a:r>
                  <a:rPr lang="en-US" sz="1800" dirty="0">
                    <a:latin typeface="Raleway" pitchFamily="2" charset="0"/>
                  </a:rPr>
                  <a:t>Dynamic information that may change due to decisions, exogenous information, or both</a:t>
                </a:r>
              </a:p>
              <a:p>
                <a:pPr marL="1544638" lvl="1" indent="-258763"/>
                <a:r>
                  <a:rPr lang="en-US" sz="1400" dirty="0">
                    <a:latin typeface="Raleway" pitchFamily="2" charset="0"/>
                  </a:rPr>
                  <a:t>Initial values of dynamic parameters.</a:t>
                </a:r>
              </a:p>
              <a:p>
                <a:pPr marL="1544638" lvl="1" indent="-258763"/>
                <a:r>
                  <a:rPr lang="en-US" sz="1400" dirty="0">
                    <a:latin typeface="Raleway" pitchFamily="2" charset="0"/>
                  </a:rPr>
                  <a:t>Starting values in a stochastic search algorithm.</a:t>
                </a:r>
              </a:p>
              <a:p>
                <a:pPr marL="86360" indent="0">
                  <a:buNone/>
                </a:pPr>
                <a:endParaRPr lang="en-US" sz="2000" dirty="0"/>
              </a:p>
              <a:p>
                <a:pPr marL="86360" indent="0">
                  <a:buNone/>
                </a:pPr>
                <a:endParaRPr lang="en-US" sz="2000" dirty="0"/>
              </a:p>
              <a:p>
                <a:pPr marL="86360" indent="0">
                  <a:buNone/>
                </a:pPr>
                <a:endParaRPr lang="en-US" sz="2000" dirty="0"/>
              </a:p>
              <a:p>
                <a:pPr marL="86360" indent="0">
                  <a:buNone/>
                </a:pPr>
                <a:endParaRPr lang="en-US" sz="1600" dirty="0"/>
              </a:p>
              <a:p>
                <a:pPr marL="86360" indent="0">
                  <a:buNone/>
                </a:pPr>
                <a:r>
                  <a:rPr lang="en-US" sz="2000" dirty="0"/>
                  <a:t>	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7BDA59-0690-C315-52EF-2FFE68FBE0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8642" y="1051476"/>
                <a:ext cx="10925638" cy="5038237"/>
              </a:xfrm>
              <a:blipFill>
                <a:blip r:embed="rId2"/>
                <a:stretch>
                  <a:fillRect l="-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EADE37A4-7D35-F582-B27D-F43612F7A541}"/>
                  </a:ext>
                </a:extLst>
              </p:cNvPr>
              <p:cNvSpPr txBox="1"/>
              <p:nvPr/>
            </p:nvSpPr>
            <p:spPr bwMode="auto">
              <a:xfrm>
                <a:off x="1151079" y="2344814"/>
                <a:ext cx="7531008" cy="1047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EADE37A4-7D35-F582-B27D-F43612F7A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1079" y="2344814"/>
                <a:ext cx="7531008" cy="1047346"/>
              </a:xfrm>
              <a:prstGeom prst="rect">
                <a:avLst/>
              </a:prstGeom>
              <a:blipFill>
                <a:blip r:embed="rId3"/>
                <a:stretch>
                  <a:fillRect b="-58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1328169-13C6-5AA0-A7D9-E010B9DBF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Modeling: 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2617128529"/>
      </p:ext>
    </p:extLst>
  </p:cSld>
  <p:clrMapOvr>
    <a:masterClrMapping/>
  </p:clrMapOvr>
  <p:transition spd="slow">
    <p:wipe dir="r"/>
  </p:transition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2B6DC-0400-0290-6AC7-D42287F5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89ABE539-E81C-259F-E3AE-924233E56A5F}"/>
                  </a:ext>
                </a:extLst>
              </p:cNvPr>
              <p:cNvSpPr txBox="1"/>
              <p:nvPr/>
            </p:nvSpPr>
            <p:spPr bwMode="auto">
              <a:xfrm>
                <a:off x="38716" y="2646474"/>
                <a:ext cx="8108588" cy="1047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" name="Object 4">
                <a:extLst>
                  <a:ext uri="{FF2B5EF4-FFF2-40B4-BE49-F238E27FC236}">
                    <a16:creationId xmlns:a16="http://schemas.microsoft.com/office/drawing/2014/main" id="{89ABE539-E81C-259F-E3AE-924233E56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716" y="2646474"/>
                <a:ext cx="8108588" cy="1047346"/>
              </a:xfrm>
              <a:prstGeom prst="rect">
                <a:avLst/>
              </a:prstGeom>
              <a:blipFill>
                <a:blip r:embed="rId7"/>
                <a:stretch>
                  <a:fillRect b="-58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328A2-94B7-8EA3-DBB1-E5E542D78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42" y="1108039"/>
            <a:ext cx="10925638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The base objective function</a:t>
            </a:r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r>
              <a:rPr lang="en-US" sz="2000" dirty="0"/>
              <a:t>        We approximate the objective function:</a:t>
            </a:r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1600" dirty="0"/>
          </a:p>
          <a:p>
            <a:pPr marL="86360" indent="0">
              <a:buNone/>
            </a:pPr>
            <a:r>
              <a:rPr lang="en-US" sz="2000" dirty="0"/>
              <a:t>	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C00D12B-1154-A7AE-CD09-B826DC1377BB}"/>
              </a:ext>
            </a:extLst>
          </p:cNvPr>
          <p:cNvGrpSpPr/>
          <p:nvPr/>
        </p:nvGrpSpPr>
        <p:grpSpPr>
          <a:xfrm>
            <a:off x="2400069" y="2705953"/>
            <a:ext cx="1370297" cy="1709130"/>
            <a:chOff x="5536480" y="2705953"/>
            <a:chExt cx="1370297" cy="170913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CCBCBC9-5741-21DB-4D99-5A78904DCB98}"/>
                </a:ext>
              </a:extLst>
            </p:cNvPr>
            <p:cNvSpPr/>
            <p:nvPr/>
          </p:nvSpPr>
          <p:spPr>
            <a:xfrm>
              <a:off x="6038850" y="2705953"/>
              <a:ext cx="381000" cy="951647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0EBC900-3B78-FD0E-8060-61FF067BB7B4}"/>
                    </a:ext>
                  </a:extLst>
                </p:cNvPr>
                <p:cNvSpPr txBox="1"/>
                <p:nvPr/>
              </p:nvSpPr>
              <p:spPr>
                <a:xfrm rot="5400000">
                  <a:off x="5842891" y="3411956"/>
                  <a:ext cx="734817" cy="12714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sz="24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4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1ABFB83-55E8-8413-3485-7FAB65229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842891" y="3411956"/>
                  <a:ext cx="734817" cy="127143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47010FB-3535-C45B-BE4D-CAA0F5DF5441}"/>
                    </a:ext>
                  </a:extLst>
                </p:cNvPr>
                <p:cNvSpPr txBox="1"/>
                <p:nvPr/>
              </p:nvSpPr>
              <p:spPr>
                <a:xfrm>
                  <a:off x="5536480" y="3899885"/>
                  <a:ext cx="60253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7D35DEB-892E-4636-FE32-544A3C231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6480" y="3899885"/>
                  <a:ext cx="602537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1E0F7E3-81E3-AF83-01AA-BACA067692DB}"/>
                    </a:ext>
                  </a:extLst>
                </p:cNvPr>
                <p:cNvSpPr txBox="1"/>
                <p:nvPr/>
              </p:nvSpPr>
              <p:spPr>
                <a:xfrm>
                  <a:off x="5978440" y="3899885"/>
                  <a:ext cx="51123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55BF84E-7982-1371-A2E8-EBEE69CD97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8440" y="3899885"/>
                  <a:ext cx="51123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0ADB6AE-0536-2402-43F4-E0F92F4D3A72}"/>
                    </a:ext>
                  </a:extLst>
                </p:cNvPr>
                <p:cNvSpPr txBox="1"/>
                <p:nvPr/>
              </p:nvSpPr>
              <p:spPr>
                <a:xfrm>
                  <a:off x="6306100" y="3899885"/>
                  <a:ext cx="60067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48CE41F-988D-613E-9568-A53B5FB3E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6100" y="3899885"/>
                  <a:ext cx="600677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121DA00-7E80-96EB-2108-C30C8500FDE2}"/>
              </a:ext>
            </a:extLst>
          </p:cNvPr>
          <p:cNvGrpSpPr/>
          <p:nvPr/>
        </p:nvGrpSpPr>
        <p:grpSpPr>
          <a:xfrm>
            <a:off x="1328926" y="4361550"/>
            <a:ext cx="1381290" cy="1994517"/>
            <a:chOff x="4457717" y="4361550"/>
            <a:chExt cx="1381290" cy="199451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63930A0-A7DC-14C9-DCDC-D819A12B474E}"/>
                </a:ext>
              </a:extLst>
            </p:cNvPr>
            <p:cNvSpPr txBox="1"/>
            <p:nvPr/>
          </p:nvSpPr>
          <p:spPr>
            <a:xfrm>
              <a:off x="4457717" y="4755629"/>
              <a:ext cx="1149674" cy="1600438"/>
            </a:xfrm>
            <a:prstGeom prst="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Inventories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People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Equipment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Facilities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Cash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Investments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….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24EC634-C922-089F-FB1C-C690C11E27E1}"/>
                </a:ext>
              </a:extLst>
            </p:cNvPr>
            <p:cNvCxnSpPr>
              <a:cxnSpLocks/>
              <a:stCxn id="28" idx="0"/>
              <a:endCxn id="24" idx="2"/>
            </p:cNvCxnSpPr>
            <p:nvPr/>
          </p:nvCxnSpPr>
          <p:spPr>
            <a:xfrm flipV="1">
              <a:off x="5032554" y="4361550"/>
              <a:ext cx="806453" cy="394079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90A5161-23D2-63B7-9049-42E6938613FF}"/>
              </a:ext>
            </a:extLst>
          </p:cNvPr>
          <p:cNvGrpSpPr/>
          <p:nvPr/>
        </p:nvGrpSpPr>
        <p:grpSpPr>
          <a:xfrm>
            <a:off x="2651511" y="4415084"/>
            <a:ext cx="1159292" cy="1995512"/>
            <a:chOff x="5780302" y="4415084"/>
            <a:chExt cx="1159292" cy="199551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A058470-4992-5CD5-4C40-F15BB8A401F0}"/>
                </a:ext>
              </a:extLst>
            </p:cNvPr>
            <p:cNvSpPr txBox="1"/>
            <p:nvPr/>
          </p:nvSpPr>
          <p:spPr>
            <a:xfrm>
              <a:off x="5780302" y="5025601"/>
              <a:ext cx="1159292" cy="1384995"/>
            </a:xfrm>
            <a:prstGeom prst="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Travel times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Prices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Weather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Taxes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Tariffs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….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9A5596F-9301-4B58-A1BA-9347EE8851A5}"/>
                </a:ext>
              </a:extLst>
            </p:cNvPr>
            <p:cNvCxnSpPr>
              <a:cxnSpLocks/>
              <a:stCxn id="30" idx="0"/>
              <a:endCxn id="23" idx="3"/>
            </p:cNvCxnSpPr>
            <p:nvPr/>
          </p:nvCxnSpPr>
          <p:spPr>
            <a:xfrm flipH="1" flipV="1">
              <a:off x="6211558" y="4415084"/>
              <a:ext cx="148390" cy="610517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887AABF-95EE-B60F-F351-2E079DA55124}"/>
              </a:ext>
            </a:extLst>
          </p:cNvPr>
          <p:cNvGrpSpPr/>
          <p:nvPr/>
        </p:nvGrpSpPr>
        <p:grpSpPr>
          <a:xfrm>
            <a:off x="3470028" y="4361550"/>
            <a:ext cx="2428469" cy="1833602"/>
            <a:chOff x="5420748" y="4361550"/>
            <a:chExt cx="2428469" cy="183360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4934232-7B2C-33E1-97BF-4E44F2C5E607}"/>
                </a:ext>
              </a:extLst>
            </p:cNvPr>
            <p:cNvSpPr txBox="1"/>
            <p:nvPr/>
          </p:nvSpPr>
          <p:spPr>
            <a:xfrm>
              <a:off x="6053533" y="4810157"/>
              <a:ext cx="1795684" cy="1384995"/>
            </a:xfrm>
            <a:prstGeom prst="rect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Forecasts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Market response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Arrival times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Yield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Competitor behavior</a:t>
              </a:r>
            </a:p>
            <a:p>
              <a:r>
                <a:rPr lang="en-US" dirty="0">
                  <a:solidFill>
                    <a:schemeClr val="accent2">
                      <a:lumMod val="75000"/>
                    </a:schemeClr>
                  </a:solidFill>
                </a:rPr>
                <a:t>….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0526CF5-BCAF-FD8A-2C3A-E9AD6E9A51D3}"/>
                </a:ext>
              </a:extLst>
            </p:cNvPr>
            <p:cNvCxnSpPr>
              <a:cxnSpLocks/>
              <a:stCxn id="29" idx="0"/>
              <a:endCxn id="26" idx="2"/>
            </p:cNvCxnSpPr>
            <p:nvPr/>
          </p:nvCxnSpPr>
          <p:spPr>
            <a:xfrm flipH="1" flipV="1">
              <a:off x="5420748" y="4361550"/>
              <a:ext cx="1530627" cy="448607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D3132AB-B83B-2697-8F72-F53B81E1EFB7}"/>
              </a:ext>
            </a:extLst>
          </p:cNvPr>
          <p:cNvGrpSpPr/>
          <p:nvPr/>
        </p:nvGrpSpPr>
        <p:grpSpPr>
          <a:xfrm>
            <a:off x="2388832" y="3729571"/>
            <a:ext cx="3745939" cy="739047"/>
            <a:chOff x="5487143" y="3729571"/>
            <a:chExt cx="3745939" cy="73904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67CEA90-F403-9010-699D-ACEF9FCFCDC1}"/>
                </a:ext>
              </a:extLst>
            </p:cNvPr>
            <p:cNvSpPr/>
            <p:nvPr/>
          </p:nvSpPr>
          <p:spPr>
            <a:xfrm>
              <a:off x="5487143" y="3729571"/>
              <a:ext cx="1381534" cy="739047"/>
            </a:xfrm>
            <a:prstGeom prst="ellipse">
              <a:avLst/>
            </a:prstGeom>
            <a:noFill/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F1E82FE-A01B-AD58-96C5-AA66E75A3026}"/>
                </a:ext>
              </a:extLst>
            </p:cNvPr>
            <p:cNvGrpSpPr/>
            <p:nvPr/>
          </p:nvGrpSpPr>
          <p:grpSpPr>
            <a:xfrm>
              <a:off x="6868677" y="3942646"/>
              <a:ext cx="2364405" cy="307777"/>
              <a:chOff x="6868677" y="3942646"/>
              <a:chExt cx="2364405" cy="307777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F2AC1D86-EA1E-6B0B-8D23-0D9D3F923C66}"/>
                  </a:ext>
                </a:extLst>
              </p:cNvPr>
              <p:cNvCxnSpPr>
                <a:cxnSpLocks/>
                <a:stCxn id="4" idx="6"/>
              </p:cNvCxnSpPr>
              <p:nvPr/>
            </p:nvCxnSpPr>
            <p:spPr>
              <a:xfrm>
                <a:off x="6868677" y="4099095"/>
                <a:ext cx="790337" cy="0"/>
              </a:xfrm>
              <a:prstGeom prst="straightConnector1">
                <a:avLst/>
              </a:prstGeom>
              <a:ln w="12700">
                <a:solidFill>
                  <a:schemeClr val="accent2">
                    <a:lumMod val="75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AC1E59-717B-4C82-6B6D-FFDBF1F07E90}"/>
                  </a:ext>
                </a:extLst>
              </p:cNvPr>
              <p:cNvSpPr txBox="1"/>
              <p:nvPr/>
            </p:nvSpPr>
            <p:spPr>
              <a:xfrm>
                <a:off x="7655406" y="3942646"/>
                <a:ext cx="1577676" cy="307777"/>
              </a:xfrm>
              <a:prstGeom prst="rect">
                <a:avLst/>
              </a:prstGeom>
              <a:noFill/>
              <a:ln w="12700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State of the world</a:t>
                </a:r>
              </a:p>
            </p:txBody>
          </p:sp>
        </p:grp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C92CA34D-812F-6273-4308-FCA6CAEBF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Modeling: 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18333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FC13D-35CE-3DD0-E9FE-95760209A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6F7FF-30ED-9D38-47A5-898582436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42" y="1108039"/>
            <a:ext cx="10925638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The base objective function</a:t>
            </a:r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r>
              <a:rPr lang="en-US" sz="2000" dirty="0"/>
              <a:t>	We now want to find the best policy</a:t>
            </a:r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1600" dirty="0"/>
          </a:p>
          <a:p>
            <a:pPr marL="86360" indent="0">
              <a:buNone/>
            </a:pPr>
            <a:r>
              <a:rPr lang="en-US" sz="20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81A3416B-2873-9F31-EFAD-3DAB6F2F9280}"/>
                  </a:ext>
                </a:extLst>
              </p:cNvPr>
              <p:cNvSpPr txBox="1"/>
              <p:nvPr/>
            </p:nvSpPr>
            <p:spPr bwMode="auto">
              <a:xfrm>
                <a:off x="578776" y="2644993"/>
                <a:ext cx="7018364" cy="1047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𝑚𝑎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81A3416B-2873-9F31-EFAD-3DAB6F2F9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776" y="2644993"/>
                <a:ext cx="7018364" cy="1047346"/>
              </a:xfrm>
              <a:prstGeom prst="rect">
                <a:avLst/>
              </a:prstGeom>
              <a:blipFill>
                <a:blip r:embed="rId2"/>
                <a:stretch>
                  <a:fillRect b="-52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E9D74D3-3103-2E70-0C39-200E622ED81A}"/>
              </a:ext>
            </a:extLst>
          </p:cNvPr>
          <p:cNvGrpSpPr/>
          <p:nvPr/>
        </p:nvGrpSpPr>
        <p:grpSpPr>
          <a:xfrm>
            <a:off x="427729" y="3162376"/>
            <a:ext cx="1654679" cy="3162664"/>
            <a:chOff x="916476" y="2349678"/>
            <a:chExt cx="1654679" cy="316266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DAD2B11-03F1-10A1-F54B-F1182EB53A68}"/>
                </a:ext>
              </a:extLst>
            </p:cNvPr>
            <p:cNvGrpSpPr/>
            <p:nvPr/>
          </p:nvGrpSpPr>
          <p:grpSpPr>
            <a:xfrm>
              <a:off x="916476" y="2349678"/>
              <a:ext cx="1654679" cy="1629539"/>
              <a:chOff x="916476" y="2883078"/>
              <a:chExt cx="1654679" cy="1629539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E6BDEB4-AD17-45AB-B54C-3CF7BE8EC58E}"/>
                  </a:ext>
                </a:extLst>
              </p:cNvPr>
              <p:cNvSpPr/>
              <p:nvPr/>
            </p:nvSpPr>
            <p:spPr>
              <a:xfrm>
                <a:off x="1939597" y="2883078"/>
                <a:ext cx="432867" cy="374650"/>
              </a:xfrm>
              <a:prstGeom prst="ellipse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B78510CD-2596-4556-849C-20E711F2BCFA}"/>
                  </a:ext>
                </a:extLst>
              </p:cNvPr>
              <p:cNvCxnSpPr>
                <a:cxnSpLocks/>
                <a:stCxn id="9" idx="4"/>
                <a:endCxn id="11" idx="0"/>
              </p:cNvCxnSpPr>
              <p:nvPr/>
            </p:nvCxnSpPr>
            <p:spPr>
              <a:xfrm flipH="1">
                <a:off x="1743816" y="3257728"/>
                <a:ext cx="412215" cy="516225"/>
              </a:xfrm>
              <a:prstGeom prst="straightConnector1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FF01AB-D786-7349-61DD-DB2278E48BD1}"/>
                  </a:ext>
                </a:extLst>
              </p:cNvPr>
              <p:cNvSpPr txBox="1"/>
              <p:nvPr/>
            </p:nvSpPr>
            <p:spPr>
              <a:xfrm>
                <a:off x="916476" y="3773953"/>
                <a:ext cx="1654679" cy="738664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Type of policy</a:t>
                </a:r>
              </a:p>
              <a:p>
                <a:pPr algn="ctr"/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(structure of function)</a:t>
                </a:r>
              </a:p>
            </p:txBody>
          </p:sp>
        </p:grpSp>
        <p:pic>
          <p:nvPicPr>
            <p:cNvPr id="8" name="Google Shape;3213;p62">
              <a:extLst>
                <a:ext uri="{FF2B5EF4-FFF2-40B4-BE49-F238E27FC236}">
                  <a16:creationId xmlns:a16="http://schemas.microsoft.com/office/drawing/2014/main" id="{4C493F02-059C-DF43-7752-EB583B52277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15165" y="4182017"/>
              <a:ext cx="1257299" cy="1330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F8769D-CE56-854D-6252-A6011CD7077B}"/>
              </a:ext>
            </a:extLst>
          </p:cNvPr>
          <p:cNvGrpSpPr/>
          <p:nvPr/>
        </p:nvGrpSpPr>
        <p:grpSpPr>
          <a:xfrm>
            <a:off x="1861059" y="3144418"/>
            <a:ext cx="3763825" cy="2378856"/>
            <a:chOff x="2904777" y="2331720"/>
            <a:chExt cx="3763825" cy="237885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4B1DA20-3AFF-3184-BE22-74B1EA727C24}"/>
                </a:ext>
              </a:extLst>
            </p:cNvPr>
            <p:cNvGrpSpPr/>
            <p:nvPr/>
          </p:nvGrpSpPr>
          <p:grpSpPr>
            <a:xfrm>
              <a:off x="2904777" y="2331720"/>
              <a:ext cx="2529293" cy="1601523"/>
              <a:chOff x="2441227" y="2877820"/>
              <a:chExt cx="2529293" cy="1601523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111AEEF-89DA-60CD-D81B-B4561B65362A}"/>
                  </a:ext>
                </a:extLst>
              </p:cNvPr>
              <p:cNvSpPr/>
              <p:nvPr/>
            </p:nvSpPr>
            <p:spPr>
              <a:xfrm>
                <a:off x="2441227" y="2877820"/>
                <a:ext cx="577341" cy="374650"/>
              </a:xfrm>
              <a:prstGeom prst="ellipse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5EA66B86-1B90-35FF-01C9-4E4C8F811D19}"/>
                  </a:ext>
                </a:extLst>
              </p:cNvPr>
              <p:cNvCxnSpPr>
                <a:cxnSpLocks/>
                <a:stCxn id="15" idx="4"/>
                <a:endCxn id="17" idx="0"/>
              </p:cNvCxnSpPr>
              <p:nvPr/>
            </p:nvCxnSpPr>
            <p:spPr>
              <a:xfrm>
                <a:off x="2729898" y="3252470"/>
                <a:ext cx="1413283" cy="703653"/>
              </a:xfrm>
              <a:prstGeom prst="straightConnector1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48EF09A-D37D-805D-2E12-2CB79704BAB4}"/>
                  </a:ext>
                </a:extLst>
              </p:cNvPr>
              <p:cNvSpPr txBox="1"/>
              <p:nvPr/>
            </p:nvSpPr>
            <p:spPr>
              <a:xfrm>
                <a:off x="3315841" y="3956123"/>
                <a:ext cx="1654679" cy="523220"/>
              </a:xfrm>
              <a:prstGeom prst="rect">
                <a:avLst/>
              </a:prstGeom>
              <a:noFill/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Parameter</a:t>
                </a:r>
              </a:p>
              <a:p>
                <a:pPr algn="ctr"/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tuning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29">
                  <a:extLst>
                    <a:ext uri="{FF2B5EF4-FFF2-40B4-BE49-F238E27FC236}">
                      <a16:creationId xmlns:a16="http://schemas.microsoft.com/office/drawing/2014/main" id="{5A22A7CC-8055-2051-AB78-6C43FC0B5FDC}"/>
                    </a:ext>
                  </a:extLst>
                </p:cNvPr>
                <p:cNvSpPr txBox="1"/>
                <p:nvPr/>
              </p:nvSpPr>
              <p:spPr>
                <a:xfrm>
                  <a:off x="3322152" y="4237501"/>
                  <a:ext cx="3346450" cy="47307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sSup>
                          <m:sSup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Object 29">
                  <a:extLst>
                    <a:ext uri="{FF2B5EF4-FFF2-40B4-BE49-F238E27FC236}">
                      <a16:creationId xmlns:a16="http://schemas.microsoft.com/office/drawing/2014/main" id="{DE9C9409-6142-54EA-4C7F-D14630540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2152" y="4237501"/>
                  <a:ext cx="3346450" cy="4730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27AB4FCA-158C-6741-DBBC-54A2F857142B}"/>
              </a:ext>
            </a:extLst>
          </p:cNvPr>
          <p:cNvSpPr/>
          <p:nvPr/>
        </p:nvSpPr>
        <p:spPr>
          <a:xfrm>
            <a:off x="5204623" y="2963986"/>
            <a:ext cx="1120931" cy="540452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672D07-8FA7-1E3A-FEB2-699068D4C072}"/>
              </a:ext>
            </a:extLst>
          </p:cNvPr>
          <p:cNvSpPr txBox="1"/>
          <p:nvPr/>
        </p:nvSpPr>
        <p:spPr>
          <a:xfrm>
            <a:off x="7415699" y="1826207"/>
            <a:ext cx="417614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Functional forms:</a:t>
            </a:r>
          </a:p>
          <a:p>
            <a:endParaRPr lang="en-US" sz="1600" dirty="0">
              <a:solidFill>
                <a:schemeClr val="accent2">
                  <a:lumMod val="75000"/>
                </a:schemeClr>
              </a:solidFill>
              <a:latin typeface="Raleway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Simple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2">
                  <a:lumMod val="75000"/>
                </a:schemeClr>
              </a:solidFill>
              <a:latin typeface="Raleway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Linear functions (“linear decision rules”)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2">
                  <a:lumMod val="75000"/>
                </a:schemeClr>
              </a:solidFill>
              <a:latin typeface="Raleway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Neural networks</a:t>
            </a:r>
          </a:p>
          <a:p>
            <a:endParaRPr lang="en-US" sz="1600" dirty="0">
              <a:solidFill>
                <a:schemeClr val="accent2">
                  <a:lumMod val="75000"/>
                </a:schemeClr>
              </a:solidFill>
              <a:latin typeface="Raleway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Linear/nonlinear/integer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2">
                  <a:lumMod val="75000"/>
                </a:schemeClr>
              </a:solidFill>
              <a:latin typeface="Raleway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Optimizing over a planning horizon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2">
                  <a:lumMod val="75000"/>
                </a:schemeClr>
              </a:solidFill>
              <a:latin typeface="Raleway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ACEAD18-6409-5A94-2B5A-87D91313B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Modeling: Objective function</a:t>
            </a:r>
          </a:p>
        </p:txBody>
      </p:sp>
    </p:spTree>
    <p:extLst>
      <p:ext uri="{BB962C8B-B14F-4D97-AF65-F5344CB8AC3E}">
        <p14:creationId xmlns:p14="http://schemas.microsoft.com/office/powerpoint/2010/main" val="145751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8B9D7-FD4C-E408-61AA-2B962A41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2243AE08-733C-59B3-0D8F-121E58DF6A3C}"/>
                  </a:ext>
                </a:extLst>
              </p:cNvPr>
              <p:cNvSpPr txBox="1"/>
              <p:nvPr/>
            </p:nvSpPr>
            <p:spPr bwMode="auto">
              <a:xfrm>
                <a:off x="34143" y="2637711"/>
                <a:ext cx="7329953" cy="1047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2243AE08-733C-59B3-0D8F-121E58DF6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43" y="2637711"/>
                <a:ext cx="7329953" cy="1047346"/>
              </a:xfrm>
              <a:prstGeom prst="rect">
                <a:avLst/>
              </a:prstGeom>
              <a:blipFill>
                <a:blip r:embed="rId2"/>
                <a:stretch>
                  <a:fillRect b="-52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5DBA1-CE36-A3A8-E78F-C51AC5960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42" y="1108039"/>
            <a:ext cx="10925638" cy="1487721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The base objective function</a:t>
            </a:r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r>
              <a:rPr lang="en-US" sz="2000" dirty="0"/>
              <a:t>	Evaluating the policy:</a:t>
            </a:r>
          </a:p>
        </p:txBody>
      </p:sp>
      <p:sp>
        <p:nvSpPr>
          <p:cNvPr id="36" name="Title 4">
            <a:extLst>
              <a:ext uri="{FF2B5EF4-FFF2-40B4-BE49-F238E27FC236}">
                <a16:creationId xmlns:a16="http://schemas.microsoft.com/office/drawing/2014/main" id="{E40165AE-535A-B6E2-E47C-25E2C01F2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969" y="353850"/>
            <a:ext cx="8283900" cy="550500"/>
          </a:xfrm>
        </p:spPr>
        <p:txBody>
          <a:bodyPr/>
          <a:lstStyle/>
          <a:p>
            <a:pPr algn="l"/>
            <a:r>
              <a:rPr lang="en-US" dirty="0"/>
              <a:t>Modeling: Objective function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84439C0-E42E-47EA-D624-92726FFD75E3}"/>
              </a:ext>
            </a:extLst>
          </p:cNvPr>
          <p:cNvGrpSpPr/>
          <p:nvPr/>
        </p:nvGrpSpPr>
        <p:grpSpPr>
          <a:xfrm>
            <a:off x="7735253" y="453186"/>
            <a:ext cx="3577614" cy="5499326"/>
            <a:chOff x="7735253" y="453186"/>
            <a:chExt cx="3577614" cy="549932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35D6D7-A53F-616F-EEDB-E844890A2767}"/>
                </a:ext>
              </a:extLst>
            </p:cNvPr>
            <p:cNvGrpSpPr/>
            <p:nvPr/>
          </p:nvGrpSpPr>
          <p:grpSpPr>
            <a:xfrm>
              <a:off x="8480930" y="996425"/>
              <a:ext cx="2831937" cy="4939568"/>
              <a:chOff x="8790023" y="1414985"/>
              <a:chExt cx="2831937" cy="493956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0DC55FF-8FC3-CEC9-0DC4-619E5885090A}"/>
                  </a:ext>
                </a:extLst>
              </p:cNvPr>
              <p:cNvGrpSpPr/>
              <p:nvPr/>
            </p:nvGrpSpPr>
            <p:grpSpPr>
              <a:xfrm>
                <a:off x="8790023" y="2596765"/>
                <a:ext cx="2831937" cy="1806730"/>
                <a:chOff x="7889870" y="4114381"/>
                <a:chExt cx="2831937" cy="1806730"/>
              </a:xfrm>
            </p:grpSpPr>
            <p:pic>
              <p:nvPicPr>
                <p:cNvPr id="18" name="Picture 2" descr="data center racks">
                  <a:extLst>
                    <a:ext uri="{FF2B5EF4-FFF2-40B4-BE49-F238E27FC236}">
                      <a16:creationId xmlns:a16="http://schemas.microsoft.com/office/drawing/2014/main" id="{FCD716F6-59AF-7D40-000C-75038525684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89870" y="4403458"/>
                  <a:ext cx="2831937" cy="151765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A1721D8-B421-36DF-912E-4A5714E26CD8}"/>
                    </a:ext>
                  </a:extLst>
                </p:cNvPr>
                <p:cNvSpPr txBox="1"/>
                <p:nvPr/>
              </p:nvSpPr>
              <p:spPr>
                <a:xfrm>
                  <a:off x="8139442" y="4114381"/>
                  <a:ext cx="2113505" cy="30777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Computer simulation</a:t>
                  </a:r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62BCAD-69F2-6E71-D8E2-1426F6CE9110}"/>
                  </a:ext>
                </a:extLst>
              </p:cNvPr>
              <p:cNvSpPr txBox="1"/>
              <p:nvPr/>
            </p:nvSpPr>
            <p:spPr>
              <a:xfrm>
                <a:off x="9038821" y="1414985"/>
                <a:ext cx="2238113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Theoretically</a:t>
                </a:r>
              </a:p>
              <a:p>
                <a:pPr marL="231775"/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Optimality proofs</a:t>
                </a:r>
              </a:p>
              <a:p>
                <a:pPr marL="231775"/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Asymptotic optimality</a:t>
                </a:r>
              </a:p>
              <a:p>
                <a:pPr marL="231775"/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Raleway" pitchFamily="2" charset="0"/>
                  </a:rPr>
                  <a:t>Regret bounds</a:t>
                </a:r>
              </a:p>
              <a:p>
                <a:pPr marL="231775"/>
                <a:endParaRPr lang="en-US" dirty="0">
                  <a:solidFill>
                    <a:schemeClr val="accent2">
                      <a:lumMod val="75000"/>
                    </a:schemeClr>
                  </a:solidFill>
                  <a:latin typeface="Raleway" pitchFamily="2" charset="0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52B22CE-8C93-BCE5-4898-1295BCE41428}"/>
                  </a:ext>
                </a:extLst>
              </p:cNvPr>
              <p:cNvGrpSpPr/>
              <p:nvPr/>
            </p:nvGrpSpPr>
            <p:grpSpPr>
              <a:xfrm>
                <a:off x="8867523" y="4571517"/>
                <a:ext cx="2676935" cy="1783036"/>
                <a:chOff x="8867523" y="4571517"/>
                <a:chExt cx="2676935" cy="1783036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494FAE77-A307-11E0-CF3C-4BB1BDADB3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67523" y="4855161"/>
                  <a:ext cx="2676935" cy="1499392"/>
                </a:xfrm>
                <a:prstGeom prst="rect">
                  <a:avLst/>
                </a:prstGeom>
              </p:spPr>
            </p:pic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5AC5A47-DEAD-0612-B624-05D32C4B1C50}"/>
                    </a:ext>
                  </a:extLst>
                </p:cNvPr>
                <p:cNvSpPr txBox="1"/>
                <p:nvPr/>
              </p:nvSpPr>
              <p:spPr>
                <a:xfrm>
                  <a:off x="9153360" y="4571517"/>
                  <a:ext cx="2113505" cy="307777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accent2">
                          <a:lumMod val="75000"/>
                        </a:schemeClr>
                      </a:solidFill>
                      <a:latin typeface="Raleway" pitchFamily="2" charset="0"/>
                    </a:rPr>
                    <a:t>Field/online testing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CC9A44E-DED7-9A47-AC6C-3B63D6820774}"/>
                    </a:ext>
                  </a:extLst>
                </p:cNvPr>
                <p:cNvSpPr txBox="1"/>
                <p:nvPr/>
              </p:nvSpPr>
              <p:spPr>
                <a:xfrm>
                  <a:off x="7735253" y="453186"/>
                  <a:ext cx="337721" cy="54993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</m:m>
                                      </m:e>
                                    </m:mr>
                                    <m:mr>
                                      <m:e/>
                                    </m:mr>
                                  </m:m>
                                </m:e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solidFill>
                                                  <a:schemeClr val="accent2">
                                                    <a:lumMod val="75000"/>
                                                  </a:schemeClr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1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n-US" i="1" smtClean="0">
                                                      <a:solidFill>
                                                        <a:schemeClr val="accent2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>
                                                    <m:m>
                                                      <m:mPr>
                                                        <m:mcs>
                                                          <m:mc>
                                                            <m:mcPr>
                                                              <m:count m:val="1"/>
                                                              <m:mcJc m:val="center"/>
                                                            </m:mcPr>
                                                          </m:mc>
                                                        </m:mcs>
                                                        <m:ctrlPr>
                                                          <a:rPr lang="en-US" i="1" smtClean="0">
                                                            <a:solidFill>
                                                              <a:schemeClr val="accent2">
                                                                <a:lumMod val="75000"/>
                                                              </a:schemeClr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mPr>
                                                      <m:mr>
                                                        <m:e/>
                                                      </m:mr>
                                                      <m:mr>
                                                        <m:e/>
                                                      </m:mr>
                                                      <m:mr>
                                                        <m:e>
                                                          <m:m>
                                                            <m:mPr>
                                                              <m:mcs>
                                                                <m:mc>
                                                                  <m:mcPr>
                                                                    <m:count m:val="1"/>
                                                                    <m:mcJc m:val="center"/>
                                                                  </m:mcPr>
                                                                </m:mc>
                                                              </m:mcs>
                                                              <m:ctrlPr>
                                                                <a:rPr lang="en-US" i="1" smtClean="0">
                                                                  <a:solidFill>
                                                                    <a:schemeClr val="accent2">
                                                                      <a:lumMod val="75000"/>
                                                                    </a:schemeClr>
                                                                  </a:solidFill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mPr>
                                                            <m:mr>
                                                              <m:e/>
                                                            </m:mr>
                                                            <m:mr>
                                                              <m:e/>
                                                            </m:mr>
                                                            <m:mr>
                                                              <m:e>
                                                                <m:m>
                                                                  <m:mPr>
                                                                    <m:mcs>
                                                                      <m:mc>
                                                                        <m:mcPr>
                                                                          <m:count m:val="1"/>
                                                                          <m:mcJc m:val="center"/>
                                                                        </m:mcPr>
                                                                      </m:mc>
                                                                    </m:mcs>
                                                                    <m:ctrlPr>
                                                                      <a:rPr lang="en-US" i="1" smtClean="0">
                                                                        <a:solidFill>
                                                                          <a:schemeClr val="accent2">
                                                                            <a:lumMod val="75000"/>
                                                                          </a:schemeClr>
                                                                        </a:solidFill>
                                                                        <a:latin typeface="Cambria Math" panose="02040503050406030204" pitchFamily="18" charset="0"/>
                                                                      </a:rPr>
                                                                    </m:ctrlPr>
                                                                  </m:mPr>
                                                                  <m:mr>
                                                                    <m:e/>
                                                                  </m:mr>
                                                                  <m:mr>
                                                                    <m:e/>
                                                                  </m:mr>
                                                                  <m:mr>
                                                                    <m:e>
                                                                      <m:m>
                                                                        <m:mPr>
                                                                          <m:mcs>
                                                                            <m:mc>
                                                                              <m:mcPr>
                                                                                <m:count m:val="1"/>
                                                                                <m:mcJc m:val="center"/>
                                                                              </m:mcPr>
                                                                            </m:mc>
                                                                          </m:mcs>
                                                                          <m:ctrlPr>
                                                                            <a:rPr lang="en-US" i="1" smtClean="0">
                                                                              <a:solidFill>
                                                                                <a:schemeClr val="accent2">
                                                                                  <a:lumMod val="75000"/>
                                                                                </a:schemeClr>
                                                                              </a:solidFill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</m:ctrlPr>
                                                                        </m:mPr>
                                                                        <m:mr>
                                                                          <m:e/>
                                                                        </m:mr>
                                                                        <m:mr>
                                                                          <m:e/>
                                                                        </m:mr>
                                                                        <m:mr>
                                                                          <m:e>
                                                                            <m:m>
                                                                              <m:mPr>
                                                                                <m:mcs>
                                                                                  <m:mc>
                                                                                    <m:mcPr>
                                                                                      <m:count m:val="1"/>
                                                                                      <m:mcJc m:val="center"/>
                                                                                    </m:mcPr>
                                                                                  </m:mc>
                                                                                </m:mcs>
                                                                                <m:ctrlPr>
                                                                                  <a:rPr lang="en-US" i="1" smtClean="0">
                                                                                    <a:solidFill>
                                                                                      <a:schemeClr val="accent2">
                                                                                        <a:lumMod val="75000"/>
                                                                                      </a:schemeClr>
                                                                                    </a:solidFill>
                                                                                    <a:latin typeface="Cambria Math" panose="02040503050406030204" pitchFamily="18" charset="0"/>
                                                                                  </a:rPr>
                                                                                </m:ctrlPr>
                                                                              </m:mPr>
                                                                              <m:mr>
                                                                                <m:e/>
                                                                              </m:mr>
                                                                              <m:mr>
                                                                                <m:e/>
                                                                              </m:mr>
                                                                              <m:mr>
                                                                                <m:e>
                                                                                  <m:m>
                                                                                    <m:mPr>
                                                                                      <m:mcs>
                                                                                        <m:mc>
                                                                                          <m:mcPr>
                                                                                            <m:count m:val="1"/>
                                                                                            <m:mcJc m:val="center"/>
                                                                                          </m:mcPr>
                                                                                        </m:mc>
                                                                                      </m:mcs>
                                                                                      <m:ctrlPr>
                                                                                        <a:rPr lang="en-US" i="1" smtClean="0">
                                                                                          <a:solidFill>
                                                                                            <a:schemeClr val="accent2">
                                                                                              <a:lumMod val="75000"/>
                                                                                            </a:schemeClr>
                                                                                          </a:solidFill>
                                                                                          <a:latin typeface="Cambria Math" panose="02040503050406030204" pitchFamily="18" charset="0"/>
                                                                                        </a:rPr>
                                                                                      </m:ctrlPr>
                                                                                    </m:mPr>
                                                                                    <m:mr>
                                                                                      <m:e/>
                                                                                    </m:mr>
                                                                                    <m:mr>
                                                                                      <m:e/>
                                                                                    </m:mr>
                                                                                    <m:mr>
                                                                                      <m:e>
                                                                                        <m:m>
                                                                                          <m:mPr>
                                                                                            <m:mcs>
                                                                                              <m:mc>
                                                                                                <m:mcPr>
                                                                                                  <m:count m:val="1"/>
                                                                                                  <m:mcJc m:val="center"/>
                                                                                                </m:mcPr>
                                                                                              </m:mc>
                                                                                            </m:mcs>
                                                                                            <m:ctrlPr>
                                                                                              <a:rPr lang="en-US" i="1" smtClean="0">
                                                                                                <a:solidFill>
                                                                                                  <a:schemeClr val="accent2">
                                                                                                    <a:lumMod val="75000"/>
                                                                                                  </a:schemeClr>
                                                                                                </a:solidFill>
                                                                                                <a:latin typeface="Cambria Math" panose="02040503050406030204" pitchFamily="18" charset="0"/>
                                                                                              </a:rPr>
                                                                                            </m:ctrlPr>
                                                                                          </m:mPr>
                                                                                          <m:mr>
                                                                                            <m:e/>
                                                                                          </m:mr>
                                                                                          <m:mr>
                                                                                            <m:e/>
                                                                                          </m:mr>
                                                                                          <m:mr>
                                                                                            <m:e/>
                                                                                          </m:mr>
                                                                                        </m:m>
                                                                                      </m:e>
                                                                                    </m:mr>
                                                                                  </m:m>
                                                                                </m:e>
                                                                              </m:mr>
                                                                            </m:m>
                                                                          </m:e>
                                                                        </m:mr>
                                                                      </m:m>
                                                                    </m:e>
                                                                  </m:mr>
                                                                </m:m>
                                                              </m:e>
                                                            </m:mr>
                                                          </m:m>
                                                        </m:e>
                                                      </m:mr>
                                                    </m:m>
                                                  </m:e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ECB42FA-9C13-7F25-27C5-C7759B2856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5253" y="453186"/>
                  <a:ext cx="337721" cy="549932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707A26-F8FF-4723-C38A-08D57BF7AE75}"/>
              </a:ext>
            </a:extLst>
          </p:cNvPr>
          <p:cNvGrpSpPr/>
          <p:nvPr/>
        </p:nvGrpSpPr>
        <p:grpSpPr>
          <a:xfrm>
            <a:off x="3715412" y="2706935"/>
            <a:ext cx="3914113" cy="1056648"/>
            <a:chOff x="3563012" y="2687885"/>
            <a:chExt cx="3914113" cy="1056648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B2A0F0A0-C128-1139-4B34-7B0BEFC59AC7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0" y="3207957"/>
              <a:ext cx="695325" cy="0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50B5838-C03B-4B4C-1E99-B9B8B7EC0EFF}"/>
                </a:ext>
              </a:extLst>
            </p:cNvPr>
            <p:cNvSpPr/>
            <p:nvPr/>
          </p:nvSpPr>
          <p:spPr>
            <a:xfrm>
              <a:off x="3563012" y="2687885"/>
              <a:ext cx="3206647" cy="1056648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D337064-788E-8F0E-9718-FB6743A7B796}"/>
              </a:ext>
            </a:extLst>
          </p:cNvPr>
          <p:cNvSpPr txBox="1"/>
          <p:nvPr/>
        </p:nvSpPr>
        <p:spPr>
          <a:xfrm>
            <a:off x="7894615" y="434722"/>
            <a:ext cx="2403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Evaluating policies</a:t>
            </a:r>
          </a:p>
        </p:txBody>
      </p:sp>
    </p:spTree>
    <p:extLst>
      <p:ext uri="{BB962C8B-B14F-4D97-AF65-F5344CB8AC3E}">
        <p14:creationId xmlns:p14="http://schemas.microsoft.com/office/powerpoint/2010/main" val="1121556324"/>
      </p:ext>
    </p:extLst>
  </p:cSld>
  <p:clrMapOvr>
    <a:masterClrMapping/>
  </p:clrMapOvr>
  <p:transition spd="slow">
    <p:wipe dir="r"/>
  </p:transition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49E0-EE84-7A91-52CA-D3EE6DDCB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3C9B2-A75F-047E-6670-10F7E8038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42" y="1108039"/>
            <a:ext cx="10925638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The base objective function</a:t>
            </a:r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r>
              <a:rPr lang="en-US" sz="2000" dirty="0"/>
              <a:t>	Evaluating the policy:</a:t>
            </a:r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2000" dirty="0"/>
          </a:p>
          <a:p>
            <a:pPr marL="86360" indent="0">
              <a:buNone/>
            </a:pPr>
            <a:endParaRPr lang="en-US" sz="1600" dirty="0"/>
          </a:p>
          <a:p>
            <a:pPr marL="86360" indent="0">
              <a:buNone/>
            </a:pPr>
            <a:r>
              <a:rPr lang="en-US" sz="2000" dirty="0"/>
              <a:t>	</a:t>
            </a:r>
          </a:p>
        </p:txBody>
      </p:sp>
      <p:sp>
        <p:nvSpPr>
          <p:cNvPr id="36" name="Title 4">
            <a:extLst>
              <a:ext uri="{FF2B5EF4-FFF2-40B4-BE49-F238E27FC236}">
                <a16:creationId xmlns:a16="http://schemas.microsoft.com/office/drawing/2014/main" id="{A294FFAE-03A8-B56F-D606-46D4A2306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969" y="353850"/>
            <a:ext cx="8283900" cy="550500"/>
          </a:xfrm>
        </p:spPr>
        <p:txBody>
          <a:bodyPr/>
          <a:lstStyle/>
          <a:p>
            <a:pPr algn="l"/>
            <a:r>
              <a:rPr lang="en-US" dirty="0"/>
              <a:t>Modeling: Objective function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8097E0B-32C4-FA74-10F2-94E49539EAB6}"/>
              </a:ext>
            </a:extLst>
          </p:cNvPr>
          <p:cNvSpPr txBox="1">
            <a:spLocks/>
          </p:cNvSpPr>
          <p:nvPr/>
        </p:nvSpPr>
        <p:spPr>
          <a:xfrm>
            <a:off x="7417708" y="353412"/>
            <a:ext cx="4480041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     Evaluating policies</a:t>
            </a:r>
          </a:p>
          <a:p>
            <a:pPr marL="86360" indent="0">
              <a:buFont typeface="Raleway"/>
              <a:buNone/>
            </a:pPr>
            <a:endParaRPr lang="en-US" sz="1000" dirty="0">
              <a:solidFill>
                <a:schemeClr val="accent2">
                  <a:lumMod val="75000"/>
                </a:schemeClr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1)	Solution quality</a:t>
            </a:r>
          </a:p>
          <a:p>
            <a:pPr lvl="2"/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On average</a:t>
            </a:r>
          </a:p>
          <a:p>
            <a:pPr lvl="2"/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Worst case performance</a:t>
            </a:r>
          </a:p>
          <a:p>
            <a:pPr lvl="2"/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2)	Computational </a:t>
            </a:r>
          </a:p>
          <a:p>
            <a:pPr lvl="2"/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Speed</a:t>
            </a:r>
          </a:p>
          <a:p>
            <a:pPr lvl="2"/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Reliability</a:t>
            </a:r>
          </a:p>
          <a:p>
            <a:pPr lvl="2"/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3)	Transparency</a:t>
            </a:r>
          </a:p>
          <a:p>
            <a:pPr lvl="2"/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4)	Robustness to data errors</a:t>
            </a:r>
          </a:p>
          <a:p>
            <a:pPr lvl="2"/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5)	Tuning requirements</a:t>
            </a:r>
          </a:p>
          <a:p>
            <a:pPr lvl="2"/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6)	Flexibility/adaptability</a:t>
            </a:r>
          </a:p>
          <a:p>
            <a:pPr lvl="2"/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7)	Methodological complexity</a:t>
            </a:r>
          </a:p>
          <a:p>
            <a:pPr lvl="2"/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  <a:p>
            <a:pPr marL="571500" lvl="1" indent="0">
              <a:buNone/>
            </a:pPr>
            <a:r>
              <a:rPr lang="en-US" sz="1800" dirty="0">
                <a:solidFill>
                  <a:schemeClr val="accent2">
                    <a:lumMod val="75000"/>
                  </a:schemeClr>
                </a:solidFill>
              </a:rPr>
              <a:t>8)	Data requirements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97EFE5-41B8-270A-0962-78E297B2D385}"/>
              </a:ext>
            </a:extLst>
          </p:cNvPr>
          <p:cNvSpPr txBox="1"/>
          <p:nvPr/>
        </p:nvSpPr>
        <p:spPr>
          <a:xfrm>
            <a:off x="852191" y="4506075"/>
            <a:ext cx="5892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accent2">
                    <a:lumMod val="75000"/>
                  </a:schemeClr>
                </a:solidFill>
                <a:latin typeface="Raleway" pitchFamily="2" charset="0"/>
              </a:rPr>
              <a:t>Optimal policies are largely a myth… we want to find high quality policies that are robust, flexible and transparent which are easy to develop and implement.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30343A-9225-E095-A790-07D953FA9969}"/>
                  </a:ext>
                </a:extLst>
              </p:cNvPr>
              <p:cNvSpPr txBox="1"/>
              <p:nvPr/>
            </p:nvSpPr>
            <p:spPr>
              <a:xfrm>
                <a:off x="7735253" y="453186"/>
                <a:ext cx="337721" cy="54993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</m:m>
                                    </m:e>
                                  </m:mr>
                                  <m:mr>
                                    <m:e/>
                                  </m:mr>
                                </m:m>
                              </m:e>
                            </m:mr>
                            <m:mr>
                              <m:e/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 smtClean="0">
                                        <a:solidFill>
                                          <a:schemeClr val="accent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/>
                                        </m:mr>
                                        <m:mr>
                                          <m:e/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US" i="1" smtClean="0">
                                                    <a:solidFill>
                                                      <a:schemeClr val="accent2">
                                                        <a:lumMod val="75000"/>
                                                      </a:schemeClr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/>
                                              </m:mr>
                                              <m:mr>
                                                <m:e/>
                                              </m:mr>
                                              <m:mr>
                                                <m:e>
                                                  <m:m>
                                                    <m:mPr>
                                                      <m:mcs>
                                                        <m:mc>
                                                          <m:mcPr>
                                                            <m:count m:val="1"/>
                                                            <m:mcJc m:val="center"/>
                                                          </m:mcPr>
                                                        </m:mc>
                                                      </m:mcs>
                                                      <m:ctrlPr>
                                                        <a:rPr lang="en-US" i="1" smtClean="0">
                                                          <a:solidFill>
                                                            <a:schemeClr val="accent2">
                                                              <a:lumMod val="75000"/>
                                                            </a:schemeClr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mPr>
                                                    <m:mr>
                                                      <m:e/>
                                                    </m:mr>
                                                    <m:mr>
                                                      <m:e/>
                                                    </m:mr>
                                                    <m:mr>
                                                      <m:e>
                                                        <m:m>
                                                          <m:mPr>
                                                            <m:mcs>
                                                              <m:mc>
                                                                <m:mcPr>
                                                                  <m:count m:val="1"/>
                                                                  <m:mcJc m:val="center"/>
                                                                </m:mcPr>
                                                              </m:mc>
                                                            </m:mcs>
                                                            <m:ctrlPr>
                                                              <a:rPr lang="en-US" i="1" smtClean="0">
                                                                <a:solidFill>
                                                                  <a:schemeClr val="accent2">
                                                                    <a:lumMod val="75000"/>
                                                                  </a:schemeClr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mPr>
                                                          <m:mr>
                                                            <m:e/>
                                                          </m:mr>
                                                          <m:mr>
                                                            <m:e/>
                                                          </m:mr>
                                                          <m:mr>
                                                            <m:e>
                                                              <m:m>
                                                                <m:mPr>
                                                                  <m:mcs>
                                                                    <m:mc>
                                                                      <m:mcPr>
                                                                        <m:count m:val="1"/>
                                                                        <m:mcJc m:val="center"/>
                                                                      </m:mcPr>
                                                                    </m:mc>
                                                                  </m:mcs>
                                                                  <m:ctrlPr>
                                                                    <a:rPr lang="en-US" i="1" smtClean="0">
                                                                      <a:solidFill>
                                                                        <a:schemeClr val="accent2">
                                                                          <a:lumMod val="75000"/>
                                                                        </a:schemeClr>
                                                                      </a:solidFill>
                                                                      <a:latin typeface="Cambria Math" panose="02040503050406030204" pitchFamily="18" charset="0"/>
                                                                    </a:rPr>
                                                                  </m:ctrlPr>
                                                                </m:mPr>
                                                                <m:mr>
                                                                  <m:e/>
                                                                </m:mr>
                                                                <m:mr>
                                                                  <m:e/>
                                                                </m:mr>
                                                                <m:mr>
                                                                  <m:e>
                                                                    <m:m>
                                                                      <m:mPr>
                                                                        <m:mcs>
                                                                          <m:mc>
                                                                            <m:mcPr>
                                                                              <m:count m:val="1"/>
                                                                              <m:mcJc m:val="center"/>
                                                                            </m:mcPr>
                                                                          </m:mc>
                                                                        </m:mcs>
                                                                        <m:ctrlPr>
                                                                          <a:rPr lang="en-US" i="1" smtClean="0">
                                                                            <a:solidFill>
                                                                              <a:schemeClr val="accent2">
                                                                                <a:lumMod val="75000"/>
                                                                              </a:schemeClr>
                                                                            </a:solidFill>
                                                                            <a:latin typeface="Cambria Math" panose="02040503050406030204" pitchFamily="18" charset="0"/>
                                                                          </a:rPr>
                                                                        </m:ctrlPr>
                                                                      </m:mPr>
                                                                      <m:mr>
                                                                        <m:e/>
                                                                      </m:mr>
                                                                      <m:mr>
                                                                        <m:e/>
                                                                      </m:mr>
                                                                      <m:mr>
                                                                        <m:e>
                                                                          <m:m>
                                                                            <m:mPr>
                                                                              <m:mcs>
                                                                                <m:mc>
                                                                                  <m:mcPr>
                                                                                    <m:count m:val="1"/>
                                                                                    <m:mcJc m:val="center"/>
                                                                                  </m:mcPr>
                                                                                </m:mc>
                                                                              </m:mcs>
                                                                              <m:ctrlPr>
                                                                                <a:rPr lang="en-US" i="1" smtClean="0">
                                                                                  <a:solidFill>
                                                                                    <a:schemeClr val="accent2">
                                                                                      <a:lumMod val="75000"/>
                                                                                    </a:schemeClr>
                                                                                  </a:solidFill>
                                                                                  <a:latin typeface="Cambria Math" panose="02040503050406030204" pitchFamily="18" charset="0"/>
                                                                                </a:rPr>
                                                                              </m:ctrlPr>
                                                                            </m:mPr>
                                                                            <m:mr>
                                                                              <m:e/>
                                                                            </m:mr>
                                                                            <m:mr>
                                                                              <m:e/>
                                                                            </m:mr>
                                                                            <m:mr>
                                                                              <m:e>
                                                                                <m:m>
                                                                                  <m:mPr>
                                                                                    <m:mcs>
                                                                                      <m:mc>
                                                                                        <m:mcPr>
                                                                                          <m:count m:val="1"/>
                                                                                          <m:mcJc m:val="center"/>
                                                                                        </m:mcPr>
                                                                                      </m:mc>
                                                                                    </m:mcs>
                                                                                    <m:ctrlPr>
                                                                                      <a:rPr lang="en-US" i="1" smtClean="0">
                                                                                        <a:solidFill>
                                                                                          <a:schemeClr val="accent2">
                                                                                            <a:lumMod val="75000"/>
                                                                                          </a:schemeClr>
                                                                                        </a:solidFill>
                                                                                        <a:latin typeface="Cambria Math" panose="02040503050406030204" pitchFamily="18" charset="0"/>
                                                                                      </a:rPr>
                                                                                    </m:ctrlPr>
                                                                                  </m:mPr>
                                                                                  <m:mr>
                                                                                    <m:e/>
                                                                                  </m:mr>
                                                                                  <m:mr>
                                                                                    <m:e/>
                                                                                  </m:mr>
                                                                                  <m:mr>
                                                                                    <m:e>
                                                                                      <m:m>
                                                                                        <m:mPr>
                                                                                          <m:mcs>
                                                                                            <m:mc>
                                                                                              <m:mcPr>
                                                                                                <m:count m:val="1"/>
                                                                                                <m:mcJc m:val="center"/>
                                                                                              </m:mcPr>
                                                                                            </m:mc>
                                                                                          </m:mcs>
                                                                                          <m:ctrlPr>
                                                                                            <a:rPr lang="en-US" i="1" smtClean="0">
                                                                                              <a:solidFill>
                                                                                                <a:schemeClr val="accent2">
                                                                                                  <a:lumMod val="75000"/>
                                                                                                </a:schemeClr>
                                                                                              </a:solidFill>
                                                                                              <a:latin typeface="Cambria Math" panose="02040503050406030204" pitchFamily="18" charset="0"/>
                                                                                            </a:rPr>
                                                                                          </m:ctrlPr>
                                                                                        </m:mPr>
                                                                                        <m:mr>
                                                                                          <m:e/>
                                                                                        </m:mr>
                                                                                        <m:mr>
                                                                                          <m:e/>
                                                                                        </m:mr>
                                                                                        <m:mr>
                                                                                          <m:e/>
                                                                                        </m:mr>
                                                                                      </m:m>
                                                                                    </m:e>
                                                                                  </m:mr>
                                                                                </m:m>
                                                                              </m:e>
                                                                            </m:mr>
                                                                          </m:m>
                                                                        </m:e>
                                                                      </m:mr>
                                                                    </m:m>
                                                                  </m:e>
                                                                </m:mr>
                                                              </m:m>
                                                            </m:e>
                                                          </m:mr>
                                                        </m:m>
                                                      </m:e>
                                                    </m:mr>
                                                  </m:m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30343A-9225-E095-A790-07D953FA9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253" y="453186"/>
                <a:ext cx="337721" cy="54993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B77668D7-4230-745B-CD91-3A39BE7F4219}"/>
                  </a:ext>
                </a:extLst>
              </p:cNvPr>
              <p:cNvSpPr txBox="1"/>
              <p:nvPr/>
            </p:nvSpPr>
            <p:spPr bwMode="auto">
              <a:xfrm>
                <a:off x="34143" y="2637711"/>
                <a:ext cx="7329953" cy="1047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n-US" sz="22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2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B77668D7-4230-745B-CD91-3A39BE7F4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43" y="2637711"/>
                <a:ext cx="7329953" cy="1047346"/>
              </a:xfrm>
              <a:prstGeom prst="rect">
                <a:avLst/>
              </a:prstGeom>
              <a:blipFill>
                <a:blip r:embed="rId6"/>
                <a:stretch>
                  <a:fillRect b="-52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DB08EB84-D0A8-CB36-3E24-2B9AED89B13D}"/>
              </a:ext>
            </a:extLst>
          </p:cNvPr>
          <p:cNvGrpSpPr/>
          <p:nvPr/>
        </p:nvGrpSpPr>
        <p:grpSpPr>
          <a:xfrm>
            <a:off x="3715412" y="2706935"/>
            <a:ext cx="3914113" cy="1056648"/>
            <a:chOff x="3563012" y="2687885"/>
            <a:chExt cx="3914113" cy="1056648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95553D9-287D-B876-93D6-482C9FF7B0DB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0" y="3207957"/>
              <a:ext cx="695325" cy="0"/>
            </a:xfrm>
            <a:prstGeom prst="straightConnector1">
              <a:avLst/>
            </a:prstGeom>
            <a:ln w="19050">
              <a:solidFill>
                <a:schemeClr val="accent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2FDEB4A-4EA0-7501-18AB-431279393E14}"/>
                </a:ext>
              </a:extLst>
            </p:cNvPr>
            <p:cNvSpPr/>
            <p:nvPr/>
          </p:nvSpPr>
          <p:spPr>
            <a:xfrm>
              <a:off x="3563012" y="2687885"/>
              <a:ext cx="3206647" cy="1056648"/>
            </a:xfrm>
            <a:prstGeom prst="ellipse">
              <a:avLst/>
            </a:pr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4768279"/>
      </p:ext>
    </p:extLst>
  </p:cSld>
  <p:clrMapOvr>
    <a:masterClrMapping/>
  </p:clrMapOvr>
  <p:transition spd="slow">
    <p:wipe dir="r"/>
  </p:transition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13190-11A2-2F3B-6CCE-B43717F2B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3" name="Rectangle 3">
            <a:extLst>
              <a:ext uri="{FF2B5EF4-FFF2-40B4-BE49-F238E27FC236}">
                <a16:creationId xmlns:a16="http://schemas.microsoft.com/office/drawing/2014/main" id="{74ADD7DD-5EC4-47A9-A568-F44F3BDA6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907" y="1092347"/>
            <a:ext cx="5827269" cy="4401600"/>
          </a:xfrm>
        </p:spPr>
        <p:txBody>
          <a:bodyPr/>
          <a:lstStyle/>
          <a:p>
            <a:pPr marL="86360" indent="0">
              <a:lnSpc>
                <a:spcPct val="90000"/>
              </a:lnSpc>
              <a:buNone/>
            </a:pPr>
            <a:r>
              <a:rPr lang="en-US" dirty="0"/>
              <a:t>Cumulative reward</a:t>
            </a:r>
          </a:p>
          <a:p>
            <a:pPr marL="801688" lvl="1">
              <a:lnSpc>
                <a:spcPct val="90000"/>
              </a:lnSpc>
            </a:pPr>
            <a:r>
              <a:rPr lang="en-US" sz="2000" dirty="0"/>
              <a:t>Also known as “online learning”</a:t>
            </a:r>
          </a:p>
          <a:p>
            <a:pPr marL="801688" lvl="1">
              <a:lnSpc>
                <a:spcPct val="90000"/>
              </a:lnSpc>
            </a:pPr>
            <a:endParaRPr lang="en-US" sz="2000" dirty="0"/>
          </a:p>
          <a:p>
            <a:pPr marL="801688" lvl="1">
              <a:lnSpc>
                <a:spcPct val="90000"/>
              </a:lnSpc>
            </a:pPr>
            <a:r>
              <a:rPr lang="en-US" sz="2000" dirty="0"/>
              <a:t>Examples:</a:t>
            </a:r>
          </a:p>
          <a:p>
            <a:pPr marL="1084263" lvl="2">
              <a:lnSpc>
                <a:spcPct val="90000"/>
              </a:lnSpc>
            </a:pPr>
            <a:r>
              <a:rPr lang="en-US" sz="1800" dirty="0"/>
              <a:t>Trying different medications on a patient</a:t>
            </a:r>
          </a:p>
          <a:p>
            <a:pPr marL="1084263" lvl="2">
              <a:lnSpc>
                <a:spcPct val="90000"/>
              </a:lnSpc>
            </a:pPr>
            <a:r>
              <a:rPr lang="en-US" sz="1800" dirty="0"/>
              <a:t>Testing stock trading strategies</a:t>
            </a:r>
          </a:p>
          <a:p>
            <a:pPr marL="1084263" lvl="2">
              <a:lnSpc>
                <a:spcPct val="90000"/>
              </a:lnSpc>
            </a:pPr>
            <a:r>
              <a:rPr lang="en-US" sz="1800" dirty="0"/>
              <a:t>Pricing a product and observing revenue</a:t>
            </a:r>
          </a:p>
          <a:p>
            <a:pPr marL="1084263" lvl="2">
              <a:lnSpc>
                <a:spcPct val="90000"/>
              </a:lnSpc>
            </a:pPr>
            <a:r>
              <a:rPr lang="en-US" sz="1800" dirty="0"/>
              <a:t>A/B testing of webpage designs</a:t>
            </a:r>
          </a:p>
          <a:p>
            <a:pPr marL="1084263" lvl="2">
              <a:lnSpc>
                <a:spcPct val="90000"/>
              </a:lnSpc>
            </a:pPr>
            <a:endParaRPr lang="en-US" sz="1800" dirty="0"/>
          </a:p>
          <a:p>
            <a:pPr marL="627063" lvl="1">
              <a:lnSpc>
                <a:spcPct val="90000"/>
              </a:lnSpc>
            </a:pPr>
            <a:endParaRPr lang="en-US" sz="2200" dirty="0"/>
          </a:p>
          <a:p>
            <a:pPr marL="627063" lvl="1">
              <a:lnSpc>
                <a:spcPct val="90000"/>
              </a:lnSpc>
            </a:pPr>
            <a:r>
              <a:rPr lang="en-US" sz="2200" dirty="0"/>
              <a:t>How we write it:</a:t>
            </a:r>
          </a:p>
          <a:p>
            <a:pPr lvl="2">
              <a:lnSpc>
                <a:spcPct val="90000"/>
              </a:lnSpc>
            </a:pPr>
            <a:endParaRPr lang="en-US" dirty="0"/>
          </a:p>
          <a:p>
            <a:pPr lvl="2">
              <a:lnSpc>
                <a:spcPct val="90000"/>
              </a:lnSpc>
            </a:pPr>
            <a:endParaRPr lang="en-US" sz="1400" dirty="0"/>
          </a:p>
          <a:p>
            <a:pPr lvl="2">
              <a:lnSpc>
                <a:spcPct val="90000"/>
              </a:lnSpc>
            </a:pPr>
            <a:endParaRPr lang="en-US" sz="1400" dirty="0"/>
          </a:p>
          <a:p>
            <a:pPr lvl="2">
              <a:lnSpc>
                <a:spcPct val="90000"/>
              </a:lnSpc>
            </a:pPr>
            <a:endParaRPr lang="en-US" sz="1400" dirty="0"/>
          </a:p>
          <a:p>
            <a:pPr marL="1028700" lvl="2" indent="0">
              <a:lnSpc>
                <a:spcPct val="90000"/>
              </a:lnSpc>
              <a:buNone/>
            </a:pPr>
            <a:r>
              <a:rPr lang="en-US" sz="1800" i="1" dirty="0"/>
              <a:t>.</a:t>
            </a:r>
            <a:endParaRPr lang="en-US" sz="1800" dirty="0"/>
          </a:p>
          <a:p>
            <a:pPr lvl="2">
              <a:lnSpc>
                <a:spcPct val="90000"/>
              </a:lnSpc>
            </a:pPr>
            <a:endParaRPr lang="en-US" sz="1800" dirty="0"/>
          </a:p>
          <a:p>
            <a:pPr lvl="2">
              <a:lnSpc>
                <a:spcPct val="90000"/>
              </a:lnSpc>
            </a:pPr>
            <a:endParaRPr lang="en-US" sz="1200" dirty="0"/>
          </a:p>
          <a:p>
            <a:pPr lvl="2">
              <a:lnSpc>
                <a:spcPct val="90000"/>
              </a:lnSpc>
            </a:pPr>
            <a:endParaRPr lang="en-US" sz="11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marL="457200" lvl="1" indent="0">
              <a:lnSpc>
                <a:spcPct val="90000"/>
              </a:lnSpc>
              <a:buNone/>
            </a:pPr>
            <a:endParaRPr lang="en-US" sz="1600" dirty="0"/>
          </a:p>
          <a:p>
            <a:pPr marL="457200" lvl="1" indent="0">
              <a:lnSpc>
                <a:spcPct val="90000"/>
              </a:lnSpc>
              <a:buNone/>
            </a:pP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8804" name="Object 4">
                <a:extLst>
                  <a:ext uri="{FF2B5EF4-FFF2-40B4-BE49-F238E27FC236}">
                    <a16:creationId xmlns:a16="http://schemas.microsoft.com/office/drawing/2014/main" id="{8F2CD26C-DD08-4098-0395-EB3EED3CE0A6}"/>
                  </a:ext>
                </a:extLst>
              </p:cNvPr>
              <p:cNvSpPr txBox="1"/>
              <p:nvPr/>
            </p:nvSpPr>
            <p:spPr bwMode="auto">
              <a:xfrm>
                <a:off x="183952" y="4725780"/>
                <a:ext cx="5255194" cy="831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)=</m:t>
                          </m:r>
                        </m:fName>
                        <m:e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/>
                                        <m:sup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sup>
                                      </m:sSubSup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88804" name="Object 4">
                <a:extLst>
                  <a:ext uri="{FF2B5EF4-FFF2-40B4-BE49-F238E27FC236}">
                    <a16:creationId xmlns:a16="http://schemas.microsoft.com/office/drawing/2014/main" id="{8F2CD26C-DD08-4098-0395-EB3EED3CE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952" y="4725780"/>
                <a:ext cx="5255194" cy="831850"/>
              </a:xfrm>
              <a:prstGeom prst="rect">
                <a:avLst/>
              </a:prstGeom>
              <a:blipFill>
                <a:blip r:embed="rId3"/>
                <a:stretch>
                  <a:fillRect r="-12065" b="-226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F7B5B012-84F8-9328-28AB-EEF669CDD2B5}"/>
                  </a:ext>
                </a:extLst>
              </p:cNvPr>
              <p:cNvSpPr txBox="1"/>
              <p:nvPr/>
            </p:nvSpPr>
            <p:spPr bwMode="auto">
              <a:xfrm>
                <a:off x="6394453" y="4981451"/>
                <a:ext cx="5426757" cy="560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)=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</m:acc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begChr m:val="{"/>
                              <m:endChr m:val="}"/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p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F7B5B012-84F8-9328-28AB-EEF669CDD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4453" y="4981451"/>
                <a:ext cx="5426757" cy="560387"/>
              </a:xfrm>
              <a:prstGeom prst="rect">
                <a:avLst/>
              </a:prstGeom>
              <a:blipFill>
                <a:blip r:embed="rId4"/>
                <a:stretch>
                  <a:fillRect t="-4348" r="-50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26B3753E-F6A6-5573-5DE1-329CD9E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Modeling: Objective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902B38-8207-C43A-3400-6D39797392F9}"/>
              </a:ext>
            </a:extLst>
          </p:cNvPr>
          <p:cNvSpPr txBox="1">
            <a:spLocks noChangeArrowheads="1"/>
          </p:cNvSpPr>
          <p:nvPr/>
        </p:nvSpPr>
        <p:spPr>
          <a:xfrm>
            <a:off x="6061500" y="1103343"/>
            <a:ext cx="5827269" cy="3453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lnSpc>
                <a:spcPct val="90000"/>
              </a:lnSpc>
              <a:buFont typeface="Raleway"/>
              <a:buNone/>
            </a:pPr>
            <a:r>
              <a:rPr lang="en-US" dirty="0"/>
              <a:t>Final reward</a:t>
            </a:r>
          </a:p>
          <a:p>
            <a:pPr marL="801688" lvl="1">
              <a:lnSpc>
                <a:spcPct val="90000"/>
              </a:lnSpc>
            </a:pPr>
            <a:r>
              <a:rPr lang="en-US" sz="2000" dirty="0"/>
              <a:t>Also known as “offline learning”</a:t>
            </a:r>
          </a:p>
          <a:p>
            <a:pPr marL="801688" lvl="1">
              <a:lnSpc>
                <a:spcPct val="90000"/>
              </a:lnSpc>
            </a:pPr>
            <a:endParaRPr lang="en-US" sz="2000" dirty="0"/>
          </a:p>
          <a:p>
            <a:pPr marL="801688" lvl="1">
              <a:lnSpc>
                <a:spcPct val="90000"/>
              </a:lnSpc>
            </a:pPr>
            <a:r>
              <a:rPr lang="en-US" sz="2000" dirty="0"/>
              <a:t>Examples:</a:t>
            </a:r>
          </a:p>
          <a:p>
            <a:pPr marL="1084263" lvl="2">
              <a:lnSpc>
                <a:spcPct val="90000"/>
              </a:lnSpc>
            </a:pPr>
            <a:r>
              <a:rPr lang="en-US" sz="1800" dirty="0"/>
              <a:t>Testing a new catalyst in a lab</a:t>
            </a:r>
          </a:p>
          <a:p>
            <a:pPr marL="1084263" lvl="2">
              <a:lnSpc>
                <a:spcPct val="90000"/>
              </a:lnSpc>
            </a:pPr>
            <a:r>
              <a:rPr lang="en-US" sz="1800" dirty="0"/>
              <a:t>Simulating different plant layouts</a:t>
            </a:r>
          </a:p>
          <a:p>
            <a:pPr marL="1084263" lvl="2">
              <a:lnSpc>
                <a:spcPct val="90000"/>
              </a:lnSpc>
            </a:pPr>
            <a:r>
              <a:rPr lang="en-US" sz="1800" dirty="0"/>
              <a:t>Trying different recipes in a test kitchen</a:t>
            </a:r>
          </a:p>
          <a:p>
            <a:pPr marL="1084263" lvl="2">
              <a:lnSpc>
                <a:spcPct val="90000"/>
              </a:lnSpc>
            </a:pPr>
            <a:r>
              <a:rPr lang="en-US" sz="1800" dirty="0"/>
              <a:t>Evaluating the performance of different search algorithms</a:t>
            </a:r>
          </a:p>
          <a:p>
            <a:pPr marL="627063" lvl="1">
              <a:lnSpc>
                <a:spcPct val="90000"/>
              </a:lnSpc>
            </a:pPr>
            <a:endParaRPr lang="en-US" sz="2200" dirty="0"/>
          </a:p>
          <a:p>
            <a:pPr marL="627063" lvl="1">
              <a:lnSpc>
                <a:spcPct val="90000"/>
              </a:lnSpc>
            </a:pPr>
            <a:r>
              <a:rPr lang="en-US" sz="2200" dirty="0"/>
              <a:t>How we write 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AA77E7-17BC-470F-B3AE-4DB5CAD17A2E}"/>
              </a:ext>
            </a:extLst>
          </p:cNvPr>
          <p:cNvSpPr txBox="1"/>
          <p:nvPr/>
        </p:nvSpPr>
        <p:spPr>
          <a:xfrm>
            <a:off x="6403978" y="5796699"/>
            <a:ext cx="5397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Raleway" pitchFamily="2" charset="0"/>
              </a:rPr>
              <a:t>See Chapter 7 of RLSO for more information.</a:t>
            </a:r>
          </a:p>
        </p:txBody>
      </p:sp>
    </p:spTree>
    <p:extLst>
      <p:ext uri="{BB962C8B-B14F-4D97-AF65-F5344CB8AC3E}">
        <p14:creationId xmlns:p14="http://schemas.microsoft.com/office/powerpoint/2010/main" val="1819719297"/>
      </p:ext>
    </p:extLst>
  </p:cSld>
  <p:clrMapOvr>
    <a:masterClrMapping/>
  </p:clrMapOvr>
  <p:transition spd="slow">
    <p:wipe dir="d"/>
  </p:transition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4F035-A032-2D68-83E1-A71355FF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Modeling: 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EF68270E-0436-7ADA-B9BB-9920E665DD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636" y="1011264"/>
                <a:ext cx="10363200" cy="5068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7084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240"/>
                  <a:buFont typeface="Raleway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1pPr>
                <a:lvl2pPr marL="914400" marR="0" lvl="1" indent="-342900" algn="l" rtl="0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4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2pPr>
                <a:lvl3pPr marL="1371600" marR="0" lvl="2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3pPr>
                <a:lvl4pPr marL="1828800" marR="0" lvl="3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–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4pPr>
                <a:lvl5pPr marL="2286000" marR="0" lvl="4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5pPr>
                <a:lvl6pPr marL="2743200" marR="0" lvl="5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6pPr>
                <a:lvl7pPr marL="3200400" marR="0" lvl="6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7pPr>
                <a:lvl8pPr marL="3657600" marR="0" lvl="7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8pPr>
                <a:lvl9pPr marL="4114800" marR="0" lvl="8" indent="-3429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aleway"/>
                  <a:buChar char="»"/>
                  <a:defRPr sz="2000" b="0" i="0" u="none" strike="noStrike" cap="none">
                    <a:solidFill>
                      <a:schemeClr val="dk1"/>
                    </a:solidFill>
                    <a:latin typeface="Raleway"/>
                    <a:ea typeface="Raleway"/>
                    <a:cs typeface="Raleway"/>
                    <a:sym typeface="Raleway"/>
                  </a:defRPr>
                </a:lvl9pPr>
              </a:lstStyle>
              <a:p>
                <a:pPr marL="86360" indent="0">
                  <a:buFont typeface="Raleway"/>
                  <a:buNone/>
                </a:pPr>
                <a:r>
                  <a:rPr lang="en-US" dirty="0"/>
                  <a:t>Handling risk:</a:t>
                </a:r>
              </a:p>
              <a:p>
                <a:r>
                  <a:rPr lang="en-US" sz="2000" dirty="0"/>
                  <a:t>Base objective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r>
                                      <a:rPr lang="en-US" sz="200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</m:e>
                        </m:nary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lvl="1"/>
                <a:r>
                  <a:rPr lang="en-US" sz="1800" dirty="0"/>
                  <a:t>This captures how well any performance metrics work on average:</a:t>
                </a:r>
              </a:p>
              <a:p>
                <a:pPr lvl="2"/>
                <a:r>
                  <a:rPr lang="en-US" sz="1600" dirty="0"/>
                  <a:t>Cost per unit</a:t>
                </a:r>
              </a:p>
              <a:p>
                <a:pPr lvl="2"/>
                <a:r>
                  <a:rPr lang="en-US" sz="1600" dirty="0"/>
                  <a:t>Drug success rate</a:t>
                </a:r>
              </a:p>
              <a:p>
                <a:pPr lvl="2"/>
                <a:r>
                  <a:rPr lang="en-US" sz="1600" dirty="0"/>
                  <a:t>Total profits</a:t>
                </a:r>
              </a:p>
              <a:p>
                <a:r>
                  <a:rPr lang="en-US" sz="2000" dirty="0"/>
                  <a:t>Risk events – (in English)</a:t>
                </a:r>
              </a:p>
              <a:p>
                <a:pPr lvl="1"/>
                <a:r>
                  <a:rPr lang="en-US" sz="1800" dirty="0"/>
                  <a:t>These are types of events that are not adequately captured in the base objective:</a:t>
                </a:r>
              </a:p>
              <a:p>
                <a:pPr lvl="2"/>
                <a:r>
                  <a:rPr lang="en-US" sz="1600" dirty="0"/>
                  <a:t>Fire requiring a plant to be shut down.</a:t>
                </a:r>
              </a:p>
              <a:p>
                <a:pPr lvl="2"/>
                <a:r>
                  <a:rPr lang="en-US" sz="1600" dirty="0"/>
                  <a:t>Death of a patient.</a:t>
                </a:r>
              </a:p>
              <a:p>
                <a:pPr lvl="2"/>
                <a:r>
                  <a:rPr lang="en-US" sz="1600" dirty="0"/>
                  <a:t>Profits falling outside of expectations set by management.</a:t>
                </a:r>
              </a:p>
              <a:p>
                <a:r>
                  <a:rPr lang="en-US" sz="2000" dirty="0"/>
                  <a:t>Risk metrics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)),...,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))|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𝑟𝑖𝑠𝑘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lvl="1"/>
                <a:r>
                  <a:rPr lang="en-US" sz="1800" dirty="0"/>
                  <a:t>These quantify risk events in units appropriate to the event.</a:t>
                </a:r>
              </a:p>
              <a:p>
                <a:pPr lvl="1"/>
                <a:r>
                  <a:rPr lang="en-US" sz="1800" dirty="0"/>
                  <a:t>Risk metrics can be introduced as objectives (to be minimized or maximized), limits or targets.</a:t>
                </a:r>
              </a:p>
              <a:p>
                <a:pPr lvl="1"/>
                <a:endParaRPr lang="en-US" sz="1800" dirty="0"/>
              </a:p>
            </p:txBody>
          </p:sp>
        </mc:Choice>
        <mc:Fallback xmlns="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EF68270E-0436-7ADA-B9BB-9920E665D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36" y="1011264"/>
                <a:ext cx="10363200" cy="5068238"/>
              </a:xfrm>
              <a:prstGeom prst="rect">
                <a:avLst/>
              </a:prstGeom>
              <a:blipFill>
                <a:blip r:embed="rId2"/>
                <a:stretch>
                  <a:fillRect l="-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180011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3C22E-3CF0-0584-949B-30AB78544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3" name="Rectangle 3">
            <a:extLst>
              <a:ext uri="{FF2B5EF4-FFF2-40B4-BE49-F238E27FC236}">
                <a16:creationId xmlns:a16="http://schemas.microsoft.com/office/drawing/2014/main" id="{37CD2EA0-AED1-F8E0-6AC8-2DE0F9560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0092" y="1054639"/>
            <a:ext cx="10363200" cy="4401600"/>
          </a:xfrm>
        </p:spPr>
        <p:txBody>
          <a:bodyPr/>
          <a:lstStyle/>
          <a:p>
            <a:pPr marL="86360" indent="0">
              <a:lnSpc>
                <a:spcPct val="90000"/>
              </a:lnSpc>
              <a:buNone/>
            </a:pPr>
            <a:r>
              <a:rPr lang="en-US" dirty="0"/>
              <a:t>Handling risk: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 the objective function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marL="571500" lvl="1" indent="0">
              <a:lnSpc>
                <a:spcPct val="90000"/>
              </a:lnSpc>
              <a:buNone/>
            </a:pP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As a constraint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lvl="2">
              <a:lnSpc>
                <a:spcPct val="90000"/>
              </a:lnSpc>
            </a:pPr>
            <a:endParaRPr lang="en-US" dirty="0"/>
          </a:p>
          <a:p>
            <a:pPr marL="1028700" lvl="2" indent="0">
              <a:lnSpc>
                <a:spcPct val="90000"/>
              </a:lnSpc>
              <a:buNone/>
            </a:pPr>
            <a:endParaRPr lang="en-US" dirty="0"/>
          </a:p>
          <a:p>
            <a:pPr marL="1028700" lvl="2" indent="0">
              <a:lnSpc>
                <a:spcPct val="90000"/>
              </a:lnSpc>
              <a:buNone/>
            </a:pPr>
            <a:r>
              <a:rPr lang="en-US" dirty="0"/>
              <a:t>subject to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 marL="457200" lvl="1" indent="0">
              <a:lnSpc>
                <a:spcPct val="90000"/>
              </a:lnSpc>
              <a:buNone/>
            </a:pPr>
            <a:endParaRPr lang="en-US" sz="1600" dirty="0"/>
          </a:p>
          <a:p>
            <a:pPr marL="457200" lvl="1" indent="0">
              <a:lnSpc>
                <a:spcPct val="90000"/>
              </a:lnSpc>
              <a:buNone/>
            </a:pP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AEC7DB6D-26F9-4D74-1FC8-6F2BD5CE10C1}"/>
                  </a:ext>
                </a:extLst>
              </p:cNvPr>
              <p:cNvSpPr txBox="1"/>
              <p:nvPr/>
            </p:nvSpPr>
            <p:spPr bwMode="auto">
              <a:xfrm>
                <a:off x="2030720" y="1988898"/>
                <a:ext cx="8873268" cy="10574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/>
                                        <m:sup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sup>
                                      </m:sSubSup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𝜂𝜌</m:t>
                          </m:r>
                        </m:e>
                      </m:func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b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)),...,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b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))|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AEC7DB6D-26F9-4D74-1FC8-6F2BD5CE1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0720" y="1988898"/>
                <a:ext cx="8873268" cy="10574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DD45B781-D8EF-A433-E17B-A45694D6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Modeling: Objective function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F67588-B017-BF3E-D527-3543EF0EAC0B}"/>
              </a:ext>
            </a:extLst>
          </p:cNvPr>
          <p:cNvGrpSpPr/>
          <p:nvPr/>
        </p:nvGrpSpPr>
        <p:grpSpPr>
          <a:xfrm>
            <a:off x="3462663" y="2568943"/>
            <a:ext cx="1945982" cy="722303"/>
            <a:chOff x="4185111" y="5124765"/>
            <a:chExt cx="1945982" cy="7223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A083073-59D2-F2F0-9D29-51D44D6EA406}"/>
                    </a:ext>
                  </a:extLst>
                </p:cNvPr>
                <p:cNvSpPr txBox="1"/>
                <p:nvPr/>
              </p:nvSpPr>
              <p:spPr>
                <a:xfrm rot="16200000">
                  <a:off x="4896908" y="4412968"/>
                  <a:ext cx="522387" cy="19459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1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/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A083073-59D2-F2F0-9D29-51D44D6EA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896908" y="4412968"/>
                  <a:ext cx="522387" cy="194598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CF2C2A-5B9E-EB6A-4A1B-3DAC429D169E}"/>
                </a:ext>
              </a:extLst>
            </p:cNvPr>
            <p:cNvSpPr txBox="1"/>
            <p:nvPr/>
          </p:nvSpPr>
          <p:spPr>
            <a:xfrm>
              <a:off x="4483076" y="5539291"/>
              <a:ext cx="1350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Base objective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ABCD652-9AA7-A6E1-1080-9A5A84CD61B7}"/>
              </a:ext>
            </a:extLst>
          </p:cNvPr>
          <p:cNvGrpSpPr/>
          <p:nvPr/>
        </p:nvGrpSpPr>
        <p:grpSpPr>
          <a:xfrm>
            <a:off x="5998832" y="2537852"/>
            <a:ext cx="4376904" cy="735453"/>
            <a:chOff x="7031822" y="5119291"/>
            <a:chExt cx="4376904" cy="7354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E9FEB7A-2AB3-756A-96F6-24862EC44F5D}"/>
                    </a:ext>
                  </a:extLst>
                </p:cNvPr>
                <p:cNvSpPr txBox="1"/>
                <p:nvPr/>
              </p:nvSpPr>
              <p:spPr>
                <a:xfrm rot="16200000">
                  <a:off x="8959080" y="3192033"/>
                  <a:ext cx="522387" cy="437690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{"/>
                            <m:endChr m:val="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/>
                                          </m:mr>
                                          <m:mr>
                                            <m:e/>
                                          </m:mr>
                                          <m:m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1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en-US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/>
                                                </m:mr>
                                                <m:mr>
                                                  <m:e>
                                                    <m:m>
                                                      <m:mPr>
                                                        <m:mcs>
                                                          <m:mc>
                                                            <m:mcPr>
                                                              <m:count m:val="1"/>
                                                              <m:mcJc m:val="center"/>
                                                            </m:mcPr>
                                                          </m:mc>
                                                        </m:mcs>
                                                        <m:ctrlPr>
                                                          <a:rPr lang="en-US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mPr>
                                                      <m:mr>
                                                        <m:e/>
                                                      </m:mr>
                                                      <m:mr>
                                                        <m:e/>
                                                      </m:mr>
                                                      <m:mr>
                                                        <m:e>
                                                          <m:m>
                                                            <m:mPr>
                                                              <m:mcs>
                                                                <m:mc>
                                                                  <m:mcPr>
                                                                    <m:count m:val="1"/>
                                                                    <m:mcJc m:val="center"/>
                                                                  </m:mcPr>
                                                                </m:mc>
                                                              </m:mcs>
                                                              <m:ctrlPr>
                                                                <a:rPr lang="en-US" i="1" smtClean="0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</m:ctrlPr>
                                                            </m:mPr>
                                                            <m:mr>
                                                              <m:e/>
                                                            </m:mr>
                                                            <m:mr>
                                                              <m:e/>
                                                            </m:mr>
                                                            <m:mr>
                                                              <m:e>
                                                                <m:m>
                                                                  <m:mPr>
                                                                    <m:mcs>
                                                                      <m:mc>
                                                                        <m:mcPr>
                                                                          <m:count m:val="1"/>
                                                                          <m:mcJc m:val="center"/>
                                                                        </m:mcPr>
                                                                      </m:mc>
                                                                    </m:mcs>
                                                                    <m:ctrlPr>
                                                                      <a:rPr lang="en-US" i="1" smtClean="0">
                                                                        <a:latin typeface="Cambria Math" panose="02040503050406030204" pitchFamily="18" charset="0"/>
                                                                      </a:rPr>
                                                                    </m:ctrlPr>
                                                                  </m:mPr>
                                                                  <m:mr>
                                                                    <m:e/>
                                                                  </m:mr>
                                                                  <m:mr>
                                                                    <m:e/>
                                                                  </m:mr>
                                                                  <m:mr>
                                                                    <m:e>
                                                                      <m:m>
                                                                        <m:mPr>
                                                                          <m:mcs>
                                                                            <m:mc>
                                                                              <m:mcPr>
                                                                                <m:count m:val="1"/>
                                                                                <m:mcJc m:val="center"/>
                                                                              </m:mcPr>
                                                                            </m:mc>
                                                                          </m:mcs>
                                                                          <m:ctrlPr>
                                                                            <a:rPr lang="en-US" i="1" smtClean="0">
                                                                              <a:latin typeface="Cambria Math" panose="02040503050406030204" pitchFamily="18" charset="0"/>
                                                                            </a:rPr>
                                                                          </m:ctrlPr>
                                                                        </m:mPr>
                                                                        <m:mr>
                                                                          <m:e/>
                                                                        </m:mr>
                                                                        <m:mr>
                                                                          <m:e/>
                                                                        </m:mr>
                                                                        <m:mr>
                                                                          <m:e>
                                                                            <m:m>
                                                                              <m:mPr>
                                                                                <m:mcs>
                                                                                  <m:mc>
                                                                                    <m:mcPr>
                                                                                      <m:count m:val="1"/>
                                                                                      <m:mcJc m:val="center"/>
                                                                                    </m:mcPr>
                                                                                  </m:mc>
                                                                                </m:mcs>
                                                                                <m:ctrlPr>
                                                                                  <a:rPr lang="en-US" i="1" smtClean="0">
                                                                                    <a:latin typeface="Cambria Math" panose="02040503050406030204" pitchFamily="18" charset="0"/>
                                                                                  </a:rPr>
                                                                                </m:ctrlPr>
                                                                              </m:mPr>
                                                                              <m:mr>
                                                                                <m:e/>
                                                                              </m:mr>
                                                                              <m:mr>
                                                                                <m:e/>
                                                                              </m:mr>
                                                                              <m:mr>
                                                                                <m:e>
                                                                                  <m:m>
                                                                                    <m:mPr>
                                                                                      <m:mcs>
                                                                                        <m:mc>
                                                                                          <m:mcPr>
                                                                                            <m:count m:val="1"/>
                                                                                            <m:mcJc m:val="center"/>
                                                                                          </m:mcPr>
                                                                                        </m:mc>
                                                                                      </m:mcs>
                                                                                      <m:ctrlPr>
                                                                                        <a:rPr lang="en-US" i="1" smtClean="0">
                                                                                          <a:latin typeface="Cambria Math" panose="02040503050406030204" pitchFamily="18" charset="0"/>
                                                                                        </a:rPr>
                                                                                      </m:ctrlPr>
                                                                                    </m:mPr>
                                                                                    <m:mr>
                                                                                      <m:e/>
                                                                                    </m:mr>
                                                                                    <m:mr>
                                                                                      <m:e>
                                                                                        <m:m>
                                                                                          <m:mPr>
                                                                                            <m:mcs>
                                                                                              <m:mc>
                                                                                                <m:mcPr>
                                                                                                  <m:count m:val="1"/>
                                                                                                  <m:mcJc m:val="center"/>
                                                                                                </m:mcPr>
                                                                                              </m:mc>
                                                                                            </m:mcs>
                                                                                            <m:ctrlPr>
                                                                                              <a:rPr lang="en-US" i="1" smtClean="0">
                                                                                                <a:latin typeface="Cambria Math" panose="02040503050406030204" pitchFamily="18" charset="0"/>
                                                                                              </a:rPr>
                                                                                            </m:ctrlPr>
                                                                                          </m:mPr>
                                                                                          <m:mr>
                                                                                            <m:e/>
                                                                                          </m:mr>
                                                                                          <m:mr>
                                                                                            <m:e/>
                                                                                          </m:mr>
                                                                                        </m:m>
                                                                                      </m:e>
                                                                                    </m:mr>
                                                                                  </m:m>
                                                                                </m:e>
                                                                              </m:mr>
                                                                            </m:m>
                                                                          </m:e>
                                                                        </m:mr>
                                                                      </m:m>
                                                                    </m:e>
                                                                  </m:mr>
                                                                </m:m>
                                                              </m:e>
                                                            </m:mr>
                                                          </m:m>
                                                        </m:e>
                                                      </m:mr>
                                                    </m:m>
                                                  </m:e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2478DC8-2AA9-F721-03A5-78DDFF465F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8959080" y="3192033"/>
                  <a:ext cx="522387" cy="437690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9C670A7-9655-19FF-B541-18BDBCA70E51}"/>
                </a:ext>
              </a:extLst>
            </p:cNvPr>
            <p:cNvSpPr txBox="1"/>
            <p:nvPr/>
          </p:nvSpPr>
          <p:spPr>
            <a:xfrm>
              <a:off x="8117414" y="5546967"/>
              <a:ext cx="21852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Risk metric (as objective)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6459437C-BA5A-997D-C9D9-D91A7C152D80}"/>
                  </a:ext>
                </a:extLst>
              </p:cNvPr>
              <p:cNvSpPr txBox="1"/>
              <p:nvPr/>
            </p:nvSpPr>
            <p:spPr bwMode="auto">
              <a:xfrm>
                <a:off x="2145412" y="3922963"/>
                <a:ext cx="3670926" cy="10574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fNam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/>
                                        <m:sup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sup>
                                      </m:sSubSup>
                                      <m: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200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6459437C-BA5A-997D-C9D9-D91A7C152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5412" y="3922963"/>
                <a:ext cx="3670926" cy="10574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C15E50-7A9B-5F6E-BF58-421AFDC713E8}"/>
                  </a:ext>
                </a:extLst>
              </p:cNvPr>
              <p:cNvSpPr txBox="1"/>
              <p:nvPr/>
            </p:nvSpPr>
            <p:spPr>
              <a:xfrm>
                <a:off x="2193948" y="5601008"/>
                <a:ext cx="53255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)),...,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))|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9C15E50-7A9B-5F6E-BF58-421AFDC71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948" y="5601008"/>
                <a:ext cx="5325560" cy="400110"/>
              </a:xfrm>
              <a:prstGeom prst="rect">
                <a:avLst/>
              </a:prstGeom>
              <a:blipFill>
                <a:blip r:embed="rId9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7143121"/>
      </p:ext>
    </p:extLst>
  </p:cSld>
  <p:clrMapOvr>
    <a:masterClrMapping/>
  </p:clrMapOvr>
  <p:transition spd="slow">
    <p:wipe dir="d"/>
  </p:transition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6048C-3F01-D3A6-00E3-BDF9F43FA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76563FF-9D3E-826A-3B30-B65F9C28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71E2F7-F05D-9556-9BE8-6E81CA197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3E70B-8373-5424-CECC-DA45C4F7A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C4A52A-341C-55C8-B7CA-91D15C8F6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99BA5-EF87-7711-974F-CB313551E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F729C8-BA15-C81D-8873-436E34309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811519-5315-7C56-587E-67B47DA20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573" y="5523402"/>
            <a:ext cx="7552074" cy="5639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35E1E1-0F18-486A-4265-0D0CB214A506}"/>
              </a:ext>
            </a:extLst>
          </p:cNvPr>
          <p:cNvSpPr txBox="1"/>
          <p:nvPr/>
        </p:nvSpPr>
        <p:spPr>
          <a:xfrm>
            <a:off x="3854573" y="3563240"/>
            <a:ext cx="80631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For more on the universal modeling framework: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Modeling → The Universal Modeling Framework</a:t>
            </a:r>
          </a:p>
          <a:p>
            <a:r>
              <a:rPr lang="en-US" sz="1800" dirty="0">
                <a:solidFill>
                  <a:schemeClr val="tx1"/>
                </a:solidFill>
              </a:rPr>
              <a:t>warrenpowell.org → Teaching materials → Books: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Sequential Decision Analytics and 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Chapter 9 of Reinforcement Learning and Stochastic Optimization 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160834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4" ma:contentTypeDescription="Create a new document." ma:contentTypeScope="" ma:versionID="5a821b418db10c4a560eab9e32ac3723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42462b3b3e84324c9aaf61227d41f6c0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0C8D23-C824-4069-9D96-A056B9C750B2}">
  <ds:schemaRefs>
    <ds:schemaRef ds:uri="http://purl.org/dc/elements/1.1/"/>
    <ds:schemaRef ds:uri="http://purl.org/dc/terms/"/>
    <ds:schemaRef ds:uri="b9a67f89-7d7d-48be-9399-9713d9f7587c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9AAD22F-0715-4457-A130-80773E09E4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463730</TotalTime>
  <Words>19706</Words>
  <Application>Microsoft Office PowerPoint</Application>
  <PresentationFormat>Widescreen</PresentationFormat>
  <Paragraphs>4554</Paragraphs>
  <Slides>325</Slides>
  <Notes>107</Notes>
  <HiddenSlides>0</HiddenSlides>
  <MMClips>3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325</vt:i4>
      </vt:variant>
    </vt:vector>
  </HeadingPairs>
  <TitlesOfParts>
    <vt:vector size="338" baseType="lpstr">
      <vt:lpstr>Oswald Regular</vt:lpstr>
      <vt:lpstr>Wingdings</vt:lpstr>
      <vt:lpstr>Cambria Math</vt:lpstr>
      <vt:lpstr>Oswald</vt:lpstr>
      <vt:lpstr>Courier New</vt:lpstr>
      <vt:lpstr>Raleway</vt:lpstr>
      <vt:lpstr>Symbol</vt:lpstr>
      <vt:lpstr>Raleway Thin</vt:lpstr>
      <vt:lpstr>Playfair Display</vt:lpstr>
      <vt:lpstr>Times New Roman</vt:lpstr>
      <vt:lpstr>Arial</vt:lpstr>
      <vt:lpstr>CIV 411 11 Intro and overview</vt:lpstr>
      <vt:lpstr>Equation</vt:lpstr>
      <vt:lpstr>PowerPoint Presentation</vt:lpstr>
      <vt:lpstr>PowerPoint Presentation</vt:lpstr>
      <vt:lpstr>CASTLE Laboratory</vt:lpstr>
      <vt:lpstr>PowerPoint Presentation</vt:lpstr>
      <vt:lpstr>CASTLE Lab March, 2019</vt:lpstr>
      <vt:lpstr>Human processes</vt:lpstr>
      <vt:lpstr>Performance metrics</vt:lpstr>
      <vt:lpstr>Framing the problem</vt:lpstr>
      <vt:lpstr>Framing the problem</vt:lpstr>
      <vt:lpstr>Application domains</vt:lpstr>
      <vt:lpstr>PowerPoint Presentation</vt:lpstr>
      <vt:lpstr>PowerPoint Presentation</vt:lpstr>
      <vt:lpstr>Relevant courses I taught at Princeton</vt:lpstr>
      <vt:lpstr>Teaching materials</vt:lpstr>
      <vt:lpstr>Teaching materials</vt:lpstr>
      <vt:lpstr>Teaching materials</vt:lpstr>
      <vt:lpstr>Teaching materials</vt:lpstr>
      <vt:lpstr>Teaching materials</vt:lpstr>
      <vt:lpstr>Thank you!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PowerPoint Presentation</vt:lpstr>
      <vt:lpstr>Brief history of sequential decision problems</vt:lpstr>
      <vt:lpstr>PowerPoint Presentation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Brief history of sequential decision problems</vt:lpstr>
      <vt:lpstr>PowerPoint Presentation</vt:lpstr>
      <vt:lpstr>Decisions</vt:lpstr>
      <vt:lpstr>Brief history of seq. decision problems</vt:lpstr>
      <vt:lpstr>PowerPoint Presentation</vt:lpstr>
      <vt:lpstr>Thank you!</vt:lpstr>
      <vt:lpstr>PowerPoint Presentation</vt:lpstr>
      <vt:lpstr>PowerPoint Presentation</vt:lpstr>
      <vt:lpstr>Decisions</vt:lpstr>
      <vt:lpstr>Information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PowerPoint Presentation</vt:lpstr>
      <vt:lpstr>Sequential decision problems</vt:lpstr>
      <vt:lpstr>Sequential decision problems</vt:lpstr>
      <vt:lpstr>Sequential decision problems</vt:lpstr>
      <vt:lpstr>Sequential decision problems</vt:lpstr>
      <vt:lpstr>Sequential decision problems</vt:lpstr>
      <vt:lpstr>Teaching materials</vt:lpstr>
      <vt:lpstr>PowerPoint Presentation</vt:lpstr>
      <vt:lpstr>PowerPoint Presentation</vt:lpstr>
      <vt:lpstr>Sequential decision problems</vt:lpstr>
      <vt:lpstr>Sequential decision problems</vt:lpstr>
      <vt:lpstr>Thank you!</vt:lpstr>
      <vt:lpstr>PowerPoint Presentation</vt:lpstr>
      <vt:lpstr>OUTLINE</vt:lpstr>
      <vt:lpstr>OUTLINE</vt:lpstr>
      <vt:lpstr>Framing the problem</vt:lpstr>
      <vt:lpstr>Framing the problem</vt:lpstr>
      <vt:lpstr>PowerPoint Presentation</vt:lpstr>
      <vt:lpstr>Framing the problem</vt:lpstr>
      <vt:lpstr>Framing the problem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Framing: Metrics</vt:lpstr>
      <vt:lpstr>Framing: Metrics</vt:lpstr>
      <vt:lpstr>OUTLINE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Framing: Decisions</vt:lpstr>
      <vt:lpstr>OUTLINE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Framing: Uncertainties</vt:lpstr>
      <vt:lpstr>OUTLINE</vt:lpstr>
      <vt:lpstr>PowerPoint Presentation</vt:lpstr>
      <vt:lpstr>PowerPoint Presentation</vt:lpstr>
      <vt:lpstr>PowerPoint Presentation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A supply chain illustration</vt:lpstr>
      <vt:lpstr>Thank you!</vt:lpstr>
      <vt:lpstr>PowerPoint Presentation</vt:lpstr>
      <vt:lpstr>The universal modeling framework</vt:lpstr>
      <vt:lpstr>The universal modeling framework</vt:lpstr>
      <vt:lpstr>The universal modeling framework</vt:lpstr>
      <vt:lpstr>The universal modeling framework</vt:lpstr>
      <vt:lpstr>The Universal Modeling Framework</vt:lpstr>
      <vt:lpstr>Teaching materials</vt:lpstr>
      <vt:lpstr>The universal modeling framework</vt:lpstr>
      <vt:lpstr>The universal modeling framework</vt:lpstr>
      <vt:lpstr>The universal modeling framework</vt:lpstr>
      <vt:lpstr>The universal modeling framework</vt:lpstr>
      <vt:lpstr>Thank you!</vt:lpstr>
      <vt:lpstr>PowerPoint Presentation</vt:lpstr>
      <vt:lpstr>OUTLINE</vt:lpstr>
      <vt:lpstr>OUTLINE</vt:lpstr>
      <vt:lpstr>Estimation: Learning problems</vt:lpstr>
      <vt:lpstr>OUTLINE</vt:lpstr>
      <vt:lpstr>Estimation: Approximation strategies</vt:lpstr>
      <vt:lpstr>Estimation: Approximation strategies</vt:lpstr>
      <vt:lpstr>Estimation: Approximation strategies</vt:lpstr>
      <vt:lpstr>Estimation: Approximation strategies</vt:lpstr>
      <vt:lpstr>Estimation: Neural networks</vt:lpstr>
      <vt:lpstr>Estimation: Neural networks</vt:lpstr>
      <vt:lpstr>Estimation: Neural networks</vt:lpstr>
      <vt:lpstr>OUTLINE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Estimation: Exploiting structure</vt:lpstr>
      <vt:lpstr>PowerPoint Presentation</vt:lpstr>
      <vt:lpstr>PowerPoint Presentation</vt:lpstr>
      <vt:lpstr>OUTLINE</vt:lpstr>
      <vt:lpstr>Estimation: Batch vs. recursive learning</vt:lpstr>
      <vt:lpstr>Estimation: Batch vs. recursive learning</vt:lpstr>
      <vt:lpstr>Estimation: Batch vs. recursive learning</vt:lpstr>
      <vt:lpstr>Thank you!</vt:lpstr>
      <vt:lpstr>PowerPoint Presentation</vt:lpstr>
      <vt:lpstr>OUTLINE</vt:lpstr>
      <vt:lpstr>OUTLINE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Modeling – Textbook modeling styles</vt:lpstr>
      <vt:lpstr>OUTLINE</vt:lpstr>
      <vt:lpstr>Time scales in energy</vt:lpstr>
      <vt:lpstr>Modeling: Time</vt:lpstr>
      <vt:lpstr>Modeling: Time</vt:lpstr>
      <vt:lpstr>OUTLINE</vt:lpstr>
      <vt:lpstr>Modeling: State variables</vt:lpstr>
      <vt:lpstr>Modeling: State variables</vt:lpstr>
      <vt:lpstr>OUTLINE</vt:lpstr>
      <vt:lpstr>Modeling: Decisions</vt:lpstr>
      <vt:lpstr>Modeling: Decisions</vt:lpstr>
      <vt:lpstr>OUTLINE</vt:lpstr>
      <vt:lpstr>Modeling: Exogenous information</vt:lpstr>
      <vt:lpstr>Modeling: Exogenous information</vt:lpstr>
      <vt:lpstr>Modeling: Exogenous information</vt:lpstr>
      <vt:lpstr>Modeling: Exogenous information</vt:lpstr>
      <vt:lpstr>OUTLINE</vt:lpstr>
      <vt:lpstr>Modeling: Transition function</vt:lpstr>
      <vt:lpstr>Modeling: Transition function</vt:lpstr>
      <vt:lpstr>OUTLINE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Modeling: Objective function</vt:lpstr>
      <vt:lpstr>Thank you!</vt:lpstr>
      <vt:lpstr>PowerPoint Presentation</vt:lpstr>
      <vt:lpstr>OUTLINE</vt:lpstr>
      <vt:lpstr>OUTLINE</vt:lpstr>
      <vt:lpstr>State variables</vt:lpstr>
      <vt:lpstr>PowerPoint Presentation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State variables: Definition</vt:lpstr>
      <vt:lpstr>OUTLINE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State variables: Network problem</vt:lpstr>
      <vt:lpstr>OUTLINE</vt:lpstr>
      <vt:lpstr>State variables: Belief states</vt:lpstr>
      <vt:lpstr>State variables: Belief states</vt:lpstr>
      <vt:lpstr>OUTLINE</vt:lpstr>
      <vt:lpstr>State variables: Pre- and post-decision states</vt:lpstr>
      <vt:lpstr>State variables: Pre- and post-decision states</vt:lpstr>
      <vt:lpstr>State variables: Pre- and post-decision states</vt:lpstr>
      <vt:lpstr>State variables: Pre- and post-decision states</vt:lpstr>
      <vt:lpstr>OUTLINE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State variables: Examples</vt:lpstr>
      <vt:lpstr>Thank you!</vt:lpstr>
      <vt:lpstr>PowerPoint Presentation</vt:lpstr>
      <vt:lpstr>OUTLINE</vt:lpstr>
      <vt:lpstr>OUTLINE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Modeling exogenous information</vt:lpstr>
      <vt:lpstr>OUTLINE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The 12 categories of uncertainty</vt:lpstr>
      <vt:lpstr>OUTLINE</vt:lpstr>
      <vt:lpstr>Different flavors of uncertainty</vt:lpstr>
      <vt:lpstr>Different flavors of uncertainty</vt:lpstr>
      <vt:lpstr>Different flavors of uncertainty</vt:lpstr>
      <vt:lpstr>Different flavors of uncertainty</vt:lpstr>
      <vt:lpstr>OUTLINE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Generating samples of exogenous information</vt:lpstr>
      <vt:lpstr>Thank you!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VFA policies</vt:lpstr>
      <vt:lpstr>PowerPoint Presentation</vt:lpstr>
      <vt:lpstr>PowerPoint Presentation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Designing policies I - Overview</vt:lpstr>
      <vt:lpstr>PowerPoint Presentation</vt:lpstr>
      <vt:lpstr>Designing policies I - Overview</vt:lpstr>
      <vt:lpstr>Modeling: Objective function</vt:lpstr>
      <vt:lpstr>Modeling: Objective function</vt:lpstr>
      <vt:lpstr>Modeling: Objective function</vt:lpstr>
      <vt:lpstr>Designing policies I - Overview</vt:lpstr>
      <vt:lpstr>Designing policies I - Overview</vt:lpstr>
      <vt:lpstr>Designing policies I - Overview</vt:lpstr>
      <vt:lpstr>Thank you!</vt:lpstr>
      <vt:lpstr>PowerPoint Presentation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Choosing policies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795</cp:revision>
  <cp:lastPrinted>2025-05-20T14:08:40Z</cp:lastPrinted>
  <dcterms:modified xsi:type="dcterms:W3CDTF">2026-09-07T19:33:09Z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