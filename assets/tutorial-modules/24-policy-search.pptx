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1038" r:id="rId363"/>
    <p:sldId id="11067" r:id="rId364"/>
    <p:sldId id="11081" r:id="rId365"/>
    <p:sldId id="10407" r:id="rId366"/>
    <p:sldId id="10380" r:id="rId367"/>
    <p:sldId id="10546" r:id="rId368"/>
    <p:sldId id="10381" r:id="rId369"/>
    <p:sldId id="11082" r:id="rId370"/>
    <p:sldId id="5581" r:id="rId371"/>
    <p:sldId id="10568" r:id="rId372"/>
    <p:sldId id="11062" r:id="rId373"/>
    <p:sldId id="11063" r:id="rId374"/>
    <p:sldId id="11064" r:id="rId375"/>
    <p:sldId id="10382" r:id="rId376"/>
    <p:sldId id="11083" r:id="rId377"/>
    <p:sldId id="10642" r:id="rId378"/>
    <p:sldId id="10732" r:id="rId379"/>
    <p:sldId id="11065" r:id="rId380"/>
    <p:sldId id="11084" r:id="rId381"/>
    <p:sldId id="11044" r:id="rId382"/>
    <p:sldId id="10252" r:id="rId383"/>
    <p:sldId id="10548" r:id="rId384"/>
    <p:sldId id="11085" r:id="rId385"/>
    <p:sldId id="11075" r:id="rId386"/>
    <p:sldId id="11077" r:id="rId387"/>
    <p:sldId id="11080" r:id="rId388"/>
    <p:sldId id="11066" r:id="rId389"/>
    <p:sldId id="10973" r:id="rId390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66" Type="http://schemas.openxmlformats.org/officeDocument/2006/relationships/slide" Target="slides/slide362.xml"/><Relationship Id="rId377" Type="http://schemas.openxmlformats.org/officeDocument/2006/relationships/slide" Target="slides/slide373.xml"/><Relationship Id="rId402" Type="http://schemas.openxmlformats.org/officeDocument/2006/relationships/font" Target="fonts/font11.fntdata"/><Relationship Id="rId388" Type="http://schemas.openxmlformats.org/officeDocument/2006/relationships/slide" Target="slides/slide384.xml"/><Relationship Id="rId399" Type="http://schemas.openxmlformats.org/officeDocument/2006/relationships/font" Target="fonts/font8.fntdata"/><Relationship Id="rId368" Type="http://schemas.openxmlformats.org/officeDocument/2006/relationships/slide" Target="slides/slide364.xml"/><Relationship Id="rId379" Type="http://schemas.openxmlformats.org/officeDocument/2006/relationships/slide" Target="slides/slide375.xml"/><Relationship Id="rId390" Type="http://schemas.openxmlformats.org/officeDocument/2006/relationships/slide" Target="slides/slide386.xml"/><Relationship Id="rId404" Type="http://schemas.openxmlformats.org/officeDocument/2006/relationships/font" Target="fonts/font13.fntdata"/><Relationship Id="rId370" Type="http://schemas.openxmlformats.org/officeDocument/2006/relationships/slide" Target="slides/slide366.xml"/><Relationship Id="rId381" Type="http://schemas.openxmlformats.org/officeDocument/2006/relationships/slide" Target="slides/slide377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372" Type="http://schemas.openxmlformats.org/officeDocument/2006/relationships/slide" Target="slides/slide368.xml"/><Relationship Id="rId383" Type="http://schemas.openxmlformats.org/officeDocument/2006/relationships/slide" Target="slides/slide379.xml"/><Relationship Id="rId373" Type="http://schemas.openxmlformats.org/officeDocument/2006/relationships/slide" Target="slides/slide369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363" Type="http://schemas.openxmlformats.org/officeDocument/2006/relationships/slide" Target="slides/slide359.xml"/><Relationship Id="rId384" Type="http://schemas.openxmlformats.org/officeDocument/2006/relationships/slide" Target="slides/slide380.xml"/><Relationship Id="rId374" Type="http://schemas.openxmlformats.org/officeDocument/2006/relationships/slide" Target="slides/slide370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364" Type="http://schemas.openxmlformats.org/officeDocument/2006/relationships/slide" Target="slides/slide360.xml"/><Relationship Id="rId385" Type="http://schemas.openxmlformats.org/officeDocument/2006/relationships/slide" Target="slides/slide381.xml"/><Relationship Id="rId410" Type="http://schemas.openxmlformats.org/officeDocument/2006/relationships/viewProps" Target="viewProps.xml"/><Relationship Id="rId375" Type="http://schemas.openxmlformats.org/officeDocument/2006/relationships/slide" Target="slides/slide371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365" Type="http://schemas.openxmlformats.org/officeDocument/2006/relationships/slide" Target="slides/slide361.xml"/><Relationship Id="rId386" Type="http://schemas.openxmlformats.org/officeDocument/2006/relationships/slide" Target="slides/slide382.xml"/><Relationship Id="rId411" Type="http://schemas.openxmlformats.org/officeDocument/2006/relationships/theme" Target="theme/theme1.xml"/><Relationship Id="rId376" Type="http://schemas.openxmlformats.org/officeDocument/2006/relationships/slide" Target="slides/slide372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387" Type="http://schemas.openxmlformats.org/officeDocument/2006/relationships/slide" Target="slides/slide383.xml"/><Relationship Id="rId412" Type="http://schemas.openxmlformats.org/officeDocument/2006/relationships/tableStyles" Target="tableStyles.xml"/><Relationship Id="rId398" Type="http://schemas.openxmlformats.org/officeDocument/2006/relationships/font" Target="fonts/font7.fntdata"/><Relationship Id="rId367" Type="http://schemas.openxmlformats.org/officeDocument/2006/relationships/slide" Target="slides/slide363.xml"/><Relationship Id="rId378" Type="http://schemas.openxmlformats.org/officeDocument/2006/relationships/slide" Target="slides/slide374.xml"/><Relationship Id="rId403" Type="http://schemas.openxmlformats.org/officeDocument/2006/relationships/font" Target="fonts/font12.fntdata"/><Relationship Id="rId389" Type="http://schemas.openxmlformats.org/officeDocument/2006/relationships/slide" Target="slides/slide385.xml"/><Relationship Id="rId369" Type="http://schemas.openxmlformats.org/officeDocument/2006/relationships/slide" Target="slides/slide365.xml"/><Relationship Id="rId380" Type="http://schemas.openxmlformats.org/officeDocument/2006/relationships/slide" Target="slides/slide376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371" Type="http://schemas.openxmlformats.org/officeDocument/2006/relationships/slide" Target="slides/slide367.xml"/><Relationship Id="rId382" Type="http://schemas.openxmlformats.org/officeDocument/2006/relationships/slide" Target="slides/slide378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6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7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1.xml"/><Relationship Id="rId1" Type="http://schemas.openxmlformats.org/officeDocument/2006/relationships/notesMaster" Target="../notesMasters/notesMaster1.xml"/></Relationship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8B7FE30-F167-D446-4D75-48DDE00A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AC30583-20EF-1B53-FE14-C03DAD67D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6E996D2-E8BA-50EF-6704-609F03695F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2293188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73C0A75-37FD-30D9-C4A9-F1C8BDC2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FCE3781-D8D4-D1B6-5DB1-94654094C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B4F5CBAF-2D8E-4579-FDF7-171CAF372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5137553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CDDA7C6-5650-00AD-6188-2A01F77F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615B2333-5263-AB74-DB67-CCDB23EB0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D738DA53-39B2-197F-D498-EEB6ADB0A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785076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0300C15-D309-6A42-3171-58F07343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17D4EF30-0E67-82C6-8FF5-2E4696317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C536C0C-F096-5A08-E9CD-6C42FE89EF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5269685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077513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ABB5B24-BCE4-330F-894C-C955BA26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530A9BD0-09DD-673F-A77F-0D6C09DBB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23B1D95-6E6C-B4ED-B492-6BF56276D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0079255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4C4383B-EE67-004D-D7FD-FE711EEF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8CE51699-ACEF-E62C-338E-062D6CD19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12EA053D-E3E0-E548-A2A0-A69B2E6C7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7994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0.png"/><Relationship Id="rId7" Type="http://schemas.openxmlformats.org/officeDocument/2006/relationships/image" Target="../media/image211.png"/><Relationship Id="rId2" Type="http://schemas.openxmlformats.org/officeDocument/2006/relationships/image" Target="../media/image20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0.png"/><Relationship Id="rId5" Type="http://schemas.openxmlformats.org/officeDocument/2006/relationships/image" Target="../media/image231.png"/><Relationship Id="rId4" Type="http://schemas.openxmlformats.org/officeDocument/2006/relationships/image" Target="../media/image208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7" Type="http://schemas.openxmlformats.org/officeDocument/2006/relationships/image" Target="../media/image233.wmf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232.wmf"/><Relationship Id="rId4" Type="http://schemas.openxmlformats.org/officeDocument/2006/relationships/oleObject" Target="../embeddings/oleObject52.bin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38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70.png"/><Relationship Id="rId4" Type="http://schemas.microsoft.com/office/2007/relationships/hdphoto" Target="../media/hdphoto9.wdp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81.png"/><Relationship Id="rId1" Type="http://schemas.openxmlformats.org/officeDocument/2006/relationships/slideLayout" Target="../slideLayouts/slideLayout2.xml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1.png"/><Relationship Id="rId2" Type="http://schemas.openxmlformats.org/officeDocument/2006/relationships/image" Target="../media/image3912.png"/><Relationship Id="rId1" Type="http://schemas.openxmlformats.org/officeDocument/2006/relationships/slideLayout" Target="../slideLayouts/slideLayout2.xml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0.pn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2.xml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1.png"/><Relationship Id="rId2" Type="http://schemas.openxmlformats.org/officeDocument/2006/relationships/image" Target="../media/image2170.png"/><Relationship Id="rId1" Type="http://schemas.openxmlformats.org/officeDocument/2006/relationships/slideLayout" Target="../slideLayouts/slideLayout2.xml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2.png"/><Relationship Id="rId2" Type="http://schemas.openxmlformats.org/officeDocument/2006/relationships/image" Target="../media/image21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0.png"/><Relationship Id="rId2" Type="http://schemas.openxmlformats.org/officeDocument/2006/relationships/image" Target="../media/image22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0.png"/><Relationship Id="rId7" Type="http://schemas.openxmlformats.org/officeDocument/2006/relationships/image" Target="../media/image3680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70.png"/><Relationship Id="rId5" Type="http://schemas.openxmlformats.org/officeDocument/2006/relationships/image" Target="../media/image3660.png"/><Relationship Id="rId4" Type="http://schemas.openxmlformats.org/officeDocument/2006/relationships/image" Target="../media/image365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image" Target="../media/image2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232.wmf"/></Relationships>
</file>

<file path=ppt/slides/_rels/slide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2.png"/><Relationship Id="rId1" Type="http://schemas.openxmlformats.org/officeDocument/2006/relationships/slideLayout" Target="../slideLayouts/slideLayout2.xml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7" Type="http://schemas.openxmlformats.org/officeDocument/2006/relationships/image" Target="../media/image233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232.wmf"/><Relationship Id="rId4" Type="http://schemas.openxmlformats.org/officeDocument/2006/relationships/oleObject" Target="../embeddings/oleObject52.bin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13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71.png"/><Relationship Id="rId4" Type="http://schemas.openxmlformats.org/officeDocument/2006/relationships/image" Target="../media/image1662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1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33.png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33.png"/><Relationship Id="rId4" Type="http://schemas.openxmlformats.org/officeDocument/2006/relationships/image" Target="../media/image239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8A5E8-1D4A-4AB4-E56E-97EF0D3A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5DB3FD0-CFCB-B28C-C1E5-0DB159BAC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F447921-F6BE-399E-722E-3D95E1E7FEC1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B91A524-33A1-E0D7-7822-272DC9005127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43C647-8D97-6FB0-7404-832EAF77A324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D25D8D-E35F-73F0-AA5F-D2FAC13682B1}"/>
              </a:ext>
            </a:extLst>
          </p:cNvPr>
          <p:cNvSpPr txBox="1">
            <a:spLocks/>
          </p:cNvSpPr>
          <p:nvPr/>
        </p:nvSpPr>
        <p:spPr>
          <a:xfrm>
            <a:off x="1212348" y="3023962"/>
            <a:ext cx="8648089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Policy search: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policies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Derivative-based, derivative-free, offline/online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Mutual fund cash management game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4BFEB8-3737-3E9D-E357-A968638A8999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Mathematical description of policy function approximations.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ED55A7F-1606-E3AD-4CC6-A9FCC04625F1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0CE69A-9F86-95A1-6569-301532C36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27502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5C0790E-21D5-C208-ECBA-4109AB57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C1F82C-5A62-D310-0A1E-5212F39C0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559D7D16-66E9-C387-653A-7CC0E64DE2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844392FD-C723-9A4E-A778-B397BC7C6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Policy search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Derivative-based stochastic search – Exact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Derivative-based stochastic search – Numerical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Derivative-free stochastic search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Stochastic search as a sequential decision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mutual fund cash management game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0C8B7-747E-54E0-502A-568825D9A5E8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927254819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DBD00C5-8343-50F5-A16B-0D4429DE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B8D60E-E487-4A2D-977D-C94684746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CD856405-A5A6-3CC6-CAB9-C13CD07156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6C900C7A-A517-6774-75B4-95ECBCF12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Policy search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Derivative-based stochastic search – Exact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Numerical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Derivative-free stochastic search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Stochastic search as a sequential decision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mutual fund cash management game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53E45-8107-5FD5-513B-14AA605FDD59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557285496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DF9F-ECFD-753E-2891-00EB5C89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6F3B17-CFE6-2C9D-D702-D7814890A1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9273" y="1068386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Policy search boils down to solving the problem: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marL="571500" lvl="1" indent="0">
                  <a:buNone/>
                </a:pPr>
                <a:r>
                  <a:rPr lang="en-US" sz="2000" dirty="0"/>
                  <a:t>where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marL="571500" lvl="1" indent="0">
                  <a:buNone/>
                </a:pPr>
                <a:r>
                  <a:rPr lang="en-US" sz="2000" dirty="0"/>
                  <a:t>for a given type of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, which might be a PFA, CFA or some form of parameterized DLA.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6F3B17-CFE6-2C9D-D702-D7814890A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9273" y="1068386"/>
                <a:ext cx="10363200" cy="4401600"/>
              </a:xfrm>
              <a:blipFill>
                <a:blip r:embed="rId2"/>
                <a:stretch>
                  <a:fillRect l="-353" b="-14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F32288-3676-10BC-0FEC-CDA644E23E21}"/>
                  </a:ext>
                </a:extLst>
              </p:cNvPr>
              <p:cNvSpPr txBox="1"/>
              <p:nvPr/>
            </p:nvSpPr>
            <p:spPr>
              <a:xfrm>
                <a:off x="820017" y="1696635"/>
                <a:ext cx="5682132" cy="1271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F32288-3676-10BC-0FEC-CDA644E2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17" y="1696635"/>
                <a:ext cx="5682132" cy="1271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DE586E-92F3-70CC-BD1E-07CA40528FEE}"/>
                  </a:ext>
                </a:extLst>
              </p:cNvPr>
              <p:cNvSpPr txBox="1"/>
              <p:nvPr/>
            </p:nvSpPr>
            <p:spPr>
              <a:xfrm>
                <a:off x="1103497" y="4030513"/>
                <a:ext cx="49028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DE586E-92F3-70CC-BD1E-07CA40528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97" y="4030513"/>
                <a:ext cx="4902816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7077F540-8EE5-409F-A311-407F53AE7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676" y="1996415"/>
            <a:ext cx="5781675" cy="299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5">
            <a:extLst>
              <a:ext uri="{FF2B5EF4-FFF2-40B4-BE49-F238E27FC236}">
                <a16:creationId xmlns:a16="http://schemas.microsoft.com/office/drawing/2014/main" id="{4899D181-2A4C-2E66-C19D-80003C502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41349" y="4329822"/>
            <a:ext cx="1971674" cy="6588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1771684C-C498-6209-82F6-627116BFB9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513" y="4431422"/>
            <a:ext cx="2636838" cy="5572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493C4D43-A26D-36B5-89F2-D55D4DD7EABB}"/>
                  </a:ext>
                </a:extLst>
              </p:cNvPr>
              <p:cNvSpPr txBox="1"/>
              <p:nvPr/>
            </p:nvSpPr>
            <p:spPr bwMode="auto">
              <a:xfrm>
                <a:off x="7301121" y="4514221"/>
                <a:ext cx="923925" cy="477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493C4D43-A26D-36B5-89F2-D55D4DD7E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1121" y="4514221"/>
                <a:ext cx="923925" cy="477838"/>
              </a:xfrm>
              <a:prstGeom prst="rect">
                <a:avLst/>
              </a:prstGeom>
              <a:blipFill>
                <a:blip r:embed="rId6"/>
                <a:stretch>
                  <a:fillRect l="-19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6">
            <a:extLst>
              <a:ext uri="{FF2B5EF4-FFF2-40B4-BE49-F238E27FC236}">
                <a16:creationId xmlns:a16="http://schemas.microsoft.com/office/drawing/2014/main" id="{C5E82CB4-3E2E-50ED-4BD2-007521F280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7214" y="4140114"/>
            <a:ext cx="1277937" cy="2786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45FFB6EF-ECBE-11F5-7C89-7EF30B12AE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79750" y="4140114"/>
            <a:ext cx="762000" cy="2786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12FB330B-4381-EC59-2DB5-C33BA19BA4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05150" y="3492524"/>
            <a:ext cx="0" cy="66028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01D003-D3C8-AE8F-D011-62B7F17AA5B8}"/>
              </a:ext>
            </a:extLst>
          </p:cNvPr>
          <p:cNvSpPr/>
          <p:nvPr/>
        </p:nvSpPr>
        <p:spPr bwMode="auto">
          <a:xfrm>
            <a:off x="9379750" y="3469387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D58DA3E-7CF7-73F2-241F-A95BBE48102D}"/>
              </a:ext>
            </a:extLst>
          </p:cNvPr>
          <p:cNvSpPr/>
          <p:nvPr/>
        </p:nvSpPr>
        <p:spPr bwMode="auto">
          <a:xfrm>
            <a:off x="9382147" y="3621787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083979-7EBE-DA3A-C29E-9CCD5EAB2704}"/>
              </a:ext>
            </a:extLst>
          </p:cNvPr>
          <p:cNvSpPr/>
          <p:nvPr/>
        </p:nvSpPr>
        <p:spPr bwMode="auto">
          <a:xfrm>
            <a:off x="9379766" y="3386068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11AD90-A2B0-39BA-7BF6-071FD210F765}"/>
              </a:ext>
            </a:extLst>
          </p:cNvPr>
          <p:cNvSpPr/>
          <p:nvPr/>
        </p:nvSpPr>
        <p:spPr bwMode="auto">
          <a:xfrm>
            <a:off x="9379782" y="3231319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83530-2F96-A42F-1811-71DCCC5903EF}"/>
              </a:ext>
            </a:extLst>
          </p:cNvPr>
          <p:cNvSpPr/>
          <p:nvPr/>
        </p:nvSpPr>
        <p:spPr bwMode="auto">
          <a:xfrm>
            <a:off x="9379798" y="3783727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C659C3-8E9F-279D-D4FA-7A0A8BD96641}"/>
              </a:ext>
            </a:extLst>
          </p:cNvPr>
          <p:cNvSpPr/>
          <p:nvPr/>
        </p:nvSpPr>
        <p:spPr bwMode="auto">
          <a:xfrm>
            <a:off x="9377417" y="3014664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6">
                <a:extLst>
                  <a:ext uri="{FF2B5EF4-FFF2-40B4-BE49-F238E27FC236}">
                    <a16:creationId xmlns:a16="http://schemas.microsoft.com/office/drawing/2014/main" id="{3DC8A071-0A21-3E82-E1EF-45FAB17C90EB}"/>
                  </a:ext>
                </a:extLst>
              </p:cNvPr>
              <p:cNvSpPr txBox="1"/>
              <p:nvPr/>
            </p:nvSpPr>
            <p:spPr bwMode="auto">
              <a:xfrm>
                <a:off x="10705404" y="4583811"/>
                <a:ext cx="923925" cy="477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Object 6">
                <a:extLst>
                  <a:ext uri="{FF2B5EF4-FFF2-40B4-BE49-F238E27FC236}">
                    <a16:creationId xmlns:a16="http://schemas.microsoft.com/office/drawing/2014/main" id="{3DC8A071-0A21-3E82-E1EF-45FAB17C9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05404" y="4583811"/>
                <a:ext cx="923925" cy="477838"/>
              </a:xfrm>
              <a:prstGeom prst="rect">
                <a:avLst/>
              </a:prstGeom>
              <a:blipFill>
                <a:blip r:embed="rId7"/>
                <a:stretch>
                  <a:fillRect l="-13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69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FA31-E0CD-417E-B0B6-12896864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EAF52-36E8-429A-892D-AA292D76F5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5" y="960121"/>
                <a:ext cx="11094364" cy="2516746"/>
              </a:xfrm>
            </p:spPr>
            <p:txBody>
              <a:bodyPr/>
              <a:lstStyle/>
              <a:p>
                <a:r>
                  <a:rPr lang="en-US" dirty="0"/>
                  <a:t>How do we search for the best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The most natural strategy for optimizing a continuous vector of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to use a gradient-based method which is written: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This requires that we compute:</a:t>
                </a:r>
              </a:p>
              <a:p>
                <a:pPr lvl="2"/>
                <a:endParaRPr lang="en-US" sz="1400" dirty="0"/>
              </a:p>
              <a:p>
                <a:pPr lvl="2"/>
                <a:r>
                  <a:rPr lang="en-US" dirty="0"/>
                  <a:t>The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either:</a:t>
                </a:r>
              </a:p>
              <a:p>
                <a:pPr lvl="3"/>
                <a:r>
                  <a:rPr lang="en-US" dirty="0"/>
                  <a:t>Analytical derivatives (if available)</a:t>
                </a:r>
              </a:p>
              <a:p>
                <a:pPr lvl="3"/>
                <a:r>
                  <a:rPr lang="en-US" dirty="0"/>
                  <a:t>Numerical derivatives (typically simpler)</a:t>
                </a:r>
              </a:p>
              <a:p>
                <a:pPr lvl="2"/>
                <a:endParaRPr lang="en-US" sz="1200" dirty="0"/>
              </a:p>
              <a:p>
                <a:pPr lvl="2"/>
                <a:r>
                  <a:rPr lang="en-US" dirty="0"/>
                  <a:t>The </a:t>
                </a:r>
                <a:r>
                  <a:rPr lang="en-US" dirty="0" err="1"/>
                  <a:t>stepsize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2"/>
                <a:endParaRPr lang="en-US" sz="2400" dirty="0"/>
              </a:p>
              <a:p>
                <a:pPr lvl="2"/>
                <a:endParaRPr lang="en-US" sz="2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  <a:p>
                <a:pPr lvl="2"/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AEAF52-36E8-429A-892D-AA292D76F5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5" y="960121"/>
                <a:ext cx="11094364" cy="2516746"/>
              </a:xfrm>
              <a:blipFill>
                <a:blip r:embed="rId2"/>
                <a:stretch>
                  <a:fillRect b="-106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B531A4D5-03A4-4B14-96E8-728AAEF28A19}"/>
                  </a:ext>
                </a:extLst>
              </p:cNvPr>
              <p:cNvSpPr txBox="1"/>
              <p:nvPr/>
            </p:nvSpPr>
            <p:spPr>
              <a:xfrm>
                <a:off x="1354301" y="3125071"/>
                <a:ext cx="4917548" cy="70357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B531A4D5-03A4-4B14-96E8-728AAEF28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301" y="3125071"/>
                <a:ext cx="4917548" cy="703571"/>
              </a:xfrm>
              <a:prstGeom prst="rect">
                <a:avLst/>
              </a:prstGeom>
              <a:blipFill>
                <a:blip r:embed="rId3"/>
                <a:stretch>
                  <a:fillRect l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9E44D06B-2157-4E8B-8E9B-3BED5CCF9CEE}"/>
              </a:ext>
            </a:extLst>
          </p:cNvPr>
          <p:cNvGrpSpPr/>
          <p:nvPr/>
        </p:nvGrpSpPr>
        <p:grpSpPr>
          <a:xfrm>
            <a:off x="6889734" y="3532638"/>
            <a:ext cx="4088896" cy="1971739"/>
            <a:chOff x="522556" y="1849119"/>
            <a:chExt cx="5283200" cy="2432920"/>
          </a:xfrm>
        </p:grpSpPr>
        <p:sp>
          <p:nvSpPr>
            <p:cNvPr id="34" name="Line 4">
              <a:extLst>
                <a:ext uri="{FF2B5EF4-FFF2-40B4-BE49-F238E27FC236}">
                  <a16:creationId xmlns:a16="http://schemas.microsoft.com/office/drawing/2014/main" id="{DF2581BF-5AFE-4F32-9EEC-56A665BC5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6481" y="1849119"/>
              <a:ext cx="8775" cy="24329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">
              <a:extLst>
                <a:ext uri="{FF2B5EF4-FFF2-40B4-BE49-F238E27FC236}">
                  <a16:creationId xmlns:a16="http://schemas.microsoft.com/office/drawing/2014/main" id="{00CA32DD-CC03-46FE-89A6-A1FFBD9F8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56" y="4282039"/>
              <a:ext cx="5283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6" name="Object 17">
            <a:extLst>
              <a:ext uri="{FF2B5EF4-FFF2-40B4-BE49-F238E27FC236}">
                <a16:creationId xmlns:a16="http://schemas.microsoft.com/office/drawing/2014/main" id="{E74ABD04-4F57-481E-B2B2-FFB18E946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461274"/>
              </p:ext>
            </p:extLst>
          </p:nvPr>
        </p:nvGraphicFramePr>
        <p:xfrm>
          <a:off x="10971129" y="5246268"/>
          <a:ext cx="330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34" imgH="228501" progId="Equation.DSMT4">
                  <p:embed/>
                </p:oleObj>
              </mc:Choice>
              <mc:Fallback>
                <p:oleObj name="Equation" r:id="rId4" imgW="152334" imgH="228501" progId="Equation.DSMT4">
                  <p:embed/>
                  <p:pic>
                    <p:nvPicPr>
                      <p:cNvPr id="36" name="Object 17">
                        <a:extLst>
                          <a:ext uri="{FF2B5EF4-FFF2-40B4-BE49-F238E27FC236}">
                            <a16:creationId xmlns:a16="http://schemas.microsoft.com/office/drawing/2014/main" id="{E74ABD04-4F57-481E-B2B2-FFB18E9463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1129" y="5246268"/>
                        <a:ext cx="330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8">
            <a:extLst>
              <a:ext uri="{FF2B5EF4-FFF2-40B4-BE49-F238E27FC236}">
                <a16:creationId xmlns:a16="http://schemas.microsoft.com/office/drawing/2014/main" id="{35AD6282-7377-4200-ADD8-37C087F9D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130624"/>
              </p:ext>
            </p:extLst>
          </p:nvPr>
        </p:nvGraphicFramePr>
        <p:xfrm>
          <a:off x="6719902" y="3056680"/>
          <a:ext cx="3571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28" imgH="228501" progId="Equation.DSMT4">
                  <p:embed/>
                </p:oleObj>
              </mc:Choice>
              <mc:Fallback>
                <p:oleObj name="Equation" r:id="rId6" imgW="165028" imgH="228501" progId="Equation.DSMT4">
                  <p:embed/>
                  <p:pic>
                    <p:nvPicPr>
                      <p:cNvPr id="37" name="Object 18">
                        <a:extLst>
                          <a:ext uri="{FF2B5EF4-FFF2-40B4-BE49-F238E27FC236}">
                            <a16:creationId xmlns:a16="http://schemas.microsoft.com/office/drawing/2014/main" id="{35AD6282-7377-4200-ADD8-37C087F9D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902" y="3056680"/>
                        <a:ext cx="3571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53">
            <a:extLst>
              <a:ext uri="{FF2B5EF4-FFF2-40B4-BE49-F238E27FC236}">
                <a16:creationId xmlns:a16="http://schemas.microsoft.com/office/drawing/2014/main" id="{1798A334-5D86-4E2D-A66B-FCD32C351E01}"/>
              </a:ext>
            </a:extLst>
          </p:cNvPr>
          <p:cNvGrpSpPr>
            <a:grpSpLocks/>
          </p:cNvGrpSpPr>
          <p:nvPr/>
        </p:nvGrpSpPr>
        <p:grpSpPr bwMode="auto">
          <a:xfrm rot="20426173">
            <a:off x="7141078" y="3717338"/>
            <a:ext cx="3517671" cy="1602341"/>
            <a:chOff x="1358" y="1926"/>
            <a:chExt cx="3216" cy="1282"/>
          </a:xfrm>
        </p:grpSpPr>
        <p:sp>
          <p:nvSpPr>
            <p:cNvPr id="39" name="Oval 54">
              <a:extLst>
                <a:ext uri="{FF2B5EF4-FFF2-40B4-BE49-F238E27FC236}">
                  <a16:creationId xmlns:a16="http://schemas.microsoft.com/office/drawing/2014/main" id="{C2E1224E-BA23-4FFE-B9F7-34208EBDDC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3384" y="2640"/>
              <a:ext cx="744" cy="1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55">
              <a:extLst>
                <a:ext uri="{FF2B5EF4-FFF2-40B4-BE49-F238E27FC236}">
                  <a16:creationId xmlns:a16="http://schemas.microsoft.com/office/drawing/2014/main" id="{097332DB-8B58-416F-A1FB-5CFB972C38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3074" y="2554"/>
              <a:ext cx="1168" cy="3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56">
              <a:extLst>
                <a:ext uri="{FF2B5EF4-FFF2-40B4-BE49-F238E27FC236}">
                  <a16:creationId xmlns:a16="http://schemas.microsoft.com/office/drawing/2014/main" id="{0FA7CB3D-F8ED-4E1A-9768-6CFA801E9B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752" y="2415"/>
              <a:ext cx="1591" cy="5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57">
              <a:extLst>
                <a:ext uri="{FF2B5EF4-FFF2-40B4-BE49-F238E27FC236}">
                  <a16:creationId xmlns:a16="http://schemas.microsoft.com/office/drawing/2014/main" id="{A3C73531-36CC-4367-B08B-685A55DBA5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419" y="2295"/>
              <a:ext cx="1986" cy="72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58">
              <a:extLst>
                <a:ext uri="{FF2B5EF4-FFF2-40B4-BE49-F238E27FC236}">
                  <a16:creationId xmlns:a16="http://schemas.microsoft.com/office/drawing/2014/main" id="{A3B12BC2-1AD1-4D33-A7BA-E025533904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026" y="2177"/>
              <a:ext cx="2440" cy="89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59">
              <a:extLst>
                <a:ext uri="{FF2B5EF4-FFF2-40B4-BE49-F238E27FC236}">
                  <a16:creationId xmlns:a16="http://schemas.microsoft.com/office/drawing/2014/main" id="{2C38404D-9443-426C-B578-4E616E5B95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1704" y="2067"/>
              <a:ext cx="2819" cy="10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60">
              <a:extLst>
                <a:ext uri="{FF2B5EF4-FFF2-40B4-BE49-F238E27FC236}">
                  <a16:creationId xmlns:a16="http://schemas.microsoft.com/office/drawing/2014/main" id="{2FAC2D19-A055-414E-9023-9CA02FED68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1358" y="1926"/>
              <a:ext cx="3216" cy="12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" name="Line 14">
            <a:extLst>
              <a:ext uri="{FF2B5EF4-FFF2-40B4-BE49-F238E27FC236}">
                <a16:creationId xmlns:a16="http://schemas.microsoft.com/office/drawing/2014/main" id="{F63F7E9C-3C99-4778-AFA2-DCD570F1F8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206" y="4686920"/>
            <a:ext cx="1098853" cy="71924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" name="Group 64">
            <a:extLst>
              <a:ext uri="{FF2B5EF4-FFF2-40B4-BE49-F238E27FC236}">
                <a16:creationId xmlns:a16="http://schemas.microsoft.com/office/drawing/2014/main" id="{62C87730-6C21-4DF3-A02F-D817BA0BCB8A}"/>
              </a:ext>
            </a:extLst>
          </p:cNvPr>
          <p:cNvGrpSpPr>
            <a:grpSpLocks/>
          </p:cNvGrpSpPr>
          <p:nvPr/>
        </p:nvGrpSpPr>
        <p:grpSpPr bwMode="auto">
          <a:xfrm>
            <a:off x="9456057" y="4009096"/>
            <a:ext cx="92174" cy="1090657"/>
            <a:chOff x="2688" y="2672"/>
            <a:chExt cx="73" cy="568"/>
          </a:xfrm>
        </p:grpSpPr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59F3E171-D209-42CF-86CC-E4A086A849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672"/>
              <a:ext cx="56" cy="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A5EE0E1-BD51-44E9-9501-8D9F6AEF9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198"/>
              <a:ext cx="49" cy="4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Group 64">
            <a:extLst>
              <a:ext uri="{FF2B5EF4-FFF2-40B4-BE49-F238E27FC236}">
                <a16:creationId xmlns:a16="http://schemas.microsoft.com/office/drawing/2014/main" id="{460A566C-6896-45ED-A609-467A48FABA02}"/>
              </a:ext>
            </a:extLst>
          </p:cNvPr>
          <p:cNvGrpSpPr>
            <a:grpSpLocks/>
          </p:cNvGrpSpPr>
          <p:nvPr/>
        </p:nvGrpSpPr>
        <p:grpSpPr bwMode="auto">
          <a:xfrm rot="15833781">
            <a:off x="9775265" y="3835918"/>
            <a:ext cx="103619" cy="1415131"/>
            <a:chOff x="2688" y="2484"/>
            <a:chExt cx="80" cy="756"/>
          </a:xfrm>
        </p:grpSpPr>
        <p:sp>
          <p:nvSpPr>
            <p:cNvPr id="59" name="Line 14">
              <a:extLst>
                <a:ext uri="{FF2B5EF4-FFF2-40B4-BE49-F238E27FC236}">
                  <a16:creationId xmlns:a16="http://schemas.microsoft.com/office/drawing/2014/main" id="{7D514C9B-212A-4C0F-82D0-4FF3A2161B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484"/>
              <a:ext cx="56" cy="7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61">
              <a:extLst>
                <a:ext uri="{FF2B5EF4-FFF2-40B4-BE49-F238E27FC236}">
                  <a16:creationId xmlns:a16="http://schemas.microsoft.com/office/drawing/2014/main" id="{AF290E89-71D5-437C-8091-EAE0CCCEB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184"/>
              <a:ext cx="56" cy="5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Group 64">
            <a:extLst>
              <a:ext uri="{FF2B5EF4-FFF2-40B4-BE49-F238E27FC236}">
                <a16:creationId xmlns:a16="http://schemas.microsoft.com/office/drawing/2014/main" id="{DD1634DE-A82D-4CF9-BB14-C8E31BE91168}"/>
              </a:ext>
            </a:extLst>
          </p:cNvPr>
          <p:cNvGrpSpPr>
            <a:grpSpLocks/>
          </p:cNvGrpSpPr>
          <p:nvPr/>
        </p:nvGrpSpPr>
        <p:grpSpPr bwMode="auto">
          <a:xfrm rot="5678501" flipH="1">
            <a:off x="8337919" y="3811460"/>
            <a:ext cx="249645" cy="2035229"/>
            <a:chOff x="2604" y="2662"/>
            <a:chExt cx="165" cy="573"/>
          </a:xfrm>
        </p:grpSpPr>
        <p:sp>
          <p:nvSpPr>
            <p:cNvPr id="57" name="Line 14">
              <a:extLst>
                <a:ext uri="{FF2B5EF4-FFF2-40B4-BE49-F238E27FC236}">
                  <a16:creationId xmlns:a16="http://schemas.microsoft.com/office/drawing/2014/main" id="{61365EBF-3AE9-47AD-ABBA-B1706C626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4" y="2662"/>
              <a:ext cx="140" cy="5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61">
              <a:extLst>
                <a:ext uri="{FF2B5EF4-FFF2-40B4-BE49-F238E27FC236}">
                  <a16:creationId xmlns:a16="http://schemas.microsoft.com/office/drawing/2014/main" id="{9A2B5FAE-42B6-4968-81B9-DBDABA28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" y="3204"/>
              <a:ext cx="65" cy="3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1" name="Group 64">
            <a:extLst>
              <a:ext uri="{FF2B5EF4-FFF2-40B4-BE49-F238E27FC236}">
                <a16:creationId xmlns:a16="http://schemas.microsoft.com/office/drawing/2014/main" id="{6D12EFD9-F325-4D17-BDA4-2E9C10C80642}"/>
              </a:ext>
            </a:extLst>
          </p:cNvPr>
          <p:cNvGrpSpPr>
            <a:grpSpLocks/>
          </p:cNvGrpSpPr>
          <p:nvPr/>
        </p:nvGrpSpPr>
        <p:grpSpPr bwMode="auto">
          <a:xfrm rot="7253310">
            <a:off x="9834225" y="3659231"/>
            <a:ext cx="214169" cy="1156435"/>
            <a:chOff x="2688" y="2484"/>
            <a:chExt cx="80" cy="756"/>
          </a:xfrm>
        </p:grpSpPr>
        <p:sp>
          <p:nvSpPr>
            <p:cNvPr id="55" name="Line 14">
              <a:extLst>
                <a:ext uri="{FF2B5EF4-FFF2-40B4-BE49-F238E27FC236}">
                  <a16:creationId xmlns:a16="http://schemas.microsoft.com/office/drawing/2014/main" id="{771634D0-BB81-4AB2-8338-4A4020C43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484"/>
              <a:ext cx="56" cy="7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61">
              <a:extLst>
                <a:ext uri="{FF2B5EF4-FFF2-40B4-BE49-F238E27FC236}">
                  <a16:creationId xmlns:a16="http://schemas.microsoft.com/office/drawing/2014/main" id="{8B86F7E2-9A5D-4731-B936-7FD269122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3187"/>
              <a:ext cx="36" cy="5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Group 64">
            <a:extLst>
              <a:ext uri="{FF2B5EF4-FFF2-40B4-BE49-F238E27FC236}">
                <a16:creationId xmlns:a16="http://schemas.microsoft.com/office/drawing/2014/main" id="{C5C838B0-F3DC-4437-9862-AA48A6E172AB}"/>
              </a:ext>
            </a:extLst>
          </p:cNvPr>
          <p:cNvGrpSpPr>
            <a:grpSpLocks/>
          </p:cNvGrpSpPr>
          <p:nvPr/>
        </p:nvGrpSpPr>
        <p:grpSpPr bwMode="auto">
          <a:xfrm rot="3224279">
            <a:off x="9375040" y="4015491"/>
            <a:ext cx="303089" cy="932190"/>
            <a:chOff x="2712" y="2742"/>
            <a:chExt cx="234" cy="498"/>
          </a:xfrm>
        </p:grpSpPr>
        <p:sp>
          <p:nvSpPr>
            <p:cNvPr id="53" name="Line 14">
              <a:extLst>
                <a:ext uri="{FF2B5EF4-FFF2-40B4-BE49-F238E27FC236}">
                  <a16:creationId xmlns:a16="http://schemas.microsoft.com/office/drawing/2014/main" id="{9B83C72E-6E23-433F-8207-8782307DD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2" y="2742"/>
              <a:ext cx="214" cy="4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Oval 61">
              <a:extLst>
                <a:ext uri="{FF2B5EF4-FFF2-40B4-BE49-F238E27FC236}">
                  <a16:creationId xmlns:a16="http://schemas.microsoft.com/office/drawing/2014/main" id="{4559D508-552D-4DAB-9F92-7448168D7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209"/>
              <a:ext cx="63" cy="3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890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E118-5E32-10C1-9359-7F1DBBBA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EBF92-1145-5F8F-F726-BF051D864E8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49324" y="1049087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Analytical derivatives (Chapters 5 and 12 RLSO)</a:t>
                </a:r>
              </a:p>
              <a:p>
                <a:pPr marL="574675" indent="0">
                  <a:buNone/>
                </a:pPr>
                <a:r>
                  <a:rPr lang="en-US" sz="2400" dirty="0"/>
                  <a:t>We need the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marL="571500" lvl="1" indent="0">
                  <a:buNone/>
                </a:pPr>
                <a:endParaRPr lang="en-US" sz="2000" dirty="0"/>
              </a:p>
              <a:p>
                <a:pPr marL="574675" lvl="1" indent="0">
                  <a:buNone/>
                </a:pPr>
                <a:r>
                  <a:rPr lang="en-US" dirty="0"/>
                  <a:t>This turns into a big exercise in the chain rule</a:t>
                </a:r>
              </a:p>
              <a:p>
                <a:pPr marL="574675" lvl="1" indent="0">
                  <a:buNone/>
                </a:pPr>
                <a:endParaRPr lang="en-US" dirty="0"/>
              </a:p>
              <a:p>
                <a:pPr marL="574675" lvl="1" indent="0">
                  <a:buNone/>
                </a:pPr>
                <a:endParaRPr lang="en-US" sz="2000" dirty="0"/>
              </a:p>
              <a:p>
                <a:pPr marL="574675" lvl="1" indent="0">
                  <a:buNone/>
                </a:pPr>
                <a:endParaRPr lang="en-US" sz="2000" dirty="0"/>
              </a:p>
              <a:p>
                <a:pPr marL="574675" lvl="1" indent="0">
                  <a:buNone/>
                </a:pPr>
                <a:endParaRPr lang="en-US" sz="2000" dirty="0"/>
              </a:p>
              <a:p>
                <a:pPr marL="574675" lvl="1" indent="0">
                  <a:buNone/>
                </a:pPr>
                <a:r>
                  <a:rPr lang="en-US" dirty="0"/>
                  <a:t>where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EBF92-1145-5F8F-F726-BF051D864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9324" y="1049087"/>
                <a:ext cx="10363200" cy="4401600"/>
              </a:xfrm>
              <a:blipFill>
                <a:blip r:embed="rId2"/>
                <a:stretch>
                  <a:fillRect l="-353" b="-3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E1CB717-4EE0-898E-3C00-362C7DFBB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7181" t="3211" r="17732" b="68176"/>
          <a:stretch>
            <a:fillRect/>
          </a:stretch>
        </p:blipFill>
        <p:spPr>
          <a:xfrm>
            <a:off x="1800520" y="3598922"/>
            <a:ext cx="7051249" cy="15763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31F101-91A8-614E-E4AF-3A13CDDCFB16}"/>
                  </a:ext>
                </a:extLst>
              </p:cNvPr>
              <p:cNvSpPr txBox="1"/>
              <p:nvPr/>
            </p:nvSpPr>
            <p:spPr>
              <a:xfrm>
                <a:off x="2871641" y="2070553"/>
                <a:ext cx="3811963" cy="107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31F101-91A8-614E-E4AF-3A13CDDCF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41" y="2070553"/>
                <a:ext cx="3811963" cy="1074910"/>
              </a:xfrm>
              <a:prstGeom prst="rect">
                <a:avLst/>
              </a:prstGeom>
              <a:blipFill>
                <a:blip r:embed="rId5"/>
                <a:stretch>
                  <a:fillRect r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2098BAC-9A21-6376-1FEC-A62DBB348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8555" t="46808" r="17732" b="37149"/>
          <a:stretch>
            <a:fillRect/>
          </a:stretch>
        </p:blipFill>
        <p:spPr>
          <a:xfrm>
            <a:off x="2234153" y="5549265"/>
            <a:ext cx="6947555" cy="8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83515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431C-575A-9794-174F-6BF4C928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AB2F03-4FBE-23EA-E305-900AE72563B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6242" y="1031839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Derivative-based stochastic search is attractive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a vector (and essential if it is a large vector).</a:t>
                </a:r>
              </a:p>
              <a:p>
                <a:pPr lvl="2"/>
                <a:endParaRPr lang="en-US" sz="1400" dirty="0"/>
              </a:p>
              <a:p>
                <a:pPr lvl="1"/>
                <a:r>
                  <a:rPr lang="en-US" dirty="0"/>
                  <a:t>There are problems where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differentiable.</a:t>
                </a:r>
              </a:p>
              <a:p>
                <a:pPr lvl="2"/>
                <a:endParaRPr lang="en-US" sz="1400" dirty="0"/>
              </a:p>
              <a:p>
                <a:pPr lvl="1"/>
                <a:r>
                  <a:rPr lang="en-US" dirty="0"/>
                  <a:t>Policies using neural networks can exploit powerful algorithms using backpropagation.</a:t>
                </a:r>
              </a:p>
              <a:p>
                <a:pPr lvl="2"/>
                <a:endParaRPr lang="en-US" sz="1400" dirty="0"/>
              </a:p>
              <a:p>
                <a:pPr lvl="1"/>
                <a:r>
                  <a:rPr lang="en-US" dirty="0"/>
                  <a:t>This still requires being able to differentiate:</a:t>
                </a:r>
              </a:p>
              <a:p>
                <a:pPr lvl="2"/>
                <a:r>
                  <a:rPr lang="en-US" dirty="0"/>
                  <a:t>The performance metrics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transition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and the policy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sz="1400" dirty="0"/>
              </a:p>
              <a:p>
                <a:pPr lvl="1"/>
                <a:r>
                  <a:rPr lang="en-US" dirty="0"/>
                  <a:t>These problems exist, but they are not common.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AB2F03-4FBE-23EA-E305-900AE7256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6242" y="1031839"/>
                <a:ext cx="10363200" cy="4401600"/>
              </a:xfrm>
              <a:blipFill>
                <a:blip r:embed="rId2"/>
                <a:stretch>
                  <a:fillRect l="-353" b="-12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752511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C410BC5-1A11-C81C-3D72-99C7F963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CEF640-7932-7B20-59AE-F94ECF5C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E6CB6DD0-E655-63BD-59D5-2C1F209AD5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8F7E32DB-7872-8DB6-2CA5-2E294E498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Policy search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Exact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Derivative-based stochastic search – Numerical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Derivative-free stochastic search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Stochastic search as a sequential decision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mutual fund cash management game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5E496-5224-C79E-40F7-134FA05EA7D0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02924185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7460" y="1009650"/>
                <a:ext cx="10182225" cy="49530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600" dirty="0"/>
                  <a:t>Numerical derivatives</a:t>
                </a:r>
                <a:endParaRPr lang="en-US" sz="1200" dirty="0"/>
              </a:p>
              <a:p>
                <a:pPr lvl="1"/>
                <a:r>
                  <a:rPr lang="en-US" sz="2000" dirty="0"/>
                  <a:t>Simultaneous perturbation stochastic approximation (SPSA) by Jim Spall</a:t>
                </a:r>
              </a:p>
              <a:p>
                <a:pPr lvl="1"/>
                <a:endParaRPr lang="en-US" sz="2000" dirty="0"/>
              </a:p>
              <a:p>
                <a:pPr lvl="1"/>
                <a:r>
                  <a:rPr lang="en-US" sz="2000" dirty="0"/>
                  <a:t>Let: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</a:rPr>
                  <a:t>be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</a:rPr>
                  <a:t>dimensional vector. </a:t>
                </a: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be a scalar perturbation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be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dirty="0"/>
                  <a:t> dimensional random vector, with each element drawn from a normal (0,1) distribution.</a:t>
                </a:r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460" y="1009650"/>
                <a:ext cx="10182225" cy="4953000"/>
              </a:xfrm>
              <a:blipFill>
                <a:blip r:embed="rId2"/>
                <a:stretch>
                  <a:fillRect l="-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6BEB95AD-E6B4-70E7-7C3C-79B09B4181A2}"/>
                  </a:ext>
                </a:extLst>
              </p:cNvPr>
              <p:cNvSpPr txBox="1"/>
              <p:nvPr/>
            </p:nvSpPr>
            <p:spPr>
              <a:xfrm>
                <a:off x="3795516" y="4076164"/>
                <a:ext cx="2052638" cy="2303461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∼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(0,1)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∼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(0,1)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6BEB95AD-E6B4-70E7-7C3C-79B09B418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516" y="4076164"/>
                <a:ext cx="2052638" cy="23034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211982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1E7D-E013-FE89-863B-04F7AC46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A639-4C26-5929-8558-E35F16BA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423CA-D8C9-5067-BCC7-1505850F0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7460" y="1009650"/>
                <a:ext cx="11554581" cy="49530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600" dirty="0"/>
                  <a:t>Numerical derivatives</a:t>
                </a:r>
                <a:endParaRPr lang="en-US" sz="1200" dirty="0"/>
              </a:p>
              <a:p>
                <a:pPr lvl="1"/>
                <a:r>
                  <a:rPr lang="en-US" sz="2000" dirty="0"/>
                  <a:t>Simultaneous perturbation stochastic approximation (SPSA)</a:t>
                </a:r>
                <a:endParaRPr lang="en-US" sz="2200" dirty="0"/>
              </a:p>
              <a:p>
                <a:pPr lvl="1"/>
                <a:r>
                  <a:rPr lang="en-US" sz="2000" dirty="0"/>
                  <a:t>Each function evaluation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+/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/>
                  <a:t> requires simulating the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We can estimate of the gradient using two simulations: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800" dirty="0"/>
              </a:p>
              <a:p>
                <a:pPr lvl="2"/>
                <a:endParaRPr lang="en-US" sz="2400" dirty="0"/>
              </a:p>
              <a:p>
                <a:pPr lvl="2"/>
                <a:endParaRPr lang="en-US" sz="2400" dirty="0"/>
              </a:p>
              <a:p>
                <a:pPr lvl="2"/>
                <a:endParaRPr lang="en-US" sz="1800" dirty="0"/>
              </a:p>
              <a:p>
                <a:pPr lvl="1"/>
                <a:r>
                  <a:rPr lang="en-US" sz="2000" dirty="0"/>
                  <a:t>The simulations required to compute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are typically very noisy, so we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𝑏𝑎𝑡𝑐ℎ</m:t>
                        </m:r>
                      </m:sup>
                    </m:sSup>
                  </m:oMath>
                </a14:m>
                <a:r>
                  <a:rPr lang="en-US" sz="2000" dirty="0"/>
                  <a:t> (“mini-batch”) repetitions and take an average.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423CA-D8C9-5067-BCC7-1505850F0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460" y="1009650"/>
                <a:ext cx="11554581" cy="4953000"/>
              </a:xfrm>
              <a:blipFill>
                <a:blip r:embed="rId2"/>
                <a:stretch>
                  <a:fillRect l="-211" b="-2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3ECDDE26-7C78-5A5E-27E0-463129FDF304}"/>
                  </a:ext>
                </a:extLst>
              </p:cNvPr>
              <p:cNvSpPr txBox="1"/>
              <p:nvPr/>
            </p:nvSpPr>
            <p:spPr>
              <a:xfrm>
                <a:off x="1650701" y="2987822"/>
                <a:ext cx="5288015" cy="23288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3ECDDE26-7C78-5A5E-27E0-463129FDF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701" y="2987822"/>
                <a:ext cx="5288015" cy="2328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215399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3160-9821-BFBD-ABB1-CA43738C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42D95A-BFC7-0C16-4780-68D2DD20AA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Stochastic gradient algorithm</a:t>
                </a:r>
              </a:p>
              <a:p>
                <a:pPr lvl="1"/>
                <a:r>
                  <a:rPr lang="en-US" dirty="0"/>
                  <a:t>The search algorithm for the best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assuming we are maximizing an objective, looks like: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r>
                  <a:rPr lang="en-US" dirty="0"/>
                  <a:t>     …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computed using Spall’s SPSA algorithm.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We have two issues to resolve:</a:t>
                </a:r>
              </a:p>
              <a:p>
                <a:pPr lvl="2"/>
                <a:r>
                  <a:rPr lang="en-US" dirty="0"/>
                  <a:t>Spall’s SPSA gradient depends on two simulations, that are typically very noisy.</a:t>
                </a:r>
              </a:p>
              <a:p>
                <a:pPr lvl="2"/>
                <a:r>
                  <a:rPr lang="en-US" dirty="0"/>
                  <a:t>We still need to choose the </a:t>
                </a:r>
                <a:r>
                  <a:rPr lang="en-US" dirty="0" err="1"/>
                  <a:t>stepsize</a:t>
                </a:r>
                <a:r>
                  <a:rPr lang="en-US" dirty="0"/>
                  <a:t>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42D95A-BFC7-0C16-4780-68D2DD20A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353" r="-706" b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0C5766-CF9F-3888-A199-5F53302294FA}"/>
                  </a:ext>
                </a:extLst>
              </p:cNvPr>
              <p:cNvSpPr txBox="1"/>
              <p:nvPr/>
            </p:nvSpPr>
            <p:spPr>
              <a:xfrm>
                <a:off x="2021700" y="2910525"/>
                <a:ext cx="37119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0C5766-CF9F-3888-A199-5F5330229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700" y="2910525"/>
                <a:ext cx="3711914" cy="400110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981851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7C6C9-2FA0-4210-843E-F4D3B67A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C19A-9998-8B64-9384-054E495E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EFAE007-329D-42F0-DEEA-2FBA724161E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22703" y="1058621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Managing noisy simulations</a:t>
                </a:r>
              </a:p>
              <a:p>
                <a:pPr lvl="2"/>
                <a:endParaRPr lang="en-US" sz="1400" dirty="0"/>
              </a:p>
              <a:p>
                <a:pPr lvl="1"/>
                <a:r>
                  <a:rPr lang="en-US" dirty="0"/>
                  <a:t>The optimization community mitigates the noise of simulations by replacing the two single simulations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with averages.  </a:t>
                </a:r>
              </a:p>
              <a:p>
                <a:pPr lvl="1"/>
                <a:r>
                  <a:rPr lang="en-US" dirty="0"/>
                  <a:t>Run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𝑏𝑎𝑡𝑐ℎ</m:t>
                        </m:r>
                      </m:sup>
                    </m:sSup>
                  </m:oMath>
                </a14:m>
                <a:r>
                  <a:rPr lang="en-US" dirty="0"/>
                  <a:t> (known as the “mini-batch” in the optimization community) iterations.  For each run, sample a fresh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values which we denote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Let </a:t>
                </a:r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Now replace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/>
                  <a:t> in the SPSA formula.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EFAE007-329D-42F0-DEEA-2FBA72416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2703" y="1058621"/>
                <a:ext cx="10363200" cy="4401600"/>
              </a:xfrm>
              <a:blipFill>
                <a:blip r:embed="rId2"/>
                <a:stretch>
                  <a:fillRect l="-353" r="-647" b="-24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6BCB99-2E30-B3D0-D15B-C1A6DB69A056}"/>
                  </a:ext>
                </a:extLst>
              </p:cNvPr>
              <p:cNvSpPr txBox="1"/>
              <p:nvPr/>
            </p:nvSpPr>
            <p:spPr>
              <a:xfrm>
                <a:off x="1596603" y="4442541"/>
                <a:ext cx="4301434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𝑏𝑎𝑡𝑐ℎ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𝑏𝑎𝑡𝑐ℎ</m:t>
                              </m:r>
                            </m:sup>
                          </m:sSup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6BCB99-2E30-B3D0-D15B-C1A6DB69A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603" y="4442541"/>
                <a:ext cx="4301434" cy="1016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7440DB-6A00-0697-8D51-F20837959F1C}"/>
                  </a:ext>
                </a:extLst>
              </p:cNvPr>
              <p:cNvSpPr txBox="1"/>
              <p:nvPr/>
            </p:nvSpPr>
            <p:spPr>
              <a:xfrm>
                <a:off x="6801768" y="4444109"/>
                <a:ext cx="4301434" cy="1016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𝑏𝑎𝑡𝑐ℎ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𝑏𝑎𝑡𝑐ℎ</m:t>
                              </m:r>
                            </m:sup>
                          </m:sSup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7440DB-6A00-0697-8D51-F20837959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768" y="4444109"/>
                <a:ext cx="4301434" cy="1016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780686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DDF4-4300-2D25-4931-A1DB9342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A0823A-B182-E079-62FD-35532D0CE6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0982" y="1062672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Stepsizes:</a:t>
                </a:r>
              </a:p>
              <a:p>
                <a:pPr lvl="1"/>
                <a:r>
                  <a:rPr lang="en-US" dirty="0"/>
                  <a:t>There are a variety of </a:t>
                </a:r>
                <a:r>
                  <a:rPr lang="en-US" dirty="0" err="1"/>
                  <a:t>stepsize</a:t>
                </a:r>
                <a:r>
                  <a:rPr lang="en-US" dirty="0"/>
                  <a:t> formulas</a:t>
                </a:r>
              </a:p>
              <a:p>
                <a:pPr lvl="2"/>
                <a:r>
                  <a:rPr lang="en-US" dirty="0"/>
                  <a:t>Deterministic – A popular deterministic </a:t>
                </a:r>
                <a:r>
                  <a:rPr lang="en-US" dirty="0" err="1"/>
                  <a:t>stepsize</a:t>
                </a:r>
                <a:r>
                  <a:rPr lang="en-US" dirty="0"/>
                  <a:t> formula is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Stochastic </a:t>
                </a:r>
                <a:r>
                  <a:rPr lang="en-US" dirty="0" err="1"/>
                  <a:t>stepsize</a:t>
                </a:r>
                <a:r>
                  <a:rPr lang="en-US" dirty="0"/>
                  <a:t> formulas</a:t>
                </a:r>
              </a:p>
              <a:p>
                <a:pPr lvl="2"/>
                <a:r>
                  <a:rPr lang="en-US" dirty="0"/>
                  <a:t>A popular formula is </a:t>
                </a:r>
                <a:r>
                  <a:rPr lang="en-US" dirty="0" err="1"/>
                  <a:t>RMSProp</a:t>
                </a:r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marL="1028700" lvl="2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tunable parameter and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dirty="0"/>
                  <a:t> is a learning rate (typically a constant, but possibly a deterministic </a:t>
                </a:r>
                <a:r>
                  <a:rPr lang="en-US" dirty="0" err="1"/>
                  <a:t>stepsize</a:t>
                </a:r>
                <a:r>
                  <a:rPr lang="en-US" dirty="0"/>
                  <a:t> formula).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 smoothed estimate of the gradient.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A0823A-B182-E079-62FD-35532D0CE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0982" y="1062672"/>
                <a:ext cx="10363200" cy="4401600"/>
              </a:xfrm>
              <a:blipFill>
                <a:blip r:embed="rId2"/>
                <a:stretch>
                  <a:fillRect l="-412" b="-13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86B5BA-17EE-BE4F-CE8A-DC442A6A7DB4}"/>
                  </a:ext>
                </a:extLst>
              </p:cNvPr>
              <p:cNvSpPr txBox="1"/>
              <p:nvPr/>
            </p:nvSpPr>
            <p:spPr>
              <a:xfrm>
                <a:off x="2107793" y="4307648"/>
                <a:ext cx="6361870" cy="550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sz="1800" dirty="0"/>
                  <a:t> 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86B5BA-17EE-BE4F-CE8A-DC442A6A7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793" y="4307648"/>
                <a:ext cx="6361870" cy="5504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141346-4A95-88A9-901E-249E62F8F75A}"/>
                  </a:ext>
                </a:extLst>
              </p:cNvPr>
              <p:cNvSpPr txBox="1"/>
              <p:nvPr/>
            </p:nvSpPr>
            <p:spPr>
              <a:xfrm>
                <a:off x="2413261" y="2535487"/>
                <a:ext cx="2132314" cy="649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𝑠𝑡𝑒𝑝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𝑠𝑡𝑒𝑝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141346-4A95-88A9-901E-249E62F8F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261" y="2535487"/>
                <a:ext cx="2132314" cy="6493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326470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9FD8-F5B6-DEC4-C7CF-E4153ECF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A002C4A-80AD-E498-7577-3C6ED4BD8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50" y="1323093"/>
            <a:ext cx="7979158" cy="5038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D3BD75-33AD-90A6-80C3-DF1988E5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7DAAE-CAC2-6706-A641-D48224A59B24}"/>
                  </a:ext>
                </a:extLst>
              </p:cNvPr>
              <p:cNvSpPr txBox="1"/>
              <p:nvPr/>
            </p:nvSpPr>
            <p:spPr>
              <a:xfrm>
                <a:off x="6783468" y="2578428"/>
                <a:ext cx="1517275" cy="405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𝑏𝑎𝑡𝑐ℎ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660066"/>
                    </a:solidFill>
                  </a:rPr>
                  <a:t> = 40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7DAAE-CAC2-6706-A641-D48224A59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468" y="2578428"/>
                <a:ext cx="1517275" cy="405624"/>
              </a:xfrm>
              <a:prstGeom prst="rect">
                <a:avLst/>
              </a:prstGeom>
              <a:blipFill>
                <a:blip r:embed="rId3"/>
                <a:stretch>
                  <a:fillRect t="-7463" r="-2811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AD43DF-A21D-7076-17EB-A0AE708080EF}"/>
                  </a:ext>
                </a:extLst>
              </p:cNvPr>
              <p:cNvSpPr txBox="1"/>
              <p:nvPr/>
            </p:nvSpPr>
            <p:spPr>
              <a:xfrm>
                <a:off x="5137748" y="1844216"/>
                <a:ext cx="1517275" cy="405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BC8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BC8F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BC8F00"/>
                            </a:solidFill>
                            <a:latin typeface="Cambria Math" panose="02040503050406030204" pitchFamily="18" charset="0"/>
                          </a:rPr>
                          <m:t>𝑏𝑎𝑡𝑐ℎ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BC8F00"/>
                    </a:solidFill>
                  </a:rPr>
                  <a:t> = 20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AD43DF-A21D-7076-17EB-A0AE70808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748" y="1844216"/>
                <a:ext cx="1517275" cy="405624"/>
              </a:xfrm>
              <a:prstGeom prst="rect">
                <a:avLst/>
              </a:prstGeom>
              <a:blipFill>
                <a:blip r:embed="rId4"/>
                <a:stretch>
                  <a:fillRect t="-7576" r="-281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147C29-ABDF-93BB-E229-33CB3A230117}"/>
                  </a:ext>
                </a:extLst>
              </p:cNvPr>
              <p:cNvSpPr txBox="1"/>
              <p:nvPr/>
            </p:nvSpPr>
            <p:spPr>
              <a:xfrm>
                <a:off x="2466487" y="2553095"/>
                <a:ext cx="1446743" cy="4056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C475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C475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C47500"/>
                            </a:solidFill>
                            <a:latin typeface="Cambria Math" panose="02040503050406030204" pitchFamily="18" charset="0"/>
                          </a:rPr>
                          <m:t>𝑏𝑎𝑡𝑐ℎ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47500"/>
                    </a:solidFill>
                  </a:rPr>
                  <a:t>= 10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147C29-ABDF-93BB-E229-33CB3A230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487" y="2553095"/>
                <a:ext cx="1446743" cy="405624"/>
              </a:xfrm>
              <a:prstGeom prst="rect">
                <a:avLst/>
              </a:prstGeom>
              <a:blipFill>
                <a:blip r:embed="rId5"/>
                <a:stretch>
                  <a:fillRect t="-7576" r="-33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1A4886-2CF4-A6DB-832F-4C1B8EB0E7D9}"/>
                  </a:ext>
                </a:extLst>
              </p:cNvPr>
              <p:cNvSpPr txBox="1"/>
              <p:nvPr/>
            </p:nvSpPr>
            <p:spPr>
              <a:xfrm>
                <a:off x="3372760" y="2034970"/>
                <a:ext cx="1374607" cy="405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C69A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C69A6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C69A6"/>
                            </a:solidFill>
                            <a:latin typeface="Cambria Math" panose="02040503050406030204" pitchFamily="18" charset="0"/>
                          </a:rPr>
                          <m:t>𝑏𝑎𝑡𝑐ℎ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C69A6"/>
                    </a:solidFill>
                  </a:rPr>
                  <a:t> = 1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1A4886-2CF4-A6DB-832F-4C1B8EB0E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760" y="2034970"/>
                <a:ext cx="1374607" cy="405624"/>
              </a:xfrm>
              <a:prstGeom prst="rect">
                <a:avLst/>
              </a:prstGeom>
              <a:blipFill>
                <a:blip r:embed="rId6"/>
                <a:stretch>
                  <a:fillRect t="-7576" r="-354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3B4B9B3-9B99-2907-71A3-1214C9880A4A}"/>
              </a:ext>
            </a:extLst>
          </p:cNvPr>
          <p:cNvSpPr/>
          <p:nvPr/>
        </p:nvSpPr>
        <p:spPr>
          <a:xfrm>
            <a:off x="8276813" y="4911082"/>
            <a:ext cx="1493596" cy="8765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E030A-F212-52CE-2313-AA36F4D16E70}"/>
              </a:ext>
            </a:extLst>
          </p:cNvPr>
          <p:cNvSpPr txBox="1"/>
          <p:nvPr/>
        </p:nvSpPr>
        <p:spPr>
          <a:xfrm>
            <a:off x="4497478" y="6071712"/>
            <a:ext cx="37176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Number of function evaluations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0AA074-083C-0978-0B9B-779767E17FEC}"/>
              </a:ext>
            </a:extLst>
          </p:cNvPr>
          <p:cNvSpPr/>
          <p:nvPr/>
        </p:nvSpPr>
        <p:spPr>
          <a:xfrm>
            <a:off x="3084648" y="4145969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7E3D8A-3471-8CE2-CFCA-0AA705029F12}"/>
              </a:ext>
            </a:extLst>
          </p:cNvPr>
          <p:cNvSpPr/>
          <p:nvPr/>
        </p:nvSpPr>
        <p:spPr>
          <a:xfrm>
            <a:off x="3337529" y="371556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B46F2D-653E-8CD0-91AE-96A44B3570CC}"/>
              </a:ext>
            </a:extLst>
          </p:cNvPr>
          <p:cNvSpPr/>
          <p:nvPr/>
        </p:nvSpPr>
        <p:spPr>
          <a:xfrm>
            <a:off x="3610505" y="3737342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605E3B-BA3C-8E68-A363-861C0471EEB5}"/>
              </a:ext>
            </a:extLst>
          </p:cNvPr>
          <p:cNvSpPr/>
          <p:nvPr/>
        </p:nvSpPr>
        <p:spPr>
          <a:xfrm>
            <a:off x="3953823" y="321650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966E3F-9425-86A1-C0B9-1CDB758F7BE8}"/>
              </a:ext>
            </a:extLst>
          </p:cNvPr>
          <p:cNvSpPr/>
          <p:nvPr/>
        </p:nvSpPr>
        <p:spPr>
          <a:xfrm>
            <a:off x="4256948" y="3589968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71CF398-64C0-5DEF-EF5C-C86FB0E5DB4E}"/>
              </a:ext>
            </a:extLst>
          </p:cNvPr>
          <p:cNvSpPr/>
          <p:nvPr/>
        </p:nvSpPr>
        <p:spPr>
          <a:xfrm>
            <a:off x="4489732" y="3159567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9AC9EA-C8EB-CBB2-DA50-EE8CF4D72ACE}"/>
              </a:ext>
            </a:extLst>
          </p:cNvPr>
          <p:cNvSpPr/>
          <p:nvPr/>
        </p:nvSpPr>
        <p:spPr>
          <a:xfrm>
            <a:off x="4682324" y="2859795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65BADF6-CC3D-2E2C-B154-48BCD2F4AF20}"/>
              </a:ext>
            </a:extLst>
          </p:cNvPr>
          <p:cNvSpPr/>
          <p:nvPr/>
        </p:nvSpPr>
        <p:spPr>
          <a:xfrm>
            <a:off x="5065833" y="253992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E20A8A-655F-D918-6A53-71E93C7557A9}"/>
              </a:ext>
            </a:extLst>
          </p:cNvPr>
          <p:cNvSpPr/>
          <p:nvPr/>
        </p:nvSpPr>
        <p:spPr>
          <a:xfrm>
            <a:off x="5389057" y="2702374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622168-2901-F7BF-E788-03C1EA7E23BD}"/>
              </a:ext>
            </a:extLst>
          </p:cNvPr>
          <p:cNvSpPr/>
          <p:nvPr/>
        </p:nvSpPr>
        <p:spPr>
          <a:xfrm>
            <a:off x="5672085" y="2332263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1DA40F-0E21-FDCC-4062-CEF85008045A}"/>
              </a:ext>
            </a:extLst>
          </p:cNvPr>
          <p:cNvSpPr/>
          <p:nvPr/>
        </p:nvSpPr>
        <p:spPr>
          <a:xfrm>
            <a:off x="5834533" y="2293747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4E5105-50E3-5C9B-793D-CF6D2A6D861C}"/>
              </a:ext>
            </a:extLst>
          </p:cNvPr>
          <p:cNvSpPr/>
          <p:nvPr/>
        </p:nvSpPr>
        <p:spPr>
          <a:xfrm>
            <a:off x="6107511" y="2144699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12C1E-1FE1-7D9B-55B4-07D7B4FCE6DE}"/>
              </a:ext>
            </a:extLst>
          </p:cNvPr>
          <p:cNvSpPr txBox="1"/>
          <p:nvPr/>
        </p:nvSpPr>
        <p:spPr>
          <a:xfrm>
            <a:off x="8950094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2A86A3D2-A8D1-BFC5-B13D-9F75252319B2}"/>
                  </a:ext>
                </a:extLst>
              </p:cNvPr>
              <p:cNvSpPr txBox="1"/>
              <p:nvPr/>
            </p:nvSpPr>
            <p:spPr>
              <a:xfrm>
                <a:off x="5438857" y="4480053"/>
                <a:ext cx="3830637" cy="4730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2A86A3D2-A8D1-BFC5-B13D-9F7525231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857" y="4480053"/>
                <a:ext cx="3830637" cy="473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172183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48DCCA5-6C29-D6EB-46D1-E6E67479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AB8DE9-79C4-5CA9-6010-C57AA1D6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64B6A5BC-C907-75D3-DF20-73498A74FF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41FA1FF0-1669-06B5-5D58-12D8E1D2B5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Policy search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Exact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Numerical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Derivative-free stochastic search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Stochastic search as a sequential decision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mutual fund cash management game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A6BE3F-55AC-A1BF-90BB-8ED0B5921535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223664028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body" idx="1"/>
          </p:nvPr>
        </p:nvSpPr>
        <p:spPr>
          <a:xfrm>
            <a:off x="355928" y="1214889"/>
            <a:ext cx="10221192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Derivative free stochastic search is known under a variety of names: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2027300" y="353850"/>
            <a:ext cx="82107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Policy search: Derivative-free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83723" y="2703070"/>
            <a:ext cx="3487154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Multi-armed bandit problems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668718" y="2067598"/>
            <a:ext cx="3595611" cy="461624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Intelligent trial and error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8648395" y="2685306"/>
            <a:ext cx="2933966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Derivative-free stochastic search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397560" y="4220747"/>
            <a:ext cx="2651700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Bayesian optimization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657480" y="4135301"/>
            <a:ext cx="2147019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Active learning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2" name="Google Shape;165;p20">
            <a:extLst>
              <a:ext uri="{FF2B5EF4-FFF2-40B4-BE49-F238E27FC236}">
                <a16:creationId xmlns:a16="http://schemas.microsoft.com/office/drawing/2014/main" id="{B9CD56E6-15C9-2177-B8EE-D47AC455E2FC}"/>
              </a:ext>
            </a:extLst>
          </p:cNvPr>
          <p:cNvSpPr txBox="1"/>
          <p:nvPr/>
        </p:nvSpPr>
        <p:spPr>
          <a:xfrm>
            <a:off x="7462365" y="5423298"/>
            <a:ext cx="3487154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Ranking and selection/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Simulation-optimization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3" name="Google Shape;169;p20">
            <a:extLst>
              <a:ext uri="{FF2B5EF4-FFF2-40B4-BE49-F238E27FC236}">
                <a16:creationId xmlns:a16="http://schemas.microsoft.com/office/drawing/2014/main" id="{DE663263-8124-00D5-44C8-D85A15E36777}"/>
              </a:ext>
            </a:extLst>
          </p:cNvPr>
          <p:cNvSpPr txBox="1"/>
          <p:nvPr/>
        </p:nvSpPr>
        <p:spPr>
          <a:xfrm>
            <a:off x="811095" y="5361470"/>
            <a:ext cx="3595611" cy="461624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Design of experiments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" name="Google Shape;175;p20">
            <a:extLst>
              <a:ext uri="{FF2B5EF4-FFF2-40B4-BE49-F238E27FC236}">
                <a16:creationId xmlns:a16="http://schemas.microsoft.com/office/drawing/2014/main" id="{1E39B0CD-4A7D-F9FD-0C71-D09A08C371A4}"/>
              </a:ext>
            </a:extLst>
          </p:cNvPr>
          <p:cNvSpPr txBox="1"/>
          <p:nvPr/>
        </p:nvSpPr>
        <p:spPr>
          <a:xfrm>
            <a:off x="4776456" y="3216637"/>
            <a:ext cx="3317024" cy="461624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Optimal learning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8701911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9E47-690B-E5AC-8A27-BBF9F47A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5DBA-B7F1-0B75-D116-7C888036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Derivative-free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AF245F-7FC4-B3D7-1F98-B81D32901F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5" y="1176783"/>
                <a:ext cx="7298198" cy="4953000"/>
              </a:xfrm>
            </p:spPr>
            <p:txBody>
              <a:bodyPr/>
              <a:lstStyle/>
              <a:p>
                <a:pPr marL="687388" lvl="1"/>
                <a:r>
                  <a:rPr lang="en-US" dirty="0"/>
                  <a:t>Typical strategy:</a:t>
                </a:r>
              </a:p>
              <a:p>
                <a:pPr lvl="2"/>
                <a:endParaRPr lang="en-US" dirty="0"/>
              </a:p>
              <a:p>
                <a:pPr marL="1141413" lvl="2"/>
                <a:r>
                  <a:rPr lang="en-US" dirty="0"/>
                  <a:t>Build a belief model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US" dirty="0"/>
                  <a:t> that approximates our function.</a:t>
                </a:r>
              </a:p>
              <a:p>
                <a:pPr marL="1598613" lvl="3"/>
                <a:r>
                  <a:rPr lang="en-US" dirty="0"/>
                  <a:t>Lookup tables – Helps to use hierarchical aggregation (see Chapter 3 of RLSO)</a:t>
                </a:r>
              </a:p>
              <a:p>
                <a:pPr marL="1598613" lvl="3"/>
                <a:r>
                  <a:rPr lang="en-US" dirty="0"/>
                  <a:t>Parametric models – Assumes we can fit a functional form to the entire surface.</a:t>
                </a:r>
              </a:p>
              <a:p>
                <a:pPr marL="1598613" lvl="3"/>
                <a:r>
                  <a:rPr lang="en-US" dirty="0"/>
                  <a:t>Nonparametric models – e.g. locally constant, locally linear, Gaussian process regression,…. More complex but fits general surfaces. </a:t>
                </a:r>
              </a:p>
              <a:p>
                <a:pPr marL="1141413" lvl="2"/>
                <a:endParaRPr lang="en-US" dirty="0"/>
              </a:p>
              <a:p>
                <a:pPr marL="1141413" lvl="2"/>
                <a:r>
                  <a:rPr lang="en-US" dirty="0"/>
                  <a:t>Use any of a number of optimal learning algorithms to choose the next point to evaluate.</a:t>
                </a:r>
              </a:p>
              <a:p>
                <a:pPr marL="1141413" lvl="2"/>
                <a:endParaRPr lang="en-US" dirty="0"/>
              </a:p>
              <a:p>
                <a:pPr marL="1141413" lvl="2"/>
                <a:r>
                  <a:rPr lang="en-US" dirty="0"/>
                  <a:t>Can be used for off-line or on-line learning.</a:t>
                </a:r>
              </a:p>
              <a:p>
                <a:pPr lvl="2"/>
                <a:endParaRPr lang="en-US" sz="1600" dirty="0"/>
              </a:p>
              <a:p>
                <a:pPr lvl="2"/>
                <a:endParaRPr lang="en-US" sz="16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AF245F-7FC4-B3D7-1F98-B81D32901F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5" y="1176783"/>
                <a:ext cx="7298198" cy="4953000"/>
              </a:xfrm>
              <a:blipFill>
                <a:blip r:embed="rId2"/>
                <a:stretch>
                  <a:fillRect b="-4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9067F1BD-155C-91BD-F2D6-BF6F4348F832}"/>
              </a:ext>
            </a:extLst>
          </p:cNvPr>
          <p:cNvGrpSpPr/>
          <p:nvPr/>
        </p:nvGrpSpPr>
        <p:grpSpPr>
          <a:xfrm>
            <a:off x="7555656" y="3067957"/>
            <a:ext cx="4088896" cy="1971739"/>
            <a:chOff x="522556" y="1849119"/>
            <a:chExt cx="5283200" cy="2432920"/>
          </a:xfrm>
        </p:grpSpPr>
        <p:sp>
          <p:nvSpPr>
            <p:cNvPr id="64" name="Line 4">
              <a:extLst>
                <a:ext uri="{FF2B5EF4-FFF2-40B4-BE49-F238E27FC236}">
                  <a16:creationId xmlns:a16="http://schemas.microsoft.com/office/drawing/2014/main" id="{53EC7B34-201B-B263-6D4B-A2C2BDC13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6481" y="1849119"/>
              <a:ext cx="8775" cy="24329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5">
              <a:extLst>
                <a:ext uri="{FF2B5EF4-FFF2-40B4-BE49-F238E27FC236}">
                  <a16:creationId xmlns:a16="http://schemas.microsoft.com/office/drawing/2014/main" id="{77CD0F13-E5A9-2339-084F-A3E9F8F54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56" y="4282039"/>
              <a:ext cx="5283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6" name="Object 17">
            <a:extLst>
              <a:ext uri="{FF2B5EF4-FFF2-40B4-BE49-F238E27FC236}">
                <a16:creationId xmlns:a16="http://schemas.microsoft.com/office/drawing/2014/main" id="{BDE39753-F4AF-724E-17C5-4BF9BBD1A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37051" y="4781587"/>
          <a:ext cx="330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334" imgH="228501" progId="Equation.DSMT4">
                  <p:embed/>
                </p:oleObj>
              </mc:Choice>
              <mc:Fallback>
                <p:oleObj name="Equation" r:id="rId3" imgW="152334" imgH="228501" progId="Equation.DSMT4">
                  <p:embed/>
                  <p:pic>
                    <p:nvPicPr>
                      <p:cNvPr id="66" name="Object 17">
                        <a:extLst>
                          <a:ext uri="{FF2B5EF4-FFF2-40B4-BE49-F238E27FC236}">
                            <a16:creationId xmlns:a16="http://schemas.microsoft.com/office/drawing/2014/main" id="{BDE39753-F4AF-724E-17C5-4BF9BBD1A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7051" y="4781587"/>
                        <a:ext cx="330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18">
            <a:extLst>
              <a:ext uri="{FF2B5EF4-FFF2-40B4-BE49-F238E27FC236}">
                <a16:creationId xmlns:a16="http://schemas.microsoft.com/office/drawing/2014/main" id="{FEC26EE1-2342-0664-74FE-DEB3EECE4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5824" y="2591999"/>
          <a:ext cx="3571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28" imgH="228501" progId="Equation.DSMT4">
                  <p:embed/>
                </p:oleObj>
              </mc:Choice>
              <mc:Fallback>
                <p:oleObj name="Equation" r:id="rId5" imgW="165028" imgH="228501" progId="Equation.DSMT4">
                  <p:embed/>
                  <p:pic>
                    <p:nvPicPr>
                      <p:cNvPr id="67" name="Object 18">
                        <a:extLst>
                          <a:ext uri="{FF2B5EF4-FFF2-40B4-BE49-F238E27FC236}">
                            <a16:creationId xmlns:a16="http://schemas.microsoft.com/office/drawing/2014/main" id="{FEC26EE1-2342-0664-74FE-DEB3EECE4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824" y="2591999"/>
                        <a:ext cx="3571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Group 53">
            <a:extLst>
              <a:ext uri="{FF2B5EF4-FFF2-40B4-BE49-F238E27FC236}">
                <a16:creationId xmlns:a16="http://schemas.microsoft.com/office/drawing/2014/main" id="{AF2EDB7A-3E65-AFC9-8ACC-EA8773D55FE8}"/>
              </a:ext>
            </a:extLst>
          </p:cNvPr>
          <p:cNvGrpSpPr>
            <a:grpSpLocks/>
          </p:cNvGrpSpPr>
          <p:nvPr/>
        </p:nvGrpSpPr>
        <p:grpSpPr bwMode="auto">
          <a:xfrm rot="20426173">
            <a:off x="7807000" y="3252657"/>
            <a:ext cx="3517671" cy="1602341"/>
            <a:chOff x="1358" y="1926"/>
            <a:chExt cx="3216" cy="1282"/>
          </a:xfrm>
        </p:grpSpPr>
        <p:sp>
          <p:nvSpPr>
            <p:cNvPr id="69" name="Oval 54">
              <a:extLst>
                <a:ext uri="{FF2B5EF4-FFF2-40B4-BE49-F238E27FC236}">
                  <a16:creationId xmlns:a16="http://schemas.microsoft.com/office/drawing/2014/main" id="{85C8E103-A618-B8C2-32F1-D52943E9DC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3384" y="2640"/>
              <a:ext cx="744" cy="1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Oval 55">
              <a:extLst>
                <a:ext uri="{FF2B5EF4-FFF2-40B4-BE49-F238E27FC236}">
                  <a16:creationId xmlns:a16="http://schemas.microsoft.com/office/drawing/2014/main" id="{CBACB886-BB95-C9D3-04B1-B1863C79F2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3074" y="2554"/>
              <a:ext cx="1168" cy="3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Oval 56">
              <a:extLst>
                <a:ext uri="{FF2B5EF4-FFF2-40B4-BE49-F238E27FC236}">
                  <a16:creationId xmlns:a16="http://schemas.microsoft.com/office/drawing/2014/main" id="{8F10FC4D-FBB3-5E35-E159-66F41E9E4A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752" y="2415"/>
              <a:ext cx="1591" cy="5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Oval 57">
              <a:extLst>
                <a:ext uri="{FF2B5EF4-FFF2-40B4-BE49-F238E27FC236}">
                  <a16:creationId xmlns:a16="http://schemas.microsoft.com/office/drawing/2014/main" id="{177AB1C8-9DA0-04CE-5B52-2D75C6F1AB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419" y="2295"/>
              <a:ext cx="1986" cy="72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58">
              <a:extLst>
                <a:ext uri="{FF2B5EF4-FFF2-40B4-BE49-F238E27FC236}">
                  <a16:creationId xmlns:a16="http://schemas.microsoft.com/office/drawing/2014/main" id="{1576F0C3-074E-B7B7-0E08-A93F44B340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026" y="2177"/>
              <a:ext cx="2440" cy="89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Oval 59">
              <a:extLst>
                <a:ext uri="{FF2B5EF4-FFF2-40B4-BE49-F238E27FC236}">
                  <a16:creationId xmlns:a16="http://schemas.microsoft.com/office/drawing/2014/main" id="{726610F4-7412-7AA0-1A8F-E12A489972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1704" y="2067"/>
              <a:ext cx="2819" cy="10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Oval 60">
              <a:extLst>
                <a:ext uri="{FF2B5EF4-FFF2-40B4-BE49-F238E27FC236}">
                  <a16:creationId xmlns:a16="http://schemas.microsoft.com/office/drawing/2014/main" id="{9F22B142-7D53-BB50-1EA5-5BCFE9793D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1358" y="1926"/>
              <a:ext cx="3216" cy="12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B4E435B5-809B-7E19-E9B5-C9EF355192D8}"/>
              </a:ext>
            </a:extLst>
          </p:cNvPr>
          <p:cNvSpPr/>
          <p:nvPr/>
        </p:nvSpPr>
        <p:spPr>
          <a:xfrm>
            <a:off x="8477919" y="4361096"/>
            <a:ext cx="151308" cy="15130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017B772-D5C9-6C9F-3492-072D37F33ECA}"/>
              </a:ext>
            </a:extLst>
          </p:cNvPr>
          <p:cNvSpPr/>
          <p:nvPr/>
        </p:nvSpPr>
        <p:spPr>
          <a:xfrm>
            <a:off x="9036719" y="3653283"/>
            <a:ext cx="151308" cy="15130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1B6E015-5D00-CBCA-788F-1190115D4B45}"/>
              </a:ext>
            </a:extLst>
          </p:cNvPr>
          <p:cNvSpPr/>
          <p:nvPr/>
        </p:nvSpPr>
        <p:spPr>
          <a:xfrm>
            <a:off x="10828263" y="4306909"/>
            <a:ext cx="151308" cy="15130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8ED3FAF-926E-DF49-D668-3419E4FB122E}"/>
              </a:ext>
            </a:extLst>
          </p:cNvPr>
          <p:cNvSpPr/>
          <p:nvPr/>
        </p:nvSpPr>
        <p:spPr>
          <a:xfrm>
            <a:off x="9653092" y="4588002"/>
            <a:ext cx="151308" cy="15130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8E8E272-4A26-664E-DC21-6D1A58003A5C}"/>
              </a:ext>
            </a:extLst>
          </p:cNvPr>
          <p:cNvSpPr/>
          <p:nvPr/>
        </p:nvSpPr>
        <p:spPr>
          <a:xfrm>
            <a:off x="10391384" y="3687148"/>
            <a:ext cx="151308" cy="15130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07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F5311-9467-D6A8-2C66-09649F3A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Derivative-free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81B407-3B70-5565-204B-1FF4BD7D873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16971" y="1109807"/>
                <a:ext cx="9899647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We have two searches we want to conduct: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Possible policies</a:t>
                </a:r>
              </a:p>
              <a:p>
                <a:pPr lvl="2"/>
                <a:r>
                  <a:rPr lang="en-US" dirty="0"/>
                  <a:t>Random exploration (for offline)</a:t>
                </a:r>
              </a:p>
              <a:p>
                <a:pPr lvl="2"/>
                <a:r>
                  <a:rPr lang="en-US" dirty="0"/>
                  <a:t>Randomized greedy</a:t>
                </a:r>
              </a:p>
              <a:p>
                <a:pPr lvl="2"/>
                <a:r>
                  <a:rPr lang="en-US" dirty="0"/>
                  <a:t>UCB-style policies (best estimate + uncertainty bonus)</a:t>
                </a:r>
              </a:p>
              <a:p>
                <a:pPr lvl="2"/>
                <a:r>
                  <a:rPr lang="en-US" dirty="0"/>
                  <a:t>Knowledge gradient policies for offline or online learning</a:t>
                </a:r>
              </a:p>
              <a:p>
                <a:pPr lvl="3"/>
                <a:r>
                  <a:rPr lang="en-US" dirty="0"/>
                  <a:t>Adaptable to a range of belief models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The choice of tunable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Most parameter tuning policies have their own tunable parameters</a:t>
                </a:r>
              </a:p>
              <a:p>
                <a:pPr lvl="2"/>
                <a:r>
                  <a:rPr lang="en-US" dirty="0"/>
                  <a:t>Yes, we have to tune the parameter tuning policy to tune the policy for solving the problem.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81B407-3B70-5565-204B-1FF4BD7D87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6971" y="1109807"/>
                <a:ext cx="9899647" cy="4401600"/>
              </a:xfrm>
              <a:blipFill>
                <a:blip r:embed="rId2"/>
                <a:stretch>
                  <a:fillRect l="-431" r="-739" b="-4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419275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08FB498-ECE5-4DEA-B81B-B1830FAC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F8BD4-D361-38A6-012F-B8C5FCBF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E8CF8F7-BF9B-08E9-40DE-DCFE34759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CB020EB5-072D-2BA6-9129-6FCAC1D0F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Policy search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Exact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Numerical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Derivative-free stochastic search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Stochastic search as a sequential decision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mutual fund cash management game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86590A-26C4-5D41-AF86-1913DEF27BDD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726350157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5F78-5934-C64A-0EAD-83415695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8687-1E62-968E-566C-EEF9A4DB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DEE70-07A0-5E31-E208-0A724FD3C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62" y="1217218"/>
            <a:ext cx="6512385" cy="5023323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Derivative-based stochastic search: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Stochastic gradient methods are easily the most widely used form of stochastic optimization: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There is an extensive literature on “</a:t>
            </a:r>
            <a:r>
              <a:rPr lang="en-US" dirty="0" err="1"/>
              <a:t>stepsize</a:t>
            </a:r>
            <a:r>
              <a:rPr lang="en-US" dirty="0"/>
              <a:t> rules” which are parametric functions for determining the </a:t>
            </a:r>
            <a:r>
              <a:rPr lang="en-US" dirty="0" err="1"/>
              <a:t>stepsize</a:t>
            </a:r>
            <a:r>
              <a:rPr lang="en-US" dirty="0"/>
              <a:t>.</a:t>
            </a:r>
          </a:p>
          <a:p>
            <a:pPr lvl="2"/>
            <a:endParaRPr lang="en-US" sz="2400" dirty="0"/>
          </a:p>
          <a:p>
            <a:pPr lvl="2"/>
            <a:endParaRPr lang="en-US" sz="2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F6CBCE9-03A7-259B-3813-77FB8B44C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555956"/>
              </p:ext>
            </p:extLst>
          </p:nvPr>
        </p:nvGraphicFramePr>
        <p:xfrm>
          <a:off x="2010477" y="3860629"/>
          <a:ext cx="3168817" cy="473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241200" progId="Equation.DSMT4">
                  <p:embed/>
                </p:oleObj>
              </mc:Choice>
              <mc:Fallback>
                <p:oleObj name="Equation" r:id="rId2" imgW="1752480" imgH="241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F6CBCE9-03A7-259B-3813-77FB8B44C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0477" y="3860629"/>
                        <a:ext cx="3168817" cy="473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C7E570DC-8709-2969-6385-0F7941593A88}"/>
              </a:ext>
            </a:extLst>
          </p:cNvPr>
          <p:cNvGrpSpPr/>
          <p:nvPr/>
        </p:nvGrpSpPr>
        <p:grpSpPr>
          <a:xfrm>
            <a:off x="7237441" y="3121372"/>
            <a:ext cx="4088896" cy="1971739"/>
            <a:chOff x="522556" y="1849119"/>
            <a:chExt cx="5283200" cy="2432920"/>
          </a:xfrm>
        </p:grpSpPr>
        <p:sp>
          <p:nvSpPr>
            <p:cNvPr id="34" name="Line 4">
              <a:extLst>
                <a:ext uri="{FF2B5EF4-FFF2-40B4-BE49-F238E27FC236}">
                  <a16:creationId xmlns:a16="http://schemas.microsoft.com/office/drawing/2014/main" id="{EF1838F2-CE28-4B40-6213-5AD4E39A0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6481" y="1849119"/>
              <a:ext cx="8775" cy="24329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">
              <a:extLst>
                <a:ext uri="{FF2B5EF4-FFF2-40B4-BE49-F238E27FC236}">
                  <a16:creationId xmlns:a16="http://schemas.microsoft.com/office/drawing/2014/main" id="{EDECEDF5-98CC-A3A7-BDC8-E93444C3F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56" y="4282039"/>
              <a:ext cx="5283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6" name="Object 17">
            <a:extLst>
              <a:ext uri="{FF2B5EF4-FFF2-40B4-BE49-F238E27FC236}">
                <a16:creationId xmlns:a16="http://schemas.microsoft.com/office/drawing/2014/main" id="{9201A596-E570-43B7-583C-6A6825C61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950075"/>
              </p:ext>
            </p:extLst>
          </p:nvPr>
        </p:nvGraphicFramePr>
        <p:xfrm>
          <a:off x="11318836" y="4835002"/>
          <a:ext cx="330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34" imgH="228501" progId="Equation.DSMT4">
                  <p:embed/>
                </p:oleObj>
              </mc:Choice>
              <mc:Fallback>
                <p:oleObj name="Equation" r:id="rId4" imgW="152334" imgH="228501" progId="Equation.DSMT4">
                  <p:embed/>
                  <p:pic>
                    <p:nvPicPr>
                      <p:cNvPr id="36" name="Object 17">
                        <a:extLst>
                          <a:ext uri="{FF2B5EF4-FFF2-40B4-BE49-F238E27FC236}">
                            <a16:creationId xmlns:a16="http://schemas.microsoft.com/office/drawing/2014/main" id="{9201A596-E570-43B7-583C-6A6825C61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36" y="4835002"/>
                        <a:ext cx="330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8">
            <a:extLst>
              <a:ext uri="{FF2B5EF4-FFF2-40B4-BE49-F238E27FC236}">
                <a16:creationId xmlns:a16="http://schemas.microsoft.com/office/drawing/2014/main" id="{13BD4D1A-EFCC-949E-9E33-4430007D4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943043"/>
              </p:ext>
            </p:extLst>
          </p:nvPr>
        </p:nvGraphicFramePr>
        <p:xfrm>
          <a:off x="7067609" y="2645414"/>
          <a:ext cx="3571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28" imgH="228501" progId="Equation.DSMT4">
                  <p:embed/>
                </p:oleObj>
              </mc:Choice>
              <mc:Fallback>
                <p:oleObj name="Equation" r:id="rId6" imgW="165028" imgH="228501" progId="Equation.DSMT4">
                  <p:embed/>
                  <p:pic>
                    <p:nvPicPr>
                      <p:cNvPr id="37" name="Object 18">
                        <a:extLst>
                          <a:ext uri="{FF2B5EF4-FFF2-40B4-BE49-F238E27FC236}">
                            <a16:creationId xmlns:a16="http://schemas.microsoft.com/office/drawing/2014/main" id="{13BD4D1A-EFCC-949E-9E33-4430007D44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609" y="2645414"/>
                        <a:ext cx="3571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53">
            <a:extLst>
              <a:ext uri="{FF2B5EF4-FFF2-40B4-BE49-F238E27FC236}">
                <a16:creationId xmlns:a16="http://schemas.microsoft.com/office/drawing/2014/main" id="{A056A32D-D163-215F-FC55-521FBB1771BF}"/>
              </a:ext>
            </a:extLst>
          </p:cNvPr>
          <p:cNvGrpSpPr>
            <a:grpSpLocks/>
          </p:cNvGrpSpPr>
          <p:nvPr/>
        </p:nvGrpSpPr>
        <p:grpSpPr bwMode="auto">
          <a:xfrm rot="20426173">
            <a:off x="7488785" y="3306072"/>
            <a:ext cx="3517671" cy="1602341"/>
            <a:chOff x="1358" y="1926"/>
            <a:chExt cx="3216" cy="1282"/>
          </a:xfrm>
        </p:grpSpPr>
        <p:sp>
          <p:nvSpPr>
            <p:cNvPr id="39" name="Oval 54">
              <a:extLst>
                <a:ext uri="{FF2B5EF4-FFF2-40B4-BE49-F238E27FC236}">
                  <a16:creationId xmlns:a16="http://schemas.microsoft.com/office/drawing/2014/main" id="{03CE514C-8D7D-DC75-4054-A6632616A4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3384" y="2640"/>
              <a:ext cx="744" cy="1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55">
              <a:extLst>
                <a:ext uri="{FF2B5EF4-FFF2-40B4-BE49-F238E27FC236}">
                  <a16:creationId xmlns:a16="http://schemas.microsoft.com/office/drawing/2014/main" id="{CCF74DC3-E7BD-858F-B910-B437AEDBA7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3074" y="2554"/>
              <a:ext cx="1168" cy="3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56">
              <a:extLst>
                <a:ext uri="{FF2B5EF4-FFF2-40B4-BE49-F238E27FC236}">
                  <a16:creationId xmlns:a16="http://schemas.microsoft.com/office/drawing/2014/main" id="{72B5335C-647C-2B2C-7147-4589BBED2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752" y="2415"/>
              <a:ext cx="1591" cy="5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57">
              <a:extLst>
                <a:ext uri="{FF2B5EF4-FFF2-40B4-BE49-F238E27FC236}">
                  <a16:creationId xmlns:a16="http://schemas.microsoft.com/office/drawing/2014/main" id="{88093A55-A1D8-91BE-9D5F-EF5EF9C577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419" y="2295"/>
              <a:ext cx="1986" cy="72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58">
              <a:extLst>
                <a:ext uri="{FF2B5EF4-FFF2-40B4-BE49-F238E27FC236}">
                  <a16:creationId xmlns:a16="http://schemas.microsoft.com/office/drawing/2014/main" id="{FDEA403D-8712-4E35-C8F0-CFE292CB7F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2026" y="2177"/>
              <a:ext cx="2440" cy="89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59">
              <a:extLst>
                <a:ext uri="{FF2B5EF4-FFF2-40B4-BE49-F238E27FC236}">
                  <a16:creationId xmlns:a16="http://schemas.microsoft.com/office/drawing/2014/main" id="{347D0F6D-3341-57D8-3158-067886D056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1704" y="2067"/>
              <a:ext cx="2819" cy="10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60">
              <a:extLst>
                <a:ext uri="{FF2B5EF4-FFF2-40B4-BE49-F238E27FC236}">
                  <a16:creationId xmlns:a16="http://schemas.microsoft.com/office/drawing/2014/main" id="{7FC9316A-6400-4D1B-F4CE-B8D478B99D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6452">
              <a:off x="1358" y="1926"/>
              <a:ext cx="3216" cy="12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" name="Line 14">
            <a:extLst>
              <a:ext uri="{FF2B5EF4-FFF2-40B4-BE49-F238E27FC236}">
                <a16:creationId xmlns:a16="http://schemas.microsoft.com/office/drawing/2014/main" id="{5AEA5F8E-B1D1-398D-BAF4-DB98F16D74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57913" y="4275654"/>
            <a:ext cx="1098853" cy="71924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" name="Group 64">
            <a:extLst>
              <a:ext uri="{FF2B5EF4-FFF2-40B4-BE49-F238E27FC236}">
                <a16:creationId xmlns:a16="http://schemas.microsoft.com/office/drawing/2014/main" id="{4A3406C9-81CD-6E3C-5932-60C9D3FBA3BB}"/>
              </a:ext>
            </a:extLst>
          </p:cNvPr>
          <p:cNvGrpSpPr>
            <a:grpSpLocks/>
          </p:cNvGrpSpPr>
          <p:nvPr/>
        </p:nvGrpSpPr>
        <p:grpSpPr bwMode="auto">
          <a:xfrm>
            <a:off x="9803764" y="3597830"/>
            <a:ext cx="92174" cy="1090657"/>
            <a:chOff x="2688" y="2672"/>
            <a:chExt cx="73" cy="568"/>
          </a:xfrm>
        </p:grpSpPr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7F8E739E-5AB9-C45D-9CAC-68EE91BF3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672"/>
              <a:ext cx="56" cy="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02B6AE4-E7A2-BBE4-8CB4-04FD6F6C3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198"/>
              <a:ext cx="49" cy="4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Group 64">
            <a:extLst>
              <a:ext uri="{FF2B5EF4-FFF2-40B4-BE49-F238E27FC236}">
                <a16:creationId xmlns:a16="http://schemas.microsoft.com/office/drawing/2014/main" id="{F93FA980-F8DE-1D39-0BE0-BBAA3941C81E}"/>
              </a:ext>
            </a:extLst>
          </p:cNvPr>
          <p:cNvGrpSpPr>
            <a:grpSpLocks/>
          </p:cNvGrpSpPr>
          <p:nvPr/>
        </p:nvGrpSpPr>
        <p:grpSpPr bwMode="auto">
          <a:xfrm rot="15833781">
            <a:off x="10122972" y="3424652"/>
            <a:ext cx="103619" cy="1415131"/>
            <a:chOff x="2688" y="2484"/>
            <a:chExt cx="80" cy="756"/>
          </a:xfrm>
        </p:grpSpPr>
        <p:sp>
          <p:nvSpPr>
            <p:cNvPr id="59" name="Line 14">
              <a:extLst>
                <a:ext uri="{FF2B5EF4-FFF2-40B4-BE49-F238E27FC236}">
                  <a16:creationId xmlns:a16="http://schemas.microsoft.com/office/drawing/2014/main" id="{99E1450B-DF70-0C7A-1127-21F8F5667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484"/>
              <a:ext cx="56" cy="7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61">
              <a:extLst>
                <a:ext uri="{FF2B5EF4-FFF2-40B4-BE49-F238E27FC236}">
                  <a16:creationId xmlns:a16="http://schemas.microsoft.com/office/drawing/2014/main" id="{56DF2DB7-3371-0248-E230-049009402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184"/>
              <a:ext cx="56" cy="5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Group 64">
            <a:extLst>
              <a:ext uri="{FF2B5EF4-FFF2-40B4-BE49-F238E27FC236}">
                <a16:creationId xmlns:a16="http://schemas.microsoft.com/office/drawing/2014/main" id="{33114659-B78C-0DA8-A372-46DA0D5B877E}"/>
              </a:ext>
            </a:extLst>
          </p:cNvPr>
          <p:cNvGrpSpPr>
            <a:grpSpLocks/>
          </p:cNvGrpSpPr>
          <p:nvPr/>
        </p:nvGrpSpPr>
        <p:grpSpPr bwMode="auto">
          <a:xfrm rot="5678501" flipH="1">
            <a:off x="8685626" y="3400194"/>
            <a:ext cx="249645" cy="2035229"/>
            <a:chOff x="2604" y="2662"/>
            <a:chExt cx="165" cy="573"/>
          </a:xfrm>
        </p:grpSpPr>
        <p:sp>
          <p:nvSpPr>
            <p:cNvPr id="57" name="Line 14">
              <a:extLst>
                <a:ext uri="{FF2B5EF4-FFF2-40B4-BE49-F238E27FC236}">
                  <a16:creationId xmlns:a16="http://schemas.microsoft.com/office/drawing/2014/main" id="{23F49EB5-862E-730D-6950-1081A65464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4" y="2662"/>
              <a:ext cx="140" cy="5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61">
              <a:extLst>
                <a:ext uri="{FF2B5EF4-FFF2-40B4-BE49-F238E27FC236}">
                  <a16:creationId xmlns:a16="http://schemas.microsoft.com/office/drawing/2014/main" id="{2BFDFDDB-2FD1-1455-8A54-5CCD3710B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" y="3204"/>
              <a:ext cx="65" cy="3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1" name="Group 64">
            <a:extLst>
              <a:ext uri="{FF2B5EF4-FFF2-40B4-BE49-F238E27FC236}">
                <a16:creationId xmlns:a16="http://schemas.microsoft.com/office/drawing/2014/main" id="{A7427ED2-9F2D-D8BE-C029-0527D4417D08}"/>
              </a:ext>
            </a:extLst>
          </p:cNvPr>
          <p:cNvGrpSpPr>
            <a:grpSpLocks/>
          </p:cNvGrpSpPr>
          <p:nvPr/>
        </p:nvGrpSpPr>
        <p:grpSpPr bwMode="auto">
          <a:xfrm rot="7253310">
            <a:off x="10181932" y="3247965"/>
            <a:ext cx="214169" cy="1156435"/>
            <a:chOff x="2688" y="2484"/>
            <a:chExt cx="80" cy="756"/>
          </a:xfrm>
        </p:grpSpPr>
        <p:sp>
          <p:nvSpPr>
            <p:cNvPr id="55" name="Line 14">
              <a:extLst>
                <a:ext uri="{FF2B5EF4-FFF2-40B4-BE49-F238E27FC236}">
                  <a16:creationId xmlns:a16="http://schemas.microsoft.com/office/drawing/2014/main" id="{7A0030E9-8494-F40C-4DEF-A01CF7D01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484"/>
              <a:ext cx="56" cy="7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61">
              <a:extLst>
                <a:ext uri="{FF2B5EF4-FFF2-40B4-BE49-F238E27FC236}">
                  <a16:creationId xmlns:a16="http://schemas.microsoft.com/office/drawing/2014/main" id="{2A838257-7303-9ABC-2260-9FC7A042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3187"/>
              <a:ext cx="36" cy="5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Group 64">
            <a:extLst>
              <a:ext uri="{FF2B5EF4-FFF2-40B4-BE49-F238E27FC236}">
                <a16:creationId xmlns:a16="http://schemas.microsoft.com/office/drawing/2014/main" id="{DD11D056-52BC-A891-B2D1-586D04B0351A}"/>
              </a:ext>
            </a:extLst>
          </p:cNvPr>
          <p:cNvGrpSpPr>
            <a:grpSpLocks/>
          </p:cNvGrpSpPr>
          <p:nvPr/>
        </p:nvGrpSpPr>
        <p:grpSpPr bwMode="auto">
          <a:xfrm rot="3224279">
            <a:off x="9722747" y="3604225"/>
            <a:ext cx="303089" cy="932190"/>
            <a:chOff x="2712" y="2742"/>
            <a:chExt cx="234" cy="498"/>
          </a:xfrm>
        </p:grpSpPr>
        <p:sp>
          <p:nvSpPr>
            <p:cNvPr id="53" name="Line 14">
              <a:extLst>
                <a:ext uri="{FF2B5EF4-FFF2-40B4-BE49-F238E27FC236}">
                  <a16:creationId xmlns:a16="http://schemas.microsoft.com/office/drawing/2014/main" id="{2BDE6397-F3D0-286B-4949-33FA0E763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2" y="2742"/>
              <a:ext cx="214" cy="4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Oval 61">
              <a:extLst>
                <a:ext uri="{FF2B5EF4-FFF2-40B4-BE49-F238E27FC236}">
                  <a16:creationId xmlns:a16="http://schemas.microsoft.com/office/drawing/2014/main" id="{109C6EEC-CDA3-8C3B-4CF0-D6F0F6C88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209"/>
              <a:ext cx="63" cy="3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A581B9D-9CE6-8A4E-DA63-4C36D16E33A4}"/>
              </a:ext>
            </a:extLst>
          </p:cNvPr>
          <p:cNvGrpSpPr/>
          <p:nvPr/>
        </p:nvGrpSpPr>
        <p:grpSpPr>
          <a:xfrm>
            <a:off x="3235084" y="3811401"/>
            <a:ext cx="1099379" cy="952916"/>
            <a:chOff x="3235084" y="2591999"/>
            <a:chExt cx="1099379" cy="95291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FBB0DE1-B43E-4628-7138-DBD7D4CC64EC}"/>
                </a:ext>
              </a:extLst>
            </p:cNvPr>
            <p:cNvSpPr/>
            <p:nvPr/>
          </p:nvSpPr>
          <p:spPr>
            <a:xfrm>
              <a:off x="3235084" y="2591999"/>
              <a:ext cx="328677" cy="617684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808A0E-4007-114B-A905-44AECEF2B66D}"/>
                </a:ext>
              </a:extLst>
            </p:cNvPr>
            <p:cNvSpPr txBox="1"/>
            <p:nvPr/>
          </p:nvSpPr>
          <p:spPr>
            <a:xfrm>
              <a:off x="3462108" y="3237138"/>
              <a:ext cx="8723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Decision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415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2717E-D735-98DE-1024-71182478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5C00-EAAF-54BF-A6E8-81EFC57D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FDF9F3-CBED-7EE9-6022-2F9DABB36CA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40244" y="1132713"/>
                <a:ext cx="5585944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Stochastic gradient using Kesten’s </a:t>
                </a:r>
                <a:r>
                  <a:rPr lang="en-US" dirty="0" err="1"/>
                  <a:t>stepsize</a:t>
                </a:r>
                <a:r>
                  <a:rPr lang="en-US" dirty="0"/>
                  <a:t> rule:</a:t>
                </a:r>
              </a:p>
              <a:p>
                <a:pPr lvl="2"/>
                <a:endParaRPr lang="en-US" dirty="0"/>
              </a:p>
              <a:p>
                <a:pPr marL="571500" lvl="1"/>
                <a:r>
                  <a:rPr lang="en-US" dirty="0"/>
                  <a:t>Gradient update</a:t>
                </a:r>
              </a:p>
              <a:p>
                <a:pPr marL="571500" lvl="1"/>
                <a:endParaRPr lang="en-US" dirty="0"/>
              </a:p>
              <a:p>
                <a:pPr marL="571500" lvl="1"/>
                <a:endParaRPr lang="en-US" dirty="0"/>
              </a:p>
              <a:p>
                <a:pPr marL="571500" lvl="1"/>
                <a:r>
                  <a:rPr lang="en-US" dirty="0"/>
                  <a:t>Kesten’s </a:t>
                </a:r>
                <a:r>
                  <a:rPr lang="en-US" dirty="0" err="1"/>
                  <a:t>stepsize</a:t>
                </a:r>
                <a:r>
                  <a:rPr lang="en-US" dirty="0"/>
                  <a:t> rule</a:t>
                </a:r>
              </a:p>
              <a:p>
                <a:pPr marL="571500" lvl="1"/>
                <a:endParaRPr lang="en-US" dirty="0"/>
              </a:p>
              <a:p>
                <a:pPr marL="571500" lvl="1"/>
                <a:endParaRPr lang="en-US" dirty="0"/>
              </a:p>
              <a:p>
                <a:pPr marL="571500"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counts the number of times the gradient changes direction.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FDF9F3-CBED-7EE9-6022-2F9DABB36C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0244" y="1132713"/>
                <a:ext cx="5585944" cy="4401600"/>
              </a:xfrm>
              <a:blipFill>
                <a:blip r:embed="rId2"/>
                <a:stretch>
                  <a:fillRect l="-655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E5C0ECB-E8E3-6957-C883-F297FB8D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963" y="1228924"/>
            <a:ext cx="5955869" cy="486707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F48B84D-A20E-04C7-E132-F6DBB5B2A1C8}"/>
                  </a:ext>
                </a:extLst>
              </p:cNvPr>
              <p:cNvSpPr txBox="1"/>
              <p:nvPr/>
            </p:nvSpPr>
            <p:spPr>
              <a:xfrm>
                <a:off x="772967" y="3095388"/>
                <a:ext cx="4162425" cy="4730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𝑘𝑒𝑠𝑡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F48B84D-A20E-04C7-E132-F6DBB5B2A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67" y="3095388"/>
                <a:ext cx="4162425" cy="473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7C3DD820-2F26-FD24-FFB3-F7BD01CD90CB}"/>
                  </a:ext>
                </a:extLst>
              </p:cNvPr>
              <p:cNvSpPr txBox="1"/>
              <p:nvPr/>
            </p:nvSpPr>
            <p:spPr>
              <a:xfrm>
                <a:off x="1095543" y="4228765"/>
                <a:ext cx="2551258" cy="952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𝑘𝑒𝑠𝑡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𝑘𝑒𝑠𝑡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𝑘𝑒𝑠𝑡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7C3DD820-2F26-FD24-FFB3-F7BD01CD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543" y="4228765"/>
                <a:ext cx="2551258" cy="9527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7B00A0D-507D-5826-48E9-144895E89552}"/>
              </a:ext>
            </a:extLst>
          </p:cNvPr>
          <p:cNvSpPr txBox="1"/>
          <p:nvPr/>
        </p:nvSpPr>
        <p:spPr>
          <a:xfrm>
            <a:off x="5575797" y="1257205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1C46F-8FB0-C5BA-36CD-6BCDE385B295}"/>
              </a:ext>
            </a:extLst>
          </p:cNvPr>
          <p:cNvSpPr txBox="1"/>
          <p:nvPr/>
        </p:nvSpPr>
        <p:spPr>
          <a:xfrm>
            <a:off x="5586792" y="1475594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6B4DE-B3E8-081C-CB3A-882C4E237A86}"/>
              </a:ext>
            </a:extLst>
          </p:cNvPr>
          <p:cNvSpPr txBox="1"/>
          <p:nvPr/>
        </p:nvSpPr>
        <p:spPr>
          <a:xfrm>
            <a:off x="5597787" y="1910800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18E59-3304-0EA5-2580-487706D18916}"/>
              </a:ext>
            </a:extLst>
          </p:cNvPr>
          <p:cNvSpPr txBox="1"/>
          <p:nvPr/>
        </p:nvSpPr>
        <p:spPr>
          <a:xfrm>
            <a:off x="5599357" y="2553394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A4501-7635-2615-DF57-CD64E83C97A8}"/>
              </a:ext>
            </a:extLst>
          </p:cNvPr>
          <p:cNvSpPr txBox="1"/>
          <p:nvPr/>
        </p:nvSpPr>
        <p:spPr>
          <a:xfrm>
            <a:off x="5600927" y="4185802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17C194-CEDE-B587-CF68-1B74255D2DB9}"/>
              </a:ext>
            </a:extLst>
          </p:cNvPr>
          <p:cNvSpPr txBox="1"/>
          <p:nvPr/>
        </p:nvSpPr>
        <p:spPr>
          <a:xfrm>
            <a:off x="7181468" y="6192210"/>
            <a:ext cx="2672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Chapter 5, section 5.6 of RLSO</a:t>
            </a:r>
          </a:p>
        </p:txBody>
      </p:sp>
    </p:spTree>
    <p:extLst>
      <p:ext uri="{BB962C8B-B14F-4D97-AF65-F5344CB8AC3E}">
        <p14:creationId xmlns:p14="http://schemas.microsoft.com/office/powerpoint/2010/main" val="994577046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02B1-1E60-8A42-E7FD-F986F69B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as a SDP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050A4-3D5C-CE59-B26E-F194675A9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48" y="1067944"/>
            <a:ext cx="675524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Derivative-free stochastic search</a:t>
            </a:r>
          </a:p>
          <a:p>
            <a:pPr lvl="1"/>
            <a:r>
              <a:rPr lang="en-US" sz="2000" dirty="0"/>
              <a:t>Chapter 7 describes stochastic search as a sequential decision problem.</a:t>
            </a:r>
          </a:p>
          <a:p>
            <a:pPr lvl="1"/>
            <a:r>
              <a:rPr lang="en-US" sz="2000" dirty="0"/>
              <a:t>Illustrates all four classes of policies…</a:t>
            </a:r>
          </a:p>
          <a:p>
            <a:pPr lvl="1"/>
            <a:r>
              <a:rPr lang="en-US" sz="2000" dirty="0"/>
              <a:t>… but two stand out:</a:t>
            </a:r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CFA-based policies – Typically variations of upper confidence bounding.</a:t>
            </a:r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DLA-based policies:</a:t>
            </a:r>
          </a:p>
          <a:p>
            <a:pPr lvl="3"/>
            <a:r>
              <a:rPr lang="en-US" sz="1800" dirty="0"/>
              <a:t>Knowledge gradient</a:t>
            </a:r>
          </a:p>
          <a:p>
            <a:pPr lvl="3"/>
            <a:r>
              <a:rPr lang="en-US" sz="1800" dirty="0"/>
              <a:t>Expected improvement</a:t>
            </a:r>
          </a:p>
          <a:p>
            <a:pPr lvl="3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30B8C-5721-02FF-780D-B5FD6D0D11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30"/>
          <a:stretch/>
        </p:blipFill>
        <p:spPr>
          <a:xfrm>
            <a:off x="7433758" y="994787"/>
            <a:ext cx="3894141" cy="5509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36DBA-FCB1-1E60-15F2-40CBF18D9CBF}"/>
              </a:ext>
            </a:extLst>
          </p:cNvPr>
          <p:cNvSpPr txBox="1"/>
          <p:nvPr/>
        </p:nvSpPr>
        <p:spPr>
          <a:xfrm>
            <a:off x="8484122" y="4798243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Chapter 7</a:t>
            </a: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2C185A8E-C8E8-B7CB-47B8-204775EA7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049792"/>
              </p:ext>
            </p:extLst>
          </p:nvPr>
        </p:nvGraphicFramePr>
        <p:xfrm>
          <a:off x="2021700" y="3947411"/>
          <a:ext cx="3863975" cy="463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36760" imgH="279360" progId="Equation.DSMT4">
                  <p:embed/>
                </p:oleObj>
              </mc:Choice>
              <mc:Fallback>
                <p:oleObj name="Equation" r:id="rId3" imgW="2336760" imgH="27936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2C185A8E-C8E8-B7CB-47B8-204775EA79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1700" y="3947411"/>
                        <a:ext cx="3863975" cy="463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7477898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3D53AC8-51EC-FF2A-26C6-B8F28567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206F0D-5D6B-61AB-05DF-DE2C6D87F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7F86C075-5E66-8B05-C014-9442AB18F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011178C2-BC89-B46B-5A35-D761B921C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Policy search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Exact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Derivative-based stochastic search – Numerical derivatives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Derivative-free stochastic search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Stochastic search as a sequential decision problem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The mutual fund cash management game</a:t>
            </a:r>
          </a:p>
          <a:p>
            <a:pPr marL="1257300" lvl="2">
              <a:buClr>
                <a:schemeClr val="lt1"/>
              </a:buClr>
              <a:buFont typeface="Times New Roman"/>
              <a:buChar char="➜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D9A13-CC9E-972B-24EA-B9B1A668A929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272292216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81DC-9012-B5FF-4118-A24FE347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840A3-A914-0B99-A198-9F13F2E6F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BDB5A-A1AB-2415-C36A-13526FAED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7810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3710-942A-F7DA-F01F-E463A03A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ACCE-6343-C439-0ACA-FE9E3906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FAAB2-ECB8-B556-2C45-D6108AF2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DB349E-EE18-E6F9-7492-62C142D1B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191" y="0"/>
            <a:ext cx="8057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04568"/>
      </p:ext>
    </p:extLst>
  </p:cSld>
  <p:clrMapOvr>
    <a:masterClrMapping/>
  </p:clrMapOvr>
  <p:transition spd="slow">
    <p:wipe dir="d"/>
  </p:transition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5178-49CE-A845-79B1-8A735824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EB18-5523-D589-1966-2E782686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Derivative-free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BC05A-60B9-B1BC-5389-800712840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52" y="1139707"/>
            <a:ext cx="575765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Parameter tuning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We need to find the parameters that produce the best performance.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Often, we need to do this from observations in the field.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We call this “Learning While Doing” but it could also be called intelligent trial and error.</a:t>
            </a:r>
          </a:p>
        </p:txBody>
      </p:sp>
      <p:pic>
        <p:nvPicPr>
          <p:cNvPr id="4" name="Policy tuning video">
            <a:hlinkClick r:id="" action="ppaction://media"/>
            <a:extLst>
              <a:ext uri="{FF2B5EF4-FFF2-40B4-BE49-F238E27FC236}">
                <a16:creationId xmlns:a16="http://schemas.microsoft.com/office/drawing/2014/main" id="{6264F254-7DF4-7B5E-B1BD-890D0B8278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26092" y="1176911"/>
            <a:ext cx="4267200" cy="5029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AB4CE44-96B1-EC2B-1CDD-BEC3D539B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135" y="3801804"/>
            <a:ext cx="4267570" cy="2438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AFE273-1FED-8DB2-DC3E-11EE6100ABAD}"/>
                  </a:ext>
                </a:extLst>
              </p:cNvPr>
              <p:cNvSpPr txBox="1"/>
              <p:nvPr/>
            </p:nvSpPr>
            <p:spPr>
              <a:xfrm>
                <a:off x="7834323" y="5784224"/>
                <a:ext cx="185063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Tunable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AFE273-1FED-8DB2-DC3E-11EE6100A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323" y="5784224"/>
                <a:ext cx="1850635" cy="307777"/>
              </a:xfrm>
              <a:prstGeom prst="rect">
                <a:avLst/>
              </a:prstGeom>
              <a:blipFill>
                <a:blip r:embed="rId6"/>
                <a:stretch>
                  <a:fillRect l="-98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F5A90766-1895-71D9-F6D1-17715650B5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398" y="1165598"/>
            <a:ext cx="4299308" cy="2491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35BA06-413A-06AF-CE37-076D2E163879}"/>
                  </a:ext>
                </a:extLst>
              </p:cNvPr>
              <p:cNvSpPr txBox="1"/>
              <p:nvPr/>
            </p:nvSpPr>
            <p:spPr>
              <a:xfrm>
                <a:off x="7845319" y="3212277"/>
                <a:ext cx="185063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Tunable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35BA06-413A-06AF-CE37-076D2E163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319" y="3212277"/>
                <a:ext cx="1850635" cy="307777"/>
              </a:xfrm>
              <a:prstGeom prst="rect">
                <a:avLst/>
              </a:prstGeom>
              <a:blipFill>
                <a:blip r:embed="rId6"/>
                <a:stretch>
                  <a:fillRect l="-98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16E1B47-A2DD-9B54-13FD-638E10F0F094}"/>
              </a:ext>
            </a:extLst>
          </p:cNvPr>
          <p:cNvSpPr txBox="1"/>
          <p:nvPr/>
        </p:nvSpPr>
        <p:spPr>
          <a:xfrm rot="16200000">
            <a:off x="6309151" y="2438855"/>
            <a:ext cx="114165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Policy value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93F02D-72AF-85FB-B8C7-33AD015E20DA}"/>
              </a:ext>
            </a:extLst>
          </p:cNvPr>
          <p:cNvSpPr txBox="1"/>
          <p:nvPr/>
        </p:nvSpPr>
        <p:spPr>
          <a:xfrm rot="16200000">
            <a:off x="6010496" y="5000534"/>
            <a:ext cx="171713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Policy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049AA-CF4B-6DB6-C9D7-3DE0286CD75D}"/>
              </a:ext>
            </a:extLst>
          </p:cNvPr>
          <p:cNvSpPr txBox="1"/>
          <p:nvPr/>
        </p:nvSpPr>
        <p:spPr>
          <a:xfrm>
            <a:off x="6726092" y="1125600"/>
            <a:ext cx="32095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Policies (determines what value to try)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A3B00-248B-ACF7-4D25-46E882E9549B}"/>
              </a:ext>
            </a:extLst>
          </p:cNvPr>
          <p:cNvSpPr txBox="1"/>
          <p:nvPr/>
        </p:nvSpPr>
        <p:spPr>
          <a:xfrm>
            <a:off x="6869065" y="3794957"/>
            <a:ext cx="269176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Belief about policy performance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CD7928-9890-84ED-A23A-3D4F327EC099}"/>
              </a:ext>
            </a:extLst>
          </p:cNvPr>
          <p:cNvSpPr txBox="1"/>
          <p:nvPr/>
        </p:nvSpPr>
        <p:spPr>
          <a:xfrm>
            <a:off x="8537760" y="2824976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  <a:latin typeface="Raleway" pitchFamily="2" charset="0"/>
              </a:rPr>
              <a:t>Online KG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6DAA3D-7D6C-E1E7-F0F5-C98C2F2E11D3}"/>
              </a:ext>
            </a:extLst>
          </p:cNvPr>
          <p:cNvSpPr txBox="1"/>
          <p:nvPr/>
        </p:nvSpPr>
        <p:spPr>
          <a:xfrm>
            <a:off x="8121802" y="2037491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Raleway" pitchFamily="2" charset="0"/>
              </a:rPr>
              <a:t>Offline KG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97C957-3C3D-2B49-50C4-838AB07AEC8D}"/>
              </a:ext>
            </a:extLst>
          </p:cNvPr>
          <p:cNvSpPr txBox="1"/>
          <p:nvPr/>
        </p:nvSpPr>
        <p:spPr>
          <a:xfrm>
            <a:off x="7275887" y="1809321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UCB policy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CF2228D-C09A-DB48-631A-17DA43368557}"/>
              </a:ext>
            </a:extLst>
          </p:cNvPr>
          <p:cNvSpPr/>
          <p:nvPr/>
        </p:nvSpPr>
        <p:spPr>
          <a:xfrm>
            <a:off x="6511508" y="1055802"/>
            <a:ext cx="4479370" cy="53355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F4E9-3169-EB16-E6F8-73A41833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search: Derivative-free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1133E-38B6-F339-8A4C-D3372668F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52" y="1139707"/>
            <a:ext cx="575765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Parameter tuning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We need to find the parameters that produce the best performance.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Often, we need to do this from observations in the field.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We call this “Learning While Doing” but it could also be called intelligent trial and error.</a:t>
            </a:r>
          </a:p>
        </p:txBody>
      </p:sp>
      <p:pic>
        <p:nvPicPr>
          <p:cNvPr id="4" name="Policy tuning video">
            <a:hlinkClick r:id="" action="ppaction://media"/>
            <a:extLst>
              <a:ext uri="{FF2B5EF4-FFF2-40B4-BE49-F238E27FC236}">
                <a16:creationId xmlns:a16="http://schemas.microsoft.com/office/drawing/2014/main" id="{CC7ED6BE-9D2D-C4EE-5889-B6728A9016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26092" y="1176911"/>
            <a:ext cx="4267200" cy="5029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F0E18D-BF49-861E-0645-73761FAA7C23}"/>
              </a:ext>
            </a:extLst>
          </p:cNvPr>
          <p:cNvSpPr txBox="1"/>
          <p:nvPr/>
        </p:nvSpPr>
        <p:spPr>
          <a:xfrm>
            <a:off x="6726092" y="1125600"/>
            <a:ext cx="320953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Policies (determines what value to try)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3052B-9C66-D820-227E-84FA904F2D78}"/>
              </a:ext>
            </a:extLst>
          </p:cNvPr>
          <p:cNvSpPr txBox="1"/>
          <p:nvPr/>
        </p:nvSpPr>
        <p:spPr>
          <a:xfrm>
            <a:off x="6869065" y="3794957"/>
            <a:ext cx="269176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Belief about policy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01F251-EFF2-8B5C-AD1C-74379348E1CA}"/>
                  </a:ext>
                </a:extLst>
              </p:cNvPr>
              <p:cNvSpPr txBox="1"/>
              <p:nvPr/>
            </p:nvSpPr>
            <p:spPr>
              <a:xfrm>
                <a:off x="7834323" y="5784224"/>
                <a:ext cx="185063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Tunable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01F251-EFF2-8B5C-AD1C-74379348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323" y="5784224"/>
                <a:ext cx="1850635" cy="307777"/>
              </a:xfrm>
              <a:prstGeom prst="rect">
                <a:avLst/>
              </a:prstGeom>
              <a:blipFill>
                <a:blip r:embed="rId5"/>
                <a:stretch>
                  <a:fillRect l="-98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B3CB9-814D-977A-BF64-0042DF3ADAA5}"/>
                  </a:ext>
                </a:extLst>
              </p:cNvPr>
              <p:cNvSpPr txBox="1"/>
              <p:nvPr/>
            </p:nvSpPr>
            <p:spPr>
              <a:xfrm>
                <a:off x="7845319" y="3212277"/>
                <a:ext cx="185063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Tunable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B3CB9-814D-977A-BF64-0042DF3AD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319" y="3212277"/>
                <a:ext cx="1850635" cy="307777"/>
              </a:xfrm>
              <a:prstGeom prst="rect">
                <a:avLst/>
              </a:prstGeom>
              <a:blipFill>
                <a:blip r:embed="rId5"/>
                <a:stretch>
                  <a:fillRect l="-98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964AC74-1AE1-43F1-75E1-094C1F93A364}"/>
              </a:ext>
            </a:extLst>
          </p:cNvPr>
          <p:cNvSpPr/>
          <p:nvPr/>
        </p:nvSpPr>
        <p:spPr>
          <a:xfrm>
            <a:off x="6513922" y="1055802"/>
            <a:ext cx="4479370" cy="533557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C24FA-42ED-EED9-790C-5A349E878603}"/>
              </a:ext>
            </a:extLst>
          </p:cNvPr>
          <p:cNvSpPr txBox="1"/>
          <p:nvPr/>
        </p:nvSpPr>
        <p:spPr>
          <a:xfrm rot="16200000">
            <a:off x="6309151" y="2438855"/>
            <a:ext cx="114165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Policy value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5DACA-285E-C722-4260-7B66C08D5C81}"/>
              </a:ext>
            </a:extLst>
          </p:cNvPr>
          <p:cNvSpPr txBox="1"/>
          <p:nvPr/>
        </p:nvSpPr>
        <p:spPr>
          <a:xfrm rot="16200000">
            <a:off x="6010496" y="5000534"/>
            <a:ext cx="171713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Policy performance</a:t>
            </a:r>
          </a:p>
        </p:txBody>
      </p:sp>
    </p:spTree>
    <p:extLst>
      <p:ext uri="{BB962C8B-B14F-4D97-AF65-F5344CB8AC3E}">
        <p14:creationId xmlns:p14="http://schemas.microsoft.com/office/powerpoint/2010/main" val="309653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B35F-3386-8E83-4C6C-EA3C3884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66E9BD-9587-8E2D-EE5F-E00591FC0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F93F21-E0BF-45A3-8FAE-B3CA841C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DF320-7F61-27A4-1D57-93036575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A86A0-865F-883D-29C4-30E1DF482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FD1E4-485E-6BBC-F4F4-FA98C34F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DC132A-B3EF-1540-532D-9EF123ED8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1196D2-F3E5-AA6E-0CD1-2F235DA0F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49D55D-B4F1-B60B-06B7-C1CC40050FFE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policy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Policy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9176739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