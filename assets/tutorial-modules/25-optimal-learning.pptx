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86"/>
  </p:notesMasterIdLst>
  <p:sldIdLst>
    <p:sldId id="10749" r:id="rId5"/>
    <p:sldId id="9928" r:id="rId6"/>
    <p:sldId id="11029" r:id="rId7"/>
    <p:sldId id="8561" r:id="rId8"/>
    <p:sldId id="9467" r:id="rId9"/>
    <p:sldId id="8500" r:id="rId10"/>
    <p:sldId id="9613" r:id="rId11"/>
    <p:sldId id="7624" r:id="rId12"/>
    <p:sldId id="8410" r:id="rId13"/>
    <p:sldId id="8411" r:id="rId14"/>
    <p:sldId id="8476" r:id="rId15"/>
    <p:sldId id="11030" r:id="rId16"/>
    <p:sldId id="8554" r:id="rId17"/>
    <p:sldId id="8555" r:id="rId18"/>
    <p:sldId id="8556" r:id="rId19"/>
    <p:sldId id="8557" r:id="rId20"/>
    <p:sldId id="8558" r:id="rId21"/>
    <p:sldId id="11031" r:id="rId22"/>
    <p:sldId id="8529" r:id="rId23"/>
    <p:sldId id="8530" r:id="rId24"/>
    <p:sldId id="8563" r:id="rId25"/>
    <p:sldId id="8921" r:id="rId26"/>
    <p:sldId id="8532" r:id="rId27"/>
    <p:sldId id="8533" r:id="rId28"/>
    <p:sldId id="8729" r:id="rId29"/>
    <p:sldId id="11032" r:id="rId30"/>
    <p:sldId id="8731" r:id="rId31"/>
    <p:sldId id="8841" r:id="rId32"/>
    <p:sldId id="8889" r:id="rId33"/>
    <p:sldId id="8842" r:id="rId34"/>
    <p:sldId id="8843" r:id="rId35"/>
    <p:sldId id="8839" r:id="rId36"/>
    <p:sldId id="8986" r:id="rId37"/>
    <p:sldId id="8987" r:id="rId38"/>
    <p:sldId id="8988" r:id="rId39"/>
    <p:sldId id="8989" r:id="rId40"/>
    <p:sldId id="8990" r:id="rId41"/>
    <p:sldId id="8991" r:id="rId42"/>
    <p:sldId id="11028" r:id="rId43"/>
  </p:sldIdLst>
  <p:sldSz cx="12192000" cy="6858000"/>
  <p:notesSz cx="7102475" cy="9388475"/>
  <p:embeddedFontLst>
    <p:embeddedFont>
      <p:font typeface="Cambria Math" panose="02040503050406030204" pitchFamily="18" charset="0"/>
      <p:regular r:id="rId87"/>
    </p:embeddedFont>
    <p:embeddedFont>
      <p:font typeface="Oswald" panose="00000500000000000000" pitchFamily="2" charset="0"/>
      <p:regular r:id="rId88"/>
      <p:bold r:id="rId89"/>
    </p:embeddedFont>
    <p:embeddedFont>
      <p:font typeface="Playfair Display" panose="00000500000000000000" pitchFamily="2" charset="0"/>
      <p:regular r:id="rId90"/>
      <p:bold r:id="rId91"/>
      <p:italic r:id="rId92"/>
      <p:boldItalic r:id="rId93"/>
    </p:embeddedFont>
    <p:embeddedFont>
      <p:font typeface="Raleway" pitchFamily="2" charset="0"/>
      <p:regular r:id="rId94"/>
      <p:bold r:id="rId95"/>
      <p:italic r:id="rId96"/>
      <p:boldItalic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timal learning (inc)" id="{F6849F94-ED19-4CBF-A87A-6780B2421689}">
          <p14:sldIdLst>
            <p14:sldId id="10749"/>
            <p14:sldId id="9928"/>
            <p14:sldId id="11029"/>
            <p14:sldId id="8561"/>
            <p14:sldId id="9467"/>
            <p14:sldId id="8500"/>
            <p14:sldId id="9613"/>
            <p14:sldId id="7624"/>
            <p14:sldId id="8410"/>
            <p14:sldId id="8411"/>
            <p14:sldId id="8476"/>
            <p14:sldId id="11030"/>
            <p14:sldId id="8554"/>
            <p14:sldId id="8555"/>
            <p14:sldId id="8556"/>
            <p14:sldId id="8557"/>
            <p14:sldId id="8558"/>
            <p14:sldId id="11031"/>
            <p14:sldId id="8529"/>
            <p14:sldId id="8530"/>
            <p14:sldId id="8563"/>
            <p14:sldId id="8921"/>
            <p14:sldId id="8532"/>
            <p14:sldId id="8533"/>
            <p14:sldId id="8729"/>
            <p14:sldId id="11032"/>
            <p14:sldId id="8731"/>
            <p14:sldId id="8841"/>
            <p14:sldId id="8889"/>
            <p14:sldId id="8842"/>
            <p14:sldId id="8843"/>
            <p14:sldId id="8839"/>
            <p14:sldId id="8986"/>
            <p14:sldId id="8987"/>
            <p14:sldId id="8988"/>
            <p14:sldId id="8989"/>
            <p14:sldId id="8990"/>
            <p14:sldId id="8991"/>
            <p14:sldId id="11028"/>
          </p14:sldIdLst>
        </p14:section>
        <p14:section name="Determ opt as SDP (inc)" id="{551DD7F0-A5B2-4ACB-A035-51DD663D04B5}">
          <p14:sldIdLst>
            <p14:sldId id="10757"/>
            <p14:sldId id="10239"/>
            <p14:sldId id="10934"/>
            <p14:sldId id="9196"/>
            <p14:sldId id="9197"/>
            <p14:sldId id="9198"/>
            <p14:sldId id="9199"/>
            <p14:sldId id="9980"/>
            <p14:sldId id="9982"/>
            <p14:sldId id="11034"/>
            <p14:sldId id="9172"/>
            <p14:sldId id="9984"/>
            <p14:sldId id="9985"/>
            <p14:sldId id="10935"/>
            <p14:sldId id="9230"/>
            <p14:sldId id="7947"/>
            <p14:sldId id="10186"/>
            <p14:sldId id="10187"/>
            <p14:sldId id="7951"/>
            <p14:sldId id="8029"/>
            <p14:sldId id="8030"/>
            <p14:sldId id="8627"/>
            <p14:sldId id="6541"/>
            <p14:sldId id="3094"/>
            <p14:sldId id="10188"/>
            <p14:sldId id="8031"/>
            <p14:sldId id="11033"/>
          </p14:sldIdLst>
        </p14:section>
        <p14:section name="Modeling matters" id="{C173CF00-97B2-4F94-A8A3-9005C8C4724E}">
          <p14:sldIdLst>
            <p14:sldId id="10756"/>
            <p14:sldId id="9534"/>
            <p14:sldId id="4026"/>
            <p14:sldId id="4027"/>
            <p14:sldId id="8059"/>
            <p14:sldId id="4031"/>
            <p14:sldId id="4024"/>
            <p14:sldId id="795"/>
            <p14:sldId id="7995"/>
            <p14:sldId id="11035"/>
            <p14:sldId id="11036"/>
            <p14:sldId id="11037"/>
            <p14:sldId id="8226"/>
            <p14:sldId id="10234"/>
            <p14:sldId id="10936"/>
          </p14:sldIdLst>
        </p14:section>
        <p14:section name="Teaching materials" id="{7F195D44-CA38-4E75-B660-E23E872F3116}">
          <p14:sldIdLst/>
        </p14:section>
        <p14:section name="Quizes" id="{9466C41C-5E4A-473B-B45C-299CAAE140D1}">
          <p14:sldIdLst/>
        </p14:section>
        <p14:section name="Ending slide" id="{A38FE40B-7866-452A-AB51-D7C6AA82D48C}">
          <p14:sldIdLst/>
        </p14:section>
        <p14:section name="History of RL (long)" id="{EA60419E-00F9-4DD5-9E65-C023009FBAC9}">
          <p14:sldIdLst/>
        </p14:section>
        <p14:section name="Framing the problem (old)" id="{508651A6-E2A1-4B9D-849A-631222BDC416}">
          <p14:sldIdLst/>
        </p14:section>
        <p14:section name="Junk slides" id="{202D44D8-7916-4E0E-A17A-90781AB32AC5}">
          <p14:sldIdLst/>
        </p14:section>
        <p14:section name="LLM illustration" id="{0737BA5F-2BD6-47DB-990D-AC7DA8B2E8AD}">
          <p14:sldIdLst/>
        </p14:section>
        <p14:section name="Multiagent systems" id="{A5414587-8C61-40C6-BFC8-AB74916B4A13}">
          <p14:sldIdLst/>
        </p14:section>
        <p14:section name="Applications" id="{CC81FAFF-DBBC-4FBA-AA29-3C2AED8280AA}">
          <p14:sldIdLst/>
        </p14:section>
        <p14:section name="Overview of stoch opt ???" id="{FB93A169-4ED0-444E-A606-2775732F0C93}">
          <p14:sldIdLst/>
        </p14:section>
        <p14:section name="Untitled Section" id="{B1708D8C-CA48-42C4-8F70-69959BCDE4FA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89" Type="http://schemas.openxmlformats.org/officeDocument/2006/relationships/font" Target="fonts/font3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" Type="http://schemas.openxmlformats.org/officeDocument/2006/relationships/slide" Target="slides/slide1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97" Type="http://schemas.openxmlformats.org/officeDocument/2006/relationships/font" Target="fonts/font11.fntdata"/><Relationship Id="rId7" Type="http://schemas.openxmlformats.org/officeDocument/2006/relationships/slide" Target="slides/slide3.xml"/><Relationship Id="rId92" Type="http://schemas.openxmlformats.org/officeDocument/2006/relationships/font" Target="fonts/font6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87" Type="http://schemas.openxmlformats.org/officeDocument/2006/relationships/font" Target="fonts/font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93" Type="http://schemas.openxmlformats.org/officeDocument/2006/relationships/font" Target="fonts/font7.fntdata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4D04B9E-5E0F-A39B-D624-412C70F3E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4E58D39A-0299-A958-F602-748D9E7AB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A871198-B3A2-2712-B587-D6393A667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434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A55FB6-D232-DD13-DF9E-C1DA62A0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1DF0E73-9FB5-D4C6-7BE4-8A8982C76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650A3EA-D4FD-D34E-7749-6DAE8575BC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068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959530" y="4405460"/>
            <a:ext cx="5118998" cy="4158324"/>
          </a:xfrm>
          <a:prstGeom prst="rect">
            <a:avLst/>
          </a:prstGeom>
        </p:spPr>
        <p:txBody>
          <a:bodyPr spcFirstLastPara="1" wrap="square" lIns="97025" tIns="48500" rIns="97025" bIns="48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3075" y="733425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653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26BD-CA61-DA5E-65C5-48214E6A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D180A-50F2-9646-EB52-3C666738B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5</a:t>
            </a:fld>
            <a:endParaRPr lang="en-US"/>
          </a:p>
        </p:txBody>
      </p:sp>
      <p:sp>
        <p:nvSpPr>
          <p:cNvPr id="1285122" name="Rectangle 7">
            <a:extLst>
              <a:ext uri="{FF2B5EF4-FFF2-40B4-BE49-F238E27FC236}">
                <a16:creationId xmlns:a16="http://schemas.microsoft.com/office/drawing/2014/main" id="{5310F97C-0A79-591A-E7B2-8E8BE35523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5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>
            <a:extLst>
              <a:ext uri="{FF2B5EF4-FFF2-40B4-BE49-F238E27FC236}">
                <a16:creationId xmlns:a16="http://schemas.microsoft.com/office/drawing/2014/main" id="{95D39D04-6F4A-A60B-AAC5-D7C33B96C9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>
            <a:extLst>
              <a:ext uri="{FF2B5EF4-FFF2-40B4-BE49-F238E27FC236}">
                <a16:creationId xmlns:a16="http://schemas.microsoft.com/office/drawing/2014/main" id="{A56631C0-D2C0-1109-3724-E617BBA28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79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picture (not from internet)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6D72BD-ADC4-4A5F-9D21-73DD5D8AEB38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3595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7632CDE-11E7-79F9-FEAB-6DD730475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03D7B89-39D6-FD12-D3D2-9D00DA4FB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F51D365-F29C-AC8F-D70B-ACBE3C756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4883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126E759-DFB8-EF86-77D7-08B5A3C3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6E38C03-AB61-1253-074F-85EBDF622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C3DF1736-FEEA-D3BB-B3A0-1DD15081D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771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20</a:t>
            </a:fld>
            <a:endParaRPr lang="en-US"/>
          </a:p>
        </p:txBody>
      </p:sp>
      <p:sp>
        <p:nvSpPr>
          <p:cNvPr id="12851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20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90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21</a:t>
            </a:fld>
            <a:endParaRPr lang="en-US"/>
          </a:p>
        </p:txBody>
      </p:sp>
      <p:sp>
        <p:nvSpPr>
          <p:cNvPr id="12851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21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46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23</a:t>
            </a:fld>
            <a:endParaRPr lang="en-US"/>
          </a:p>
        </p:txBody>
      </p:sp>
      <p:sp>
        <p:nvSpPr>
          <p:cNvPr id="12851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23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63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CC0E-6706-4AED-86F2-1C9FFFFAA322}" type="slidenum">
              <a:rPr lang="en-US"/>
              <a:pPr/>
              <a:t>24</a:t>
            </a:fld>
            <a:endParaRPr lang="en-US"/>
          </a:p>
        </p:txBody>
      </p:sp>
      <p:sp>
        <p:nvSpPr>
          <p:cNvPr id="128512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6" tIns="45708" rIns="91416" bIns="45708"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03263" indent="-27146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810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12888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46275" indent="-2159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034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606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178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5075" indent="-215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BC551BB6-A4D1-4F58-B040-EC30CA89B13C}" type="slidenum">
              <a:rPr lang="en-US" sz="1100" i="0">
                <a:latin typeface="Times New Roman" pitchFamily="18" charset="0"/>
              </a:rPr>
              <a:pPr algn="r" eaLnBrk="0" hangingPunct="0"/>
              <a:t>24</a:t>
            </a:fld>
            <a:endParaRPr lang="en-US" sz="1100" i="0">
              <a:latin typeface="Times New Roman" pitchFamily="18" charset="0"/>
            </a:endParaRPr>
          </a:p>
        </p:txBody>
      </p:sp>
      <p:sp>
        <p:nvSpPr>
          <p:cNvPr id="128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4213"/>
            <a:ext cx="6097588" cy="3430587"/>
          </a:xfrm>
          <a:ln/>
        </p:spPr>
      </p:sp>
      <p:sp>
        <p:nvSpPr>
          <p:cNvPr id="128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</p:spPr>
        <p:txBody>
          <a:bodyPr lIns="91416" tIns="45708" rIns="91416" bIns="4570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94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76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E3DEABC-CD5B-B22F-6000-EDB1BA0D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E5A5387-5BA9-E49F-3A5D-C2E5AD9F8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68AF01EE-5D10-C605-84C9-649A3ECCB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0513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5255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800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468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4301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5823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E4B3D37-A6D0-4E5D-8767-D0518BA9B567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3075" y="733425"/>
            <a:ext cx="6092825" cy="3427413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5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4979" indent="-309607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427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3798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169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53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19912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27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0654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4373E87-90BD-40BC-869D-4BA2267CCBD3}" type="slidenum">
              <a:rPr lang="en-US" sz="1300"/>
              <a:pPr/>
              <a:t>34</a:t>
            </a:fld>
            <a:endParaRPr lang="en-US" sz="1300"/>
          </a:p>
        </p:txBody>
      </p:sp>
      <p:sp>
        <p:nvSpPr>
          <p:cNvPr id="876547" name="Rectangle 7"/>
          <p:cNvSpPr txBox="1">
            <a:spLocks noGrp="1" noChangeArrowheads="1"/>
          </p:cNvSpPr>
          <p:nvPr/>
        </p:nvSpPr>
        <p:spPr bwMode="auto">
          <a:xfrm>
            <a:off x="4322875" y="9418162"/>
            <a:ext cx="3308622" cy="49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148" tIns="50074" rIns="100148" bIns="50074" anchor="b"/>
          <a:lstStyle>
            <a:lvl1pPr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AB49DF4B-9065-4D9D-B2B0-F5C1AB7D8A49}" type="slidenum">
              <a:rPr lang="en-US" sz="1300">
                <a:latin typeface="Arial" charset="0"/>
              </a:rPr>
              <a:pPr algn="r" eaLnBrk="1" hangingPunct="1"/>
              <a:t>34</a:t>
            </a:fld>
            <a:endParaRPr lang="en-US" sz="1300">
              <a:latin typeface="Arial" charset="0"/>
            </a:endParaRPr>
          </a:p>
        </p:txBody>
      </p:sp>
      <p:sp>
        <p:nvSpPr>
          <p:cNvPr id="876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7525" y="742950"/>
            <a:ext cx="6607175" cy="3717925"/>
          </a:xfrm>
          <a:ln/>
        </p:spPr>
      </p:sp>
      <p:sp>
        <p:nvSpPr>
          <p:cNvPr id="8765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05" y="4710784"/>
            <a:ext cx="6106602" cy="4461859"/>
          </a:xfrm>
          <a:noFill/>
        </p:spPr>
        <p:txBody>
          <a:bodyPr lIns="100148" tIns="50074" rIns="100148" bIns="50074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8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4979" indent="-309607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427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3798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169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53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19912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27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0654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63A375-0971-4D28-B3CB-DAE72527A788}" type="slidenum">
              <a:rPr lang="en-US" sz="1300"/>
              <a:pPr/>
              <a:t>35</a:t>
            </a:fld>
            <a:endParaRPr lang="en-US" sz="1300"/>
          </a:p>
        </p:txBody>
      </p:sp>
      <p:sp>
        <p:nvSpPr>
          <p:cNvPr id="877571" name="Rectangle 7"/>
          <p:cNvSpPr txBox="1">
            <a:spLocks noGrp="1" noChangeArrowheads="1"/>
          </p:cNvSpPr>
          <p:nvPr/>
        </p:nvSpPr>
        <p:spPr bwMode="auto">
          <a:xfrm>
            <a:off x="4322875" y="9418162"/>
            <a:ext cx="3308622" cy="49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148" tIns="50074" rIns="100148" bIns="50074" anchor="b"/>
          <a:lstStyle>
            <a:lvl1pPr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7D546344-C394-470B-9B82-D445AB35A2E0}" type="slidenum">
              <a:rPr lang="en-US" sz="1300">
                <a:latin typeface="Arial" charset="0"/>
              </a:rPr>
              <a:pPr algn="r" eaLnBrk="1" hangingPunct="1"/>
              <a:t>35</a:t>
            </a:fld>
            <a:endParaRPr lang="en-US" sz="1300">
              <a:latin typeface="Arial" charset="0"/>
            </a:endParaRPr>
          </a:p>
        </p:txBody>
      </p:sp>
      <p:sp>
        <p:nvSpPr>
          <p:cNvPr id="8775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7525" y="742950"/>
            <a:ext cx="6607175" cy="3717925"/>
          </a:xfrm>
          <a:ln/>
        </p:spPr>
      </p:sp>
      <p:sp>
        <p:nvSpPr>
          <p:cNvPr id="8775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05" y="4710784"/>
            <a:ext cx="6106602" cy="4461859"/>
          </a:xfrm>
          <a:noFill/>
        </p:spPr>
        <p:txBody>
          <a:bodyPr lIns="100148" tIns="50074" rIns="100148" bIns="50074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08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4979" indent="-309607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427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3798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169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53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19912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27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0654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3A2859C-0430-48F6-8E40-1F0137CE42B3}" type="slidenum">
              <a:rPr lang="en-US" sz="1300"/>
              <a:pPr/>
              <a:t>36</a:t>
            </a:fld>
            <a:endParaRPr lang="en-US" sz="1300"/>
          </a:p>
        </p:txBody>
      </p:sp>
      <p:sp>
        <p:nvSpPr>
          <p:cNvPr id="879619" name="Rectangle 7"/>
          <p:cNvSpPr txBox="1">
            <a:spLocks noGrp="1" noChangeArrowheads="1"/>
          </p:cNvSpPr>
          <p:nvPr/>
        </p:nvSpPr>
        <p:spPr bwMode="auto">
          <a:xfrm>
            <a:off x="4322875" y="9418162"/>
            <a:ext cx="3308622" cy="49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148" tIns="50074" rIns="100148" bIns="50074" anchor="b"/>
          <a:lstStyle>
            <a:lvl1pPr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8FBF96EE-3A77-4C6B-8287-7489F2CB62F1}" type="slidenum">
              <a:rPr lang="en-US" sz="1300">
                <a:latin typeface="Arial" charset="0"/>
              </a:rPr>
              <a:pPr algn="r" eaLnBrk="1" hangingPunct="1"/>
              <a:t>36</a:t>
            </a:fld>
            <a:endParaRPr lang="en-US" sz="1300">
              <a:latin typeface="Arial" charset="0"/>
            </a:endParaRPr>
          </a:p>
        </p:txBody>
      </p:sp>
      <p:sp>
        <p:nvSpPr>
          <p:cNvPr id="8796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7525" y="742950"/>
            <a:ext cx="6607175" cy="3717925"/>
          </a:xfrm>
          <a:ln/>
        </p:spPr>
      </p:sp>
      <p:sp>
        <p:nvSpPr>
          <p:cNvPr id="8796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05" y="4710784"/>
            <a:ext cx="6106602" cy="4461859"/>
          </a:xfrm>
          <a:noFill/>
        </p:spPr>
        <p:txBody>
          <a:bodyPr lIns="100148" tIns="50074" rIns="100148" bIns="50074"/>
          <a:lstStyle/>
          <a:p>
            <a:pPr eaLnBrk="1" hangingPunct="1"/>
            <a:r>
              <a:rPr lang="en-US"/>
              <a:t>Fred – remaining slides you should click through fairly quickly.</a:t>
            </a:r>
          </a:p>
        </p:txBody>
      </p:sp>
    </p:spTree>
    <p:extLst>
      <p:ext uri="{BB962C8B-B14F-4D97-AF65-F5344CB8AC3E}">
        <p14:creationId xmlns:p14="http://schemas.microsoft.com/office/powerpoint/2010/main" val="33267860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1pPr>
            <a:lvl2pPr marL="804979" indent="-309607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2pPr>
            <a:lvl3pPr marL="1238427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3pPr>
            <a:lvl4pPr marL="1733798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4pPr>
            <a:lvl5pPr marL="2229169" indent="-247685" defTabSz="1007943">
              <a:defRPr sz="2600">
                <a:solidFill>
                  <a:schemeClr val="tx1"/>
                </a:solidFill>
                <a:latin typeface="Times New Roman" pitchFamily="18" charset="0"/>
              </a:defRPr>
            </a:lvl5pPr>
            <a:lvl6pPr marL="272453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6pPr>
            <a:lvl7pPr marL="3219912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7pPr>
            <a:lvl8pPr marL="3715279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8pPr>
            <a:lvl9pPr marL="4210654" indent="-247685" defTabSz="100794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8E6FB00-B4A0-4E0E-BDE1-214CAD55CD8E}" type="slidenum">
              <a:rPr lang="en-US" sz="1300"/>
              <a:pPr/>
              <a:t>37</a:t>
            </a:fld>
            <a:endParaRPr lang="en-US" sz="1300"/>
          </a:p>
        </p:txBody>
      </p:sp>
      <p:sp>
        <p:nvSpPr>
          <p:cNvPr id="881667" name="Rectangle 7"/>
          <p:cNvSpPr txBox="1">
            <a:spLocks noGrp="1" noChangeArrowheads="1"/>
          </p:cNvSpPr>
          <p:nvPr/>
        </p:nvSpPr>
        <p:spPr bwMode="auto">
          <a:xfrm>
            <a:off x="4322875" y="9418162"/>
            <a:ext cx="3308622" cy="49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148" tIns="50074" rIns="100148" bIns="50074" anchor="b"/>
          <a:lstStyle>
            <a:lvl1pPr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2392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EA217DD7-F395-4BF1-9E0F-1E9B76858CA2}" type="slidenum">
              <a:rPr lang="en-US" sz="1300">
                <a:latin typeface="Arial" charset="0"/>
              </a:rPr>
              <a:pPr algn="r" eaLnBrk="1" hangingPunct="1"/>
              <a:t>37</a:t>
            </a:fld>
            <a:endParaRPr lang="en-US" sz="1300">
              <a:latin typeface="Arial" charset="0"/>
            </a:endParaRPr>
          </a:p>
        </p:txBody>
      </p:sp>
      <p:sp>
        <p:nvSpPr>
          <p:cNvPr id="8816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17525" y="742950"/>
            <a:ext cx="6607175" cy="3717925"/>
          </a:xfrm>
          <a:ln/>
        </p:spPr>
      </p:sp>
      <p:sp>
        <p:nvSpPr>
          <p:cNvPr id="8816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4205" y="4710784"/>
            <a:ext cx="6106602" cy="4461859"/>
          </a:xfrm>
          <a:noFill/>
        </p:spPr>
        <p:txBody>
          <a:bodyPr lIns="100148" tIns="50074" rIns="100148" bIns="50074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76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4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0.png"/><Relationship Id="rId5" Type="http://schemas.openxmlformats.org/officeDocument/2006/relationships/image" Target="../media/image204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0.png"/><Relationship Id="rId4" Type="http://schemas.openxmlformats.org/officeDocument/2006/relationships/image" Target="../media/image208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260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1.png"/><Relationship Id="rId3" Type="http://schemas.openxmlformats.org/officeDocument/2006/relationships/image" Target="../media/image144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1.png"/><Relationship Id="rId3" Type="http://schemas.openxmlformats.org/officeDocument/2006/relationships/image" Target="../media/image144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983D-E214-4785-0F60-18F6C07E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5372F6-1FB1-058A-7B23-FE6052AA1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126933B-EB1E-A3E7-CD9A-0A18EAB0F702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27C99B9-FD2B-CADB-A803-BFF7E0D38205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04A73E-0BFC-B6EB-08BC-1F311E0CEF0F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September 3,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A2269B-7608-6732-39A6-2EA5290FDC2F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Optimal learning – This module introduces the idea of learning about an unknown function by performing intelligent trial and error.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E694E7-D918-2622-67F6-8CE0C6165744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Low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BEB6F8-1041-7068-D808-0A3838B58FB5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(high level or 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B4DEA4-E314-D03A-F142-593B06D7A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775C33-7B69-0BF5-5084-159B7924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EE27A-AA5F-F767-2EC3-7DE80FCF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001BD6EB-14FA-514D-2072-126B5021F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C518392B-2006-F756-90FE-3B5EE6B7F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Introduction to optimal learning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 pricing example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Illustration of interval estimation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Illustration of the knowledge gradient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7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F815462-B9FE-97E7-5820-6EA4515E2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E152F-AD7B-9AAC-7E86-2028EC5B2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548C5D92-3871-E168-1DC5-49F82EE43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F26FC16E-7E45-6529-9317-A4983B544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Introduction to optimal learning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pricing example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interval estimation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the knowledge gradient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12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60000"/>
                <a:lumOff val="40000"/>
              </a:schemeClr>
            </a:gs>
            <a:gs pos="68000">
              <a:schemeClr val="accent2">
                <a:lumMod val="40000"/>
                <a:lumOff val="6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902683" y="1233743"/>
            <a:ext cx="10221192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Every field in business, the physical and social sciences, economics, energy, health, …. requires some form of intelligent experimentation.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2027300" y="353850"/>
            <a:ext cx="82107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Optimal learning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295028" y="4232259"/>
            <a:ext cx="3487154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Multi-armed bandit problems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942954" y="2269828"/>
            <a:ext cx="3595611" cy="46162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Intelligent trial and error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274628" y="2943839"/>
            <a:ext cx="2933966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Derivative-free stochastic search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884604" y="3816781"/>
            <a:ext cx="2651700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Bayesian optimization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86105" y="2625741"/>
            <a:ext cx="2147019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Active learning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2" name="Google Shape;165;p20">
            <a:extLst>
              <a:ext uri="{FF2B5EF4-FFF2-40B4-BE49-F238E27FC236}">
                <a16:creationId xmlns:a16="http://schemas.microsoft.com/office/drawing/2014/main" id="{B9CD56E6-15C9-2177-B8EE-D47AC455E2FC}"/>
              </a:ext>
            </a:extLst>
          </p:cNvPr>
          <p:cNvSpPr txBox="1"/>
          <p:nvPr/>
        </p:nvSpPr>
        <p:spPr>
          <a:xfrm>
            <a:off x="7462365" y="5423298"/>
            <a:ext cx="3487154" cy="8309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Ranking and selection/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Simulation-optimization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3" name="Google Shape;169;p20">
            <a:extLst>
              <a:ext uri="{FF2B5EF4-FFF2-40B4-BE49-F238E27FC236}">
                <a16:creationId xmlns:a16="http://schemas.microsoft.com/office/drawing/2014/main" id="{DE663263-8124-00D5-44C8-D85A15E36777}"/>
              </a:ext>
            </a:extLst>
          </p:cNvPr>
          <p:cNvSpPr txBox="1"/>
          <p:nvPr/>
        </p:nvSpPr>
        <p:spPr>
          <a:xfrm>
            <a:off x="811095" y="5361470"/>
            <a:ext cx="3595611" cy="46162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chemeClr val="accent2">
                    <a:lumMod val="75000"/>
                  </a:schemeClr>
                </a:solidFill>
                <a:latin typeface="+mj-lt"/>
                <a:ea typeface="Oswald Regular"/>
                <a:cs typeface="Oswald Regular"/>
                <a:sym typeface="Oswald Regular"/>
              </a:rPr>
              <a:t>Design of experiments</a:t>
            </a:r>
            <a:endParaRPr dirty="0">
              <a:solidFill>
                <a:schemeClr val="accent2">
                  <a:lumMod val="75000"/>
                </a:schemeClr>
              </a:solidFill>
              <a:latin typeface="+mj-lt"/>
              <a:ea typeface="Oswald Regular"/>
              <a:cs typeface="Oswald Regular"/>
              <a:sym typeface="Oswal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1442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5D98-3E28-9CBC-B0E1-01A3C279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BA4EC99-415A-65ED-48BE-6A3D03BCE09C}"/>
              </a:ext>
            </a:extLst>
          </p:cNvPr>
          <p:cNvSpPr txBox="1">
            <a:spLocks noChangeArrowheads="1"/>
          </p:cNvSpPr>
          <p:nvPr/>
        </p:nvSpPr>
        <p:spPr>
          <a:xfrm>
            <a:off x="633539" y="1054953"/>
            <a:ext cx="10536329" cy="95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The most common decision problem that we all face involves finding the best of a discrete set of choices:</a:t>
            </a:r>
          </a:p>
        </p:txBody>
      </p:sp>
      <p:sp>
        <p:nvSpPr>
          <p:cNvPr id="1284101" name="Line 4">
            <a:extLst>
              <a:ext uri="{FF2B5EF4-FFF2-40B4-BE49-F238E27FC236}">
                <a16:creationId xmlns:a16="http://schemas.microsoft.com/office/drawing/2014/main" id="{BE3C2FA3-9FAB-A0B7-3618-63D362CFE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316" y="5073844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7" name="Text Box 10">
            <a:extLst>
              <a:ext uri="{FF2B5EF4-FFF2-40B4-BE49-F238E27FC236}">
                <a16:creationId xmlns:a16="http://schemas.microsoft.com/office/drawing/2014/main" id="{7632C8AA-96CF-A0EE-FCB6-5F3BCA449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054" y="507701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>
            <a:extLst>
              <a:ext uri="{FF2B5EF4-FFF2-40B4-BE49-F238E27FC236}">
                <a16:creationId xmlns:a16="http://schemas.microsoft.com/office/drawing/2014/main" id="{E0C9649A-9667-2C7A-4FB5-B975EED27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129" y="507701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>
            <a:extLst>
              <a:ext uri="{FF2B5EF4-FFF2-40B4-BE49-F238E27FC236}">
                <a16:creationId xmlns:a16="http://schemas.microsoft.com/office/drawing/2014/main" id="{D59EFBFD-E10E-3341-6D20-8F3E7780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192" y="507701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>
            <a:extLst>
              <a:ext uri="{FF2B5EF4-FFF2-40B4-BE49-F238E27FC236}">
                <a16:creationId xmlns:a16="http://schemas.microsoft.com/office/drawing/2014/main" id="{FAFC7137-482A-07C0-9A43-A4D734031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792" y="507701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3A0828EE-8BA6-4B82-D07A-3329CE1F2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28" y="5081939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2" name="Text Box 14">
            <a:extLst>
              <a:ext uri="{FF2B5EF4-FFF2-40B4-BE49-F238E27FC236}">
                <a16:creationId xmlns:a16="http://schemas.microsoft.com/office/drawing/2014/main" id="{785FB549-AF25-7E97-9AF9-FF06F4AA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9845" y="505433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8A856-E7C7-3F53-AE39-6F000D011486}"/>
              </a:ext>
            </a:extLst>
          </p:cNvPr>
          <p:cNvSpPr/>
          <p:nvPr/>
        </p:nvSpPr>
        <p:spPr bwMode="auto">
          <a:xfrm>
            <a:off x="4571301" y="5106515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F5564-E44D-A69B-8AB5-8EDF9B9A212A}"/>
              </a:ext>
            </a:extLst>
          </p:cNvPr>
          <p:cNvSpPr txBox="1"/>
          <p:nvPr/>
        </p:nvSpPr>
        <p:spPr>
          <a:xfrm rot="19002662">
            <a:off x="4472636" y="5422722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A9EC9A-347A-7DDD-6159-F9862BE85A8E}"/>
              </a:ext>
            </a:extLst>
          </p:cNvPr>
          <p:cNvSpPr txBox="1"/>
          <p:nvPr/>
        </p:nvSpPr>
        <p:spPr>
          <a:xfrm rot="19002662">
            <a:off x="5422227" y="5398146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8315CC-E7B7-E9A9-342E-706704CC1A5C}"/>
              </a:ext>
            </a:extLst>
          </p:cNvPr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74DA6B-27AF-B81E-3D2B-3D8C293CFAF5}"/>
              </a:ext>
            </a:extLst>
          </p:cNvPr>
          <p:cNvSpPr txBox="1"/>
          <p:nvPr/>
        </p:nvSpPr>
        <p:spPr>
          <a:xfrm rot="19002662">
            <a:off x="6356545" y="5363742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FFB84A-3FFD-38DA-3F2E-7C304EC99B4D}"/>
              </a:ext>
            </a:extLst>
          </p:cNvPr>
          <p:cNvSpPr txBox="1"/>
          <p:nvPr/>
        </p:nvSpPr>
        <p:spPr>
          <a:xfrm rot="19002662">
            <a:off x="8921207" y="5368662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8019F02-0CF0-0D73-161D-E50679523BDA}"/>
              </a:ext>
            </a:extLst>
          </p:cNvPr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81243D3-F475-13F7-0339-476B1CC65478}"/>
              </a:ext>
            </a:extLst>
          </p:cNvPr>
          <p:cNvSpPr txBox="1"/>
          <p:nvPr/>
        </p:nvSpPr>
        <p:spPr>
          <a:xfrm rot="19002662">
            <a:off x="8120965" y="5353914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625B8B-4B33-C6D0-1E84-F5841C98428F}"/>
              </a:ext>
            </a:extLst>
          </p:cNvPr>
          <p:cNvSpPr/>
          <p:nvPr/>
        </p:nvSpPr>
        <p:spPr>
          <a:xfrm>
            <a:off x="2197458" y="4762895"/>
            <a:ext cx="7545898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426A21-A237-47E1-8F7D-88F656D72642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300" dirty="0">
                <a:latin typeface="Oswald" panose="00000500000000000000" pitchFamily="2" charset="0"/>
              </a:rPr>
              <a:t>Optimal learning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6025D9-A564-F2A0-F36C-FBCBB87C70C9}"/>
              </a:ext>
            </a:extLst>
          </p:cNvPr>
          <p:cNvCxnSpPr>
            <a:cxnSpLocks/>
          </p:cNvCxnSpPr>
          <p:nvPr/>
        </p:nvCxnSpPr>
        <p:spPr>
          <a:xfrm>
            <a:off x="4332270" y="5072414"/>
            <a:ext cx="695405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990B8F3-9090-4BA6-EA51-7AD2CDAF6C09}"/>
              </a:ext>
            </a:extLst>
          </p:cNvPr>
          <p:cNvGrpSpPr/>
          <p:nvPr/>
        </p:nvGrpSpPr>
        <p:grpSpPr>
          <a:xfrm>
            <a:off x="4858973" y="4977885"/>
            <a:ext cx="5544508" cy="1146468"/>
            <a:chOff x="3316007" y="4663581"/>
            <a:chExt cx="5544508" cy="11464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611788-5E70-CD88-5905-0E39CD8523C0}"/>
                </a:ext>
              </a:extLst>
            </p:cNvPr>
            <p:cNvSpPr txBox="1"/>
            <p:nvPr/>
          </p:nvSpPr>
          <p:spPr>
            <a:xfrm rot="18791278">
              <a:off x="2940263" y="5047107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0B806F-9314-64DD-1D78-2A2D42FA4537}"/>
                </a:ext>
              </a:extLst>
            </p:cNvPr>
            <p:cNvSpPr txBox="1"/>
            <p:nvPr/>
          </p:nvSpPr>
          <p:spPr>
            <a:xfrm rot="18791278">
              <a:off x="3784223" y="5047025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1B7837-46B4-C5CE-B28A-50E09E24F19B}"/>
                </a:ext>
              </a:extLst>
            </p:cNvPr>
            <p:cNvSpPr txBox="1"/>
            <p:nvPr/>
          </p:nvSpPr>
          <p:spPr>
            <a:xfrm rot="18791278">
              <a:off x="4638419" y="5054709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043EF-FA1B-D569-2B93-95B2C75AE1C8}"/>
                </a:ext>
              </a:extLst>
            </p:cNvPr>
            <p:cNvSpPr txBox="1"/>
            <p:nvPr/>
          </p:nvSpPr>
          <p:spPr>
            <a:xfrm rot="18791278">
              <a:off x="5514395" y="5047025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18AC1F-BFB9-B73C-28DD-1DF61EC4F56A}"/>
                </a:ext>
              </a:extLst>
            </p:cNvPr>
            <p:cNvSpPr txBox="1"/>
            <p:nvPr/>
          </p:nvSpPr>
          <p:spPr>
            <a:xfrm rot="18791278">
              <a:off x="6365629" y="5052344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11187D-190A-ACCE-89A8-94ECCD328482}"/>
                </a:ext>
              </a:extLst>
            </p:cNvPr>
            <p:cNvSpPr txBox="1"/>
            <p:nvPr/>
          </p:nvSpPr>
          <p:spPr>
            <a:xfrm rot="18791278">
              <a:off x="7231787" y="506111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F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F5A6FD-23C6-4431-68DC-975DC04B9EFA}"/>
                </a:ext>
              </a:extLst>
            </p:cNvPr>
            <p:cNvSpPr txBox="1"/>
            <p:nvPr/>
          </p:nvSpPr>
          <p:spPr>
            <a:xfrm rot="18791278">
              <a:off x="8102615" y="5052149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Choice G</a:t>
              </a:r>
            </a:p>
          </p:txBody>
        </p:sp>
      </p:grpSp>
      <p:sp>
        <p:nvSpPr>
          <p:cNvPr id="1284102" name="Rectangle 5" descr="Dark upward diagonal">
            <a:extLst>
              <a:ext uri="{FF2B5EF4-FFF2-40B4-BE49-F238E27FC236}">
                <a16:creationId xmlns:a16="http://schemas.microsoft.com/office/drawing/2014/main" id="{6572B13C-426C-36E2-84AE-11836DBDC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279" y="4121345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>
            <a:extLst>
              <a:ext uri="{FF2B5EF4-FFF2-40B4-BE49-F238E27FC236}">
                <a16:creationId xmlns:a16="http://schemas.microsoft.com/office/drawing/2014/main" id="{0EF3CEFF-E98C-733F-32F2-D7498C84E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879" y="3859407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>
            <a:extLst>
              <a:ext uri="{FF2B5EF4-FFF2-40B4-BE49-F238E27FC236}">
                <a16:creationId xmlns:a16="http://schemas.microsoft.com/office/drawing/2014/main" id="{66E2BC73-F720-82C3-F93E-022D49E4C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479" y="3651445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>
            <a:extLst>
              <a:ext uri="{FF2B5EF4-FFF2-40B4-BE49-F238E27FC236}">
                <a16:creationId xmlns:a16="http://schemas.microsoft.com/office/drawing/2014/main" id="{448A6D39-409D-B76F-2309-D69D1F17F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079" y="3454594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6" name="Rectangle 8" descr="Dark upward diagonal">
            <a:extLst>
              <a:ext uri="{FF2B5EF4-FFF2-40B4-BE49-F238E27FC236}">
                <a16:creationId xmlns:a16="http://schemas.microsoft.com/office/drawing/2014/main" id="{DB428369-E752-0882-448B-5161E371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7515" y="3459514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1" name="Rectangle 9" descr="Dark upward diagonal">
            <a:extLst>
              <a:ext uri="{FF2B5EF4-FFF2-40B4-BE49-F238E27FC236}">
                <a16:creationId xmlns:a16="http://schemas.microsoft.com/office/drawing/2014/main" id="{2159D1A2-0F58-43C9-C016-E2F0A064E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195" y="3586635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6" name="Rectangle 8" descr="Dark upward diagonal">
            <a:extLst>
              <a:ext uri="{FF2B5EF4-FFF2-40B4-BE49-F238E27FC236}">
                <a16:creationId xmlns:a16="http://schemas.microsoft.com/office/drawing/2014/main" id="{8DD06EBA-BAA4-7D99-06C3-6943EFEDD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131" y="3244162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89B070-1A7F-475E-3850-2B6EDFFF4FCD}"/>
              </a:ext>
            </a:extLst>
          </p:cNvPr>
          <p:cNvGrpSpPr/>
          <p:nvPr/>
        </p:nvGrpSpPr>
        <p:grpSpPr>
          <a:xfrm>
            <a:off x="5136026" y="2066926"/>
            <a:ext cx="5537079" cy="2629371"/>
            <a:chOff x="3593060" y="1852918"/>
            <a:chExt cx="5537079" cy="262937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02C704-B028-3CEF-EE3F-6AF690F4E44F}"/>
                </a:ext>
              </a:extLst>
            </p:cNvPr>
            <p:cNvGrpSpPr/>
            <p:nvPr/>
          </p:nvGrpSpPr>
          <p:grpSpPr>
            <a:xfrm>
              <a:off x="3593060" y="3656107"/>
              <a:ext cx="357348" cy="544675"/>
              <a:chOff x="804040" y="2963917"/>
              <a:chExt cx="357348" cy="109833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59A5ED0-8B75-0BA1-2711-AC150A8B4598}"/>
                  </a:ext>
                </a:extLst>
              </p:cNvPr>
              <p:cNvCxnSpPr/>
              <p:nvPr/>
            </p:nvCxnSpPr>
            <p:spPr>
              <a:xfrm>
                <a:off x="969579" y="2963917"/>
                <a:ext cx="0" cy="109570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E004738-B2E7-C2B5-8AC3-5ED4E7D8A0A8}"/>
                  </a:ext>
                </a:extLst>
              </p:cNvPr>
              <p:cNvCxnSpPr/>
              <p:nvPr/>
            </p:nvCxnSpPr>
            <p:spPr>
              <a:xfrm>
                <a:off x="804040" y="297968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C9EAA44-C2F8-FA1D-D1DD-09011F04D7EB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D2205D8-0D69-6075-185E-C812EF4B8193}"/>
                </a:ext>
              </a:extLst>
            </p:cNvPr>
            <p:cNvGrpSpPr/>
            <p:nvPr/>
          </p:nvGrpSpPr>
          <p:grpSpPr>
            <a:xfrm>
              <a:off x="4449539" y="2405118"/>
              <a:ext cx="357348" cy="1659020"/>
              <a:chOff x="804040" y="2428781"/>
              <a:chExt cx="357348" cy="142507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3D7FCD8-1266-620D-3322-1B40250C4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428781"/>
                <a:ext cx="0" cy="142245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E6B03F4-20FA-E066-1335-4C12A01503C7}"/>
                  </a:ext>
                </a:extLst>
              </p:cNvPr>
              <p:cNvCxnSpPr/>
              <p:nvPr/>
            </p:nvCxnSpPr>
            <p:spPr>
              <a:xfrm>
                <a:off x="804040" y="2429472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1187AF9-4092-F99C-3E7E-31B87EA9E420}"/>
                  </a:ext>
                </a:extLst>
              </p:cNvPr>
              <p:cNvCxnSpPr/>
              <p:nvPr/>
            </p:nvCxnSpPr>
            <p:spPr>
              <a:xfrm>
                <a:off x="806664" y="385385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EA5030B-4934-3179-2BF4-2E8DB4909434}"/>
                </a:ext>
              </a:extLst>
            </p:cNvPr>
            <p:cNvGrpSpPr/>
            <p:nvPr/>
          </p:nvGrpSpPr>
          <p:grpSpPr>
            <a:xfrm>
              <a:off x="5312647" y="2776871"/>
              <a:ext cx="357348" cy="1705418"/>
              <a:chOff x="804040" y="1866488"/>
              <a:chExt cx="357348" cy="4079106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47AB99E-05B9-FDC0-83EC-EC82F472E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046" y="1866488"/>
                <a:ext cx="0" cy="407910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BCE41C0-1AAB-8003-091B-F2CFE1D51477}"/>
                  </a:ext>
                </a:extLst>
              </p:cNvPr>
              <p:cNvCxnSpPr/>
              <p:nvPr/>
            </p:nvCxnSpPr>
            <p:spPr>
              <a:xfrm>
                <a:off x="804040" y="1886116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BB8DE734-E6DC-92C4-27A2-5345804761B8}"/>
                  </a:ext>
                </a:extLst>
              </p:cNvPr>
              <p:cNvCxnSpPr/>
              <p:nvPr/>
            </p:nvCxnSpPr>
            <p:spPr>
              <a:xfrm>
                <a:off x="806664" y="5945594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7E10CE6-9EDA-DDDE-5574-4CEAFCC03DE1}"/>
                </a:ext>
              </a:extLst>
            </p:cNvPr>
            <p:cNvGrpSpPr/>
            <p:nvPr/>
          </p:nvGrpSpPr>
          <p:grpSpPr>
            <a:xfrm>
              <a:off x="6179870" y="2867824"/>
              <a:ext cx="357348" cy="766567"/>
              <a:chOff x="804040" y="2963917"/>
              <a:chExt cx="357348" cy="109833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00A490F-FAD3-6881-083B-3BAFA2DAD697}"/>
                  </a:ext>
                </a:extLst>
              </p:cNvPr>
              <p:cNvCxnSpPr/>
              <p:nvPr/>
            </p:nvCxnSpPr>
            <p:spPr>
              <a:xfrm>
                <a:off x="969579" y="2963917"/>
                <a:ext cx="0" cy="109570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F86683F-851E-03AE-2F2D-689215B8E70F}"/>
                  </a:ext>
                </a:extLst>
              </p:cNvPr>
              <p:cNvCxnSpPr/>
              <p:nvPr/>
            </p:nvCxnSpPr>
            <p:spPr>
              <a:xfrm>
                <a:off x="804040" y="297968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3BEBEDF-2A6B-65C2-CDCB-DBBDDADDDCD2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38C1CB9-5400-532A-4E02-2183FD5A4F06}"/>
                </a:ext>
              </a:extLst>
            </p:cNvPr>
            <p:cNvGrpSpPr/>
            <p:nvPr/>
          </p:nvGrpSpPr>
          <p:grpSpPr>
            <a:xfrm>
              <a:off x="7068628" y="2776871"/>
              <a:ext cx="357348" cy="565764"/>
              <a:chOff x="804040" y="2398893"/>
              <a:chExt cx="357348" cy="2425661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75113B9-AB1C-8793-8DC7-26587C5A7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398893"/>
                <a:ext cx="0" cy="2423033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C524D01-D918-C0AE-2998-2308AF8A690A}"/>
                  </a:ext>
                </a:extLst>
              </p:cNvPr>
              <p:cNvCxnSpPr/>
              <p:nvPr/>
            </p:nvCxnSpPr>
            <p:spPr>
              <a:xfrm>
                <a:off x="804040" y="239889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E20B7CD-8990-32CD-F620-786A0EBF3327}"/>
                  </a:ext>
                </a:extLst>
              </p:cNvPr>
              <p:cNvCxnSpPr/>
              <p:nvPr/>
            </p:nvCxnSpPr>
            <p:spPr>
              <a:xfrm>
                <a:off x="806664" y="4824554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DF5745C-9328-B55D-C19E-0F2B9175B0FE}"/>
                </a:ext>
              </a:extLst>
            </p:cNvPr>
            <p:cNvGrpSpPr/>
            <p:nvPr/>
          </p:nvGrpSpPr>
          <p:grpSpPr>
            <a:xfrm>
              <a:off x="7903059" y="2911282"/>
              <a:ext cx="357348" cy="695795"/>
              <a:chOff x="804040" y="2963917"/>
              <a:chExt cx="357348" cy="1098331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B041F19-B55D-B3F7-B57B-8E39C516FF21}"/>
                  </a:ext>
                </a:extLst>
              </p:cNvPr>
              <p:cNvCxnSpPr/>
              <p:nvPr/>
            </p:nvCxnSpPr>
            <p:spPr>
              <a:xfrm>
                <a:off x="969579" y="2963917"/>
                <a:ext cx="0" cy="1095704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6ECB530-AB19-DD21-A30B-A8EBA901BF13}"/>
                  </a:ext>
                </a:extLst>
              </p:cNvPr>
              <p:cNvCxnSpPr/>
              <p:nvPr/>
            </p:nvCxnSpPr>
            <p:spPr>
              <a:xfrm>
                <a:off x="804040" y="2979683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A2D724E-3DE4-C571-C4AD-37D4F05F6169}"/>
                  </a:ext>
                </a:extLst>
              </p:cNvPr>
              <p:cNvCxnSpPr/>
              <p:nvPr/>
            </p:nvCxnSpPr>
            <p:spPr>
              <a:xfrm>
                <a:off x="806664" y="4062248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4983051-98B8-E3CC-B426-1AC99AE3364A}"/>
                </a:ext>
              </a:extLst>
            </p:cNvPr>
            <p:cNvGrpSpPr/>
            <p:nvPr/>
          </p:nvGrpSpPr>
          <p:grpSpPr>
            <a:xfrm>
              <a:off x="8772791" y="1852918"/>
              <a:ext cx="357348" cy="2151804"/>
              <a:chOff x="804040" y="2623939"/>
              <a:chExt cx="357348" cy="1244103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7DB632C-72D0-45C5-A237-13502BAF4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579" y="2623940"/>
                <a:ext cx="0" cy="124147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35AF4DC-A987-069A-0938-D4BB7B6EF95C}"/>
                  </a:ext>
                </a:extLst>
              </p:cNvPr>
              <p:cNvCxnSpPr/>
              <p:nvPr/>
            </p:nvCxnSpPr>
            <p:spPr>
              <a:xfrm>
                <a:off x="804040" y="2623939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981264B-79E0-3A89-DA88-7BAC59FB1BDA}"/>
                  </a:ext>
                </a:extLst>
              </p:cNvPr>
              <p:cNvCxnSpPr/>
              <p:nvPr/>
            </p:nvCxnSpPr>
            <p:spPr>
              <a:xfrm>
                <a:off x="806664" y="3868042"/>
                <a:ext cx="35472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21D628B-4B6A-CBD6-1500-42FA276A016D}"/>
              </a:ext>
            </a:extLst>
          </p:cNvPr>
          <p:cNvSpPr txBox="1"/>
          <p:nvPr/>
        </p:nvSpPr>
        <p:spPr>
          <a:xfrm>
            <a:off x="798705" y="2321498"/>
            <a:ext cx="283443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Raleway" pitchFamily="2" charset="0"/>
              </a:rPr>
              <a:t>Choices:</a:t>
            </a:r>
          </a:p>
          <a:p>
            <a:endParaRPr lang="en-US" sz="1600" dirty="0">
              <a:latin typeface="Raleway" pitchFamily="2" charset="0"/>
            </a:endParaRP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Type of drug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Component supplier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Trading policy (finance)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Battery technology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Price (discretized)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Web page design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Product to advertise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Location for a clinic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Diameter of silicon wafer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Financial trading policy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Advertising channel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r>
              <a:rPr lang="en-US" sz="1600" dirty="0">
                <a:latin typeface="Raleway" pitchFamily="2" charset="0"/>
              </a:rPr>
              <a:t>Choice of manager</a:t>
            </a:r>
          </a:p>
          <a:p>
            <a:pPr marL="285750" indent="-168275">
              <a:buFont typeface="Wingdings" panose="05000000000000000000" pitchFamily="2" charset="2"/>
              <a:buChar char="§"/>
            </a:pPr>
            <a:endParaRPr lang="en-US" sz="1600" dirty="0">
              <a:latin typeface="Raleway" pitchFamily="2" charset="0"/>
            </a:endParaRPr>
          </a:p>
          <a:p>
            <a:pPr marL="285750" indent="-168275">
              <a:buFont typeface="Wingdings" panose="05000000000000000000" pitchFamily="2" charset="2"/>
              <a:buChar char="§"/>
            </a:pPr>
            <a:endParaRPr lang="en-US" sz="16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7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A13C8ED2-51D9-E5B8-7395-4CF9ABADE598}"/>
              </a:ext>
            </a:extLst>
          </p:cNvPr>
          <p:cNvGrpSpPr/>
          <p:nvPr/>
        </p:nvGrpSpPr>
        <p:grpSpPr>
          <a:xfrm>
            <a:off x="6403296" y="1674294"/>
            <a:ext cx="3080479" cy="4631570"/>
            <a:chOff x="6403296" y="1674294"/>
            <a:chExt cx="3080479" cy="463157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53BD74-E637-FAE9-45BD-AF287B2A2A8C}"/>
                </a:ext>
              </a:extLst>
            </p:cNvPr>
            <p:cNvSpPr/>
            <p:nvPr/>
          </p:nvSpPr>
          <p:spPr>
            <a:xfrm>
              <a:off x="6403296" y="1674294"/>
              <a:ext cx="3080479" cy="4631570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95A78A9-A142-55DF-F7AA-CEBAD6826CE0}"/>
                </a:ext>
              </a:extLst>
            </p:cNvPr>
            <p:cNvSpPr txBox="1"/>
            <p:nvPr/>
          </p:nvSpPr>
          <p:spPr>
            <a:xfrm>
              <a:off x="6494439" y="5381226"/>
              <a:ext cx="280759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learn as we test, and we have to live with the results while we are learning.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2277CA-BFA6-915C-0A02-EBAEB912319A}"/>
              </a:ext>
            </a:extLst>
          </p:cNvPr>
          <p:cNvGrpSpPr/>
          <p:nvPr/>
        </p:nvGrpSpPr>
        <p:grpSpPr>
          <a:xfrm>
            <a:off x="3297836" y="1649309"/>
            <a:ext cx="3080479" cy="4631570"/>
            <a:chOff x="3297836" y="1649309"/>
            <a:chExt cx="3080479" cy="463157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6B0BC2-02CC-64B0-25B3-CD8F2E07745C}"/>
                </a:ext>
              </a:extLst>
            </p:cNvPr>
            <p:cNvSpPr/>
            <p:nvPr/>
          </p:nvSpPr>
          <p:spPr>
            <a:xfrm>
              <a:off x="3297836" y="1649309"/>
              <a:ext cx="3080479" cy="4631570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66FA9F-A359-9863-9140-B222D8968F0B}"/>
                </a:ext>
              </a:extLst>
            </p:cNvPr>
            <p:cNvSpPr txBox="1"/>
            <p:nvPr/>
          </p:nvSpPr>
          <p:spPr>
            <a:xfrm>
              <a:off x="3356055" y="5389809"/>
              <a:ext cx="30222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only care about the final design.</a:t>
              </a:r>
            </a:p>
            <a:p>
              <a:r>
                <a:rPr lang="en-US" dirty="0"/>
                <a:t>We do not care how well we do while we are searching.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69DB6A6-2673-9663-00A6-37DB94CF3D50}"/>
              </a:ext>
            </a:extLst>
          </p:cNvPr>
          <p:cNvGrpSpPr/>
          <p:nvPr/>
        </p:nvGrpSpPr>
        <p:grpSpPr>
          <a:xfrm>
            <a:off x="0" y="2604079"/>
            <a:ext cx="12192000" cy="1282063"/>
            <a:chOff x="0" y="2604079"/>
            <a:chExt cx="12192000" cy="12820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99E455-6F28-47D0-3FB1-13BAF71BE714}"/>
                </a:ext>
              </a:extLst>
            </p:cNvPr>
            <p:cNvSpPr/>
            <p:nvPr/>
          </p:nvSpPr>
          <p:spPr>
            <a:xfrm>
              <a:off x="0" y="2604079"/>
              <a:ext cx="12192000" cy="1282063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2510EC-9B5A-F2BF-7B4E-F8F4C0A34776}"/>
                </a:ext>
              </a:extLst>
            </p:cNvPr>
            <p:cNvSpPr txBox="1"/>
            <p:nvPr/>
          </p:nvSpPr>
          <p:spPr>
            <a:xfrm>
              <a:off x="9742868" y="2807341"/>
              <a:ext cx="17267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Microseconds to</a:t>
              </a:r>
            </a:p>
            <a:p>
              <a:r>
                <a:rPr lang="en-US" dirty="0"/>
                <a:t>seconds to minutes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DFA4FB-0896-2286-6B37-97342488A12A}"/>
              </a:ext>
            </a:extLst>
          </p:cNvPr>
          <p:cNvGrpSpPr/>
          <p:nvPr/>
        </p:nvGrpSpPr>
        <p:grpSpPr>
          <a:xfrm>
            <a:off x="-2141" y="3893636"/>
            <a:ext cx="12192000" cy="1278240"/>
            <a:chOff x="-2141" y="3893636"/>
            <a:chExt cx="12192000" cy="12782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27B648-29A1-7E57-092F-BC45C8480D1E}"/>
                </a:ext>
              </a:extLst>
            </p:cNvPr>
            <p:cNvSpPr/>
            <p:nvPr/>
          </p:nvSpPr>
          <p:spPr>
            <a:xfrm>
              <a:off x="-2141" y="3893636"/>
              <a:ext cx="12192000" cy="1278240"/>
            </a:xfrm>
            <a:prstGeom prst="rect">
              <a:avLst/>
            </a:prstGeom>
            <a:solidFill>
              <a:srgbClr val="D6D6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415D81-672D-80AB-CA8C-E0FB112EAF03}"/>
                </a:ext>
              </a:extLst>
            </p:cNvPr>
            <p:cNvSpPr txBox="1"/>
            <p:nvPr/>
          </p:nvSpPr>
          <p:spPr>
            <a:xfrm>
              <a:off x="9753604" y="4183228"/>
              <a:ext cx="16699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 hour to a day, week or month.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6E4BFB-319F-FD92-E512-B9098D49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000B-EFB2-B699-C896-FDADE9534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803" y="972194"/>
            <a:ext cx="4797717" cy="609272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Major problem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B3C64-9474-DD64-5BCC-2F756F45D42C}"/>
              </a:ext>
            </a:extLst>
          </p:cNvPr>
          <p:cNvSpPr txBox="1"/>
          <p:nvPr/>
        </p:nvSpPr>
        <p:spPr>
          <a:xfrm>
            <a:off x="1727371" y="2877324"/>
            <a:ext cx="147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Inexpensive </a:t>
            </a:r>
          </a:p>
          <a:p>
            <a:r>
              <a:rPr lang="en-US" sz="1800" dirty="0"/>
              <a:t>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5FC79-F397-4A85-75F0-96D0CE7D0CE9}"/>
              </a:ext>
            </a:extLst>
          </p:cNvPr>
          <p:cNvSpPr txBox="1"/>
          <p:nvPr/>
        </p:nvSpPr>
        <p:spPr>
          <a:xfrm>
            <a:off x="1714954" y="4116051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Expensive </a:t>
            </a:r>
          </a:p>
          <a:p>
            <a:r>
              <a:rPr lang="en-US" sz="1800" dirty="0"/>
              <a:t>experiments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05659-EA64-5B16-C7E4-93CAFC544565}"/>
              </a:ext>
            </a:extLst>
          </p:cNvPr>
          <p:cNvSpPr txBox="1"/>
          <p:nvPr/>
        </p:nvSpPr>
        <p:spPr>
          <a:xfrm>
            <a:off x="4145627" y="2160885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Offline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CA4BA-3355-111D-C2D7-719F11DFC69D}"/>
              </a:ext>
            </a:extLst>
          </p:cNvPr>
          <p:cNvSpPr txBox="1"/>
          <p:nvPr/>
        </p:nvSpPr>
        <p:spPr>
          <a:xfrm>
            <a:off x="7116180" y="2163385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Online 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3179C4-7028-D139-C4B9-31297FC7FAF1}"/>
              </a:ext>
            </a:extLst>
          </p:cNvPr>
          <p:cNvGrpSpPr/>
          <p:nvPr/>
        </p:nvGrpSpPr>
        <p:grpSpPr>
          <a:xfrm>
            <a:off x="3297836" y="2601580"/>
            <a:ext cx="3080479" cy="1323204"/>
            <a:chOff x="3297836" y="2949313"/>
            <a:chExt cx="3080479" cy="13232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B3F2BC-0B1C-84A4-EAB3-CB5324C06CF3}"/>
                </a:ext>
              </a:extLst>
            </p:cNvPr>
            <p:cNvSpPr/>
            <p:nvPr/>
          </p:nvSpPr>
          <p:spPr>
            <a:xfrm>
              <a:off x="3297836" y="2949313"/>
              <a:ext cx="3080479" cy="1281659"/>
            </a:xfrm>
            <a:prstGeom prst="rect">
              <a:avLst/>
            </a:prstGeom>
            <a:gradFill>
              <a:gsLst>
                <a:gs pos="34000">
                  <a:srgbClr val="0070C0"/>
                </a:gs>
                <a:gs pos="2874">
                  <a:schemeClr val="accent2">
                    <a:lumMod val="40000"/>
                    <a:lumOff val="60000"/>
                  </a:schemeClr>
                </a:gs>
                <a:gs pos="68000">
                  <a:srgbClr val="0070C0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33E09F-B38F-F20E-A96A-2017034734CC}"/>
                </a:ext>
              </a:extLst>
            </p:cNvPr>
            <p:cNvSpPr txBox="1"/>
            <p:nvPr/>
          </p:nvSpPr>
          <p:spPr>
            <a:xfrm>
              <a:off x="3455234" y="3102966"/>
              <a:ext cx="2632452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Optimizing computer games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Tuning policies for maximizing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        ad-clicks</a:t>
              </a:r>
            </a:p>
            <a:p>
              <a:endParaRPr lang="en-US" dirty="0">
                <a:solidFill>
                  <a:schemeClr val="bg1"/>
                </a:solidFill>
              </a:endParaRPr>
            </a:p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2702A5-7F6C-B9EF-4B18-5489972B2A32}"/>
              </a:ext>
            </a:extLst>
          </p:cNvPr>
          <p:cNvGrpSpPr/>
          <p:nvPr/>
        </p:nvGrpSpPr>
        <p:grpSpPr>
          <a:xfrm>
            <a:off x="6380816" y="2596585"/>
            <a:ext cx="3080479" cy="1281659"/>
            <a:chOff x="3297836" y="2949313"/>
            <a:chExt cx="3080479" cy="1281659"/>
          </a:xfrm>
          <a:gradFill flip="none" rotWithShape="1">
            <a:gsLst>
              <a:gs pos="34000">
                <a:srgbClr val="7030A0">
                  <a:tint val="66000"/>
                  <a:satMod val="160000"/>
                </a:srgbClr>
              </a:gs>
              <a:gs pos="2874">
                <a:srgbClr val="D6BBEB"/>
              </a:gs>
              <a:gs pos="68000">
                <a:srgbClr val="9E7EC4"/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082123-23A8-BC90-19EE-B058245B2AAC}"/>
                </a:ext>
              </a:extLst>
            </p:cNvPr>
            <p:cNvSpPr/>
            <p:nvPr/>
          </p:nvSpPr>
          <p:spPr>
            <a:xfrm>
              <a:off x="3297836" y="2949313"/>
              <a:ext cx="3080479" cy="128165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7F3616-6310-E906-8081-1AE26BE47324}"/>
                </a:ext>
              </a:extLst>
            </p:cNvPr>
            <p:cNvSpPr txBox="1"/>
            <p:nvPr/>
          </p:nvSpPr>
          <p:spPr>
            <a:xfrm>
              <a:off x="3422866" y="3183886"/>
              <a:ext cx="2064989" cy="73866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Bidding for ad-clicks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Ad-click maximization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Recommender systems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359F01-0ECD-AC4D-A344-65F80C8B4439}"/>
              </a:ext>
            </a:extLst>
          </p:cNvPr>
          <p:cNvGrpSpPr/>
          <p:nvPr/>
        </p:nvGrpSpPr>
        <p:grpSpPr>
          <a:xfrm>
            <a:off x="3300336" y="3878242"/>
            <a:ext cx="3080479" cy="1281659"/>
            <a:chOff x="3297836" y="2949313"/>
            <a:chExt cx="3080479" cy="1281659"/>
          </a:xfrm>
          <a:gradFill>
            <a:gsLst>
              <a:gs pos="34000">
                <a:srgbClr val="006600"/>
              </a:gs>
              <a:gs pos="2874">
                <a:srgbClr val="9DE7AF"/>
              </a:gs>
              <a:gs pos="68000">
                <a:srgbClr val="006600"/>
              </a:gs>
              <a:gs pos="100000">
                <a:srgbClr val="9DE7AF"/>
              </a:gs>
            </a:gsLst>
            <a:lin ang="16200000" scaled="1"/>
          </a:gra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1430E0-F949-A939-8850-7D567C57D190}"/>
                </a:ext>
              </a:extLst>
            </p:cNvPr>
            <p:cNvSpPr/>
            <p:nvPr/>
          </p:nvSpPr>
          <p:spPr>
            <a:xfrm>
              <a:off x="3297836" y="2949313"/>
              <a:ext cx="3080479" cy="128165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388D7AD-BF2A-DF06-2CDB-986934E2AEBC}"/>
                </a:ext>
              </a:extLst>
            </p:cNvPr>
            <p:cNvSpPr txBox="1"/>
            <p:nvPr/>
          </p:nvSpPr>
          <p:spPr>
            <a:xfrm>
              <a:off x="3455234" y="3102966"/>
              <a:ext cx="2533066" cy="95410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Laboratory experimentation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Optimizing materials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Tuning expensive simulations</a:t>
              </a:r>
            </a:p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CF1E65-6924-A4F9-FB1F-DD0F903C246C}"/>
              </a:ext>
            </a:extLst>
          </p:cNvPr>
          <p:cNvGrpSpPr/>
          <p:nvPr/>
        </p:nvGrpSpPr>
        <p:grpSpPr>
          <a:xfrm>
            <a:off x="6383316" y="3873247"/>
            <a:ext cx="3080479" cy="1281659"/>
            <a:chOff x="3297836" y="2949313"/>
            <a:chExt cx="3080479" cy="1281659"/>
          </a:xfrm>
          <a:gradFill>
            <a:gsLst>
              <a:gs pos="34000">
                <a:srgbClr val="C49500"/>
              </a:gs>
              <a:gs pos="2874">
                <a:srgbClr val="FFC000"/>
              </a:gs>
              <a:gs pos="68000">
                <a:srgbClr val="C49500"/>
              </a:gs>
              <a:gs pos="100000">
                <a:srgbClr val="FFC000"/>
              </a:gs>
            </a:gsLst>
            <a:lin ang="16200000" scaled="1"/>
          </a:gra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B4582B-0A67-3A23-6888-7D5D4A286CD0}"/>
                </a:ext>
              </a:extLst>
            </p:cNvPr>
            <p:cNvSpPr/>
            <p:nvPr/>
          </p:nvSpPr>
          <p:spPr>
            <a:xfrm>
              <a:off x="3297836" y="2949313"/>
              <a:ext cx="3080479" cy="128165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EEFC08-27CB-05F8-9877-F83EC6D7B283}"/>
                </a:ext>
              </a:extLst>
            </p:cNvPr>
            <p:cNvSpPr txBox="1"/>
            <p:nvPr/>
          </p:nvSpPr>
          <p:spPr>
            <a:xfrm>
              <a:off x="3358130" y="3038230"/>
              <a:ext cx="2959465" cy="95410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Tuning industrial processes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What is the best price for a product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Optimizing performance targets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Finding the best drug for a patient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85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B8F0-37DC-AFC5-B137-725F4787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C0990A-1BAA-DB73-12E3-BF2F0E4DFE50}"/>
              </a:ext>
            </a:extLst>
          </p:cNvPr>
          <p:cNvSpPr/>
          <p:nvPr/>
        </p:nvSpPr>
        <p:spPr>
          <a:xfrm>
            <a:off x="331596" y="2516253"/>
            <a:ext cx="11595797" cy="260252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66000">
                <a:schemeClr val="accent2">
                  <a:lumMod val="60000"/>
                  <a:lumOff val="40000"/>
                </a:schemeClr>
              </a:gs>
              <a:gs pos="4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D0D32E2-B6C0-AF4D-B2E3-F54330B5EF9C}"/>
              </a:ext>
            </a:extLst>
          </p:cNvPr>
          <p:cNvSpPr txBox="1">
            <a:spLocks/>
          </p:cNvSpPr>
          <p:nvPr/>
        </p:nvSpPr>
        <p:spPr>
          <a:xfrm>
            <a:off x="630092" y="1279489"/>
            <a:ext cx="103632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6360"/>
            <a:r>
              <a:rPr lang="en-US" sz="2400" dirty="0">
                <a:latin typeface="Raleway" pitchFamily="2" charset="0"/>
              </a:rPr>
              <a:t>There is an entire spectrum of learning problems</a:t>
            </a: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  <a:p>
            <a:pPr marL="86360"/>
            <a:endParaRPr lang="en-US" sz="2400" dirty="0">
              <a:latin typeface="Raleway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D8505-156D-C952-80F9-A5B3B149448E}"/>
              </a:ext>
            </a:extLst>
          </p:cNvPr>
          <p:cNvSpPr txBox="1"/>
          <p:nvPr/>
        </p:nvSpPr>
        <p:spPr>
          <a:xfrm>
            <a:off x="518579" y="3061763"/>
            <a:ext cx="30832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Physical resource allocation problems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(managing drivers, </a:t>
            </a:r>
          </a:p>
          <a:p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Inventories, money 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E71B3-B93D-DAF5-8AD3-C0D608E20684}"/>
              </a:ext>
            </a:extLst>
          </p:cNvPr>
          <p:cNvSpPr txBox="1"/>
          <p:nvPr/>
        </p:nvSpPr>
        <p:spPr>
          <a:xfrm>
            <a:off x="8463962" y="3307088"/>
            <a:ext cx="31236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Pure learning problems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8546A-8782-E016-0851-08662C39857F}"/>
              </a:ext>
            </a:extLst>
          </p:cNvPr>
          <p:cNvSpPr txBox="1"/>
          <p:nvPr/>
        </p:nvSpPr>
        <p:spPr>
          <a:xfrm>
            <a:off x="4699867" y="2937443"/>
            <a:ext cx="30832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Raleway" pitchFamily="2" charset="0"/>
              </a:rPr>
              <a:t>Mixed problems: managing physical/financial resources while learning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66A31C-1408-D2B0-A62A-AE48EBD793A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300" dirty="0">
                <a:latin typeface="Oswald" panose="00000500000000000000" pitchFamily="2" charset="0"/>
              </a:rPr>
              <a:t>Intelligent trial and error</a:t>
            </a:r>
          </a:p>
        </p:txBody>
      </p:sp>
    </p:spTree>
    <p:extLst>
      <p:ext uri="{BB962C8B-B14F-4D97-AF65-F5344CB8AC3E}">
        <p14:creationId xmlns:p14="http://schemas.microsoft.com/office/powerpoint/2010/main" val="167688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9D2535-4EC6-4500-B6E7-CA62C17B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92" y="1228945"/>
            <a:ext cx="3622540" cy="2558741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38495B2-7C59-2A17-DF05-C596E8839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789" y="1433559"/>
            <a:ext cx="5989649" cy="2149511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The “multi-armed bandit” story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N slot machines, each with a different winning probability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We can only collect information about the winning probability by playing the slot machine.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A low estimate of the winning probability may just be from bad luck.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We have to strike a balance between </a:t>
            </a:r>
            <a:r>
              <a:rPr lang="en-US" sz="1800" i="1" dirty="0"/>
              <a:t>exploring</a:t>
            </a:r>
            <a:r>
              <a:rPr lang="en-US" sz="1800" dirty="0"/>
              <a:t> (trying a machine with a lower probability to see if it might actually be better) and </a:t>
            </a:r>
            <a:r>
              <a:rPr lang="en-US" sz="1800" i="1" dirty="0"/>
              <a:t>exploiting</a:t>
            </a:r>
            <a:r>
              <a:rPr lang="en-US" sz="1800" dirty="0"/>
              <a:t> (playing the machines with the highest probability).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The goal is to optimize total rewards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5CF829C-F5B2-3A16-2E02-4C9F39CE0D80}"/>
              </a:ext>
            </a:extLst>
          </p:cNvPr>
          <p:cNvGrpSpPr/>
          <p:nvPr/>
        </p:nvGrpSpPr>
        <p:grpSpPr>
          <a:xfrm>
            <a:off x="6925257" y="3889420"/>
            <a:ext cx="4202089" cy="2378333"/>
            <a:chOff x="3181350" y="3270508"/>
            <a:chExt cx="4692650" cy="2765425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6EEE8476-014D-BEFC-822F-B347E56D6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1088" y="569938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" name="Text Box 5">
              <a:extLst>
                <a:ext uri="{FF2B5EF4-FFF2-40B4-BE49-F238E27FC236}">
                  <a16:creationId xmlns:a16="http://schemas.microsoft.com/office/drawing/2014/main" id="{F5F086B7-FD8E-BED1-DE41-F3E53D5A0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5163" y="569938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75E8198-8BB4-EF2A-4DD6-731D51BCA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226" y="569938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CC4B4923-79ED-0443-F2E8-7200271C5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9826" y="5699383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4177EC1-95E2-36FC-F0D9-50AD0B771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363" y="5691445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7E62D78A-FE4D-D3BE-E351-A579AC979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1350" y="5648583"/>
              <a:ext cx="46926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10" descr="Dark upward diagonal">
              <a:extLst>
                <a:ext uri="{FF2B5EF4-FFF2-40B4-BE49-F238E27FC236}">
                  <a16:creationId xmlns:a16="http://schemas.microsoft.com/office/drawing/2014/main" id="{6BDE282C-2EA8-0697-227C-3C633E481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313" y="4696084"/>
              <a:ext cx="227012" cy="936625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11" descr="Dark upward diagonal">
              <a:extLst>
                <a:ext uri="{FF2B5EF4-FFF2-40B4-BE49-F238E27FC236}">
                  <a16:creationId xmlns:a16="http://schemas.microsoft.com/office/drawing/2014/main" id="{6D883B3A-B08C-51E5-DEA3-3418309A8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913" y="4434146"/>
              <a:ext cx="227012" cy="1198563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12" descr="Dark upward diagonal">
              <a:extLst>
                <a:ext uri="{FF2B5EF4-FFF2-40B4-BE49-F238E27FC236}">
                  <a16:creationId xmlns:a16="http://schemas.microsoft.com/office/drawing/2014/main" id="{F7129685-C7CA-4BE0-0CA3-3EB234EE1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513" y="4226184"/>
              <a:ext cx="227012" cy="1406525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3" descr="Dark upward diagonal">
              <a:extLst>
                <a:ext uri="{FF2B5EF4-FFF2-40B4-BE49-F238E27FC236}">
                  <a16:creationId xmlns:a16="http://schemas.microsoft.com/office/drawing/2014/main" id="{5DBBC3BA-0755-02A2-7FBE-205FAD16B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4113" y="4029333"/>
              <a:ext cx="227012" cy="161290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Rectangle 14" descr="Dark upward diagonal">
              <a:extLst>
                <a:ext uri="{FF2B5EF4-FFF2-40B4-BE49-F238E27FC236}">
                  <a16:creationId xmlns:a16="http://schemas.microsoft.com/office/drawing/2014/main" id="{96D0AE2B-696E-93D4-3BA6-8805CDB24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7713" y="4169034"/>
              <a:ext cx="227012" cy="1463675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16B444D1-3AE1-C46D-AC76-445A1B92E6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2525" y="3489584"/>
              <a:ext cx="609600" cy="1068387"/>
              <a:chOff x="3511" y="2056"/>
              <a:chExt cx="342" cy="1051"/>
            </a:xfrm>
          </p:grpSpPr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C5AA35F7-7BE5-6F99-7AF2-23E31077B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" name="Group 17">
                <a:extLst>
                  <a:ext uri="{FF2B5EF4-FFF2-40B4-BE49-F238E27FC236}">
                    <a16:creationId xmlns:a16="http://schemas.microsoft.com/office/drawing/2014/main" id="{020C9891-3149-FF8E-65B7-6836FDE469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3EDF8EA-F42D-2D63-D1E8-F60EC5F35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960F8FBE-68D9-1030-18BC-B0368AFFE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F8920939-AB5F-316A-CA4D-BD348A074E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7339" y="3919795"/>
              <a:ext cx="714375" cy="630238"/>
              <a:chOff x="3511" y="2056"/>
              <a:chExt cx="342" cy="1051"/>
            </a:xfrm>
          </p:grpSpPr>
          <p:sp>
            <p:nvSpPr>
              <p:cNvPr id="21" name="Line 21">
                <a:extLst>
                  <a:ext uri="{FF2B5EF4-FFF2-40B4-BE49-F238E27FC236}">
                    <a16:creationId xmlns:a16="http://schemas.microsoft.com/office/drawing/2014/main" id="{0614265A-4A73-4302-BAB6-A01BA16CEA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" name="Group 22">
                <a:extLst>
                  <a:ext uri="{FF2B5EF4-FFF2-40B4-BE49-F238E27FC236}">
                    <a16:creationId xmlns:a16="http://schemas.microsoft.com/office/drawing/2014/main" id="{252E554F-E38C-48FD-35A5-E773EC5BB0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8E007E15-C274-A714-67FB-3BF68AFDEA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33F86ED9-EDF2-4BF1-4A9A-C2191E362E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C29C0BE-A9F2-8BF3-DAF6-666F3D89E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901" y="4245234"/>
              <a:ext cx="581025" cy="896937"/>
              <a:chOff x="3511" y="2056"/>
              <a:chExt cx="342" cy="1051"/>
            </a:xfrm>
          </p:grpSpPr>
          <p:sp>
            <p:nvSpPr>
              <p:cNvPr id="26" name="Line 26">
                <a:extLst>
                  <a:ext uri="{FF2B5EF4-FFF2-40B4-BE49-F238E27FC236}">
                    <a16:creationId xmlns:a16="http://schemas.microsoft.com/office/drawing/2014/main" id="{1BB05E0B-354A-3354-2E1B-BAB57D391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" name="Group 27">
                <a:extLst>
                  <a:ext uri="{FF2B5EF4-FFF2-40B4-BE49-F238E27FC236}">
                    <a16:creationId xmlns:a16="http://schemas.microsoft.com/office/drawing/2014/main" id="{EEF3CD97-6EF0-7977-CACA-B9CFB148E3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FADB0013-6CB6-AD3E-14CA-87FDF5463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9" name="Freeform 29">
                  <a:extLst>
                    <a:ext uri="{FF2B5EF4-FFF2-40B4-BE49-F238E27FC236}">
                      <a16:creationId xmlns:a16="http://schemas.microsoft.com/office/drawing/2014/main" id="{B07FDC90-BE47-920B-0227-4A2A761EA7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30" name="Group 30">
              <a:extLst>
                <a:ext uri="{FF2B5EF4-FFF2-40B4-BE49-F238E27FC236}">
                  <a16:creationId xmlns:a16="http://schemas.microsoft.com/office/drawing/2014/main" id="{DC1D3145-5A0C-7ED0-9E5A-19931018A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8501" y="3270508"/>
              <a:ext cx="276225" cy="2316162"/>
              <a:chOff x="3511" y="2056"/>
              <a:chExt cx="342" cy="1051"/>
            </a:xfrm>
          </p:grpSpPr>
          <p:sp>
            <p:nvSpPr>
              <p:cNvPr id="31" name="Line 31">
                <a:extLst>
                  <a:ext uri="{FF2B5EF4-FFF2-40B4-BE49-F238E27FC236}">
                    <a16:creationId xmlns:a16="http://schemas.microsoft.com/office/drawing/2014/main" id="{A1ABE74E-7035-D1A9-E32E-F9BF74955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" name="Group 32">
                <a:extLst>
                  <a:ext uri="{FF2B5EF4-FFF2-40B4-BE49-F238E27FC236}">
                    <a16:creationId xmlns:a16="http://schemas.microsoft.com/office/drawing/2014/main" id="{6776590C-F890-C9C2-EE26-F29EF692B7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33" name="Freeform 33">
                  <a:extLst>
                    <a:ext uri="{FF2B5EF4-FFF2-40B4-BE49-F238E27FC236}">
                      <a16:creationId xmlns:a16="http://schemas.microsoft.com/office/drawing/2014/main" id="{2D27EF2D-4A2B-F68F-43F1-2437948949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4" name="Freeform 34">
                  <a:extLst>
                    <a:ext uri="{FF2B5EF4-FFF2-40B4-BE49-F238E27FC236}">
                      <a16:creationId xmlns:a16="http://schemas.microsoft.com/office/drawing/2014/main" id="{79C647CD-A5EF-E910-296C-32201FDD33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35" name="Group 52">
              <a:extLst>
                <a:ext uri="{FF2B5EF4-FFF2-40B4-BE49-F238E27FC236}">
                  <a16:creationId xmlns:a16="http://schemas.microsoft.com/office/drawing/2014/main" id="{55843D69-752C-D478-D14F-E4140F5E07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7713" y="3345121"/>
              <a:ext cx="400050" cy="1668463"/>
              <a:chOff x="3511" y="2056"/>
              <a:chExt cx="342" cy="1051"/>
            </a:xfrm>
          </p:grpSpPr>
          <p:sp>
            <p:nvSpPr>
              <p:cNvPr id="36" name="Line 53">
                <a:extLst>
                  <a:ext uri="{FF2B5EF4-FFF2-40B4-BE49-F238E27FC236}">
                    <a16:creationId xmlns:a16="http://schemas.microsoft.com/office/drawing/2014/main" id="{C104E4CF-A570-9618-948C-CB1D10F27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7" name="Group 54">
                <a:extLst>
                  <a:ext uri="{FF2B5EF4-FFF2-40B4-BE49-F238E27FC236}">
                    <a16:creationId xmlns:a16="http://schemas.microsoft.com/office/drawing/2014/main" id="{867D0405-7A0F-9E51-6428-AA4B5275F6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38" name="Freeform 55">
                  <a:extLst>
                    <a:ext uri="{FF2B5EF4-FFF2-40B4-BE49-F238E27FC236}">
                      <a16:creationId xmlns:a16="http://schemas.microsoft.com/office/drawing/2014/main" id="{AB5BC56E-DC5E-99BC-160B-5B243B2642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9" name="Freeform 56">
                  <a:extLst>
                    <a:ext uri="{FF2B5EF4-FFF2-40B4-BE49-F238E27FC236}">
                      <a16:creationId xmlns:a16="http://schemas.microsoft.com/office/drawing/2014/main" id="{CDC05A18-267A-298F-D3F1-6E4A6D16C5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80B613DC-0AF6-465C-FD00-131A2820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</p:spTree>
    <p:extLst>
      <p:ext uri="{BB962C8B-B14F-4D97-AF65-F5344CB8AC3E}">
        <p14:creationId xmlns:p14="http://schemas.microsoft.com/office/powerpoint/2010/main" val="3023867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C0EBA2-3D31-80B3-7C57-9987A7E4087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30092" y="1279489"/>
                <a:ext cx="5719193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Stochastic search</a:t>
                </a:r>
              </a:p>
              <a:p>
                <a:pPr lvl="1"/>
                <a:endParaRPr lang="en-US" sz="1600" dirty="0"/>
              </a:p>
              <a:p>
                <a:r>
                  <a:rPr lang="en-US" sz="2000" dirty="0"/>
                  <a:t>Imagine that we have an unknown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that we want to optimize.</a:t>
                </a:r>
              </a:p>
              <a:p>
                <a:pPr lvl="1"/>
                <a:endParaRPr lang="en-US" sz="1600" dirty="0"/>
              </a:p>
              <a:p>
                <a:r>
                  <a:rPr lang="en-US" sz="2000" dirty="0"/>
                  <a:t>We cannot compute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but we can run a simulation and get a noisy estimate of it.</a:t>
                </a:r>
                <a:r>
                  <a:rPr lang="en-US" sz="2400" dirty="0"/>
                  <a:t> </a:t>
                </a:r>
              </a:p>
              <a:p>
                <a:pPr lvl="1"/>
                <a:endParaRPr lang="en-US" sz="1600" dirty="0"/>
              </a:p>
              <a:p>
                <a:r>
                  <a:rPr lang="en-US" sz="2000" dirty="0"/>
                  <a:t>Assume we have to find the best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through intelligent trial and error.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C0EBA2-3D31-80B3-7C57-9987A7E40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0092" y="1279489"/>
                <a:ext cx="5719193" cy="4401600"/>
              </a:xfrm>
              <a:blipFill>
                <a:blip r:embed="rId2"/>
                <a:stretch>
                  <a:fillRect l="-639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85EBD713-F426-7A5B-1163-81B6F9E0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036A13-FC1D-A48F-B523-674E98BB0F59}"/>
              </a:ext>
            </a:extLst>
          </p:cNvPr>
          <p:cNvSpPr txBox="1"/>
          <p:nvPr/>
        </p:nvSpPr>
        <p:spPr>
          <a:xfrm>
            <a:off x="1083908" y="5578511"/>
            <a:ext cx="46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>
                <a:latin typeface="Raleway" pitchFamily="2" charset="0"/>
              </a:rPr>
              <a:t>Chapter 7 in my book covers this in depth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5E1DE-0FDB-A24F-EB2C-671F7BD4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23" y="5026716"/>
            <a:ext cx="1044227" cy="15755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E268C67-7621-48A4-9B47-5B9F144AC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801" y="1440430"/>
            <a:ext cx="5781675" cy="299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Line 5">
            <a:extLst>
              <a:ext uri="{FF2B5EF4-FFF2-40B4-BE49-F238E27FC236}">
                <a16:creationId xmlns:a16="http://schemas.microsoft.com/office/drawing/2014/main" id="{A872400F-1221-4B15-95AA-579DA174B4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98474" y="3773837"/>
            <a:ext cx="1971674" cy="6588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6">
            <a:extLst>
              <a:ext uri="{FF2B5EF4-FFF2-40B4-BE49-F238E27FC236}">
                <a16:creationId xmlns:a16="http://schemas.microsoft.com/office/drawing/2014/main" id="{ECD8778F-0BAD-4655-9CEA-8C82B94636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87638" y="3875437"/>
            <a:ext cx="2636838" cy="5572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176337BB-51CC-4943-84C3-A7DC264373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84339" y="3584129"/>
            <a:ext cx="1277937" cy="27860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4DB9C1F8-65EF-46C5-8075-6239F6194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236875" y="3584129"/>
            <a:ext cx="762000" cy="2786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6">
            <a:extLst>
              <a:ext uri="{FF2B5EF4-FFF2-40B4-BE49-F238E27FC236}">
                <a16:creationId xmlns:a16="http://schemas.microsoft.com/office/drawing/2014/main" id="{E0C49B76-E889-421D-9394-6420F0D7F6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262275" y="2936539"/>
            <a:ext cx="0" cy="6602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A9A107-BEFD-4ED8-BA98-6AC8EC4BE96F}"/>
              </a:ext>
            </a:extLst>
          </p:cNvPr>
          <p:cNvSpPr/>
          <p:nvPr/>
        </p:nvSpPr>
        <p:spPr bwMode="auto">
          <a:xfrm>
            <a:off x="9236875" y="2913402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E57F6F6-A402-48A0-813C-EC07C81879C3}"/>
              </a:ext>
            </a:extLst>
          </p:cNvPr>
          <p:cNvSpPr/>
          <p:nvPr/>
        </p:nvSpPr>
        <p:spPr bwMode="auto">
          <a:xfrm>
            <a:off x="9239272" y="3065802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0FD1077-5AFA-42D8-B718-C68F11F476F3}"/>
              </a:ext>
            </a:extLst>
          </p:cNvPr>
          <p:cNvSpPr/>
          <p:nvPr/>
        </p:nvSpPr>
        <p:spPr bwMode="auto">
          <a:xfrm>
            <a:off x="9236891" y="2830083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E2F3C3-D15D-4031-BE17-E97D9250889B}"/>
              </a:ext>
            </a:extLst>
          </p:cNvPr>
          <p:cNvSpPr/>
          <p:nvPr/>
        </p:nvSpPr>
        <p:spPr bwMode="auto">
          <a:xfrm>
            <a:off x="9236907" y="2675334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AE1D9DD-CE90-4259-94D4-1CE59A7886B6}"/>
              </a:ext>
            </a:extLst>
          </p:cNvPr>
          <p:cNvSpPr/>
          <p:nvPr/>
        </p:nvSpPr>
        <p:spPr bwMode="auto">
          <a:xfrm>
            <a:off x="9236923" y="3227742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1A18D94-2BB9-479A-9BDC-1216DD9F8C7A}"/>
              </a:ext>
            </a:extLst>
          </p:cNvPr>
          <p:cNvSpPr/>
          <p:nvPr/>
        </p:nvSpPr>
        <p:spPr bwMode="auto">
          <a:xfrm>
            <a:off x="9234542" y="2458679"/>
            <a:ext cx="45719" cy="45719"/>
          </a:xfrm>
          <a:prstGeom prst="ellipse">
            <a:avLst/>
          </a:prstGeom>
          <a:solidFill>
            <a:schemeClr val="tx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35037C-2A1B-16DD-1BFA-D5547B151D95}"/>
                  </a:ext>
                </a:extLst>
              </p:cNvPr>
              <p:cNvSpPr txBox="1"/>
              <p:nvPr/>
            </p:nvSpPr>
            <p:spPr>
              <a:xfrm>
                <a:off x="10799747" y="4154041"/>
                <a:ext cx="70102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35037C-2A1B-16DD-1BFA-D5547B151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47" y="4154041"/>
                <a:ext cx="70102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836C463-1E00-78EE-A755-7197BE87B3FE}"/>
                  </a:ext>
                </a:extLst>
              </p:cNvPr>
              <p:cNvSpPr txBox="1"/>
              <p:nvPr/>
            </p:nvSpPr>
            <p:spPr>
              <a:xfrm>
                <a:off x="6955039" y="4154042"/>
                <a:ext cx="669094" cy="3465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836C463-1E00-78EE-A755-7197BE87B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039" y="4154042"/>
                <a:ext cx="669094" cy="346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19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0EBA2-3D31-80B3-7C57-9987A7E40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063" y="1099187"/>
            <a:ext cx="571919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Applications</a:t>
            </a:r>
          </a:p>
          <a:p>
            <a:r>
              <a:rPr lang="en-US" sz="2000" dirty="0"/>
              <a:t>Tuning computer simulations</a:t>
            </a:r>
          </a:p>
          <a:p>
            <a:r>
              <a:rPr lang="en-US" sz="2000" dirty="0"/>
              <a:t>Laboratory experiments</a:t>
            </a:r>
          </a:p>
          <a:p>
            <a:pPr lvl="1"/>
            <a:r>
              <a:rPr lang="en-US" sz="1600" dirty="0"/>
              <a:t>Testing materials, concentrations, temperature</a:t>
            </a:r>
          </a:p>
          <a:p>
            <a:r>
              <a:rPr lang="en-US" sz="2000" dirty="0"/>
              <a:t>Manufacturing process optimization</a:t>
            </a:r>
          </a:p>
          <a:p>
            <a:pPr lvl="1"/>
            <a:r>
              <a:rPr lang="en-US" sz="1600" dirty="0"/>
              <a:t>Semiconductor manufacturing</a:t>
            </a:r>
          </a:p>
          <a:p>
            <a:r>
              <a:rPr lang="en-US" sz="2000" dirty="0"/>
              <a:t>Internet applications:</a:t>
            </a:r>
          </a:p>
          <a:p>
            <a:pPr lvl="1"/>
            <a:r>
              <a:rPr lang="en-US" sz="1600" dirty="0"/>
              <a:t>Bidding for ad placement</a:t>
            </a:r>
          </a:p>
          <a:p>
            <a:pPr lvl="1"/>
            <a:r>
              <a:rPr lang="en-US" sz="1600" dirty="0"/>
              <a:t>Recommender systems</a:t>
            </a:r>
          </a:p>
          <a:p>
            <a:pPr lvl="1"/>
            <a:r>
              <a:rPr lang="en-US" sz="1600" dirty="0"/>
              <a:t>Webpage design optimization</a:t>
            </a:r>
          </a:p>
          <a:p>
            <a:r>
              <a:rPr lang="en-US" sz="2000" dirty="0"/>
              <a:t>Mechanical design</a:t>
            </a:r>
          </a:p>
          <a:p>
            <a:pPr lvl="1"/>
            <a:r>
              <a:rPr lang="en-US" sz="1600" dirty="0"/>
              <a:t>Tuning component dimensions, design choices, </a:t>
            </a:r>
            <a:endParaRPr lang="en-US" sz="200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85EBD713-F426-7A5B-1163-81B6F9E0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260F14C-9FAA-A455-3109-FE21FC8332F7}"/>
              </a:ext>
            </a:extLst>
          </p:cNvPr>
          <p:cNvSpPr txBox="1">
            <a:spLocks/>
          </p:cNvSpPr>
          <p:nvPr/>
        </p:nvSpPr>
        <p:spPr>
          <a:xfrm>
            <a:off x="6312516" y="1586867"/>
            <a:ext cx="5719193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/>
              <a:t>Finance</a:t>
            </a:r>
          </a:p>
          <a:p>
            <a:pPr lvl="1"/>
            <a:r>
              <a:rPr lang="en-US" sz="1600" dirty="0"/>
              <a:t>Tuning parameters of trading policies</a:t>
            </a:r>
            <a:endParaRPr lang="en-US" dirty="0"/>
          </a:p>
          <a:p>
            <a:r>
              <a:rPr lang="en-US" sz="2000" dirty="0"/>
              <a:t>Trucking</a:t>
            </a:r>
          </a:p>
          <a:p>
            <a:pPr lvl="1"/>
            <a:r>
              <a:rPr lang="en-US" sz="1600" dirty="0"/>
              <a:t>Optimizing prices, fleet sizes, bids, ….</a:t>
            </a:r>
          </a:p>
          <a:p>
            <a:r>
              <a:rPr lang="en-US" sz="2000" dirty="0"/>
              <a:t>Employee management</a:t>
            </a:r>
          </a:p>
          <a:p>
            <a:pPr lvl="1"/>
            <a:r>
              <a:rPr lang="en-US" sz="1600" dirty="0"/>
              <a:t>Setting performance targets, salaries, hiring choices</a:t>
            </a:r>
          </a:p>
          <a:p>
            <a:pPr lvl="1"/>
            <a:r>
              <a:rPr lang="en-US" sz="1600" dirty="0"/>
              <a:t>Choosing educational background (school, degree) or experience</a:t>
            </a:r>
          </a:p>
          <a:p>
            <a:pPr marL="571500" lvl="1" indent="0">
              <a:buNone/>
            </a:pPr>
            <a:r>
              <a:rPr lang="en-US" sz="3600" dirty="0"/>
              <a:t>…. </a:t>
            </a:r>
            <a:r>
              <a:rPr lang="en-US" sz="1600" dirty="0"/>
              <a:t>genuinely massive problem class.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6349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0EBA2-3D31-80B3-7C57-9987A7E40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106" y="1220112"/>
            <a:ext cx="10530797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Applications in supply chain management:</a:t>
            </a:r>
          </a:p>
          <a:p>
            <a:pPr marL="86360" indent="0">
              <a:buNone/>
            </a:pPr>
            <a:endParaRPr lang="en-US" dirty="0"/>
          </a:p>
          <a:p>
            <a:pPr marL="914400" indent="-369888"/>
            <a:r>
              <a:rPr lang="en-US" sz="2000" dirty="0"/>
              <a:t>Tuning parameters in inventory policies such as (</a:t>
            </a:r>
            <a:r>
              <a:rPr lang="en-US" sz="2000" dirty="0" err="1"/>
              <a:t>s,S</a:t>
            </a:r>
            <a:r>
              <a:rPr lang="en-US" sz="2000" dirty="0"/>
              <a:t>)</a:t>
            </a:r>
          </a:p>
          <a:p>
            <a:pPr marL="914400" indent="-369888"/>
            <a:r>
              <a:rPr lang="en-US" sz="2000" dirty="0"/>
              <a:t>Pricing, discounts and coupons</a:t>
            </a:r>
          </a:p>
          <a:p>
            <a:pPr marL="914400" indent="-369888"/>
            <a:r>
              <a:rPr lang="en-US" sz="2000" dirty="0"/>
              <a:t>Marketing and advertising strategies</a:t>
            </a:r>
          </a:p>
          <a:p>
            <a:pPr marL="914400" indent="-369888"/>
            <a:r>
              <a:rPr lang="en-US" sz="2000" dirty="0"/>
              <a:t>Testing new markets</a:t>
            </a:r>
          </a:p>
          <a:p>
            <a:pPr marL="914400" indent="-369888"/>
            <a:r>
              <a:rPr lang="en-US" sz="2000" dirty="0"/>
              <a:t>Designing products</a:t>
            </a:r>
          </a:p>
          <a:p>
            <a:pPr marL="914400" indent="-369888"/>
            <a:r>
              <a:rPr lang="en-US" sz="2000" dirty="0"/>
              <a:t>Evaluating new suppliers</a:t>
            </a:r>
            <a:endParaRPr lang="en-US" sz="1600" dirty="0"/>
          </a:p>
          <a:p>
            <a:pPr marL="914400" indent="-369888"/>
            <a:r>
              <a:rPr lang="en-US" sz="2000" dirty="0"/>
              <a:t>Refining manufacturing processes</a:t>
            </a:r>
          </a:p>
          <a:p>
            <a:pPr marL="914400" indent="-369888"/>
            <a:r>
              <a:rPr lang="en-US" sz="2000" dirty="0"/>
              <a:t>Managing cash flows</a:t>
            </a:r>
            <a:endParaRPr lang="en-US" sz="1600" dirty="0"/>
          </a:p>
          <a:p>
            <a:pPr marL="914400" indent="-369888"/>
            <a:r>
              <a:rPr lang="en-US" sz="2000" dirty="0"/>
              <a:t>Setting employee performance targets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85EBD713-F426-7A5B-1163-81B6F9E0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7E64A6-7F03-E2D1-2AAB-89FE98FCA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091" y="2917371"/>
            <a:ext cx="3978518" cy="221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3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2E846B-1F99-0F4D-AC85-571539D8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E53F3-1892-99E9-BB2D-B31BCE3C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E293294-62BE-AC45-34A4-74F19DEE3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381ECD91-D047-C20A-FBE4-1CC322639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to optimal learning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 pricing example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interval estimation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the knowledge gradient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43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89" y="1038069"/>
            <a:ext cx="9383907" cy="4953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800" dirty="0"/>
              <a:t>Learning the price that maximizes revenue</a:t>
            </a:r>
            <a:endParaRPr lang="en-US" sz="32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D8A5E81-BD14-0B7A-0BA7-34D2CE67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2D5F28D-B06B-9A37-BE7F-ECEF3E1EA1DC}"/>
              </a:ext>
            </a:extLst>
          </p:cNvPr>
          <p:cNvCxnSpPr/>
          <p:nvPr/>
        </p:nvCxnSpPr>
        <p:spPr>
          <a:xfrm flipV="1">
            <a:off x="3158647" y="2155760"/>
            <a:ext cx="0" cy="3039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F58AF9-9FC3-8432-E864-10C8557E167D}"/>
              </a:ext>
            </a:extLst>
          </p:cNvPr>
          <p:cNvCxnSpPr>
            <a:cxnSpLocks/>
          </p:cNvCxnSpPr>
          <p:nvPr/>
        </p:nvCxnSpPr>
        <p:spPr>
          <a:xfrm>
            <a:off x="3158647" y="5194888"/>
            <a:ext cx="506834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2C4163-B4BA-DF90-73DE-B3BDEBB918D6}"/>
              </a:ext>
            </a:extLst>
          </p:cNvPr>
          <p:cNvSpPr txBox="1"/>
          <p:nvPr/>
        </p:nvSpPr>
        <p:spPr>
          <a:xfrm>
            <a:off x="2737244" y="2219850"/>
            <a:ext cx="45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$$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374B52-F473-9D9C-3E59-BC1A2AA00BFB}"/>
              </a:ext>
            </a:extLst>
          </p:cNvPr>
          <p:cNvGrpSpPr/>
          <p:nvPr/>
        </p:nvGrpSpPr>
        <p:grpSpPr>
          <a:xfrm>
            <a:off x="3308961" y="2940202"/>
            <a:ext cx="4518765" cy="1766170"/>
            <a:chOff x="2467627" y="795403"/>
            <a:chExt cx="6513533" cy="305635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FE5676-3C7D-5C26-351E-5D0917CFBF86}"/>
                </a:ext>
              </a:extLst>
            </p:cNvPr>
            <p:cNvSpPr/>
            <p:nvPr/>
          </p:nvSpPr>
          <p:spPr>
            <a:xfrm>
              <a:off x="2467627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66ADD0D-530F-4EA1-7A4C-16A8EDDC3B0E}"/>
                </a:ext>
              </a:extLst>
            </p:cNvPr>
            <p:cNvSpPr/>
            <p:nvPr/>
          </p:nvSpPr>
          <p:spPr>
            <a:xfrm flipH="1">
              <a:off x="5711866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8B6474-33A8-E06E-F0B4-45CC0DA21806}"/>
              </a:ext>
            </a:extLst>
          </p:cNvPr>
          <p:cNvCxnSpPr>
            <a:cxnSpLocks/>
          </p:cNvCxnSpPr>
          <p:nvPr/>
        </p:nvCxnSpPr>
        <p:spPr>
          <a:xfrm>
            <a:off x="3157082" y="3273709"/>
            <a:ext cx="4709073" cy="1175840"/>
          </a:xfrm>
          <a:prstGeom prst="line">
            <a:avLst/>
          </a:prstGeom>
          <a:ln w="76200">
            <a:solidFill>
              <a:srgbClr val="0066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969462-750E-7D2A-6C5F-D8FB20D77C8E}"/>
              </a:ext>
            </a:extLst>
          </p:cNvPr>
          <p:cNvGrpSpPr/>
          <p:nvPr/>
        </p:nvGrpSpPr>
        <p:grpSpPr>
          <a:xfrm>
            <a:off x="3774621" y="2147704"/>
            <a:ext cx="1802413" cy="786059"/>
            <a:chOff x="3670970" y="521612"/>
            <a:chExt cx="2403216" cy="104807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6592C76-BCBF-F474-8EE6-6D5D629CFA3D}"/>
                </a:ext>
              </a:extLst>
            </p:cNvPr>
            <p:cNvSpPr txBox="1"/>
            <p:nvPr/>
          </p:nvSpPr>
          <p:spPr>
            <a:xfrm>
              <a:off x="3670970" y="521612"/>
              <a:ext cx="2289515" cy="410369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Most likely revenue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77355B0-F97B-108C-E1A6-6E5D5AE09BC4}"/>
                </a:ext>
              </a:extLst>
            </p:cNvPr>
            <p:cNvCxnSpPr>
              <a:cxnSpLocks/>
              <a:stCxn id="21" idx="2"/>
              <a:endCxn id="17" idx="10"/>
            </p:cNvCxnSpPr>
            <p:nvPr/>
          </p:nvCxnSpPr>
          <p:spPr>
            <a:xfrm>
              <a:off x="4815728" y="931981"/>
              <a:ext cx="1258458" cy="63770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804273-9372-AEA4-76E7-592AA1DD699F}"/>
              </a:ext>
            </a:extLst>
          </p:cNvPr>
          <p:cNvCxnSpPr>
            <a:cxnSpLocks/>
          </p:cNvCxnSpPr>
          <p:nvPr/>
        </p:nvCxnSpPr>
        <p:spPr>
          <a:xfrm flipV="1">
            <a:off x="5520582" y="2907322"/>
            <a:ext cx="43062" cy="283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8F9856-F69D-9837-2B3E-FCC0B0B45BBE}"/>
              </a:ext>
            </a:extLst>
          </p:cNvPr>
          <p:cNvSpPr txBox="1"/>
          <p:nvPr/>
        </p:nvSpPr>
        <p:spPr>
          <a:xfrm>
            <a:off x="7137226" y="5211400"/>
            <a:ext cx="990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285CA0-C499-76A9-02CE-3B0708840586}"/>
              </a:ext>
            </a:extLst>
          </p:cNvPr>
          <p:cNvSpPr txBox="1"/>
          <p:nvPr/>
        </p:nvSpPr>
        <p:spPr>
          <a:xfrm>
            <a:off x="3037196" y="5375570"/>
            <a:ext cx="266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Revenue maximizing price: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100FD39-4677-14D4-A8B6-54F4266BDCB0}"/>
              </a:ext>
            </a:extLst>
          </p:cNvPr>
          <p:cNvGrpSpPr/>
          <p:nvPr/>
        </p:nvGrpSpPr>
        <p:grpSpPr>
          <a:xfrm>
            <a:off x="3399759" y="3694901"/>
            <a:ext cx="2274982" cy="1325476"/>
            <a:chOff x="3399759" y="3694901"/>
            <a:chExt cx="2274982" cy="132547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25A55E1-2E1D-BEC7-720B-A5F6748D8BE1}"/>
                </a:ext>
              </a:extLst>
            </p:cNvPr>
            <p:cNvSpPr txBox="1"/>
            <p:nvPr/>
          </p:nvSpPr>
          <p:spPr>
            <a:xfrm>
              <a:off x="3399759" y="4712600"/>
              <a:ext cx="2274982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Most likely sales response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E8ECC56-E22E-2810-D055-4C2DB2A31CAE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4537250" y="3694901"/>
              <a:ext cx="274593" cy="101769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3363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7AA0C4-12BB-684B-3CCA-C488C4211C44}"/>
              </a:ext>
            </a:extLst>
          </p:cNvPr>
          <p:cNvSpPr txBox="1">
            <a:spLocks/>
          </p:cNvSpPr>
          <p:nvPr/>
        </p:nvSpPr>
        <p:spPr>
          <a:xfrm>
            <a:off x="119889" y="1038069"/>
            <a:ext cx="9383907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lvl="1" indent="0">
              <a:buFont typeface="Raleway"/>
              <a:buNone/>
            </a:pPr>
            <a:r>
              <a:rPr lang="en-US" sz="2800" dirty="0"/>
              <a:t>Learning the price that maximizes revenue</a:t>
            </a:r>
            <a:endParaRPr lang="en-US" sz="32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805281-33C6-489A-8CD8-1AA3020EEBDB}"/>
              </a:ext>
            </a:extLst>
          </p:cNvPr>
          <p:cNvCxnSpPr/>
          <p:nvPr/>
        </p:nvCxnSpPr>
        <p:spPr>
          <a:xfrm flipV="1">
            <a:off x="3158647" y="2155764"/>
            <a:ext cx="0" cy="3039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25A9AE-0BA4-4769-8063-59598DFAD35B}"/>
              </a:ext>
            </a:extLst>
          </p:cNvPr>
          <p:cNvCxnSpPr>
            <a:cxnSpLocks/>
          </p:cNvCxnSpPr>
          <p:nvPr/>
        </p:nvCxnSpPr>
        <p:spPr>
          <a:xfrm>
            <a:off x="3158647" y="5194892"/>
            <a:ext cx="506834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F9CE4F-6661-447C-B7FA-B8B9B19B9791}"/>
              </a:ext>
            </a:extLst>
          </p:cNvPr>
          <p:cNvSpPr txBox="1"/>
          <p:nvPr/>
        </p:nvSpPr>
        <p:spPr>
          <a:xfrm>
            <a:off x="7137226" y="5211404"/>
            <a:ext cx="990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FF0D02-2E28-4686-A4ED-A6710F448C5B}"/>
              </a:ext>
            </a:extLst>
          </p:cNvPr>
          <p:cNvSpPr txBox="1"/>
          <p:nvPr/>
        </p:nvSpPr>
        <p:spPr>
          <a:xfrm>
            <a:off x="2737244" y="2219854"/>
            <a:ext cx="45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$$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76195-05F3-4612-B0B1-43B0BD6298C6}"/>
              </a:ext>
            </a:extLst>
          </p:cNvPr>
          <p:cNvGrpSpPr/>
          <p:nvPr/>
        </p:nvGrpSpPr>
        <p:grpSpPr>
          <a:xfrm>
            <a:off x="3308961" y="2940206"/>
            <a:ext cx="4518765" cy="1766170"/>
            <a:chOff x="2467627" y="795403"/>
            <a:chExt cx="6513533" cy="305635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64C50BA-12F4-4341-9511-C0FC877822D5}"/>
                </a:ext>
              </a:extLst>
            </p:cNvPr>
            <p:cNvSpPr/>
            <p:nvPr/>
          </p:nvSpPr>
          <p:spPr>
            <a:xfrm>
              <a:off x="2467627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BC1D9E-5E8A-46A0-B15E-70B430522056}"/>
                </a:ext>
              </a:extLst>
            </p:cNvPr>
            <p:cNvSpPr/>
            <p:nvPr/>
          </p:nvSpPr>
          <p:spPr>
            <a:xfrm flipH="1">
              <a:off x="5711866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848CF0-B16B-4B1F-987C-ACF98B08032B}"/>
              </a:ext>
            </a:extLst>
          </p:cNvPr>
          <p:cNvCxnSpPr>
            <a:cxnSpLocks/>
          </p:cNvCxnSpPr>
          <p:nvPr/>
        </p:nvCxnSpPr>
        <p:spPr>
          <a:xfrm>
            <a:off x="3157082" y="3273713"/>
            <a:ext cx="4709073" cy="1175840"/>
          </a:xfrm>
          <a:prstGeom prst="line">
            <a:avLst/>
          </a:prstGeom>
          <a:ln w="76200">
            <a:solidFill>
              <a:srgbClr val="0066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3B4C2D6-1BE8-4690-AE82-18E197E3FB72}"/>
              </a:ext>
            </a:extLst>
          </p:cNvPr>
          <p:cNvCxnSpPr>
            <a:cxnSpLocks/>
          </p:cNvCxnSpPr>
          <p:nvPr/>
        </p:nvCxnSpPr>
        <p:spPr>
          <a:xfrm flipV="1">
            <a:off x="5520582" y="2907326"/>
            <a:ext cx="43062" cy="283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B31FB01A-282F-4208-A1F2-CD1F2F3DD28E}"/>
              </a:ext>
            </a:extLst>
          </p:cNvPr>
          <p:cNvSpPr/>
          <p:nvPr/>
        </p:nvSpPr>
        <p:spPr>
          <a:xfrm>
            <a:off x="5385157" y="3292502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35DEF6F-9463-461B-A107-1E9C2B304C45}"/>
              </a:ext>
            </a:extLst>
          </p:cNvPr>
          <p:cNvSpPr/>
          <p:nvPr/>
        </p:nvSpPr>
        <p:spPr>
          <a:xfrm>
            <a:off x="5626282" y="4205335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B7E5C8-F63E-4419-B89E-287F5F9A0F63}"/>
              </a:ext>
            </a:extLst>
          </p:cNvPr>
          <p:cNvSpPr/>
          <p:nvPr/>
        </p:nvSpPr>
        <p:spPr>
          <a:xfrm>
            <a:off x="5740582" y="3586864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E80B8C5-5700-4BDF-8D4F-CA9593BB4183}"/>
              </a:ext>
            </a:extLst>
          </p:cNvPr>
          <p:cNvSpPr/>
          <p:nvPr/>
        </p:nvSpPr>
        <p:spPr>
          <a:xfrm>
            <a:off x="5253634" y="3701164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FF1E2B0-201D-49FE-BDA9-B54870DBB5E2}"/>
              </a:ext>
            </a:extLst>
          </p:cNvPr>
          <p:cNvSpPr/>
          <p:nvPr/>
        </p:nvSpPr>
        <p:spPr>
          <a:xfrm>
            <a:off x="5433696" y="4040932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360230F-44D6-48AD-85FE-0EF1C4634749}"/>
              </a:ext>
            </a:extLst>
          </p:cNvPr>
          <p:cNvSpPr/>
          <p:nvPr/>
        </p:nvSpPr>
        <p:spPr>
          <a:xfrm>
            <a:off x="5178478" y="4236650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46154E-2450-4907-8D56-D5FE37162416}"/>
              </a:ext>
            </a:extLst>
          </p:cNvPr>
          <p:cNvSpPr/>
          <p:nvPr/>
        </p:nvSpPr>
        <p:spPr>
          <a:xfrm>
            <a:off x="4999104" y="3067033"/>
            <a:ext cx="1052763" cy="1629056"/>
          </a:xfrm>
          <a:prstGeom prst="ellipse">
            <a:avLst/>
          </a:prstGeom>
          <a:noFill/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A3483-ADFF-4D12-974F-77EC30254084}"/>
              </a:ext>
            </a:extLst>
          </p:cNvPr>
          <p:cNvSpPr txBox="1"/>
          <p:nvPr/>
        </p:nvSpPr>
        <p:spPr>
          <a:xfrm>
            <a:off x="6012471" y="3317715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66CC"/>
                </a:solidFill>
              </a:rPr>
              <a:t>Observations  </a:t>
            </a:r>
          </a:p>
          <a:p>
            <a:r>
              <a:rPr lang="en-US" dirty="0">
                <a:solidFill>
                  <a:srgbClr val="0066CC"/>
                </a:solidFill>
              </a:rPr>
              <a:t>of sales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767866-7F16-46C7-99FC-7656EFA49166}"/>
              </a:ext>
            </a:extLst>
          </p:cNvPr>
          <p:cNvSpPr txBox="1"/>
          <p:nvPr/>
        </p:nvSpPr>
        <p:spPr>
          <a:xfrm>
            <a:off x="3037196" y="5375574"/>
            <a:ext cx="266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Revenue maximizing price:</a:t>
            </a:r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8CC599BF-6D3F-8FCF-D706-D19D4822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F94716-A82D-6411-9DF3-759C72AACC3B}"/>
              </a:ext>
            </a:extLst>
          </p:cNvPr>
          <p:cNvGrpSpPr/>
          <p:nvPr/>
        </p:nvGrpSpPr>
        <p:grpSpPr>
          <a:xfrm>
            <a:off x="3399759" y="3694901"/>
            <a:ext cx="2274982" cy="1325476"/>
            <a:chOff x="3399759" y="3694901"/>
            <a:chExt cx="2274982" cy="13254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CEB26-7839-DE82-1E0A-5A39C6C6CD7A}"/>
                </a:ext>
              </a:extLst>
            </p:cNvPr>
            <p:cNvSpPr txBox="1"/>
            <p:nvPr/>
          </p:nvSpPr>
          <p:spPr>
            <a:xfrm>
              <a:off x="3399759" y="4712600"/>
              <a:ext cx="2274982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Most likely sales response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E9E0A5F-BA03-9057-D88C-F10F84B575CA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4537250" y="3694901"/>
              <a:ext cx="274593" cy="101769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B061B5A-A3BC-C3BE-E0A0-787F36B14B4C}"/>
              </a:ext>
            </a:extLst>
          </p:cNvPr>
          <p:cNvGrpSpPr/>
          <p:nvPr/>
        </p:nvGrpSpPr>
        <p:grpSpPr>
          <a:xfrm>
            <a:off x="3774621" y="2147704"/>
            <a:ext cx="1802413" cy="786059"/>
            <a:chOff x="3670970" y="521612"/>
            <a:chExt cx="2403216" cy="104807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223538-175D-0F4B-504B-96BE88403C0B}"/>
                </a:ext>
              </a:extLst>
            </p:cNvPr>
            <p:cNvSpPr txBox="1"/>
            <p:nvPr/>
          </p:nvSpPr>
          <p:spPr>
            <a:xfrm>
              <a:off x="3670970" y="521612"/>
              <a:ext cx="2289515" cy="410369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Most likely revenue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8E5651B-16AF-4E3B-EDEA-B9649D82774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4815728" y="931981"/>
              <a:ext cx="1258458" cy="63770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6179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2B47384-4770-405D-500C-6788D3989CE7}"/>
              </a:ext>
            </a:extLst>
          </p:cNvPr>
          <p:cNvSpPr txBox="1">
            <a:spLocks/>
          </p:cNvSpPr>
          <p:nvPr/>
        </p:nvSpPr>
        <p:spPr>
          <a:xfrm>
            <a:off x="119889" y="1038069"/>
            <a:ext cx="9383907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lvl="1" indent="0">
              <a:buFont typeface="Raleway"/>
              <a:buNone/>
            </a:pPr>
            <a:r>
              <a:rPr lang="en-US" sz="2800" dirty="0"/>
              <a:t>Learning the price that maximizes revenue</a:t>
            </a:r>
            <a:endParaRPr lang="en-US" sz="32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  <a:p>
            <a:pPr marL="457200" lvl="1" indent="0">
              <a:buFont typeface="Raleway"/>
              <a:buNone/>
            </a:pPr>
            <a:endParaRPr lang="en-US" sz="28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34628C8-E9FF-8974-AAFC-BF03FF9E2309}"/>
              </a:ext>
            </a:extLst>
          </p:cNvPr>
          <p:cNvCxnSpPr/>
          <p:nvPr/>
        </p:nvCxnSpPr>
        <p:spPr>
          <a:xfrm flipV="1">
            <a:off x="3158647" y="2155760"/>
            <a:ext cx="0" cy="3039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03A6ABE-A02E-8592-BEB8-DEDCEED96000}"/>
              </a:ext>
            </a:extLst>
          </p:cNvPr>
          <p:cNvCxnSpPr>
            <a:cxnSpLocks/>
          </p:cNvCxnSpPr>
          <p:nvPr/>
        </p:nvCxnSpPr>
        <p:spPr>
          <a:xfrm>
            <a:off x="3158647" y="5194888"/>
            <a:ext cx="506834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901D41A-0869-C542-114D-BCD08A664BE1}"/>
              </a:ext>
            </a:extLst>
          </p:cNvPr>
          <p:cNvGrpSpPr/>
          <p:nvPr/>
        </p:nvGrpSpPr>
        <p:grpSpPr>
          <a:xfrm>
            <a:off x="3388813" y="2578516"/>
            <a:ext cx="4401333" cy="2198316"/>
            <a:chOff x="3388813" y="2578516"/>
            <a:chExt cx="4401333" cy="21983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A450FDF-B662-7E5B-4386-E617D902328E}"/>
                </a:ext>
              </a:extLst>
            </p:cNvPr>
            <p:cNvCxnSpPr>
              <a:cxnSpLocks/>
            </p:cNvCxnSpPr>
            <p:nvPr/>
          </p:nvCxnSpPr>
          <p:spPr>
            <a:xfrm>
              <a:off x="3445180" y="3099911"/>
              <a:ext cx="4288598" cy="1676921"/>
            </a:xfrm>
            <a:prstGeom prst="line">
              <a:avLst/>
            </a:prstGeom>
            <a:ln w="57150">
              <a:solidFill>
                <a:srgbClr val="0066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1E1A26C-1908-0F77-CD8C-DAA95EC3A579}"/>
                </a:ext>
              </a:extLst>
            </p:cNvPr>
            <p:cNvCxnSpPr>
              <a:cxnSpLocks/>
            </p:cNvCxnSpPr>
            <p:nvPr/>
          </p:nvCxnSpPr>
          <p:spPr>
            <a:xfrm>
              <a:off x="3628373" y="2578516"/>
              <a:ext cx="4161773" cy="2165437"/>
            </a:xfrm>
            <a:prstGeom prst="line">
              <a:avLst/>
            </a:prstGeom>
            <a:ln w="57150">
              <a:solidFill>
                <a:srgbClr val="0066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53EA236-87AA-2ACA-3AE4-0EDB9CED2FC5}"/>
                </a:ext>
              </a:extLst>
            </p:cNvPr>
            <p:cNvCxnSpPr>
              <a:cxnSpLocks/>
            </p:cNvCxnSpPr>
            <p:nvPr/>
          </p:nvCxnSpPr>
          <p:spPr>
            <a:xfrm>
              <a:off x="3388813" y="3936022"/>
              <a:ext cx="4227534" cy="314717"/>
            </a:xfrm>
            <a:prstGeom prst="line">
              <a:avLst/>
            </a:prstGeom>
            <a:ln w="57150">
              <a:solidFill>
                <a:srgbClr val="0066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75CE078-D5AF-B7BF-593B-6A39021EE55B}"/>
              </a:ext>
            </a:extLst>
          </p:cNvPr>
          <p:cNvSpPr txBox="1"/>
          <p:nvPr/>
        </p:nvSpPr>
        <p:spPr>
          <a:xfrm>
            <a:off x="2737244" y="2219850"/>
            <a:ext cx="45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$$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ED17FF-CCA4-1A55-6968-839AB2E15F79}"/>
              </a:ext>
            </a:extLst>
          </p:cNvPr>
          <p:cNvGrpSpPr/>
          <p:nvPr/>
        </p:nvGrpSpPr>
        <p:grpSpPr>
          <a:xfrm>
            <a:off x="3308961" y="2940202"/>
            <a:ext cx="4518765" cy="1766170"/>
            <a:chOff x="2467627" y="795403"/>
            <a:chExt cx="6513533" cy="305635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7525A30-19E6-BE5F-DA70-8F568A9A47DC}"/>
                </a:ext>
              </a:extLst>
            </p:cNvPr>
            <p:cNvSpPr/>
            <p:nvPr/>
          </p:nvSpPr>
          <p:spPr>
            <a:xfrm>
              <a:off x="2467627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4F3A610-53FB-7F04-512C-F99D32E4F3F8}"/>
                </a:ext>
              </a:extLst>
            </p:cNvPr>
            <p:cNvSpPr/>
            <p:nvPr/>
          </p:nvSpPr>
          <p:spPr>
            <a:xfrm flipH="1">
              <a:off x="5711866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4587EB-C0D8-1305-DA15-2056E7226558}"/>
              </a:ext>
            </a:extLst>
          </p:cNvPr>
          <p:cNvGrpSpPr/>
          <p:nvPr/>
        </p:nvGrpSpPr>
        <p:grpSpPr>
          <a:xfrm>
            <a:off x="3160215" y="2459517"/>
            <a:ext cx="4705940" cy="2361155"/>
            <a:chOff x="3160215" y="2459517"/>
            <a:chExt cx="4705940" cy="236115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216DC50-8771-F42F-610C-8B97EE739419}"/>
                </a:ext>
              </a:extLst>
            </p:cNvPr>
            <p:cNvGrpSpPr/>
            <p:nvPr/>
          </p:nvGrpSpPr>
          <p:grpSpPr>
            <a:xfrm>
              <a:off x="3160215" y="3054502"/>
              <a:ext cx="2219529" cy="1766170"/>
              <a:chOff x="2467627" y="795403"/>
              <a:chExt cx="6513533" cy="3056350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C41A1BE-5B8E-609B-E0F8-093035F399FC}"/>
                  </a:ext>
                </a:extLst>
              </p:cNvPr>
              <p:cNvSpPr/>
              <p:nvPr/>
            </p:nvSpPr>
            <p:spPr>
              <a:xfrm>
                <a:off x="2467627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EFD511F9-5D67-993E-066A-E0A4934F1811}"/>
                  </a:ext>
                </a:extLst>
              </p:cNvPr>
              <p:cNvSpPr/>
              <p:nvPr/>
            </p:nvSpPr>
            <p:spPr>
              <a:xfrm flipH="1">
                <a:off x="5711866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8F0DDF1-DE6E-0DE9-B8E9-CDB94B2362BE}"/>
                </a:ext>
              </a:extLst>
            </p:cNvPr>
            <p:cNvGrpSpPr/>
            <p:nvPr/>
          </p:nvGrpSpPr>
          <p:grpSpPr>
            <a:xfrm>
              <a:off x="5646626" y="2459517"/>
              <a:ext cx="2219529" cy="1766170"/>
              <a:chOff x="2467627" y="795403"/>
              <a:chExt cx="6513533" cy="3056350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9699002-5953-1DD1-AF57-A8A3E8FE675E}"/>
                  </a:ext>
                </a:extLst>
              </p:cNvPr>
              <p:cNvSpPr/>
              <p:nvPr/>
            </p:nvSpPr>
            <p:spPr>
              <a:xfrm>
                <a:off x="2467627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9C49061-CE64-7675-3C18-37471048A9A6}"/>
                  </a:ext>
                </a:extLst>
              </p:cNvPr>
              <p:cNvSpPr/>
              <p:nvPr/>
            </p:nvSpPr>
            <p:spPr>
              <a:xfrm flipH="1">
                <a:off x="5711866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ED850FA-7507-EFF8-AD45-E23A3B64294E}"/>
                </a:ext>
              </a:extLst>
            </p:cNvPr>
            <p:cNvGrpSpPr/>
            <p:nvPr/>
          </p:nvGrpSpPr>
          <p:grpSpPr>
            <a:xfrm>
              <a:off x="4037036" y="2720997"/>
              <a:ext cx="3187207" cy="1766170"/>
              <a:chOff x="2467627" y="795403"/>
              <a:chExt cx="6513533" cy="3056350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BD0C256-212A-FFDD-69DA-DCC0A7D0171E}"/>
                  </a:ext>
                </a:extLst>
              </p:cNvPr>
              <p:cNvSpPr/>
              <p:nvPr/>
            </p:nvSpPr>
            <p:spPr>
              <a:xfrm>
                <a:off x="2467627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991762C-5777-3266-F84D-83B6B5AF015F}"/>
                  </a:ext>
                </a:extLst>
              </p:cNvPr>
              <p:cNvSpPr/>
              <p:nvPr/>
            </p:nvSpPr>
            <p:spPr>
              <a:xfrm flipH="1">
                <a:off x="5711866" y="795403"/>
                <a:ext cx="3269294" cy="3056350"/>
              </a:xfrm>
              <a:custGeom>
                <a:avLst/>
                <a:gdLst>
                  <a:gd name="connsiteX0" fmla="*/ 0 w 3269294"/>
                  <a:gd name="connsiteY0" fmla="*/ 3056350 h 3056350"/>
                  <a:gd name="connsiteX1" fmla="*/ 194154 w 3269294"/>
                  <a:gd name="connsiteY1" fmla="*/ 2323578 h 3056350"/>
                  <a:gd name="connsiteX2" fmla="*/ 457200 w 3269294"/>
                  <a:gd name="connsiteY2" fmla="*/ 1634646 h 3056350"/>
                  <a:gd name="connsiteX3" fmla="*/ 739036 w 3269294"/>
                  <a:gd name="connsiteY3" fmla="*/ 1189972 h 3056350"/>
                  <a:gd name="connsiteX4" fmla="*/ 1014609 w 3269294"/>
                  <a:gd name="connsiteY4" fmla="*/ 851770 h 3056350"/>
                  <a:gd name="connsiteX5" fmla="*/ 1334022 w 3269294"/>
                  <a:gd name="connsiteY5" fmla="*/ 569934 h 3056350"/>
                  <a:gd name="connsiteX6" fmla="*/ 1741118 w 3269294"/>
                  <a:gd name="connsiteY6" fmla="*/ 325676 h 3056350"/>
                  <a:gd name="connsiteX7" fmla="*/ 2104373 w 3269294"/>
                  <a:gd name="connsiteY7" fmla="*/ 169101 h 3056350"/>
                  <a:gd name="connsiteX8" fmla="*/ 2461365 w 3269294"/>
                  <a:gd name="connsiteY8" fmla="*/ 68893 h 3056350"/>
                  <a:gd name="connsiteX9" fmla="*/ 2937354 w 3269294"/>
                  <a:gd name="connsiteY9" fmla="*/ 25052 h 3056350"/>
                  <a:gd name="connsiteX10" fmla="*/ 3269294 w 3269294"/>
                  <a:gd name="connsiteY10" fmla="*/ 0 h 305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69294" h="3056350">
                    <a:moveTo>
                      <a:pt x="0" y="3056350"/>
                    </a:moveTo>
                    <a:lnTo>
                      <a:pt x="194154" y="2323578"/>
                    </a:lnTo>
                    <a:lnTo>
                      <a:pt x="457200" y="1634646"/>
                    </a:lnTo>
                    <a:lnTo>
                      <a:pt x="739036" y="1189972"/>
                    </a:lnTo>
                    <a:lnTo>
                      <a:pt x="1014609" y="851770"/>
                    </a:lnTo>
                    <a:lnTo>
                      <a:pt x="1334022" y="569934"/>
                    </a:lnTo>
                    <a:lnTo>
                      <a:pt x="1741118" y="325676"/>
                    </a:lnTo>
                    <a:lnTo>
                      <a:pt x="2104373" y="169101"/>
                    </a:lnTo>
                    <a:lnTo>
                      <a:pt x="2461365" y="68893"/>
                    </a:lnTo>
                    <a:lnTo>
                      <a:pt x="2937354" y="25052"/>
                    </a:lnTo>
                    <a:lnTo>
                      <a:pt x="3269294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19ADAD8-9AF8-380C-A729-491706998E01}"/>
              </a:ext>
            </a:extLst>
          </p:cNvPr>
          <p:cNvCxnSpPr>
            <a:cxnSpLocks/>
          </p:cNvCxnSpPr>
          <p:nvPr/>
        </p:nvCxnSpPr>
        <p:spPr>
          <a:xfrm>
            <a:off x="3157082" y="3273709"/>
            <a:ext cx="4709073" cy="1175840"/>
          </a:xfrm>
          <a:prstGeom prst="line">
            <a:avLst/>
          </a:prstGeom>
          <a:ln w="76200">
            <a:solidFill>
              <a:srgbClr val="0066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D503D0-B1AE-2FF3-A401-8302ED914B74}"/>
              </a:ext>
            </a:extLst>
          </p:cNvPr>
          <p:cNvGrpSpPr/>
          <p:nvPr/>
        </p:nvGrpSpPr>
        <p:grpSpPr>
          <a:xfrm>
            <a:off x="3774621" y="2147704"/>
            <a:ext cx="1802413" cy="786059"/>
            <a:chOff x="3670970" y="521612"/>
            <a:chExt cx="2403216" cy="104807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EAAFD17-06BA-B7E4-73D4-1D709272AF7B}"/>
                </a:ext>
              </a:extLst>
            </p:cNvPr>
            <p:cNvSpPr txBox="1"/>
            <p:nvPr/>
          </p:nvSpPr>
          <p:spPr>
            <a:xfrm>
              <a:off x="3670970" y="521612"/>
              <a:ext cx="2289515" cy="410369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Most likely revenue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67A1153-7AAA-B903-363B-441CC2206781}"/>
                </a:ext>
              </a:extLst>
            </p:cNvPr>
            <p:cNvCxnSpPr>
              <a:cxnSpLocks/>
              <a:stCxn id="57" idx="2"/>
              <a:endCxn id="18" idx="10"/>
            </p:cNvCxnSpPr>
            <p:nvPr/>
          </p:nvCxnSpPr>
          <p:spPr>
            <a:xfrm>
              <a:off x="4815728" y="931981"/>
              <a:ext cx="1258458" cy="63770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FDC2680-EB56-C6D0-6E83-CFDEC3A0AAF1}"/>
              </a:ext>
            </a:extLst>
          </p:cNvPr>
          <p:cNvCxnSpPr>
            <a:cxnSpLocks/>
          </p:cNvCxnSpPr>
          <p:nvPr/>
        </p:nvCxnSpPr>
        <p:spPr>
          <a:xfrm flipV="1">
            <a:off x="5520582" y="2907322"/>
            <a:ext cx="43062" cy="283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A96434E-BF77-99CF-3C6A-9B2A8565C94A}"/>
              </a:ext>
            </a:extLst>
          </p:cNvPr>
          <p:cNvGrpSpPr/>
          <p:nvPr/>
        </p:nvGrpSpPr>
        <p:grpSpPr>
          <a:xfrm>
            <a:off x="5034009" y="1847209"/>
            <a:ext cx="3285907" cy="1699505"/>
            <a:chOff x="5034009" y="1847209"/>
            <a:chExt cx="3285907" cy="169950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7C973B9-2172-AE7B-7175-2E1A6C51BB12}"/>
                </a:ext>
              </a:extLst>
            </p:cNvPr>
            <p:cNvSpPr txBox="1"/>
            <p:nvPr/>
          </p:nvSpPr>
          <p:spPr>
            <a:xfrm>
              <a:off x="6184395" y="1847209"/>
              <a:ext cx="2135521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Possible revenue curves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28B09AF-A933-D22B-EF92-440764EEDFCE}"/>
                </a:ext>
              </a:extLst>
            </p:cNvPr>
            <p:cNvCxnSpPr>
              <a:cxnSpLocks/>
              <a:stCxn id="62" idx="2"/>
              <a:endCxn id="46" idx="7"/>
            </p:cNvCxnSpPr>
            <p:nvPr/>
          </p:nvCxnSpPr>
          <p:spPr>
            <a:xfrm flipH="1">
              <a:off x="7149075" y="2154985"/>
              <a:ext cx="103080" cy="402250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1180BE4-C0DE-C3D2-9ED0-096A33589C31}"/>
                </a:ext>
              </a:extLst>
            </p:cNvPr>
            <p:cNvCxnSpPr>
              <a:cxnSpLocks/>
              <a:stCxn id="62" idx="2"/>
              <a:endCxn id="50" idx="10"/>
            </p:cNvCxnSpPr>
            <p:nvPr/>
          </p:nvCxnSpPr>
          <p:spPr>
            <a:xfrm flipH="1">
              <a:off x="5624509" y="2154985"/>
              <a:ext cx="1627646" cy="566012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0630B08-E6D2-EB6F-E467-9A24EE2A0B23}"/>
                </a:ext>
              </a:extLst>
            </p:cNvPr>
            <p:cNvCxnSpPr>
              <a:cxnSpLocks/>
              <a:stCxn id="62" idx="2"/>
              <a:endCxn id="36" idx="4"/>
            </p:cNvCxnSpPr>
            <p:nvPr/>
          </p:nvCxnSpPr>
          <p:spPr>
            <a:xfrm flipH="1">
              <a:off x="5034009" y="2154986"/>
              <a:ext cx="2218147" cy="1391728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F0452F9-9314-C56B-5B57-6BEB7F058188}"/>
              </a:ext>
            </a:extLst>
          </p:cNvPr>
          <p:cNvSpPr txBox="1"/>
          <p:nvPr/>
        </p:nvSpPr>
        <p:spPr>
          <a:xfrm>
            <a:off x="7137226" y="5211400"/>
            <a:ext cx="990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2BB859-C2DD-087E-E32B-851199BEBB68}"/>
              </a:ext>
            </a:extLst>
          </p:cNvPr>
          <p:cNvSpPr txBox="1"/>
          <p:nvPr/>
        </p:nvSpPr>
        <p:spPr>
          <a:xfrm>
            <a:off x="3037196" y="5375570"/>
            <a:ext cx="266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Revenue maximizing price: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AC8009-7C67-6794-E9B2-9D82E79565BE}"/>
              </a:ext>
            </a:extLst>
          </p:cNvPr>
          <p:cNvGrpSpPr/>
          <p:nvPr/>
        </p:nvGrpSpPr>
        <p:grpSpPr>
          <a:xfrm>
            <a:off x="7287803" y="2408025"/>
            <a:ext cx="1855635" cy="2479974"/>
            <a:chOff x="7287803" y="2408025"/>
            <a:chExt cx="1855635" cy="247997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5BCBE4D-4B48-111D-2DC9-77A9ED966B7F}"/>
                </a:ext>
              </a:extLst>
            </p:cNvPr>
            <p:cNvSpPr txBox="1"/>
            <p:nvPr/>
          </p:nvSpPr>
          <p:spPr>
            <a:xfrm>
              <a:off x="7587306" y="2408025"/>
              <a:ext cx="1556132" cy="523220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Possible true sales responses</a:t>
              </a:r>
              <a:endParaRPr lang="en-US" sz="1500" dirty="0">
                <a:solidFill>
                  <a:srgbClr val="0070C0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DCA228B-8C8B-3D45-E50C-DBC3AD8188E5}"/>
                </a:ext>
              </a:extLst>
            </p:cNvPr>
            <p:cNvSpPr/>
            <p:nvPr/>
          </p:nvSpPr>
          <p:spPr bwMode="auto">
            <a:xfrm>
              <a:off x="7287803" y="3936022"/>
              <a:ext cx="245680" cy="951977"/>
            </a:xfrm>
            <a:prstGeom prst="ellipse">
              <a:avLst/>
            </a:prstGeom>
            <a:noFill/>
            <a:ln w="12700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51D4BB8-AA0D-AA42-7777-7A4922199F15}"/>
                </a:ext>
              </a:extLst>
            </p:cNvPr>
            <p:cNvCxnSpPr>
              <a:cxnSpLocks/>
              <a:stCxn id="15" idx="2"/>
              <a:endCxn id="71" idx="7"/>
            </p:cNvCxnSpPr>
            <p:nvPr/>
          </p:nvCxnSpPr>
          <p:spPr bwMode="auto">
            <a:xfrm flipH="1">
              <a:off x="7497504" y="2931245"/>
              <a:ext cx="867868" cy="114419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3" name="Title 1">
            <a:extLst>
              <a:ext uri="{FF2B5EF4-FFF2-40B4-BE49-F238E27FC236}">
                <a16:creationId xmlns:a16="http://schemas.microsoft.com/office/drawing/2014/main" id="{872B1FA5-B9CE-79E0-6F43-B5532EC7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74ED84-E47B-55F1-DCE7-8C4AE48FA5C0}"/>
              </a:ext>
            </a:extLst>
          </p:cNvPr>
          <p:cNvGrpSpPr/>
          <p:nvPr/>
        </p:nvGrpSpPr>
        <p:grpSpPr>
          <a:xfrm>
            <a:off x="3399759" y="3694901"/>
            <a:ext cx="2274982" cy="1325476"/>
            <a:chOff x="3399759" y="3694901"/>
            <a:chExt cx="2274982" cy="132547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60C8DF-EE8B-36F3-D8A7-D257A7EACEA1}"/>
                </a:ext>
              </a:extLst>
            </p:cNvPr>
            <p:cNvSpPr txBox="1"/>
            <p:nvPr/>
          </p:nvSpPr>
          <p:spPr>
            <a:xfrm>
              <a:off x="3399759" y="4712600"/>
              <a:ext cx="2274982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Most likely sales response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08C0C2F-2933-B032-2538-163AAD39DE66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4537250" y="3694901"/>
              <a:ext cx="274593" cy="101769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896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3660FB1-6A1E-CAD7-118D-3E842F4C8667}"/>
              </a:ext>
            </a:extLst>
          </p:cNvPr>
          <p:cNvCxnSpPr/>
          <p:nvPr/>
        </p:nvCxnSpPr>
        <p:spPr>
          <a:xfrm flipV="1">
            <a:off x="3158647" y="2155762"/>
            <a:ext cx="0" cy="3039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65CFC69-86D1-427F-CA0C-1D4BB931040E}"/>
              </a:ext>
            </a:extLst>
          </p:cNvPr>
          <p:cNvCxnSpPr>
            <a:cxnSpLocks/>
          </p:cNvCxnSpPr>
          <p:nvPr/>
        </p:nvCxnSpPr>
        <p:spPr>
          <a:xfrm>
            <a:off x="3158647" y="5194890"/>
            <a:ext cx="506834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57E420-B9DA-8814-6004-13D56263F7E2}"/>
              </a:ext>
            </a:extLst>
          </p:cNvPr>
          <p:cNvSpPr txBox="1"/>
          <p:nvPr/>
        </p:nvSpPr>
        <p:spPr>
          <a:xfrm>
            <a:off x="2737244" y="2219852"/>
            <a:ext cx="45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$$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110D1C-C3A3-E3BB-E96D-AE07D8FDA50B}"/>
              </a:ext>
            </a:extLst>
          </p:cNvPr>
          <p:cNvGrpSpPr/>
          <p:nvPr/>
        </p:nvGrpSpPr>
        <p:grpSpPr>
          <a:xfrm>
            <a:off x="3308961" y="2940204"/>
            <a:ext cx="4518765" cy="1766170"/>
            <a:chOff x="2467627" y="795403"/>
            <a:chExt cx="6513533" cy="305635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8FCBD69-252B-E284-52F0-F83EEB891333}"/>
                </a:ext>
              </a:extLst>
            </p:cNvPr>
            <p:cNvSpPr/>
            <p:nvPr/>
          </p:nvSpPr>
          <p:spPr>
            <a:xfrm>
              <a:off x="2467627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AA1B92-2DCE-E2CA-5B2E-15781E2241C4}"/>
                </a:ext>
              </a:extLst>
            </p:cNvPr>
            <p:cNvSpPr/>
            <p:nvPr/>
          </p:nvSpPr>
          <p:spPr>
            <a:xfrm flipH="1">
              <a:off x="5711866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091DF6-15DF-2980-8306-13278FBE0959}"/>
              </a:ext>
            </a:extLst>
          </p:cNvPr>
          <p:cNvCxnSpPr>
            <a:cxnSpLocks/>
          </p:cNvCxnSpPr>
          <p:nvPr/>
        </p:nvCxnSpPr>
        <p:spPr>
          <a:xfrm>
            <a:off x="3157082" y="3273711"/>
            <a:ext cx="4709073" cy="1175840"/>
          </a:xfrm>
          <a:prstGeom prst="line">
            <a:avLst/>
          </a:prstGeom>
          <a:ln w="76200">
            <a:solidFill>
              <a:srgbClr val="0066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D5FF-2E41-97E4-8D68-EE830A6E340C}"/>
              </a:ext>
            </a:extLst>
          </p:cNvPr>
          <p:cNvGrpSpPr/>
          <p:nvPr/>
        </p:nvGrpSpPr>
        <p:grpSpPr>
          <a:xfrm>
            <a:off x="3774621" y="2147706"/>
            <a:ext cx="1802413" cy="798937"/>
            <a:chOff x="3670970" y="521612"/>
            <a:chExt cx="2403216" cy="106524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CCF427-4167-0C90-A292-553D379AD508}"/>
                </a:ext>
              </a:extLst>
            </p:cNvPr>
            <p:cNvSpPr txBox="1"/>
            <p:nvPr/>
          </p:nvSpPr>
          <p:spPr>
            <a:xfrm>
              <a:off x="3670970" y="521612"/>
              <a:ext cx="2289515" cy="410369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Most likely revenue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FBD1B9-5488-0661-437D-32D254B6838D}"/>
                </a:ext>
              </a:extLst>
            </p:cNvPr>
            <p:cNvCxnSpPr>
              <a:cxnSpLocks/>
              <a:stCxn id="14" idx="2"/>
              <a:endCxn id="8" idx="10"/>
            </p:cNvCxnSpPr>
            <p:nvPr/>
          </p:nvCxnSpPr>
          <p:spPr>
            <a:xfrm>
              <a:off x="4815728" y="931981"/>
              <a:ext cx="1258458" cy="654880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934836-462D-9D97-A604-ADA81890499A}"/>
              </a:ext>
            </a:extLst>
          </p:cNvPr>
          <p:cNvCxnSpPr>
            <a:cxnSpLocks/>
          </p:cNvCxnSpPr>
          <p:nvPr/>
        </p:nvCxnSpPr>
        <p:spPr>
          <a:xfrm flipV="1">
            <a:off x="5520582" y="2907324"/>
            <a:ext cx="43062" cy="283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A1607E9-3660-E6BE-025D-0202E7F624F1}"/>
              </a:ext>
            </a:extLst>
          </p:cNvPr>
          <p:cNvSpPr/>
          <p:nvPr/>
        </p:nvSpPr>
        <p:spPr>
          <a:xfrm>
            <a:off x="7495854" y="4124302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A94640-1737-76B1-CB68-1B990FEAE92B}"/>
              </a:ext>
            </a:extLst>
          </p:cNvPr>
          <p:cNvSpPr/>
          <p:nvPr/>
        </p:nvSpPr>
        <p:spPr>
          <a:xfrm>
            <a:off x="7736980" y="473651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546DE4-427C-6B79-19C4-6582BAD82464}"/>
              </a:ext>
            </a:extLst>
          </p:cNvPr>
          <p:cNvSpPr/>
          <p:nvPr/>
        </p:nvSpPr>
        <p:spPr>
          <a:xfrm>
            <a:off x="7766729" y="372347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8A71A8-2B60-5F42-3FDE-029B1B29218B}"/>
              </a:ext>
            </a:extLst>
          </p:cNvPr>
          <p:cNvSpPr/>
          <p:nvPr/>
        </p:nvSpPr>
        <p:spPr>
          <a:xfrm>
            <a:off x="7364332" y="392232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32B8DB-D9EF-E642-68A9-8A18BBA7EAFA}"/>
              </a:ext>
            </a:extLst>
          </p:cNvPr>
          <p:cNvSpPr/>
          <p:nvPr/>
        </p:nvSpPr>
        <p:spPr>
          <a:xfrm>
            <a:off x="7544393" y="483985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49C981-B40C-6A8F-1843-9B49C97A9295}"/>
              </a:ext>
            </a:extLst>
          </p:cNvPr>
          <p:cNvSpPr/>
          <p:nvPr/>
        </p:nvSpPr>
        <p:spPr>
          <a:xfrm>
            <a:off x="7289176" y="4523569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57DD249-F144-F1B7-2F16-A949EBCCAC3E}"/>
              </a:ext>
            </a:extLst>
          </p:cNvPr>
          <p:cNvSpPr/>
          <p:nvPr/>
        </p:nvSpPr>
        <p:spPr>
          <a:xfrm>
            <a:off x="3392023" y="2688510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AC5EBAD-E87F-A634-F0F6-CC1509A274BD}"/>
              </a:ext>
            </a:extLst>
          </p:cNvPr>
          <p:cNvSpPr/>
          <p:nvPr/>
        </p:nvSpPr>
        <p:spPr>
          <a:xfrm>
            <a:off x="3633149" y="3601342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DE5765-F3CA-E76A-80A3-3951BD9FF77E}"/>
              </a:ext>
            </a:extLst>
          </p:cNvPr>
          <p:cNvSpPr/>
          <p:nvPr/>
        </p:nvSpPr>
        <p:spPr>
          <a:xfrm>
            <a:off x="3747449" y="298287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AB297AA-D25F-43C2-06BE-D6E08EC66FE5}"/>
              </a:ext>
            </a:extLst>
          </p:cNvPr>
          <p:cNvSpPr/>
          <p:nvPr/>
        </p:nvSpPr>
        <p:spPr>
          <a:xfrm>
            <a:off x="3260501" y="309717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F4E6B75-1C34-DFDC-C176-0638380635E4}"/>
              </a:ext>
            </a:extLst>
          </p:cNvPr>
          <p:cNvSpPr/>
          <p:nvPr/>
        </p:nvSpPr>
        <p:spPr>
          <a:xfrm>
            <a:off x="3440563" y="3436939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8E40C78-E94E-C3F7-7F00-84F8D36AD6A6}"/>
              </a:ext>
            </a:extLst>
          </p:cNvPr>
          <p:cNvSpPr/>
          <p:nvPr/>
        </p:nvSpPr>
        <p:spPr>
          <a:xfrm>
            <a:off x="3185345" y="3632658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65F1F9-79AD-02B5-77AF-687FD936E9F2}"/>
              </a:ext>
            </a:extLst>
          </p:cNvPr>
          <p:cNvSpPr txBox="1"/>
          <p:nvPr/>
        </p:nvSpPr>
        <p:spPr>
          <a:xfrm>
            <a:off x="7137226" y="5211402"/>
            <a:ext cx="990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8D0C02-B8B1-02B8-0FEE-3FA32D6FEBF4}"/>
              </a:ext>
            </a:extLst>
          </p:cNvPr>
          <p:cNvSpPr txBox="1"/>
          <p:nvPr/>
        </p:nvSpPr>
        <p:spPr>
          <a:xfrm>
            <a:off x="3037196" y="5375572"/>
            <a:ext cx="266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Revenue maximizing price:</a:t>
            </a: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EF73BE62-E894-6CAE-7A7E-096A4999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113C87-98BA-F626-C5DB-BE89BE218C20}"/>
              </a:ext>
            </a:extLst>
          </p:cNvPr>
          <p:cNvGrpSpPr/>
          <p:nvPr/>
        </p:nvGrpSpPr>
        <p:grpSpPr>
          <a:xfrm>
            <a:off x="3399759" y="3694901"/>
            <a:ext cx="2274982" cy="1325476"/>
            <a:chOff x="3399759" y="3694901"/>
            <a:chExt cx="2274982" cy="13254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257EB8-545B-0FC1-81C9-2DE8282F3F9F}"/>
                </a:ext>
              </a:extLst>
            </p:cNvPr>
            <p:cNvSpPr txBox="1"/>
            <p:nvPr/>
          </p:nvSpPr>
          <p:spPr>
            <a:xfrm>
              <a:off x="3399759" y="4712600"/>
              <a:ext cx="2274982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Most likely sales response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7838BCA-9C82-C281-585D-A1EE4A93AC01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537250" y="3694901"/>
              <a:ext cx="274593" cy="101769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AC634C-BCC9-778B-C217-FB3E365A3D87}"/>
              </a:ext>
            </a:extLst>
          </p:cNvPr>
          <p:cNvSpPr txBox="1">
            <a:spLocks/>
          </p:cNvSpPr>
          <p:nvPr/>
        </p:nvSpPr>
        <p:spPr>
          <a:xfrm>
            <a:off x="119889" y="1038069"/>
            <a:ext cx="9383907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lvl="1" indent="0">
              <a:buFont typeface="Raleway"/>
              <a:buNone/>
            </a:pPr>
            <a:r>
              <a:rPr lang="en-US" sz="2800"/>
              <a:t>Learning the price that maximizes revenue</a:t>
            </a:r>
            <a:endParaRPr lang="en-US" sz="32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267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A3C07E4-8B96-6A0A-C7D1-518F27DDFB40}"/>
              </a:ext>
            </a:extLst>
          </p:cNvPr>
          <p:cNvCxnSpPr/>
          <p:nvPr/>
        </p:nvCxnSpPr>
        <p:spPr>
          <a:xfrm flipV="1">
            <a:off x="3158647" y="2155764"/>
            <a:ext cx="0" cy="303912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CEDF7F7-3710-BA98-3223-471A790AEE65}"/>
              </a:ext>
            </a:extLst>
          </p:cNvPr>
          <p:cNvCxnSpPr>
            <a:cxnSpLocks/>
          </p:cNvCxnSpPr>
          <p:nvPr/>
        </p:nvCxnSpPr>
        <p:spPr>
          <a:xfrm>
            <a:off x="3158647" y="5194892"/>
            <a:ext cx="506834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5D0C7E-A18E-CC55-C73E-5B64D1559164}"/>
              </a:ext>
            </a:extLst>
          </p:cNvPr>
          <p:cNvSpPr txBox="1"/>
          <p:nvPr/>
        </p:nvSpPr>
        <p:spPr>
          <a:xfrm>
            <a:off x="2737244" y="2219854"/>
            <a:ext cx="45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$$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E12F81-60E5-7278-8838-8C4A60107EAE}"/>
              </a:ext>
            </a:extLst>
          </p:cNvPr>
          <p:cNvGrpSpPr/>
          <p:nvPr/>
        </p:nvGrpSpPr>
        <p:grpSpPr>
          <a:xfrm>
            <a:off x="3308961" y="2940206"/>
            <a:ext cx="4518765" cy="1766170"/>
            <a:chOff x="2467627" y="795403"/>
            <a:chExt cx="6513533" cy="305635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757806A-F87B-12A1-4CE1-F74086B41EF0}"/>
                </a:ext>
              </a:extLst>
            </p:cNvPr>
            <p:cNvSpPr/>
            <p:nvPr/>
          </p:nvSpPr>
          <p:spPr>
            <a:xfrm>
              <a:off x="2467627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F8584C3-1E82-C978-FBD7-9E52DA03B6FB}"/>
                </a:ext>
              </a:extLst>
            </p:cNvPr>
            <p:cNvSpPr/>
            <p:nvPr/>
          </p:nvSpPr>
          <p:spPr>
            <a:xfrm flipH="1">
              <a:off x="5711866" y="795403"/>
              <a:ext cx="3269294" cy="3056350"/>
            </a:xfrm>
            <a:custGeom>
              <a:avLst/>
              <a:gdLst>
                <a:gd name="connsiteX0" fmla="*/ 0 w 3269294"/>
                <a:gd name="connsiteY0" fmla="*/ 3056350 h 3056350"/>
                <a:gd name="connsiteX1" fmla="*/ 194154 w 3269294"/>
                <a:gd name="connsiteY1" fmla="*/ 2323578 h 3056350"/>
                <a:gd name="connsiteX2" fmla="*/ 457200 w 3269294"/>
                <a:gd name="connsiteY2" fmla="*/ 1634646 h 3056350"/>
                <a:gd name="connsiteX3" fmla="*/ 739036 w 3269294"/>
                <a:gd name="connsiteY3" fmla="*/ 1189972 h 3056350"/>
                <a:gd name="connsiteX4" fmla="*/ 1014609 w 3269294"/>
                <a:gd name="connsiteY4" fmla="*/ 851770 h 3056350"/>
                <a:gd name="connsiteX5" fmla="*/ 1334022 w 3269294"/>
                <a:gd name="connsiteY5" fmla="*/ 569934 h 3056350"/>
                <a:gd name="connsiteX6" fmla="*/ 1741118 w 3269294"/>
                <a:gd name="connsiteY6" fmla="*/ 325676 h 3056350"/>
                <a:gd name="connsiteX7" fmla="*/ 2104373 w 3269294"/>
                <a:gd name="connsiteY7" fmla="*/ 169101 h 3056350"/>
                <a:gd name="connsiteX8" fmla="*/ 2461365 w 3269294"/>
                <a:gd name="connsiteY8" fmla="*/ 68893 h 3056350"/>
                <a:gd name="connsiteX9" fmla="*/ 2937354 w 3269294"/>
                <a:gd name="connsiteY9" fmla="*/ 25052 h 3056350"/>
                <a:gd name="connsiteX10" fmla="*/ 3269294 w 3269294"/>
                <a:gd name="connsiteY10" fmla="*/ 0 h 305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69294" h="3056350">
                  <a:moveTo>
                    <a:pt x="0" y="3056350"/>
                  </a:moveTo>
                  <a:lnTo>
                    <a:pt x="194154" y="2323578"/>
                  </a:lnTo>
                  <a:lnTo>
                    <a:pt x="457200" y="1634646"/>
                  </a:lnTo>
                  <a:lnTo>
                    <a:pt x="739036" y="1189972"/>
                  </a:lnTo>
                  <a:lnTo>
                    <a:pt x="1014609" y="851770"/>
                  </a:lnTo>
                  <a:lnTo>
                    <a:pt x="1334022" y="569934"/>
                  </a:lnTo>
                  <a:lnTo>
                    <a:pt x="1741118" y="325676"/>
                  </a:lnTo>
                  <a:lnTo>
                    <a:pt x="2104373" y="169101"/>
                  </a:lnTo>
                  <a:lnTo>
                    <a:pt x="2461365" y="68893"/>
                  </a:lnTo>
                  <a:lnTo>
                    <a:pt x="2937354" y="25052"/>
                  </a:lnTo>
                  <a:lnTo>
                    <a:pt x="326929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1992A0-C72F-3EFC-BB49-AB7BEEBD45D4}"/>
              </a:ext>
            </a:extLst>
          </p:cNvPr>
          <p:cNvCxnSpPr>
            <a:cxnSpLocks/>
          </p:cNvCxnSpPr>
          <p:nvPr/>
        </p:nvCxnSpPr>
        <p:spPr>
          <a:xfrm>
            <a:off x="3157082" y="3273713"/>
            <a:ext cx="4709073" cy="1175840"/>
          </a:xfrm>
          <a:prstGeom prst="line">
            <a:avLst/>
          </a:prstGeom>
          <a:ln w="76200">
            <a:solidFill>
              <a:srgbClr val="0066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5D5EF8-7F80-123B-A0C2-8A2627488D15}"/>
              </a:ext>
            </a:extLst>
          </p:cNvPr>
          <p:cNvGrpSpPr/>
          <p:nvPr/>
        </p:nvGrpSpPr>
        <p:grpSpPr>
          <a:xfrm>
            <a:off x="3774621" y="2147708"/>
            <a:ext cx="1802413" cy="850453"/>
            <a:chOff x="3670970" y="521612"/>
            <a:chExt cx="2403216" cy="113393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641928B-A212-BEE6-6F73-F8CB679AE101}"/>
                </a:ext>
              </a:extLst>
            </p:cNvPr>
            <p:cNvSpPr txBox="1"/>
            <p:nvPr/>
          </p:nvSpPr>
          <p:spPr>
            <a:xfrm>
              <a:off x="3670970" y="521612"/>
              <a:ext cx="2289515" cy="410369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66CC"/>
                  </a:solidFill>
                </a:rPr>
                <a:t>Most likely revenue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A1E4AA0-6879-EFC0-6272-7C3B89D69E17}"/>
                </a:ext>
              </a:extLst>
            </p:cNvPr>
            <p:cNvCxnSpPr>
              <a:cxnSpLocks/>
              <a:stCxn id="14" idx="2"/>
              <a:endCxn id="8" idx="10"/>
            </p:cNvCxnSpPr>
            <p:nvPr/>
          </p:nvCxnSpPr>
          <p:spPr>
            <a:xfrm>
              <a:off x="4815728" y="931981"/>
              <a:ext cx="1258458" cy="723567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E8A9AD-42DA-CF99-553B-C20084E6FBDE}"/>
              </a:ext>
            </a:extLst>
          </p:cNvPr>
          <p:cNvCxnSpPr>
            <a:cxnSpLocks/>
          </p:cNvCxnSpPr>
          <p:nvPr/>
        </p:nvCxnSpPr>
        <p:spPr>
          <a:xfrm flipV="1">
            <a:off x="5520582" y="2907326"/>
            <a:ext cx="43062" cy="28387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CD9D835-6610-7D9E-2B50-575E8FEEB7E5}"/>
              </a:ext>
            </a:extLst>
          </p:cNvPr>
          <p:cNvSpPr/>
          <p:nvPr/>
        </p:nvSpPr>
        <p:spPr>
          <a:xfrm>
            <a:off x="6042772" y="3433420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6CA0DC-73F2-BA50-2393-CD84626217FE}"/>
              </a:ext>
            </a:extLst>
          </p:cNvPr>
          <p:cNvSpPr/>
          <p:nvPr/>
        </p:nvSpPr>
        <p:spPr>
          <a:xfrm>
            <a:off x="6283897" y="4346252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6C6531-3B6A-B6EF-0DA9-ABDD8FF9BC46}"/>
              </a:ext>
            </a:extLst>
          </p:cNvPr>
          <p:cNvSpPr/>
          <p:nvPr/>
        </p:nvSpPr>
        <p:spPr>
          <a:xfrm>
            <a:off x="6398197" y="372778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3716EA-6D11-93D2-40BA-00B4BD6B31D6}"/>
              </a:ext>
            </a:extLst>
          </p:cNvPr>
          <p:cNvSpPr/>
          <p:nvPr/>
        </p:nvSpPr>
        <p:spPr>
          <a:xfrm>
            <a:off x="5911249" y="3842081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E471B8-EC3A-87A8-493D-85FBE5A18C8C}"/>
              </a:ext>
            </a:extLst>
          </p:cNvPr>
          <p:cNvSpPr/>
          <p:nvPr/>
        </p:nvSpPr>
        <p:spPr>
          <a:xfrm>
            <a:off x="6091311" y="4181849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DFE604-3E9B-EC53-3C53-A3D28253B1A4}"/>
              </a:ext>
            </a:extLst>
          </p:cNvPr>
          <p:cNvSpPr/>
          <p:nvPr/>
        </p:nvSpPr>
        <p:spPr>
          <a:xfrm>
            <a:off x="5836093" y="4377568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DCF6B1-AE8A-D1DD-6C6B-4936E58C525C}"/>
              </a:ext>
            </a:extLst>
          </p:cNvPr>
          <p:cNvSpPr/>
          <p:nvPr/>
        </p:nvSpPr>
        <p:spPr>
          <a:xfrm>
            <a:off x="4564704" y="3073298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91A0397-48A4-D063-6E0B-8CC580030340}"/>
              </a:ext>
            </a:extLst>
          </p:cNvPr>
          <p:cNvSpPr/>
          <p:nvPr/>
        </p:nvSpPr>
        <p:spPr>
          <a:xfrm>
            <a:off x="4805830" y="3986130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3DBC87C-354A-F6B7-9CEE-8553831E3836}"/>
              </a:ext>
            </a:extLst>
          </p:cNvPr>
          <p:cNvSpPr/>
          <p:nvPr/>
        </p:nvSpPr>
        <p:spPr>
          <a:xfrm>
            <a:off x="4920130" y="3367659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706E21C-7187-0997-085E-E33893E80C34}"/>
              </a:ext>
            </a:extLst>
          </p:cNvPr>
          <p:cNvSpPr/>
          <p:nvPr/>
        </p:nvSpPr>
        <p:spPr>
          <a:xfrm>
            <a:off x="4433182" y="3481959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252D5A6-6223-1760-7600-7D2B12542707}"/>
              </a:ext>
            </a:extLst>
          </p:cNvPr>
          <p:cNvSpPr/>
          <p:nvPr/>
        </p:nvSpPr>
        <p:spPr>
          <a:xfrm>
            <a:off x="4613243" y="3821727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1DA81BE-9EEB-BA63-0BFD-0E37BC951598}"/>
              </a:ext>
            </a:extLst>
          </p:cNvPr>
          <p:cNvSpPr/>
          <p:nvPr/>
        </p:nvSpPr>
        <p:spPr>
          <a:xfrm>
            <a:off x="4358026" y="4017446"/>
            <a:ext cx="108037" cy="108037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C85E85-98D3-4D25-ECE7-002046242C04}"/>
              </a:ext>
            </a:extLst>
          </p:cNvPr>
          <p:cNvSpPr txBox="1"/>
          <p:nvPr/>
        </p:nvSpPr>
        <p:spPr>
          <a:xfrm>
            <a:off x="7137226" y="5211404"/>
            <a:ext cx="990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10A69-56D8-5231-B186-C5E30B8CF1B0}"/>
              </a:ext>
            </a:extLst>
          </p:cNvPr>
          <p:cNvSpPr txBox="1"/>
          <p:nvPr/>
        </p:nvSpPr>
        <p:spPr>
          <a:xfrm>
            <a:off x="3037196" y="5375574"/>
            <a:ext cx="26664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Revenue maximizing price: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5C14B032-7EB5-3A90-91FF-F258E3810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Optimal learning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58CD8C-25C3-4626-61AE-1894D98C154E}"/>
              </a:ext>
            </a:extLst>
          </p:cNvPr>
          <p:cNvGrpSpPr/>
          <p:nvPr/>
        </p:nvGrpSpPr>
        <p:grpSpPr>
          <a:xfrm>
            <a:off x="3399759" y="3694901"/>
            <a:ext cx="2274982" cy="1325476"/>
            <a:chOff x="3399759" y="3694901"/>
            <a:chExt cx="2274982" cy="132547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432C48-1217-955A-5EBF-6A5CF25BE201}"/>
                </a:ext>
              </a:extLst>
            </p:cNvPr>
            <p:cNvSpPr txBox="1"/>
            <p:nvPr/>
          </p:nvSpPr>
          <p:spPr>
            <a:xfrm>
              <a:off x="3399759" y="4712600"/>
              <a:ext cx="2274982" cy="307777"/>
            </a:xfrm>
            <a:prstGeom prst="rect">
              <a:avLst/>
            </a:prstGeom>
            <a:noFill/>
            <a:ln>
              <a:solidFill>
                <a:srgbClr val="0066C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Most likely sales response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BEE2F33-1B02-53A0-3F2D-C039126AE3CD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4537250" y="3694901"/>
              <a:ext cx="274593" cy="1017699"/>
            </a:xfrm>
            <a:prstGeom prst="straightConnector1">
              <a:avLst/>
            </a:prstGeom>
            <a:ln w="12700">
              <a:solidFill>
                <a:srgbClr val="0066CC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8BA793-C6DD-6FBA-88EF-11073B9515B8}"/>
              </a:ext>
            </a:extLst>
          </p:cNvPr>
          <p:cNvSpPr txBox="1">
            <a:spLocks/>
          </p:cNvSpPr>
          <p:nvPr/>
        </p:nvSpPr>
        <p:spPr>
          <a:xfrm>
            <a:off x="119889" y="1038069"/>
            <a:ext cx="9383907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457200" lvl="1" indent="0">
              <a:buFont typeface="Raleway"/>
              <a:buNone/>
            </a:pPr>
            <a:r>
              <a:rPr lang="en-US" sz="2800"/>
              <a:t>Learning the price that maximizes revenue</a:t>
            </a:r>
            <a:endParaRPr lang="en-US" sz="32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/>
          </a:p>
          <a:p>
            <a:pPr marL="457200" lvl="1" indent="0">
              <a:buFont typeface="Raleway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1451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39941C5-F0EE-F902-F52E-1103E03F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B086B-71AF-3A4C-6A10-7017A6A3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831F44A-F690-76C3-9C1D-9DD24D6FE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D5F710D5-1521-6F43-7AC8-991C8868B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to optimal learning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pricing example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Illustration of interval estimation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the knowledge gradient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608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7F0C62E-420C-F35F-4FB7-AFA5499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281" y="3065541"/>
            <a:ext cx="7191573" cy="23473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70481"/>
            <a:ext cx="10363200" cy="4401600"/>
          </a:xfrm>
        </p:spPr>
        <p:txBody>
          <a:bodyPr/>
          <a:lstStyle/>
          <a:p>
            <a:r>
              <a:rPr lang="en-US" dirty="0"/>
              <a:t>Finding the best product to sell.</a:t>
            </a:r>
          </a:p>
          <a:p>
            <a:pPr lvl="3"/>
            <a:endParaRPr lang="en-US" sz="1200" dirty="0"/>
          </a:p>
          <a:p>
            <a:pPr lvl="1"/>
            <a:r>
              <a:rPr lang="en-US" dirty="0"/>
              <a:t>The demand for different products may be correlated (similar features, complementary products).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808F9A-0793-21B8-D9C6-1A6FEA0DED49}"/>
                  </a:ext>
                </a:extLst>
              </p:cNvPr>
              <p:cNvSpPr txBox="1"/>
              <p:nvPr/>
            </p:nvSpPr>
            <p:spPr>
              <a:xfrm>
                <a:off x="4704427" y="5715791"/>
                <a:ext cx="27474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0" dirty="0">
                    <a:latin typeface="Raleway" pitchFamily="2" charset="0"/>
                  </a:rPr>
                  <a:t>Correlation coefficient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808F9A-0793-21B8-D9C6-1A6FEA0DE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427" y="5715791"/>
                <a:ext cx="2747483" cy="369332"/>
              </a:xfrm>
              <a:prstGeom prst="rect">
                <a:avLst/>
              </a:prstGeom>
              <a:blipFill>
                <a:blip r:embed="rId3"/>
                <a:stretch>
                  <a:fillRect l="-200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726AF-1442-EFC9-0698-82224484E642}"/>
                  </a:ext>
                </a:extLst>
              </p:cNvPr>
              <p:cNvSpPr txBox="1"/>
              <p:nvPr/>
            </p:nvSpPr>
            <p:spPr>
              <a:xfrm>
                <a:off x="1841956" y="3524227"/>
                <a:ext cx="401283" cy="1110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726AF-1442-EFC9-0698-82224484E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956" y="3524227"/>
                <a:ext cx="401283" cy="1110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6EDD93-6AFC-6069-9C43-948B5B63D13D}"/>
                  </a:ext>
                </a:extLst>
              </p:cNvPr>
              <p:cNvSpPr txBox="1"/>
              <p:nvPr/>
            </p:nvSpPr>
            <p:spPr>
              <a:xfrm>
                <a:off x="1822222" y="4509445"/>
                <a:ext cx="553548" cy="8784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6EDD93-6AFC-6069-9C43-948B5B63D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222" y="4509445"/>
                <a:ext cx="553548" cy="8784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2F6C72F-2E0F-E697-3A7B-D2B7D55827A0}"/>
              </a:ext>
            </a:extLst>
          </p:cNvPr>
          <p:cNvSpPr txBox="1"/>
          <p:nvPr/>
        </p:nvSpPr>
        <p:spPr>
          <a:xfrm>
            <a:off x="1045967" y="3826832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Baby</a:t>
            </a:r>
          </a:p>
          <a:p>
            <a:pPr algn="ctr"/>
            <a:r>
              <a:rPr lang="en-US" dirty="0"/>
              <a:t>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9A0070-EDF0-CFC9-3291-C364F274FAA1}"/>
              </a:ext>
            </a:extLst>
          </p:cNvPr>
          <p:cNvSpPr txBox="1"/>
          <p:nvPr/>
        </p:nvSpPr>
        <p:spPr>
          <a:xfrm>
            <a:off x="1033911" y="4735752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Kitchen</a:t>
            </a:r>
          </a:p>
          <a:p>
            <a:pPr algn="ctr"/>
            <a:r>
              <a:rPr lang="en-US" dirty="0"/>
              <a:t>products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B5D2A-EC9A-99A6-2315-26C2C50CC892}"/>
              </a:ext>
            </a:extLst>
          </p:cNvPr>
          <p:cNvSpPr/>
          <p:nvPr/>
        </p:nvSpPr>
        <p:spPr>
          <a:xfrm>
            <a:off x="3552344" y="3583428"/>
            <a:ext cx="3387885" cy="1050846"/>
          </a:xfrm>
          <a:prstGeom prst="rect">
            <a:avLst/>
          </a:prstGeom>
          <a:solidFill>
            <a:srgbClr val="FF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B5290-6669-F673-EF2E-A9EECD0C86A2}"/>
              </a:ext>
            </a:extLst>
          </p:cNvPr>
          <p:cNvSpPr/>
          <p:nvPr/>
        </p:nvSpPr>
        <p:spPr>
          <a:xfrm>
            <a:off x="6940229" y="4621117"/>
            <a:ext cx="2557625" cy="753617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40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Slide Number Placeholder 5"/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20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1284101" name="Line 4"/>
          <p:cNvSpPr>
            <a:spLocks noChangeShapeType="1"/>
          </p:cNvSpPr>
          <p:nvPr/>
        </p:nvSpPr>
        <p:spPr bwMode="auto">
          <a:xfrm>
            <a:off x="3181350" y="4582928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/>
          <p:cNvSpPr>
            <a:spLocks noChangeArrowheads="1"/>
          </p:cNvSpPr>
          <p:nvPr/>
        </p:nvSpPr>
        <p:spPr bwMode="auto">
          <a:xfrm>
            <a:off x="3643313" y="3630429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/>
          <p:cNvSpPr>
            <a:spLocks noChangeArrowheads="1"/>
          </p:cNvSpPr>
          <p:nvPr/>
        </p:nvSpPr>
        <p:spPr bwMode="auto">
          <a:xfrm>
            <a:off x="4506913" y="3368491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/>
          <p:cNvSpPr>
            <a:spLocks noChangeArrowheads="1"/>
          </p:cNvSpPr>
          <p:nvPr/>
        </p:nvSpPr>
        <p:spPr bwMode="auto">
          <a:xfrm>
            <a:off x="5370513" y="3160529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/>
          <p:cNvSpPr>
            <a:spLocks noChangeArrowheads="1"/>
          </p:cNvSpPr>
          <p:nvPr/>
        </p:nvSpPr>
        <p:spPr bwMode="auto">
          <a:xfrm>
            <a:off x="6234113" y="296367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/>
          <p:cNvSpPr txBox="1">
            <a:spLocks noChangeArrowheads="1"/>
          </p:cNvSpPr>
          <p:nvPr/>
        </p:nvSpPr>
        <p:spPr bwMode="auto">
          <a:xfrm>
            <a:off x="3621088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/>
          <p:cNvSpPr txBox="1">
            <a:spLocks noChangeArrowheads="1"/>
          </p:cNvSpPr>
          <p:nvPr/>
        </p:nvSpPr>
        <p:spPr bwMode="auto">
          <a:xfrm>
            <a:off x="4475163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/>
          <p:cNvSpPr txBox="1">
            <a:spLocks noChangeArrowheads="1"/>
          </p:cNvSpPr>
          <p:nvPr/>
        </p:nvSpPr>
        <p:spPr bwMode="auto">
          <a:xfrm>
            <a:off x="53562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/>
          <p:cNvSpPr txBox="1">
            <a:spLocks noChangeArrowheads="1"/>
          </p:cNvSpPr>
          <p:nvPr/>
        </p:nvSpPr>
        <p:spPr bwMode="auto">
          <a:xfrm>
            <a:off x="62198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/>
          <p:cNvGrpSpPr>
            <a:grpSpLocks/>
          </p:cNvGrpSpPr>
          <p:nvPr/>
        </p:nvGrpSpPr>
        <p:grpSpPr bwMode="auto">
          <a:xfrm>
            <a:off x="6232525" y="2423929"/>
            <a:ext cx="609600" cy="1068387"/>
            <a:chOff x="3511" y="2056"/>
            <a:chExt cx="342" cy="1051"/>
          </a:xfrm>
        </p:grpSpPr>
        <p:sp>
          <p:nvSpPr>
            <p:cNvPr id="1284120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/>
          <p:cNvGrpSpPr>
            <a:grpSpLocks/>
          </p:cNvGrpSpPr>
          <p:nvPr/>
        </p:nvGrpSpPr>
        <p:grpSpPr bwMode="auto">
          <a:xfrm>
            <a:off x="5367339" y="2854141"/>
            <a:ext cx="714375" cy="630237"/>
            <a:chOff x="3511" y="2056"/>
            <a:chExt cx="342" cy="1051"/>
          </a:xfrm>
        </p:grpSpPr>
        <p:sp>
          <p:nvSpPr>
            <p:cNvPr id="1284125" name="Line 2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/>
          <p:cNvGrpSpPr>
            <a:grpSpLocks/>
          </p:cNvGrpSpPr>
          <p:nvPr/>
        </p:nvGrpSpPr>
        <p:grpSpPr bwMode="auto">
          <a:xfrm>
            <a:off x="3635376" y="3173229"/>
            <a:ext cx="581025" cy="896937"/>
            <a:chOff x="3511" y="2056"/>
            <a:chExt cx="342" cy="1051"/>
          </a:xfrm>
        </p:grpSpPr>
        <p:sp>
          <p:nvSpPr>
            <p:cNvPr id="1284130" name="Line 47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/>
          <p:cNvGrpSpPr>
            <a:grpSpLocks/>
          </p:cNvGrpSpPr>
          <p:nvPr/>
        </p:nvGrpSpPr>
        <p:grpSpPr bwMode="auto">
          <a:xfrm>
            <a:off x="4505326" y="2204853"/>
            <a:ext cx="276225" cy="2316162"/>
            <a:chOff x="3511" y="2056"/>
            <a:chExt cx="342" cy="1051"/>
          </a:xfrm>
        </p:grpSpPr>
        <p:sp>
          <p:nvSpPr>
            <p:cNvPr id="1284135" name="Line 52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/>
          <p:cNvSpPr>
            <a:spLocks noChangeArrowheads="1"/>
          </p:cNvSpPr>
          <p:nvPr/>
        </p:nvSpPr>
        <p:spPr bwMode="auto">
          <a:xfrm>
            <a:off x="7964549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/>
          <p:cNvSpPr txBox="1">
            <a:spLocks noChangeArrowheads="1"/>
          </p:cNvSpPr>
          <p:nvPr/>
        </p:nvSpPr>
        <p:spPr bwMode="auto">
          <a:xfrm>
            <a:off x="7950262" y="459102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/>
          <p:cNvSpPr>
            <a:spLocks noChangeArrowheads="1"/>
          </p:cNvSpPr>
          <p:nvPr/>
        </p:nvSpPr>
        <p:spPr bwMode="auto">
          <a:xfrm>
            <a:off x="8823229" y="3088631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/>
          <p:cNvSpPr txBox="1">
            <a:spLocks noChangeArrowheads="1"/>
          </p:cNvSpPr>
          <p:nvPr/>
        </p:nvSpPr>
        <p:spPr bwMode="auto">
          <a:xfrm>
            <a:off x="8816879" y="4563417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/>
          <p:cNvGrpSpPr>
            <a:grpSpLocks/>
          </p:cNvGrpSpPr>
          <p:nvPr/>
        </p:nvGrpSpPr>
        <p:grpSpPr bwMode="auto">
          <a:xfrm>
            <a:off x="8823229" y="2264718"/>
            <a:ext cx="400050" cy="1668463"/>
            <a:chOff x="3511" y="2056"/>
            <a:chExt cx="342" cy="1051"/>
          </a:xfrm>
        </p:grpSpPr>
        <p:sp>
          <p:nvSpPr>
            <p:cNvPr id="94" name="Line 1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 bwMode="auto">
          <a:xfrm>
            <a:off x="3028335" y="4615599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9002662">
            <a:off x="2929670" y="4931806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/>
          <p:cNvSpPr txBox="1"/>
          <p:nvPr/>
        </p:nvSpPr>
        <p:spPr>
          <a:xfrm rot="19002662">
            <a:off x="3879261" y="4907230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80" name="TextBox 79"/>
          <p:cNvSpPr txBox="1"/>
          <p:nvPr/>
        </p:nvSpPr>
        <p:spPr>
          <a:xfrm rot="19002662">
            <a:off x="4813579" y="487282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/>
          <p:cNvSpPr txBox="1"/>
          <p:nvPr/>
        </p:nvSpPr>
        <p:spPr>
          <a:xfrm rot="19002662">
            <a:off x="7378241" y="4877746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/>
          <p:cNvSpPr>
            <a:spLocks noChangeArrowheads="1"/>
          </p:cNvSpPr>
          <p:nvPr/>
        </p:nvSpPr>
        <p:spPr bwMode="auto">
          <a:xfrm>
            <a:off x="7109165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02662">
            <a:off x="6880835" y="5526658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/>
          <p:cNvGrpSpPr>
            <a:grpSpLocks/>
          </p:cNvGrpSpPr>
          <p:nvPr/>
        </p:nvGrpSpPr>
        <p:grpSpPr bwMode="auto">
          <a:xfrm>
            <a:off x="7962961" y="2414101"/>
            <a:ext cx="609600" cy="1068387"/>
            <a:chOff x="3511" y="2056"/>
            <a:chExt cx="342" cy="1051"/>
          </a:xfrm>
        </p:grpSpPr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0" name="Group 20"/>
          <p:cNvGrpSpPr>
            <a:grpSpLocks/>
          </p:cNvGrpSpPr>
          <p:nvPr/>
        </p:nvGrpSpPr>
        <p:grpSpPr bwMode="auto">
          <a:xfrm>
            <a:off x="7112497" y="2389525"/>
            <a:ext cx="609600" cy="1068387"/>
            <a:chOff x="3511" y="2056"/>
            <a:chExt cx="342" cy="1051"/>
          </a:xfrm>
        </p:grpSpPr>
        <p:sp>
          <p:nvSpPr>
            <p:cNvPr id="12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/>
          <p:cNvSpPr txBox="1"/>
          <p:nvPr/>
        </p:nvSpPr>
        <p:spPr>
          <a:xfrm rot="19002662">
            <a:off x="6577999" y="486299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104" name="TextBox 103"/>
          <p:cNvSpPr txBox="1"/>
          <p:nvPr/>
        </p:nvSpPr>
        <p:spPr>
          <a:xfrm rot="19002662">
            <a:off x="4110976" y="5577916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D6655-67E2-9B87-0BE7-BAB5A26389A6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8C402-328E-E0DB-458B-0DDEECB9AD73}"/>
              </a:ext>
            </a:extLst>
          </p:cNvPr>
          <p:cNvSpPr txBox="1"/>
          <p:nvPr/>
        </p:nvSpPr>
        <p:spPr>
          <a:xfrm rot="18791278">
            <a:off x="2901791" y="490906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A476D-6D3D-AB31-4129-A0F8F7A82E76}"/>
              </a:ext>
            </a:extLst>
          </p:cNvPr>
          <p:cNvSpPr txBox="1"/>
          <p:nvPr/>
        </p:nvSpPr>
        <p:spPr>
          <a:xfrm rot="18791278">
            <a:off x="3745751" y="491546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A6130-1252-E018-1DE3-D2F610ECB2AA}"/>
              </a:ext>
            </a:extLst>
          </p:cNvPr>
          <p:cNvSpPr txBox="1"/>
          <p:nvPr/>
        </p:nvSpPr>
        <p:spPr>
          <a:xfrm rot="18791278">
            <a:off x="4599947" y="492314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7E108-53D9-49E1-2C71-46D1F5BFB8E0}"/>
              </a:ext>
            </a:extLst>
          </p:cNvPr>
          <p:cNvSpPr txBox="1"/>
          <p:nvPr/>
        </p:nvSpPr>
        <p:spPr>
          <a:xfrm rot="18791278">
            <a:off x="5475923" y="491546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E765D-827D-33C8-B5AD-218BB51704FA}"/>
              </a:ext>
            </a:extLst>
          </p:cNvPr>
          <p:cNvSpPr txBox="1"/>
          <p:nvPr/>
        </p:nvSpPr>
        <p:spPr>
          <a:xfrm rot="18791278">
            <a:off x="6327157" y="492078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3F01D-E4AD-2726-7B52-4C89391F6175}"/>
              </a:ext>
            </a:extLst>
          </p:cNvPr>
          <p:cNvSpPr txBox="1"/>
          <p:nvPr/>
        </p:nvSpPr>
        <p:spPr>
          <a:xfrm rot="18791278">
            <a:off x="7193315" y="49295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14964-4AB9-2B4D-2C0A-255E0A90540A}"/>
              </a:ext>
            </a:extLst>
          </p:cNvPr>
          <p:cNvSpPr txBox="1"/>
          <p:nvPr/>
        </p:nvSpPr>
        <p:spPr>
          <a:xfrm rot="18791278">
            <a:off x="8064143" y="492058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G</a:t>
            </a:r>
          </a:p>
        </p:txBody>
      </p:sp>
    </p:spTree>
    <p:extLst>
      <p:ext uri="{BB962C8B-B14F-4D97-AF65-F5344CB8AC3E}">
        <p14:creationId xmlns:p14="http://schemas.microsoft.com/office/powerpoint/2010/main" val="801801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Slide Number Placeholder 5"/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1284101" name="Line 4"/>
          <p:cNvSpPr>
            <a:spLocks noChangeShapeType="1"/>
          </p:cNvSpPr>
          <p:nvPr/>
        </p:nvSpPr>
        <p:spPr bwMode="auto">
          <a:xfrm>
            <a:off x="3181350" y="4582928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/>
          <p:cNvSpPr>
            <a:spLocks noChangeArrowheads="1"/>
          </p:cNvSpPr>
          <p:nvPr/>
        </p:nvSpPr>
        <p:spPr bwMode="auto">
          <a:xfrm>
            <a:off x="3643313" y="3630429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/>
          <p:cNvSpPr>
            <a:spLocks noChangeArrowheads="1"/>
          </p:cNvSpPr>
          <p:nvPr/>
        </p:nvSpPr>
        <p:spPr bwMode="auto">
          <a:xfrm>
            <a:off x="4506913" y="3368491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/>
          <p:cNvSpPr>
            <a:spLocks noChangeArrowheads="1"/>
          </p:cNvSpPr>
          <p:nvPr/>
        </p:nvSpPr>
        <p:spPr bwMode="auto">
          <a:xfrm>
            <a:off x="5370513" y="3160529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/>
          <p:cNvSpPr>
            <a:spLocks noChangeArrowheads="1"/>
          </p:cNvSpPr>
          <p:nvPr/>
        </p:nvSpPr>
        <p:spPr bwMode="auto">
          <a:xfrm>
            <a:off x="6234113" y="296367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/>
          <p:cNvSpPr txBox="1">
            <a:spLocks noChangeArrowheads="1"/>
          </p:cNvSpPr>
          <p:nvPr/>
        </p:nvSpPr>
        <p:spPr bwMode="auto">
          <a:xfrm>
            <a:off x="3621088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/>
          <p:cNvSpPr txBox="1">
            <a:spLocks noChangeArrowheads="1"/>
          </p:cNvSpPr>
          <p:nvPr/>
        </p:nvSpPr>
        <p:spPr bwMode="auto">
          <a:xfrm>
            <a:off x="4475163" y="4586103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/>
          <p:cNvSpPr txBox="1">
            <a:spLocks noChangeArrowheads="1"/>
          </p:cNvSpPr>
          <p:nvPr/>
        </p:nvSpPr>
        <p:spPr bwMode="auto">
          <a:xfrm>
            <a:off x="53562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/>
          <p:cNvSpPr txBox="1">
            <a:spLocks noChangeArrowheads="1"/>
          </p:cNvSpPr>
          <p:nvPr/>
        </p:nvSpPr>
        <p:spPr bwMode="auto">
          <a:xfrm>
            <a:off x="6219826" y="458610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/>
          <p:cNvGrpSpPr>
            <a:grpSpLocks/>
          </p:cNvGrpSpPr>
          <p:nvPr/>
        </p:nvGrpSpPr>
        <p:grpSpPr bwMode="auto">
          <a:xfrm>
            <a:off x="6232525" y="2423929"/>
            <a:ext cx="609600" cy="1068387"/>
            <a:chOff x="3511" y="2056"/>
            <a:chExt cx="342" cy="1051"/>
          </a:xfrm>
        </p:grpSpPr>
        <p:sp>
          <p:nvSpPr>
            <p:cNvPr id="1284120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/>
          <p:cNvGrpSpPr>
            <a:grpSpLocks/>
          </p:cNvGrpSpPr>
          <p:nvPr/>
        </p:nvGrpSpPr>
        <p:grpSpPr bwMode="auto">
          <a:xfrm>
            <a:off x="5367339" y="2854141"/>
            <a:ext cx="714375" cy="630237"/>
            <a:chOff x="3511" y="2056"/>
            <a:chExt cx="342" cy="1051"/>
          </a:xfrm>
        </p:grpSpPr>
        <p:sp>
          <p:nvSpPr>
            <p:cNvPr id="1284125" name="Line 2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/>
          <p:cNvGrpSpPr>
            <a:grpSpLocks/>
          </p:cNvGrpSpPr>
          <p:nvPr/>
        </p:nvGrpSpPr>
        <p:grpSpPr bwMode="auto">
          <a:xfrm>
            <a:off x="3635376" y="3173229"/>
            <a:ext cx="581025" cy="896937"/>
            <a:chOff x="3511" y="2056"/>
            <a:chExt cx="342" cy="1051"/>
          </a:xfrm>
        </p:grpSpPr>
        <p:sp>
          <p:nvSpPr>
            <p:cNvPr id="1284130" name="Line 47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/>
          <p:cNvGrpSpPr>
            <a:grpSpLocks/>
          </p:cNvGrpSpPr>
          <p:nvPr/>
        </p:nvGrpSpPr>
        <p:grpSpPr bwMode="auto">
          <a:xfrm>
            <a:off x="4505326" y="2204853"/>
            <a:ext cx="276225" cy="2316162"/>
            <a:chOff x="3511" y="2056"/>
            <a:chExt cx="342" cy="1051"/>
          </a:xfrm>
        </p:grpSpPr>
        <p:sp>
          <p:nvSpPr>
            <p:cNvPr id="1284135" name="Line 52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/>
          <p:cNvSpPr>
            <a:spLocks noChangeArrowheads="1"/>
          </p:cNvSpPr>
          <p:nvPr/>
        </p:nvSpPr>
        <p:spPr bwMode="auto">
          <a:xfrm>
            <a:off x="7964549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/>
          <p:cNvSpPr txBox="1">
            <a:spLocks noChangeArrowheads="1"/>
          </p:cNvSpPr>
          <p:nvPr/>
        </p:nvSpPr>
        <p:spPr bwMode="auto">
          <a:xfrm>
            <a:off x="7950262" y="459102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/>
          <p:cNvSpPr>
            <a:spLocks noChangeArrowheads="1"/>
          </p:cNvSpPr>
          <p:nvPr/>
        </p:nvSpPr>
        <p:spPr bwMode="auto">
          <a:xfrm>
            <a:off x="8823229" y="3088631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/>
          <p:cNvSpPr txBox="1">
            <a:spLocks noChangeArrowheads="1"/>
          </p:cNvSpPr>
          <p:nvPr/>
        </p:nvSpPr>
        <p:spPr bwMode="auto">
          <a:xfrm>
            <a:off x="8816879" y="4563417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/>
          <p:cNvGrpSpPr>
            <a:grpSpLocks/>
          </p:cNvGrpSpPr>
          <p:nvPr/>
        </p:nvGrpSpPr>
        <p:grpSpPr bwMode="auto">
          <a:xfrm>
            <a:off x="8823229" y="2264718"/>
            <a:ext cx="400050" cy="1668463"/>
            <a:chOff x="3511" y="2056"/>
            <a:chExt cx="342" cy="1051"/>
          </a:xfrm>
        </p:grpSpPr>
        <p:sp>
          <p:nvSpPr>
            <p:cNvPr id="94" name="Line 1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98" name="Oval 40"/>
          <p:cNvSpPr>
            <a:spLocks noChangeArrowheads="1"/>
          </p:cNvSpPr>
          <p:nvPr/>
        </p:nvSpPr>
        <p:spPr bwMode="auto">
          <a:xfrm>
            <a:off x="8778779" y="2458392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99" name="Group 15"/>
          <p:cNvGrpSpPr>
            <a:grpSpLocks/>
          </p:cNvGrpSpPr>
          <p:nvPr/>
        </p:nvGrpSpPr>
        <p:grpSpPr bwMode="auto">
          <a:xfrm>
            <a:off x="8824816" y="1990081"/>
            <a:ext cx="400050" cy="1296987"/>
            <a:chOff x="3511" y="2056"/>
            <a:chExt cx="342" cy="1051"/>
          </a:xfrm>
        </p:grpSpPr>
        <p:sp>
          <p:nvSpPr>
            <p:cNvPr id="100" name="Line 1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02" name="Freeform 1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03" name="Freeform 1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 bwMode="auto">
          <a:xfrm>
            <a:off x="3028335" y="4615599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9002662">
            <a:off x="2929670" y="4931806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/>
          <p:cNvSpPr txBox="1"/>
          <p:nvPr/>
        </p:nvSpPr>
        <p:spPr>
          <a:xfrm rot="19002662">
            <a:off x="3879261" y="4907230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80" name="TextBox 79"/>
          <p:cNvSpPr txBox="1"/>
          <p:nvPr/>
        </p:nvSpPr>
        <p:spPr>
          <a:xfrm rot="19002662">
            <a:off x="4813579" y="487282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/>
          <p:cNvSpPr txBox="1"/>
          <p:nvPr/>
        </p:nvSpPr>
        <p:spPr>
          <a:xfrm rot="19002662">
            <a:off x="7378241" y="4877746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/>
          <p:cNvSpPr>
            <a:spLocks noChangeArrowheads="1"/>
          </p:cNvSpPr>
          <p:nvPr/>
        </p:nvSpPr>
        <p:spPr bwMode="auto">
          <a:xfrm>
            <a:off x="7109165" y="2968598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02662">
            <a:off x="6880835" y="5526658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/>
          <p:cNvGrpSpPr>
            <a:grpSpLocks/>
          </p:cNvGrpSpPr>
          <p:nvPr/>
        </p:nvGrpSpPr>
        <p:grpSpPr bwMode="auto">
          <a:xfrm>
            <a:off x="7962961" y="2414101"/>
            <a:ext cx="609600" cy="1068387"/>
            <a:chOff x="3511" y="2056"/>
            <a:chExt cx="342" cy="1051"/>
          </a:xfrm>
        </p:grpSpPr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0" name="Group 20"/>
          <p:cNvGrpSpPr>
            <a:grpSpLocks/>
          </p:cNvGrpSpPr>
          <p:nvPr/>
        </p:nvGrpSpPr>
        <p:grpSpPr bwMode="auto">
          <a:xfrm>
            <a:off x="7112497" y="2389525"/>
            <a:ext cx="609600" cy="1068387"/>
            <a:chOff x="3511" y="2056"/>
            <a:chExt cx="342" cy="1051"/>
          </a:xfrm>
        </p:grpSpPr>
        <p:sp>
          <p:nvSpPr>
            <p:cNvPr id="12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627438" y="2079199"/>
            <a:ext cx="4937186" cy="1929055"/>
            <a:chOff x="2103438" y="1868187"/>
            <a:chExt cx="4937186" cy="1929055"/>
          </a:xfrm>
        </p:grpSpPr>
        <p:grpSp>
          <p:nvGrpSpPr>
            <p:cNvPr id="1284145" name="Group 20"/>
            <p:cNvGrpSpPr>
              <a:grpSpLocks/>
            </p:cNvGrpSpPr>
            <p:nvPr/>
          </p:nvGrpSpPr>
          <p:grpSpPr bwMode="auto">
            <a:xfrm>
              <a:off x="4700525" y="1946834"/>
              <a:ext cx="634548" cy="1031694"/>
              <a:chOff x="3511" y="2056"/>
              <a:chExt cx="356" cy="1311"/>
            </a:xfrm>
          </p:grpSpPr>
          <p:sp>
            <p:nvSpPr>
              <p:cNvPr id="1284146" name="Line 21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47" name="Group 22"/>
              <p:cNvGrpSpPr>
                <a:grpSpLocks/>
              </p:cNvGrpSpPr>
              <p:nvPr/>
            </p:nvGrpSpPr>
            <p:grpSpPr bwMode="auto">
              <a:xfrm rot="5400000">
                <a:off x="3177" y="2677"/>
                <a:ext cx="1042" cy="338"/>
                <a:chOff x="2646" y="800"/>
                <a:chExt cx="1656" cy="376"/>
              </a:xfrm>
            </p:grpSpPr>
            <p:sp>
              <p:nvSpPr>
                <p:cNvPr id="1284148" name="Freeform 23"/>
                <p:cNvSpPr>
                  <a:spLocks/>
                </p:cNvSpPr>
                <p:nvPr/>
              </p:nvSpPr>
              <p:spPr bwMode="auto">
                <a:xfrm>
                  <a:off x="347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49" name="Freeform 24"/>
                <p:cNvSpPr>
                  <a:spLocks/>
                </p:cNvSpPr>
                <p:nvPr/>
              </p:nvSpPr>
              <p:spPr bwMode="auto">
                <a:xfrm flipH="1">
                  <a:off x="264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50" name="Group 25"/>
            <p:cNvGrpSpPr>
              <a:grpSpLocks/>
            </p:cNvGrpSpPr>
            <p:nvPr/>
          </p:nvGrpSpPr>
          <p:grpSpPr bwMode="auto">
            <a:xfrm>
              <a:off x="3835409" y="2497079"/>
              <a:ext cx="722731" cy="545707"/>
              <a:chOff x="3511" y="2056"/>
              <a:chExt cx="346" cy="1173"/>
            </a:xfrm>
          </p:grpSpPr>
          <p:sp>
            <p:nvSpPr>
              <p:cNvPr id="1284151" name="Line 26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52" name="Group 27"/>
              <p:cNvGrpSpPr>
                <a:grpSpLocks/>
              </p:cNvGrpSpPr>
              <p:nvPr/>
            </p:nvGrpSpPr>
            <p:grpSpPr bwMode="auto">
              <a:xfrm rot="5400000">
                <a:off x="3167" y="2539"/>
                <a:ext cx="1042" cy="338"/>
                <a:chOff x="2426" y="800"/>
                <a:chExt cx="1656" cy="376"/>
              </a:xfrm>
            </p:grpSpPr>
            <p:sp>
              <p:nvSpPr>
                <p:cNvPr id="1284153" name="Freeform 28"/>
                <p:cNvSpPr>
                  <a:spLocks/>
                </p:cNvSpPr>
                <p:nvPr/>
              </p:nvSpPr>
              <p:spPr bwMode="auto">
                <a:xfrm>
                  <a:off x="32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54" name="Freeform 29"/>
                <p:cNvSpPr>
                  <a:spLocks/>
                </p:cNvSpPr>
                <p:nvPr/>
              </p:nvSpPr>
              <p:spPr bwMode="auto">
                <a:xfrm flipH="1">
                  <a:off x="24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55" name="Group 46"/>
            <p:cNvGrpSpPr>
              <a:grpSpLocks/>
            </p:cNvGrpSpPr>
            <p:nvPr/>
          </p:nvGrpSpPr>
          <p:grpSpPr bwMode="auto">
            <a:xfrm>
              <a:off x="2103438" y="2944754"/>
              <a:ext cx="581025" cy="693738"/>
              <a:chOff x="3511" y="2056"/>
              <a:chExt cx="342" cy="1051"/>
            </a:xfrm>
          </p:grpSpPr>
          <p:sp>
            <p:nvSpPr>
              <p:cNvPr id="1284156" name="Line 47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57" name="Group 48"/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4158" name="Freeform 49"/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59" name="Freeform 50"/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84160" name="Group 51"/>
            <p:cNvGrpSpPr>
              <a:grpSpLocks/>
            </p:cNvGrpSpPr>
            <p:nvPr/>
          </p:nvGrpSpPr>
          <p:grpSpPr bwMode="auto">
            <a:xfrm>
              <a:off x="2973388" y="2004954"/>
              <a:ext cx="276225" cy="1792288"/>
              <a:chOff x="3511" y="2056"/>
              <a:chExt cx="342" cy="1051"/>
            </a:xfrm>
          </p:grpSpPr>
          <p:sp>
            <p:nvSpPr>
              <p:cNvPr id="1284161" name="Line 52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84162" name="Group 53"/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4163" name="Freeform 54"/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84164" name="Freeform 55"/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15" name="Group 20"/>
            <p:cNvGrpSpPr>
              <a:grpSpLocks/>
            </p:cNvGrpSpPr>
            <p:nvPr/>
          </p:nvGrpSpPr>
          <p:grpSpPr bwMode="auto">
            <a:xfrm>
              <a:off x="6431024" y="1878015"/>
              <a:ext cx="609600" cy="827088"/>
              <a:chOff x="3511" y="2056"/>
              <a:chExt cx="342" cy="1051"/>
            </a:xfrm>
          </p:grpSpPr>
          <p:sp>
            <p:nvSpPr>
              <p:cNvPr id="116" name="Line 21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7" name="Group 22"/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18" name="Freeform 23"/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19" name="Freeform 24"/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125" name="Group 20"/>
            <p:cNvGrpSpPr>
              <a:grpSpLocks/>
            </p:cNvGrpSpPr>
            <p:nvPr/>
          </p:nvGrpSpPr>
          <p:grpSpPr bwMode="auto">
            <a:xfrm>
              <a:off x="5580560" y="1868187"/>
              <a:ext cx="609600" cy="827088"/>
              <a:chOff x="3511" y="2056"/>
              <a:chExt cx="342" cy="1051"/>
            </a:xfrm>
          </p:grpSpPr>
          <p:sp>
            <p:nvSpPr>
              <p:cNvPr id="126" name="Line 21"/>
              <p:cNvSpPr>
                <a:spLocks noChangeShapeType="1"/>
              </p:cNvSpPr>
              <p:nvPr/>
            </p:nvSpPr>
            <p:spPr bwMode="auto">
              <a:xfrm rot="-5400000">
                <a:off x="2985" y="2582"/>
                <a:ext cx="10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7" name="Group 22"/>
              <p:cNvGrpSpPr>
                <a:grpSpLocks/>
              </p:cNvGrpSpPr>
              <p:nvPr/>
            </p:nvGrpSpPr>
            <p:grpSpPr bwMode="auto">
              <a:xfrm rot="5400000">
                <a:off x="3163" y="2411"/>
                <a:ext cx="1042" cy="338"/>
                <a:chOff x="2226" y="800"/>
                <a:chExt cx="1656" cy="376"/>
              </a:xfrm>
            </p:grpSpPr>
            <p:sp>
              <p:nvSpPr>
                <p:cNvPr id="128" name="Freeform 23"/>
                <p:cNvSpPr>
                  <a:spLocks/>
                </p:cNvSpPr>
                <p:nvPr/>
              </p:nvSpPr>
              <p:spPr bwMode="auto">
                <a:xfrm>
                  <a:off x="3054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  <p:sp>
              <p:nvSpPr>
                <p:cNvPr id="129" name="Freeform 24"/>
                <p:cNvSpPr>
                  <a:spLocks/>
                </p:cNvSpPr>
                <p:nvPr/>
              </p:nvSpPr>
              <p:spPr bwMode="auto">
                <a:xfrm flipH="1">
                  <a:off x="2226" y="800"/>
                  <a:ext cx="828" cy="376"/>
                </a:xfrm>
                <a:custGeom>
                  <a:avLst/>
                  <a:gdLst>
                    <a:gd name="T0" fmla="*/ 0 w 828"/>
                    <a:gd name="T1" fmla="*/ 4 h 376"/>
                    <a:gd name="T2" fmla="*/ 132 w 828"/>
                    <a:gd name="T3" fmla="*/ 16 h 376"/>
                    <a:gd name="T4" fmla="*/ 276 w 828"/>
                    <a:gd name="T5" fmla="*/ 100 h 376"/>
                    <a:gd name="T6" fmla="*/ 372 w 828"/>
                    <a:gd name="T7" fmla="*/ 220 h 376"/>
                    <a:gd name="T8" fmla="*/ 540 w 828"/>
                    <a:gd name="T9" fmla="*/ 328 h 376"/>
                    <a:gd name="T10" fmla="*/ 684 w 828"/>
                    <a:gd name="T11" fmla="*/ 364 h 376"/>
                    <a:gd name="T12" fmla="*/ 828 w 828"/>
                    <a:gd name="T13" fmla="*/ 376 h 37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8"/>
                    <a:gd name="T22" fmla="*/ 0 h 376"/>
                    <a:gd name="T23" fmla="*/ 828 w 828"/>
                    <a:gd name="T24" fmla="*/ 376 h 37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8" h="376">
                      <a:moveTo>
                        <a:pt x="0" y="4"/>
                      </a:moveTo>
                      <a:cubicBezTo>
                        <a:pt x="43" y="2"/>
                        <a:pt x="86" y="0"/>
                        <a:pt x="132" y="16"/>
                      </a:cubicBezTo>
                      <a:cubicBezTo>
                        <a:pt x="178" y="32"/>
                        <a:pt x="236" y="66"/>
                        <a:pt x="276" y="100"/>
                      </a:cubicBezTo>
                      <a:cubicBezTo>
                        <a:pt x="316" y="134"/>
                        <a:pt x="328" y="182"/>
                        <a:pt x="372" y="220"/>
                      </a:cubicBezTo>
                      <a:cubicBezTo>
                        <a:pt x="416" y="258"/>
                        <a:pt x="488" y="304"/>
                        <a:pt x="540" y="328"/>
                      </a:cubicBezTo>
                      <a:cubicBezTo>
                        <a:pt x="592" y="352"/>
                        <a:pt x="636" y="356"/>
                        <a:pt x="684" y="364"/>
                      </a:cubicBezTo>
                      <a:cubicBezTo>
                        <a:pt x="732" y="372"/>
                        <a:pt x="780" y="374"/>
                        <a:pt x="828" y="37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vert="eaVert"/>
                <a:lstStyle/>
                <a:p>
                  <a:pPr eaLnBrk="0" hangingPunct="0"/>
                  <a:endParaRPr lang="en-US" sz="2400">
                    <a:latin typeface="Times New Roman" pitchFamily="18" charset="0"/>
                  </a:endParaRPr>
                </a:p>
              </p:txBody>
            </p:sp>
          </p:grpSp>
        </p:grpSp>
      </p:grpSp>
      <p:sp>
        <p:nvSpPr>
          <p:cNvPr id="130" name="TextBox 129"/>
          <p:cNvSpPr txBox="1"/>
          <p:nvPr/>
        </p:nvSpPr>
        <p:spPr>
          <a:xfrm rot="19002662">
            <a:off x="6577999" y="486299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sp>
        <p:nvSpPr>
          <p:cNvPr id="104" name="TextBox 103"/>
          <p:cNvSpPr txBox="1"/>
          <p:nvPr/>
        </p:nvSpPr>
        <p:spPr>
          <a:xfrm rot="19002662">
            <a:off x="4110976" y="5577916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E7A6BBB-0B34-13DF-C837-0C63382436B2}"/>
              </a:ext>
            </a:extLst>
          </p:cNvPr>
          <p:cNvSpPr txBox="1">
            <a:spLocks noChangeArrowheads="1"/>
          </p:cNvSpPr>
          <p:nvPr/>
        </p:nvSpPr>
        <p:spPr>
          <a:xfrm>
            <a:off x="625510" y="1122692"/>
            <a:ext cx="9737690" cy="38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2400" dirty="0">
                <a:latin typeface="Raleway" pitchFamily="2" charset="0"/>
              </a:rPr>
              <a:t>Correlated beliefs: Testing one product teaches us about other products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D6655-67E2-9B87-0BE7-BAB5A26389A6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8C402-328E-E0DB-458B-0DDEECB9AD73}"/>
              </a:ext>
            </a:extLst>
          </p:cNvPr>
          <p:cNvSpPr txBox="1"/>
          <p:nvPr/>
        </p:nvSpPr>
        <p:spPr>
          <a:xfrm rot="18791278">
            <a:off x="2901791" y="490906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A476D-6D3D-AB31-4129-A0F8F7A82E76}"/>
              </a:ext>
            </a:extLst>
          </p:cNvPr>
          <p:cNvSpPr txBox="1"/>
          <p:nvPr/>
        </p:nvSpPr>
        <p:spPr>
          <a:xfrm rot="18791278">
            <a:off x="3745751" y="491546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A6130-1252-E018-1DE3-D2F610ECB2AA}"/>
              </a:ext>
            </a:extLst>
          </p:cNvPr>
          <p:cNvSpPr txBox="1"/>
          <p:nvPr/>
        </p:nvSpPr>
        <p:spPr>
          <a:xfrm rot="18791278">
            <a:off x="4599947" y="492314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7E108-53D9-49E1-2C71-46D1F5BFB8E0}"/>
              </a:ext>
            </a:extLst>
          </p:cNvPr>
          <p:cNvSpPr txBox="1"/>
          <p:nvPr/>
        </p:nvSpPr>
        <p:spPr>
          <a:xfrm rot="18791278">
            <a:off x="5475923" y="491546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E765D-827D-33C8-B5AD-218BB51704FA}"/>
              </a:ext>
            </a:extLst>
          </p:cNvPr>
          <p:cNvSpPr txBox="1"/>
          <p:nvPr/>
        </p:nvSpPr>
        <p:spPr>
          <a:xfrm rot="18791278">
            <a:off x="6327157" y="492078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3F01D-E4AD-2726-7B52-4C89391F6175}"/>
              </a:ext>
            </a:extLst>
          </p:cNvPr>
          <p:cNvSpPr txBox="1"/>
          <p:nvPr/>
        </p:nvSpPr>
        <p:spPr>
          <a:xfrm rot="18791278">
            <a:off x="7193315" y="49295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14964-4AB9-2B4D-2C0A-255E0A90540A}"/>
              </a:ext>
            </a:extLst>
          </p:cNvPr>
          <p:cNvSpPr txBox="1"/>
          <p:nvPr/>
        </p:nvSpPr>
        <p:spPr>
          <a:xfrm rot="18791278">
            <a:off x="8064143" y="492058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G</a:t>
            </a:r>
          </a:p>
        </p:txBody>
      </p:sp>
    </p:spTree>
    <p:extLst>
      <p:ext uri="{BB962C8B-B14F-4D97-AF65-F5344CB8AC3E}">
        <p14:creationId xmlns:p14="http://schemas.microsoft.com/office/powerpoint/2010/main" val="246107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Policies for choosing which product to promote:</a:t>
            </a:r>
          </a:p>
          <a:p>
            <a:pPr lvl="1"/>
            <a:r>
              <a:rPr lang="en-US" dirty="0"/>
              <a:t>Upper confidence bounding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Interval estimation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Thompson sampling</a:t>
            </a:r>
          </a:p>
          <a:p>
            <a:pPr lvl="2"/>
            <a:endParaRPr lang="en-US" sz="1600" dirty="0"/>
          </a:p>
          <a:p>
            <a:pPr lvl="2"/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02000" y="2100516"/>
          <a:ext cx="5178854" cy="9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507960" progId="Equation.DSMT4">
                  <p:embed/>
                </p:oleObj>
              </mc:Choice>
              <mc:Fallback>
                <p:oleObj name="Equation" r:id="rId2" imgW="2882880" imgH="50796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100516"/>
                        <a:ext cx="5178854" cy="9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3359946" y="3683460"/>
            <a:ext cx="6622255" cy="903809"/>
            <a:chOff x="2674938" y="5174297"/>
            <a:chExt cx="6622255" cy="903809"/>
          </a:xfrm>
        </p:grpSpPr>
        <p:graphicFrame>
          <p:nvGraphicFramePr>
            <p:cNvPr id="7" name="Object 9"/>
            <p:cNvGraphicFramePr>
              <a:graphicFrameLocks noChangeAspect="1"/>
            </p:cNvGraphicFramePr>
            <p:nvPr/>
          </p:nvGraphicFramePr>
          <p:xfrm>
            <a:off x="5433218" y="5174297"/>
            <a:ext cx="3863975" cy="463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36760" imgH="279360" progId="Equation.DSMT4">
                    <p:embed/>
                  </p:oleObj>
                </mc:Choice>
                <mc:Fallback>
                  <p:oleObj name="Equation" r:id="rId4" imgW="2336760" imgH="279360" progId="Equation.DSMT4">
                    <p:embed/>
                    <p:pic>
                      <p:nvPicPr>
                        <p:cNvPr id="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3218" y="5174297"/>
                          <a:ext cx="3863975" cy="4630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2674938" y="5742641"/>
              <a:ext cx="2547937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12"/>
            <p:cNvGrpSpPr>
              <a:grpSpLocks/>
            </p:cNvGrpSpPr>
            <p:nvPr/>
          </p:nvGrpSpPr>
          <p:grpSpPr bwMode="auto">
            <a:xfrm>
              <a:off x="2771775" y="5234641"/>
              <a:ext cx="2073275" cy="504825"/>
              <a:chOff x="810" y="2354"/>
              <a:chExt cx="3268" cy="1116"/>
            </a:xfrm>
          </p:grpSpPr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810" y="2354"/>
                <a:ext cx="1641" cy="1115"/>
              </a:xfrm>
              <a:custGeom>
                <a:avLst/>
                <a:gdLst>
                  <a:gd name="T0" fmla="*/ 0 w 1641"/>
                  <a:gd name="T1" fmla="*/ 1115 h 1115"/>
                  <a:gd name="T2" fmla="*/ 352 w 1641"/>
                  <a:gd name="T3" fmla="*/ 1083 h 1115"/>
                  <a:gd name="T4" fmla="*/ 664 w 1641"/>
                  <a:gd name="T5" fmla="*/ 1003 h 1115"/>
                  <a:gd name="T6" fmla="*/ 944 w 1641"/>
                  <a:gd name="T7" fmla="*/ 779 h 1115"/>
                  <a:gd name="T8" fmla="*/ 1160 w 1641"/>
                  <a:gd name="T9" fmla="*/ 475 h 1115"/>
                  <a:gd name="T10" fmla="*/ 1296 w 1641"/>
                  <a:gd name="T11" fmla="*/ 243 h 1115"/>
                  <a:gd name="T12" fmla="*/ 1432 w 1641"/>
                  <a:gd name="T13" fmla="*/ 67 h 1115"/>
                  <a:gd name="T14" fmla="*/ 1569 w 1641"/>
                  <a:gd name="T15" fmla="*/ 10 h 1115"/>
                  <a:gd name="T16" fmla="*/ 1641 w 1641"/>
                  <a:gd name="T17" fmla="*/ 4 h 1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1"/>
                  <a:gd name="T28" fmla="*/ 0 h 1115"/>
                  <a:gd name="T29" fmla="*/ 1641 w 1641"/>
                  <a:gd name="T30" fmla="*/ 1115 h 11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1" h="1115">
                    <a:moveTo>
                      <a:pt x="0" y="1115"/>
                    </a:moveTo>
                    <a:cubicBezTo>
                      <a:pt x="120" y="1108"/>
                      <a:pt x="241" y="1102"/>
                      <a:pt x="352" y="1083"/>
                    </a:cubicBezTo>
                    <a:cubicBezTo>
                      <a:pt x="463" y="1064"/>
                      <a:pt x="565" y="1054"/>
                      <a:pt x="664" y="1003"/>
                    </a:cubicBezTo>
                    <a:cubicBezTo>
                      <a:pt x="763" y="952"/>
                      <a:pt x="861" y="867"/>
                      <a:pt x="944" y="779"/>
                    </a:cubicBezTo>
                    <a:cubicBezTo>
                      <a:pt x="1027" y="691"/>
                      <a:pt x="1101" y="564"/>
                      <a:pt x="1160" y="475"/>
                    </a:cubicBezTo>
                    <a:cubicBezTo>
                      <a:pt x="1219" y="386"/>
                      <a:pt x="1251" y="311"/>
                      <a:pt x="1296" y="243"/>
                    </a:cubicBezTo>
                    <a:cubicBezTo>
                      <a:pt x="1341" y="175"/>
                      <a:pt x="1387" y="106"/>
                      <a:pt x="1432" y="67"/>
                    </a:cubicBezTo>
                    <a:cubicBezTo>
                      <a:pt x="1477" y="28"/>
                      <a:pt x="1534" y="20"/>
                      <a:pt x="1569" y="10"/>
                    </a:cubicBezTo>
                    <a:cubicBezTo>
                      <a:pt x="1604" y="0"/>
                      <a:pt x="1626" y="5"/>
                      <a:pt x="1641" y="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 flipH="1">
                <a:off x="2437" y="2355"/>
                <a:ext cx="1641" cy="1115"/>
              </a:xfrm>
              <a:custGeom>
                <a:avLst/>
                <a:gdLst>
                  <a:gd name="T0" fmla="*/ 0 w 1641"/>
                  <a:gd name="T1" fmla="*/ 1115 h 1115"/>
                  <a:gd name="T2" fmla="*/ 352 w 1641"/>
                  <a:gd name="T3" fmla="*/ 1083 h 1115"/>
                  <a:gd name="T4" fmla="*/ 664 w 1641"/>
                  <a:gd name="T5" fmla="*/ 1003 h 1115"/>
                  <a:gd name="T6" fmla="*/ 944 w 1641"/>
                  <a:gd name="T7" fmla="*/ 779 h 1115"/>
                  <a:gd name="T8" fmla="*/ 1160 w 1641"/>
                  <a:gd name="T9" fmla="*/ 475 h 1115"/>
                  <a:gd name="T10" fmla="*/ 1296 w 1641"/>
                  <a:gd name="T11" fmla="*/ 243 h 1115"/>
                  <a:gd name="T12" fmla="*/ 1432 w 1641"/>
                  <a:gd name="T13" fmla="*/ 67 h 1115"/>
                  <a:gd name="T14" fmla="*/ 1569 w 1641"/>
                  <a:gd name="T15" fmla="*/ 10 h 1115"/>
                  <a:gd name="T16" fmla="*/ 1641 w 1641"/>
                  <a:gd name="T17" fmla="*/ 4 h 11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41"/>
                  <a:gd name="T28" fmla="*/ 0 h 1115"/>
                  <a:gd name="T29" fmla="*/ 1641 w 1641"/>
                  <a:gd name="T30" fmla="*/ 1115 h 11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41" h="1115">
                    <a:moveTo>
                      <a:pt x="0" y="1115"/>
                    </a:moveTo>
                    <a:cubicBezTo>
                      <a:pt x="120" y="1108"/>
                      <a:pt x="241" y="1102"/>
                      <a:pt x="352" y="1083"/>
                    </a:cubicBezTo>
                    <a:cubicBezTo>
                      <a:pt x="463" y="1064"/>
                      <a:pt x="565" y="1054"/>
                      <a:pt x="664" y="1003"/>
                    </a:cubicBezTo>
                    <a:cubicBezTo>
                      <a:pt x="763" y="952"/>
                      <a:pt x="861" y="867"/>
                      <a:pt x="944" y="779"/>
                    </a:cubicBezTo>
                    <a:cubicBezTo>
                      <a:pt x="1027" y="691"/>
                      <a:pt x="1101" y="564"/>
                      <a:pt x="1160" y="475"/>
                    </a:cubicBezTo>
                    <a:cubicBezTo>
                      <a:pt x="1219" y="386"/>
                      <a:pt x="1251" y="311"/>
                      <a:pt x="1296" y="243"/>
                    </a:cubicBezTo>
                    <a:cubicBezTo>
                      <a:pt x="1341" y="175"/>
                      <a:pt x="1387" y="106"/>
                      <a:pt x="1432" y="67"/>
                    </a:cubicBezTo>
                    <a:cubicBezTo>
                      <a:pt x="1477" y="28"/>
                      <a:pt x="1534" y="20"/>
                      <a:pt x="1569" y="10"/>
                    </a:cubicBezTo>
                    <a:cubicBezTo>
                      <a:pt x="1604" y="0"/>
                      <a:pt x="1626" y="5"/>
                      <a:pt x="1641" y="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0" name="Object 15"/>
            <p:cNvGraphicFramePr>
              <a:graphicFrameLocks noChangeAspect="1"/>
            </p:cNvGraphicFramePr>
            <p:nvPr/>
          </p:nvGraphicFramePr>
          <p:xfrm>
            <a:off x="3662423" y="5706631"/>
            <a:ext cx="3302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040" imgH="228600" progId="Equation.DSMT4">
                    <p:embed/>
                  </p:oleObj>
                </mc:Choice>
                <mc:Fallback>
                  <p:oleObj name="Equation" r:id="rId6" imgW="203040" imgH="228600" progId="Equation.DSMT4">
                    <p:embed/>
                    <p:pic>
                      <p:nvPicPr>
                        <p:cNvPr id="1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423" y="5706631"/>
                          <a:ext cx="330200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3800475" y="5583891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3800475" y="5183841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" name="Object 19"/>
            <p:cNvGraphicFramePr>
              <a:graphicFrameLocks noChangeAspect="1"/>
            </p:cNvGraphicFramePr>
            <p:nvPr/>
          </p:nvGraphicFramePr>
          <p:xfrm>
            <a:off x="3914775" y="5272741"/>
            <a:ext cx="4286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751" imgH="241195" progId="Equation.DSMT4">
                    <p:embed/>
                  </p:oleObj>
                </mc:Choice>
                <mc:Fallback>
                  <p:oleObj name="Equation" r:id="rId8" imgW="342751" imgH="241195" progId="Equation.DSMT4">
                    <p:embed/>
                    <p:pic>
                      <p:nvPicPr>
                        <p:cNvPr id="1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4775" y="5272741"/>
                          <a:ext cx="428625" cy="3016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lg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4478338" y="5204479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Rectangle 3"/>
          <p:cNvSpPr/>
          <p:nvPr/>
        </p:nvSpPr>
        <p:spPr>
          <a:xfrm>
            <a:off x="1226774" y="3044214"/>
            <a:ext cx="9280590" cy="165135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46102" y="5486514"/>
                <a:ext cx="5391028" cy="428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i="0" dirty="0"/>
                  <a:t>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02" y="5486514"/>
                <a:ext cx="5391028" cy="428131"/>
              </a:xfrm>
              <a:prstGeom prst="rect">
                <a:avLst/>
              </a:prstGeom>
              <a:blipFill>
                <a:blip r:embed="rId11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D17FAD02-DE26-ACE7-9E46-EF62CFDF8F3E}"/>
              </a:ext>
            </a:extLst>
          </p:cNvPr>
          <p:cNvSpPr/>
          <p:nvPr/>
        </p:nvSpPr>
        <p:spPr>
          <a:xfrm>
            <a:off x="7694528" y="3700789"/>
            <a:ext cx="896222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A10AAA-3368-8ED5-D6B4-9FE44799B278}"/>
              </a:ext>
            </a:extLst>
          </p:cNvPr>
          <p:cNvSpPr/>
          <p:nvPr/>
        </p:nvSpPr>
        <p:spPr>
          <a:xfrm>
            <a:off x="5263562" y="2337410"/>
            <a:ext cx="1029661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832E4F-5BED-454E-999A-729F2D17FBB1}"/>
              </a:ext>
            </a:extLst>
          </p:cNvPr>
          <p:cNvSpPr/>
          <p:nvPr/>
        </p:nvSpPr>
        <p:spPr>
          <a:xfrm>
            <a:off x="3726755" y="5538371"/>
            <a:ext cx="1021977" cy="43321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9B7080-2DBE-CE66-1FDE-C66BB4EA0A6E}"/>
              </a:ext>
            </a:extLst>
          </p:cNvPr>
          <p:cNvSpPr/>
          <p:nvPr/>
        </p:nvSpPr>
        <p:spPr>
          <a:xfrm>
            <a:off x="6985810" y="2227347"/>
            <a:ext cx="536859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93B007-C9C5-31DE-5192-897C070A717B}"/>
              </a:ext>
            </a:extLst>
          </p:cNvPr>
          <p:cNvSpPr/>
          <p:nvPr/>
        </p:nvSpPr>
        <p:spPr>
          <a:xfrm>
            <a:off x="9196251" y="3573571"/>
            <a:ext cx="348597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EA83A8-038A-3F00-76BF-449CD589881C}"/>
              </a:ext>
            </a:extLst>
          </p:cNvPr>
          <p:cNvSpPr/>
          <p:nvPr/>
        </p:nvSpPr>
        <p:spPr>
          <a:xfrm>
            <a:off x="7359280" y="5390725"/>
            <a:ext cx="382920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EC072F-9249-DD3C-4EF7-2373D60CCC7C}"/>
              </a:ext>
            </a:extLst>
          </p:cNvPr>
          <p:cNvSpPr/>
          <p:nvPr/>
        </p:nvSpPr>
        <p:spPr>
          <a:xfrm>
            <a:off x="6400799" y="2218383"/>
            <a:ext cx="376519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E404B0-3917-0315-4CFA-CDD6DC4668A2}"/>
              </a:ext>
            </a:extLst>
          </p:cNvPr>
          <p:cNvSpPr/>
          <p:nvPr/>
        </p:nvSpPr>
        <p:spPr>
          <a:xfrm>
            <a:off x="8703196" y="3579975"/>
            <a:ext cx="348596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3A5F07-74B3-7886-DB92-BB78D41D8D80}"/>
              </a:ext>
            </a:extLst>
          </p:cNvPr>
          <p:cNvSpPr/>
          <p:nvPr/>
        </p:nvSpPr>
        <p:spPr>
          <a:xfrm>
            <a:off x="6985810" y="5397129"/>
            <a:ext cx="302404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8430C7-833A-2175-9979-63D45CF3451C}"/>
              </a:ext>
            </a:extLst>
          </p:cNvPr>
          <p:cNvSpPr/>
          <p:nvPr/>
        </p:nvSpPr>
        <p:spPr>
          <a:xfrm>
            <a:off x="7570275" y="2100516"/>
            <a:ext cx="866854" cy="943697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41EFE5-762A-1B09-8555-8F107F90D9B1}"/>
              </a:ext>
            </a:extLst>
          </p:cNvPr>
          <p:cNvSpPr/>
          <p:nvPr/>
        </p:nvSpPr>
        <p:spPr>
          <a:xfrm>
            <a:off x="9579172" y="3587659"/>
            <a:ext cx="264076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5748F0-2E0E-C6C6-9094-E37AFD4DEFFB}"/>
              </a:ext>
            </a:extLst>
          </p:cNvPr>
          <p:cNvSpPr/>
          <p:nvPr/>
        </p:nvSpPr>
        <p:spPr>
          <a:xfrm>
            <a:off x="7742199" y="5404813"/>
            <a:ext cx="533505" cy="642223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4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Slide Number Placeholder 5"/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1284101" name="Line 4"/>
          <p:cNvSpPr>
            <a:spLocks noChangeShapeType="1"/>
          </p:cNvSpPr>
          <p:nvPr/>
        </p:nvSpPr>
        <p:spPr bwMode="auto">
          <a:xfrm>
            <a:off x="3181350" y="4643220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/>
          <p:cNvSpPr>
            <a:spLocks noChangeArrowheads="1"/>
          </p:cNvSpPr>
          <p:nvPr/>
        </p:nvSpPr>
        <p:spPr bwMode="auto">
          <a:xfrm>
            <a:off x="3643313" y="3690721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/>
          <p:cNvSpPr>
            <a:spLocks noChangeArrowheads="1"/>
          </p:cNvSpPr>
          <p:nvPr/>
        </p:nvSpPr>
        <p:spPr bwMode="auto">
          <a:xfrm>
            <a:off x="4506913" y="3428783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/>
          <p:cNvSpPr>
            <a:spLocks noChangeArrowheads="1"/>
          </p:cNvSpPr>
          <p:nvPr/>
        </p:nvSpPr>
        <p:spPr bwMode="auto">
          <a:xfrm>
            <a:off x="5370513" y="3220821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/>
          <p:cNvSpPr>
            <a:spLocks noChangeArrowheads="1"/>
          </p:cNvSpPr>
          <p:nvPr/>
        </p:nvSpPr>
        <p:spPr bwMode="auto">
          <a:xfrm>
            <a:off x="6234113" y="302397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/>
          <p:cNvSpPr txBox="1">
            <a:spLocks noChangeArrowheads="1"/>
          </p:cNvSpPr>
          <p:nvPr/>
        </p:nvSpPr>
        <p:spPr bwMode="auto">
          <a:xfrm>
            <a:off x="3621088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/>
          <p:cNvSpPr txBox="1">
            <a:spLocks noChangeArrowheads="1"/>
          </p:cNvSpPr>
          <p:nvPr/>
        </p:nvSpPr>
        <p:spPr bwMode="auto">
          <a:xfrm>
            <a:off x="4475163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/>
          <p:cNvSpPr txBox="1">
            <a:spLocks noChangeArrowheads="1"/>
          </p:cNvSpPr>
          <p:nvPr/>
        </p:nvSpPr>
        <p:spPr bwMode="auto">
          <a:xfrm>
            <a:off x="53562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/>
          <p:cNvSpPr txBox="1">
            <a:spLocks noChangeArrowheads="1"/>
          </p:cNvSpPr>
          <p:nvPr/>
        </p:nvSpPr>
        <p:spPr bwMode="auto">
          <a:xfrm>
            <a:off x="62198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/>
          <p:cNvGrpSpPr>
            <a:grpSpLocks/>
          </p:cNvGrpSpPr>
          <p:nvPr/>
        </p:nvGrpSpPr>
        <p:grpSpPr bwMode="auto">
          <a:xfrm>
            <a:off x="6232525" y="2484221"/>
            <a:ext cx="609600" cy="1068387"/>
            <a:chOff x="3511" y="2056"/>
            <a:chExt cx="342" cy="1051"/>
          </a:xfrm>
        </p:grpSpPr>
        <p:sp>
          <p:nvSpPr>
            <p:cNvPr id="1284120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/>
          <p:cNvGrpSpPr>
            <a:grpSpLocks/>
          </p:cNvGrpSpPr>
          <p:nvPr/>
        </p:nvGrpSpPr>
        <p:grpSpPr bwMode="auto">
          <a:xfrm>
            <a:off x="5367339" y="2914433"/>
            <a:ext cx="714375" cy="630237"/>
            <a:chOff x="3511" y="2056"/>
            <a:chExt cx="342" cy="1051"/>
          </a:xfrm>
        </p:grpSpPr>
        <p:sp>
          <p:nvSpPr>
            <p:cNvPr id="1284125" name="Line 2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/>
          <p:cNvGrpSpPr>
            <a:grpSpLocks/>
          </p:cNvGrpSpPr>
          <p:nvPr/>
        </p:nvGrpSpPr>
        <p:grpSpPr bwMode="auto">
          <a:xfrm>
            <a:off x="3635376" y="3233521"/>
            <a:ext cx="581025" cy="896937"/>
            <a:chOff x="3511" y="2056"/>
            <a:chExt cx="342" cy="1051"/>
          </a:xfrm>
        </p:grpSpPr>
        <p:sp>
          <p:nvSpPr>
            <p:cNvPr id="1284130" name="Line 47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/>
          <p:cNvGrpSpPr>
            <a:grpSpLocks/>
          </p:cNvGrpSpPr>
          <p:nvPr/>
        </p:nvGrpSpPr>
        <p:grpSpPr bwMode="auto">
          <a:xfrm>
            <a:off x="4505326" y="2265145"/>
            <a:ext cx="276225" cy="2316162"/>
            <a:chOff x="3511" y="2056"/>
            <a:chExt cx="342" cy="1051"/>
          </a:xfrm>
        </p:grpSpPr>
        <p:sp>
          <p:nvSpPr>
            <p:cNvPr id="1284135" name="Line 52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/>
          <p:cNvSpPr>
            <a:spLocks noChangeArrowheads="1"/>
          </p:cNvSpPr>
          <p:nvPr/>
        </p:nvSpPr>
        <p:spPr bwMode="auto">
          <a:xfrm>
            <a:off x="7964549" y="302889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/>
          <p:cNvSpPr txBox="1">
            <a:spLocks noChangeArrowheads="1"/>
          </p:cNvSpPr>
          <p:nvPr/>
        </p:nvSpPr>
        <p:spPr bwMode="auto">
          <a:xfrm>
            <a:off x="7950262" y="465131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/>
          <p:cNvSpPr>
            <a:spLocks noChangeArrowheads="1"/>
          </p:cNvSpPr>
          <p:nvPr/>
        </p:nvSpPr>
        <p:spPr bwMode="auto">
          <a:xfrm>
            <a:off x="8823229" y="3148923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/>
          <p:cNvSpPr txBox="1">
            <a:spLocks noChangeArrowheads="1"/>
          </p:cNvSpPr>
          <p:nvPr/>
        </p:nvSpPr>
        <p:spPr bwMode="auto">
          <a:xfrm>
            <a:off x="8816879" y="462370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/>
          <p:cNvGrpSpPr>
            <a:grpSpLocks/>
          </p:cNvGrpSpPr>
          <p:nvPr/>
        </p:nvGrpSpPr>
        <p:grpSpPr bwMode="auto">
          <a:xfrm>
            <a:off x="8823229" y="2081486"/>
            <a:ext cx="400050" cy="2092856"/>
            <a:chOff x="3511" y="2056"/>
            <a:chExt cx="342" cy="1051"/>
          </a:xfrm>
        </p:grpSpPr>
        <p:sp>
          <p:nvSpPr>
            <p:cNvPr id="94" name="Line 1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 bwMode="auto">
          <a:xfrm>
            <a:off x="3028335" y="4675891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9002662">
            <a:off x="2929670" y="4992098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/>
          <p:cNvSpPr txBox="1"/>
          <p:nvPr/>
        </p:nvSpPr>
        <p:spPr>
          <a:xfrm rot="19002662">
            <a:off x="3879261" y="496752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/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/>
          <p:cNvSpPr txBox="1"/>
          <p:nvPr/>
        </p:nvSpPr>
        <p:spPr>
          <a:xfrm rot="19002662">
            <a:off x="4813579" y="4933118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/>
          <p:cNvSpPr txBox="1"/>
          <p:nvPr/>
        </p:nvSpPr>
        <p:spPr>
          <a:xfrm rot="19002662">
            <a:off x="7378241" y="4938038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6" name="Rectangle 8" descr="Dark upward diagonal"/>
          <p:cNvSpPr>
            <a:spLocks noChangeArrowheads="1"/>
          </p:cNvSpPr>
          <p:nvPr/>
        </p:nvSpPr>
        <p:spPr bwMode="auto">
          <a:xfrm>
            <a:off x="7109165" y="2813538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/>
          <p:cNvGrpSpPr>
            <a:grpSpLocks/>
          </p:cNvGrpSpPr>
          <p:nvPr/>
        </p:nvGrpSpPr>
        <p:grpSpPr bwMode="auto">
          <a:xfrm>
            <a:off x="7962961" y="2474393"/>
            <a:ext cx="609600" cy="1068387"/>
            <a:chOff x="3511" y="2056"/>
            <a:chExt cx="342" cy="1051"/>
          </a:xfrm>
        </p:grpSpPr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/>
          <p:cNvSpPr txBox="1"/>
          <p:nvPr/>
        </p:nvSpPr>
        <p:spPr>
          <a:xfrm rot="19002662">
            <a:off x="6577999" y="4923290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63334" y="2812493"/>
            <a:ext cx="5998846" cy="877547"/>
            <a:chOff x="1939334" y="2541189"/>
            <a:chExt cx="5998846" cy="877547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1939334" y="3418736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Straight Connector 103"/>
            <p:cNvCxnSpPr/>
            <p:nvPr/>
          </p:nvCxnSpPr>
          <p:spPr bwMode="auto">
            <a:xfrm>
              <a:off x="2815210" y="3159153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>
              <a:off x="3731283" y="294980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>
              <a:off x="4617207" y="275052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>
              <a:off x="5462941" y="254118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328772" y="2763928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/>
            <p:nvPr/>
          </p:nvCxnSpPr>
          <p:spPr bwMode="auto">
            <a:xfrm>
              <a:off x="7154408" y="2876140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1" name="Group 20"/>
          <p:cNvGrpSpPr>
            <a:grpSpLocks/>
          </p:cNvGrpSpPr>
          <p:nvPr/>
        </p:nvGrpSpPr>
        <p:grpSpPr bwMode="auto">
          <a:xfrm>
            <a:off x="7112497" y="2293351"/>
            <a:ext cx="609600" cy="1064080"/>
            <a:chOff x="3511" y="2056"/>
            <a:chExt cx="342" cy="1051"/>
          </a:xfrm>
        </p:grpSpPr>
        <p:sp>
          <p:nvSpPr>
            <p:cNvPr id="72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3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74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76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69A35B85-1B72-C447-8D19-4029A1AB7F1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3539" y="1199733"/>
                <a:ext cx="9868993" cy="38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Times New Roman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dirty="0">
                    <a:latin typeface="Raleway" pitchFamily="2" charset="0"/>
                  </a:rPr>
                  <a:t>Picking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 means we are evaluating each choice at the mean.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69A35B85-1B72-C447-8D19-4029A1AB7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9" y="1199733"/>
                <a:ext cx="9868993" cy="389036"/>
              </a:xfrm>
              <a:prstGeom prst="rect">
                <a:avLst/>
              </a:prstGeom>
              <a:blipFill>
                <a:blip r:embed="rId3"/>
                <a:stretch>
                  <a:fillRect r="-1297" b="-2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66C09EFA-5ED4-3F27-C780-3D94B29B9B54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6AE9F4-C94A-883F-BA50-0886A265E24D}"/>
              </a:ext>
            </a:extLst>
          </p:cNvPr>
          <p:cNvSpPr txBox="1"/>
          <p:nvPr/>
        </p:nvSpPr>
        <p:spPr>
          <a:xfrm rot="18791278">
            <a:off x="2901791" y="490906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3C84C9-3513-3AFA-B4C1-AB6FD239D65E}"/>
              </a:ext>
            </a:extLst>
          </p:cNvPr>
          <p:cNvSpPr txBox="1"/>
          <p:nvPr/>
        </p:nvSpPr>
        <p:spPr>
          <a:xfrm rot="18791278">
            <a:off x="3745751" y="491546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86CFB4-145F-289D-6C0C-0DD4AE671E49}"/>
              </a:ext>
            </a:extLst>
          </p:cNvPr>
          <p:cNvSpPr txBox="1"/>
          <p:nvPr/>
        </p:nvSpPr>
        <p:spPr>
          <a:xfrm rot="18791278">
            <a:off x="4599947" y="492314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474F606-E763-FEA1-4B45-A7366EEE286B}"/>
              </a:ext>
            </a:extLst>
          </p:cNvPr>
          <p:cNvSpPr txBox="1"/>
          <p:nvPr/>
        </p:nvSpPr>
        <p:spPr>
          <a:xfrm rot="18791278">
            <a:off x="5475923" y="491546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133A7F-F7C8-1E95-845D-5309D549BDBF}"/>
              </a:ext>
            </a:extLst>
          </p:cNvPr>
          <p:cNvSpPr txBox="1"/>
          <p:nvPr/>
        </p:nvSpPr>
        <p:spPr>
          <a:xfrm rot="18791278">
            <a:off x="6327157" y="492078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313F0A-71D8-3B01-FDC3-73BD50C0FCDE}"/>
              </a:ext>
            </a:extLst>
          </p:cNvPr>
          <p:cNvSpPr txBox="1"/>
          <p:nvPr/>
        </p:nvSpPr>
        <p:spPr>
          <a:xfrm rot="18791278">
            <a:off x="7193315" y="49295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14E38F-0EC7-87A8-C065-FCF499B9A782}"/>
              </a:ext>
            </a:extLst>
          </p:cNvPr>
          <p:cNvSpPr txBox="1"/>
          <p:nvPr/>
        </p:nvSpPr>
        <p:spPr>
          <a:xfrm rot="18791278">
            <a:off x="8064143" y="492058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AFE1C-4324-0664-9184-D34D473A8F79}"/>
              </a:ext>
            </a:extLst>
          </p:cNvPr>
          <p:cNvSpPr/>
          <p:nvPr/>
        </p:nvSpPr>
        <p:spPr>
          <a:xfrm>
            <a:off x="6842126" y="2082482"/>
            <a:ext cx="928583" cy="255664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3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A2B8FD7-4204-9106-3310-B7DDE214428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3543" y="1199733"/>
                <a:ext cx="9929951" cy="38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Times New Roman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 New Roman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en-US" dirty="0">
                    <a:latin typeface="Raleway" pitchFamily="2" charset="0"/>
                  </a:rPr>
                  <a:t>Picking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  <m:r>
                      <a:rPr lang="en-US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 means we are evaluating each choice at the 95</a:t>
                </a:r>
                <a:r>
                  <a:rPr lang="en-US" baseline="30000" dirty="0">
                    <a:latin typeface="Raleway" pitchFamily="2" charset="0"/>
                  </a:rPr>
                  <a:t>th</a:t>
                </a:r>
                <a:r>
                  <a:rPr lang="en-US" dirty="0">
                    <a:latin typeface="Raleway" pitchFamily="2" charset="0"/>
                  </a:rPr>
                  <a:t> percentile.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A2B8FD7-4204-9106-3310-B7DDE2144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43" y="1199733"/>
                <a:ext cx="9929951" cy="389036"/>
              </a:xfrm>
              <a:prstGeom prst="rect">
                <a:avLst/>
              </a:prstGeom>
              <a:blipFill>
                <a:blip r:embed="rId3"/>
                <a:stretch>
                  <a:fillRect r="-675" b="-2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4098" name="Slide Number Placeholder 5"/>
          <p:cNvSpPr txBox="1">
            <a:spLocks noGrp="1"/>
          </p:cNvSpPr>
          <p:nvPr/>
        </p:nvSpPr>
        <p:spPr bwMode="auto">
          <a:xfrm>
            <a:off x="8077200" y="6553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0" hangingPunct="0"/>
            <a:fld id="{7646BDFE-20C8-40E8-A939-72D38791AD93}" type="slidenum">
              <a:rPr lang="en-US">
                <a:latin typeface="Times New Roman" pitchFamily="18" charset="0"/>
              </a:rPr>
              <a:pPr algn="r" eaLnBrk="0" hangingPunct="0"/>
              <a:t>24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28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Cost function approximations</a:t>
            </a:r>
          </a:p>
        </p:txBody>
      </p:sp>
      <p:sp>
        <p:nvSpPr>
          <p:cNvPr id="1284101" name="Line 4"/>
          <p:cNvSpPr>
            <a:spLocks noChangeShapeType="1"/>
          </p:cNvSpPr>
          <p:nvPr/>
        </p:nvSpPr>
        <p:spPr bwMode="auto">
          <a:xfrm>
            <a:off x="3181350" y="4643220"/>
            <a:ext cx="620354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4102" name="Rectangle 5" descr="Dark upward diagonal"/>
          <p:cNvSpPr>
            <a:spLocks noChangeArrowheads="1"/>
          </p:cNvSpPr>
          <p:nvPr/>
        </p:nvSpPr>
        <p:spPr bwMode="auto">
          <a:xfrm>
            <a:off x="3643313" y="3690721"/>
            <a:ext cx="227012" cy="9366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3" name="Rectangle 6" descr="Dark upward diagonal"/>
          <p:cNvSpPr>
            <a:spLocks noChangeArrowheads="1"/>
          </p:cNvSpPr>
          <p:nvPr/>
        </p:nvSpPr>
        <p:spPr bwMode="auto">
          <a:xfrm>
            <a:off x="4506913" y="3428783"/>
            <a:ext cx="227012" cy="1198563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4" name="Rectangle 7" descr="Dark upward diagonal"/>
          <p:cNvSpPr>
            <a:spLocks noChangeArrowheads="1"/>
          </p:cNvSpPr>
          <p:nvPr/>
        </p:nvSpPr>
        <p:spPr bwMode="auto">
          <a:xfrm>
            <a:off x="5370513" y="3220821"/>
            <a:ext cx="227012" cy="140652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5" name="Rectangle 8" descr="Dark upward diagonal"/>
          <p:cNvSpPr>
            <a:spLocks noChangeArrowheads="1"/>
          </p:cNvSpPr>
          <p:nvPr/>
        </p:nvSpPr>
        <p:spPr bwMode="auto">
          <a:xfrm>
            <a:off x="6234113" y="302397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84107" name="Text Box 10"/>
          <p:cNvSpPr txBox="1">
            <a:spLocks noChangeArrowheads="1"/>
          </p:cNvSpPr>
          <p:nvPr/>
        </p:nvSpPr>
        <p:spPr bwMode="auto">
          <a:xfrm>
            <a:off x="3621088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1</a:t>
            </a:r>
          </a:p>
        </p:txBody>
      </p:sp>
      <p:sp>
        <p:nvSpPr>
          <p:cNvPr id="1284108" name="Text Box 11"/>
          <p:cNvSpPr txBox="1">
            <a:spLocks noChangeArrowheads="1"/>
          </p:cNvSpPr>
          <p:nvPr/>
        </p:nvSpPr>
        <p:spPr bwMode="auto">
          <a:xfrm>
            <a:off x="4475163" y="464639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2</a:t>
            </a:r>
          </a:p>
        </p:txBody>
      </p:sp>
      <p:sp>
        <p:nvSpPr>
          <p:cNvPr id="1284109" name="Text Box 12"/>
          <p:cNvSpPr txBox="1">
            <a:spLocks noChangeArrowheads="1"/>
          </p:cNvSpPr>
          <p:nvPr/>
        </p:nvSpPr>
        <p:spPr bwMode="auto">
          <a:xfrm>
            <a:off x="53562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3</a:t>
            </a:r>
          </a:p>
        </p:txBody>
      </p:sp>
      <p:sp>
        <p:nvSpPr>
          <p:cNvPr id="1284110" name="Text Box 13"/>
          <p:cNvSpPr txBox="1">
            <a:spLocks noChangeArrowheads="1"/>
          </p:cNvSpPr>
          <p:nvPr/>
        </p:nvSpPr>
        <p:spPr bwMode="auto">
          <a:xfrm>
            <a:off x="6219826" y="464639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grpSp>
        <p:nvGrpSpPr>
          <p:cNvPr id="1284119" name="Group 20"/>
          <p:cNvGrpSpPr>
            <a:grpSpLocks/>
          </p:cNvGrpSpPr>
          <p:nvPr/>
        </p:nvGrpSpPr>
        <p:grpSpPr bwMode="auto">
          <a:xfrm>
            <a:off x="6232525" y="2484221"/>
            <a:ext cx="609600" cy="1068387"/>
            <a:chOff x="3511" y="2056"/>
            <a:chExt cx="342" cy="1051"/>
          </a:xfrm>
        </p:grpSpPr>
        <p:sp>
          <p:nvSpPr>
            <p:cNvPr id="1284120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1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2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3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4" name="Group 25"/>
          <p:cNvGrpSpPr>
            <a:grpSpLocks/>
          </p:cNvGrpSpPr>
          <p:nvPr/>
        </p:nvGrpSpPr>
        <p:grpSpPr bwMode="auto">
          <a:xfrm>
            <a:off x="5367339" y="2914433"/>
            <a:ext cx="714375" cy="630237"/>
            <a:chOff x="3511" y="2056"/>
            <a:chExt cx="342" cy="1051"/>
          </a:xfrm>
        </p:grpSpPr>
        <p:sp>
          <p:nvSpPr>
            <p:cNvPr id="1284125" name="Line 2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26" name="Group 2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27" name="Freeform 2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28" name="Freeform 2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29" name="Group 46"/>
          <p:cNvGrpSpPr>
            <a:grpSpLocks/>
          </p:cNvGrpSpPr>
          <p:nvPr/>
        </p:nvGrpSpPr>
        <p:grpSpPr bwMode="auto">
          <a:xfrm>
            <a:off x="3635376" y="3233521"/>
            <a:ext cx="581025" cy="896937"/>
            <a:chOff x="3511" y="2056"/>
            <a:chExt cx="342" cy="1051"/>
          </a:xfrm>
        </p:grpSpPr>
        <p:sp>
          <p:nvSpPr>
            <p:cNvPr id="1284130" name="Line 47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1" name="Group 48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2" name="Freeform 49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3" name="Freeform 50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84134" name="Group 51"/>
          <p:cNvGrpSpPr>
            <a:grpSpLocks/>
          </p:cNvGrpSpPr>
          <p:nvPr/>
        </p:nvGrpSpPr>
        <p:grpSpPr bwMode="auto">
          <a:xfrm>
            <a:off x="4505326" y="2265145"/>
            <a:ext cx="276225" cy="2316162"/>
            <a:chOff x="3511" y="2056"/>
            <a:chExt cx="342" cy="1051"/>
          </a:xfrm>
        </p:grpSpPr>
        <p:sp>
          <p:nvSpPr>
            <p:cNvPr id="1284135" name="Line 52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4136" name="Group 53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284137" name="Freeform 54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84138" name="Freeform 55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" name="Rectangle 8" descr="Dark upward diagonal"/>
          <p:cNvSpPr>
            <a:spLocks noChangeArrowheads="1"/>
          </p:cNvSpPr>
          <p:nvPr/>
        </p:nvSpPr>
        <p:spPr bwMode="auto">
          <a:xfrm>
            <a:off x="7964549" y="3028890"/>
            <a:ext cx="227012" cy="161290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87" name="Text Box 13"/>
          <p:cNvSpPr txBox="1">
            <a:spLocks noChangeArrowheads="1"/>
          </p:cNvSpPr>
          <p:nvPr/>
        </p:nvSpPr>
        <p:spPr bwMode="auto">
          <a:xfrm>
            <a:off x="7950262" y="465131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4</a:t>
            </a:r>
          </a:p>
        </p:txBody>
      </p:sp>
      <p:sp>
        <p:nvSpPr>
          <p:cNvPr id="91" name="Rectangle 9" descr="Dark upward diagonal"/>
          <p:cNvSpPr>
            <a:spLocks noChangeArrowheads="1"/>
          </p:cNvSpPr>
          <p:nvPr/>
        </p:nvSpPr>
        <p:spPr bwMode="auto">
          <a:xfrm>
            <a:off x="8823229" y="3164163"/>
            <a:ext cx="227012" cy="14636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92" name="Text Box 14"/>
          <p:cNvSpPr txBox="1">
            <a:spLocks noChangeArrowheads="1"/>
          </p:cNvSpPr>
          <p:nvPr/>
        </p:nvSpPr>
        <p:spPr bwMode="auto">
          <a:xfrm>
            <a:off x="8816879" y="4623709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US" sz="1600"/>
              <a:t>5</a:t>
            </a:r>
          </a:p>
        </p:txBody>
      </p:sp>
      <p:grpSp>
        <p:nvGrpSpPr>
          <p:cNvPr id="93" name="Group 15"/>
          <p:cNvGrpSpPr>
            <a:grpSpLocks/>
          </p:cNvGrpSpPr>
          <p:nvPr/>
        </p:nvGrpSpPr>
        <p:grpSpPr bwMode="auto">
          <a:xfrm>
            <a:off x="8823229" y="2081486"/>
            <a:ext cx="400050" cy="2092856"/>
            <a:chOff x="3511" y="2056"/>
            <a:chExt cx="342" cy="1051"/>
          </a:xfrm>
        </p:grpSpPr>
        <p:sp>
          <p:nvSpPr>
            <p:cNvPr id="94" name="Line 16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5" name="Group 17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96" name="Freeform 18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7" name="Freeform 19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 bwMode="auto">
          <a:xfrm>
            <a:off x="3028335" y="4675891"/>
            <a:ext cx="6459794" cy="448657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9002662">
            <a:off x="2929670" y="4992098"/>
            <a:ext cx="989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1.4 nm Fe</a:t>
            </a:r>
          </a:p>
        </p:txBody>
      </p:sp>
      <p:sp>
        <p:nvSpPr>
          <p:cNvPr id="78" name="TextBox 77"/>
          <p:cNvSpPr txBox="1"/>
          <p:nvPr/>
        </p:nvSpPr>
        <p:spPr>
          <a:xfrm rot="19002662">
            <a:off x="3879261" y="4967522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nm Fe</a:t>
            </a:r>
          </a:p>
        </p:txBody>
      </p:sp>
      <p:sp>
        <p:nvSpPr>
          <p:cNvPr id="79" name="TextBox 78"/>
          <p:cNvSpPr txBox="1"/>
          <p:nvPr/>
        </p:nvSpPr>
        <p:spPr>
          <a:xfrm rot="19002662">
            <a:off x="4110976" y="5577920"/>
            <a:ext cx="2499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AI+1.2 nm 1BSFe</a:t>
            </a:r>
          </a:p>
        </p:txBody>
      </p:sp>
      <p:sp>
        <p:nvSpPr>
          <p:cNvPr id="80" name="TextBox 79"/>
          <p:cNvSpPr txBox="1"/>
          <p:nvPr/>
        </p:nvSpPr>
        <p:spPr>
          <a:xfrm rot="19002662">
            <a:off x="4813579" y="4933118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Fe</a:t>
            </a:r>
          </a:p>
        </p:txBody>
      </p:sp>
      <p:sp>
        <p:nvSpPr>
          <p:cNvPr id="89" name="TextBox 88"/>
          <p:cNvSpPr txBox="1"/>
          <p:nvPr/>
        </p:nvSpPr>
        <p:spPr>
          <a:xfrm rot="19002662">
            <a:off x="7378241" y="4938038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 0.6 nm</a:t>
            </a:r>
          </a:p>
        </p:txBody>
      </p:sp>
      <p:sp>
        <p:nvSpPr>
          <p:cNvPr id="109" name="TextBox 108"/>
          <p:cNvSpPr txBox="1"/>
          <p:nvPr/>
        </p:nvSpPr>
        <p:spPr>
          <a:xfrm rot="19002662">
            <a:off x="6880835" y="558695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10nm ALD AI203+1 nm Ni</a:t>
            </a:r>
          </a:p>
        </p:txBody>
      </p:sp>
      <p:grpSp>
        <p:nvGrpSpPr>
          <p:cNvPr id="110" name="Group 20"/>
          <p:cNvGrpSpPr>
            <a:grpSpLocks/>
          </p:cNvGrpSpPr>
          <p:nvPr/>
        </p:nvGrpSpPr>
        <p:grpSpPr bwMode="auto">
          <a:xfrm>
            <a:off x="7962961" y="2474393"/>
            <a:ext cx="609600" cy="1068387"/>
            <a:chOff x="3511" y="2056"/>
            <a:chExt cx="342" cy="1051"/>
          </a:xfrm>
        </p:grpSpPr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2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113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4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30" name="TextBox 129"/>
          <p:cNvSpPr txBox="1"/>
          <p:nvPr/>
        </p:nvSpPr>
        <p:spPr>
          <a:xfrm rot="19002662">
            <a:off x="6577999" y="4923290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2nm Ni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63334" y="2363672"/>
            <a:ext cx="5998846" cy="1065110"/>
            <a:chOff x="1939334" y="2092369"/>
            <a:chExt cx="5998846" cy="1065110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1939334" y="315747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Straight Connector 103"/>
            <p:cNvCxnSpPr/>
            <p:nvPr/>
          </p:nvCxnSpPr>
          <p:spPr bwMode="auto">
            <a:xfrm>
              <a:off x="2815210" y="250601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>
              <a:off x="3731283" y="2768942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>
              <a:off x="4617207" y="2408884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>
              <a:off x="5462941" y="2259837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328772" y="2412237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/>
            <p:nvPr/>
          </p:nvCxnSpPr>
          <p:spPr bwMode="auto">
            <a:xfrm>
              <a:off x="7154408" y="2092369"/>
              <a:ext cx="783772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Rectangle 8" descr="Dark upward diagonal"/>
          <p:cNvSpPr>
            <a:spLocks noChangeArrowheads="1"/>
          </p:cNvSpPr>
          <p:nvPr/>
        </p:nvSpPr>
        <p:spPr bwMode="auto">
          <a:xfrm>
            <a:off x="7109165" y="2813538"/>
            <a:ext cx="257322" cy="1828252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grpSp>
        <p:nvGrpSpPr>
          <p:cNvPr id="72" name="Group 20"/>
          <p:cNvGrpSpPr>
            <a:grpSpLocks/>
          </p:cNvGrpSpPr>
          <p:nvPr/>
        </p:nvGrpSpPr>
        <p:grpSpPr bwMode="auto">
          <a:xfrm>
            <a:off x="7112497" y="2293351"/>
            <a:ext cx="609600" cy="1064080"/>
            <a:chOff x="3511" y="2056"/>
            <a:chExt cx="342" cy="1051"/>
          </a:xfrm>
        </p:grpSpPr>
        <p:sp>
          <p:nvSpPr>
            <p:cNvPr id="73" name="Line 21"/>
            <p:cNvSpPr>
              <a:spLocks noChangeShapeType="1"/>
            </p:cNvSpPr>
            <p:nvPr/>
          </p:nvSpPr>
          <p:spPr bwMode="auto">
            <a:xfrm rot="-5400000">
              <a:off x="2985" y="2582"/>
              <a:ext cx="10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Group 22"/>
            <p:cNvGrpSpPr>
              <a:grpSpLocks/>
            </p:cNvGrpSpPr>
            <p:nvPr/>
          </p:nvGrpSpPr>
          <p:grpSpPr bwMode="auto">
            <a:xfrm rot="5400000">
              <a:off x="3163" y="2411"/>
              <a:ext cx="1042" cy="338"/>
              <a:chOff x="2226" y="800"/>
              <a:chExt cx="1656" cy="376"/>
            </a:xfrm>
          </p:grpSpPr>
          <p:sp>
            <p:nvSpPr>
              <p:cNvPr id="76" name="Freeform 23"/>
              <p:cNvSpPr>
                <a:spLocks/>
              </p:cNvSpPr>
              <p:nvPr/>
            </p:nvSpPr>
            <p:spPr bwMode="auto">
              <a:xfrm>
                <a:off x="3054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77" name="Freeform 24"/>
              <p:cNvSpPr>
                <a:spLocks/>
              </p:cNvSpPr>
              <p:nvPr/>
            </p:nvSpPr>
            <p:spPr bwMode="auto">
              <a:xfrm flipH="1">
                <a:off x="2226" y="800"/>
                <a:ext cx="828" cy="376"/>
              </a:xfrm>
              <a:custGeom>
                <a:avLst/>
                <a:gdLst>
                  <a:gd name="T0" fmla="*/ 0 w 828"/>
                  <a:gd name="T1" fmla="*/ 4 h 376"/>
                  <a:gd name="T2" fmla="*/ 132 w 828"/>
                  <a:gd name="T3" fmla="*/ 16 h 376"/>
                  <a:gd name="T4" fmla="*/ 276 w 828"/>
                  <a:gd name="T5" fmla="*/ 100 h 376"/>
                  <a:gd name="T6" fmla="*/ 372 w 828"/>
                  <a:gd name="T7" fmla="*/ 220 h 376"/>
                  <a:gd name="T8" fmla="*/ 540 w 828"/>
                  <a:gd name="T9" fmla="*/ 328 h 376"/>
                  <a:gd name="T10" fmla="*/ 684 w 828"/>
                  <a:gd name="T11" fmla="*/ 364 h 376"/>
                  <a:gd name="T12" fmla="*/ 828 w 828"/>
                  <a:gd name="T13" fmla="*/ 376 h 3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8"/>
                  <a:gd name="T22" fmla="*/ 0 h 376"/>
                  <a:gd name="T23" fmla="*/ 828 w 828"/>
                  <a:gd name="T24" fmla="*/ 376 h 3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8" h="376">
                    <a:moveTo>
                      <a:pt x="0" y="4"/>
                    </a:moveTo>
                    <a:cubicBezTo>
                      <a:pt x="43" y="2"/>
                      <a:pt x="86" y="0"/>
                      <a:pt x="132" y="16"/>
                    </a:cubicBezTo>
                    <a:cubicBezTo>
                      <a:pt x="178" y="32"/>
                      <a:pt x="236" y="66"/>
                      <a:pt x="276" y="100"/>
                    </a:cubicBezTo>
                    <a:cubicBezTo>
                      <a:pt x="316" y="134"/>
                      <a:pt x="328" y="182"/>
                      <a:pt x="372" y="220"/>
                    </a:cubicBezTo>
                    <a:cubicBezTo>
                      <a:pt x="416" y="258"/>
                      <a:pt x="488" y="304"/>
                      <a:pt x="540" y="328"/>
                    </a:cubicBezTo>
                    <a:cubicBezTo>
                      <a:pt x="592" y="352"/>
                      <a:pt x="636" y="356"/>
                      <a:pt x="684" y="364"/>
                    </a:cubicBezTo>
                    <a:cubicBezTo>
                      <a:pt x="732" y="372"/>
                      <a:pt x="780" y="374"/>
                      <a:pt x="828" y="37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EF36D08-3967-C397-B583-CFA270DCDB0D}"/>
              </a:ext>
            </a:extLst>
          </p:cNvPr>
          <p:cNvSpPr/>
          <p:nvPr/>
        </p:nvSpPr>
        <p:spPr>
          <a:xfrm>
            <a:off x="2789304" y="4762895"/>
            <a:ext cx="6954051" cy="1789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FDD81-51EB-F67F-1447-E1AAEE583B69}"/>
              </a:ext>
            </a:extLst>
          </p:cNvPr>
          <p:cNvSpPr txBox="1"/>
          <p:nvPr/>
        </p:nvSpPr>
        <p:spPr>
          <a:xfrm rot="18791278">
            <a:off x="2901791" y="490906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D70B8D-5966-4544-9E6A-CD7906479FE8}"/>
              </a:ext>
            </a:extLst>
          </p:cNvPr>
          <p:cNvSpPr txBox="1"/>
          <p:nvPr/>
        </p:nvSpPr>
        <p:spPr>
          <a:xfrm rot="18791278">
            <a:off x="3745751" y="491546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65EAA1-B6AD-9476-10D9-EAA1CCCDCF81}"/>
              </a:ext>
            </a:extLst>
          </p:cNvPr>
          <p:cNvSpPr txBox="1"/>
          <p:nvPr/>
        </p:nvSpPr>
        <p:spPr>
          <a:xfrm rot="18791278">
            <a:off x="4599947" y="492314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96F293-C705-C102-77DE-1FA1ED0E30FE}"/>
              </a:ext>
            </a:extLst>
          </p:cNvPr>
          <p:cNvSpPr txBox="1"/>
          <p:nvPr/>
        </p:nvSpPr>
        <p:spPr>
          <a:xfrm rot="18791278">
            <a:off x="5475923" y="491546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8B00D1-8A77-8D29-7DFA-B020599528B8}"/>
              </a:ext>
            </a:extLst>
          </p:cNvPr>
          <p:cNvSpPr txBox="1"/>
          <p:nvPr/>
        </p:nvSpPr>
        <p:spPr>
          <a:xfrm rot="18791278">
            <a:off x="6327157" y="492078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6AD78D-9274-D6CA-5B6C-FD5E87A6333B}"/>
              </a:ext>
            </a:extLst>
          </p:cNvPr>
          <p:cNvSpPr txBox="1"/>
          <p:nvPr/>
        </p:nvSpPr>
        <p:spPr>
          <a:xfrm rot="18791278">
            <a:off x="7193315" y="49295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E773A6-1B33-33B7-8F76-C4A8EF75A9E8}"/>
              </a:ext>
            </a:extLst>
          </p:cNvPr>
          <p:cNvSpPr txBox="1"/>
          <p:nvPr/>
        </p:nvSpPr>
        <p:spPr>
          <a:xfrm rot="18791278">
            <a:off x="8064143" y="492058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Product 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900660-C380-020C-5444-9A516566B120}"/>
              </a:ext>
            </a:extLst>
          </p:cNvPr>
          <p:cNvSpPr/>
          <p:nvPr/>
        </p:nvSpPr>
        <p:spPr>
          <a:xfrm>
            <a:off x="8632498" y="2013219"/>
            <a:ext cx="928583" cy="262590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19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Cost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3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3680" y="1143000"/>
                <a:ext cx="5117314" cy="4953000"/>
              </a:xfrm>
            </p:spPr>
            <p:txBody>
              <a:bodyPr/>
              <a:lstStyle/>
              <a:p>
                <a:r>
                  <a:rPr lang="en-US" sz="2400" dirty="0"/>
                  <a:t>Optimizing the policy</a:t>
                </a:r>
              </a:p>
              <a:p>
                <a:pPr lvl="1"/>
                <a:r>
                  <a:rPr lang="en-US" sz="2000" dirty="0"/>
                  <a:t>We optimize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000" dirty="0"/>
                  <a:t> to maximize: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2000" dirty="0"/>
                  <a:t>    where</a:t>
                </a:r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400" dirty="0"/>
                  <a:t>Notes:</a:t>
                </a:r>
              </a:p>
              <a:p>
                <a:pPr lvl="1"/>
                <a:r>
                  <a:rPr lang="en-US" sz="2000" dirty="0"/>
                  <a:t>This can handle any belief model, including correlated beliefs, nonlinear belief models.</a:t>
                </a:r>
              </a:p>
              <a:p>
                <a:pPr lvl="1"/>
                <a:r>
                  <a:rPr lang="en-US" sz="2000" dirty="0"/>
                  <a:t>All we require is that we be able to simulate a policy.  </a:t>
                </a:r>
              </a:p>
            </p:txBody>
          </p:sp>
        </mc:Choice>
        <mc:Fallback xmlns="">
          <p:sp>
            <p:nvSpPr>
              <p:cNvPr id="533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3680" y="1143000"/>
                <a:ext cx="5117314" cy="4953000"/>
              </a:xfrm>
              <a:blipFill>
                <a:blip r:embed="rId3"/>
                <a:stretch>
                  <a:fillRect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6"/>
              <p:cNvSpPr txBox="1"/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𝐼𝐸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2280638" y="2070894"/>
          <a:ext cx="38338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040" imgH="241200" progId="Equation.DSMT4">
                  <p:embed/>
                </p:oleObj>
              </mc:Choice>
              <mc:Fallback>
                <p:oleObj name="Equation" r:id="rId5" imgW="1562040" imgH="24120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638" y="2070894"/>
                        <a:ext cx="383381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81751B8-32F8-1284-0EC9-1005DA217A7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0065"/>
          <a:stretch/>
        </p:blipFill>
        <p:spPr>
          <a:xfrm>
            <a:off x="6759345" y="1528477"/>
            <a:ext cx="5400254" cy="3894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B41A6E-D7A6-EEA6-51EF-AB59E4F3FEF7}"/>
              </a:ext>
            </a:extLst>
          </p:cNvPr>
          <p:cNvSpPr txBox="1"/>
          <p:nvPr/>
        </p:nvSpPr>
        <p:spPr>
          <a:xfrm>
            <a:off x="10573199" y="4410772"/>
            <a:ext cx="11208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Knowledge </a:t>
            </a:r>
          </a:p>
          <a:p>
            <a:r>
              <a:rPr lang="en-US" dirty="0"/>
              <a:t>gradient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1FEF6-BDE2-BE44-54AA-49A36A070300}"/>
              </a:ext>
            </a:extLst>
          </p:cNvPr>
          <p:cNvSpPr txBox="1"/>
          <p:nvPr/>
        </p:nvSpPr>
        <p:spPr>
          <a:xfrm>
            <a:off x="10173869" y="2454357"/>
            <a:ext cx="10005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Interval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35024F-A7D7-90DD-A005-7FAEEBBF5669}"/>
                  </a:ext>
                </a:extLst>
              </p:cNvPr>
              <p:cNvSpPr txBox="1"/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IE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35024F-A7D7-90DD-A005-7FAEEBBF5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blipFill>
                <a:blip r:embed="rId8"/>
                <a:stretch>
                  <a:fillRect l="-318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8FB206-B702-7898-125E-2922B6963A8F}"/>
              </a:ext>
            </a:extLst>
          </p:cNvPr>
          <p:cNvSpPr txBox="1"/>
          <p:nvPr/>
        </p:nvSpPr>
        <p:spPr>
          <a:xfrm rot="16200000">
            <a:off x="5651725" y="3272890"/>
            <a:ext cx="268374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    Opportunity cost    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B09FF9-2572-072D-C473-6D784FBC3E5C}"/>
              </a:ext>
            </a:extLst>
          </p:cNvPr>
          <p:cNvGrpSpPr/>
          <p:nvPr/>
        </p:nvGrpSpPr>
        <p:grpSpPr>
          <a:xfrm>
            <a:off x="7402769" y="4410772"/>
            <a:ext cx="4447814" cy="551572"/>
            <a:chOff x="7113321" y="4200264"/>
            <a:chExt cx="4447814" cy="55157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868547-ADE6-DAF4-C5FD-C3A423A29530}"/>
                </a:ext>
              </a:extLst>
            </p:cNvPr>
            <p:cNvCxnSpPr/>
            <p:nvPr/>
          </p:nvCxnSpPr>
          <p:spPr>
            <a:xfrm>
              <a:off x="7113321" y="4751836"/>
              <a:ext cx="4447814" cy="0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0E9168-8E9C-9A9F-C012-C5D032E4FB4E}"/>
                </a:ext>
              </a:extLst>
            </p:cNvPr>
            <p:cNvSpPr/>
            <p:nvPr/>
          </p:nvSpPr>
          <p:spPr>
            <a:xfrm>
              <a:off x="10224104" y="4200264"/>
              <a:ext cx="1180467" cy="497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FC82283-9759-748C-5335-00BCC225B372}"/>
              </a:ext>
            </a:extLst>
          </p:cNvPr>
          <p:cNvSpPr/>
          <p:nvPr/>
        </p:nvSpPr>
        <p:spPr>
          <a:xfrm>
            <a:off x="9021466" y="4943282"/>
            <a:ext cx="184219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18CA09B-F8E9-4074-B3AF-8A154CCE750C}"/>
              </a:ext>
            </a:extLst>
          </p:cNvPr>
          <p:cNvSpPr/>
          <p:nvPr/>
        </p:nvSpPr>
        <p:spPr>
          <a:xfrm flipV="1">
            <a:off x="9460662" y="4933993"/>
            <a:ext cx="101600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944754-11B7-F500-525B-313580EC9018}"/>
              </a:ext>
            </a:extLst>
          </p:cNvPr>
          <p:cNvGrpSpPr/>
          <p:nvPr/>
        </p:nvGrpSpPr>
        <p:grpSpPr>
          <a:xfrm>
            <a:off x="7402769" y="1719315"/>
            <a:ext cx="2634908" cy="3500202"/>
            <a:chOff x="7113321" y="1508807"/>
            <a:chExt cx="2634908" cy="350020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1F8A6F-3C3A-236D-D9A6-E0084F97D362}"/>
                </a:ext>
              </a:extLst>
            </p:cNvPr>
            <p:cNvSpPr/>
            <p:nvPr/>
          </p:nvSpPr>
          <p:spPr>
            <a:xfrm>
              <a:off x="7113321" y="1508807"/>
              <a:ext cx="153841" cy="3500202"/>
            </a:xfrm>
            <a:prstGeom prst="rect">
              <a:avLst/>
            </a:prstGeom>
            <a:solidFill>
              <a:schemeClr val="tx2">
                <a:lumMod val="50000"/>
                <a:alpha val="23137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98A6A11-BD06-5A7D-FF6F-EBC9C2380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7905" y="2565993"/>
              <a:ext cx="677473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E79FE4-E126-B384-0996-AE8380616FC2}"/>
                </a:ext>
              </a:extLst>
            </p:cNvPr>
            <p:cNvSpPr txBox="1"/>
            <p:nvPr/>
          </p:nvSpPr>
          <p:spPr>
            <a:xfrm>
              <a:off x="7984451" y="2298308"/>
              <a:ext cx="1763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just use the point estimate.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23591D2-AFEF-8238-E3CD-BF712EF32D93}"/>
              </a:ext>
            </a:extLst>
          </p:cNvPr>
          <p:cNvSpPr/>
          <p:nvPr/>
        </p:nvSpPr>
        <p:spPr>
          <a:xfrm>
            <a:off x="2756359" y="2290304"/>
            <a:ext cx="439738" cy="43973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C9B4B-B7BA-D1AE-9A22-ABEC4B09BA37}"/>
              </a:ext>
            </a:extLst>
          </p:cNvPr>
          <p:cNvGrpSpPr/>
          <p:nvPr/>
        </p:nvGrpSpPr>
        <p:grpSpPr>
          <a:xfrm>
            <a:off x="9210552" y="1729823"/>
            <a:ext cx="2634908" cy="3500202"/>
            <a:chOff x="7113321" y="1508807"/>
            <a:chExt cx="2634908" cy="35002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77062B-D722-8E21-68DF-2273841CB1FF}"/>
                </a:ext>
              </a:extLst>
            </p:cNvPr>
            <p:cNvSpPr/>
            <p:nvPr/>
          </p:nvSpPr>
          <p:spPr>
            <a:xfrm>
              <a:off x="7113321" y="1508807"/>
              <a:ext cx="153841" cy="3500202"/>
            </a:xfrm>
            <a:prstGeom prst="rect">
              <a:avLst/>
            </a:prstGeom>
            <a:solidFill>
              <a:srgbClr val="262699">
                <a:alpha val="22745"/>
              </a:srgb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862908A-798B-3EC3-487E-BE6ABBA2CF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7905" y="2565993"/>
              <a:ext cx="677473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0C7058-0068-29AD-99CE-4AAB5D91ECE4}"/>
                </a:ext>
              </a:extLst>
            </p:cNvPr>
            <p:cNvSpPr txBox="1"/>
            <p:nvPr/>
          </p:nvSpPr>
          <p:spPr>
            <a:xfrm>
              <a:off x="7984451" y="2416552"/>
              <a:ext cx="17637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Optimized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870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20F07AA-5A5A-1EF3-E947-14298F42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7A135-76E0-FE10-0BCB-FCE1D4728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3A838B9-592C-76BA-C1CE-BFC3231DD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A0A83550-242E-1A1D-A286-66ED03B67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to optimal learning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pricing example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Illustration of interval estimation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Illustration of the knowledge gradient</a:t>
            </a:r>
          </a:p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249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816131"/>
            <a:ext cx="5124450" cy="2292356"/>
            <a:chOff x="912" y="1782"/>
            <a:chExt cx="3228" cy="1444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22B307-C7ED-BD12-D8A7-6C83058AFC4B}"/>
              </a:ext>
            </a:extLst>
          </p:cNvPr>
          <p:cNvGrpSpPr/>
          <p:nvPr/>
        </p:nvGrpSpPr>
        <p:grpSpPr>
          <a:xfrm>
            <a:off x="4613395" y="6056431"/>
            <a:ext cx="1250663" cy="583414"/>
            <a:chOff x="4733895" y="5985548"/>
            <a:chExt cx="1250663" cy="5834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E27C4-4C99-A571-69DA-F0F25A47CBBA}"/>
                </a:ext>
              </a:extLst>
            </p:cNvPr>
            <p:cNvSpPr txBox="1"/>
            <p:nvPr/>
          </p:nvSpPr>
          <p:spPr>
            <a:xfrm>
              <a:off x="4733895" y="6261185"/>
              <a:ext cx="1250663" cy="307777"/>
            </a:xfrm>
            <a:prstGeom prst="rect">
              <a:avLst/>
            </a:prstGeom>
            <a:noFill/>
            <a:ln>
              <a:solidFill>
                <a:srgbClr val="262699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Best decision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1E4845-60ED-3FC4-1175-4D69B9ABA139}"/>
                </a:ext>
              </a:extLst>
            </p:cNvPr>
            <p:cNvCxnSpPr/>
            <p:nvPr/>
          </p:nvCxnSpPr>
          <p:spPr>
            <a:xfrm flipV="1">
              <a:off x="5392565" y="5985548"/>
              <a:ext cx="0" cy="290623"/>
            </a:xfrm>
            <a:prstGeom prst="straightConnector1">
              <a:avLst/>
            </a:prstGeom>
            <a:ln w="12700">
              <a:solidFill>
                <a:srgbClr val="262699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40">
            <a:extLst>
              <a:ext uri="{FF2B5EF4-FFF2-40B4-BE49-F238E27FC236}">
                <a16:creationId xmlns:a16="http://schemas.microsoft.com/office/drawing/2014/main" id="{35E8FFE4-3134-2DAA-A98B-2D828042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254" y="3868971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2" name="Rectangle 10" descr="Dark upward diagonal">
            <a:extLst>
              <a:ext uri="{FF2B5EF4-FFF2-40B4-BE49-F238E27FC236}">
                <a16:creationId xmlns:a16="http://schemas.microsoft.com/office/drawing/2014/main" id="{47A4AB05-42A7-5477-3189-1DC50238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552" y="4245936"/>
            <a:ext cx="300038" cy="15037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5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816131"/>
            <a:ext cx="5124450" cy="2292356"/>
            <a:chOff x="912" y="1782"/>
            <a:chExt cx="3228" cy="1444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 descr="Dark upward diagonal">
              <a:extLst>
                <a:ext uri="{FF2B5EF4-FFF2-40B4-BE49-F238E27FC236}">
                  <a16:creationId xmlns:a16="http://schemas.microsoft.com/office/drawing/2014/main" id="{6D6CD7F8-0E10-29C7-9B49-9C49DDCA3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05"/>
              <a:ext cx="189" cy="1095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FE4E207E-E27B-B75E-8E98-9A3C43F27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0" y="1906"/>
              <a:ext cx="1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22B307-C7ED-BD12-D8A7-6C83058AFC4B}"/>
              </a:ext>
            </a:extLst>
          </p:cNvPr>
          <p:cNvGrpSpPr/>
          <p:nvPr/>
        </p:nvGrpSpPr>
        <p:grpSpPr>
          <a:xfrm>
            <a:off x="4613395" y="6056431"/>
            <a:ext cx="1250663" cy="583414"/>
            <a:chOff x="4733895" y="5985548"/>
            <a:chExt cx="1250663" cy="5834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E27C4-4C99-A571-69DA-F0F25A47CBBA}"/>
                </a:ext>
              </a:extLst>
            </p:cNvPr>
            <p:cNvSpPr txBox="1"/>
            <p:nvPr/>
          </p:nvSpPr>
          <p:spPr>
            <a:xfrm>
              <a:off x="4733895" y="6261185"/>
              <a:ext cx="1250663" cy="307777"/>
            </a:xfrm>
            <a:prstGeom prst="rect">
              <a:avLst/>
            </a:prstGeom>
            <a:noFill/>
            <a:ln>
              <a:solidFill>
                <a:srgbClr val="262699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Best decision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1E4845-60ED-3FC4-1175-4D69B9ABA139}"/>
                </a:ext>
              </a:extLst>
            </p:cNvPr>
            <p:cNvCxnSpPr/>
            <p:nvPr/>
          </p:nvCxnSpPr>
          <p:spPr>
            <a:xfrm flipV="1">
              <a:off x="5392565" y="5985548"/>
              <a:ext cx="0" cy="290623"/>
            </a:xfrm>
            <a:prstGeom prst="straightConnector1">
              <a:avLst/>
            </a:prstGeom>
            <a:ln w="12700">
              <a:solidFill>
                <a:srgbClr val="262699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40">
            <a:extLst>
              <a:ext uri="{FF2B5EF4-FFF2-40B4-BE49-F238E27FC236}">
                <a16:creationId xmlns:a16="http://schemas.microsoft.com/office/drawing/2014/main" id="{35E8FFE4-3134-2DAA-A98B-2D828042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254" y="3868971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4E02138C-0806-A6FE-7600-F3E1B0B38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036" y="3812587"/>
            <a:ext cx="1656238" cy="17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395245-D0E3-1312-D18D-9CE1E71AE0D9}"/>
              </a:ext>
            </a:extLst>
          </p:cNvPr>
          <p:cNvCxnSpPr/>
          <p:nvPr/>
        </p:nvCxnSpPr>
        <p:spPr>
          <a:xfrm flipV="1">
            <a:off x="6799608" y="4007072"/>
            <a:ext cx="0" cy="290623"/>
          </a:xfrm>
          <a:prstGeom prst="straightConnector1">
            <a:avLst/>
          </a:prstGeom>
          <a:ln w="12700">
            <a:solidFill>
              <a:srgbClr val="26269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A1EB56-1C8D-324D-DA93-23136128CA87}"/>
              </a:ext>
            </a:extLst>
          </p:cNvPr>
          <p:cNvCxnSpPr>
            <a:cxnSpLocks/>
          </p:cNvCxnSpPr>
          <p:nvPr/>
        </p:nvCxnSpPr>
        <p:spPr>
          <a:xfrm>
            <a:off x="6796066" y="3521515"/>
            <a:ext cx="0" cy="290623"/>
          </a:xfrm>
          <a:prstGeom prst="straightConnector1">
            <a:avLst/>
          </a:prstGeom>
          <a:ln w="12700">
            <a:solidFill>
              <a:srgbClr val="26269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9E16BF-47FB-69ED-4BCF-9C88220AC5D6}"/>
              </a:ext>
            </a:extLst>
          </p:cNvPr>
          <p:cNvSpPr txBox="1"/>
          <p:nvPr/>
        </p:nvSpPr>
        <p:spPr>
          <a:xfrm>
            <a:off x="6972402" y="3417030"/>
            <a:ext cx="1507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 improvement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A9836CD-749C-7120-A2F7-9732E52F5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394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816131"/>
            <a:ext cx="5124450" cy="2292356"/>
            <a:chOff x="912" y="1782"/>
            <a:chExt cx="3228" cy="1444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22B307-C7ED-BD12-D8A7-6C83058AFC4B}"/>
              </a:ext>
            </a:extLst>
          </p:cNvPr>
          <p:cNvGrpSpPr/>
          <p:nvPr/>
        </p:nvGrpSpPr>
        <p:grpSpPr>
          <a:xfrm>
            <a:off x="4613395" y="6056431"/>
            <a:ext cx="1250663" cy="583414"/>
            <a:chOff x="4733895" y="5985548"/>
            <a:chExt cx="1250663" cy="5834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E27C4-4C99-A571-69DA-F0F25A47CBBA}"/>
                </a:ext>
              </a:extLst>
            </p:cNvPr>
            <p:cNvSpPr txBox="1"/>
            <p:nvPr/>
          </p:nvSpPr>
          <p:spPr>
            <a:xfrm>
              <a:off x="4733895" y="6261185"/>
              <a:ext cx="1250663" cy="307777"/>
            </a:xfrm>
            <a:prstGeom prst="rect">
              <a:avLst/>
            </a:prstGeom>
            <a:noFill/>
            <a:ln>
              <a:solidFill>
                <a:srgbClr val="262699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Best decision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1E4845-60ED-3FC4-1175-4D69B9ABA139}"/>
                </a:ext>
              </a:extLst>
            </p:cNvPr>
            <p:cNvCxnSpPr/>
            <p:nvPr/>
          </p:nvCxnSpPr>
          <p:spPr>
            <a:xfrm flipV="1">
              <a:off x="5392565" y="5985548"/>
              <a:ext cx="0" cy="290623"/>
            </a:xfrm>
            <a:prstGeom prst="straightConnector1">
              <a:avLst/>
            </a:prstGeom>
            <a:ln w="12700">
              <a:solidFill>
                <a:srgbClr val="262699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10" descr="Dark upward diagonal">
            <a:extLst>
              <a:ext uri="{FF2B5EF4-FFF2-40B4-BE49-F238E27FC236}">
                <a16:creationId xmlns:a16="http://schemas.microsoft.com/office/drawing/2014/main" id="{47A4AB05-42A7-5477-3189-1DC50238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552" y="4245936"/>
            <a:ext cx="300038" cy="150377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40">
            <a:extLst>
              <a:ext uri="{FF2B5EF4-FFF2-40B4-BE49-F238E27FC236}">
                <a16:creationId xmlns:a16="http://schemas.microsoft.com/office/drawing/2014/main" id="{21F8ACFA-C4EB-A569-6EB1-6F21ABCF0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254" y="3365700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061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CF8B671A-F63B-E691-7B6A-236DEE4A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617693"/>
            <a:ext cx="5124450" cy="2490794"/>
            <a:chOff x="912" y="1657"/>
            <a:chExt cx="3228" cy="1569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 descr="Dark upward diagonal">
              <a:extLst>
                <a:ext uri="{FF2B5EF4-FFF2-40B4-BE49-F238E27FC236}">
                  <a16:creationId xmlns:a16="http://schemas.microsoft.com/office/drawing/2014/main" id="{6D6CD7F8-0E10-29C7-9B49-9C49DDCA3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657"/>
              <a:ext cx="189" cy="1343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22B307-C7ED-BD12-D8A7-6C83058AFC4B}"/>
              </a:ext>
            </a:extLst>
          </p:cNvPr>
          <p:cNvGrpSpPr/>
          <p:nvPr/>
        </p:nvGrpSpPr>
        <p:grpSpPr>
          <a:xfrm>
            <a:off x="5541971" y="6056431"/>
            <a:ext cx="1250663" cy="583414"/>
            <a:chOff x="4733895" y="5985548"/>
            <a:chExt cx="1250663" cy="5834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E27C4-4C99-A571-69DA-F0F25A47CBBA}"/>
                </a:ext>
              </a:extLst>
            </p:cNvPr>
            <p:cNvSpPr txBox="1"/>
            <p:nvPr/>
          </p:nvSpPr>
          <p:spPr>
            <a:xfrm>
              <a:off x="4733895" y="6261185"/>
              <a:ext cx="1250663" cy="307777"/>
            </a:xfrm>
            <a:prstGeom prst="rect">
              <a:avLst/>
            </a:prstGeom>
            <a:noFill/>
            <a:ln>
              <a:solidFill>
                <a:srgbClr val="262699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Best decision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1E4845-60ED-3FC4-1175-4D69B9ABA139}"/>
                </a:ext>
              </a:extLst>
            </p:cNvPr>
            <p:cNvCxnSpPr/>
            <p:nvPr/>
          </p:nvCxnSpPr>
          <p:spPr>
            <a:xfrm flipV="1">
              <a:off x="5392565" y="5985548"/>
              <a:ext cx="0" cy="290623"/>
            </a:xfrm>
            <a:prstGeom prst="straightConnector1">
              <a:avLst/>
            </a:prstGeom>
            <a:ln w="12700">
              <a:solidFill>
                <a:srgbClr val="262699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40">
            <a:extLst>
              <a:ext uri="{FF2B5EF4-FFF2-40B4-BE49-F238E27FC236}">
                <a16:creationId xmlns:a16="http://schemas.microsoft.com/office/drawing/2014/main" id="{35E8FFE4-3134-2DAA-A98B-2D828042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254" y="3365700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4E02138C-0806-A6FE-7600-F3E1B0B38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036" y="3607027"/>
            <a:ext cx="1656238" cy="17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395245-D0E3-1312-D18D-9CE1E71AE0D9}"/>
              </a:ext>
            </a:extLst>
          </p:cNvPr>
          <p:cNvCxnSpPr/>
          <p:nvPr/>
        </p:nvCxnSpPr>
        <p:spPr>
          <a:xfrm flipV="1">
            <a:off x="6799608" y="3815688"/>
            <a:ext cx="0" cy="290623"/>
          </a:xfrm>
          <a:prstGeom prst="straightConnector1">
            <a:avLst/>
          </a:prstGeom>
          <a:ln w="12700">
            <a:solidFill>
              <a:srgbClr val="26269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A1EB56-1C8D-324D-DA93-23136128CA87}"/>
              </a:ext>
            </a:extLst>
          </p:cNvPr>
          <p:cNvCxnSpPr>
            <a:cxnSpLocks/>
          </p:cNvCxnSpPr>
          <p:nvPr/>
        </p:nvCxnSpPr>
        <p:spPr>
          <a:xfrm>
            <a:off x="6796066" y="3330131"/>
            <a:ext cx="0" cy="290623"/>
          </a:xfrm>
          <a:prstGeom prst="straightConnector1">
            <a:avLst/>
          </a:prstGeom>
          <a:ln w="12700">
            <a:solidFill>
              <a:srgbClr val="262699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9E16BF-47FB-69ED-4BCF-9C88220AC5D6}"/>
              </a:ext>
            </a:extLst>
          </p:cNvPr>
          <p:cNvSpPr txBox="1"/>
          <p:nvPr/>
        </p:nvSpPr>
        <p:spPr>
          <a:xfrm>
            <a:off x="6972402" y="3417030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Improvement</a:t>
            </a: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FE4E207E-E27B-B75E-8E98-9A3C43F27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5402" y="3814511"/>
            <a:ext cx="1666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08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816131"/>
            <a:ext cx="5124450" cy="2292356"/>
            <a:chOff x="912" y="1782"/>
            <a:chExt cx="3228" cy="1444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 descr="Dark upward diagonal">
              <a:extLst>
                <a:ext uri="{FF2B5EF4-FFF2-40B4-BE49-F238E27FC236}">
                  <a16:creationId xmlns:a16="http://schemas.microsoft.com/office/drawing/2014/main" id="{6D6CD7F8-0E10-29C7-9B49-9C49DDCA3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05"/>
              <a:ext cx="189" cy="1095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22B307-C7ED-BD12-D8A7-6C83058AFC4B}"/>
              </a:ext>
            </a:extLst>
          </p:cNvPr>
          <p:cNvGrpSpPr/>
          <p:nvPr/>
        </p:nvGrpSpPr>
        <p:grpSpPr>
          <a:xfrm>
            <a:off x="4613395" y="6056431"/>
            <a:ext cx="1250663" cy="583414"/>
            <a:chOff x="4733895" y="5985548"/>
            <a:chExt cx="1250663" cy="5834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DE27C4-4C99-A571-69DA-F0F25A47CBBA}"/>
                </a:ext>
              </a:extLst>
            </p:cNvPr>
            <p:cNvSpPr txBox="1"/>
            <p:nvPr/>
          </p:nvSpPr>
          <p:spPr>
            <a:xfrm>
              <a:off x="4733895" y="6261185"/>
              <a:ext cx="1250663" cy="307777"/>
            </a:xfrm>
            <a:prstGeom prst="rect">
              <a:avLst/>
            </a:prstGeom>
            <a:noFill/>
            <a:ln>
              <a:solidFill>
                <a:srgbClr val="262699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Best decision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1E4845-60ED-3FC4-1175-4D69B9ABA139}"/>
                </a:ext>
              </a:extLst>
            </p:cNvPr>
            <p:cNvCxnSpPr/>
            <p:nvPr/>
          </p:nvCxnSpPr>
          <p:spPr>
            <a:xfrm flipV="1">
              <a:off x="5392565" y="5985548"/>
              <a:ext cx="0" cy="290623"/>
            </a:xfrm>
            <a:prstGeom prst="straightConnector1">
              <a:avLst/>
            </a:prstGeom>
            <a:ln w="12700">
              <a:solidFill>
                <a:srgbClr val="262699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40">
            <a:extLst>
              <a:ext uri="{FF2B5EF4-FFF2-40B4-BE49-F238E27FC236}">
                <a16:creationId xmlns:a16="http://schemas.microsoft.com/office/drawing/2014/main" id="{35E8FFE4-3134-2DAA-A98B-2D828042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166" y="3907071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2" name="Oval 40">
            <a:extLst>
              <a:ext uri="{FF2B5EF4-FFF2-40B4-BE49-F238E27FC236}">
                <a16:creationId xmlns:a16="http://schemas.microsoft.com/office/drawing/2014/main" id="{D316BB36-8641-A104-9FE0-2E0EE73F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623" y="4180121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3" name="Oval 40">
            <a:extLst>
              <a:ext uri="{FF2B5EF4-FFF2-40B4-BE49-F238E27FC236}">
                <a16:creationId xmlns:a16="http://schemas.microsoft.com/office/drawing/2014/main" id="{15BBABA3-7B18-7FC0-E86D-2174E3C3D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172" y="3202667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4" name="Oval 40">
            <a:extLst>
              <a:ext uri="{FF2B5EF4-FFF2-40B4-BE49-F238E27FC236}">
                <a16:creationId xmlns:a16="http://schemas.microsoft.com/office/drawing/2014/main" id="{1F10C877-DEDD-3703-A6F7-5423852E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718" y="3721441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6" name="Oval 40">
            <a:extLst>
              <a:ext uri="{FF2B5EF4-FFF2-40B4-BE49-F238E27FC236}">
                <a16:creationId xmlns:a16="http://schemas.microsoft.com/office/drawing/2014/main" id="{744E5701-93C9-C411-E0D5-77A387F32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265" y="3498456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29" name="Oval 40">
            <a:extLst>
              <a:ext uri="{FF2B5EF4-FFF2-40B4-BE49-F238E27FC236}">
                <a16:creationId xmlns:a16="http://schemas.microsoft.com/office/drawing/2014/main" id="{49CED472-173F-C573-E565-A6DA7C2B1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811" y="4758560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30" name="Oval 40">
            <a:extLst>
              <a:ext uri="{FF2B5EF4-FFF2-40B4-BE49-F238E27FC236}">
                <a16:creationId xmlns:a16="http://schemas.microsoft.com/office/drawing/2014/main" id="{CF6246F6-E1B5-F566-397D-CB8DC41F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724" y="3624425"/>
            <a:ext cx="88900" cy="889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pPr eaLnBrk="0" hangingPunct="0"/>
            <a:endParaRPr lang="en-US" sz="2400">
              <a:latin typeface="Times New Roman" pitchFamily="18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D016952-F455-E33B-DBA1-59EAE462F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8516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  <p:bldP spid="24" grpId="0" animBg="1"/>
      <p:bldP spid="26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FFAE55-9AF1-1319-F990-8DD3757C177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/>
              <a:t>Optimal learning</a:t>
            </a:r>
            <a:endParaRPr lang="en-US" sz="3300" dirty="0">
              <a:latin typeface="Oswa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D4776-FCA3-DBC6-FBCE-672C98F9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42" y="2152814"/>
            <a:ext cx="2332250" cy="35282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A5EC32B8-1EB9-C442-DB36-08FE6EF3DA07}"/>
              </a:ext>
            </a:extLst>
          </p:cNvPr>
          <p:cNvGrpSpPr>
            <a:grpSpLocks/>
          </p:cNvGrpSpPr>
          <p:nvPr/>
        </p:nvGrpSpPr>
        <p:grpSpPr bwMode="auto">
          <a:xfrm>
            <a:off x="1777827" y="3076354"/>
            <a:ext cx="5124450" cy="3032133"/>
            <a:chOff x="912" y="1316"/>
            <a:chExt cx="3228" cy="191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74A41097-0261-8C0C-9027-3CE31C68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12"/>
              <a:ext cx="3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6" descr="Dark upward diagonal">
              <a:extLst>
                <a:ext uri="{FF2B5EF4-FFF2-40B4-BE49-F238E27FC236}">
                  <a16:creationId xmlns:a16="http://schemas.microsoft.com/office/drawing/2014/main" id="{942B39D3-1D5E-3451-DB4C-B00A417D8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0" y="2292"/>
              <a:ext cx="156" cy="70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 descr="Dark upward diagonal">
              <a:extLst>
                <a:ext uri="{FF2B5EF4-FFF2-40B4-BE49-F238E27FC236}">
                  <a16:creationId xmlns:a16="http://schemas.microsoft.com/office/drawing/2014/main" id="{EC9DEF60-A18D-69F7-22D6-F2FE17F29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94"/>
              <a:ext cx="156" cy="906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 descr="Dark upward diagonal">
              <a:extLst>
                <a:ext uri="{FF2B5EF4-FFF2-40B4-BE49-F238E27FC236}">
                  <a16:creationId xmlns:a16="http://schemas.microsoft.com/office/drawing/2014/main" id="{3C5CD2C2-3061-A972-B6EF-42B20516D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938"/>
              <a:ext cx="156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 descr="Dark upward diagonal">
              <a:extLst>
                <a:ext uri="{FF2B5EF4-FFF2-40B4-BE49-F238E27FC236}">
                  <a16:creationId xmlns:a16="http://schemas.microsoft.com/office/drawing/2014/main" id="{A3B4AABC-777D-6587-3FC0-A9637AFE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1782"/>
              <a:ext cx="156" cy="1218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 descr="Dark upward diagonal">
              <a:extLst>
                <a:ext uri="{FF2B5EF4-FFF2-40B4-BE49-F238E27FC236}">
                  <a16:creationId xmlns:a16="http://schemas.microsoft.com/office/drawing/2014/main" id="{6D6CD7F8-0E10-29C7-9B49-9C49DDCA3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38"/>
              <a:ext cx="189" cy="1062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34237748-E13A-7F19-A52D-6C65859E8C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891" y="2032"/>
              <a:ext cx="14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D8D8A127-503C-6C89-8CD2-B23DC717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1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44C95D3D-BD65-4768-E319-969EC68D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2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D5B04C1F-A783-5390-A586-2F0EE1857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3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EC72DBE8-7C26-0535-239D-2275C9A57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01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4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5EEC3A9-E73D-30DF-2A48-28723718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" y="300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600">
                  <a:latin typeface="Arial" charset="0"/>
                </a:rPr>
                <a:t>5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689C4AE-2640-B3D7-8A50-CADDFFFCBF68}"/>
              </a:ext>
            </a:extLst>
          </p:cNvPr>
          <p:cNvSpPr/>
          <p:nvPr/>
        </p:nvSpPr>
        <p:spPr>
          <a:xfrm>
            <a:off x="6055629" y="3033870"/>
            <a:ext cx="511701" cy="778149"/>
          </a:xfrm>
          <a:custGeom>
            <a:avLst/>
            <a:gdLst>
              <a:gd name="connsiteX0" fmla="*/ 0 w 511701"/>
              <a:gd name="connsiteY0" fmla="*/ 778149 h 778149"/>
              <a:gd name="connsiteX1" fmla="*/ 511701 w 511701"/>
              <a:gd name="connsiteY1" fmla="*/ 778149 h 778149"/>
              <a:gd name="connsiteX2" fmla="*/ 463256 w 511701"/>
              <a:gd name="connsiteY2" fmla="*/ 705481 h 778149"/>
              <a:gd name="connsiteX3" fmla="*/ 402699 w 511701"/>
              <a:gd name="connsiteY3" fmla="*/ 660064 h 778149"/>
              <a:gd name="connsiteX4" fmla="*/ 323976 w 511701"/>
              <a:gd name="connsiteY4" fmla="*/ 620702 h 778149"/>
              <a:gd name="connsiteX5" fmla="*/ 269475 w 511701"/>
              <a:gd name="connsiteY5" fmla="*/ 593452 h 778149"/>
              <a:gd name="connsiteX6" fmla="*/ 211947 w 511701"/>
              <a:gd name="connsiteY6" fmla="*/ 535923 h 778149"/>
              <a:gd name="connsiteX7" fmla="*/ 145335 w 511701"/>
              <a:gd name="connsiteY7" fmla="*/ 445089 h 778149"/>
              <a:gd name="connsiteX8" fmla="*/ 90834 w 511701"/>
              <a:gd name="connsiteY8" fmla="*/ 366366 h 778149"/>
              <a:gd name="connsiteX9" fmla="*/ 60556 w 511701"/>
              <a:gd name="connsiteY9" fmla="*/ 290670 h 778149"/>
              <a:gd name="connsiteX10" fmla="*/ 39362 w 511701"/>
              <a:gd name="connsiteY10" fmla="*/ 218003 h 778149"/>
              <a:gd name="connsiteX11" fmla="*/ 21195 w 511701"/>
              <a:gd name="connsiteY11" fmla="*/ 127168 h 778149"/>
              <a:gd name="connsiteX12" fmla="*/ 21195 w 511701"/>
              <a:gd name="connsiteY12" fmla="*/ 127168 h 778149"/>
              <a:gd name="connsiteX13" fmla="*/ 12111 w 511701"/>
              <a:gd name="connsiteY13" fmla="*/ 0 h 778149"/>
              <a:gd name="connsiteX14" fmla="*/ 0 w 511701"/>
              <a:gd name="connsiteY14" fmla="*/ 778149 h 77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11701" h="778149">
                <a:moveTo>
                  <a:pt x="0" y="778149"/>
                </a:moveTo>
                <a:lnTo>
                  <a:pt x="511701" y="778149"/>
                </a:lnTo>
                <a:lnTo>
                  <a:pt x="463256" y="705481"/>
                </a:lnTo>
                <a:lnTo>
                  <a:pt x="402699" y="660064"/>
                </a:lnTo>
                <a:lnTo>
                  <a:pt x="323976" y="620702"/>
                </a:lnTo>
                <a:lnTo>
                  <a:pt x="269475" y="593452"/>
                </a:lnTo>
                <a:lnTo>
                  <a:pt x="211947" y="535923"/>
                </a:lnTo>
                <a:lnTo>
                  <a:pt x="145335" y="445089"/>
                </a:lnTo>
                <a:lnTo>
                  <a:pt x="90834" y="366366"/>
                </a:lnTo>
                <a:lnTo>
                  <a:pt x="60556" y="290670"/>
                </a:lnTo>
                <a:lnTo>
                  <a:pt x="39362" y="218003"/>
                </a:lnTo>
                <a:lnTo>
                  <a:pt x="21195" y="127168"/>
                </a:lnTo>
                <a:lnTo>
                  <a:pt x="21195" y="127168"/>
                </a:lnTo>
                <a:lnTo>
                  <a:pt x="12111" y="0"/>
                </a:lnTo>
                <a:lnTo>
                  <a:pt x="0" y="77814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1BD647-BCCB-1461-AE97-573CEA1CEE33}"/>
              </a:ext>
            </a:extLst>
          </p:cNvPr>
          <p:cNvSpPr/>
          <p:nvPr/>
        </p:nvSpPr>
        <p:spPr>
          <a:xfrm>
            <a:off x="6040376" y="3804931"/>
            <a:ext cx="1884425" cy="888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38AD1A-6B67-1126-6145-2284DBBB99FB}"/>
              </a:ext>
            </a:extLst>
          </p:cNvPr>
          <p:cNvCxnSpPr/>
          <p:nvPr/>
        </p:nvCxnSpPr>
        <p:spPr>
          <a:xfrm>
            <a:off x="6055629" y="3893828"/>
            <a:ext cx="237244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BAEB35-BCD4-320E-A1EE-4674AA347C9D}"/>
              </a:ext>
            </a:extLst>
          </p:cNvPr>
          <p:cNvCxnSpPr>
            <a:cxnSpLocks/>
          </p:cNvCxnSpPr>
          <p:nvPr/>
        </p:nvCxnSpPr>
        <p:spPr>
          <a:xfrm flipV="1">
            <a:off x="6054554" y="2750288"/>
            <a:ext cx="0" cy="11435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54066-3FED-245C-8504-27F1D2415FA6}"/>
              </a:ext>
            </a:extLst>
          </p:cNvPr>
          <p:cNvSpPr txBox="1"/>
          <p:nvPr/>
        </p:nvSpPr>
        <p:spPr>
          <a:xfrm>
            <a:off x="6677244" y="3586715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62699"/>
                </a:solidFill>
              </a:rPr>
              <a:t>No improvement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C190C8-6653-A9A5-8106-B927ECC339AF}"/>
              </a:ext>
            </a:extLst>
          </p:cNvPr>
          <p:cNvSpPr txBox="1"/>
          <p:nvPr/>
        </p:nvSpPr>
        <p:spPr>
          <a:xfrm rot="16200000">
            <a:off x="5363383" y="3198486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62699"/>
                </a:solidFill>
              </a:rPr>
              <a:t>Improvement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0C7C93-6F5A-D356-3331-DF723B65D46B}"/>
              </a:ext>
            </a:extLst>
          </p:cNvPr>
          <p:cNvSpPr txBox="1"/>
          <p:nvPr/>
        </p:nvSpPr>
        <p:spPr>
          <a:xfrm>
            <a:off x="1793355" y="3154323"/>
            <a:ext cx="3770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62699"/>
                </a:solidFill>
              </a:rPr>
              <a:t>Expected improvement = knowledge gradient</a:t>
            </a:r>
          </a:p>
        </p:txBody>
      </p:sp>
      <p:sp>
        <p:nvSpPr>
          <p:cNvPr id="36" name="Line 11">
            <a:extLst>
              <a:ext uri="{FF2B5EF4-FFF2-40B4-BE49-F238E27FC236}">
                <a16:creationId xmlns:a16="http://schemas.microsoft.com/office/drawing/2014/main" id="{FE4E207E-E27B-B75E-8E98-9A3C43F27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5402" y="3816131"/>
            <a:ext cx="1438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CF41C404-C001-84DA-0E75-4C29A3D3F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8584" y="1020654"/>
            <a:ext cx="8004432" cy="1495425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US" sz="1200" dirty="0"/>
          </a:p>
          <a:p>
            <a:pPr marL="86360" indent="0">
              <a:buSzPct val="70000"/>
              <a:buNone/>
            </a:pPr>
            <a:r>
              <a:rPr lang="en-US" dirty="0"/>
              <a:t>The knowledge gradient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700" dirty="0"/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Estimates the value of information from a single experiment.</a:t>
            </a:r>
          </a:p>
          <a:p>
            <a:pPr marL="574675" lvl="1" indent="-230188">
              <a:buSzPct val="70000"/>
              <a:buFont typeface="Wingdings" panose="05000000000000000000" pitchFamily="2" charset="2"/>
              <a:buChar char="§"/>
            </a:pPr>
            <a:r>
              <a:rPr lang="en-US" sz="2000" dirty="0"/>
              <a:t>Best suited to problems where an observation is expensive.</a:t>
            </a:r>
          </a:p>
          <a:p>
            <a:pPr lvl="1">
              <a:buSzPct val="70000"/>
              <a:buFont typeface="Wingdings" panose="05000000000000000000" pitchFamily="2" charset="2"/>
              <a:buChar char="§"/>
            </a:pPr>
            <a:endParaRPr 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A044C-B236-993B-BCFF-F9026145CC3D}"/>
              </a:ext>
            </a:extLst>
          </p:cNvPr>
          <p:cNvSpPr txBox="1"/>
          <p:nvPr/>
        </p:nvSpPr>
        <p:spPr>
          <a:xfrm>
            <a:off x="553749" y="6072792"/>
            <a:ext cx="10988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1775" indent="-231775">
              <a:buSzPct val="70000"/>
              <a:buFont typeface="Wingdings" panose="05000000000000000000" pitchFamily="2" charset="2"/>
              <a:buChar char="§"/>
            </a:pPr>
            <a:r>
              <a:rPr lang="en-US" sz="1800" dirty="0">
                <a:latin typeface="Raleway" pitchFamily="2" charset="0"/>
              </a:rPr>
              <a:t>Knowledge gradient policy: compute the KG for each choice, and pick the one with the highest KG.</a:t>
            </a:r>
          </a:p>
        </p:txBody>
      </p:sp>
    </p:spTree>
    <p:extLst>
      <p:ext uri="{BB962C8B-B14F-4D97-AF65-F5344CB8AC3E}">
        <p14:creationId xmlns:p14="http://schemas.microsoft.com/office/powerpoint/2010/main" val="400816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8F18-19AA-A6CA-AABF-C32DF6AB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17D4D-C82B-4D0B-ED5D-CF3EDCF6C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127" y="1228200"/>
            <a:ext cx="4876479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Optimizing the manufacture of semiconductor wafers</a:t>
            </a:r>
          </a:p>
          <a:p>
            <a:pPr marL="86360" indent="0">
              <a:buNone/>
            </a:pPr>
            <a:endParaRPr lang="en-US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We are looking for the best combination of wafer diameter and temperature of a heating process to maximize the yield of semiconductor chips.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We have divided diameter and temperature into 50 increments.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Testing each combination requires running an experiment that requires several hours.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62B10-4D4E-62C6-A504-4A193FD8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051" y="1827776"/>
            <a:ext cx="6191568" cy="35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62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00" name="Rectangle 2"/>
          <p:cNvSpPr>
            <a:spLocks noChangeArrowheads="1"/>
          </p:cNvSpPr>
          <p:nvPr/>
        </p:nvSpPr>
        <p:spPr bwMode="auto">
          <a:xfrm>
            <a:off x="1133836" y="1182458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r>
              <a:rPr lang="en-US" sz="2000" dirty="0"/>
              <a:t>After four experiments: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endParaRPr lang="en-US" sz="2000" dirty="0"/>
          </a:p>
        </p:txBody>
      </p:sp>
      <p:pic>
        <p:nvPicPr>
          <p:cNvPr id="2601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73338"/>
            <a:ext cx="914400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36197" name="Group 5"/>
          <p:cNvGrpSpPr>
            <a:grpSpLocks/>
          </p:cNvGrpSpPr>
          <p:nvPr/>
        </p:nvGrpSpPr>
        <p:grpSpPr bwMode="auto">
          <a:xfrm>
            <a:off x="2403475" y="2428875"/>
            <a:ext cx="1428750" cy="1371600"/>
            <a:chOff x="554" y="1530"/>
            <a:chExt cx="900" cy="864"/>
          </a:xfrm>
        </p:grpSpPr>
        <p:sp>
          <p:nvSpPr>
            <p:cNvPr id="260113" name="Line 6"/>
            <p:cNvSpPr>
              <a:spLocks noChangeShapeType="1"/>
            </p:cNvSpPr>
            <p:nvPr/>
          </p:nvSpPr>
          <p:spPr bwMode="auto">
            <a:xfrm>
              <a:off x="996" y="1734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14" name="Text Box 7"/>
            <p:cNvSpPr txBox="1">
              <a:spLocks noChangeArrowheads="1"/>
            </p:cNvSpPr>
            <p:nvPr/>
          </p:nvSpPr>
          <p:spPr bwMode="auto">
            <a:xfrm>
              <a:off x="554" y="1530"/>
              <a:ext cx="9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800"/>
                <a:t>Measurement</a:t>
              </a:r>
            </a:p>
          </p:txBody>
        </p:sp>
      </p:grpSp>
      <p:grpSp>
        <p:nvGrpSpPr>
          <p:cNvPr id="6536200" name="Group 8"/>
          <p:cNvGrpSpPr>
            <a:grpSpLocks/>
          </p:cNvGrpSpPr>
          <p:nvPr/>
        </p:nvGrpSpPr>
        <p:grpSpPr bwMode="auto">
          <a:xfrm>
            <a:off x="5519738" y="2192338"/>
            <a:ext cx="2997200" cy="1638300"/>
            <a:chOff x="2517" y="1333"/>
            <a:chExt cx="1888" cy="1032"/>
          </a:xfrm>
        </p:grpSpPr>
        <p:sp>
          <p:nvSpPr>
            <p:cNvPr id="260111" name="Line 9"/>
            <p:cNvSpPr>
              <a:spLocks noChangeShapeType="1"/>
            </p:cNvSpPr>
            <p:nvPr/>
          </p:nvSpPr>
          <p:spPr bwMode="auto">
            <a:xfrm>
              <a:off x="3457" y="1705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12" name="Text Box 10"/>
            <p:cNvSpPr txBox="1">
              <a:spLocks noChangeArrowheads="1"/>
            </p:cNvSpPr>
            <p:nvPr/>
          </p:nvSpPr>
          <p:spPr bwMode="auto">
            <a:xfrm>
              <a:off x="2517" y="1333"/>
              <a:ext cx="188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800"/>
                <a:t>Value of another measurement at same location.</a:t>
              </a:r>
            </a:p>
          </p:txBody>
        </p:sp>
      </p:grpSp>
      <p:sp>
        <p:nvSpPr>
          <p:cNvPr id="260105" name="Rectangle 6"/>
          <p:cNvSpPr>
            <a:spLocks noChangeArrowheads="1"/>
          </p:cNvSpPr>
          <p:nvPr/>
        </p:nvSpPr>
        <p:spPr bwMode="auto">
          <a:xfrm>
            <a:off x="2209801" y="1733551"/>
            <a:ext cx="3814763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Estimated surface</a:t>
            </a:r>
          </a:p>
        </p:txBody>
      </p:sp>
      <p:sp>
        <p:nvSpPr>
          <p:cNvPr id="260106" name="Rectangle 7"/>
          <p:cNvSpPr>
            <a:spLocks noChangeArrowheads="1"/>
          </p:cNvSpPr>
          <p:nvPr/>
        </p:nvSpPr>
        <p:spPr bwMode="auto">
          <a:xfrm>
            <a:off x="6167438" y="1733551"/>
            <a:ext cx="381476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/>
              <a:t>Knowledge gradient</a:t>
            </a:r>
          </a:p>
        </p:txBody>
      </p:sp>
      <p:grpSp>
        <p:nvGrpSpPr>
          <p:cNvPr id="6536205" name="Group 13"/>
          <p:cNvGrpSpPr>
            <a:grpSpLocks/>
          </p:cNvGrpSpPr>
          <p:nvPr/>
        </p:nvGrpSpPr>
        <p:grpSpPr bwMode="auto">
          <a:xfrm>
            <a:off x="7775575" y="2457451"/>
            <a:ext cx="1498600" cy="925513"/>
            <a:chOff x="3938" y="1548"/>
            <a:chExt cx="944" cy="583"/>
          </a:xfrm>
        </p:grpSpPr>
        <p:sp>
          <p:nvSpPr>
            <p:cNvPr id="260108" name="Line 14"/>
            <p:cNvSpPr>
              <a:spLocks noChangeShapeType="1"/>
            </p:cNvSpPr>
            <p:nvPr/>
          </p:nvSpPr>
          <p:spPr bwMode="auto">
            <a:xfrm>
              <a:off x="4410" y="178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109" name="Text Box 15"/>
            <p:cNvSpPr txBox="1">
              <a:spLocks noChangeArrowheads="1"/>
            </p:cNvSpPr>
            <p:nvPr/>
          </p:nvSpPr>
          <p:spPr bwMode="auto">
            <a:xfrm>
              <a:off x="3938" y="1548"/>
              <a:ext cx="9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800"/>
                <a:t>New optimum</a:t>
              </a:r>
            </a:p>
          </p:txBody>
        </p:sp>
        <p:sp>
          <p:nvSpPr>
            <p:cNvPr id="260110" name="Line 16"/>
            <p:cNvSpPr>
              <a:spLocks noChangeShapeType="1"/>
            </p:cNvSpPr>
            <p:nvPr/>
          </p:nvSpPr>
          <p:spPr bwMode="auto">
            <a:xfrm>
              <a:off x="4411" y="1969"/>
              <a:ext cx="0" cy="16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906F6A20-C15B-6BD1-74E7-4FB2A94ED346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latin typeface="Oswald" panose="00000500000000000000" pitchFamily="2" charset="0"/>
              </a:rPr>
              <a:t>Optimal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9D3351-7E2C-E351-171A-293B7B88DAFB}"/>
              </a:ext>
            </a:extLst>
          </p:cNvPr>
          <p:cNvSpPr txBox="1"/>
          <p:nvPr/>
        </p:nvSpPr>
        <p:spPr>
          <a:xfrm rot="1388269">
            <a:off x="2789249" y="4718696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405F1-9207-0EA8-BDE6-9DE5DB20B865}"/>
              </a:ext>
            </a:extLst>
          </p:cNvPr>
          <p:cNvSpPr txBox="1"/>
          <p:nvPr/>
        </p:nvSpPr>
        <p:spPr>
          <a:xfrm rot="20714270">
            <a:off x="4417573" y="4740677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17643-2208-AC89-7825-B83384B46689}"/>
              </a:ext>
            </a:extLst>
          </p:cNvPr>
          <p:cNvSpPr txBox="1"/>
          <p:nvPr/>
        </p:nvSpPr>
        <p:spPr>
          <a:xfrm rot="1388269">
            <a:off x="6817096" y="4714543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B3AF6-FFD5-1EF8-0DB3-635655119401}"/>
              </a:ext>
            </a:extLst>
          </p:cNvPr>
          <p:cNvSpPr txBox="1"/>
          <p:nvPr/>
        </p:nvSpPr>
        <p:spPr>
          <a:xfrm rot="20714270">
            <a:off x="8445420" y="4736524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239469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5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5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73338"/>
            <a:ext cx="914400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38247" name="Line 7"/>
          <p:cNvSpPr>
            <a:spLocks noChangeShapeType="1"/>
          </p:cNvSpPr>
          <p:nvPr/>
        </p:nvSpPr>
        <p:spPr bwMode="auto">
          <a:xfrm>
            <a:off x="4457700" y="324802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C204A2-CDED-452A-83B5-E40F13F65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221572"/>
            <a:ext cx="3814763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Estimated surface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816F649-B3B5-4234-9C93-0850FFCF7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2221572"/>
            <a:ext cx="381476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Knowledge gradient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957BACB-1779-7B48-A371-D6678212A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228" y="1181993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r>
              <a:rPr lang="en-US" sz="2000" dirty="0"/>
              <a:t>After five experiments: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AD1327-B7FF-100A-6577-7D3955A07397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latin typeface="Oswald" panose="00000500000000000000" pitchFamily="2" charset="0"/>
              </a:rPr>
              <a:t>Optimal learning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F1A26702-812B-88BF-07F9-78A25C92A622}"/>
              </a:ext>
            </a:extLst>
          </p:cNvPr>
          <p:cNvGrpSpPr>
            <a:grpSpLocks/>
          </p:cNvGrpSpPr>
          <p:nvPr/>
        </p:nvGrpSpPr>
        <p:grpSpPr bwMode="auto">
          <a:xfrm>
            <a:off x="6995855" y="2464539"/>
            <a:ext cx="1498600" cy="925513"/>
            <a:chOff x="3938" y="1548"/>
            <a:chExt cx="944" cy="583"/>
          </a:xfrm>
        </p:grpSpPr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D4B72B9A-0B73-643B-ADE2-8D99AEA2B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178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Box 15">
              <a:extLst>
                <a:ext uri="{FF2B5EF4-FFF2-40B4-BE49-F238E27FC236}">
                  <a16:creationId xmlns:a16="http://schemas.microsoft.com/office/drawing/2014/main" id="{224AC213-95D1-16CD-5F4E-60852B8D4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" y="1548"/>
              <a:ext cx="9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800"/>
                <a:t>New optimum</a:t>
              </a:r>
            </a:p>
          </p:txBody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1DCC0490-B825-734C-B72B-49CFD4C40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1" y="1969"/>
              <a:ext cx="0" cy="16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D86511E-FC19-61B6-0358-68CFDC578B3A}"/>
              </a:ext>
            </a:extLst>
          </p:cNvPr>
          <p:cNvSpPr txBox="1"/>
          <p:nvPr/>
        </p:nvSpPr>
        <p:spPr>
          <a:xfrm rot="1388269">
            <a:off x="2789249" y="4718696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648CDB-0F7D-2D1F-DE53-A06115664E8E}"/>
              </a:ext>
            </a:extLst>
          </p:cNvPr>
          <p:cNvSpPr txBox="1"/>
          <p:nvPr/>
        </p:nvSpPr>
        <p:spPr>
          <a:xfrm rot="20714270">
            <a:off x="4417573" y="4740677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35596-3A4A-7CBF-86F8-6E5BA745F861}"/>
              </a:ext>
            </a:extLst>
          </p:cNvPr>
          <p:cNvSpPr txBox="1"/>
          <p:nvPr/>
        </p:nvSpPr>
        <p:spPr>
          <a:xfrm rot="1388269">
            <a:off x="6817096" y="4714543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EB3E-637D-364C-3747-9C004FD7E9C3}"/>
              </a:ext>
            </a:extLst>
          </p:cNvPr>
          <p:cNvSpPr txBox="1"/>
          <p:nvPr/>
        </p:nvSpPr>
        <p:spPr>
          <a:xfrm rot="20714270">
            <a:off x="8445420" y="4736524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59664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82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F1DC7C5-DBB7-419B-BC78-9F55667668E7}" type="slidenum">
              <a:rPr lang="en-US" sz="1400"/>
              <a:pPr/>
              <a:t>36</a:t>
            </a:fld>
            <a:endParaRPr lang="en-US" sz="1400"/>
          </a:p>
        </p:txBody>
      </p:sp>
      <p:pic>
        <p:nvPicPr>
          <p:cNvPr id="26317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78101"/>
            <a:ext cx="9144000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A0D12CEC-F64A-46CE-9F4A-AC09ADA67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2221572"/>
            <a:ext cx="3814763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Estimated surface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3F72A3C-FB1A-41B9-81CE-D2F229DE3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2221572"/>
            <a:ext cx="381476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Knowledge gradient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817FFA-38D8-7FFA-3A8F-817CB950A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808" y="1186123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r>
              <a:rPr lang="en-US" sz="2000" dirty="0"/>
              <a:t>After seven experiments: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F92321-B566-86D9-632C-258C17276E51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latin typeface="Oswald" panose="00000500000000000000" pitchFamily="2" charset="0"/>
              </a:rPr>
              <a:t>Optimal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B080CB-ED0D-0DBF-C997-5A591244323A}"/>
              </a:ext>
            </a:extLst>
          </p:cNvPr>
          <p:cNvSpPr txBox="1"/>
          <p:nvPr/>
        </p:nvSpPr>
        <p:spPr>
          <a:xfrm rot="1388269">
            <a:off x="2789249" y="4718696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5D509-FB18-BAA6-AA0B-9BB12945A371}"/>
              </a:ext>
            </a:extLst>
          </p:cNvPr>
          <p:cNvSpPr txBox="1"/>
          <p:nvPr/>
        </p:nvSpPr>
        <p:spPr>
          <a:xfrm rot="20714270">
            <a:off x="4417573" y="4740677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45D2F-231E-5687-51EE-6B08A4BBF4B6}"/>
              </a:ext>
            </a:extLst>
          </p:cNvPr>
          <p:cNvSpPr txBox="1"/>
          <p:nvPr/>
        </p:nvSpPr>
        <p:spPr>
          <a:xfrm rot="1388269">
            <a:off x="6817096" y="4714543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11650-702C-FFE5-8AB8-E8892AA5BBE8}"/>
              </a:ext>
            </a:extLst>
          </p:cNvPr>
          <p:cNvSpPr txBox="1"/>
          <p:nvPr/>
        </p:nvSpPr>
        <p:spPr>
          <a:xfrm rot="20714270">
            <a:off x="8445420" y="4736524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FD1A8AD1-40BC-E8E5-B9A6-58C93400F88A}"/>
              </a:ext>
            </a:extLst>
          </p:cNvPr>
          <p:cNvGrpSpPr>
            <a:grpSpLocks/>
          </p:cNvGrpSpPr>
          <p:nvPr/>
        </p:nvGrpSpPr>
        <p:grpSpPr bwMode="auto">
          <a:xfrm>
            <a:off x="7096709" y="2908298"/>
            <a:ext cx="1498600" cy="925513"/>
            <a:chOff x="3938" y="1548"/>
            <a:chExt cx="944" cy="583"/>
          </a:xfrm>
        </p:grpSpPr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7E93CEC9-BD73-E474-DE05-1B9332136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0" y="178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F8B1E103-4B73-06B3-DC5A-3E5AEEC62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8" y="1548"/>
              <a:ext cx="9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1800"/>
                <a:t>New optimum</a:t>
              </a:r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E22348FC-BD60-E537-4B00-F66480460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1" y="1969"/>
              <a:ext cx="0" cy="16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044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6915B3C-3217-4883-9BE0-400E695F6C6A}" type="slidenum">
              <a:rPr lang="en-US" sz="1400"/>
              <a:pPr/>
              <a:t>37</a:t>
            </a:fld>
            <a:endParaRPr lang="en-US" sz="1400"/>
          </a:p>
        </p:txBody>
      </p:sp>
      <p:pic>
        <p:nvPicPr>
          <p:cNvPr id="2652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78101"/>
            <a:ext cx="9144000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5223" name="Rectangle 6"/>
          <p:cNvSpPr>
            <a:spLocks noChangeArrowheads="1"/>
          </p:cNvSpPr>
          <p:nvPr/>
        </p:nvSpPr>
        <p:spPr bwMode="auto">
          <a:xfrm>
            <a:off x="2209801" y="2221572"/>
            <a:ext cx="3814763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Estimated surface</a:t>
            </a:r>
          </a:p>
        </p:txBody>
      </p:sp>
      <p:sp>
        <p:nvSpPr>
          <p:cNvPr id="265224" name="Rectangle 7"/>
          <p:cNvSpPr>
            <a:spLocks noChangeArrowheads="1"/>
          </p:cNvSpPr>
          <p:nvPr/>
        </p:nvSpPr>
        <p:spPr bwMode="auto">
          <a:xfrm>
            <a:off x="6167438" y="2221572"/>
            <a:ext cx="381476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000" dirty="0"/>
              <a:t>Knowledge gradient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E3644DF-443B-69C1-1345-913671B99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421" y="1185038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n"/>
            </a:pPr>
            <a:r>
              <a:rPr lang="en-US" sz="2000" dirty="0"/>
              <a:t>After nine experiments: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A01678-F6E7-FAF5-6CB8-762BBF6152ED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dirty="0">
                <a:latin typeface="Oswald" panose="00000500000000000000" pitchFamily="2" charset="0"/>
              </a:rPr>
              <a:t>Optimal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C977D-697D-58B9-3FED-B2896D3B59D7}"/>
              </a:ext>
            </a:extLst>
          </p:cNvPr>
          <p:cNvSpPr txBox="1"/>
          <p:nvPr/>
        </p:nvSpPr>
        <p:spPr>
          <a:xfrm rot="1388269">
            <a:off x="2789249" y="4718696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EEC4A-942B-808C-04AF-CD2EB9B09520}"/>
              </a:ext>
            </a:extLst>
          </p:cNvPr>
          <p:cNvSpPr txBox="1"/>
          <p:nvPr/>
        </p:nvSpPr>
        <p:spPr>
          <a:xfrm rot="20714270">
            <a:off x="4417573" y="4740677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8C3EE-8540-B709-3565-66908B538CBE}"/>
              </a:ext>
            </a:extLst>
          </p:cNvPr>
          <p:cNvSpPr txBox="1"/>
          <p:nvPr/>
        </p:nvSpPr>
        <p:spPr>
          <a:xfrm rot="1388269">
            <a:off x="6817096" y="4714543"/>
            <a:ext cx="91082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Diameter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6E46B-9489-70A4-4E79-09A3F992DFFF}"/>
              </a:ext>
            </a:extLst>
          </p:cNvPr>
          <p:cNvSpPr txBox="1"/>
          <p:nvPr/>
        </p:nvSpPr>
        <p:spPr>
          <a:xfrm rot="20714270">
            <a:off x="8445420" y="4736524"/>
            <a:ext cx="12073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EA8D3-FBC0-4FE4-4F41-41E084E94166}"/>
              </a:ext>
            </a:extLst>
          </p:cNvPr>
          <p:cNvSpPr txBox="1"/>
          <p:nvPr/>
        </p:nvSpPr>
        <p:spPr>
          <a:xfrm>
            <a:off x="2051617" y="5657818"/>
            <a:ext cx="739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nine experiments, we can identify the best out of 2500 combinations of wafer diameter and the temperature and the heating process.</a:t>
            </a:r>
          </a:p>
        </p:txBody>
      </p:sp>
    </p:spTree>
    <p:extLst>
      <p:ext uri="{BB962C8B-B14F-4D97-AF65-F5344CB8AC3E}">
        <p14:creationId xmlns:p14="http://schemas.microsoft.com/office/powerpoint/2010/main" val="2649672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19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Cost function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3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3680" y="1143000"/>
                <a:ext cx="5117314" cy="4953000"/>
              </a:xfrm>
            </p:spPr>
            <p:txBody>
              <a:bodyPr/>
              <a:lstStyle/>
              <a:p>
                <a:r>
                  <a:rPr lang="en-US" sz="2400" dirty="0"/>
                  <a:t>Optimizing the policy</a:t>
                </a:r>
              </a:p>
              <a:p>
                <a:pPr lvl="1"/>
                <a:r>
                  <a:rPr lang="en-US" sz="2000" dirty="0"/>
                  <a:t>We optimize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r>
                  <a:rPr lang="en-US" sz="2000" dirty="0"/>
                  <a:t> to maximize: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2000" dirty="0"/>
                  <a:t>    where</a:t>
                </a:r>
              </a:p>
              <a:p>
                <a:pPr lvl="1"/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400" dirty="0"/>
                  <a:t>Notes:</a:t>
                </a:r>
              </a:p>
              <a:p>
                <a:pPr lvl="1"/>
                <a:r>
                  <a:rPr lang="en-US" sz="2000" dirty="0"/>
                  <a:t>This can handle any belief model, including correlated beliefs, nonlinear belief models.</a:t>
                </a:r>
              </a:p>
              <a:p>
                <a:pPr lvl="1"/>
                <a:r>
                  <a:rPr lang="en-US" sz="2000" dirty="0"/>
                  <a:t>All we require is that we be able to simulate a policy.  </a:t>
                </a:r>
              </a:p>
            </p:txBody>
          </p:sp>
        </mc:Choice>
        <mc:Fallback xmlns="">
          <p:sp>
            <p:nvSpPr>
              <p:cNvPr id="533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3680" y="1143000"/>
                <a:ext cx="5117314" cy="4953000"/>
              </a:xfrm>
              <a:blipFill>
                <a:blip r:embed="rId3"/>
                <a:stretch>
                  <a:fillRect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6"/>
              <p:cNvSpPr txBox="1"/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/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𝐼𝐸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𝐼𝐸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496" y="3179762"/>
                <a:ext cx="4923801" cy="439738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2280638" y="2070894"/>
          <a:ext cx="38338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040" imgH="241200" progId="Equation.DSMT4">
                  <p:embed/>
                </p:oleObj>
              </mc:Choice>
              <mc:Fallback>
                <p:oleObj name="Equation" r:id="rId5" imgW="1562040" imgH="24120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638" y="2070894"/>
                        <a:ext cx="3833812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81751B8-32F8-1284-0EC9-1005DA217A7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0065"/>
          <a:stretch/>
        </p:blipFill>
        <p:spPr>
          <a:xfrm>
            <a:off x="6759345" y="1528477"/>
            <a:ext cx="5400254" cy="38941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CF9741-B474-5F18-AE6E-3C6BF471366E}"/>
              </a:ext>
            </a:extLst>
          </p:cNvPr>
          <p:cNvSpPr/>
          <p:nvPr/>
        </p:nvSpPr>
        <p:spPr>
          <a:xfrm>
            <a:off x="9155788" y="1723983"/>
            <a:ext cx="369865" cy="3500202"/>
          </a:xfrm>
          <a:prstGeom prst="rect">
            <a:avLst/>
          </a:prstGeom>
          <a:solidFill>
            <a:srgbClr val="0066FF">
              <a:alpha val="23137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E8D992-95D3-8CCF-0901-D4724D62B14D}"/>
              </a:ext>
            </a:extLst>
          </p:cNvPr>
          <p:cNvGrpSpPr/>
          <p:nvPr/>
        </p:nvGrpSpPr>
        <p:grpSpPr>
          <a:xfrm>
            <a:off x="8175569" y="2115803"/>
            <a:ext cx="980233" cy="338554"/>
            <a:chOff x="7388355" y="3964839"/>
            <a:chExt cx="980233" cy="338554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530F961-4B05-34C4-FAF4-CE3C029C48E6}"/>
                </a:ext>
              </a:extLst>
            </p:cNvPr>
            <p:cNvCxnSpPr/>
            <p:nvPr/>
          </p:nvCxnSpPr>
          <p:spPr>
            <a:xfrm>
              <a:off x="7417612" y="4250131"/>
              <a:ext cx="950976" cy="0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FFFAC0-762D-27A7-7A1B-5D1B354A6842}"/>
                </a:ext>
              </a:extLst>
            </p:cNvPr>
            <p:cNvSpPr txBox="1"/>
            <p:nvPr/>
          </p:nvSpPr>
          <p:spPr>
            <a:xfrm>
              <a:off x="7388355" y="3964839"/>
              <a:ext cx="8963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IE wins!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4B41A6E-D7A6-EEA6-51EF-AB59E4F3FEF7}"/>
              </a:ext>
            </a:extLst>
          </p:cNvPr>
          <p:cNvSpPr txBox="1"/>
          <p:nvPr/>
        </p:nvSpPr>
        <p:spPr>
          <a:xfrm>
            <a:off x="10573199" y="4410772"/>
            <a:ext cx="11208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Knowledge </a:t>
            </a:r>
          </a:p>
          <a:p>
            <a:r>
              <a:rPr lang="en-US" dirty="0"/>
              <a:t>gradient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1FEF6-BDE2-BE44-54AA-49A36A070300}"/>
              </a:ext>
            </a:extLst>
          </p:cNvPr>
          <p:cNvSpPr txBox="1"/>
          <p:nvPr/>
        </p:nvSpPr>
        <p:spPr>
          <a:xfrm>
            <a:off x="10173869" y="2454357"/>
            <a:ext cx="10005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Interval </a:t>
            </a:r>
          </a:p>
          <a:p>
            <a:pPr algn="r"/>
            <a:r>
              <a:rPr lang="en-US" dirty="0"/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35024F-A7D7-90DD-A005-7FAEEBBF5669}"/>
                  </a:ext>
                </a:extLst>
              </p:cNvPr>
              <p:cNvSpPr txBox="1"/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IE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𝐼𝐸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35024F-A7D7-90DD-A005-7FAEEBBF5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091" y="5477047"/>
                <a:ext cx="2103461" cy="400110"/>
              </a:xfrm>
              <a:prstGeom prst="rect">
                <a:avLst/>
              </a:prstGeom>
              <a:blipFill>
                <a:blip r:embed="rId8"/>
                <a:stretch>
                  <a:fillRect l="-3188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8FB206-B702-7898-125E-2922B6963A8F}"/>
              </a:ext>
            </a:extLst>
          </p:cNvPr>
          <p:cNvSpPr txBox="1"/>
          <p:nvPr/>
        </p:nvSpPr>
        <p:spPr>
          <a:xfrm rot="16200000">
            <a:off x="5651725" y="3272890"/>
            <a:ext cx="268374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    Opportunity cost    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B09FF9-2572-072D-C473-6D784FBC3E5C}"/>
              </a:ext>
            </a:extLst>
          </p:cNvPr>
          <p:cNvGrpSpPr/>
          <p:nvPr/>
        </p:nvGrpSpPr>
        <p:grpSpPr>
          <a:xfrm>
            <a:off x="7402769" y="4410772"/>
            <a:ext cx="4447814" cy="551572"/>
            <a:chOff x="7113321" y="4200264"/>
            <a:chExt cx="4447814" cy="55157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868547-ADE6-DAF4-C5FD-C3A423A29530}"/>
                </a:ext>
              </a:extLst>
            </p:cNvPr>
            <p:cNvCxnSpPr/>
            <p:nvPr/>
          </p:nvCxnSpPr>
          <p:spPr>
            <a:xfrm>
              <a:off x="7113321" y="4751836"/>
              <a:ext cx="4447814" cy="0"/>
            </a:xfrm>
            <a:prstGeom prst="line">
              <a:avLst/>
            </a:prstGeom>
            <a:ln w="28575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0E9168-8E9C-9A9F-C012-C5D032E4FB4E}"/>
                </a:ext>
              </a:extLst>
            </p:cNvPr>
            <p:cNvSpPr/>
            <p:nvPr/>
          </p:nvSpPr>
          <p:spPr>
            <a:xfrm>
              <a:off x="10224104" y="4200264"/>
              <a:ext cx="1180467" cy="497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FC82283-9759-748C-5335-00BCC225B372}"/>
              </a:ext>
            </a:extLst>
          </p:cNvPr>
          <p:cNvSpPr/>
          <p:nvPr/>
        </p:nvSpPr>
        <p:spPr>
          <a:xfrm>
            <a:off x="9021466" y="4943282"/>
            <a:ext cx="184219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18CA09B-F8E9-4074-B3AF-8A154CCE750C}"/>
              </a:ext>
            </a:extLst>
          </p:cNvPr>
          <p:cNvSpPr/>
          <p:nvPr/>
        </p:nvSpPr>
        <p:spPr>
          <a:xfrm flipV="1">
            <a:off x="9460662" y="4933993"/>
            <a:ext cx="101600" cy="45719"/>
          </a:xfrm>
          <a:custGeom>
            <a:avLst/>
            <a:gdLst>
              <a:gd name="connsiteX0" fmla="*/ 0 w 184219"/>
              <a:gd name="connsiteY0" fmla="*/ 0 h 30145"/>
              <a:gd name="connsiteX1" fmla="*/ 184219 w 184219"/>
              <a:gd name="connsiteY1" fmla="*/ 30145 h 3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219" h="30145">
                <a:moveTo>
                  <a:pt x="0" y="0"/>
                </a:moveTo>
                <a:lnTo>
                  <a:pt x="184219" y="30145"/>
                </a:lnTo>
              </a:path>
            </a:pathLst>
          </a:custGeom>
          <a:noFill/>
          <a:ln w="12700">
            <a:solidFill>
              <a:srgbClr val="7668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3591D2-AFEF-8238-E3CD-BF712EF32D93}"/>
              </a:ext>
            </a:extLst>
          </p:cNvPr>
          <p:cNvSpPr/>
          <p:nvPr/>
        </p:nvSpPr>
        <p:spPr>
          <a:xfrm>
            <a:off x="2756359" y="2290304"/>
            <a:ext cx="439738" cy="439738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4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E293-8FB7-77E6-557A-B288789C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75083A1-A263-DCE7-3C1A-C1FB1DB6C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0D404-3D53-33D9-A2B2-31E878E9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FF36D-2ECA-ACC2-F6EF-9C4A9306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DCD13-B718-3382-A322-99FE4AE5B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A3B71-7010-A892-FD79-46DFF5131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E1BD04-7166-2FB4-8945-124E36C09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3929D5-2246-8179-C64F-063BC5469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B7C66B-BD55-D325-6EBE-0341E1812467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optimal learning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Sequential decision problems → Optimal learning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944604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0C8D23-C824-4069-9D96-A056B9C750B2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b9a67f89-7d7d-48be-9399-9713d9f7587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468973</TotalTime>
  <Words>3576</Words>
  <Application>Microsoft Office PowerPoint</Application>
  <PresentationFormat>Widescreen</PresentationFormat>
  <Paragraphs>1017</Paragraphs>
  <Slides>81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Wingdings</vt:lpstr>
      <vt:lpstr>Cambria Math</vt:lpstr>
      <vt:lpstr>Oswald</vt:lpstr>
      <vt:lpstr>Raleway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OUTLINE</vt:lpstr>
      <vt:lpstr>OUTLINE</vt:lpstr>
      <vt:lpstr>Optimal learning</vt:lpstr>
      <vt:lpstr>PowerPoint Presentation</vt:lpstr>
      <vt:lpstr>Optimal learning</vt:lpstr>
      <vt:lpstr>PowerPoint Presentation</vt:lpstr>
      <vt:lpstr>Optimal learning</vt:lpstr>
      <vt:lpstr>Optimal learning</vt:lpstr>
      <vt:lpstr>Optimal learning</vt:lpstr>
      <vt:lpstr>Optimal learning</vt:lpstr>
      <vt:lpstr>OUTLINE</vt:lpstr>
      <vt:lpstr>Optimal learning</vt:lpstr>
      <vt:lpstr>Optimal learning</vt:lpstr>
      <vt:lpstr>Optimal learning</vt:lpstr>
      <vt:lpstr>Optimal learning</vt:lpstr>
      <vt:lpstr>Optimal learning</vt:lpstr>
      <vt:lpstr>OUTLINE</vt:lpstr>
      <vt:lpstr>Cost function approximations</vt:lpstr>
      <vt:lpstr>Cost function approximations</vt:lpstr>
      <vt:lpstr>Cost function approximations</vt:lpstr>
      <vt:lpstr>Optimal learning</vt:lpstr>
      <vt:lpstr>Cost function approximations</vt:lpstr>
      <vt:lpstr>Cost function approximations</vt:lpstr>
      <vt:lpstr>Cost function approximations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Optimal learning</vt:lpstr>
      <vt:lpstr>PowerPoint Presentation</vt:lpstr>
      <vt:lpstr>PowerPoint Presentation</vt:lpstr>
      <vt:lpstr>PowerPoint Presentation</vt:lpstr>
      <vt:lpstr>PowerPoint Presentation</vt:lpstr>
      <vt:lpstr>Cost function approximations</vt:lpstr>
      <vt:lpstr>Thank you!</vt:lpstr>
      <vt:lpstr>PowerPoint Presentation</vt:lpstr>
      <vt:lpstr>OUTLINE</vt:lpstr>
      <vt:lpstr>OUTLINE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The Universal Modeling Framework</vt:lpstr>
      <vt:lpstr>The Universal Modeling Framework</vt:lpstr>
      <vt:lpstr>OUTLINE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Thank you!</vt:lpstr>
      <vt:lpstr>PowerPoint Presentation</vt:lpstr>
      <vt:lpstr>OUTLINE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775</cp:revision>
  <cp:lastPrinted>2025-05-20T14:08:40Z</cp:lastPrinted>
  <dcterms:modified xsi:type="dcterms:W3CDTF">2026-09-07T19:44:00Z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