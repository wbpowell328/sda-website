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91"/>
  </p:notesMasterIdLst>
  <p:sldIdLst>
    <p:sldId id="10773" r:id="rId256"/>
    <p:sldId id="11015" r:id="rId257"/>
    <p:sldId id="10452" r:id="rId258"/>
    <p:sldId id="10453" r:id="rId259"/>
    <p:sldId id="10454" r:id="rId260"/>
    <p:sldId id="10455" r:id="rId261"/>
    <p:sldId id="10456" r:id="rId262"/>
    <p:sldId id="10457" r:id="rId263"/>
    <p:sldId id="10458" r:id="rId264"/>
    <p:sldId id="10459" r:id="rId265"/>
    <p:sldId id="10460" r:id="rId266"/>
    <p:sldId id="10461" r:id="rId267"/>
    <p:sldId id="10462" r:id="rId268"/>
    <p:sldId id="10463" r:id="rId269"/>
    <p:sldId id="10590" r:id="rId270"/>
    <p:sldId id="10601" r:id="rId271"/>
    <p:sldId id="10602" r:id="rId272"/>
    <p:sldId id="11024" r:id="rId273"/>
  </p:sldIdLst>
  <p:sldSz cx="12192000" cy="6858000"/>
  <p:notesSz cx="7102475" cy="9388475"/>
  <p:embeddedFontLst>
    <p:embeddedFont>
      <p:font typeface="Cambria Math" panose="02040503050406030204" pitchFamily="18" charset="0"/>
      <p:regular r:id="rId392"/>
    </p:embeddedFont>
    <p:embeddedFont>
      <p:font typeface="Oswald" panose="00000500000000000000" pitchFamily="2" charset="0"/>
      <p:regular r:id="rId393"/>
      <p:bold r:id="rId394"/>
    </p:embeddedFont>
    <p:embeddedFont>
      <p:font typeface="Oswald Regular" panose="00000500000000000000" charset="0"/>
      <p:regular r:id="rId395"/>
      <p:bold r:id="rId396"/>
    </p:embeddedFont>
    <p:embeddedFont>
      <p:font typeface="Playfair Display" panose="00000500000000000000" pitchFamily="2" charset="0"/>
      <p:regular r:id="rId397"/>
      <p:bold r:id="rId398"/>
      <p:italic r:id="rId399"/>
      <p:boldItalic r:id="rId400"/>
    </p:embeddedFont>
    <p:embeddedFont>
      <p:font typeface="Raleway" pitchFamily="2" charset="0"/>
      <p:regular r:id="rId401"/>
      <p:bold r:id="rId402"/>
      <p:italic r:id="rId403"/>
      <p:boldItalic r:id="rId404"/>
    </p:embeddedFont>
    <p:embeddedFont>
      <p:font typeface="Raleway Thin" pitchFamily="2" charset="0"/>
      <p:regular r:id="rId405"/>
      <p:bold r:id="rId406"/>
      <p:italic r:id="rId407"/>
      <p:boldItalic r:id="rId40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Policy function approximations" id="{2968945F-A103-4460-96A7-EAC23413810B}">
          <p14:sldIdLst>
            <p14:sldId id="10760"/>
            <p14:sldId id="10588"/>
            <p14:sldId id="10374"/>
            <p14:sldId id="10378"/>
            <p14:sldId id="10535"/>
            <p14:sldId id="11054"/>
            <p14:sldId id="4656"/>
            <p14:sldId id="4658"/>
            <p14:sldId id="10375"/>
            <p14:sldId id="10376"/>
            <p14:sldId id="10377"/>
            <p14:sldId id="11051"/>
            <p14:sldId id="11050"/>
            <p14:sldId id="11052"/>
            <p14:sldId id="10543"/>
            <p14:sldId id="10664"/>
            <p14:sldId id="11041"/>
          </p14:sldIdLst>
        </p14:section>
        <p14:section name="Cost function approximations" id="{646EA107-656E-4B76-B592-826797412CA6}">
          <p14:sldIdLst>
            <p14:sldId id="10765"/>
            <p14:sldId id="9933"/>
            <p14:sldId id="10270"/>
            <p14:sldId id="10214"/>
            <p14:sldId id="9796"/>
            <p14:sldId id="10207"/>
            <p14:sldId id="10208"/>
            <p14:sldId id="10209"/>
            <p14:sldId id="10210"/>
            <p14:sldId id="10211"/>
            <p14:sldId id="10272"/>
            <p14:sldId id="10891"/>
            <p14:sldId id="10643"/>
            <p14:sldId id="10215"/>
            <p14:sldId id="10589"/>
            <p14:sldId id="9061"/>
            <p14:sldId id="9108"/>
            <p14:sldId id="8939"/>
            <p14:sldId id="9082"/>
            <p14:sldId id="10974"/>
          </p14:sldIdLst>
        </p14:section>
        <p14:section name="Value function approximations (5 parts)" id="{CF00BF4F-5584-4580-9D7B-9D8880ECA957}">
          <p14:sldIdLst>
            <p14:sldId id="10737"/>
            <p14:sldId id="10761"/>
            <p14:sldId id="10975"/>
            <p14:sldId id="11006"/>
            <p14:sldId id="10783"/>
            <p14:sldId id="10699"/>
            <p14:sldId id="10592"/>
            <p14:sldId id="5586"/>
            <p14:sldId id="5576"/>
            <p14:sldId id="10384"/>
            <p14:sldId id="11031"/>
            <p14:sldId id="10985"/>
            <p14:sldId id="6555"/>
            <p14:sldId id="6556"/>
            <p14:sldId id="6557"/>
            <p14:sldId id="6558"/>
            <p14:sldId id="11034"/>
            <p14:sldId id="10423"/>
            <p14:sldId id="11035"/>
            <p14:sldId id="5599"/>
            <p14:sldId id="11056"/>
            <p14:sldId id="10991"/>
            <p14:sldId id="10769"/>
            <p14:sldId id="11007"/>
            <p14:sldId id="10986"/>
            <p14:sldId id="10264"/>
            <p14:sldId id="10265"/>
            <p14:sldId id="10266"/>
            <p14:sldId id="9555"/>
            <p14:sldId id="10688"/>
            <p14:sldId id="10988"/>
            <p14:sldId id="10316"/>
            <p14:sldId id="3309"/>
            <p14:sldId id="10318"/>
            <p14:sldId id="10319"/>
            <p14:sldId id="3311"/>
            <p14:sldId id="3312"/>
            <p14:sldId id="3313"/>
            <p14:sldId id="3314"/>
            <p14:sldId id="10321"/>
            <p14:sldId id="3315"/>
            <p14:sldId id="10322"/>
            <p14:sldId id="3316"/>
            <p14:sldId id="10323"/>
            <p14:sldId id="10595"/>
            <p14:sldId id="11036"/>
            <p14:sldId id="10989"/>
            <p14:sldId id="10717"/>
            <p14:sldId id="6103"/>
            <p14:sldId id="6104"/>
            <p14:sldId id="10528"/>
            <p14:sldId id="6105"/>
            <p14:sldId id="10733"/>
            <p14:sldId id="10326"/>
            <p14:sldId id="10990"/>
            <p14:sldId id="6255"/>
            <p14:sldId id="6256"/>
            <p14:sldId id="6257"/>
            <p14:sldId id="6258"/>
            <p14:sldId id="10992"/>
            <p14:sldId id="10770"/>
            <p14:sldId id="11008"/>
            <p14:sldId id="10996"/>
            <p14:sldId id="6387"/>
            <p14:sldId id="6388"/>
            <p14:sldId id="6389"/>
            <p14:sldId id="10997"/>
            <p14:sldId id="5774"/>
            <p14:sldId id="5777"/>
            <p14:sldId id="5782"/>
            <p14:sldId id="5783"/>
            <p14:sldId id="10593"/>
            <p14:sldId id="5780"/>
            <p14:sldId id="10998"/>
            <p14:sldId id="10641"/>
            <p14:sldId id="9560"/>
            <p14:sldId id="10993"/>
            <p14:sldId id="10772"/>
            <p14:sldId id="11009"/>
            <p14:sldId id="10999"/>
            <p14:sldId id="11101"/>
            <p14:sldId id="10667"/>
            <p14:sldId id="11088"/>
            <p14:sldId id="10958"/>
            <p14:sldId id="11089"/>
            <p14:sldId id="11090"/>
            <p14:sldId id="10956"/>
            <p14:sldId id="5810"/>
            <p14:sldId id="5813"/>
            <p14:sldId id="11091"/>
            <p14:sldId id="11000"/>
            <p14:sldId id="6414"/>
            <p14:sldId id="10959"/>
            <p14:sldId id="10960"/>
            <p14:sldId id="6415"/>
            <p14:sldId id="6416"/>
            <p14:sldId id="6417"/>
            <p14:sldId id="6418"/>
            <p14:sldId id="6419"/>
            <p14:sldId id="11001"/>
            <p14:sldId id="9081"/>
            <p14:sldId id="9088"/>
            <p14:sldId id="9119"/>
            <p14:sldId id="9089"/>
            <p14:sldId id="10947"/>
            <p14:sldId id="10951"/>
            <p14:sldId id="10950"/>
            <p14:sldId id="10949"/>
            <p14:sldId id="10948"/>
            <p14:sldId id="10952"/>
            <p14:sldId id="10476"/>
            <p14:sldId id="10475"/>
            <p14:sldId id="10676"/>
            <p14:sldId id="10677"/>
            <p14:sldId id="10684"/>
            <p14:sldId id="10994"/>
            <p14:sldId id="10771"/>
            <p14:sldId id="11010"/>
            <p14:sldId id="11096"/>
            <p14:sldId id="11097"/>
            <p14:sldId id="413"/>
            <p14:sldId id="414"/>
            <p14:sldId id="416"/>
            <p14:sldId id="11093"/>
            <p14:sldId id="5736"/>
            <p14:sldId id="5737"/>
            <p14:sldId id="5738"/>
            <p14:sldId id="5739"/>
            <p14:sldId id="5740"/>
            <p14:sldId id="5741"/>
            <p14:sldId id="5742"/>
            <p14:sldId id="5743"/>
            <p14:sldId id="5744"/>
            <p14:sldId id="5745"/>
            <p14:sldId id="6099"/>
            <p14:sldId id="5746"/>
            <p14:sldId id="5751"/>
            <p14:sldId id="5752"/>
            <p14:sldId id="5753"/>
            <p14:sldId id="5754"/>
            <p14:sldId id="11098"/>
            <p14:sldId id="5757"/>
            <p14:sldId id="5758"/>
            <p14:sldId id="5759"/>
            <p14:sldId id="5760"/>
            <p14:sldId id="5761"/>
            <p14:sldId id="5762"/>
            <p14:sldId id="10954"/>
            <p14:sldId id="5764"/>
            <p14:sldId id="5765"/>
            <p14:sldId id="5766"/>
            <p14:sldId id="11099"/>
            <p14:sldId id="9936"/>
            <p14:sldId id="9937"/>
            <p14:sldId id="9938"/>
            <p14:sldId id="9939"/>
            <p14:sldId id="9494"/>
            <p14:sldId id="9940"/>
            <p14:sldId id="10730"/>
            <p14:sldId id="9941"/>
            <p14:sldId id="9942"/>
            <p14:sldId id="7912"/>
            <p14:sldId id="9944"/>
            <p14:sldId id="6405"/>
            <p14:sldId id="6407"/>
            <p14:sldId id="6408"/>
            <p14:sldId id="6409"/>
            <p14:sldId id="6410"/>
            <p14:sldId id="6411"/>
            <p14:sldId id="6412"/>
            <p14:sldId id="11100"/>
            <p14:sldId id="11094"/>
            <p14:sldId id="4685"/>
            <p14:sldId id="4686"/>
            <p14:sldId id="4687"/>
            <p14:sldId id="4688"/>
            <p14:sldId id="5909"/>
            <p14:sldId id="5910"/>
            <p14:sldId id="5911"/>
            <p14:sldId id="5912"/>
            <p14:sldId id="5913"/>
            <p14:sldId id="5914"/>
            <p14:sldId id="5915"/>
            <p14:sldId id="5916"/>
            <p14:sldId id="5917"/>
            <p14:sldId id="751"/>
            <p14:sldId id="752"/>
            <p14:sldId id="818"/>
            <p14:sldId id="5923"/>
            <p14:sldId id="817"/>
            <p14:sldId id="5924"/>
            <p14:sldId id="5925"/>
            <p14:sldId id="11095"/>
            <p14:sldId id="10995"/>
          </p14:sldIdLst>
        </p14:section>
        <p14:section name="Direct lookahead approximations (5 parts)" id="{E7718E6B-CD32-432C-BFF1-A2CA0E065725}">
          <p14:sldIdLst>
            <p14:sldId id="10803"/>
            <p14:sldId id="10774"/>
            <p14:sldId id="11012"/>
            <p14:sldId id="11014"/>
            <p14:sldId id="11011"/>
            <p14:sldId id="8804"/>
            <p14:sldId id="8805"/>
            <p14:sldId id="10710"/>
            <p14:sldId id="8809"/>
            <p14:sldId id="8590"/>
            <p14:sldId id="7852"/>
            <p14:sldId id="7853"/>
            <p14:sldId id="7854"/>
            <p14:sldId id="9026"/>
            <p14:sldId id="10644"/>
            <p14:sldId id="11013"/>
            <p14:sldId id="9104"/>
            <p14:sldId id="9105"/>
            <p14:sldId id="9106"/>
            <p14:sldId id="11023"/>
            <p14:sldId id="10773"/>
            <p14:sldId id="11015"/>
            <p14:sldId id="10452"/>
            <p14:sldId id="10453"/>
            <p14:sldId id="10454"/>
            <p14:sldId id="10455"/>
            <p14:sldId id="10456"/>
            <p14:sldId id="10457"/>
            <p14:sldId id="10458"/>
            <p14:sldId id="10459"/>
            <p14:sldId id="10460"/>
            <p14:sldId id="10461"/>
            <p14:sldId id="10462"/>
            <p14:sldId id="10463"/>
            <p14:sldId id="10590"/>
            <p14:sldId id="10601"/>
            <p14:sldId id="10602"/>
            <p14:sldId id="11024"/>
            <p14:sldId id="10775"/>
            <p14:sldId id="11016"/>
            <p14:sldId id="11017"/>
            <p14:sldId id="10277"/>
            <p14:sldId id="8943"/>
            <p14:sldId id="8849"/>
            <p14:sldId id="9059"/>
            <p14:sldId id="933"/>
            <p14:sldId id="934"/>
            <p14:sldId id="944"/>
            <p14:sldId id="7152"/>
            <p14:sldId id="7315"/>
            <p14:sldId id="7310"/>
            <p14:sldId id="9110"/>
            <p14:sldId id="10278"/>
            <p14:sldId id="11018"/>
            <p14:sldId id="10281"/>
            <p14:sldId id="8810"/>
            <p14:sldId id="8811"/>
            <p14:sldId id="8812"/>
            <p14:sldId id="9041"/>
            <p14:sldId id="9042"/>
            <p14:sldId id="10282"/>
            <p14:sldId id="9115"/>
            <p14:sldId id="9085"/>
            <p14:sldId id="8816"/>
            <p14:sldId id="11019"/>
            <p14:sldId id="7561"/>
            <p14:sldId id="10611"/>
            <p14:sldId id="10665"/>
            <p14:sldId id="10612"/>
            <p14:sldId id="7563"/>
            <p14:sldId id="7564"/>
            <p14:sldId id="9116"/>
            <p14:sldId id="10296"/>
            <p14:sldId id="10297"/>
            <p14:sldId id="7568"/>
            <p14:sldId id="11025"/>
            <p14:sldId id="10776"/>
            <p14:sldId id="11020"/>
            <p14:sldId id="10894"/>
            <p14:sldId id="11057"/>
            <p14:sldId id="10897"/>
            <p14:sldId id="3061"/>
            <p14:sldId id="6236"/>
            <p14:sldId id="3038"/>
            <p14:sldId id="11059"/>
            <p14:sldId id="11058"/>
            <p14:sldId id="6238"/>
            <p14:sldId id="6239"/>
            <p14:sldId id="6240"/>
            <p14:sldId id="6241"/>
            <p14:sldId id="10895"/>
            <p14:sldId id="10719"/>
            <p14:sldId id="6671"/>
            <p14:sldId id="6674"/>
            <p14:sldId id="6673"/>
            <p14:sldId id="4634"/>
            <p14:sldId id="6672"/>
            <p14:sldId id="9078"/>
            <p14:sldId id="9079"/>
            <p14:sldId id="9080"/>
            <p14:sldId id="6682"/>
            <p14:sldId id="11026"/>
            <p14:sldId id="10778"/>
            <p14:sldId id="11021"/>
            <p14:sldId id="10898"/>
            <p14:sldId id="3357"/>
            <p14:sldId id="8232"/>
            <p14:sldId id="8233"/>
            <p14:sldId id="8234"/>
            <p14:sldId id="3361"/>
            <p14:sldId id="3972"/>
            <p14:sldId id="6467"/>
            <p14:sldId id="6468"/>
            <p14:sldId id="6472"/>
            <p14:sldId id="6469"/>
            <p14:sldId id="6470"/>
            <p14:sldId id="6471"/>
            <p14:sldId id="6473"/>
            <p14:sldId id="6661"/>
            <p14:sldId id="6474"/>
            <p14:sldId id="6475"/>
            <p14:sldId id="6476"/>
            <p14:sldId id="6479"/>
            <p14:sldId id="10899"/>
            <p14:sldId id="11061"/>
            <p14:sldId id="10931"/>
            <p14:sldId id="11027"/>
          </p14:sldIdLst>
        </p14:section>
        <p14:section name="Policy search" id="{D65F9DCC-2D85-4849-95C7-F79CE871E060}">
          <p14:sldIdLst>
            <p14:sldId id="11038"/>
            <p14:sldId id="11067"/>
            <p14:sldId id="11081"/>
            <p14:sldId id="10407"/>
            <p14:sldId id="10380"/>
            <p14:sldId id="10546"/>
            <p14:sldId id="10381"/>
            <p14:sldId id="11082"/>
            <p14:sldId id="5581"/>
            <p14:sldId id="10568"/>
            <p14:sldId id="11062"/>
            <p14:sldId id="11063"/>
            <p14:sldId id="11064"/>
            <p14:sldId id="10382"/>
            <p14:sldId id="11083"/>
            <p14:sldId id="10642"/>
            <p14:sldId id="10732"/>
            <p14:sldId id="11065"/>
            <p14:sldId id="11084"/>
            <p14:sldId id="11044"/>
            <p14:sldId id="10252"/>
            <p14:sldId id="10548"/>
            <p14:sldId id="11085"/>
            <p14:sldId id="11075"/>
            <p14:sldId id="11077"/>
            <p14:sldId id="11080"/>
            <p14:sldId id="11066"/>
            <p14:sldId id="10973"/>
          </p14:sldIdLst>
        </p14:section>
        <p14:section name="Ending slide" id="{A38FE40B-7866-452A-AB51-D7C6AA82D48C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99" autoAdjust="0"/>
  </p:normalViewPr>
  <p:slideViewPr>
    <p:cSldViewPr snapToGrid="0">
      <p:cViewPr varScale="1">
        <p:scale>
          <a:sx n="73" d="100"/>
          <a:sy n="73" d="100"/>
        </p:scale>
        <p:origin x="88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0061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68" Type="http://schemas.openxmlformats.org/officeDocument/2006/relationships/slide" Target="slides/slide264.xml"/><Relationship Id="rId402" Type="http://schemas.openxmlformats.org/officeDocument/2006/relationships/font" Target="fonts/font11.fntdata"/><Relationship Id="rId399" Type="http://schemas.openxmlformats.org/officeDocument/2006/relationships/font" Target="fonts/font8.fntdata"/><Relationship Id="rId259" Type="http://schemas.openxmlformats.org/officeDocument/2006/relationships/slide" Target="slides/slide255.xml"/><Relationship Id="rId270" Type="http://schemas.openxmlformats.org/officeDocument/2006/relationships/slide" Target="slides/slide266.xml"/><Relationship Id="rId404" Type="http://schemas.openxmlformats.org/officeDocument/2006/relationships/font" Target="fonts/font13.fntdata"/><Relationship Id="rId261" Type="http://schemas.openxmlformats.org/officeDocument/2006/relationships/slide" Target="slides/slide257.xml"/><Relationship Id="rId272" Type="http://schemas.openxmlformats.org/officeDocument/2006/relationships/slide" Target="slides/slide268.xml"/><Relationship Id="rId406" Type="http://schemas.openxmlformats.org/officeDocument/2006/relationships/font" Target="fonts/font15.fntdata"/><Relationship Id="rId392" Type="http://schemas.openxmlformats.org/officeDocument/2006/relationships/font" Target="fonts/font1.fntdata"/><Relationship Id="rId263" Type="http://schemas.openxmlformats.org/officeDocument/2006/relationships/slide" Target="slides/slide259.xml"/><Relationship Id="rId264" Type="http://schemas.openxmlformats.org/officeDocument/2006/relationships/slide" Target="slides/slide260.xml"/><Relationship Id="rId394" Type="http://schemas.openxmlformats.org/officeDocument/2006/relationships/font" Target="fonts/font3.fntdata"/><Relationship Id="rId408" Type="http://schemas.openxmlformats.org/officeDocument/2006/relationships/font" Target="fonts/font17.fntdata"/><Relationship Id="rId1" Type="http://schemas.openxmlformats.org/officeDocument/2006/relationships/customXml" Target="../customXml/item1.xml"/><Relationship Id="rId265" Type="http://schemas.openxmlformats.org/officeDocument/2006/relationships/slide" Target="slides/slide261.xml"/><Relationship Id="rId395" Type="http://schemas.openxmlformats.org/officeDocument/2006/relationships/font" Target="fonts/font4.fntdata"/><Relationship Id="rId409" Type="http://schemas.openxmlformats.org/officeDocument/2006/relationships/presProps" Target="presProps.xml"/><Relationship Id="rId2" Type="http://schemas.openxmlformats.org/officeDocument/2006/relationships/customXml" Target="../customXml/item2.xml"/><Relationship Id="rId266" Type="http://schemas.openxmlformats.org/officeDocument/2006/relationships/slide" Target="slides/slide262.xml"/><Relationship Id="rId410" Type="http://schemas.openxmlformats.org/officeDocument/2006/relationships/viewProps" Target="viewProps.xml"/><Relationship Id="rId396" Type="http://schemas.openxmlformats.org/officeDocument/2006/relationships/font" Target="fonts/font5.fntdata"/><Relationship Id="rId3" Type="http://schemas.openxmlformats.org/officeDocument/2006/relationships/customXml" Target="../customXml/item3.xml"/><Relationship Id="rId256" Type="http://schemas.openxmlformats.org/officeDocument/2006/relationships/slide" Target="slides/slide252.xml"/><Relationship Id="rId400" Type="http://schemas.openxmlformats.org/officeDocument/2006/relationships/font" Target="fonts/font9.fntdata"/><Relationship Id="rId267" Type="http://schemas.openxmlformats.org/officeDocument/2006/relationships/slide" Target="slides/slide263.xml"/><Relationship Id="rId411" Type="http://schemas.openxmlformats.org/officeDocument/2006/relationships/theme" Target="theme/theme1.xml"/><Relationship Id="rId397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257" Type="http://schemas.openxmlformats.org/officeDocument/2006/relationships/slide" Target="slides/slide253.xml"/><Relationship Id="rId401" Type="http://schemas.openxmlformats.org/officeDocument/2006/relationships/font" Target="fonts/font10.fntdata"/><Relationship Id="rId412" Type="http://schemas.openxmlformats.org/officeDocument/2006/relationships/tableStyles" Target="tableStyles.xml"/><Relationship Id="rId398" Type="http://schemas.openxmlformats.org/officeDocument/2006/relationships/font" Target="fonts/font7.fntdata"/><Relationship Id="rId258" Type="http://schemas.openxmlformats.org/officeDocument/2006/relationships/slide" Target="slides/slide254.xml"/><Relationship Id="rId269" Type="http://schemas.openxmlformats.org/officeDocument/2006/relationships/slide" Target="slides/slide265.xml"/><Relationship Id="rId403" Type="http://schemas.openxmlformats.org/officeDocument/2006/relationships/font" Target="fonts/font12.fntdata"/><Relationship Id="rId260" Type="http://schemas.openxmlformats.org/officeDocument/2006/relationships/slide" Target="slides/slide256.xml"/><Relationship Id="rId271" Type="http://schemas.openxmlformats.org/officeDocument/2006/relationships/slide" Target="slides/slide267.xml"/><Relationship Id="rId391" Type="http://schemas.openxmlformats.org/officeDocument/2006/relationships/notesMaster" Target="notesMasters/notesMaster1.xml"/><Relationship Id="rId405" Type="http://schemas.openxmlformats.org/officeDocument/2006/relationships/font" Target="fonts/font14.fntdata"/><Relationship Id="rId262" Type="http://schemas.openxmlformats.org/officeDocument/2006/relationships/slide" Target="slides/slide258.xml"/><Relationship Id="rId273" Type="http://schemas.openxmlformats.org/officeDocument/2006/relationships/slide" Target="slides/slide269.xml"/><Relationship Id="rId393" Type="http://schemas.openxmlformats.org/officeDocument/2006/relationships/font" Target="fonts/font2.fntdata"/><Relationship Id="rId407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A6DAB9D-89D9-1D2F-B074-725B3355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2DE592EB-D490-501C-F2B4-56A3E3B37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78204640-364B-ADFD-B6E0-EAB8CAC071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5551382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9">
          <a:extLst>
            <a:ext uri="{FF2B5EF4-FFF2-40B4-BE49-F238E27FC236}">
              <a16:creationId xmlns:a16="http://schemas.microsoft.com/office/drawing/2014/main" id="{015B15E0-5F3B-3692-D4E4-98992EF7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0" name="Google Shape;4400;p84:notes">
            <a:extLst>
              <a:ext uri="{FF2B5EF4-FFF2-40B4-BE49-F238E27FC236}">
                <a16:creationId xmlns:a16="http://schemas.microsoft.com/office/drawing/2014/main" id="{31CFBB19-F965-D5FE-FB9E-983E19FDBC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01" name="Google Shape;4401;p84:notes">
            <a:extLst>
              <a:ext uri="{FF2B5EF4-FFF2-40B4-BE49-F238E27FC236}">
                <a16:creationId xmlns:a16="http://schemas.microsoft.com/office/drawing/2014/main" id="{E8517FBA-0641-A750-2663-B370C0C0EA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402" name="Google Shape;4402;p84:notes">
            <a:extLst>
              <a:ext uri="{FF2B5EF4-FFF2-40B4-BE49-F238E27FC236}">
                <a16:creationId xmlns:a16="http://schemas.microsoft.com/office/drawing/2014/main" id="{31C9C93C-2960-7626-4FB0-E4B953A0F6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254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55423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65F4-9DBC-9A19-79E8-99EC691CC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70026-3349-3764-9B28-B40FDAB79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DF5B6-F9FF-021E-BCEB-278CB7230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E6C60-26F6-8BB8-E80B-2C7FEA24B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0F073E-431B-4A0E-8313-74C7C123651B}" type="slidenum">
              <a:rPr lang="en-US" smtClean="0"/>
              <a:pPr>
                <a:defRPr/>
              </a:pPr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6820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63F95-A3A6-4CC8-A53B-521AF0964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2A57D-FB91-C744-BA14-1B364B0E0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6888" y="741363"/>
            <a:ext cx="6164262" cy="3467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B7290-43BA-7893-7A8A-D1EB6E303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56835-90C9-33AE-8558-FE4303E8F6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7514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08AAE-910B-8290-78E3-895FA3764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D7D4C-7F24-D014-D5BB-FC1008387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6888" y="741363"/>
            <a:ext cx="6164262" cy="3467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2162E-FAAA-D80D-7D43-DAF3E715D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9E2EE-9998-961B-9760-1A16BF5288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37692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B6F88-56AD-19BF-4A95-46F67431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86BCC-0C38-4A0E-780E-282D1D127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6888" y="741363"/>
            <a:ext cx="6164262" cy="3467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01EFD-AECB-CE57-4417-A4FE0798B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3DD18-A9C5-0B44-648B-29E550E13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442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304800"/>
            <a:ext cx="103632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2019 W.B. Powell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28028B9-87C7-4915-BF62-49E2F3848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jp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jpg"/><Relationship Id="rId5" Type="http://schemas.openxmlformats.org/officeDocument/2006/relationships/image" Target="../media/image144.jp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2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9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12" Type="http://schemas.openxmlformats.org/officeDocument/2006/relationships/image" Target="../media/image158.png"/><Relationship Id="rId2" Type="http://schemas.openxmlformats.org/officeDocument/2006/relationships/notesSlide" Target="../notesSlides/notesSlide158.xml"/><Relationship Id="rId16" Type="http://schemas.openxmlformats.org/officeDocument/2006/relationships/image" Target="../media/image16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5" Type="http://schemas.openxmlformats.org/officeDocument/2006/relationships/image" Target="../media/image151.png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156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160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image" Target="../media/image2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3.png"/><Relationship Id="rId4" Type="http://schemas.openxmlformats.org/officeDocument/2006/relationships/image" Target="../media/image162.wmf"/></Relationships>
</file>

<file path=ppt/slides/_rels/slide2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1.png"/><Relationship Id="rId3" Type="http://schemas.openxmlformats.org/officeDocument/2006/relationships/image" Target="../media/image163.png"/><Relationship Id="rId7" Type="http://schemas.openxmlformats.org/officeDocument/2006/relationships/image" Target="../media/image2500.png"/><Relationship Id="rId2" Type="http://schemas.openxmlformats.org/officeDocument/2006/relationships/image" Target="../media/image223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4.png"/><Relationship Id="rId10" Type="http://schemas.openxmlformats.org/officeDocument/2006/relationships/image" Target="../media/image162.wmf"/><Relationship Id="rId9" Type="http://schemas.openxmlformats.org/officeDocument/2006/relationships/oleObject" Target="../embeddings/oleObject47.bin"/></Relationships>
</file>

<file path=ppt/slides/_rels/slide2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165.png"/><Relationship Id="rId7" Type="http://schemas.openxmlformats.org/officeDocument/2006/relationships/image" Target="../media/image167.wmf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169.wmf"/><Relationship Id="rId5" Type="http://schemas.openxmlformats.org/officeDocument/2006/relationships/image" Target="../media/image166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168.wmf"/></Relationships>
</file>

<file path=ppt/slides/_rels/slide2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170.png"/><Relationship Id="rId7" Type="http://schemas.openxmlformats.org/officeDocument/2006/relationships/image" Target="../media/image167.wmf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169.wmf"/><Relationship Id="rId5" Type="http://schemas.openxmlformats.org/officeDocument/2006/relationships/image" Target="../media/image166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168.wmf"/></Relationships>
</file>

<file path=ppt/slides/_rels/slide2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171.png"/><Relationship Id="rId7" Type="http://schemas.openxmlformats.org/officeDocument/2006/relationships/image" Target="../media/image167.wmf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169.wmf"/><Relationship Id="rId5" Type="http://schemas.openxmlformats.org/officeDocument/2006/relationships/image" Target="../media/image166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168.wmf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01.png"/><Relationship Id="rId2" Type="http://schemas.openxmlformats.org/officeDocument/2006/relationships/image" Target="../media/image19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50.png"/><Relationship Id="rId4" Type="http://schemas.openxmlformats.org/officeDocument/2006/relationships/image" Target="../media/image2340.png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7" Type="http://schemas.openxmlformats.org/officeDocument/2006/relationships/image" Target="../media/image2110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0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0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90.png"/><Relationship Id="rId5" Type="http://schemas.openxmlformats.org/officeDocument/2006/relationships/image" Target="../media/image1980.png"/><Relationship Id="rId4" Type="http://schemas.openxmlformats.org/officeDocument/2006/relationships/image" Target="../media/image1960.png"/></Relationships>
</file>

<file path=ppt/slides/_rels/slide2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0.png"/><Relationship Id="rId3" Type="http://schemas.openxmlformats.org/officeDocument/2006/relationships/image" Target="../media/image1771.png"/><Relationship Id="rId7" Type="http://schemas.openxmlformats.org/officeDocument/2006/relationships/image" Target="../media/image1810.png"/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0.png"/><Relationship Id="rId5" Type="http://schemas.openxmlformats.org/officeDocument/2006/relationships/image" Target="../media/image1790.png"/><Relationship Id="rId10" Type="http://schemas.openxmlformats.org/officeDocument/2006/relationships/image" Target="../media/image14700.png"/><Relationship Id="rId4" Type="http://schemas.openxmlformats.org/officeDocument/2006/relationships/image" Target="../media/image1781.png"/><Relationship Id="rId9" Type="http://schemas.openxmlformats.org/officeDocument/2006/relationships/image" Target="../media/image14600.png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6279A-08E7-095B-4DA3-E2FB711D2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DF1566F-C511-B180-B6B7-509CB01CE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FD8BBAE-9585-AC69-5E64-E268527F702A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334530C-E2EE-401D-E230-CB6880210034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6D85A0-83F1-BF0D-3A44-464972B0E146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3E9CC0-55BC-A2D3-031C-DA8D3F857876}"/>
              </a:ext>
            </a:extLst>
          </p:cNvPr>
          <p:cNvSpPr txBox="1">
            <a:spLocks/>
          </p:cNvSpPr>
          <p:nvPr/>
        </p:nvSpPr>
        <p:spPr>
          <a:xfrm>
            <a:off x="1212348" y="3222743"/>
            <a:ext cx="8695224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lookahead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approximations II – Deterministic lookaheads</a:t>
            </a:r>
          </a:p>
          <a:p>
            <a:pPr marL="1196975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Parameterized deterministic lookaheads</a:t>
            </a:r>
          </a:p>
          <a:p>
            <a:pPr marL="914400" indent="-342900" algn="l">
              <a:lnSpc>
                <a:spcPct val="107000"/>
              </a:lnSpc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148F530-E98F-CF8C-5CD0-F22A4C1F0846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Moderate.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1BDFDA-5F65-BFA8-467D-163026F9745D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6378DA-7E01-7BC0-254D-9C9565C6B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35999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E34E93B-6086-5D83-70A3-09BA4E38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ECB2CC-D7C9-AEFC-4F21-F4C6CB45B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C13304B6-6F34-997E-7ADE-131A4448F6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972B2D48-6CC2-88E1-F5A5-4268E62234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9756" y="725240"/>
            <a:ext cx="10856871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Clr>
                <a:schemeClr val="lt1"/>
              </a:buClr>
              <a:buNone/>
            </a:pPr>
            <a:r>
              <a:rPr lang="en-US" sz="2400" dirty="0">
                <a:solidFill>
                  <a:schemeClr val="bg1"/>
                </a:solidFill>
              </a:rPr>
              <a:t>Direct lookahead approximations:</a:t>
            </a:r>
          </a:p>
          <a:p>
            <a:pPr marL="0" lvl="0" indent="0">
              <a:buClr>
                <a:schemeClr val="lt1"/>
              </a:buCl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 – Overview of direct lookahead approximations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bg1"/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bg1"/>
                </a:solidFill>
              </a:rPr>
              <a:t>DLA II - Deterministic lookaheads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III - Stochastic lookaheads using PFAs, CFAs and VFAs</a:t>
            </a: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IV – Stochastic lookaheads using DLAs – Discrete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>
              <a:buClr>
                <a:schemeClr val="lt1"/>
              </a:buClr>
              <a:buFont typeface="Times New Roman"/>
              <a:buChar char="➜"/>
            </a:pP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DLA V – Stochastic lookaheads using DLAs – Vector actions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78264-BC85-E853-8C76-E6F4708F4E2F}"/>
              </a:ext>
            </a:extLst>
          </p:cNvPr>
          <p:cNvSpPr txBox="1"/>
          <p:nvPr/>
        </p:nvSpPr>
        <p:spPr>
          <a:xfrm>
            <a:off x="11439525" y="6280363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11937513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3">
          <a:extLst>
            <a:ext uri="{FF2B5EF4-FFF2-40B4-BE49-F238E27FC236}">
              <a16:creationId xmlns:a16="http://schemas.microsoft.com/office/drawing/2014/main" id="{F088CFE4-EFF7-160A-3A88-CCA0D38D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" name="Google Shape;4404;p97">
            <a:extLst>
              <a:ext uri="{FF2B5EF4-FFF2-40B4-BE49-F238E27FC236}">
                <a16:creationId xmlns:a16="http://schemas.microsoft.com/office/drawing/2014/main" id="{96DD11FD-0B9B-9A43-3624-093CBE3CB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Deterministic lookahead: Parameterized LP</a:t>
            </a:r>
            <a:endParaRPr dirty="0"/>
          </a:p>
        </p:txBody>
      </p:sp>
      <p:sp>
        <p:nvSpPr>
          <p:cNvPr id="4405" name="Google Shape;4405;p97">
            <a:extLst>
              <a:ext uri="{FF2B5EF4-FFF2-40B4-BE49-F238E27FC236}">
                <a16:creationId xmlns:a16="http://schemas.microsoft.com/office/drawing/2014/main" id="{8843857C-B899-885A-E887-DD9EE1837A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9800" y="1316225"/>
            <a:ext cx="10363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Raleway" pitchFamily="2" charset="0"/>
                <a:ea typeface="Raleway Thin"/>
                <a:cs typeface="Raleway Thin"/>
                <a:sym typeface="Raleway Thin"/>
              </a:rPr>
              <a:t>Consider a basic energy storage problem</a:t>
            </a:r>
            <a:endParaRPr dirty="0">
              <a:latin typeface="Raleway" pitchFamily="2" charset="0"/>
            </a:endParaRPr>
          </a:p>
        </p:txBody>
      </p:sp>
      <p:pic>
        <p:nvPicPr>
          <p:cNvPr id="4406" name="Google Shape;4406;p97">
            <a:extLst>
              <a:ext uri="{FF2B5EF4-FFF2-40B4-BE49-F238E27FC236}">
                <a16:creationId xmlns:a16="http://schemas.microsoft.com/office/drawing/2014/main" id="{4B75F400-C201-E038-28E4-38FBA754F0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6168" y="2278740"/>
            <a:ext cx="1986900" cy="11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7" name="Google Shape;4407;p97">
            <a:extLst>
              <a:ext uri="{FF2B5EF4-FFF2-40B4-BE49-F238E27FC236}">
                <a16:creationId xmlns:a16="http://schemas.microsoft.com/office/drawing/2014/main" id="{2B929EB6-52EA-C9F9-6092-704F605345D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3043"/>
          <a:stretch/>
        </p:blipFill>
        <p:spPr>
          <a:xfrm>
            <a:off x="1496163" y="3893838"/>
            <a:ext cx="21498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8" name="Google Shape;4408;p97">
            <a:extLst>
              <a:ext uri="{FF2B5EF4-FFF2-40B4-BE49-F238E27FC236}">
                <a16:creationId xmlns:a16="http://schemas.microsoft.com/office/drawing/2014/main" id="{DF71EE5C-E4D9-7B60-F97E-EA08CEBA799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17364" y="2209047"/>
            <a:ext cx="1475570" cy="1073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9" name="Google Shape;4409;p97">
            <a:extLst>
              <a:ext uri="{FF2B5EF4-FFF2-40B4-BE49-F238E27FC236}">
                <a16:creationId xmlns:a16="http://schemas.microsoft.com/office/drawing/2014/main" id="{43E2DFA3-C469-3E4A-1EAB-1FC8259D614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99413" y="3797691"/>
            <a:ext cx="1250479" cy="1306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0" name="Google Shape;4410;p97">
            <a:extLst>
              <a:ext uri="{FF2B5EF4-FFF2-40B4-BE49-F238E27FC236}">
                <a16:creationId xmlns:a16="http://schemas.microsoft.com/office/drawing/2014/main" id="{1BC0A168-1E0E-A3C2-C559-C3149F4A72E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5500" y="3129086"/>
            <a:ext cx="1294922" cy="860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1" name="Google Shape;4411;p97">
            <a:extLst>
              <a:ext uri="{FF2B5EF4-FFF2-40B4-BE49-F238E27FC236}">
                <a16:creationId xmlns:a16="http://schemas.microsoft.com/office/drawing/2014/main" id="{1965BBD9-6475-A062-05E7-F538726FD0E1}"/>
              </a:ext>
            </a:extLst>
          </p:cNvPr>
          <p:cNvCxnSpPr>
            <a:stCxn id="4408" idx="3"/>
            <a:endCxn id="4410" idx="1"/>
          </p:cNvCxnSpPr>
          <p:nvPr/>
        </p:nvCxnSpPr>
        <p:spPr>
          <a:xfrm>
            <a:off x="4992934" y="2745872"/>
            <a:ext cx="522600" cy="8136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412" name="Google Shape;4412;p97">
            <a:extLst>
              <a:ext uri="{FF2B5EF4-FFF2-40B4-BE49-F238E27FC236}">
                <a16:creationId xmlns:a16="http://schemas.microsoft.com/office/drawing/2014/main" id="{2B127C50-72A9-FC92-722A-9ECE583D0C33}"/>
              </a:ext>
            </a:extLst>
          </p:cNvPr>
          <p:cNvCxnSpPr>
            <a:stCxn id="4409" idx="3"/>
            <a:endCxn id="4410" idx="1"/>
          </p:cNvCxnSpPr>
          <p:nvPr/>
        </p:nvCxnSpPr>
        <p:spPr>
          <a:xfrm rot="10800000" flipH="1">
            <a:off x="4849891" y="3559509"/>
            <a:ext cx="665700" cy="8916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4413" name="Google Shape;4413;p97">
            <a:extLst>
              <a:ext uri="{FF2B5EF4-FFF2-40B4-BE49-F238E27FC236}">
                <a16:creationId xmlns:a16="http://schemas.microsoft.com/office/drawing/2014/main" id="{F3C15CF2-8C68-F50A-A18E-60E188852F6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57353" y="2709913"/>
            <a:ext cx="1197279" cy="18365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4" name="Google Shape;4414;p97">
            <a:extLst>
              <a:ext uri="{FF2B5EF4-FFF2-40B4-BE49-F238E27FC236}">
                <a16:creationId xmlns:a16="http://schemas.microsoft.com/office/drawing/2014/main" id="{36A1D1A8-0399-E9A2-03FA-DFCDB488F777}"/>
              </a:ext>
            </a:extLst>
          </p:cNvPr>
          <p:cNvCxnSpPr>
            <a:stCxn id="4410" idx="3"/>
          </p:cNvCxnSpPr>
          <p:nvPr/>
        </p:nvCxnSpPr>
        <p:spPr>
          <a:xfrm>
            <a:off x="6810421" y="3559562"/>
            <a:ext cx="522600" cy="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15" name="Google Shape;4415;p97">
            <a:extLst>
              <a:ext uri="{FF2B5EF4-FFF2-40B4-BE49-F238E27FC236}">
                <a16:creationId xmlns:a16="http://schemas.microsoft.com/office/drawing/2014/main" id="{A529501A-E7E1-2F0D-2E5F-4DA4DCECAADC}"/>
              </a:ext>
            </a:extLst>
          </p:cNvPr>
          <p:cNvSpPr txBox="1"/>
          <p:nvPr/>
        </p:nvSpPr>
        <p:spPr>
          <a:xfrm>
            <a:off x="5726973" y="3308845"/>
            <a:ext cx="841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Battery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storage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416" name="Google Shape;4416;p97">
            <a:extLst>
              <a:ext uri="{FF2B5EF4-FFF2-40B4-BE49-F238E27FC236}">
                <a16:creationId xmlns:a16="http://schemas.microsoft.com/office/drawing/2014/main" id="{F0CE94E5-9E4C-085B-B365-B98DA58A8E9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1062" y="2929766"/>
            <a:ext cx="2025577" cy="143504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417" name="Google Shape;4417;p97">
            <a:extLst>
              <a:ext uri="{FF2B5EF4-FFF2-40B4-BE49-F238E27FC236}">
                <a16:creationId xmlns:a16="http://schemas.microsoft.com/office/drawing/2014/main" id="{AD108A2E-A82F-3D08-2A75-4B454172BBAF}"/>
              </a:ext>
            </a:extLst>
          </p:cNvPr>
          <p:cNvSpPr txBox="1"/>
          <p:nvPr/>
        </p:nvSpPr>
        <p:spPr>
          <a:xfrm>
            <a:off x="8571572" y="2538699"/>
            <a:ext cx="143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Demand (load)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418" name="Google Shape;4418;p97">
            <a:extLst>
              <a:ext uri="{FF2B5EF4-FFF2-40B4-BE49-F238E27FC236}">
                <a16:creationId xmlns:a16="http://schemas.microsoft.com/office/drawing/2014/main" id="{576E7088-5EE1-6B3F-53EA-0778E41D7952}"/>
              </a:ext>
            </a:extLst>
          </p:cNvPr>
          <p:cNvSpPr txBox="1"/>
          <p:nvPr/>
        </p:nvSpPr>
        <p:spPr>
          <a:xfrm>
            <a:off x="2014082" y="2023502"/>
            <a:ext cx="12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Wind energy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4419" name="Google Shape;4419;p97">
            <a:extLst>
              <a:ext uri="{FF2B5EF4-FFF2-40B4-BE49-F238E27FC236}">
                <a16:creationId xmlns:a16="http://schemas.microsoft.com/office/drawing/2014/main" id="{3B6D28C1-9222-BE3E-BC3F-1F6567FF7465}"/>
              </a:ext>
            </a:extLst>
          </p:cNvPr>
          <p:cNvCxnSpPr>
            <a:stCxn id="4409" idx="3"/>
          </p:cNvCxnSpPr>
          <p:nvPr/>
        </p:nvCxnSpPr>
        <p:spPr>
          <a:xfrm rot="10800000" flipH="1">
            <a:off x="4849891" y="3836409"/>
            <a:ext cx="2390400" cy="6147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420" name="Google Shape;4420;p97">
            <a:extLst>
              <a:ext uri="{FF2B5EF4-FFF2-40B4-BE49-F238E27FC236}">
                <a16:creationId xmlns:a16="http://schemas.microsoft.com/office/drawing/2014/main" id="{B74E98BF-586B-1FAB-A56E-4F5E9708E998}"/>
              </a:ext>
            </a:extLst>
          </p:cNvPr>
          <p:cNvCxnSpPr>
            <a:stCxn id="4408" idx="3"/>
          </p:cNvCxnSpPr>
          <p:nvPr/>
        </p:nvCxnSpPr>
        <p:spPr>
          <a:xfrm>
            <a:off x="4992934" y="2745872"/>
            <a:ext cx="2247300" cy="4149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22" name="Google Shape;4422;p97">
            <a:extLst>
              <a:ext uri="{FF2B5EF4-FFF2-40B4-BE49-F238E27FC236}">
                <a16:creationId xmlns:a16="http://schemas.microsoft.com/office/drawing/2014/main" id="{1A037A57-123A-2071-B05D-1612059C2FDD}"/>
              </a:ext>
            </a:extLst>
          </p:cNvPr>
          <p:cNvSpPr txBox="1"/>
          <p:nvPr/>
        </p:nvSpPr>
        <p:spPr>
          <a:xfrm>
            <a:off x="2014088" y="3559563"/>
            <a:ext cx="1210800" cy="36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Grid Prices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423" name="Google Shape;4423;p97">
            <a:extLst>
              <a:ext uri="{FF2B5EF4-FFF2-40B4-BE49-F238E27FC236}">
                <a16:creationId xmlns:a16="http://schemas.microsoft.com/office/drawing/2014/main" id="{BFF41E59-C53F-DD68-A261-E5D93174A145}"/>
              </a:ext>
            </a:extLst>
          </p:cNvPr>
          <p:cNvSpPr/>
          <p:nvPr/>
        </p:nvSpPr>
        <p:spPr>
          <a:xfrm rot="10800000">
            <a:off x="-12600" y="1911450"/>
            <a:ext cx="12204600" cy="3404700"/>
          </a:xfrm>
          <a:prstGeom prst="rect">
            <a:avLst/>
          </a:prstGeom>
          <a:solidFill>
            <a:schemeClr val="accent2">
              <a:lumMod val="75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069701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83003-2975-FF55-9BF1-F2856AC9F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BAB30-A01E-F9AA-345C-C58D5A07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p:pic>
        <p:nvPicPr>
          <p:cNvPr id="703490" name="Picture 2">
            <a:extLst>
              <a:ext uri="{FF2B5EF4-FFF2-40B4-BE49-F238E27FC236}">
                <a16:creationId xmlns:a16="http://schemas.microsoft.com/office/drawing/2014/main" id="{6689B9D2-72E0-C2D9-86A5-3493BE15A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865734"/>
            <a:ext cx="914400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1" name="Picture 3">
            <a:extLst>
              <a:ext uri="{FF2B5EF4-FFF2-40B4-BE49-F238E27FC236}">
                <a16:creationId xmlns:a16="http://schemas.microsoft.com/office/drawing/2014/main" id="{FF07A6B1-E9E2-BFC6-61E2-1BC710646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5" y="1842147"/>
            <a:ext cx="9144001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2" name="Picture 4">
            <a:extLst>
              <a:ext uri="{FF2B5EF4-FFF2-40B4-BE49-F238E27FC236}">
                <a16:creationId xmlns:a16="http://schemas.microsoft.com/office/drawing/2014/main" id="{3517CEDD-6510-2F45-7132-3A231F04B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5" y="1837158"/>
            <a:ext cx="9144001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3" name="Picture 5">
            <a:extLst>
              <a:ext uri="{FF2B5EF4-FFF2-40B4-BE49-F238E27FC236}">
                <a16:creationId xmlns:a16="http://schemas.microsoft.com/office/drawing/2014/main" id="{B1C3BE4F-73A3-AE21-8183-7A733F52F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5" y="1827860"/>
            <a:ext cx="91440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4" name="Picture 6">
            <a:extLst>
              <a:ext uri="{FF2B5EF4-FFF2-40B4-BE49-F238E27FC236}">
                <a16:creationId xmlns:a16="http://schemas.microsoft.com/office/drawing/2014/main" id="{D8443BBF-D00F-0735-D501-3B62DFF38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32622"/>
            <a:ext cx="91440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5" name="Picture 7">
            <a:extLst>
              <a:ext uri="{FF2B5EF4-FFF2-40B4-BE49-F238E27FC236}">
                <a16:creationId xmlns:a16="http://schemas.microsoft.com/office/drawing/2014/main" id="{A2A9941C-B5F9-D368-1AA3-72DA8A04B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6" y="1832622"/>
            <a:ext cx="9144001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6" name="Picture 8">
            <a:extLst>
              <a:ext uri="{FF2B5EF4-FFF2-40B4-BE49-F238E27FC236}">
                <a16:creationId xmlns:a16="http://schemas.microsoft.com/office/drawing/2014/main" id="{349E5D8F-E77A-4F87-D87E-46DB471AB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6" y="1823098"/>
            <a:ext cx="91440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7" name="Picture 9">
            <a:extLst>
              <a:ext uri="{FF2B5EF4-FFF2-40B4-BE49-F238E27FC236}">
                <a16:creationId xmlns:a16="http://schemas.microsoft.com/office/drawing/2014/main" id="{AE066812-DCB3-9645-0CCE-9BABA5A0C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7" y="1823097"/>
            <a:ext cx="9144001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8" name="Picture 10">
            <a:extLst>
              <a:ext uri="{FF2B5EF4-FFF2-40B4-BE49-F238E27FC236}">
                <a16:creationId xmlns:a16="http://schemas.microsoft.com/office/drawing/2014/main" id="{B38394BF-2FC4-E28A-1FF3-455463FD0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9" y="1823096"/>
            <a:ext cx="9143999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9" name="Picture 11">
            <a:extLst>
              <a:ext uri="{FF2B5EF4-FFF2-40B4-BE49-F238E27FC236}">
                <a16:creationId xmlns:a16="http://schemas.microsoft.com/office/drawing/2014/main" id="{0738F0A9-295C-FD12-0A48-CF1A4D89B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8" y="1823097"/>
            <a:ext cx="91440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500" name="Picture 12">
            <a:extLst>
              <a:ext uri="{FF2B5EF4-FFF2-40B4-BE49-F238E27FC236}">
                <a16:creationId xmlns:a16="http://schemas.microsoft.com/office/drawing/2014/main" id="{024A51A6-3976-EE64-D41C-6110DD24D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8" y="1827632"/>
            <a:ext cx="91440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501" name="Picture 13">
            <a:extLst>
              <a:ext uri="{FF2B5EF4-FFF2-40B4-BE49-F238E27FC236}">
                <a16:creationId xmlns:a16="http://schemas.microsoft.com/office/drawing/2014/main" id="{A0A6C32F-18BF-1B16-E43D-7E26CA0DD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4" y="1822871"/>
            <a:ext cx="914399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1E94D6-17D0-944C-AEAB-3D30C69BCA8C}"/>
              </a:ext>
            </a:extLst>
          </p:cNvPr>
          <p:cNvSpPr/>
          <p:nvPr/>
        </p:nvSpPr>
        <p:spPr bwMode="auto">
          <a:xfrm>
            <a:off x="1524002" y="1837158"/>
            <a:ext cx="9143998" cy="243794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E180B3-6604-7754-14E4-D8D53702B2BC}"/>
              </a:ext>
            </a:extLst>
          </p:cNvPr>
          <p:cNvSpPr txBox="1"/>
          <p:nvPr/>
        </p:nvSpPr>
        <p:spPr>
          <a:xfrm>
            <a:off x="5850341" y="5200220"/>
            <a:ext cx="825867" cy="369332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800" i="0" dirty="0">
                <a:solidFill>
                  <a:schemeClr val="accent6">
                    <a:lumMod val="75000"/>
                  </a:schemeClr>
                </a:solidFill>
              </a:rPr>
              <a:t>Actual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E5B9BC-E13C-7602-4886-E07FD05FD6B7}"/>
              </a:ext>
            </a:extLst>
          </p:cNvPr>
          <p:cNvCxnSpPr/>
          <p:nvPr/>
        </p:nvCxnSpPr>
        <p:spPr bwMode="auto">
          <a:xfrm flipH="1" flipV="1">
            <a:off x="5481852" y="4777143"/>
            <a:ext cx="354841" cy="640260"/>
          </a:xfrm>
          <a:prstGeom prst="straightConnector1">
            <a:avLst/>
          </a:prstGeom>
          <a:noFill/>
          <a:ln w="127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718404D-323B-5B36-ED9D-001714A5CCFD}"/>
              </a:ext>
            </a:extLst>
          </p:cNvPr>
          <p:cNvSpPr txBox="1"/>
          <p:nvPr/>
        </p:nvSpPr>
        <p:spPr>
          <a:xfrm>
            <a:off x="2602177" y="2729986"/>
            <a:ext cx="1871025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00" i="0" dirty="0">
                <a:solidFill>
                  <a:schemeClr val="accent6">
                    <a:lumMod val="75000"/>
                  </a:schemeClr>
                </a:solidFill>
              </a:rPr>
              <a:t>Rolling forecasts, updated each hour.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2DAAC7F-9AC6-D2F5-821F-FE6E4337F1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1673" y="2440259"/>
          <a:ext cx="402957" cy="1504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440" imgH="711000" progId="Equation.DSMT4">
                  <p:embed/>
                </p:oleObj>
              </mc:Choice>
              <mc:Fallback>
                <p:oleObj name="Equation" r:id="rId15" imgW="190440" imgH="7110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02DAAC7F-9AC6-D2F5-821F-FE6E4337F1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81673" y="2440259"/>
                        <a:ext cx="402957" cy="1504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F87F6DC-EE22-3B06-0C6D-B8641A924668}"/>
              </a:ext>
            </a:extLst>
          </p:cNvPr>
          <p:cNvSpPr txBox="1"/>
          <p:nvPr/>
        </p:nvSpPr>
        <p:spPr>
          <a:xfrm>
            <a:off x="2113924" y="4206578"/>
            <a:ext cx="2139629" cy="584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00" i="0" dirty="0">
                <a:solidFill>
                  <a:schemeClr val="accent6">
                    <a:lumMod val="75000"/>
                  </a:schemeClr>
                </a:solidFill>
              </a:rPr>
              <a:t>Forecast made at midnight: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3C67C2-2371-A8DE-F29B-67ADC45367D8}"/>
              </a:ext>
            </a:extLst>
          </p:cNvPr>
          <p:cNvCxnSpPr>
            <a:cxnSpLocks/>
            <a:stCxn id="23" idx="2"/>
          </p:cNvCxnSpPr>
          <p:nvPr/>
        </p:nvCxnSpPr>
        <p:spPr bwMode="auto">
          <a:xfrm flipH="1">
            <a:off x="2793242" y="4791353"/>
            <a:ext cx="390497" cy="709121"/>
          </a:xfrm>
          <a:prstGeom prst="straightConnector1">
            <a:avLst/>
          </a:prstGeom>
          <a:noFill/>
          <a:ln w="127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8C3BC-8AE6-53B5-BC5C-91EA8F7F2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228" y="1143000"/>
            <a:ext cx="9572371" cy="937952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Wind forecasts evolve over time as new information arrives: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90D68A-E696-EF0F-11BA-9116D73786D8}"/>
              </a:ext>
            </a:extLst>
          </p:cNvPr>
          <p:cNvCxnSpPr>
            <a:cxnSpLocks/>
          </p:cNvCxnSpPr>
          <p:nvPr/>
        </p:nvCxnSpPr>
        <p:spPr>
          <a:xfrm>
            <a:off x="1934057" y="2170878"/>
            <a:ext cx="8733943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E37809C-ABEE-245D-FDDE-890BB373E117}"/>
              </a:ext>
            </a:extLst>
          </p:cNvPr>
          <p:cNvSpPr txBox="1"/>
          <p:nvPr/>
        </p:nvSpPr>
        <p:spPr>
          <a:xfrm>
            <a:off x="5927154" y="2011825"/>
            <a:ext cx="88036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24 hours</a:t>
            </a:r>
          </a:p>
        </p:txBody>
      </p:sp>
    </p:spTree>
    <p:extLst>
      <p:ext uri="{BB962C8B-B14F-4D97-AF65-F5344CB8AC3E}">
        <p14:creationId xmlns:p14="http://schemas.microsoft.com/office/powerpoint/2010/main" val="229624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0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0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0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0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0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0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0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0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CEC3-69C4-B241-9521-161CCE11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5E367-AF3C-2DAD-DE15-0AEE51D66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1C8005B4-9E60-F225-A1EA-516636BF9BAF}"/>
                  </a:ext>
                </a:extLst>
              </p:cNvPr>
              <p:cNvSpPr txBox="1"/>
              <p:nvPr/>
            </p:nvSpPr>
            <p:spPr>
              <a:xfrm>
                <a:off x="3669848" y="3318553"/>
                <a:ext cx="4617811" cy="34877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𝑔𝑑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𝑟𝑔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bSup>
                    </m:oMath>
                    <m:oMath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𝑤𝑑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𝑐ℎ𝑎𝑟𝑔𝑒</m:t>
                          </m:r>
                        </m:sup>
                      </m:s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𝑟𝑔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𝑖𝑠𝑐ℎ𝑎𝑟𝑔𝑒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18A4DAC7-06B2-4430-B357-256676952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848" y="3318553"/>
                <a:ext cx="4617811" cy="34877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A7B7B12-6727-E336-C831-8591EFA317DA}"/>
              </a:ext>
            </a:extLst>
          </p:cNvPr>
          <p:cNvSpPr/>
          <p:nvPr/>
        </p:nvSpPr>
        <p:spPr bwMode="auto">
          <a:xfrm>
            <a:off x="4314065" y="5044662"/>
            <a:ext cx="4058816" cy="48519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BBF8734F-CF3C-0E08-DB69-B463D8E6D1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5708" y="1993964"/>
          <a:ext cx="6649689" cy="1076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36680" imgH="507960" progId="Equation.DSMT4">
                  <p:embed/>
                </p:oleObj>
              </mc:Choice>
              <mc:Fallback>
                <p:oleObj name="Equation" r:id="rId3" imgW="3136680" imgH="50796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BBF8734F-CF3C-0E08-DB69-B463D8E6D1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5708" y="1993964"/>
                        <a:ext cx="6649689" cy="1076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83BA76D-C1E3-6A21-7EA3-37F5ACD04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364" y="4630593"/>
            <a:ext cx="2627402" cy="1268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5673B7-8006-D920-1EEE-4DA38788ED36}"/>
              </a:ext>
            </a:extLst>
          </p:cNvPr>
          <p:cNvSpPr txBox="1"/>
          <p:nvPr/>
        </p:nvSpPr>
        <p:spPr>
          <a:xfrm>
            <a:off x="7565177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1269D7-6505-AED0-38B7-25B71F502A19}"/>
              </a:ext>
            </a:extLst>
          </p:cNvPr>
          <p:cNvSpPr txBox="1">
            <a:spLocks/>
          </p:cNvSpPr>
          <p:nvPr/>
        </p:nvSpPr>
        <p:spPr>
          <a:xfrm>
            <a:off x="770769" y="1118716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Benchmark policy – Deterministic lookahead</a:t>
            </a:r>
          </a:p>
        </p:txBody>
      </p:sp>
    </p:spTree>
    <p:extLst>
      <p:ext uri="{BB962C8B-B14F-4D97-AF65-F5344CB8AC3E}">
        <p14:creationId xmlns:p14="http://schemas.microsoft.com/office/powerpoint/2010/main" val="16463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51EDB-F543-F006-8830-F9C571D27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8210B-1FB7-B73F-A0F4-93704611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18B497-F946-50A0-AC50-E4C6357FD3E1}"/>
              </a:ext>
            </a:extLst>
          </p:cNvPr>
          <p:cNvSpPr/>
          <p:nvPr/>
        </p:nvSpPr>
        <p:spPr bwMode="auto">
          <a:xfrm>
            <a:off x="4314065" y="5044662"/>
            <a:ext cx="4058816" cy="48519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F3C5B115-FD42-7D4B-A025-1C99748511C1}"/>
                  </a:ext>
                </a:extLst>
              </p:cNvPr>
              <p:cNvSpPr txBox="1"/>
              <p:nvPr/>
            </p:nvSpPr>
            <p:spPr>
              <a:xfrm>
                <a:off x="3669848" y="3318553"/>
                <a:ext cx="4617811" cy="34877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𝑔𝑑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𝑟𝑔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bSup>
                    </m:oMath>
                    <m:oMath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𝑤𝑑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′−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𝑐ℎ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𝑎𝑟𝑔𝑒</m:t>
                          </m:r>
                        </m:sup>
                      </m:s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𝑟𝑔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𝑑𝑖𝑠𝑐ℎ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𝑎𝑟𝑔𝑒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18A4DAC7-06B2-4430-B357-256676952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848" y="3318553"/>
                <a:ext cx="4617811" cy="34877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5807930-2972-55CE-D0E8-2E7B368DC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364" y="4630593"/>
            <a:ext cx="2627402" cy="126825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4F8F572-0575-2B9A-63B2-9762314F6699}"/>
              </a:ext>
            </a:extLst>
          </p:cNvPr>
          <p:cNvGrpSpPr/>
          <p:nvPr/>
        </p:nvGrpSpPr>
        <p:grpSpPr>
          <a:xfrm>
            <a:off x="1157360" y="3429000"/>
            <a:ext cx="2644203" cy="2896177"/>
            <a:chOff x="1157360" y="3429000"/>
            <a:chExt cx="2644203" cy="2896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899A54D-7D52-A2F7-77FC-B66CACA66FCD}"/>
                    </a:ext>
                  </a:extLst>
                </p:cNvPr>
                <p:cNvSpPr txBox="1"/>
                <p:nvPr/>
              </p:nvSpPr>
              <p:spPr>
                <a:xfrm>
                  <a:off x="3039110" y="3429000"/>
                  <a:ext cx="762453" cy="28961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1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n-US" sz="2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/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ED3466F-BBDD-3E18-2482-60F82C11E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9110" y="3429000"/>
                  <a:ext cx="762453" cy="28961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7E45D82-6D6B-DB46-7E97-B46C3E5E49F2}"/>
                    </a:ext>
                  </a:extLst>
                </p:cNvPr>
                <p:cNvSpPr txBox="1"/>
                <p:nvPr/>
              </p:nvSpPr>
              <p:spPr>
                <a:xfrm>
                  <a:off x="1157360" y="4560252"/>
                  <a:ext cx="19678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B110690-F589-7847-B3EC-F54F07BD88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7360" y="4560252"/>
                  <a:ext cx="1967846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8211DB6-B1CB-2116-83D8-95054B94EA41}"/>
              </a:ext>
            </a:extLst>
          </p:cNvPr>
          <p:cNvSpPr txBox="1"/>
          <p:nvPr/>
        </p:nvSpPr>
        <p:spPr>
          <a:xfrm>
            <a:off x="7565177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FC90F7BF-3854-2B77-9FE3-C915F5784E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5708" y="1993964"/>
          <a:ext cx="6649689" cy="1076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36680" imgH="507960" progId="Equation.DSMT4">
                  <p:embed/>
                </p:oleObj>
              </mc:Choice>
              <mc:Fallback>
                <p:oleObj name="Equation" r:id="rId9" imgW="3136680" imgH="50796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FC90F7BF-3854-2B77-9FE3-C915F5784E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15708" y="1993964"/>
                        <a:ext cx="6649689" cy="1076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69F5F906-1ACB-238A-9284-4F4918A0E2B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2015" y="2123016"/>
            <a:ext cx="1902616" cy="73080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0489212-778A-47AE-3846-15FE45260A07}"/>
              </a:ext>
            </a:extLst>
          </p:cNvPr>
          <p:cNvGrpSpPr/>
          <p:nvPr/>
        </p:nvGrpSpPr>
        <p:grpSpPr>
          <a:xfrm>
            <a:off x="3362271" y="2119429"/>
            <a:ext cx="3785008" cy="3504984"/>
            <a:chOff x="1838271" y="2119429"/>
            <a:chExt cx="3785008" cy="350498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2FB86A-77EB-611F-EEE5-EB6651E9A4F3}"/>
                </a:ext>
              </a:extLst>
            </p:cNvPr>
            <p:cNvSpPr/>
            <p:nvPr/>
          </p:nvSpPr>
          <p:spPr>
            <a:xfrm>
              <a:off x="5023080" y="4926439"/>
              <a:ext cx="600199" cy="697974"/>
            </a:xfrm>
            <a:prstGeom prst="ellipse">
              <a:avLst/>
            </a:prstGeom>
            <a:ln w="28575">
              <a:solidFill>
                <a:srgbClr val="FF0000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D7D63E0-734A-36A4-3B71-2825B198F1E0}"/>
                </a:ext>
              </a:extLst>
            </p:cNvPr>
            <p:cNvCxnSpPr>
              <a:cxnSpLocks/>
              <a:endCxn id="10" idx="5"/>
            </p:cNvCxnSpPr>
            <p:nvPr/>
          </p:nvCxnSpPr>
          <p:spPr bwMode="auto">
            <a:xfrm flipH="1" flipV="1">
              <a:off x="2152314" y="2715187"/>
              <a:ext cx="2870766" cy="2601280"/>
            </a:xfrm>
            <a:prstGeom prst="straightConnector1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F967BDF-0C45-C470-1B0C-93C7AD9A89B9}"/>
                </a:ext>
              </a:extLst>
            </p:cNvPr>
            <p:cNvSpPr/>
            <p:nvPr/>
          </p:nvSpPr>
          <p:spPr>
            <a:xfrm>
              <a:off x="1838271" y="2119429"/>
              <a:ext cx="367924" cy="697974"/>
            </a:xfrm>
            <a:prstGeom prst="ellipse">
              <a:avLst/>
            </a:prstGeom>
            <a:ln w="28575">
              <a:solidFill>
                <a:srgbClr val="FF0000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E9E4713-11FA-F07F-4B36-A812354407F8}"/>
              </a:ext>
            </a:extLst>
          </p:cNvPr>
          <p:cNvSpPr txBox="1">
            <a:spLocks/>
          </p:cNvSpPr>
          <p:nvPr/>
        </p:nvSpPr>
        <p:spPr>
          <a:xfrm>
            <a:off x="770769" y="1118716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Benchmark policy – Deterministic lookahead</a:t>
            </a:r>
          </a:p>
        </p:txBody>
      </p:sp>
    </p:spTree>
    <p:extLst>
      <p:ext uri="{BB962C8B-B14F-4D97-AF65-F5344CB8AC3E}">
        <p14:creationId xmlns:p14="http://schemas.microsoft.com/office/powerpoint/2010/main" val="411001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8DF46-F941-5210-E9AC-58B64F7A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050" name="Picture 162">
            <a:extLst>
              <a:ext uri="{FF2B5EF4-FFF2-40B4-BE49-F238E27FC236}">
                <a16:creationId xmlns:a16="http://schemas.microsoft.com/office/drawing/2014/main" id="{8359D9ED-E3D8-23D9-A838-6398CB544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99347">
            <a:off x="2450220" y="3340879"/>
            <a:ext cx="41624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8758C7-B827-0B12-ED17-A67BDC65D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E6E3B-FF71-A069-8B53-5D94F1B6C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6" y="1143001"/>
            <a:ext cx="7772400" cy="2659743"/>
          </a:xfrm>
        </p:spPr>
        <p:txBody>
          <a:bodyPr/>
          <a:lstStyle/>
          <a:p>
            <a:pPr marL="86360" indent="0">
              <a:buNone/>
            </a:pPr>
            <a:r>
              <a:rPr lang="en-US" dirty="0" err="1"/>
              <a:t>Lookahead</a:t>
            </a:r>
            <a:r>
              <a:rPr lang="en-US" dirty="0"/>
              <a:t> policies peek into the future</a:t>
            </a:r>
          </a:p>
          <a:p>
            <a:pPr lvl="1"/>
            <a:r>
              <a:rPr lang="en-US" dirty="0"/>
              <a:t>Optimize over deterministic </a:t>
            </a:r>
            <a:r>
              <a:rPr lang="en-US" dirty="0" err="1"/>
              <a:t>lookahead</a:t>
            </a:r>
            <a:r>
              <a:rPr lang="en-US" dirty="0"/>
              <a:t> model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A4C6E5B-A29A-8D6F-B8CA-22F16D0D05EB}"/>
              </a:ext>
            </a:extLst>
          </p:cNvPr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E4592F-CF9E-1FFB-33DC-D922E1515ABB}"/>
              </a:ext>
            </a:extLst>
          </p:cNvPr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5C3F28-CB7B-7536-1E7C-8FFBE108DF47}"/>
              </a:ext>
            </a:extLst>
          </p:cNvPr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EDD641-2AB1-0804-F94F-46B824C616A2}"/>
              </a:ext>
            </a:extLst>
          </p:cNvPr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89CADD-3458-5E60-D6B9-F0026D2CD40D}"/>
              </a:ext>
            </a:extLst>
          </p:cNvPr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CBA55BF-1911-A992-A89B-4380CA32F222}"/>
              </a:ext>
            </a:extLst>
          </p:cNvPr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0C4CDD-E71F-D53D-8FCC-43AAC676A2C6}"/>
              </a:ext>
            </a:extLst>
          </p:cNvPr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C27585-E50E-C592-9836-14024F33333D}"/>
              </a:ext>
            </a:extLst>
          </p:cNvPr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35260A4-ECBC-F82A-D359-45891A4CC22D}"/>
              </a:ext>
            </a:extLst>
          </p:cNvPr>
          <p:cNvSpPr txBox="1"/>
          <p:nvPr/>
        </p:nvSpPr>
        <p:spPr>
          <a:xfrm>
            <a:off x="4745648" y="601980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/>
              <a:t>The real process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DE1886-3FBB-CB88-3857-0450C00C6370}"/>
              </a:ext>
            </a:extLst>
          </p:cNvPr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15CBA4B-7E10-0EC8-9DA5-A2FD9EE3390D}"/>
              </a:ext>
            </a:extLst>
          </p:cNvPr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7AB1FAA-2421-A8CE-DAA8-D9729D72F770}"/>
              </a:ext>
            </a:extLst>
          </p:cNvPr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206F8E-4626-C888-4C7E-6C6FCC7F61FA}"/>
              </a:ext>
            </a:extLst>
          </p:cNvPr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0" dirty="0"/>
              <a:t>.  .  .  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4F9D7A3-AA28-4C1C-B1EF-B90AF5ABDA7A}"/>
              </a:ext>
            </a:extLst>
          </p:cNvPr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CF6B275-30B6-54C0-013D-8093FBBB10F6}"/>
              </a:ext>
            </a:extLst>
          </p:cNvPr>
          <p:cNvSpPr txBox="1"/>
          <p:nvPr/>
        </p:nvSpPr>
        <p:spPr>
          <a:xfrm rot="16200000">
            <a:off x="395944" y="3709659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i="0" dirty="0"/>
              <a:t>The </a:t>
            </a:r>
            <a:r>
              <a:rPr lang="en-US" sz="2400" i="0" dirty="0" err="1"/>
              <a:t>lookahead</a:t>
            </a:r>
            <a:r>
              <a:rPr lang="en-US" sz="2400" i="0" dirty="0"/>
              <a:t> model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A1E2E19-9E01-14AB-9160-A75FAB6495DB}"/>
              </a:ext>
            </a:extLst>
          </p:cNvPr>
          <p:cNvCxnSpPr>
            <a:cxnSpLocks/>
          </p:cNvCxnSpPr>
          <p:nvPr/>
        </p:nvCxnSpPr>
        <p:spPr bwMode="auto">
          <a:xfrm flipV="1">
            <a:off x="2213559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FA704964-814F-46F8-B463-7E80CA84D7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5484" y="5588748"/>
          <a:ext cx="199589" cy="34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560" imgH="152280" progId="Equation.DSMT4">
                  <p:embed/>
                </p:oleObj>
              </mc:Choice>
              <mc:Fallback>
                <p:oleObj name="Equation" r:id="rId4" imgW="88560" imgH="15228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FA704964-814F-46F8-B463-7E80CA84D7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5484" y="5588748"/>
                        <a:ext cx="199589" cy="342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BC08654-047C-0E13-23BD-DCED2E8BD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3113" y="5545965"/>
          <a:ext cx="625072" cy="40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177480" progId="Equation.DSMT4">
                  <p:embed/>
                </p:oleObj>
              </mc:Choice>
              <mc:Fallback>
                <p:oleObj name="Equation" r:id="rId6" imgW="279360" imgH="177480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BC08654-047C-0E13-23BD-DCED2E8BD2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545965"/>
                        <a:ext cx="625072" cy="400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389026D4-D7AE-AACC-8627-E3160F90D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6939" y="5546725"/>
          <a:ext cx="682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177480" progId="Equation.DSMT4">
                  <p:embed/>
                </p:oleObj>
              </mc:Choice>
              <mc:Fallback>
                <p:oleObj name="Equation" r:id="rId8" imgW="304560" imgH="177480" progId="Equation.DSMT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389026D4-D7AE-AACC-8627-E3160F90D7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9" y="5546725"/>
                        <a:ext cx="682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BDF5BF17-AE40-E144-AADD-43E8AD320A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1725" y="5546725"/>
          <a:ext cx="654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177480" progId="Equation.DSMT4">
                  <p:embed/>
                </p:oleObj>
              </mc:Choice>
              <mc:Fallback>
                <p:oleObj name="Equation" r:id="rId10" imgW="291960" imgH="17748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BDF5BF17-AE40-E144-AADD-43E8AD320A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725" y="5546725"/>
                        <a:ext cx="6540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2DB5B38-A3CF-3E51-6144-FEDD90F9E3FF}"/>
              </a:ext>
            </a:extLst>
          </p:cNvPr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370417568"/>
      </p:ext>
    </p:extLst>
  </p:cSld>
  <p:clrMapOvr>
    <a:masterClrMapping/>
  </p:clrMapOvr>
  <p:transition spd="slow">
    <p:wipe dir="r"/>
  </p:transition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1DD2C-FF19-EFB3-FFFE-D619120BE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074" name="Picture 162">
            <a:extLst>
              <a:ext uri="{FF2B5EF4-FFF2-40B4-BE49-F238E27FC236}">
                <a16:creationId xmlns:a16="http://schemas.microsoft.com/office/drawing/2014/main" id="{6173A72A-AE84-14F8-436D-2862B9488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48014">
            <a:off x="3760836" y="3095625"/>
            <a:ext cx="523875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42DEAB-AAE8-7BB8-D980-7EBA8120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B49F3-D07C-9814-2D56-A9579476B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626" y="1143001"/>
            <a:ext cx="7772400" cy="2659743"/>
          </a:xfrm>
        </p:spPr>
        <p:txBody>
          <a:bodyPr/>
          <a:lstStyle/>
          <a:p>
            <a:pPr marL="86360" indent="0">
              <a:buNone/>
            </a:pPr>
            <a:r>
              <a:rPr lang="en-US" dirty="0" err="1"/>
              <a:t>Lookahead</a:t>
            </a:r>
            <a:r>
              <a:rPr lang="en-US" dirty="0"/>
              <a:t> policies peek into the future</a:t>
            </a:r>
          </a:p>
          <a:p>
            <a:pPr lvl="1"/>
            <a:r>
              <a:rPr lang="en-US" dirty="0"/>
              <a:t>Optimize over deterministic </a:t>
            </a:r>
            <a:r>
              <a:rPr lang="en-US" dirty="0" err="1"/>
              <a:t>lookahead</a:t>
            </a:r>
            <a:r>
              <a:rPr lang="en-US" dirty="0"/>
              <a:t> model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2026AE-3687-1E14-DA35-869C6EBEFADA}"/>
              </a:ext>
            </a:extLst>
          </p:cNvPr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D976C6-9378-2111-CFC2-CDF5480DC903}"/>
              </a:ext>
            </a:extLst>
          </p:cNvPr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61CA56-9256-6B36-FAB1-D17B7F83354B}"/>
              </a:ext>
            </a:extLst>
          </p:cNvPr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1E248D-4D64-7E66-4AFA-7EA01BE96565}"/>
              </a:ext>
            </a:extLst>
          </p:cNvPr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9863D1-02A4-350D-7B04-AAEADE2D662A}"/>
              </a:ext>
            </a:extLst>
          </p:cNvPr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93C990-EA9F-5EC1-E43A-4B26DCCE08BB}"/>
              </a:ext>
            </a:extLst>
          </p:cNvPr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566379-1644-C9A4-34D8-A18B4981D78B}"/>
              </a:ext>
            </a:extLst>
          </p:cNvPr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99951D-4217-444F-F3C4-2F03458CFBCD}"/>
              </a:ext>
            </a:extLst>
          </p:cNvPr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F6EA865-340C-D307-AF67-CB68ACAF2120}"/>
              </a:ext>
            </a:extLst>
          </p:cNvPr>
          <p:cNvSpPr txBox="1"/>
          <p:nvPr/>
        </p:nvSpPr>
        <p:spPr>
          <a:xfrm>
            <a:off x="4745648" y="601980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/>
              <a:t>The real process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4013D20-8E64-19AD-F6A8-E4CC9A831EDE}"/>
              </a:ext>
            </a:extLst>
          </p:cNvPr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B874DE4-E7D9-B95A-D53B-AB985D939652}"/>
              </a:ext>
            </a:extLst>
          </p:cNvPr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8D1062D-6FA1-4F72-AC1A-EDA16ED0D98E}"/>
              </a:ext>
            </a:extLst>
          </p:cNvPr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09F4397-3978-B635-1323-7E7B30A1467A}"/>
              </a:ext>
            </a:extLst>
          </p:cNvPr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0" dirty="0"/>
              <a:t>.  .  .  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624C80-BF1C-381E-7295-B0DA913457FD}"/>
              </a:ext>
            </a:extLst>
          </p:cNvPr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FF8888E-1D09-BFD8-1D1A-3A0CA7B05F17}"/>
              </a:ext>
            </a:extLst>
          </p:cNvPr>
          <p:cNvSpPr txBox="1"/>
          <p:nvPr/>
        </p:nvSpPr>
        <p:spPr>
          <a:xfrm rot="16200000">
            <a:off x="395944" y="3709659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i="0" dirty="0"/>
              <a:t>The </a:t>
            </a:r>
            <a:r>
              <a:rPr lang="en-US" sz="2400" i="0" dirty="0" err="1"/>
              <a:t>lookahead</a:t>
            </a:r>
            <a:r>
              <a:rPr lang="en-US" sz="2400" i="0" dirty="0"/>
              <a:t> model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C35A702-C6FE-6D06-6CCC-9F44CE61BADF}"/>
              </a:ext>
            </a:extLst>
          </p:cNvPr>
          <p:cNvCxnSpPr>
            <a:cxnSpLocks/>
          </p:cNvCxnSpPr>
          <p:nvPr/>
        </p:nvCxnSpPr>
        <p:spPr bwMode="auto">
          <a:xfrm flipV="1">
            <a:off x="2219138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4286E3F1-D335-3AD2-F9FB-3BF7E00156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5484" y="5588748"/>
          <a:ext cx="199589" cy="34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560" imgH="152280" progId="Equation.DSMT4">
                  <p:embed/>
                </p:oleObj>
              </mc:Choice>
              <mc:Fallback>
                <p:oleObj name="Equation" r:id="rId4" imgW="88560" imgH="15228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4286E3F1-D335-3AD2-F9FB-3BF7E00156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5484" y="5588748"/>
                        <a:ext cx="199589" cy="342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291EFE5C-DEB7-EA9D-118F-D6FBDCC035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3113" y="5545965"/>
          <a:ext cx="625072" cy="40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177480" progId="Equation.DSMT4">
                  <p:embed/>
                </p:oleObj>
              </mc:Choice>
              <mc:Fallback>
                <p:oleObj name="Equation" r:id="rId6" imgW="279360" imgH="177480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291EFE5C-DEB7-EA9D-118F-D6FBDCC035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545965"/>
                        <a:ext cx="625072" cy="400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AB8A419A-5237-2118-05BE-51500258DC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6939" y="5546725"/>
          <a:ext cx="682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177480" progId="Equation.DSMT4">
                  <p:embed/>
                </p:oleObj>
              </mc:Choice>
              <mc:Fallback>
                <p:oleObj name="Equation" r:id="rId8" imgW="304560" imgH="177480" progId="Equation.DSMT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AB8A419A-5237-2118-05BE-51500258DC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9" y="5546725"/>
                        <a:ext cx="682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5AC277FE-2740-1287-98CE-8C81FA3F21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1725" y="5546725"/>
          <a:ext cx="654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177480" progId="Equation.DSMT4">
                  <p:embed/>
                </p:oleObj>
              </mc:Choice>
              <mc:Fallback>
                <p:oleObj name="Equation" r:id="rId10" imgW="291960" imgH="17748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5AC277FE-2740-1287-98CE-8C81FA3F21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725" y="5546725"/>
                        <a:ext cx="6540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481B67E-0480-3C6B-FC1A-26777DCC7AAC}"/>
              </a:ext>
            </a:extLst>
          </p:cNvPr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940060690"/>
      </p:ext>
    </p:extLst>
  </p:cSld>
  <p:clrMapOvr>
    <a:masterClrMapping/>
  </p:clrMapOvr>
  <p:transition spd="slow">
    <p:wipe dir="r"/>
  </p:transition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19E2-8608-8673-A922-25EDB05AA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098" name="Picture 162">
            <a:extLst>
              <a:ext uri="{FF2B5EF4-FFF2-40B4-BE49-F238E27FC236}">
                <a16:creationId xmlns:a16="http://schemas.microsoft.com/office/drawing/2014/main" id="{19065B47-204C-6C06-C6AD-BEC717EDB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36609">
            <a:off x="4960179" y="3167965"/>
            <a:ext cx="5410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3C4078-23E2-238D-20A8-BCCB64F02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30684-3F78-F366-FDD9-134488C91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6" y="1143001"/>
            <a:ext cx="7772400" cy="2659743"/>
          </a:xfrm>
        </p:spPr>
        <p:txBody>
          <a:bodyPr/>
          <a:lstStyle/>
          <a:p>
            <a:pPr marL="86360" indent="0">
              <a:buNone/>
            </a:pPr>
            <a:r>
              <a:rPr lang="en-US" dirty="0" err="1"/>
              <a:t>Lookahead</a:t>
            </a:r>
            <a:r>
              <a:rPr lang="en-US" dirty="0"/>
              <a:t> policies peek into the future</a:t>
            </a:r>
          </a:p>
          <a:p>
            <a:pPr lvl="1"/>
            <a:r>
              <a:rPr lang="en-US" dirty="0"/>
              <a:t>Optimize over deterministic </a:t>
            </a:r>
            <a:r>
              <a:rPr lang="en-US" dirty="0" err="1"/>
              <a:t>lookahead</a:t>
            </a:r>
            <a:r>
              <a:rPr lang="en-US" dirty="0"/>
              <a:t> model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C8D9DEF-EFEE-9DE3-1438-EB802EE19578}"/>
              </a:ext>
            </a:extLst>
          </p:cNvPr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AAC335-15B5-B470-A352-FFF3885D8531}"/>
              </a:ext>
            </a:extLst>
          </p:cNvPr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963731-D2DD-74C8-CC88-18DE426262D1}"/>
              </a:ext>
            </a:extLst>
          </p:cNvPr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3B295C-0EF4-5FC9-849B-7255188D3772}"/>
              </a:ext>
            </a:extLst>
          </p:cNvPr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9B1619-23DA-BC41-7868-D4375BFE8547}"/>
              </a:ext>
            </a:extLst>
          </p:cNvPr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111B3F-60C6-DE24-B30A-4BA6359E22E8}"/>
              </a:ext>
            </a:extLst>
          </p:cNvPr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D09983-6040-5DF9-6DA6-B21F5499AC9A}"/>
              </a:ext>
            </a:extLst>
          </p:cNvPr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EDEE7B-19E6-0FBA-257F-2635932F5CF6}"/>
              </a:ext>
            </a:extLst>
          </p:cNvPr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40F33B9-CFCA-AA75-97B1-0B6EB35EA045}"/>
              </a:ext>
            </a:extLst>
          </p:cNvPr>
          <p:cNvSpPr txBox="1"/>
          <p:nvPr/>
        </p:nvSpPr>
        <p:spPr>
          <a:xfrm>
            <a:off x="4745648" y="601980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/>
              <a:t>The real process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EE4AA55-69E3-4EC0-908D-0DCE53EE5C1C}"/>
              </a:ext>
            </a:extLst>
          </p:cNvPr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43ED2E7-4B68-F24B-FAE8-95056488A2D4}"/>
              </a:ext>
            </a:extLst>
          </p:cNvPr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69BD69B-0C1A-5ED8-8F3A-012E5BF7E49E}"/>
              </a:ext>
            </a:extLst>
          </p:cNvPr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3CE6F89-F491-536C-AC1D-E988A49E191E}"/>
              </a:ext>
            </a:extLst>
          </p:cNvPr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0" dirty="0"/>
              <a:t>.  .  .  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66059C4-046F-058E-12BE-9EAB0E2B904C}"/>
              </a:ext>
            </a:extLst>
          </p:cNvPr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B449511-DF14-D489-CE2C-805D7EBCF611}"/>
              </a:ext>
            </a:extLst>
          </p:cNvPr>
          <p:cNvSpPr txBox="1"/>
          <p:nvPr/>
        </p:nvSpPr>
        <p:spPr>
          <a:xfrm rot="16200000">
            <a:off x="395944" y="3709659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i="0" dirty="0"/>
              <a:t>The </a:t>
            </a:r>
            <a:r>
              <a:rPr lang="en-US" sz="2400" i="0" dirty="0" err="1"/>
              <a:t>lookahead</a:t>
            </a:r>
            <a:r>
              <a:rPr lang="en-US" sz="2400" i="0" dirty="0"/>
              <a:t> model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2BF9D4C-8225-6FC5-3E52-45F0E858A42B}"/>
              </a:ext>
            </a:extLst>
          </p:cNvPr>
          <p:cNvCxnSpPr>
            <a:cxnSpLocks/>
          </p:cNvCxnSpPr>
          <p:nvPr/>
        </p:nvCxnSpPr>
        <p:spPr bwMode="auto">
          <a:xfrm flipV="1">
            <a:off x="2202408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4915B18F-2F06-8D32-44B5-2E03BC510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5484" y="5588748"/>
          <a:ext cx="199589" cy="34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560" imgH="152280" progId="Equation.DSMT4">
                  <p:embed/>
                </p:oleObj>
              </mc:Choice>
              <mc:Fallback>
                <p:oleObj name="Equation" r:id="rId4" imgW="88560" imgH="15228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4915B18F-2F06-8D32-44B5-2E03BC5106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5484" y="5588748"/>
                        <a:ext cx="199589" cy="342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D657FAEA-62E6-8A72-8C83-94B81A7BEA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3113" y="5545965"/>
          <a:ext cx="625072" cy="40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177480" progId="Equation.DSMT4">
                  <p:embed/>
                </p:oleObj>
              </mc:Choice>
              <mc:Fallback>
                <p:oleObj name="Equation" r:id="rId6" imgW="279360" imgH="177480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D657FAEA-62E6-8A72-8C83-94B81A7BEA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545965"/>
                        <a:ext cx="625072" cy="400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775D2127-F0C6-2B30-7D72-50765043C0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6939" y="5546725"/>
          <a:ext cx="682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177480" progId="Equation.DSMT4">
                  <p:embed/>
                </p:oleObj>
              </mc:Choice>
              <mc:Fallback>
                <p:oleObj name="Equation" r:id="rId8" imgW="304560" imgH="177480" progId="Equation.DSMT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775D2127-F0C6-2B30-7D72-50765043C0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9" y="5546725"/>
                        <a:ext cx="682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2668289F-CFED-B286-D13F-0BF95220E0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1725" y="5546725"/>
          <a:ext cx="654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177480" progId="Equation.DSMT4">
                  <p:embed/>
                </p:oleObj>
              </mc:Choice>
              <mc:Fallback>
                <p:oleObj name="Equation" r:id="rId10" imgW="291960" imgH="17748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2668289F-CFED-B286-D13F-0BF95220E0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725" y="5546725"/>
                        <a:ext cx="6540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2E40500-B52E-44BD-A356-87A4A18FDA39}"/>
              </a:ext>
            </a:extLst>
          </p:cNvPr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295393891"/>
      </p:ext>
    </p:extLst>
  </p:cSld>
  <p:clrMapOvr>
    <a:masterClrMapping/>
  </p:clrMapOvr>
  <p:transition spd="slow">
    <p:wipe dir="r"/>
  </p:transition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18DDA-D46A-423B-7130-F097FA20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11627-B102-B5BC-47C5-735318327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107104"/>
            <a:ext cx="10827432" cy="4401600"/>
          </a:xfrm>
        </p:spPr>
        <p:txBody>
          <a:bodyPr/>
          <a:lstStyle/>
          <a:p>
            <a:r>
              <a:rPr lang="en-US" sz="2400" dirty="0"/>
              <a:t>The policy (deterministic linear program)</a:t>
            </a:r>
          </a:p>
          <a:p>
            <a:pPr lvl="1"/>
            <a:endParaRPr lang="en-US" sz="20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r>
              <a:rPr lang="en-US" sz="2400" dirty="0"/>
              <a:t>The objective function (evaluated using simulation)</a:t>
            </a:r>
          </a:p>
          <a:p>
            <a:endParaRPr lang="en-US" sz="2400" dirty="0"/>
          </a:p>
          <a:p>
            <a:pPr marL="86360" indent="0">
              <a:buNone/>
            </a:pPr>
            <a:endParaRPr lang="en-US" sz="2400" dirty="0"/>
          </a:p>
          <a:p>
            <a:r>
              <a:rPr lang="en-US" sz="2400" dirty="0"/>
              <a:t>Stochastic optimization problem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Stochastic gradient algorithm (using Spall’s SPSA algorithm) </a:t>
            </a:r>
          </a:p>
          <a:p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12EC4-F52B-DC4B-1F06-8B485B89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D682D169-FA90-8896-FD73-EF5F098FB58C}"/>
                  </a:ext>
                </a:extLst>
              </p:cNvPr>
              <p:cNvSpPr txBox="1"/>
              <p:nvPr/>
            </p:nvSpPr>
            <p:spPr bwMode="auto">
              <a:xfrm>
                <a:off x="1548593" y="1556090"/>
                <a:ext cx="6771441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𝒳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05DBA0AA-0D2C-31A3-F94A-39E3F74C5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8593" y="1556090"/>
                <a:ext cx="6771441" cy="801687"/>
              </a:xfrm>
              <a:prstGeom prst="rect">
                <a:avLst/>
              </a:prstGeom>
              <a:blipFill>
                <a:blip r:embed="rId2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525DA930-2F46-4AEA-D9A1-929619082614}"/>
                  </a:ext>
                </a:extLst>
              </p:cNvPr>
              <p:cNvSpPr txBox="1"/>
              <p:nvPr/>
            </p:nvSpPr>
            <p:spPr bwMode="auto">
              <a:xfrm>
                <a:off x="861773" y="3132974"/>
                <a:ext cx="11330227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b/>
                        </m:sSub>
                      </m:e>
                    </m:nary>
                  </m:oMath>
                </a14:m>
                <a:r>
                  <a:rPr lang="en-US" sz="2000" dirty="0"/>
                  <a:t>  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7420A7F0-2CF0-58D9-8BB7-B6CFF631B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773" y="3132974"/>
                <a:ext cx="11330227" cy="801687"/>
              </a:xfrm>
              <a:prstGeom prst="rect">
                <a:avLst/>
              </a:prstGeom>
              <a:blipFill>
                <a:blip r:embed="rId3"/>
                <a:stretch>
                  <a:fillRect t="-60305" b="-435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56E380-D7E9-49A3-FFC4-33C0EE3C465F}"/>
                  </a:ext>
                </a:extLst>
              </p:cNvPr>
              <p:cNvSpPr txBox="1"/>
              <p:nvPr/>
            </p:nvSpPr>
            <p:spPr>
              <a:xfrm>
                <a:off x="1693889" y="5771690"/>
                <a:ext cx="43327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A64DC6-67BF-CB09-38F9-E0A9819D9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889" y="5771690"/>
                <a:ext cx="4332725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2E808EDE-8023-3DF6-C540-47DFB8800544}"/>
                  </a:ext>
                </a:extLst>
              </p:cNvPr>
              <p:cNvSpPr txBox="1"/>
              <p:nvPr/>
            </p:nvSpPr>
            <p:spPr bwMode="auto">
              <a:xfrm>
                <a:off x="1014173" y="4555009"/>
                <a:ext cx="3742023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7102D800-2BB8-B211-3D50-B2AC63FBC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4173" y="4555009"/>
                <a:ext cx="3742023" cy="8016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03DB457-272E-38AE-8AC5-5B6902E42E4C}"/>
              </a:ext>
            </a:extLst>
          </p:cNvPr>
          <p:cNvSpPr txBox="1"/>
          <p:nvPr/>
        </p:nvSpPr>
        <p:spPr>
          <a:xfrm>
            <a:off x="7565177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E1F7E6D0-5DFD-ECB4-21F6-ACA9F58F98C4}"/>
              </a:ext>
            </a:extLst>
          </p:cNvPr>
          <p:cNvSpPr/>
          <p:nvPr/>
        </p:nvSpPr>
        <p:spPr>
          <a:xfrm>
            <a:off x="0" y="2598612"/>
            <a:ext cx="12199632" cy="1197135"/>
          </a:xfrm>
          <a:prstGeom prst="trapezoid">
            <a:avLst>
              <a:gd name="adj" fmla="val 0"/>
            </a:avLst>
          </a:prstGeom>
          <a:solidFill>
            <a:srgbClr val="8585E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BA20F9B5-FE16-BC1B-599F-0EB612373EE3}"/>
              </a:ext>
            </a:extLst>
          </p:cNvPr>
          <p:cNvSpPr/>
          <p:nvPr/>
        </p:nvSpPr>
        <p:spPr>
          <a:xfrm>
            <a:off x="-12736" y="1139889"/>
            <a:ext cx="12192000" cy="1458197"/>
          </a:xfrm>
          <a:prstGeom prst="trapezoid">
            <a:avLst>
              <a:gd name="adj" fmla="val 0"/>
            </a:avLst>
          </a:prstGeom>
          <a:solidFill>
            <a:schemeClr val="accent2">
              <a:lumMod val="60000"/>
              <a:lumOff val="40000"/>
              <a:alpha val="2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2C317ECF-3FAD-56FE-1020-2BD629548CC4}"/>
              </a:ext>
            </a:extLst>
          </p:cNvPr>
          <p:cNvSpPr/>
          <p:nvPr/>
        </p:nvSpPr>
        <p:spPr>
          <a:xfrm>
            <a:off x="0" y="3795967"/>
            <a:ext cx="12199632" cy="1366093"/>
          </a:xfrm>
          <a:prstGeom prst="trapezoid">
            <a:avLst>
              <a:gd name="adj" fmla="val 0"/>
            </a:avLst>
          </a:prstGeom>
          <a:solidFill>
            <a:srgbClr val="8585E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03E6A0DD-EAEE-3481-CFF6-064AA378F9E2}"/>
              </a:ext>
            </a:extLst>
          </p:cNvPr>
          <p:cNvSpPr/>
          <p:nvPr/>
        </p:nvSpPr>
        <p:spPr>
          <a:xfrm>
            <a:off x="1104" y="5167010"/>
            <a:ext cx="12199632" cy="1242781"/>
          </a:xfrm>
          <a:prstGeom prst="trapezoid">
            <a:avLst>
              <a:gd name="adj" fmla="val 0"/>
            </a:avLst>
          </a:prstGeom>
          <a:solidFill>
            <a:srgbClr val="5C5CD6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10A3A9-1F4B-12D1-5ECF-1B8BD9A6FB43}"/>
              </a:ext>
            </a:extLst>
          </p:cNvPr>
          <p:cNvGrpSpPr/>
          <p:nvPr/>
        </p:nvGrpSpPr>
        <p:grpSpPr>
          <a:xfrm>
            <a:off x="1829130" y="4206444"/>
            <a:ext cx="6345600" cy="991657"/>
            <a:chOff x="1829130" y="4206444"/>
            <a:chExt cx="6345600" cy="99165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F45B33E-292C-6032-F770-D1B28077C44B}"/>
                </a:ext>
              </a:extLst>
            </p:cNvPr>
            <p:cNvGrpSpPr/>
            <p:nvPr/>
          </p:nvGrpSpPr>
          <p:grpSpPr>
            <a:xfrm>
              <a:off x="1829130" y="4206444"/>
              <a:ext cx="6345600" cy="991657"/>
              <a:chOff x="1993322" y="4206444"/>
              <a:chExt cx="6345600" cy="99165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F3A1CF1-B8AB-4DA1-AA77-F1E51035DB96}"/>
                  </a:ext>
                </a:extLst>
              </p:cNvPr>
              <p:cNvGrpSpPr/>
              <p:nvPr/>
            </p:nvGrpSpPr>
            <p:grpSpPr>
              <a:xfrm flipV="1">
                <a:off x="1993322" y="4356742"/>
                <a:ext cx="4093800" cy="841359"/>
                <a:chOff x="1895666" y="5135967"/>
                <a:chExt cx="4093800" cy="841359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B0C5D263-12F9-0A37-B228-AC578B9DFFD0}"/>
                    </a:ext>
                  </a:extLst>
                </p:cNvPr>
                <p:cNvSpPr/>
                <p:nvPr/>
              </p:nvSpPr>
              <p:spPr>
                <a:xfrm>
                  <a:off x="1895666" y="5135967"/>
                  <a:ext cx="169052" cy="468010"/>
                </a:xfrm>
                <a:prstGeom prst="ellipse">
                  <a:avLst/>
                </a:pr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A210A46-BBB8-50C4-93CD-172478CC9E44}"/>
                    </a:ext>
                  </a:extLst>
                </p:cNvPr>
                <p:cNvSpPr/>
                <p:nvPr/>
              </p:nvSpPr>
              <p:spPr>
                <a:xfrm>
                  <a:off x="2015975" y="5612627"/>
                  <a:ext cx="3973491" cy="364699"/>
                </a:xfrm>
                <a:custGeom>
                  <a:avLst/>
                  <a:gdLst>
                    <a:gd name="connsiteX0" fmla="*/ 0 w 2266789"/>
                    <a:gd name="connsiteY0" fmla="*/ 0 h 353466"/>
                    <a:gd name="connsiteX1" fmla="*/ 245889 w 2266789"/>
                    <a:gd name="connsiteY1" fmla="*/ 353466 h 353466"/>
                    <a:gd name="connsiteX2" fmla="*/ 2266789 w 2266789"/>
                    <a:gd name="connsiteY2" fmla="*/ 353466 h 35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66789" h="353466">
                      <a:moveTo>
                        <a:pt x="0" y="0"/>
                      </a:moveTo>
                      <a:lnTo>
                        <a:pt x="245889" y="353466"/>
                      </a:lnTo>
                      <a:lnTo>
                        <a:pt x="2266789" y="353466"/>
                      </a:lnTo>
                    </a:path>
                  </a:pathLst>
                </a:cu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AA8A89-4A3A-46D2-21F4-2D801384E182}"/>
                  </a:ext>
                </a:extLst>
              </p:cNvPr>
              <p:cNvSpPr txBox="1"/>
              <p:nvPr/>
            </p:nvSpPr>
            <p:spPr>
              <a:xfrm>
                <a:off x="6096000" y="4206444"/>
                <a:ext cx="22429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Testing parameterizations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D1E4FD3-4F59-C15A-A2BF-A8CC9DEADA25}"/>
                </a:ext>
              </a:extLst>
            </p:cNvPr>
            <p:cNvGrpSpPr/>
            <p:nvPr/>
          </p:nvGrpSpPr>
          <p:grpSpPr>
            <a:xfrm>
              <a:off x="2354394" y="4413437"/>
              <a:ext cx="5615379" cy="777264"/>
              <a:chOff x="2163477" y="4413437"/>
              <a:chExt cx="5615379" cy="77726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1D46E91-FC29-30C4-264F-BE8AF897C090}"/>
                  </a:ext>
                </a:extLst>
              </p:cNvPr>
              <p:cNvSpPr txBox="1"/>
              <p:nvPr/>
            </p:nvSpPr>
            <p:spPr>
              <a:xfrm>
                <a:off x="6093779" y="4413437"/>
                <a:ext cx="168507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Tuning parameters</a:t>
                </a: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AC0B256-9FB0-8668-98F3-EB4D07814EF9}"/>
                  </a:ext>
                </a:extLst>
              </p:cNvPr>
              <p:cNvGrpSpPr/>
              <p:nvPr/>
            </p:nvGrpSpPr>
            <p:grpSpPr>
              <a:xfrm flipV="1">
                <a:off x="2163477" y="4537250"/>
                <a:ext cx="3932523" cy="653451"/>
                <a:chOff x="1895665" y="5153722"/>
                <a:chExt cx="3932523" cy="810654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0C7115D1-CE24-5C87-166E-EEEAA23A40D7}"/>
                    </a:ext>
                  </a:extLst>
                </p:cNvPr>
                <p:cNvSpPr/>
                <p:nvPr/>
              </p:nvSpPr>
              <p:spPr>
                <a:xfrm>
                  <a:off x="1895665" y="5153722"/>
                  <a:ext cx="172829" cy="521003"/>
                </a:xfrm>
                <a:prstGeom prst="ellipse">
                  <a:avLst/>
                </a:pr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94FA5B0E-CF62-54A6-9049-26FB801291E0}"/>
                    </a:ext>
                  </a:extLst>
                </p:cNvPr>
                <p:cNvSpPr/>
                <p:nvPr/>
              </p:nvSpPr>
              <p:spPr>
                <a:xfrm>
                  <a:off x="2024853" y="5637531"/>
                  <a:ext cx="3803335" cy="326845"/>
                </a:xfrm>
                <a:custGeom>
                  <a:avLst/>
                  <a:gdLst>
                    <a:gd name="connsiteX0" fmla="*/ 0 w 2266789"/>
                    <a:gd name="connsiteY0" fmla="*/ 0 h 353466"/>
                    <a:gd name="connsiteX1" fmla="*/ 245889 w 2266789"/>
                    <a:gd name="connsiteY1" fmla="*/ 353466 h 353466"/>
                    <a:gd name="connsiteX2" fmla="*/ 2266789 w 2266789"/>
                    <a:gd name="connsiteY2" fmla="*/ 353466 h 35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66789" h="353466">
                      <a:moveTo>
                        <a:pt x="0" y="0"/>
                      </a:moveTo>
                      <a:lnTo>
                        <a:pt x="245889" y="353466"/>
                      </a:lnTo>
                      <a:lnTo>
                        <a:pt x="2266789" y="353466"/>
                      </a:lnTo>
                    </a:path>
                  </a:pathLst>
                </a:cu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147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C07C-127E-AB1F-BC79-EDC09E15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B07BCD-AE0F-60C1-6EA4-7852E38D1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50" y="1323093"/>
            <a:ext cx="7979158" cy="50385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1591CD-0AB5-8BAD-2EEC-9A93B637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023EA-3327-4187-EB62-B47957C611CE}"/>
              </a:ext>
            </a:extLst>
          </p:cNvPr>
          <p:cNvSpPr txBox="1"/>
          <p:nvPr/>
        </p:nvSpPr>
        <p:spPr>
          <a:xfrm>
            <a:off x="6783468" y="2578428"/>
            <a:ext cx="1943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660066"/>
                </a:solidFill>
              </a:rPr>
              <a:t>Mini-batch = 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F1EDA-918B-609D-45FC-469A55E3483C}"/>
              </a:ext>
            </a:extLst>
          </p:cNvPr>
          <p:cNvSpPr txBox="1"/>
          <p:nvPr/>
        </p:nvSpPr>
        <p:spPr>
          <a:xfrm>
            <a:off x="5137748" y="1844216"/>
            <a:ext cx="1943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BC8F00"/>
                </a:solidFill>
              </a:rPr>
              <a:t>Mini-batch =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3B2E5-AD4D-3D01-D00A-9B7CC6245700}"/>
              </a:ext>
            </a:extLst>
          </p:cNvPr>
          <p:cNvSpPr txBox="1"/>
          <p:nvPr/>
        </p:nvSpPr>
        <p:spPr>
          <a:xfrm>
            <a:off x="2688508" y="2595823"/>
            <a:ext cx="1367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C47500"/>
                </a:solidFill>
              </a:rPr>
              <a:t>Mini-batch</a:t>
            </a:r>
          </a:p>
          <a:p>
            <a:pPr algn="l"/>
            <a:r>
              <a:rPr lang="en-US" sz="2000" dirty="0">
                <a:solidFill>
                  <a:srgbClr val="C47500"/>
                </a:solidFill>
              </a:rPr>
              <a:t> =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C44872-505A-ED6C-C845-0A5D51EBC05F}"/>
              </a:ext>
            </a:extLst>
          </p:cNvPr>
          <p:cNvSpPr txBox="1"/>
          <p:nvPr/>
        </p:nvSpPr>
        <p:spPr>
          <a:xfrm>
            <a:off x="3155943" y="2034970"/>
            <a:ext cx="1800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0C69A6"/>
                </a:solidFill>
              </a:rPr>
              <a:t>Mini-batch =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256831-4596-B3E5-5A26-F359B8EDC4F2}"/>
              </a:ext>
            </a:extLst>
          </p:cNvPr>
          <p:cNvSpPr/>
          <p:nvPr/>
        </p:nvSpPr>
        <p:spPr>
          <a:xfrm>
            <a:off x="8276813" y="4911082"/>
            <a:ext cx="1493596" cy="87652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5A0DB5-7F4F-D667-AAF9-1A14B00C9806}"/>
              </a:ext>
            </a:extLst>
          </p:cNvPr>
          <p:cNvSpPr txBox="1"/>
          <p:nvPr/>
        </p:nvSpPr>
        <p:spPr>
          <a:xfrm>
            <a:off x="4497478" y="6071712"/>
            <a:ext cx="371768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Number of function evaluations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A402F-1ED2-8090-D832-99DE2B64399D}"/>
              </a:ext>
            </a:extLst>
          </p:cNvPr>
          <p:cNvSpPr txBox="1"/>
          <p:nvPr/>
        </p:nvSpPr>
        <p:spPr>
          <a:xfrm>
            <a:off x="5896206" y="3174183"/>
            <a:ext cx="3717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32B8D"/>
                </a:solidFill>
              </a:rPr>
              <a:t>“mini-batch” = number of times we simulate the function to estimate the derivative.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35D7EE-C873-1D7D-3ABD-EABE7A91A385}"/>
              </a:ext>
            </a:extLst>
          </p:cNvPr>
          <p:cNvSpPr/>
          <p:nvPr/>
        </p:nvSpPr>
        <p:spPr>
          <a:xfrm>
            <a:off x="3084648" y="4145969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3F2465-3C54-1687-4AB6-B4B4A026872A}"/>
              </a:ext>
            </a:extLst>
          </p:cNvPr>
          <p:cNvSpPr/>
          <p:nvPr/>
        </p:nvSpPr>
        <p:spPr>
          <a:xfrm>
            <a:off x="3337529" y="3715566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6B343A-13C4-B0AC-7F8D-F926376DFF15}"/>
              </a:ext>
            </a:extLst>
          </p:cNvPr>
          <p:cNvSpPr/>
          <p:nvPr/>
        </p:nvSpPr>
        <p:spPr>
          <a:xfrm>
            <a:off x="3610505" y="3737342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0B8D3B5-4C16-F24C-212F-264D30128271}"/>
              </a:ext>
            </a:extLst>
          </p:cNvPr>
          <p:cNvSpPr/>
          <p:nvPr/>
        </p:nvSpPr>
        <p:spPr>
          <a:xfrm>
            <a:off x="3953823" y="3216506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A22D25E-1ABD-70CB-EB16-AE110BF5B8BA}"/>
              </a:ext>
            </a:extLst>
          </p:cNvPr>
          <p:cNvSpPr/>
          <p:nvPr/>
        </p:nvSpPr>
        <p:spPr>
          <a:xfrm>
            <a:off x="4256948" y="3589968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E366F3-6181-3C34-B069-A6E2DE9C67B1}"/>
              </a:ext>
            </a:extLst>
          </p:cNvPr>
          <p:cNvSpPr/>
          <p:nvPr/>
        </p:nvSpPr>
        <p:spPr>
          <a:xfrm>
            <a:off x="4489732" y="3159567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60176B1-92D2-235D-E850-71A71226366E}"/>
              </a:ext>
            </a:extLst>
          </p:cNvPr>
          <p:cNvSpPr/>
          <p:nvPr/>
        </p:nvSpPr>
        <p:spPr>
          <a:xfrm>
            <a:off x="4682324" y="2859795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8B61198-BB82-E945-6609-9ED49895BFEA}"/>
              </a:ext>
            </a:extLst>
          </p:cNvPr>
          <p:cNvSpPr/>
          <p:nvPr/>
        </p:nvSpPr>
        <p:spPr>
          <a:xfrm>
            <a:off x="5065833" y="2539926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511E37B-B2DE-9163-A796-D069FA115787}"/>
              </a:ext>
            </a:extLst>
          </p:cNvPr>
          <p:cNvSpPr/>
          <p:nvPr/>
        </p:nvSpPr>
        <p:spPr>
          <a:xfrm>
            <a:off x="5389057" y="2702374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93CB19-24F5-7C9C-6B59-BDB55246480A}"/>
              </a:ext>
            </a:extLst>
          </p:cNvPr>
          <p:cNvSpPr/>
          <p:nvPr/>
        </p:nvSpPr>
        <p:spPr>
          <a:xfrm>
            <a:off x="5672085" y="2332263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2F34D9-942E-DFE1-57B5-E535E4F3F4DB}"/>
              </a:ext>
            </a:extLst>
          </p:cNvPr>
          <p:cNvSpPr/>
          <p:nvPr/>
        </p:nvSpPr>
        <p:spPr>
          <a:xfrm>
            <a:off x="5834533" y="2293747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74339D-00A0-74DD-CAC7-5418FE2B0035}"/>
              </a:ext>
            </a:extLst>
          </p:cNvPr>
          <p:cNvSpPr/>
          <p:nvPr/>
        </p:nvSpPr>
        <p:spPr>
          <a:xfrm>
            <a:off x="6107511" y="2144699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A1BE44-D395-CE36-EF35-42AC54BDD4F2}"/>
              </a:ext>
            </a:extLst>
          </p:cNvPr>
          <p:cNvSpPr txBox="1"/>
          <p:nvPr/>
        </p:nvSpPr>
        <p:spPr>
          <a:xfrm>
            <a:off x="8950094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EB6619-8D5E-F092-8D22-411FD93EA5A8}"/>
              </a:ext>
            </a:extLst>
          </p:cNvPr>
          <p:cNvSpPr txBox="1"/>
          <p:nvPr/>
        </p:nvSpPr>
        <p:spPr>
          <a:xfrm>
            <a:off x="5188578" y="4311949"/>
            <a:ext cx="3835033" cy="738664"/>
          </a:xfrm>
          <a:prstGeom prst="rect">
            <a:avLst/>
          </a:prstGeom>
          <a:noFill/>
          <a:ln w="19050">
            <a:solidFill>
              <a:srgbClr val="E2AC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2AC00"/>
                </a:solidFill>
              </a:rPr>
              <a:t>Each point represents the sum of optimal solutions to linear programs (but we keep changing the model).</a:t>
            </a:r>
          </a:p>
        </p:txBody>
      </p:sp>
    </p:spTree>
    <p:extLst>
      <p:ext uri="{BB962C8B-B14F-4D97-AF65-F5344CB8AC3E}">
        <p14:creationId xmlns:p14="http://schemas.microsoft.com/office/powerpoint/2010/main" val="420694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7F178-7710-3533-71A9-E078FB1F3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B5A50E-0123-03BA-2FFB-AB4986BA0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40" y="2096807"/>
            <a:ext cx="7044865" cy="44646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231B5D-5B38-955D-6690-0ABE3340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CCF46-C5C4-D763-C8A0-E6331F6E8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One-dimensional contour plots – perfect forecast</a:t>
            </a:r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40DB62-BD54-01A8-B38B-709370C4B705}"/>
              </a:ext>
            </a:extLst>
          </p:cNvPr>
          <p:cNvSpPr txBox="1"/>
          <p:nvPr/>
        </p:nvSpPr>
        <p:spPr>
          <a:xfrm>
            <a:off x="2874997" y="6112918"/>
            <a:ext cx="700063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200" i="0" dirty="0"/>
              <a:t>0.0                      0.2                     0.4                  0.6                   0.8                   1.0                   1.2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7551B1-25A6-1211-409B-1E217618DBB7}"/>
              </a:ext>
            </a:extLst>
          </p:cNvPr>
          <p:cNvCxnSpPr/>
          <p:nvPr/>
        </p:nvCxnSpPr>
        <p:spPr bwMode="auto">
          <a:xfrm>
            <a:off x="8370208" y="2253343"/>
            <a:ext cx="0" cy="3859574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72575FB7-95DF-BEAD-917F-BDDC03456ABC}"/>
                  </a:ext>
                </a:extLst>
              </p:cNvPr>
              <p:cNvSpPr txBox="1"/>
              <p:nvPr/>
            </p:nvSpPr>
            <p:spPr>
              <a:xfrm>
                <a:off x="3729038" y="2660650"/>
                <a:ext cx="3090862" cy="4413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for perfect forecasts.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038" y="2660650"/>
                <a:ext cx="3090862" cy="4413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9D3B251A-6119-E8BA-AF87-90DCC1829952}"/>
                  </a:ext>
                </a:extLst>
              </p:cNvPr>
              <p:cNvSpPr txBox="1"/>
              <p:nvPr/>
            </p:nvSpPr>
            <p:spPr>
              <a:xfrm>
                <a:off x="6080125" y="6232400"/>
                <a:ext cx="266700" cy="34448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5" y="6232400"/>
                <a:ext cx="266700" cy="344488"/>
              </a:xfrm>
              <a:prstGeom prst="rect">
                <a:avLst/>
              </a:prstGeom>
              <a:blipFill>
                <a:blip r:embed="rId7"/>
                <a:stretch>
                  <a:fillRect l="-4545" r="-38636" b="-29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999A64F-2BED-5ED1-7DCF-F807AEFF18B4}"/>
              </a:ext>
            </a:extLst>
          </p:cNvPr>
          <p:cNvSpPr txBox="1"/>
          <p:nvPr/>
        </p:nvSpPr>
        <p:spPr>
          <a:xfrm>
            <a:off x="7565177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E0C690-2C3E-5D46-51BC-A366511E7139}"/>
              </a:ext>
            </a:extLst>
          </p:cNvPr>
          <p:cNvSpPr/>
          <p:nvPr/>
        </p:nvSpPr>
        <p:spPr>
          <a:xfrm>
            <a:off x="4381080" y="2185988"/>
            <a:ext cx="3958886" cy="259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D52C8-A021-C3D0-3B51-BE9730598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2EE0-4CD0-62CA-4CD8-6B1CED9CF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05963-8499-BDD3-E2EC-A5762884E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One-dimensional contour plots - uncertain forecast</a:t>
            </a:r>
          </a:p>
          <a:p>
            <a:pPr lvl="1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2CE350-D25D-1524-4418-789F59D15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8" y="2185988"/>
            <a:ext cx="7038975" cy="435231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B65DAA-B3E3-9D65-C09F-A27570B92B8C}"/>
              </a:ext>
            </a:extLst>
          </p:cNvPr>
          <p:cNvCxnSpPr/>
          <p:nvPr/>
        </p:nvCxnSpPr>
        <p:spPr bwMode="auto">
          <a:xfrm>
            <a:off x="8377903" y="2224768"/>
            <a:ext cx="0" cy="3859574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FCE98C1-F687-B6E6-794C-6258DA56E28F}"/>
              </a:ext>
            </a:extLst>
          </p:cNvPr>
          <p:cNvSpPr txBox="1"/>
          <p:nvPr/>
        </p:nvSpPr>
        <p:spPr>
          <a:xfrm>
            <a:off x="2874997" y="6084343"/>
            <a:ext cx="700063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200" i="0" dirty="0"/>
              <a:t>0.0                      0.2                     0.4                  0.6                   0.8                   1.0                   1.2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2DB99FA6-DBD0-8E23-EC29-C530A5EE5E2C}"/>
                  </a:ext>
                </a:extLst>
              </p:cNvPr>
              <p:cNvSpPr txBox="1"/>
              <p:nvPr/>
            </p:nvSpPr>
            <p:spPr>
              <a:xfrm>
                <a:off x="6080125" y="6203825"/>
                <a:ext cx="266700" cy="34448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55E7A3DC-A72B-18DE-D91D-09863B090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5" y="6203825"/>
                <a:ext cx="266700" cy="344488"/>
              </a:xfrm>
              <a:prstGeom prst="rect">
                <a:avLst/>
              </a:prstGeom>
              <a:blipFill>
                <a:blip r:embed="rId3"/>
                <a:stretch>
                  <a:fillRect l="-4545" r="-38636" b="-3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58F91E4-A435-FB6F-A901-D9E45EC8AB49}"/>
              </a:ext>
            </a:extLst>
          </p:cNvPr>
          <p:cNvSpPr txBox="1"/>
          <p:nvPr/>
        </p:nvSpPr>
        <p:spPr>
          <a:xfrm>
            <a:off x="7565177" y="6401312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9ECD66-4C8D-EC24-D8FA-FF8EF3B35CC0}"/>
              </a:ext>
            </a:extLst>
          </p:cNvPr>
          <p:cNvGrpSpPr/>
          <p:nvPr/>
        </p:nvGrpSpPr>
        <p:grpSpPr>
          <a:xfrm>
            <a:off x="5982878" y="3506836"/>
            <a:ext cx="448393" cy="632729"/>
            <a:chOff x="5982878" y="3535411"/>
            <a:chExt cx="448393" cy="63272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DEF5DCA-8363-BA3D-AB04-5AB1BEC313ED}"/>
                </a:ext>
              </a:extLst>
            </p:cNvPr>
            <p:cNvSpPr/>
            <p:nvPr/>
          </p:nvSpPr>
          <p:spPr>
            <a:xfrm>
              <a:off x="6263640" y="3718560"/>
              <a:ext cx="167631" cy="44958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940D56F-934C-D602-B41D-5967F88B8A15}"/>
                    </a:ext>
                  </a:extLst>
                </p:cNvPr>
                <p:cNvSpPr txBox="1"/>
                <p:nvPr/>
              </p:nvSpPr>
              <p:spPr>
                <a:xfrm>
                  <a:off x="5982878" y="3535411"/>
                  <a:ext cx="4076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78C089F-E94E-FC87-2234-86E15FC3A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2878" y="3535411"/>
                  <a:ext cx="407676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BE614A-2431-7CE8-71F9-73518C410393}"/>
              </a:ext>
            </a:extLst>
          </p:cNvPr>
          <p:cNvGrpSpPr/>
          <p:nvPr/>
        </p:nvGrpSpPr>
        <p:grpSpPr>
          <a:xfrm>
            <a:off x="6215542" y="2622916"/>
            <a:ext cx="1250740" cy="609869"/>
            <a:chOff x="6215542" y="2651491"/>
            <a:chExt cx="1250740" cy="609869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1F19593-010F-C2A2-BA2C-36DD1058AB2C}"/>
                </a:ext>
              </a:extLst>
            </p:cNvPr>
            <p:cNvSpPr/>
            <p:nvPr/>
          </p:nvSpPr>
          <p:spPr>
            <a:xfrm>
              <a:off x="6215542" y="2811780"/>
              <a:ext cx="167631" cy="44958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520891F-32EB-D0A4-2DBF-CB1E2B83618E}"/>
                    </a:ext>
                  </a:extLst>
                </p:cNvPr>
                <p:cNvSpPr txBox="1"/>
                <p:nvPr/>
              </p:nvSpPr>
              <p:spPr>
                <a:xfrm>
                  <a:off x="6325778" y="2651491"/>
                  <a:ext cx="114050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2AD5D7E-4D28-FBFB-FC46-10CCF9A6DA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5778" y="2651491"/>
                  <a:ext cx="1140504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F1231D4-0D96-CB71-4BDF-4942DBBFB1F8}"/>
              </a:ext>
            </a:extLst>
          </p:cNvPr>
          <p:cNvGrpSpPr/>
          <p:nvPr/>
        </p:nvGrpSpPr>
        <p:grpSpPr>
          <a:xfrm>
            <a:off x="6718081" y="4854989"/>
            <a:ext cx="448393" cy="632729"/>
            <a:chOff x="5982878" y="3535411"/>
            <a:chExt cx="448393" cy="63272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995B665-8CC2-C187-FE0D-81577A66ACFF}"/>
                </a:ext>
              </a:extLst>
            </p:cNvPr>
            <p:cNvSpPr/>
            <p:nvPr/>
          </p:nvSpPr>
          <p:spPr>
            <a:xfrm>
              <a:off x="6263640" y="3718560"/>
              <a:ext cx="167631" cy="44958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27DE231-01B2-4D9B-50F7-A190BF0A669D}"/>
                    </a:ext>
                  </a:extLst>
                </p:cNvPr>
                <p:cNvSpPr txBox="1"/>
                <p:nvPr/>
              </p:nvSpPr>
              <p:spPr>
                <a:xfrm>
                  <a:off x="5982878" y="3535411"/>
                  <a:ext cx="4118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E7DF901-A001-8143-5EE1-721ABDA6C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2878" y="3535411"/>
                  <a:ext cx="411844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A26A8A0-0BF9-5704-555E-34CEC7A820B5}"/>
              </a:ext>
            </a:extLst>
          </p:cNvPr>
          <p:cNvSpPr/>
          <p:nvPr/>
        </p:nvSpPr>
        <p:spPr>
          <a:xfrm>
            <a:off x="4340888" y="2185988"/>
            <a:ext cx="3958886" cy="259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7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8E4E-CEF2-4157-EF4D-40EA5400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54190-F210-1568-770E-81FD35D6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37D9-D64C-3B48-1A22-0100C0314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092" y="1064743"/>
            <a:ext cx="10363200" cy="4401600"/>
          </a:xfrm>
        </p:spPr>
        <p:txBody>
          <a:bodyPr/>
          <a:lstStyle/>
          <a:p>
            <a:r>
              <a:rPr lang="en-US" dirty="0"/>
              <a:t>Tuning the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423861-52C7-89FC-2E25-F18B3BEE7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211" y="1734281"/>
            <a:ext cx="7994737" cy="475186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82E8C7-887A-2360-CF7B-F61457234BC3}"/>
              </a:ext>
            </a:extLst>
          </p:cNvPr>
          <p:cNvCxnSpPr>
            <a:cxnSpLocks/>
          </p:cNvCxnSpPr>
          <p:nvPr/>
        </p:nvCxnSpPr>
        <p:spPr>
          <a:xfrm>
            <a:off x="5244167" y="1874985"/>
            <a:ext cx="16475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6664C1-6255-8422-A1A0-804349874396}"/>
              </a:ext>
            </a:extLst>
          </p:cNvPr>
          <p:cNvCxnSpPr>
            <a:cxnSpLocks/>
          </p:cNvCxnSpPr>
          <p:nvPr/>
        </p:nvCxnSpPr>
        <p:spPr>
          <a:xfrm>
            <a:off x="6891739" y="1874985"/>
            <a:ext cx="17363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B4A28B-0FB8-9476-A9FE-3947DC3BA285}"/>
              </a:ext>
            </a:extLst>
          </p:cNvPr>
          <p:cNvCxnSpPr>
            <a:cxnSpLocks/>
          </p:cNvCxnSpPr>
          <p:nvPr/>
        </p:nvCxnSpPr>
        <p:spPr>
          <a:xfrm>
            <a:off x="3555096" y="1874985"/>
            <a:ext cx="16890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C9F729-B872-37E5-4898-49358EB7EDE0}"/>
              </a:ext>
            </a:extLst>
          </p:cNvPr>
          <p:cNvCxnSpPr>
            <a:cxnSpLocks/>
          </p:cNvCxnSpPr>
          <p:nvPr/>
        </p:nvCxnSpPr>
        <p:spPr>
          <a:xfrm>
            <a:off x="3237247" y="1874985"/>
            <a:ext cx="3178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B8628A-A2D8-DFDA-5028-F44FC4EB4CEA}"/>
                  </a:ext>
                </a:extLst>
              </p:cNvPr>
              <p:cNvSpPr txBox="1"/>
              <p:nvPr/>
            </p:nvSpPr>
            <p:spPr>
              <a:xfrm>
                <a:off x="3146773" y="1701361"/>
                <a:ext cx="498797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8AC0D2-BA31-4D43-9A57-26FA9F67D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773" y="1701361"/>
                <a:ext cx="498797" cy="161583"/>
              </a:xfrm>
              <a:prstGeom prst="rect">
                <a:avLst/>
              </a:prstGeom>
              <a:blipFill>
                <a:blip r:embed="rId3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8C97F0-B91F-EF91-A340-6B3EA3E3E144}"/>
                  </a:ext>
                </a:extLst>
              </p:cNvPr>
              <p:cNvSpPr txBox="1"/>
              <p:nvPr/>
            </p:nvSpPr>
            <p:spPr>
              <a:xfrm>
                <a:off x="4016949" y="1701361"/>
                <a:ext cx="575863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00E83D-C04E-44F4-862C-7BA494558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949" y="1701361"/>
                <a:ext cx="575863" cy="161583"/>
              </a:xfrm>
              <a:prstGeom prst="rect">
                <a:avLst/>
              </a:prstGeom>
              <a:blipFill>
                <a:blip r:embed="rId4"/>
                <a:stretch>
                  <a:fillRect l="-5319" t="-3704" r="-9574" b="-37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FF03D9-B3E2-B19E-9CF7-0780D29542A2}"/>
                  </a:ext>
                </a:extLst>
              </p:cNvPr>
              <p:cNvSpPr txBox="1"/>
              <p:nvPr/>
            </p:nvSpPr>
            <p:spPr>
              <a:xfrm>
                <a:off x="5645760" y="1690090"/>
                <a:ext cx="78104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>
                          <a:latin typeface="Cambria Math" panose="02040503050406030204" pitchFamily="18" charset="0"/>
                        </a:rPr>
                        <m:t>∈[0.5,1.5]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4876F0-DE4B-465B-BCF4-778CE602B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760" y="1690090"/>
                <a:ext cx="781048" cy="161583"/>
              </a:xfrm>
              <a:prstGeom prst="rect">
                <a:avLst/>
              </a:prstGeom>
              <a:blipFill>
                <a:blip r:embed="rId5"/>
                <a:stretch>
                  <a:fillRect l="-3906" t="-3704" r="-7031" b="-37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0C7633-05CD-D032-8A9A-2D32E77BEE74}"/>
                  </a:ext>
                </a:extLst>
              </p:cNvPr>
              <p:cNvSpPr txBox="1"/>
              <p:nvPr/>
            </p:nvSpPr>
            <p:spPr>
              <a:xfrm>
                <a:off x="7479756" y="1702472"/>
                <a:ext cx="575863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>
                          <a:latin typeface="Cambria Math" panose="02040503050406030204" pitchFamily="18" charset="0"/>
                        </a:rPr>
                        <m:t>∈[1,2]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E222F9-FF71-4D6C-B1D2-6F31495EE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756" y="1702472"/>
                <a:ext cx="575863" cy="161583"/>
              </a:xfrm>
              <a:prstGeom prst="rect">
                <a:avLst/>
              </a:prstGeom>
              <a:blipFill>
                <a:blip r:embed="rId6"/>
                <a:stretch>
                  <a:fillRect l="-5319" r="-9574" b="-37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DC1CF8CD-8D89-4AB2-B3FC-4E626D6DB806}"/>
              </a:ext>
            </a:extLst>
          </p:cNvPr>
          <p:cNvSpPr/>
          <p:nvPr/>
        </p:nvSpPr>
        <p:spPr>
          <a:xfrm>
            <a:off x="5742709" y="6130636"/>
            <a:ext cx="741218" cy="145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016C59-0492-BFB1-470E-91629A017D51}"/>
                  </a:ext>
                </a:extLst>
              </p:cNvPr>
              <p:cNvSpPr txBox="1"/>
              <p:nvPr/>
            </p:nvSpPr>
            <p:spPr>
              <a:xfrm>
                <a:off x="4396117" y="6151066"/>
                <a:ext cx="34344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Starting points for stochastic search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ED90AF-1957-4A9F-86E3-64ED432C4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117" y="6151066"/>
                <a:ext cx="3434402" cy="307777"/>
              </a:xfrm>
              <a:prstGeom prst="rect">
                <a:avLst/>
              </a:prstGeom>
              <a:blipFill>
                <a:blip r:embed="rId7"/>
                <a:stretch>
                  <a:fillRect l="-532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91162A87-475E-C821-4665-7EB3E691CE99}"/>
              </a:ext>
            </a:extLst>
          </p:cNvPr>
          <p:cNvGrpSpPr/>
          <p:nvPr/>
        </p:nvGrpSpPr>
        <p:grpSpPr>
          <a:xfrm>
            <a:off x="2994053" y="5239767"/>
            <a:ext cx="7434253" cy="369332"/>
            <a:chOff x="2994053" y="5239767"/>
            <a:chExt cx="7434253" cy="36933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8AAF456-67E0-7DDD-602F-2075F3A59499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53" y="5417791"/>
              <a:ext cx="655454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90DB461-D3EF-F212-A57F-6557BBBB1712}"/>
                    </a:ext>
                  </a:extLst>
                </p:cNvPr>
                <p:cNvSpPr txBox="1"/>
                <p:nvPr/>
              </p:nvSpPr>
              <p:spPr>
                <a:xfrm>
                  <a:off x="9613339" y="5239767"/>
                  <a:ext cx="814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2CC0806-DBAA-4B63-A935-F5555D2B3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3339" y="5239767"/>
                  <a:ext cx="814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2577BFF-58A8-DFC0-089B-B95E19A9BDE2}"/>
              </a:ext>
            </a:extLst>
          </p:cNvPr>
          <p:cNvSpPr/>
          <p:nvPr/>
        </p:nvSpPr>
        <p:spPr>
          <a:xfrm>
            <a:off x="2402660" y="2098623"/>
            <a:ext cx="457200" cy="3694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0552D29-3767-47D5-4D7C-F5690092B5E6}"/>
                  </a:ext>
                </a:extLst>
              </p:cNvPr>
              <p:cNvSpPr txBox="1"/>
              <p:nvPr/>
            </p:nvSpPr>
            <p:spPr>
              <a:xfrm rot="16200000">
                <a:off x="1149453" y="3742830"/>
                <a:ext cx="2772747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Percent improvement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FB6B67-CA0C-40C0-B2CF-FB5C41A45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49453" y="3742830"/>
                <a:ext cx="2772747" cy="307777"/>
              </a:xfrm>
              <a:prstGeom prst="rect">
                <a:avLst/>
              </a:prstGeom>
              <a:blipFill>
                <a:blip r:embed="rId9"/>
                <a:stretch>
                  <a:fillRect l="-4000" r="-20000" b="-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7B9E9623-3624-8D08-5AB8-4714A977D22F}"/>
              </a:ext>
            </a:extLst>
          </p:cNvPr>
          <p:cNvGrpSpPr/>
          <p:nvPr/>
        </p:nvGrpSpPr>
        <p:grpSpPr>
          <a:xfrm>
            <a:off x="2994053" y="3398207"/>
            <a:ext cx="8742714" cy="514706"/>
            <a:chOff x="2994053" y="3398207"/>
            <a:chExt cx="8742714" cy="51470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C0DDB06-7CAD-ED5D-329D-2CA4C1453AF7}"/>
                </a:ext>
              </a:extLst>
            </p:cNvPr>
            <p:cNvGrpSpPr/>
            <p:nvPr/>
          </p:nvGrpSpPr>
          <p:grpSpPr>
            <a:xfrm>
              <a:off x="2994053" y="3605136"/>
              <a:ext cx="8742714" cy="307777"/>
              <a:chOff x="2994053" y="3605136"/>
              <a:chExt cx="8742714" cy="307777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21FE6AA-4D4C-AD75-3295-242BF7AFD695}"/>
                  </a:ext>
                </a:extLst>
              </p:cNvPr>
              <p:cNvCxnSpPr/>
              <p:nvPr/>
            </p:nvCxnSpPr>
            <p:spPr>
              <a:xfrm>
                <a:off x="2994053" y="3755036"/>
                <a:ext cx="668959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B338404-C73E-6115-DB27-8561E39167F9}"/>
                  </a:ext>
                </a:extLst>
              </p:cNvPr>
              <p:cNvSpPr txBox="1"/>
              <p:nvPr/>
            </p:nvSpPr>
            <p:spPr>
              <a:xfrm>
                <a:off x="9623688" y="3605136"/>
                <a:ext cx="21130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30 percent improvement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53755FE-3835-33EB-C64B-D128B9FF16B2}"/>
                    </a:ext>
                  </a:extLst>
                </p:cNvPr>
                <p:cNvSpPr txBox="1"/>
                <p:nvPr/>
              </p:nvSpPr>
              <p:spPr>
                <a:xfrm>
                  <a:off x="3517205" y="3398207"/>
                  <a:ext cx="114691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Optimized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83E3983-BD49-DB1F-210A-CC7C439C9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7205" y="3398207"/>
                  <a:ext cx="1146917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1596" t="-1961" b="-196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31DDF2A-ED2E-D923-BC0D-01B7A7FA94D6}"/>
              </a:ext>
            </a:extLst>
          </p:cNvPr>
          <p:cNvSpPr txBox="1"/>
          <p:nvPr/>
        </p:nvSpPr>
        <p:spPr>
          <a:xfrm>
            <a:off x="8408557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799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10367-0E02-E2A6-86AA-2FA00604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4BED-4711-3112-B9F8-593C5832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lookahead: Parameterized LP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3ED9-82CB-515A-4052-E269926A0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848" y="1067944"/>
            <a:ext cx="6755243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Cost function approximations</a:t>
            </a:r>
          </a:p>
          <a:p>
            <a:pPr lvl="2"/>
            <a:endParaRPr lang="en-US" sz="1400" dirty="0"/>
          </a:p>
          <a:p>
            <a:pPr lvl="1"/>
            <a:r>
              <a:rPr lang="en-US" sz="2200" dirty="0"/>
              <a:t>This approach is widely used in industry, but in an ad-hoc way.</a:t>
            </a:r>
          </a:p>
          <a:p>
            <a:pPr lvl="1"/>
            <a:r>
              <a:rPr lang="en-US" sz="2200" dirty="0"/>
              <a:t>Professionals will tweak their models so they work well in the field (and over time).  </a:t>
            </a:r>
          </a:p>
          <a:p>
            <a:pPr lvl="1"/>
            <a:r>
              <a:rPr lang="en-US" sz="2200" dirty="0"/>
              <a:t>Missing is any formal recognition that this is a parameterized policy.</a:t>
            </a:r>
          </a:p>
          <a:p>
            <a:pPr lvl="1"/>
            <a:r>
              <a:rPr lang="en-US" sz="2200" dirty="0"/>
              <a:t>CFAs are covered in Chapter 13 of RLSO.  This is the first book to formalize parameterizing deterministic optimization models as a way of solving stochastic optimization problems.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A46116-1477-1EC5-433F-317155BDDF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30"/>
          <a:stretch/>
        </p:blipFill>
        <p:spPr>
          <a:xfrm>
            <a:off x="7433758" y="994787"/>
            <a:ext cx="3894141" cy="55093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C0EC3B-EB40-AF70-D07D-8F71788D19D9}"/>
              </a:ext>
            </a:extLst>
          </p:cNvPr>
          <p:cNvSpPr txBox="1"/>
          <p:nvPr/>
        </p:nvSpPr>
        <p:spPr>
          <a:xfrm>
            <a:off x="8484122" y="4798243"/>
            <a:ext cx="1709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Chapter 13</a:t>
            </a:r>
          </a:p>
        </p:txBody>
      </p:sp>
    </p:spTree>
    <p:extLst>
      <p:ext uri="{BB962C8B-B14F-4D97-AF65-F5344CB8AC3E}">
        <p14:creationId xmlns:p14="http://schemas.microsoft.com/office/powerpoint/2010/main" val="1056918426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80C7D-6C44-9F07-8E01-BD87D9F79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approximations: Parameterized LP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6E9DC-BA39-B94D-AFF4-9A6B861B7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421" y="1119233"/>
            <a:ext cx="6034659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Parameterized LPs in industry</a:t>
            </a:r>
          </a:p>
          <a:p>
            <a:pPr lvl="2"/>
            <a:endParaRPr lang="en-US" dirty="0"/>
          </a:p>
          <a:p>
            <a:pPr lvl="1"/>
            <a:r>
              <a:rPr lang="en-US" sz="2200" dirty="0"/>
              <a:t>FICO is one of the major vendors of deterministic solvers (LPs, NLPs, MIPs)</a:t>
            </a:r>
          </a:p>
          <a:p>
            <a:pPr lvl="2"/>
            <a:endParaRPr lang="en-US" sz="2200" dirty="0"/>
          </a:p>
          <a:p>
            <a:pPr lvl="1"/>
            <a:r>
              <a:rPr lang="en-US" sz="2200" dirty="0"/>
              <a:t>They have embraced the idea of using parameterized deterministic optimization models to help a deterministic model work better over time.</a:t>
            </a:r>
          </a:p>
          <a:p>
            <a:pPr lvl="2"/>
            <a:endParaRPr lang="en-US" sz="2200" dirty="0"/>
          </a:p>
          <a:p>
            <a:pPr lvl="1"/>
            <a:r>
              <a:rPr lang="en-US" sz="2200" dirty="0"/>
              <a:t>Talk was given May 8, 2026.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BBB53-4649-2360-9FBB-6869CD048F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497" b="12302"/>
          <a:stretch>
            <a:fillRect/>
          </a:stretch>
        </p:blipFill>
        <p:spPr>
          <a:xfrm>
            <a:off x="7602185" y="1100378"/>
            <a:ext cx="3284738" cy="50886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0CEDDC-8BEA-ADB8-3A73-6EF9822ED501}"/>
              </a:ext>
            </a:extLst>
          </p:cNvPr>
          <p:cNvSpPr txBox="1"/>
          <p:nvPr/>
        </p:nvSpPr>
        <p:spPr>
          <a:xfrm>
            <a:off x="8008881" y="6274680"/>
            <a:ext cx="2542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Presentation by Carlos Zetina</a:t>
            </a:r>
          </a:p>
        </p:txBody>
      </p:sp>
    </p:spTree>
    <p:extLst>
      <p:ext uri="{BB962C8B-B14F-4D97-AF65-F5344CB8AC3E}">
        <p14:creationId xmlns:p14="http://schemas.microsoft.com/office/powerpoint/2010/main" val="758366922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4AF0-29DC-C472-6BA3-40681C0F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0D57-9286-4BFC-FF87-6D9C29440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 approximations: Parameterized LP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C270A-CAD0-32F8-6126-52C01D6F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5567" y="1228200"/>
            <a:ext cx="6582281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The Decision Factory</a:t>
            </a:r>
          </a:p>
          <a:p>
            <a:pPr lvl="2"/>
            <a:endParaRPr lang="en-US" dirty="0"/>
          </a:p>
          <a:p>
            <a:pPr lvl="1"/>
            <a:r>
              <a:rPr lang="en-US" sz="2000" dirty="0"/>
              <a:t>Written in the style of the popular business book “The Goal.” </a:t>
            </a:r>
          </a:p>
          <a:p>
            <a:pPr lvl="2"/>
            <a:endParaRPr lang="en-US" sz="1800" dirty="0"/>
          </a:p>
          <a:p>
            <a:pPr lvl="1"/>
            <a:r>
              <a:rPr lang="en-US" sz="2000" dirty="0"/>
              <a:t>Coauthored by two industry professionals (formerly at Toyota).  Lead author Adam DeJans was at </a:t>
            </a:r>
            <a:r>
              <a:rPr lang="en-US" sz="2000" dirty="0" err="1"/>
              <a:t>Gurobi</a:t>
            </a:r>
            <a:r>
              <a:rPr lang="en-US" sz="2000" dirty="0"/>
              <a:t> when the book appeared.</a:t>
            </a:r>
          </a:p>
          <a:p>
            <a:pPr lvl="2"/>
            <a:endParaRPr lang="en-US" sz="1800" dirty="0"/>
          </a:p>
          <a:p>
            <a:pPr lvl="1"/>
            <a:r>
              <a:rPr lang="en-US" sz="2000" dirty="0"/>
              <a:t>It embraces my strategy of solving complex problems using “policies” which may be simple rules or functions, or parameterized integer programs.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E6F5D3-F210-9031-1E8C-9132D698E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781" y="1097928"/>
            <a:ext cx="3440918" cy="533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14859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C68DC-B598-448B-CE86-DA3CCFC2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9971D92-6864-0FB4-B04D-6B9B4EBC9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36A324-1AB4-1787-1EE4-2E411796A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ADE1F-9B57-8A62-5635-BDE3F0CCC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48C68-A01A-0B2E-D13E-BE2CB97E0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13726-F4A7-8CB3-F494-002FD1E8C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9D6B82-56C0-3E35-7D30-0F1656ED0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B04402-8483-765B-7332-69B39BE0E3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BBADAB-9CC9-0E65-559E-88E2E52626B3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direct lookahead approximations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Direct lookahead approximations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2174189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a67f89-7d7d-48be-9399-9713d9f758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6" ma:contentTypeDescription="Create a new document." ma:contentTypeScope="" ma:versionID="6a273f09d10aeeee6a70496a6e8b3e1f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55a4f175a1c67e7eff53bb36c6c03921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a67f89-7d7d-48be-9399-9713d9f7587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65DD70-CE85-45EB-8875-37DB516A69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469097</TotalTime>
  <Words>17887</Words>
  <Application>Microsoft Office PowerPoint</Application>
  <PresentationFormat>Widescreen</PresentationFormat>
  <Paragraphs>4380</Paragraphs>
  <Slides>386</Slides>
  <Notes>216</Notes>
  <HiddenSlides>0</HiddenSlides>
  <MMClips>3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386</vt:i4>
      </vt:variant>
    </vt:vector>
  </HeadingPairs>
  <TitlesOfParts>
    <vt:vector size="400" baseType="lpstr">
      <vt:lpstr>Oswald Regular</vt:lpstr>
      <vt:lpstr>Cambria Math</vt:lpstr>
      <vt:lpstr>Wingdings</vt:lpstr>
      <vt:lpstr>Oswald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Clip</vt:lpstr>
      <vt:lpstr>Chart</vt:lpstr>
      <vt:lpstr>PowerPoint Presentation</vt:lpstr>
      <vt:lpstr>OUTLINE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Policy function approximations</vt:lpstr>
      <vt:lpstr>OUTLINE</vt:lpstr>
      <vt:lpstr>Bridging Machine Learning and Sequential Decision Problems</vt:lpstr>
      <vt:lpstr>OUTLINE</vt:lpstr>
      <vt:lpstr>Policy evaluation</vt:lpstr>
      <vt:lpstr>Policy evaluation</vt:lpstr>
      <vt:lpstr>Thank you!</vt:lpstr>
      <vt:lpstr>PowerPoint Presentation</vt:lpstr>
      <vt:lpstr>OUTLINE</vt:lpstr>
      <vt:lpstr>OUTLINE</vt:lpstr>
      <vt:lpstr>Cost function approximations: Discrete choices</vt:lpstr>
      <vt:lpstr>PowerPoint Presentation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Cost function approximations: Discrete choices</vt:lpstr>
      <vt:lpstr>OUTLINE</vt:lpstr>
      <vt:lpstr>Cost function approximations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Cost function approximations: Continuous vectors</vt:lpstr>
      <vt:lpstr>Thank you!</vt:lpstr>
      <vt:lpstr>OUTLINE</vt:lpstr>
      <vt:lpstr>PowerPoint Presentation</vt:lpstr>
      <vt:lpstr>OUTLINE</vt:lpstr>
      <vt:lpstr>OUTLINE</vt:lpstr>
      <vt:lpstr>OUTLINE</vt:lpstr>
      <vt:lpstr>VFA policies: Exact dynamic programming</vt:lpstr>
      <vt:lpstr>VFA policies: Exact dynamic programming</vt:lpstr>
      <vt:lpstr>PowerPoint Presentation</vt:lpstr>
      <vt:lpstr>VFA policies: Exact dynamic programming</vt:lpstr>
      <vt:lpstr>VFA policies: Exact dynamic programming</vt:lpstr>
      <vt:lpstr>VFA policies: Exact dynamic programming</vt:lpstr>
      <vt:lpstr>OUTLINE</vt:lpstr>
      <vt:lpstr>VFA policies: Backward MDP and curses of dimensionality</vt:lpstr>
      <vt:lpstr>VFA policies: Backward MDP and curses of dimensionality</vt:lpstr>
      <vt:lpstr>VFA policies: Backward MDP and curses of dimensionality</vt:lpstr>
      <vt:lpstr>VFA policies: Backward MDP and curses of dimensionality</vt:lpstr>
      <vt:lpstr>OUTLINE</vt:lpstr>
      <vt:lpstr>VFA policies: Exact dynamic programming</vt:lpstr>
      <vt:lpstr>VFA policies: Exact dynamic programming</vt:lpstr>
      <vt:lpstr>VFA policies: Exact dynamic programming</vt:lpstr>
      <vt:lpstr>VFA policies: Exact dynamic programming</vt:lpstr>
      <vt:lpstr>Thank you!</vt:lpstr>
      <vt:lpstr>PowerPoint Presentation</vt:lpstr>
      <vt:lpstr>OUTLINE</vt:lpstr>
      <vt:lpstr>OUTLINE</vt:lpstr>
      <vt:lpstr>VFA policies</vt:lpstr>
      <vt:lpstr>VFA policies</vt:lpstr>
      <vt:lpstr>VFA policies</vt:lpstr>
      <vt:lpstr>VFA policies</vt:lpstr>
      <vt:lpstr>VFA policies</vt:lpstr>
      <vt:lpstr>OUTLINE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Value iteration: The nomadic trucker</vt:lpstr>
      <vt:lpstr>OUTLINE</vt:lpstr>
      <vt:lpstr>Value iteration: The nomadic trucker</vt:lpstr>
      <vt:lpstr>Value iteration: Exploration vs. exploitation</vt:lpstr>
      <vt:lpstr>Value iteration: Exploration vs. exploitation</vt:lpstr>
      <vt:lpstr>Value iteration: Exploration vs. exploitation</vt:lpstr>
      <vt:lpstr>PowerPoint Presentation</vt:lpstr>
      <vt:lpstr>PowerPoint Presentation</vt:lpstr>
      <vt:lpstr>Value iteration: Exploration vs. exploitation</vt:lpstr>
      <vt:lpstr>OUTLINE</vt:lpstr>
      <vt:lpstr>Backward approximate dynamic programming</vt:lpstr>
      <vt:lpstr>Backward approximate dynamic programming</vt:lpstr>
      <vt:lpstr>Backward approximate dynamic programming</vt:lpstr>
      <vt:lpstr>Backward approximate dynamic programming</vt:lpstr>
      <vt:lpstr>Thank you!</vt:lpstr>
      <vt:lpstr>PowerPoint Presentation</vt:lpstr>
      <vt:lpstr>OUTLINE</vt:lpstr>
      <vt:lpstr>OUTLINE</vt:lpstr>
      <vt:lpstr>Reinforcement learning: TD learning</vt:lpstr>
      <vt:lpstr>Reinforcement learning: TD learning</vt:lpstr>
      <vt:lpstr>Reinforcement learning: TD learning</vt:lpstr>
      <vt:lpstr>OUTLINE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Reinforcement learning: Q-learning</vt:lpstr>
      <vt:lpstr>OUTLINE</vt:lpstr>
      <vt:lpstr>VFA: The deadly triad </vt:lpstr>
      <vt:lpstr>VFA: The deadly triad </vt:lpstr>
      <vt:lpstr>Thank you!</vt:lpstr>
      <vt:lpstr>PowerPoint Presentation</vt:lpstr>
      <vt:lpstr>OUTLINE</vt:lpstr>
      <vt:lpstr>OUTLINE</vt:lpstr>
      <vt:lpstr>OUTLINE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VFAs: Linear value function approximations</vt:lpstr>
      <vt:lpstr>OUTLINE</vt:lpstr>
      <vt:lpstr>PowerPoint Presentation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VFAs: Stepsizes</vt:lpstr>
      <vt:lpstr>OUTLINE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Value iteration: Financial application</vt:lpstr>
      <vt:lpstr>Thank you!</vt:lpstr>
      <vt:lpstr>PowerPoint Presentation</vt:lpstr>
      <vt:lpstr>OUTLINE</vt:lpstr>
      <vt:lpstr>OUTLINE</vt:lpstr>
      <vt:lpstr>OUTLINE</vt:lpstr>
      <vt:lpstr>Blood management</vt:lpstr>
      <vt:lpstr>Blood management</vt:lpstr>
      <vt:lpstr>Blood management</vt:lpstr>
      <vt:lpstr>Blood management</vt:lpstr>
      <vt:lpstr>Blood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Blood management</vt:lpstr>
      <vt:lpstr>OUTLINE</vt:lpstr>
      <vt:lpstr>Grid level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Grid level energy storage</vt:lpstr>
      <vt:lpstr>OUTLINE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PowerPoint Presentation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Truckload fleet planning at Schneider National</vt:lpstr>
      <vt:lpstr>OUTLINE</vt:lpstr>
      <vt:lpstr>Locomotive planning at Norfolk Southern</vt:lpstr>
      <vt:lpstr>PowerPoint Presentation</vt:lpstr>
      <vt:lpstr>PowerPoint Presentation</vt:lpstr>
      <vt:lpstr>PowerPoint Presentation</vt:lpstr>
      <vt:lpstr>PowerPoint Presentation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Locomotive planning at Norfolk Southern</vt:lpstr>
      <vt:lpstr>Thank you!</vt:lpstr>
      <vt:lpstr>OUTLINE</vt:lpstr>
      <vt:lpstr>PowerPoint Presentation</vt:lpstr>
      <vt:lpstr>OUTLINE</vt:lpstr>
      <vt:lpstr>OUTLINE</vt:lpstr>
      <vt:lpstr>OUTLINE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Base models vs. lookahead models</vt:lpstr>
      <vt:lpstr>OUTLINE</vt:lpstr>
      <vt:lpstr>The policy-within-a-policy</vt:lpstr>
      <vt:lpstr>The policy-within-a-policy</vt:lpstr>
      <vt:lpstr>The policy-within-a-policy</vt:lpstr>
      <vt:lpstr>Thank you!</vt:lpstr>
      <vt:lpstr>PowerPoint Presentation</vt:lpstr>
      <vt:lpstr>OUTLINE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Deterministic lookahead: Parameterized LP</vt:lpstr>
      <vt:lpstr>Cost function approximations: Parameterized LP</vt:lpstr>
      <vt:lpstr>Cost function approximations: Parameterized LP</vt:lpstr>
      <vt:lpstr>Thank you!</vt:lpstr>
      <vt:lpstr>PowerPoint Presentation</vt:lpstr>
      <vt:lpstr>OUTLINE</vt:lpstr>
      <vt:lpstr>OUTLINE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PFA-based lookahead policy</vt:lpstr>
      <vt:lpstr>OUTLINE</vt:lpstr>
      <vt:lpstr>Direct lookahead policies</vt:lpstr>
      <vt:lpstr>Dynamic shortest paths</vt:lpstr>
      <vt:lpstr>Dynamic shortest paths</vt:lpstr>
      <vt:lpstr>Parameterized deterministic lookahead</vt:lpstr>
      <vt:lpstr>Dynamic shortest paths</vt:lpstr>
      <vt:lpstr>Dynamic shortest paths</vt:lpstr>
      <vt:lpstr>Dynamic shortest paths</vt:lpstr>
      <vt:lpstr>Dynamic shortest paths</vt:lpstr>
      <vt:lpstr>Designing policies</vt:lpstr>
      <vt:lpstr>Policy search</vt:lpstr>
      <vt:lpstr>OUTLINE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VFA-based lookahead policy</vt:lpstr>
      <vt:lpstr>Thank you!</vt:lpstr>
      <vt:lpstr>PowerPoint Presentation</vt:lpstr>
      <vt:lpstr>OUTLINE</vt:lpstr>
      <vt:lpstr>OUTLINE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DLA policy: Decision trees</vt:lpstr>
      <vt:lpstr>PowerPoint Presentation</vt:lpstr>
      <vt:lpstr>PowerPoint Presentation</vt:lpstr>
      <vt:lpstr>PowerPoint Presentation</vt:lpstr>
      <vt:lpstr>PowerPoint Presentation</vt:lpstr>
      <vt:lpstr>OUTLINE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DLA policies: MCTS</vt:lpstr>
      <vt:lpstr>Thank you!</vt:lpstr>
      <vt:lpstr>PowerPoint Presentation</vt:lpstr>
      <vt:lpstr>OUTLINE</vt:lpstr>
      <vt:lpstr>OUTLINE</vt:lpstr>
      <vt:lpstr>PowerPoint Presentation</vt:lpstr>
      <vt:lpstr>PowerPoint Presentation</vt:lpstr>
      <vt:lpstr>The timing of decisions</vt:lpstr>
      <vt:lpstr>The timing of decisions</vt:lpstr>
      <vt:lpstr>The timing of decisions</vt:lpstr>
      <vt:lpstr>PowerPoint Presentation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DLA-based lookahead policy: two stage</vt:lpstr>
      <vt:lpstr>OUTLINE</vt:lpstr>
      <vt:lpstr>DLA-Stochastic search</vt:lpstr>
      <vt:lpstr>DLA-Stochastic search</vt:lpstr>
      <vt:lpstr>Thank you!</vt:lpstr>
      <vt:lpstr>PowerPoint Presentation</vt:lpstr>
      <vt:lpstr>OUTLINE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Policy search: Derivative-based</vt:lpstr>
      <vt:lpstr>OUTLINE</vt:lpstr>
      <vt:lpstr>Policy search: Derivative-free</vt:lpstr>
      <vt:lpstr>Policy search: Derivative-free</vt:lpstr>
      <vt:lpstr>Policy search: Derivative-free</vt:lpstr>
      <vt:lpstr>OUTLINE</vt:lpstr>
      <vt:lpstr>Policy search: Derivative-based</vt:lpstr>
      <vt:lpstr>The universal modeling framework</vt:lpstr>
      <vt:lpstr>Policy search: as a SDP</vt:lpstr>
      <vt:lpstr>OUTLINE</vt:lpstr>
      <vt:lpstr>PowerPoint Presentation</vt:lpstr>
      <vt:lpstr>PowerPoint Presentation</vt:lpstr>
      <vt:lpstr>Policy search: Derivative-free</vt:lpstr>
      <vt:lpstr>Policy search: Derivative-free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801</cp:revision>
  <cp:lastPrinted>2025-05-20T14:08:40Z</cp:lastPrinted>
  <dcterms:modified xsi:type="dcterms:W3CDTF">2026-09-06T14:28:49Z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