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fntdata" ContentType="application/x-fontdata"/>
  <Default Extension="gif" ContentType="image/gif"/>
  <Default Extension="jpeg" ContentType="image/jpeg"/>
  <Default Extension="jpg" ContentType="image/jpeg"/>
  <Default Extension="mp4" ContentType="video/mp4"/>
  <Default Extension="png" ContentType="image/png"/>
  <Default Extension="rels" ContentType="application/vnd.openxmlformats-package.relationships+xml"/>
  <Default Extension="wdp" ContentType="image/vnd.ms-photo"/>
  <Default Extension="wmf" ContentType="image/x-wmf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86.xml" ContentType="application/vnd.openxmlformats-officedocument.presentationml.slide+xml"/>
  <Override PartName="/ppt/slides/slide87.xml" ContentType="application/vnd.openxmlformats-officedocument.presentationml.slide+xml"/>
  <Override PartName="/ppt/slides/slide88.xml" ContentType="application/vnd.openxmlformats-officedocument.presentationml.slide+xml"/>
  <Override PartName="/ppt/slides/slide89.xml" ContentType="application/vnd.openxmlformats-officedocument.presentationml.slide+xml"/>
  <Override PartName="/ppt/slides/slide90.xml" ContentType="application/vnd.openxmlformats-officedocument.presentationml.slide+xml"/>
  <Override PartName="/ppt/slides/slide91.xml" ContentType="application/vnd.openxmlformats-officedocument.presentationml.slide+xml"/>
  <Override PartName="/ppt/slides/slide92.xml" ContentType="application/vnd.openxmlformats-officedocument.presentationml.slide+xml"/>
  <Override PartName="/ppt/slides/slide93.xml" ContentType="application/vnd.openxmlformats-officedocument.presentationml.slide+xml"/>
  <Override PartName="/ppt/slides/slide94.xml" ContentType="application/vnd.openxmlformats-officedocument.presentationml.slide+xml"/>
  <Override PartName="/ppt/slides/slide95.xml" ContentType="application/vnd.openxmlformats-officedocument.presentationml.slide+xml"/>
  <Override PartName="/ppt/slides/slide96.xml" ContentType="application/vnd.openxmlformats-officedocument.presentationml.slide+xml"/>
  <Override PartName="/ppt/slides/slide97.xml" ContentType="application/vnd.openxmlformats-officedocument.presentationml.slide+xml"/>
  <Override PartName="/ppt/slides/slide98.xml" ContentType="application/vnd.openxmlformats-officedocument.presentationml.slide+xml"/>
  <Override PartName="/ppt/slides/slide99.xml" ContentType="application/vnd.openxmlformats-officedocument.presentationml.slide+xml"/>
  <Override PartName="/ppt/slides/slide100.xml" ContentType="application/vnd.openxmlformats-officedocument.presentationml.slide+xml"/>
  <Override PartName="/ppt/slides/slide101.xml" ContentType="application/vnd.openxmlformats-officedocument.presentationml.slide+xml"/>
  <Override PartName="/ppt/slides/slide102.xml" ContentType="application/vnd.openxmlformats-officedocument.presentationml.slide+xml"/>
  <Override PartName="/ppt/slides/slide103.xml" ContentType="application/vnd.openxmlformats-officedocument.presentationml.slide+xml"/>
  <Override PartName="/ppt/slides/slide104.xml" ContentType="application/vnd.openxmlformats-officedocument.presentationml.slide+xml"/>
  <Override PartName="/ppt/slides/slide105.xml" ContentType="application/vnd.openxmlformats-officedocument.presentationml.slide+xml"/>
  <Override PartName="/ppt/slides/slide106.xml" ContentType="application/vnd.openxmlformats-officedocument.presentationml.slide+xml"/>
  <Override PartName="/ppt/slides/slide107.xml" ContentType="application/vnd.openxmlformats-officedocument.presentationml.slide+xml"/>
  <Override PartName="/ppt/slides/slide108.xml" ContentType="application/vnd.openxmlformats-officedocument.presentationml.slide+xml"/>
  <Override PartName="/ppt/slides/slide109.xml" ContentType="application/vnd.openxmlformats-officedocument.presentationml.slide+xml"/>
  <Override PartName="/ppt/slides/slide110.xml" ContentType="application/vnd.openxmlformats-officedocument.presentationml.slide+xml"/>
  <Override PartName="/ppt/slides/slide111.xml" ContentType="application/vnd.openxmlformats-officedocument.presentationml.slide+xml"/>
  <Override PartName="/ppt/slides/slide112.xml" ContentType="application/vnd.openxmlformats-officedocument.presentationml.slide+xml"/>
  <Override PartName="/ppt/slides/slide113.xml" ContentType="application/vnd.openxmlformats-officedocument.presentationml.slide+xml"/>
  <Override PartName="/ppt/slides/slide114.xml" ContentType="application/vnd.openxmlformats-officedocument.presentationml.slide+xml"/>
  <Override PartName="/ppt/slides/slide115.xml" ContentType="application/vnd.openxmlformats-officedocument.presentationml.slide+xml"/>
  <Override PartName="/ppt/slides/slide116.xml" ContentType="application/vnd.openxmlformats-officedocument.presentationml.slide+xml"/>
  <Override PartName="/ppt/slides/slide117.xml" ContentType="application/vnd.openxmlformats-officedocument.presentationml.slide+xml"/>
  <Override PartName="/ppt/slides/slide118.xml" ContentType="application/vnd.openxmlformats-officedocument.presentationml.slide+xml"/>
  <Override PartName="/ppt/slides/slide119.xml" ContentType="application/vnd.openxmlformats-officedocument.presentationml.slide+xml"/>
  <Override PartName="/ppt/slides/slide120.xml" ContentType="application/vnd.openxmlformats-officedocument.presentationml.slide+xml"/>
  <Override PartName="/ppt/slides/slide121.xml" ContentType="application/vnd.openxmlformats-officedocument.presentationml.slide+xml"/>
  <Override PartName="/ppt/slides/slide122.xml" ContentType="application/vnd.openxmlformats-officedocument.presentationml.slide+xml"/>
  <Override PartName="/ppt/slides/slide123.xml" ContentType="application/vnd.openxmlformats-officedocument.presentationml.slide+xml"/>
  <Override PartName="/ppt/slides/slide124.xml" ContentType="application/vnd.openxmlformats-officedocument.presentationml.slide+xml"/>
  <Override PartName="/ppt/slides/slide125.xml" ContentType="application/vnd.openxmlformats-officedocument.presentationml.slide+xml"/>
  <Override PartName="/ppt/slides/slide126.xml" ContentType="application/vnd.openxmlformats-officedocument.presentationml.slide+xml"/>
  <Override PartName="/ppt/slides/slide127.xml" ContentType="application/vnd.openxmlformats-officedocument.presentationml.slide+xml"/>
  <Override PartName="/ppt/slides/slide128.xml" ContentType="application/vnd.openxmlformats-officedocument.presentationml.slide+xml"/>
  <Override PartName="/ppt/slides/slide129.xml" ContentType="application/vnd.openxmlformats-officedocument.presentationml.slide+xml"/>
  <Override PartName="/ppt/slides/slide130.xml" ContentType="application/vnd.openxmlformats-officedocument.presentationml.slide+xml"/>
  <Override PartName="/ppt/slides/slide131.xml" ContentType="application/vnd.openxmlformats-officedocument.presentationml.slide+xml"/>
  <Override PartName="/ppt/slides/slide132.xml" ContentType="application/vnd.openxmlformats-officedocument.presentationml.slide+xml"/>
  <Override PartName="/ppt/slides/slide133.xml" ContentType="application/vnd.openxmlformats-officedocument.presentationml.slide+xml"/>
  <Override PartName="/ppt/slides/slide134.xml" ContentType="application/vnd.openxmlformats-officedocument.presentationml.slide+xml"/>
  <Override PartName="/ppt/slides/slide135.xml" ContentType="application/vnd.openxmlformats-officedocument.presentationml.slide+xml"/>
  <Override PartName="/ppt/slides/slide136.xml" ContentType="application/vnd.openxmlformats-officedocument.presentationml.slide+xml"/>
  <Override PartName="/ppt/slides/slide137.xml" ContentType="application/vnd.openxmlformats-officedocument.presentationml.slide+xml"/>
  <Override PartName="/ppt/slides/slide138.xml" ContentType="application/vnd.openxmlformats-officedocument.presentationml.slide+xml"/>
  <Override PartName="/ppt/slides/slide139.xml" ContentType="application/vnd.openxmlformats-officedocument.presentationml.slide+xml"/>
  <Override PartName="/ppt/slides/slide140.xml" ContentType="application/vnd.openxmlformats-officedocument.presentationml.slide+xml"/>
  <Override PartName="/ppt/slides/slide141.xml" ContentType="application/vnd.openxmlformats-officedocument.presentationml.slide+xml"/>
  <Override PartName="/ppt/slides/slide142.xml" ContentType="application/vnd.openxmlformats-officedocument.presentationml.slide+xml"/>
  <Override PartName="/ppt/slides/slide143.xml" ContentType="application/vnd.openxmlformats-officedocument.presentationml.slide+xml"/>
  <Override PartName="/ppt/slides/slide144.xml" ContentType="application/vnd.openxmlformats-officedocument.presentationml.slide+xml"/>
  <Override PartName="/ppt/slides/slide145.xml" ContentType="application/vnd.openxmlformats-officedocument.presentationml.slide+xml"/>
  <Override PartName="/ppt/slides/slide146.xml" ContentType="application/vnd.openxmlformats-officedocument.presentationml.slide+xml"/>
  <Override PartName="/ppt/slides/slide147.xml" ContentType="application/vnd.openxmlformats-officedocument.presentationml.slide+xml"/>
  <Override PartName="/ppt/slides/slide148.xml" ContentType="application/vnd.openxmlformats-officedocument.presentationml.slide+xml"/>
  <Override PartName="/ppt/slides/slide149.xml" ContentType="application/vnd.openxmlformats-officedocument.presentationml.slide+xml"/>
  <Override PartName="/ppt/slides/slide150.xml" ContentType="application/vnd.openxmlformats-officedocument.presentationml.slide+xml"/>
  <Override PartName="/ppt/slides/slide151.xml" ContentType="application/vnd.openxmlformats-officedocument.presentationml.slide+xml"/>
  <Override PartName="/ppt/slides/slide152.xml" ContentType="application/vnd.openxmlformats-officedocument.presentationml.slide+xml"/>
  <Override PartName="/ppt/slides/slide153.xml" ContentType="application/vnd.openxmlformats-officedocument.presentationml.slide+xml"/>
  <Override PartName="/ppt/slides/slide154.xml" ContentType="application/vnd.openxmlformats-officedocument.presentationml.slide+xml"/>
  <Override PartName="/ppt/slides/slide155.xml" ContentType="application/vnd.openxmlformats-officedocument.presentationml.slide+xml"/>
  <Override PartName="/ppt/slides/slide156.xml" ContentType="application/vnd.openxmlformats-officedocument.presentationml.slide+xml"/>
  <Override PartName="/ppt/slides/slide157.xml" ContentType="application/vnd.openxmlformats-officedocument.presentationml.slide+xml"/>
  <Override PartName="/ppt/slides/slide158.xml" ContentType="application/vnd.openxmlformats-officedocument.presentationml.slide+xml"/>
  <Override PartName="/ppt/slides/slide159.xml" ContentType="application/vnd.openxmlformats-officedocument.presentationml.slide+xml"/>
  <Override PartName="/ppt/slides/slide160.xml" ContentType="application/vnd.openxmlformats-officedocument.presentationml.slide+xml"/>
  <Override PartName="/ppt/slides/slide161.xml" ContentType="application/vnd.openxmlformats-officedocument.presentationml.slide+xml"/>
  <Override PartName="/ppt/slides/slide162.xml" ContentType="application/vnd.openxmlformats-officedocument.presentationml.slide+xml"/>
  <Override PartName="/ppt/slides/slide163.xml" ContentType="application/vnd.openxmlformats-officedocument.presentationml.slide+xml"/>
  <Override PartName="/ppt/slides/slide164.xml" ContentType="application/vnd.openxmlformats-officedocument.presentationml.slide+xml"/>
  <Override PartName="/ppt/slides/slide165.xml" ContentType="application/vnd.openxmlformats-officedocument.presentationml.slide+xml"/>
  <Override PartName="/ppt/slides/slide166.xml" ContentType="application/vnd.openxmlformats-officedocument.presentationml.slide+xml"/>
  <Override PartName="/ppt/slides/slide167.xml" ContentType="application/vnd.openxmlformats-officedocument.presentationml.slide+xml"/>
  <Override PartName="/ppt/slides/slide168.xml" ContentType="application/vnd.openxmlformats-officedocument.presentationml.slide+xml"/>
  <Override PartName="/ppt/slides/slide169.xml" ContentType="application/vnd.openxmlformats-officedocument.presentationml.slide+xml"/>
  <Override PartName="/ppt/slides/slide170.xml" ContentType="application/vnd.openxmlformats-officedocument.presentationml.slide+xml"/>
  <Override PartName="/ppt/slides/slide171.xml" ContentType="application/vnd.openxmlformats-officedocument.presentationml.slide+xml"/>
  <Override PartName="/ppt/slides/slide172.xml" ContentType="application/vnd.openxmlformats-officedocument.presentationml.slide+xml"/>
  <Override PartName="/ppt/slides/slide173.xml" ContentType="application/vnd.openxmlformats-officedocument.presentationml.slide+xml"/>
  <Override PartName="/ppt/slides/slide174.xml" ContentType="application/vnd.openxmlformats-officedocument.presentationml.slide+xml"/>
  <Override PartName="/ppt/slides/slide175.xml" ContentType="application/vnd.openxmlformats-officedocument.presentationml.slide+xml"/>
  <Override PartName="/ppt/slides/slide176.xml" ContentType="application/vnd.openxmlformats-officedocument.presentationml.slide+xml"/>
  <Override PartName="/ppt/slides/slide177.xml" ContentType="application/vnd.openxmlformats-officedocument.presentationml.slide+xml"/>
  <Override PartName="/ppt/slides/slide178.xml" ContentType="application/vnd.openxmlformats-officedocument.presentationml.slide+xml"/>
  <Override PartName="/ppt/slides/slide179.xml" ContentType="application/vnd.openxmlformats-officedocument.presentationml.slide+xml"/>
  <Override PartName="/ppt/slides/slide180.xml" ContentType="application/vnd.openxmlformats-officedocument.presentationml.slide+xml"/>
  <Override PartName="/ppt/slides/slide181.xml" ContentType="application/vnd.openxmlformats-officedocument.presentationml.slide+xml"/>
  <Override PartName="/ppt/slides/slide182.xml" ContentType="application/vnd.openxmlformats-officedocument.presentationml.slide+xml"/>
  <Override PartName="/ppt/slides/slide183.xml" ContentType="application/vnd.openxmlformats-officedocument.presentationml.slide+xml"/>
  <Override PartName="/ppt/slides/slide184.xml" ContentType="application/vnd.openxmlformats-officedocument.presentationml.slide+xml"/>
  <Override PartName="/ppt/slides/slide185.xml" ContentType="application/vnd.openxmlformats-officedocument.presentationml.slide+xml"/>
  <Override PartName="/ppt/slides/slide186.xml" ContentType="application/vnd.openxmlformats-officedocument.presentationml.slide+xml"/>
  <Override PartName="/ppt/slides/slide187.xml" ContentType="application/vnd.openxmlformats-officedocument.presentationml.slide+xml"/>
  <Override PartName="/ppt/slides/slide188.xml" ContentType="application/vnd.openxmlformats-officedocument.presentationml.slide+xml"/>
  <Override PartName="/ppt/slides/slide189.xml" ContentType="application/vnd.openxmlformats-officedocument.presentationml.slide+xml"/>
  <Override PartName="/ppt/slides/slide190.xml" ContentType="application/vnd.openxmlformats-officedocument.presentationml.slide+xml"/>
  <Override PartName="/ppt/slides/slide191.xml" ContentType="application/vnd.openxmlformats-officedocument.presentationml.slide+xml"/>
  <Override PartName="/ppt/slides/slide192.xml" ContentType="application/vnd.openxmlformats-officedocument.presentationml.slide+xml"/>
  <Override PartName="/ppt/slides/slide193.xml" ContentType="application/vnd.openxmlformats-officedocument.presentationml.slide+xml"/>
  <Override PartName="/ppt/slides/slide194.xml" ContentType="application/vnd.openxmlformats-officedocument.presentationml.slide+xml"/>
  <Override PartName="/ppt/slides/slide195.xml" ContentType="application/vnd.openxmlformats-officedocument.presentationml.slide+xml"/>
  <Override PartName="/ppt/slides/slide196.xml" ContentType="application/vnd.openxmlformats-officedocument.presentationml.slide+xml"/>
  <Override PartName="/ppt/slides/slide197.xml" ContentType="application/vnd.openxmlformats-officedocument.presentationml.slide+xml"/>
  <Override PartName="/ppt/slides/slide198.xml" ContentType="application/vnd.openxmlformats-officedocument.presentationml.slide+xml"/>
  <Override PartName="/ppt/slides/slide199.xml" ContentType="application/vnd.openxmlformats-officedocument.presentationml.slide+xml"/>
  <Override PartName="/ppt/slides/slide200.xml" ContentType="application/vnd.openxmlformats-officedocument.presentationml.slide+xml"/>
  <Override PartName="/ppt/slides/slide201.xml" ContentType="application/vnd.openxmlformats-officedocument.presentationml.slide+xml"/>
  <Override PartName="/ppt/slides/slide202.xml" ContentType="application/vnd.openxmlformats-officedocument.presentationml.slide+xml"/>
  <Override PartName="/ppt/slides/slide203.xml" ContentType="application/vnd.openxmlformats-officedocument.presentationml.slide+xml"/>
  <Override PartName="/ppt/slides/slide204.xml" ContentType="application/vnd.openxmlformats-officedocument.presentationml.slide+xml"/>
  <Override PartName="/ppt/slides/slide205.xml" ContentType="application/vnd.openxmlformats-officedocument.presentationml.slide+xml"/>
  <Override PartName="/ppt/slides/slide206.xml" ContentType="application/vnd.openxmlformats-officedocument.presentationml.slide+xml"/>
  <Override PartName="/ppt/slides/slide207.xml" ContentType="application/vnd.openxmlformats-officedocument.presentationml.slide+xml"/>
  <Override PartName="/ppt/slides/slide208.xml" ContentType="application/vnd.openxmlformats-officedocument.presentationml.slide+xml"/>
  <Override PartName="/ppt/slides/slide209.xml" ContentType="application/vnd.openxmlformats-officedocument.presentationml.slide+xml"/>
  <Override PartName="/ppt/slides/slide210.xml" ContentType="application/vnd.openxmlformats-officedocument.presentationml.slide+xml"/>
  <Override PartName="/ppt/slides/slide211.xml" ContentType="application/vnd.openxmlformats-officedocument.presentationml.slide+xml"/>
  <Override PartName="/ppt/slides/slide212.xml" ContentType="application/vnd.openxmlformats-officedocument.presentationml.slide+xml"/>
  <Override PartName="/ppt/slides/slide213.xml" ContentType="application/vnd.openxmlformats-officedocument.presentationml.slide+xml"/>
  <Override PartName="/ppt/slides/slide214.xml" ContentType="application/vnd.openxmlformats-officedocument.presentationml.slide+xml"/>
  <Override PartName="/ppt/slides/slide215.xml" ContentType="application/vnd.openxmlformats-officedocument.presentationml.slide+xml"/>
  <Override PartName="/ppt/slides/slide216.xml" ContentType="application/vnd.openxmlformats-officedocument.presentationml.slide+xml"/>
  <Override PartName="/ppt/slides/slide217.xml" ContentType="application/vnd.openxmlformats-officedocument.presentationml.slide+xml"/>
  <Override PartName="/ppt/slides/slide218.xml" ContentType="application/vnd.openxmlformats-officedocument.presentationml.slide+xml"/>
  <Override PartName="/ppt/slides/slide219.xml" ContentType="application/vnd.openxmlformats-officedocument.presentationml.slide+xml"/>
  <Override PartName="/ppt/slides/slide220.xml" ContentType="application/vnd.openxmlformats-officedocument.presentationml.slide+xml"/>
  <Override PartName="/ppt/slides/slide221.xml" ContentType="application/vnd.openxmlformats-officedocument.presentationml.slide+xml"/>
  <Override PartName="/ppt/slides/slide222.xml" ContentType="application/vnd.openxmlformats-officedocument.presentationml.slide+xml"/>
  <Override PartName="/ppt/slides/slide223.xml" ContentType="application/vnd.openxmlformats-officedocument.presentationml.slide+xml"/>
  <Override PartName="/ppt/slides/slide224.xml" ContentType="application/vnd.openxmlformats-officedocument.presentationml.slide+xml"/>
  <Override PartName="/ppt/slides/slide225.xml" ContentType="application/vnd.openxmlformats-officedocument.presentationml.slide+xml"/>
  <Override PartName="/ppt/slides/slide226.xml" ContentType="application/vnd.openxmlformats-officedocument.presentationml.slide+xml"/>
  <Override PartName="/ppt/slides/slide227.xml" ContentType="application/vnd.openxmlformats-officedocument.presentationml.slide+xml"/>
  <Override PartName="/ppt/slides/slide228.xml" ContentType="application/vnd.openxmlformats-officedocument.presentationml.slide+xml"/>
  <Override PartName="/ppt/slides/slide229.xml" ContentType="application/vnd.openxmlformats-officedocument.presentationml.slide+xml"/>
  <Override PartName="/ppt/slides/slide230.xml" ContentType="application/vnd.openxmlformats-officedocument.presentationml.slide+xml"/>
  <Override PartName="/ppt/slides/slide231.xml" ContentType="application/vnd.openxmlformats-officedocument.presentationml.slide+xml"/>
  <Override PartName="/ppt/slides/slide232.xml" ContentType="application/vnd.openxmlformats-officedocument.presentationml.slide+xml"/>
  <Override PartName="/ppt/slides/slide233.xml" ContentType="application/vnd.openxmlformats-officedocument.presentationml.slide+xml"/>
  <Override PartName="/ppt/slides/slide234.xml" ContentType="application/vnd.openxmlformats-officedocument.presentationml.slide+xml"/>
  <Override PartName="/ppt/slides/slide235.xml" ContentType="application/vnd.openxmlformats-officedocument.presentationml.slide+xml"/>
  <Override PartName="/ppt/slides/slide236.xml" ContentType="application/vnd.openxmlformats-officedocument.presentationml.slide+xml"/>
  <Override PartName="/ppt/slides/slide237.xml" ContentType="application/vnd.openxmlformats-officedocument.presentationml.slide+xml"/>
  <Override PartName="/ppt/slides/slide238.xml" ContentType="application/vnd.openxmlformats-officedocument.presentationml.slide+xml"/>
  <Override PartName="/ppt/slides/slide239.xml" ContentType="application/vnd.openxmlformats-officedocument.presentationml.slide+xml"/>
  <Override PartName="/ppt/slides/slide240.xml" ContentType="application/vnd.openxmlformats-officedocument.presentationml.slide+xml"/>
  <Override PartName="/ppt/slides/slide241.xml" ContentType="application/vnd.openxmlformats-officedocument.presentationml.slide+xml"/>
  <Override PartName="/ppt/slides/slide242.xml" ContentType="application/vnd.openxmlformats-officedocument.presentationml.slide+xml"/>
  <Override PartName="/ppt/slides/slide243.xml" ContentType="application/vnd.openxmlformats-officedocument.presentationml.slide+xml"/>
  <Override PartName="/ppt/slides/slide244.xml" ContentType="application/vnd.openxmlformats-officedocument.presentationml.slide+xml"/>
  <Override PartName="/ppt/slides/slide245.xml" ContentType="application/vnd.openxmlformats-officedocument.presentationml.slide+xml"/>
  <Override PartName="/ppt/slides/slide246.xml" ContentType="application/vnd.openxmlformats-officedocument.presentationml.slide+xml"/>
  <Override PartName="/ppt/slides/slide247.xml" ContentType="application/vnd.openxmlformats-officedocument.presentationml.slide+xml"/>
  <Override PartName="/ppt/slides/slide248.xml" ContentType="application/vnd.openxmlformats-officedocument.presentationml.slide+xml"/>
  <Override PartName="/ppt/slides/slide249.xml" ContentType="application/vnd.openxmlformats-officedocument.presentationml.slide+xml"/>
  <Override PartName="/ppt/slides/slide250.xml" ContentType="application/vnd.openxmlformats-officedocument.presentationml.slide+xml"/>
  <Override PartName="/ppt/slides/slide251.xml" ContentType="application/vnd.openxmlformats-officedocument.presentationml.slide+xml"/>
  <Override PartName="/ppt/slides/slide252.xml" ContentType="application/vnd.openxmlformats-officedocument.presentationml.slide+xml"/>
  <Override PartName="/ppt/slides/slide253.xml" ContentType="application/vnd.openxmlformats-officedocument.presentationml.slide+xml"/>
  <Override PartName="/ppt/slides/slide254.xml" ContentType="application/vnd.openxmlformats-officedocument.presentationml.slide+xml"/>
  <Override PartName="/ppt/slides/slide255.xml" ContentType="application/vnd.openxmlformats-officedocument.presentationml.slide+xml"/>
  <Override PartName="/ppt/slides/slide256.xml" ContentType="application/vnd.openxmlformats-officedocument.presentationml.slide+xml"/>
  <Override PartName="/ppt/slides/slide257.xml" ContentType="application/vnd.openxmlformats-officedocument.presentationml.slide+xml"/>
  <Override PartName="/ppt/slides/slide258.xml" ContentType="application/vnd.openxmlformats-officedocument.presentationml.slide+xml"/>
  <Override PartName="/ppt/slides/slide259.xml" ContentType="application/vnd.openxmlformats-officedocument.presentationml.slide+xml"/>
  <Override PartName="/ppt/slides/slide260.xml" ContentType="application/vnd.openxmlformats-officedocument.presentationml.slide+xml"/>
  <Override PartName="/ppt/slides/slide261.xml" ContentType="application/vnd.openxmlformats-officedocument.presentationml.slide+xml"/>
  <Override PartName="/ppt/slides/slide262.xml" ContentType="application/vnd.openxmlformats-officedocument.presentationml.slide+xml"/>
  <Override PartName="/ppt/slides/slide263.xml" ContentType="application/vnd.openxmlformats-officedocument.presentationml.slide+xml"/>
  <Override PartName="/ppt/slides/slide264.xml" ContentType="application/vnd.openxmlformats-officedocument.presentationml.slide+xml"/>
  <Override PartName="/ppt/slides/slide265.xml" ContentType="application/vnd.openxmlformats-officedocument.presentationml.slide+xml"/>
  <Override PartName="/ppt/slides/slide266.xml" ContentType="application/vnd.openxmlformats-officedocument.presentationml.slide+xml"/>
  <Override PartName="/ppt/slides/slide267.xml" ContentType="application/vnd.openxmlformats-officedocument.presentationml.slide+xml"/>
  <Override PartName="/ppt/slides/slide268.xml" ContentType="application/vnd.openxmlformats-officedocument.presentationml.slide+xml"/>
  <Override PartName="/ppt/slides/slide269.xml" ContentType="application/vnd.openxmlformats-officedocument.presentationml.slide+xml"/>
  <Override PartName="/ppt/slides/slide270.xml" ContentType="application/vnd.openxmlformats-officedocument.presentationml.slide+xml"/>
  <Override PartName="/ppt/slides/slide271.xml" ContentType="application/vnd.openxmlformats-officedocument.presentationml.slide+xml"/>
  <Override PartName="/ppt/slides/slide272.xml" ContentType="application/vnd.openxmlformats-officedocument.presentationml.slide+xml"/>
  <Override PartName="/ppt/slides/slide273.xml" ContentType="application/vnd.openxmlformats-officedocument.presentationml.slide+xml"/>
  <Override PartName="/ppt/slides/slide274.xml" ContentType="application/vnd.openxmlformats-officedocument.presentationml.slide+xml"/>
  <Override PartName="/ppt/slides/slide275.xml" ContentType="application/vnd.openxmlformats-officedocument.presentationml.slide+xml"/>
  <Override PartName="/ppt/slides/slide276.xml" ContentType="application/vnd.openxmlformats-officedocument.presentationml.slide+xml"/>
  <Override PartName="/ppt/slides/slide277.xml" ContentType="application/vnd.openxmlformats-officedocument.presentationml.slide+xml"/>
  <Override PartName="/ppt/slides/slide278.xml" ContentType="application/vnd.openxmlformats-officedocument.presentationml.slide+xml"/>
  <Override PartName="/ppt/slides/slide279.xml" ContentType="application/vnd.openxmlformats-officedocument.presentationml.slide+xml"/>
  <Override PartName="/ppt/slides/slide280.xml" ContentType="application/vnd.openxmlformats-officedocument.presentationml.slide+xml"/>
  <Override PartName="/ppt/slides/slide281.xml" ContentType="application/vnd.openxmlformats-officedocument.presentationml.slide+xml"/>
  <Override PartName="/ppt/slides/slide282.xml" ContentType="application/vnd.openxmlformats-officedocument.presentationml.slide+xml"/>
  <Override PartName="/ppt/slides/slide283.xml" ContentType="application/vnd.openxmlformats-officedocument.presentationml.slide+xml"/>
  <Override PartName="/ppt/slides/slide284.xml" ContentType="application/vnd.openxmlformats-officedocument.presentationml.slide+xml"/>
  <Override PartName="/ppt/slides/slide285.xml" ContentType="application/vnd.openxmlformats-officedocument.presentationml.slide+xml"/>
  <Override PartName="/ppt/slides/slide286.xml" ContentType="application/vnd.openxmlformats-officedocument.presentationml.slide+xml"/>
  <Override PartName="/ppt/slides/slide287.xml" ContentType="application/vnd.openxmlformats-officedocument.presentationml.slide+xml"/>
  <Override PartName="/ppt/slides/slide288.xml" ContentType="application/vnd.openxmlformats-officedocument.presentationml.slide+xml"/>
  <Override PartName="/ppt/slides/slide289.xml" ContentType="application/vnd.openxmlformats-officedocument.presentationml.slide+xml"/>
  <Override PartName="/ppt/slides/slide290.xml" ContentType="application/vnd.openxmlformats-officedocument.presentationml.slide+xml"/>
  <Override PartName="/ppt/slides/slide291.xml" ContentType="application/vnd.openxmlformats-officedocument.presentationml.slide+xml"/>
  <Override PartName="/ppt/slides/slide292.xml" ContentType="application/vnd.openxmlformats-officedocument.presentationml.slide+xml"/>
  <Override PartName="/ppt/slides/slide293.xml" ContentType="application/vnd.openxmlformats-officedocument.presentationml.slide+xml"/>
  <Override PartName="/ppt/slides/slide294.xml" ContentType="application/vnd.openxmlformats-officedocument.presentationml.slide+xml"/>
  <Override PartName="/ppt/slides/slide295.xml" ContentType="application/vnd.openxmlformats-officedocument.presentationml.slide+xml"/>
  <Override PartName="/ppt/slides/slide296.xml" ContentType="application/vnd.openxmlformats-officedocument.presentationml.slide+xml"/>
  <Override PartName="/ppt/slides/slide297.xml" ContentType="application/vnd.openxmlformats-officedocument.presentationml.slide+xml"/>
  <Override PartName="/ppt/slides/slide298.xml" ContentType="application/vnd.openxmlformats-officedocument.presentationml.slide+xml"/>
  <Override PartName="/ppt/slides/slide299.xml" ContentType="application/vnd.openxmlformats-officedocument.presentationml.slide+xml"/>
  <Override PartName="/ppt/slides/slide300.xml" ContentType="application/vnd.openxmlformats-officedocument.presentationml.slide+xml"/>
  <Override PartName="/ppt/slides/slide301.xml" ContentType="application/vnd.openxmlformats-officedocument.presentationml.slide+xml"/>
  <Override PartName="/ppt/slides/slide302.xml" ContentType="application/vnd.openxmlformats-officedocument.presentationml.slide+xml"/>
  <Override PartName="/ppt/slides/slide303.xml" ContentType="application/vnd.openxmlformats-officedocument.presentationml.slide+xml"/>
  <Override PartName="/ppt/slides/slide304.xml" ContentType="application/vnd.openxmlformats-officedocument.presentationml.slide+xml"/>
  <Override PartName="/ppt/slides/slide305.xml" ContentType="application/vnd.openxmlformats-officedocument.presentationml.slide+xml"/>
  <Override PartName="/ppt/slides/slide306.xml" ContentType="application/vnd.openxmlformats-officedocument.presentationml.slide+xml"/>
  <Override PartName="/ppt/slides/slide307.xml" ContentType="application/vnd.openxmlformats-officedocument.presentationml.slide+xml"/>
  <Override PartName="/ppt/slides/slide308.xml" ContentType="application/vnd.openxmlformats-officedocument.presentationml.slide+xml"/>
  <Override PartName="/ppt/slides/slide309.xml" ContentType="application/vnd.openxmlformats-officedocument.presentationml.slide+xml"/>
  <Override PartName="/ppt/slides/slide310.xml" ContentType="application/vnd.openxmlformats-officedocument.presentationml.slide+xml"/>
  <Override PartName="/ppt/slides/slide311.xml" ContentType="application/vnd.openxmlformats-officedocument.presentationml.slide+xml"/>
  <Override PartName="/ppt/slides/slide312.xml" ContentType="application/vnd.openxmlformats-officedocument.presentationml.slide+xml"/>
  <Override PartName="/ppt/slides/slide313.xml" ContentType="application/vnd.openxmlformats-officedocument.presentationml.slide+xml"/>
  <Override PartName="/ppt/slides/slide314.xml" ContentType="application/vnd.openxmlformats-officedocument.presentationml.slide+xml"/>
  <Override PartName="/ppt/slides/slide315.xml" ContentType="application/vnd.openxmlformats-officedocument.presentationml.slide+xml"/>
  <Override PartName="/ppt/slides/slide316.xml" ContentType="application/vnd.openxmlformats-officedocument.presentationml.slide+xml"/>
  <Override PartName="/ppt/slides/slide317.xml" ContentType="application/vnd.openxmlformats-officedocument.presentationml.slide+xml"/>
  <Override PartName="/ppt/slides/slide318.xml" ContentType="application/vnd.openxmlformats-officedocument.presentationml.slide+xml"/>
  <Override PartName="/ppt/slides/slide319.xml" ContentType="application/vnd.openxmlformats-officedocument.presentationml.slide+xml"/>
  <Override PartName="/ppt/slides/slide320.xml" ContentType="application/vnd.openxmlformats-officedocument.presentationml.slide+xml"/>
  <Override PartName="/ppt/slides/slide321.xml" ContentType="application/vnd.openxmlformats-officedocument.presentationml.slide+xml"/>
  <Override PartName="/ppt/slides/slide322.xml" ContentType="application/vnd.openxmlformats-officedocument.presentationml.slide+xml"/>
  <Override PartName="/ppt/slides/slide323.xml" ContentType="application/vnd.openxmlformats-officedocument.presentationml.slide+xml"/>
  <Override PartName="/ppt/slides/slide324.xml" ContentType="application/vnd.openxmlformats-officedocument.presentationml.slide+xml"/>
  <Override PartName="/ppt/slides/slide325.xml" ContentType="application/vnd.openxmlformats-officedocument.presentationml.slide+xml"/>
  <Override PartName="/ppt/slides/slide326.xml" ContentType="application/vnd.openxmlformats-officedocument.presentationml.slide+xml"/>
  <Override PartName="/ppt/slides/slide327.xml" ContentType="application/vnd.openxmlformats-officedocument.presentationml.slide+xml"/>
  <Override PartName="/ppt/slides/slide328.xml" ContentType="application/vnd.openxmlformats-officedocument.presentationml.slide+xml"/>
  <Override PartName="/ppt/slides/slide329.xml" ContentType="application/vnd.openxmlformats-officedocument.presentationml.slide+xml"/>
  <Override PartName="/ppt/slides/slide330.xml" ContentType="application/vnd.openxmlformats-officedocument.presentationml.slide+xml"/>
  <Override PartName="/ppt/slides/slide331.xml" ContentType="application/vnd.openxmlformats-officedocument.presentationml.slide+xml"/>
  <Override PartName="/ppt/slides/slide332.xml" ContentType="application/vnd.openxmlformats-officedocument.presentationml.slide+xml"/>
  <Override PartName="/ppt/slides/slide333.xml" ContentType="application/vnd.openxmlformats-officedocument.presentationml.slide+xml"/>
  <Override PartName="/ppt/slides/slide334.xml" ContentType="application/vnd.openxmlformats-officedocument.presentationml.slide+xml"/>
  <Override PartName="/ppt/slides/slide335.xml" ContentType="application/vnd.openxmlformats-officedocument.presentationml.slide+xml"/>
  <Override PartName="/ppt/slides/slide336.xml" ContentType="application/vnd.openxmlformats-officedocument.presentationml.slide+xml"/>
  <Override PartName="/ppt/slides/slide337.xml" ContentType="application/vnd.openxmlformats-officedocument.presentationml.slide+xml"/>
  <Override PartName="/ppt/slides/slide338.xml" ContentType="application/vnd.openxmlformats-officedocument.presentationml.slide+xml"/>
  <Override PartName="/ppt/slides/slide339.xml" ContentType="application/vnd.openxmlformats-officedocument.presentationml.slide+xml"/>
  <Override PartName="/ppt/slides/slide340.xml" ContentType="application/vnd.openxmlformats-officedocument.presentationml.slide+xml"/>
  <Override PartName="/ppt/slides/slide341.xml" ContentType="application/vnd.openxmlformats-officedocument.presentationml.slide+xml"/>
  <Override PartName="/ppt/slides/slide342.xml" ContentType="application/vnd.openxmlformats-officedocument.presentationml.slide+xml"/>
  <Override PartName="/ppt/slides/slide343.xml" ContentType="application/vnd.openxmlformats-officedocument.presentationml.slide+xml"/>
  <Override PartName="/ppt/slides/slide344.xml" ContentType="application/vnd.openxmlformats-officedocument.presentationml.slide+xml"/>
  <Override PartName="/ppt/slides/slide345.xml" ContentType="application/vnd.openxmlformats-officedocument.presentationml.slide+xml"/>
  <Override PartName="/ppt/slides/slide346.xml" ContentType="application/vnd.openxmlformats-officedocument.presentationml.slide+xml"/>
  <Override PartName="/ppt/slides/slide347.xml" ContentType="application/vnd.openxmlformats-officedocument.presentationml.slide+xml"/>
  <Override PartName="/ppt/slides/slide348.xml" ContentType="application/vnd.openxmlformats-officedocument.presentationml.slide+xml"/>
  <Override PartName="/ppt/slides/slide349.xml" ContentType="application/vnd.openxmlformats-officedocument.presentationml.slide+xml"/>
  <Override PartName="/ppt/slides/slide350.xml" ContentType="application/vnd.openxmlformats-officedocument.presentationml.slide+xml"/>
  <Override PartName="/ppt/slides/slide351.xml" ContentType="application/vnd.openxmlformats-officedocument.presentationml.slide+xml"/>
  <Override PartName="/ppt/slides/slide352.xml" ContentType="application/vnd.openxmlformats-officedocument.presentationml.slide+xml"/>
  <Override PartName="/ppt/slides/slide353.xml" ContentType="application/vnd.openxmlformats-officedocument.presentationml.slide+xml"/>
  <Override PartName="/ppt/slides/slide354.xml" ContentType="application/vnd.openxmlformats-officedocument.presentationml.slide+xml"/>
  <Override PartName="/ppt/slides/slide355.xml" ContentType="application/vnd.openxmlformats-officedocument.presentationml.slide+xml"/>
  <Override PartName="/ppt/slides/slide356.xml" ContentType="application/vnd.openxmlformats-officedocument.presentationml.slide+xml"/>
  <Override PartName="/ppt/slides/slide357.xml" ContentType="application/vnd.openxmlformats-officedocument.presentationml.slide+xml"/>
  <Override PartName="/ppt/slides/slide358.xml" ContentType="application/vnd.openxmlformats-officedocument.presentationml.slide+xml"/>
  <Override PartName="/ppt/slides/slide359.xml" ContentType="application/vnd.openxmlformats-officedocument.presentationml.slide+xml"/>
  <Override PartName="/ppt/slides/slide360.xml" ContentType="application/vnd.openxmlformats-officedocument.presentationml.slide+xml"/>
  <Override PartName="/ppt/slides/slide361.xml" ContentType="application/vnd.openxmlformats-officedocument.presentationml.slide+xml"/>
  <Override PartName="/ppt/slides/slide362.xml" ContentType="application/vnd.openxmlformats-officedocument.presentationml.slide+xml"/>
  <Override PartName="/ppt/slides/slide363.xml" ContentType="application/vnd.openxmlformats-officedocument.presentationml.slide+xml"/>
  <Override PartName="/ppt/slides/slide364.xml" ContentType="application/vnd.openxmlformats-officedocument.presentationml.slide+xml"/>
  <Override PartName="/ppt/slides/slide365.xml" ContentType="application/vnd.openxmlformats-officedocument.presentationml.slide+xml"/>
  <Override PartName="/ppt/slides/slide366.xml" ContentType="application/vnd.openxmlformats-officedocument.presentationml.slide+xml"/>
  <Override PartName="/ppt/slides/slide367.xml" ContentType="application/vnd.openxmlformats-officedocument.presentationml.slide+xml"/>
  <Override PartName="/ppt/slides/slide368.xml" ContentType="application/vnd.openxmlformats-officedocument.presentationml.slide+xml"/>
  <Override PartName="/ppt/slides/slide369.xml" ContentType="application/vnd.openxmlformats-officedocument.presentationml.slide+xml"/>
  <Override PartName="/ppt/slides/slide370.xml" ContentType="application/vnd.openxmlformats-officedocument.presentationml.slide+xml"/>
  <Override PartName="/ppt/slides/slide371.xml" ContentType="application/vnd.openxmlformats-officedocument.presentationml.slide+xml"/>
  <Override PartName="/ppt/slides/slide372.xml" ContentType="application/vnd.openxmlformats-officedocument.presentationml.slide+xml"/>
  <Override PartName="/ppt/slides/slide373.xml" ContentType="application/vnd.openxmlformats-officedocument.presentationml.slide+xml"/>
  <Override PartName="/ppt/slides/slide374.xml" ContentType="application/vnd.openxmlformats-officedocument.presentationml.slide+xml"/>
  <Override PartName="/ppt/slides/slide375.xml" ContentType="application/vnd.openxmlformats-officedocument.presentationml.slide+xml"/>
  <Override PartName="/ppt/slides/slide376.xml" ContentType="application/vnd.openxmlformats-officedocument.presentationml.slide+xml"/>
  <Override PartName="/ppt/slides/slide377.xml" ContentType="application/vnd.openxmlformats-officedocument.presentationml.slide+xml"/>
  <Override PartName="/ppt/slides/slide378.xml" ContentType="application/vnd.openxmlformats-officedocument.presentationml.slide+xml"/>
  <Override PartName="/ppt/slides/slide379.xml" ContentType="application/vnd.openxmlformats-officedocument.presentationml.slide+xml"/>
  <Override PartName="/ppt/slides/slide380.xml" ContentType="application/vnd.openxmlformats-officedocument.presentationml.slide+xml"/>
  <Override PartName="/ppt/slides/slide381.xml" ContentType="application/vnd.openxmlformats-officedocument.presentationml.slide+xml"/>
  <Override PartName="/ppt/slides/slide382.xml" ContentType="application/vnd.openxmlformats-officedocument.presentationml.slide+xml"/>
  <Override PartName="/ppt/slides/slide383.xml" ContentType="application/vnd.openxmlformats-officedocument.presentationml.slide+xml"/>
  <Override PartName="/ppt/slides/slide384.xml" ContentType="application/vnd.openxmlformats-officedocument.presentationml.slide+xml"/>
  <Override PartName="/ppt/slides/slide385.xml" ContentType="application/vnd.openxmlformats-officedocument.presentationml.slide+xml"/>
  <Override PartName="/ppt/slides/slide38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53.xml" ContentType="application/vnd.openxmlformats-officedocument.presentationml.notesSlide+xml"/>
  <Override PartName="/ppt/notesSlides/notesSlide54.xml" ContentType="application/vnd.openxmlformats-officedocument.presentationml.notesSlide+xml"/>
  <Override PartName="/ppt/notesSlides/notesSlide55.xml" ContentType="application/vnd.openxmlformats-officedocument.presentationml.notesSlide+xml"/>
  <Override PartName="/ppt/notesSlides/notesSlide56.xml" ContentType="application/vnd.openxmlformats-officedocument.presentationml.notesSlide+xml"/>
  <Override PartName="/ppt/notesSlides/notesSlide57.xml" ContentType="application/vnd.openxmlformats-officedocument.presentationml.notesSlide+xml"/>
  <Override PartName="/ppt/notesSlides/notesSlide58.xml" ContentType="application/vnd.openxmlformats-officedocument.presentationml.notesSlide+xml"/>
  <Override PartName="/ppt/notesSlides/notesSlide59.xml" ContentType="application/vnd.openxmlformats-officedocument.presentationml.notesSlide+xml"/>
  <Override PartName="/ppt/notesSlides/notesSlide60.xml" ContentType="application/vnd.openxmlformats-officedocument.presentationml.notesSlide+xml"/>
  <Override PartName="/ppt/notesSlides/notesSlide61.xml" ContentType="application/vnd.openxmlformats-officedocument.presentationml.notesSlide+xml"/>
  <Override PartName="/ppt/notesSlides/notesSlide62.xml" ContentType="application/vnd.openxmlformats-officedocument.presentationml.notesSlide+xml"/>
  <Override PartName="/ppt/notesSlides/notesSlide63.xml" ContentType="application/vnd.openxmlformats-officedocument.presentationml.notesSlide+xml"/>
  <Override PartName="/ppt/notesSlides/notesSlide64.xml" ContentType="application/vnd.openxmlformats-officedocument.presentationml.notesSlide+xml"/>
  <Override PartName="/ppt/notesSlides/notesSlide65.xml" ContentType="application/vnd.openxmlformats-officedocument.presentationml.notesSlide+xml"/>
  <Override PartName="/ppt/notesSlides/notesSlide66.xml" ContentType="application/vnd.openxmlformats-officedocument.presentationml.notesSlide+xml"/>
  <Override PartName="/ppt/notesSlides/notesSlide67.xml" ContentType="application/vnd.openxmlformats-officedocument.presentationml.notesSlide+xml"/>
  <Override PartName="/ppt/notesSlides/notesSlide68.xml" ContentType="application/vnd.openxmlformats-officedocument.presentationml.notesSlide+xml"/>
  <Override PartName="/ppt/notesSlides/notesSlide69.xml" ContentType="application/vnd.openxmlformats-officedocument.presentationml.notesSlide+xml"/>
  <Override PartName="/ppt/notesSlides/notesSlide70.xml" ContentType="application/vnd.openxmlformats-officedocument.presentationml.notesSlide+xml"/>
  <Override PartName="/ppt/notesSlides/notesSlide71.xml" ContentType="application/vnd.openxmlformats-officedocument.presentationml.notesSlide+xml"/>
  <Override PartName="/ppt/notesSlides/notesSlide72.xml" ContentType="application/vnd.openxmlformats-officedocument.presentationml.notesSlide+xml"/>
  <Override PartName="/ppt/notesSlides/notesSlide73.xml" ContentType="application/vnd.openxmlformats-officedocument.presentationml.notesSlide+xml"/>
  <Override PartName="/ppt/notesSlides/notesSlide74.xml" ContentType="application/vnd.openxmlformats-officedocument.presentationml.notesSlide+xml"/>
  <Override PartName="/ppt/notesSlides/notesSlide75.xml" ContentType="application/vnd.openxmlformats-officedocument.presentationml.notesSlide+xml"/>
  <Override PartName="/ppt/notesSlides/notesSlide76.xml" ContentType="application/vnd.openxmlformats-officedocument.presentationml.notesSlide+xml"/>
  <Override PartName="/ppt/notesSlides/notesSlide77.xml" ContentType="application/vnd.openxmlformats-officedocument.presentationml.notesSlide+xml"/>
  <Override PartName="/ppt/notesSlides/notesSlide78.xml" ContentType="application/vnd.openxmlformats-officedocument.presentationml.notesSlide+xml"/>
  <Override PartName="/ppt/notesSlides/notesSlide79.xml" ContentType="application/vnd.openxmlformats-officedocument.presentationml.notesSlide+xml"/>
  <Override PartName="/ppt/notesSlides/notesSlide80.xml" ContentType="application/vnd.openxmlformats-officedocument.presentationml.notesSlide+xml"/>
  <Override PartName="/ppt/notesSlides/notesSlide81.xml" ContentType="application/vnd.openxmlformats-officedocument.presentationml.notesSlide+xml"/>
  <Override PartName="/ppt/notesSlides/notesSlide82.xml" ContentType="application/vnd.openxmlformats-officedocument.presentationml.notesSlide+xml"/>
  <Override PartName="/ppt/notesSlides/notesSlide83.xml" ContentType="application/vnd.openxmlformats-officedocument.presentationml.notesSlide+xml"/>
  <Override PartName="/ppt/notesSlides/notesSlide84.xml" ContentType="application/vnd.openxmlformats-officedocument.presentationml.notesSlide+xml"/>
  <Override PartName="/ppt/notesSlides/notesSlide85.xml" ContentType="application/vnd.openxmlformats-officedocument.presentationml.notesSlide+xml"/>
  <Override PartName="/ppt/notesSlides/notesSlide86.xml" ContentType="application/vnd.openxmlformats-officedocument.presentationml.notesSlide+xml"/>
  <Override PartName="/ppt/notesSlides/notesSlide87.xml" ContentType="application/vnd.openxmlformats-officedocument.presentationml.notesSlide+xml"/>
  <Override PartName="/ppt/notesSlides/notesSlide88.xml" ContentType="application/vnd.openxmlformats-officedocument.presentationml.notesSlide+xml"/>
  <Override PartName="/ppt/notesSlides/notesSlide89.xml" ContentType="application/vnd.openxmlformats-officedocument.presentationml.notesSlide+xml"/>
  <Override PartName="/ppt/notesSlides/notesSlide90.xml" ContentType="application/vnd.openxmlformats-officedocument.presentationml.notesSlide+xml"/>
  <Override PartName="/ppt/notesSlides/notesSlide91.xml" ContentType="application/vnd.openxmlformats-officedocument.presentationml.notesSlide+xml"/>
  <Override PartName="/ppt/notesSlides/notesSlide92.xml" ContentType="application/vnd.openxmlformats-officedocument.presentationml.notesSlide+xml"/>
  <Override PartName="/ppt/notesSlides/notesSlide93.xml" ContentType="application/vnd.openxmlformats-officedocument.presentationml.notesSlide+xml"/>
  <Override PartName="/ppt/notesSlides/notesSlide94.xml" ContentType="application/vnd.openxmlformats-officedocument.presentationml.notesSlide+xml"/>
  <Override PartName="/ppt/notesSlides/notesSlide95.xml" ContentType="application/vnd.openxmlformats-officedocument.presentationml.notesSlide+xml"/>
  <Override PartName="/ppt/notesSlides/notesSlide96.xml" ContentType="application/vnd.openxmlformats-officedocument.presentationml.notesSlide+xml"/>
  <Override PartName="/ppt/notesSlides/notesSlide97.xml" ContentType="application/vnd.openxmlformats-officedocument.presentationml.notesSlide+xml"/>
  <Override PartName="/ppt/notesSlides/notesSlide98.xml" ContentType="application/vnd.openxmlformats-officedocument.presentationml.notesSlide+xml"/>
  <Override PartName="/ppt/notesSlides/notesSlide99.xml" ContentType="application/vnd.openxmlformats-officedocument.presentationml.notesSlide+xml"/>
  <Override PartName="/ppt/notesSlides/notesSlide100.xml" ContentType="application/vnd.openxmlformats-officedocument.presentationml.notesSlide+xml"/>
  <Override PartName="/ppt/notesSlides/notesSlide101.xml" ContentType="application/vnd.openxmlformats-officedocument.presentationml.notesSlide+xml"/>
  <Override PartName="/ppt/notesSlides/notesSlide102.xml" ContentType="application/vnd.openxmlformats-officedocument.presentationml.notesSlide+xml"/>
  <Override PartName="/ppt/notesSlides/notesSlide103.xml" ContentType="application/vnd.openxmlformats-officedocument.presentationml.notesSlide+xml"/>
  <Override PartName="/ppt/notesSlides/notesSlide104.xml" ContentType="application/vnd.openxmlformats-officedocument.presentationml.notesSlide+xml"/>
  <Override PartName="/ppt/notesSlides/notesSlide105.xml" ContentType="application/vnd.openxmlformats-officedocument.presentationml.notesSlide+xml"/>
  <Override PartName="/ppt/notesSlides/notesSlide106.xml" ContentType="application/vnd.openxmlformats-officedocument.presentationml.notesSlide+xml"/>
  <Override PartName="/ppt/notesSlides/notesSlide107.xml" ContentType="application/vnd.openxmlformats-officedocument.presentationml.notesSlide+xml"/>
  <Override PartName="/ppt/notesSlides/notesSlide108.xml" ContentType="application/vnd.openxmlformats-officedocument.presentationml.notesSlide+xml"/>
  <Override PartName="/ppt/notesSlides/notesSlide109.xml" ContentType="application/vnd.openxmlformats-officedocument.presentationml.notesSlide+xml"/>
  <Override PartName="/ppt/notesSlides/notesSlide110.xml" ContentType="application/vnd.openxmlformats-officedocument.presentationml.notesSlide+xml"/>
  <Override PartName="/ppt/notesSlides/notesSlide111.xml" ContentType="application/vnd.openxmlformats-officedocument.presentationml.notesSlide+xml"/>
  <Override PartName="/ppt/notesSlides/notesSlide112.xml" ContentType="application/vnd.openxmlformats-officedocument.presentationml.notesSlide+xml"/>
  <Override PartName="/ppt/notesSlides/notesSlide113.xml" ContentType="application/vnd.openxmlformats-officedocument.presentationml.notesSlide+xml"/>
  <Override PartName="/ppt/notesSlides/notesSlide114.xml" ContentType="application/vnd.openxmlformats-officedocument.presentationml.notesSlide+xml"/>
  <Override PartName="/ppt/notesSlides/notesSlide115.xml" ContentType="application/vnd.openxmlformats-officedocument.presentationml.notesSlide+xml"/>
  <Override PartName="/ppt/notesSlides/notesSlide116.xml" ContentType="application/vnd.openxmlformats-officedocument.presentationml.notesSlide+xml"/>
  <Override PartName="/ppt/notesSlides/notesSlide117.xml" ContentType="application/vnd.openxmlformats-officedocument.presentationml.notesSlide+xml"/>
  <Override PartName="/ppt/notesSlides/notesSlide118.xml" ContentType="application/vnd.openxmlformats-officedocument.presentationml.notesSlide+xml"/>
  <Override PartName="/ppt/notesSlides/notesSlide119.xml" ContentType="application/vnd.openxmlformats-officedocument.presentationml.notesSlide+xml"/>
  <Override PartName="/ppt/notesSlides/notesSlide120.xml" ContentType="application/vnd.openxmlformats-officedocument.presentationml.notesSlide+xml"/>
  <Override PartName="/ppt/notesSlides/notesSlide121.xml" ContentType="application/vnd.openxmlformats-officedocument.presentationml.notesSlide+xml"/>
  <Override PartName="/ppt/notesSlides/notesSlide122.xml" ContentType="application/vnd.openxmlformats-officedocument.presentationml.notesSlide+xml"/>
  <Override PartName="/ppt/notesSlides/notesSlide123.xml" ContentType="application/vnd.openxmlformats-officedocument.presentationml.notesSlide+xml"/>
  <Override PartName="/ppt/notesSlides/notesSlide124.xml" ContentType="application/vnd.openxmlformats-officedocument.presentationml.notesSlide+xml"/>
  <Override PartName="/ppt/notesSlides/notesSlide125.xml" ContentType="application/vnd.openxmlformats-officedocument.presentationml.notesSlide+xml"/>
  <Override PartName="/ppt/notesSlides/notesSlide126.xml" ContentType="application/vnd.openxmlformats-officedocument.presentationml.notesSlide+xml"/>
  <Override PartName="/ppt/notesSlides/notesSlide127.xml" ContentType="application/vnd.openxmlformats-officedocument.presentationml.notesSlide+xml"/>
  <Override PartName="/ppt/notesSlides/notesSlide128.xml" ContentType="application/vnd.openxmlformats-officedocument.presentationml.notesSlide+xml"/>
  <Override PartName="/ppt/notesSlides/notesSlide129.xml" ContentType="application/vnd.openxmlformats-officedocument.presentationml.notesSlide+xml"/>
  <Override PartName="/ppt/notesSlides/notesSlide130.xml" ContentType="application/vnd.openxmlformats-officedocument.presentationml.notesSlide+xml"/>
  <Override PartName="/ppt/notesSlides/notesSlide131.xml" ContentType="application/vnd.openxmlformats-officedocument.presentationml.notesSlide+xml"/>
  <Override PartName="/ppt/notesSlides/notesSlide132.xml" ContentType="application/vnd.openxmlformats-officedocument.presentationml.notesSlide+xml"/>
  <Override PartName="/ppt/notesSlides/notesSlide133.xml" ContentType="application/vnd.openxmlformats-officedocument.presentationml.notesSlide+xml"/>
  <Override PartName="/ppt/notesSlides/notesSlide134.xml" ContentType="application/vnd.openxmlformats-officedocument.presentationml.notesSlide+xml"/>
  <Override PartName="/ppt/notesSlides/notesSlide135.xml" ContentType="application/vnd.openxmlformats-officedocument.presentationml.notesSlide+xml"/>
  <Override PartName="/ppt/notesSlides/notesSlide136.xml" ContentType="application/vnd.openxmlformats-officedocument.presentationml.notesSlide+xml"/>
  <Override PartName="/ppt/notesSlides/notesSlide137.xml" ContentType="application/vnd.openxmlformats-officedocument.presentationml.notesSlide+xml"/>
  <Override PartName="/ppt/notesSlides/notesSlide138.xml" ContentType="application/vnd.openxmlformats-officedocument.presentationml.notesSlide+xml"/>
  <Override PartName="/ppt/notesSlides/notesSlide139.xml" ContentType="application/vnd.openxmlformats-officedocument.presentationml.notesSlide+xml"/>
  <Override PartName="/ppt/notesSlides/notesSlide140.xml" ContentType="application/vnd.openxmlformats-officedocument.presentationml.notesSlide+xml"/>
  <Override PartName="/ppt/notesSlides/notesSlide141.xml" ContentType="application/vnd.openxmlformats-officedocument.presentationml.notesSlide+xml"/>
  <Override PartName="/ppt/notesSlides/notesSlide142.xml" ContentType="application/vnd.openxmlformats-officedocument.presentationml.notesSlide+xml"/>
  <Override PartName="/ppt/notesSlides/notesSlide143.xml" ContentType="application/vnd.openxmlformats-officedocument.presentationml.notesSlide+xml"/>
  <Override PartName="/ppt/notesSlides/notesSlide144.xml" ContentType="application/vnd.openxmlformats-officedocument.presentationml.notesSlide+xml"/>
  <Override PartName="/ppt/notesSlides/notesSlide145.xml" ContentType="application/vnd.openxmlformats-officedocument.presentationml.notesSlide+xml"/>
  <Override PartName="/ppt/notesSlides/notesSlide146.xml" ContentType="application/vnd.openxmlformats-officedocument.presentationml.notesSlide+xml"/>
  <Override PartName="/ppt/notesSlides/notesSlide147.xml" ContentType="application/vnd.openxmlformats-officedocument.presentationml.notesSlide+xml"/>
  <Override PartName="/ppt/notesSlides/notesSlide148.xml" ContentType="application/vnd.openxmlformats-officedocument.presentationml.notesSlide+xml"/>
  <Override PartName="/ppt/notesSlides/notesSlide149.xml" ContentType="application/vnd.openxmlformats-officedocument.presentationml.notesSlide+xml"/>
  <Override PartName="/ppt/notesSlides/notesSlide150.xml" ContentType="application/vnd.openxmlformats-officedocument.presentationml.notesSlide+xml"/>
  <Override PartName="/ppt/notesSlides/notesSlide151.xml" ContentType="application/vnd.openxmlformats-officedocument.presentationml.notesSlide+xml"/>
  <Override PartName="/ppt/notesSlides/notesSlide152.xml" ContentType="application/vnd.openxmlformats-officedocument.presentationml.notesSlide+xml"/>
  <Override PartName="/ppt/notesSlides/notesSlide153.xml" ContentType="application/vnd.openxmlformats-officedocument.presentationml.notesSlide+xml"/>
  <Override PartName="/ppt/notesSlides/notesSlide154.xml" ContentType="application/vnd.openxmlformats-officedocument.presentationml.notesSlide+xml"/>
  <Override PartName="/ppt/notesSlides/notesSlide155.xml" ContentType="application/vnd.openxmlformats-officedocument.presentationml.notesSlide+xml"/>
  <Override PartName="/ppt/notesSlides/notesSlide156.xml" ContentType="application/vnd.openxmlformats-officedocument.presentationml.notesSlide+xml"/>
  <Override PartName="/ppt/notesSlides/notesSlide157.xml" ContentType="application/vnd.openxmlformats-officedocument.presentationml.notesSlide+xml"/>
  <Override PartName="/ppt/notesSlides/notesSlide158.xml" ContentType="application/vnd.openxmlformats-officedocument.presentationml.notesSlide+xml"/>
  <Override PartName="/ppt/notesSlides/notesSlide159.xml" ContentType="application/vnd.openxmlformats-officedocument.presentationml.notesSlide+xml"/>
  <Override PartName="/ppt/notesSlides/notesSlide160.xml" ContentType="application/vnd.openxmlformats-officedocument.presentationml.notesSlide+xml"/>
  <Override PartName="/ppt/notesSlides/notesSlide161.xml" ContentType="application/vnd.openxmlformats-officedocument.presentationml.notesSlide+xml"/>
  <Override PartName="/ppt/notesSlides/notesSlide162.xml" ContentType="application/vnd.openxmlformats-officedocument.presentationml.notesSlide+xml"/>
  <Override PartName="/ppt/notesSlides/notesSlide163.xml" ContentType="application/vnd.openxmlformats-officedocument.presentationml.notesSlide+xml"/>
  <Override PartName="/ppt/notesSlides/notesSlide164.xml" ContentType="application/vnd.openxmlformats-officedocument.presentationml.notesSlide+xml"/>
  <Override PartName="/ppt/notesSlides/notesSlide165.xml" ContentType="application/vnd.openxmlformats-officedocument.presentationml.notesSlide+xml"/>
  <Override PartName="/ppt/notesSlides/notesSlide166.xml" ContentType="application/vnd.openxmlformats-officedocument.presentationml.notesSlide+xml"/>
  <Override PartName="/ppt/notesSlides/notesSlide167.xml" ContentType="application/vnd.openxmlformats-officedocument.presentationml.notesSlide+xml"/>
  <Override PartName="/ppt/notesSlides/notesSlide168.xml" ContentType="application/vnd.openxmlformats-officedocument.presentationml.notesSlide+xml"/>
  <Override PartName="/ppt/notesSlides/notesSlide169.xml" ContentType="application/vnd.openxmlformats-officedocument.presentationml.notesSlide+xml"/>
  <Override PartName="/ppt/notesSlides/notesSlide170.xml" ContentType="application/vnd.openxmlformats-officedocument.presentationml.notesSlide+xml"/>
  <Override PartName="/ppt/notesSlides/notesSlide171.xml" ContentType="application/vnd.openxmlformats-officedocument.presentationml.notesSlide+xml"/>
  <Override PartName="/ppt/notesSlides/notesSlide172.xml" ContentType="application/vnd.openxmlformats-officedocument.presentationml.notesSlide+xml"/>
  <Override PartName="/ppt/notesSlides/notesSlide173.xml" ContentType="application/vnd.openxmlformats-officedocument.presentationml.notesSlide+xml"/>
  <Override PartName="/ppt/notesSlides/notesSlide174.xml" ContentType="application/vnd.openxmlformats-officedocument.presentationml.notesSlide+xml"/>
  <Override PartName="/ppt/notesSlides/notesSlide175.xml" ContentType="application/vnd.openxmlformats-officedocument.presentationml.notesSlide+xml"/>
  <Override PartName="/ppt/notesSlides/notesSlide176.xml" ContentType="application/vnd.openxmlformats-officedocument.presentationml.notesSlide+xml"/>
  <Override PartName="/ppt/notesSlides/notesSlide177.xml" ContentType="application/vnd.openxmlformats-officedocument.presentationml.notesSlide+xml"/>
  <Override PartName="/ppt/notesSlides/notesSlide178.xml" ContentType="application/vnd.openxmlformats-officedocument.presentationml.notesSlide+xml"/>
  <Override PartName="/ppt/notesSlides/notesSlide179.xml" ContentType="application/vnd.openxmlformats-officedocument.presentationml.notesSlide+xml"/>
  <Override PartName="/ppt/notesSlides/notesSlide180.xml" ContentType="application/vnd.openxmlformats-officedocument.presentationml.notesSlide+xml"/>
  <Override PartName="/ppt/notesSlides/notesSlide181.xml" ContentType="application/vnd.openxmlformats-officedocument.presentationml.notesSlide+xml"/>
  <Override PartName="/ppt/notesSlides/notesSlide182.xml" ContentType="application/vnd.openxmlformats-officedocument.presentationml.notesSlide+xml"/>
  <Override PartName="/ppt/notesSlides/notesSlide183.xml" ContentType="application/vnd.openxmlformats-officedocument.presentationml.notesSlide+xml"/>
  <Override PartName="/ppt/notesSlides/notesSlide184.xml" ContentType="application/vnd.openxmlformats-officedocument.presentationml.notesSlide+xml"/>
  <Override PartName="/ppt/notesSlides/notesSlide185.xml" ContentType="application/vnd.openxmlformats-officedocument.presentationml.notesSlide+xml"/>
  <Override PartName="/ppt/notesSlides/notesSlide186.xml" ContentType="application/vnd.openxmlformats-officedocument.presentationml.notesSlide+xml"/>
  <Override PartName="/ppt/notesSlides/notesSlide187.xml" ContentType="application/vnd.openxmlformats-officedocument.presentationml.notesSlide+xml"/>
  <Override PartName="/ppt/notesSlides/notesSlide188.xml" ContentType="application/vnd.openxmlformats-officedocument.presentationml.notesSlide+xml"/>
  <Override PartName="/ppt/notesSlides/notesSlide189.xml" ContentType="application/vnd.openxmlformats-officedocument.presentationml.notesSlide+xml"/>
  <Override PartName="/ppt/notesSlides/notesSlide190.xml" ContentType="application/vnd.openxmlformats-officedocument.presentationml.notesSlide+xml"/>
  <Override PartName="/ppt/notesSlides/notesSlide191.xml" ContentType="application/vnd.openxmlformats-officedocument.presentationml.notesSlide+xml"/>
  <Override PartName="/ppt/notesSlides/notesSlide192.xml" ContentType="application/vnd.openxmlformats-officedocument.presentationml.notesSlide+xml"/>
  <Override PartName="/ppt/notesSlides/notesSlide193.xml" ContentType="application/vnd.openxmlformats-officedocument.presentationml.notesSlide+xml"/>
  <Override PartName="/ppt/notesSlides/notesSlide194.xml" ContentType="application/vnd.openxmlformats-officedocument.presentationml.notesSlide+xml"/>
  <Override PartName="/ppt/notesSlides/notesSlide195.xml" ContentType="application/vnd.openxmlformats-officedocument.presentationml.notesSlide+xml"/>
  <Override PartName="/ppt/notesSlides/notesSlide196.xml" ContentType="application/vnd.openxmlformats-officedocument.presentationml.notesSlide+xml"/>
  <Override PartName="/ppt/notesSlides/notesSlide197.xml" ContentType="application/vnd.openxmlformats-officedocument.presentationml.notesSlide+xml"/>
  <Override PartName="/ppt/notesSlides/notesSlide198.xml" ContentType="application/vnd.openxmlformats-officedocument.presentationml.notesSlide+xml"/>
  <Override PartName="/ppt/notesSlides/notesSlide199.xml" ContentType="application/vnd.openxmlformats-officedocument.presentationml.notesSlide+xml"/>
  <Override PartName="/ppt/notesSlides/notesSlide200.xml" ContentType="application/vnd.openxmlformats-officedocument.presentationml.notesSlide+xml"/>
  <Override PartName="/ppt/notesSlides/notesSlide201.xml" ContentType="application/vnd.openxmlformats-officedocument.presentationml.notesSlide+xml"/>
  <Override PartName="/ppt/notesSlides/notesSlide202.xml" ContentType="application/vnd.openxmlformats-officedocument.presentationml.notesSlide+xml"/>
  <Override PartName="/ppt/notesSlides/notesSlide203.xml" ContentType="application/vnd.openxmlformats-officedocument.presentationml.notesSlide+xml"/>
  <Override PartName="/ppt/notesSlides/notesSlide204.xml" ContentType="application/vnd.openxmlformats-officedocument.presentationml.notesSlide+xml"/>
  <Override PartName="/ppt/notesSlides/notesSlide205.xml" ContentType="application/vnd.openxmlformats-officedocument.presentationml.notesSlide+xml"/>
  <Override PartName="/ppt/notesSlides/notesSlide206.xml" ContentType="application/vnd.openxmlformats-officedocument.presentationml.notesSlide+xml"/>
  <Override PartName="/ppt/notesSlides/notesSlide207.xml" ContentType="application/vnd.openxmlformats-officedocument.presentationml.notesSlide+xml"/>
  <Override PartName="/ppt/notesSlides/notesSlide208.xml" ContentType="application/vnd.openxmlformats-officedocument.presentationml.notesSlide+xml"/>
  <Override PartName="/ppt/notesSlides/notesSlide209.xml" ContentType="application/vnd.openxmlformats-officedocument.presentationml.notesSlide+xml"/>
  <Override PartName="/ppt/notesSlides/notesSlide210.xml" ContentType="application/vnd.openxmlformats-officedocument.presentationml.notesSlide+xml"/>
  <Override PartName="/ppt/notesSlides/notesSlide211.xml" ContentType="application/vnd.openxmlformats-officedocument.presentationml.notesSlide+xml"/>
  <Override PartName="/ppt/notesSlides/notesSlide212.xml" ContentType="application/vnd.openxmlformats-officedocument.presentationml.notesSlide+xml"/>
  <Override PartName="/ppt/notesSlides/notesSlide213.xml" ContentType="application/vnd.openxmlformats-officedocument.presentationml.notesSlide+xml"/>
  <Override PartName="/ppt/notesSlides/notesSlide214.xml" ContentType="application/vnd.openxmlformats-officedocument.presentationml.notesSlide+xml"/>
  <Override PartName="/ppt/notesSlides/notesSlide215.xml" ContentType="application/vnd.openxmlformats-officedocument.presentationml.notesSlide+xml"/>
  <Override PartName="/ppt/notesSlides/notesSlide2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64" r:id="rId4"/>
  </p:sldMasterIdLst>
  <p:notesMasterIdLst>
    <p:notesMasterId r:id="rId391"/>
  </p:notesMasterIdLst>
  <p:sldIdLst>
    <p:sldId id="10772" r:id="rId119"/>
    <p:sldId id="11009" r:id="rId120"/>
    <p:sldId id="10999" r:id="rId121"/>
    <p:sldId id="11101" r:id="rId122"/>
    <p:sldId id="10667" r:id="rId123"/>
    <p:sldId id="11088" r:id="rId124"/>
    <p:sldId id="10958" r:id="rId125"/>
    <p:sldId id="11089" r:id="rId126"/>
    <p:sldId id="11090" r:id="rId127"/>
    <p:sldId id="10956" r:id="rId128"/>
    <p:sldId id="5810" r:id="rId129"/>
    <p:sldId id="5813" r:id="rId130"/>
    <p:sldId id="11091" r:id="rId131"/>
    <p:sldId id="11000" r:id="rId132"/>
    <p:sldId id="6414" r:id="rId133"/>
    <p:sldId id="10959" r:id="rId134"/>
    <p:sldId id="10960" r:id="rId135"/>
    <p:sldId id="6415" r:id="rId136"/>
    <p:sldId id="6416" r:id="rId137"/>
    <p:sldId id="6417" r:id="rId138"/>
    <p:sldId id="6418" r:id="rId139"/>
    <p:sldId id="6419" r:id="rId140"/>
    <p:sldId id="11001" r:id="rId141"/>
    <p:sldId id="9081" r:id="rId142"/>
    <p:sldId id="9088" r:id="rId143"/>
    <p:sldId id="9119" r:id="rId144"/>
    <p:sldId id="9089" r:id="rId145"/>
    <p:sldId id="10947" r:id="rId146"/>
    <p:sldId id="10951" r:id="rId147"/>
    <p:sldId id="10950" r:id="rId148"/>
    <p:sldId id="10949" r:id="rId149"/>
    <p:sldId id="10948" r:id="rId150"/>
    <p:sldId id="10952" r:id="rId151"/>
    <p:sldId id="10476" r:id="rId152"/>
    <p:sldId id="10475" r:id="rId153"/>
    <p:sldId id="10676" r:id="rId154"/>
    <p:sldId id="10677" r:id="rId155"/>
    <p:sldId id="10684" r:id="rId156"/>
    <p:sldId id="10994" r:id="rId157"/>
  </p:sldIdLst>
  <p:sldSz cx="12192000" cy="6858000"/>
  <p:notesSz cx="7102475" cy="9388475"/>
  <p:embeddedFontLst>
    <p:embeddedFont>
      <p:font typeface="Cambria Math" panose="02040503050406030204" pitchFamily="18" charset="0"/>
      <p:regular r:id="rId392"/>
    </p:embeddedFont>
    <p:embeddedFont>
      <p:font typeface="Oswald" panose="00000500000000000000" pitchFamily="2" charset="0"/>
      <p:regular r:id="rId393"/>
      <p:bold r:id="rId394"/>
    </p:embeddedFont>
    <p:embeddedFont>
      <p:font typeface="Oswald Regular" panose="00000500000000000000" charset="0"/>
      <p:regular r:id="rId395"/>
      <p:bold r:id="rId396"/>
    </p:embeddedFont>
    <p:embeddedFont>
      <p:font typeface="Playfair Display" panose="00000500000000000000" pitchFamily="2" charset="0"/>
      <p:regular r:id="rId397"/>
      <p:bold r:id="rId398"/>
      <p:italic r:id="rId399"/>
      <p:boldItalic r:id="rId400"/>
    </p:embeddedFont>
    <p:embeddedFont>
      <p:font typeface="Raleway" pitchFamily="2" charset="0"/>
      <p:regular r:id="rId401"/>
      <p:bold r:id="rId402"/>
      <p:italic r:id="rId403"/>
      <p:boldItalic r:id="rId404"/>
    </p:embeddedFont>
    <p:embeddedFont>
      <p:font typeface="Raleway Thin" pitchFamily="2" charset="0"/>
      <p:regular r:id="rId405"/>
      <p:bold r:id="rId406"/>
      <p:italic r:id="rId407"/>
      <p:boldItalic r:id="rId408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521415D9-36F7-43E2-AB2F-B90AF26B5E84}">
      <p14:sectionLst xmlns:p14="http://schemas.microsoft.com/office/powerpoint/2010/main">
        <p14:section name="Default Section" id="{4594221A-EA1A-49CA-A6F5-055A24DBA16E}">
          <p14:sldIdLst/>
        </p14:section>
        <p14:section name="Policy function approximations" id="{2968945F-A103-4460-96A7-EAC23413810B}">
          <p14:sldIdLst>
            <p14:sldId id="10760"/>
            <p14:sldId id="10588"/>
            <p14:sldId id="10374"/>
            <p14:sldId id="10378"/>
            <p14:sldId id="10535"/>
            <p14:sldId id="11054"/>
            <p14:sldId id="4656"/>
            <p14:sldId id="4658"/>
            <p14:sldId id="10375"/>
            <p14:sldId id="10376"/>
            <p14:sldId id="10377"/>
            <p14:sldId id="11051"/>
            <p14:sldId id="11050"/>
            <p14:sldId id="11052"/>
            <p14:sldId id="10543"/>
            <p14:sldId id="10664"/>
            <p14:sldId id="11041"/>
          </p14:sldIdLst>
        </p14:section>
        <p14:section name="Cost function approximations" id="{646EA107-656E-4B76-B592-826797412CA6}">
          <p14:sldIdLst>
            <p14:sldId id="10765"/>
            <p14:sldId id="9933"/>
            <p14:sldId id="10270"/>
            <p14:sldId id="10214"/>
            <p14:sldId id="9796"/>
            <p14:sldId id="10207"/>
            <p14:sldId id="10208"/>
            <p14:sldId id="10209"/>
            <p14:sldId id="10210"/>
            <p14:sldId id="10211"/>
            <p14:sldId id="10272"/>
            <p14:sldId id="10891"/>
            <p14:sldId id="10643"/>
            <p14:sldId id="10215"/>
            <p14:sldId id="10589"/>
            <p14:sldId id="9061"/>
            <p14:sldId id="9108"/>
            <p14:sldId id="8939"/>
            <p14:sldId id="9082"/>
            <p14:sldId id="10974"/>
          </p14:sldIdLst>
        </p14:section>
        <p14:section name="Value function approximations (5 parts)" id="{CF00BF4F-5584-4580-9D7B-9D8880ECA957}">
          <p14:sldIdLst>
            <p14:sldId id="10737"/>
            <p14:sldId id="10761"/>
            <p14:sldId id="10975"/>
            <p14:sldId id="11006"/>
            <p14:sldId id="10783"/>
            <p14:sldId id="10699"/>
            <p14:sldId id="10592"/>
            <p14:sldId id="5586"/>
            <p14:sldId id="5576"/>
            <p14:sldId id="10384"/>
            <p14:sldId id="11031"/>
            <p14:sldId id="10985"/>
            <p14:sldId id="6555"/>
            <p14:sldId id="6556"/>
            <p14:sldId id="6557"/>
            <p14:sldId id="6558"/>
            <p14:sldId id="11034"/>
            <p14:sldId id="10423"/>
            <p14:sldId id="11035"/>
            <p14:sldId id="5599"/>
            <p14:sldId id="11056"/>
            <p14:sldId id="10991"/>
            <p14:sldId id="10769"/>
            <p14:sldId id="11007"/>
            <p14:sldId id="10986"/>
            <p14:sldId id="10264"/>
            <p14:sldId id="10265"/>
            <p14:sldId id="10266"/>
            <p14:sldId id="9555"/>
            <p14:sldId id="10688"/>
            <p14:sldId id="10988"/>
            <p14:sldId id="10316"/>
            <p14:sldId id="3309"/>
            <p14:sldId id="10318"/>
            <p14:sldId id="10319"/>
            <p14:sldId id="3311"/>
            <p14:sldId id="3312"/>
            <p14:sldId id="3313"/>
            <p14:sldId id="3314"/>
            <p14:sldId id="10321"/>
            <p14:sldId id="3315"/>
            <p14:sldId id="10322"/>
            <p14:sldId id="3316"/>
            <p14:sldId id="10323"/>
            <p14:sldId id="10595"/>
            <p14:sldId id="11036"/>
            <p14:sldId id="10989"/>
            <p14:sldId id="10717"/>
            <p14:sldId id="6103"/>
            <p14:sldId id="6104"/>
            <p14:sldId id="10528"/>
            <p14:sldId id="6105"/>
            <p14:sldId id="10733"/>
            <p14:sldId id="10326"/>
            <p14:sldId id="10990"/>
            <p14:sldId id="6255"/>
            <p14:sldId id="6256"/>
            <p14:sldId id="6257"/>
            <p14:sldId id="6258"/>
            <p14:sldId id="10992"/>
            <p14:sldId id="10770"/>
            <p14:sldId id="11008"/>
            <p14:sldId id="10996"/>
            <p14:sldId id="6387"/>
            <p14:sldId id="6388"/>
            <p14:sldId id="6389"/>
            <p14:sldId id="10997"/>
            <p14:sldId id="5774"/>
            <p14:sldId id="5777"/>
            <p14:sldId id="5782"/>
            <p14:sldId id="5783"/>
            <p14:sldId id="10593"/>
            <p14:sldId id="5780"/>
            <p14:sldId id="10998"/>
            <p14:sldId id="10641"/>
            <p14:sldId id="9560"/>
            <p14:sldId id="10993"/>
            <p14:sldId id="10772"/>
            <p14:sldId id="11009"/>
            <p14:sldId id="10999"/>
            <p14:sldId id="11101"/>
            <p14:sldId id="10667"/>
            <p14:sldId id="11088"/>
            <p14:sldId id="10958"/>
            <p14:sldId id="11089"/>
            <p14:sldId id="11090"/>
            <p14:sldId id="10956"/>
            <p14:sldId id="5810"/>
            <p14:sldId id="5813"/>
            <p14:sldId id="11091"/>
            <p14:sldId id="11000"/>
            <p14:sldId id="6414"/>
            <p14:sldId id="10959"/>
            <p14:sldId id="10960"/>
            <p14:sldId id="6415"/>
            <p14:sldId id="6416"/>
            <p14:sldId id="6417"/>
            <p14:sldId id="6418"/>
            <p14:sldId id="6419"/>
            <p14:sldId id="11001"/>
            <p14:sldId id="9081"/>
            <p14:sldId id="9088"/>
            <p14:sldId id="9119"/>
            <p14:sldId id="9089"/>
            <p14:sldId id="10947"/>
            <p14:sldId id="10951"/>
            <p14:sldId id="10950"/>
            <p14:sldId id="10949"/>
            <p14:sldId id="10948"/>
            <p14:sldId id="10952"/>
            <p14:sldId id="10476"/>
            <p14:sldId id="10475"/>
            <p14:sldId id="10676"/>
            <p14:sldId id="10677"/>
            <p14:sldId id="10684"/>
            <p14:sldId id="10994"/>
            <p14:sldId id="10771"/>
            <p14:sldId id="11010"/>
            <p14:sldId id="11096"/>
            <p14:sldId id="11097"/>
            <p14:sldId id="413"/>
            <p14:sldId id="414"/>
            <p14:sldId id="416"/>
            <p14:sldId id="11093"/>
            <p14:sldId id="5736"/>
            <p14:sldId id="5737"/>
            <p14:sldId id="5738"/>
            <p14:sldId id="5739"/>
            <p14:sldId id="5740"/>
            <p14:sldId id="5741"/>
            <p14:sldId id="5742"/>
            <p14:sldId id="5743"/>
            <p14:sldId id="5744"/>
            <p14:sldId id="5745"/>
            <p14:sldId id="6099"/>
            <p14:sldId id="5746"/>
            <p14:sldId id="5751"/>
            <p14:sldId id="5752"/>
            <p14:sldId id="5753"/>
            <p14:sldId id="5754"/>
            <p14:sldId id="11098"/>
            <p14:sldId id="5757"/>
            <p14:sldId id="5758"/>
            <p14:sldId id="5759"/>
            <p14:sldId id="5760"/>
            <p14:sldId id="5761"/>
            <p14:sldId id="5762"/>
            <p14:sldId id="10954"/>
            <p14:sldId id="5764"/>
            <p14:sldId id="5765"/>
            <p14:sldId id="5766"/>
            <p14:sldId id="11099"/>
            <p14:sldId id="9936"/>
            <p14:sldId id="9937"/>
            <p14:sldId id="9938"/>
            <p14:sldId id="9939"/>
            <p14:sldId id="9494"/>
            <p14:sldId id="9940"/>
            <p14:sldId id="10730"/>
            <p14:sldId id="9941"/>
            <p14:sldId id="9942"/>
            <p14:sldId id="7912"/>
            <p14:sldId id="9944"/>
            <p14:sldId id="6405"/>
            <p14:sldId id="6407"/>
            <p14:sldId id="6408"/>
            <p14:sldId id="6409"/>
            <p14:sldId id="6410"/>
            <p14:sldId id="6411"/>
            <p14:sldId id="6412"/>
            <p14:sldId id="11100"/>
            <p14:sldId id="11094"/>
            <p14:sldId id="4685"/>
            <p14:sldId id="4686"/>
            <p14:sldId id="4687"/>
            <p14:sldId id="4688"/>
            <p14:sldId id="5909"/>
            <p14:sldId id="5910"/>
            <p14:sldId id="5911"/>
            <p14:sldId id="5912"/>
            <p14:sldId id="5913"/>
            <p14:sldId id="5914"/>
            <p14:sldId id="5915"/>
            <p14:sldId id="5916"/>
            <p14:sldId id="5917"/>
            <p14:sldId id="751"/>
            <p14:sldId id="752"/>
            <p14:sldId id="818"/>
            <p14:sldId id="5923"/>
            <p14:sldId id="817"/>
            <p14:sldId id="5924"/>
            <p14:sldId id="5925"/>
            <p14:sldId id="11095"/>
            <p14:sldId id="10995"/>
          </p14:sldIdLst>
        </p14:section>
        <p14:section name="Direct lookahead approximations (5 parts)" id="{E7718E6B-CD32-432C-BFF1-A2CA0E065725}">
          <p14:sldIdLst>
            <p14:sldId id="10803"/>
            <p14:sldId id="10774"/>
            <p14:sldId id="11012"/>
            <p14:sldId id="11014"/>
            <p14:sldId id="11011"/>
            <p14:sldId id="8804"/>
            <p14:sldId id="8805"/>
            <p14:sldId id="10710"/>
            <p14:sldId id="8809"/>
            <p14:sldId id="8590"/>
            <p14:sldId id="7852"/>
            <p14:sldId id="7853"/>
            <p14:sldId id="7854"/>
            <p14:sldId id="9026"/>
            <p14:sldId id="10644"/>
            <p14:sldId id="11013"/>
            <p14:sldId id="9104"/>
            <p14:sldId id="9105"/>
            <p14:sldId id="9106"/>
            <p14:sldId id="11023"/>
            <p14:sldId id="10773"/>
            <p14:sldId id="11015"/>
            <p14:sldId id="10452"/>
            <p14:sldId id="10453"/>
            <p14:sldId id="10454"/>
            <p14:sldId id="10455"/>
            <p14:sldId id="10456"/>
            <p14:sldId id="10457"/>
            <p14:sldId id="10458"/>
            <p14:sldId id="10459"/>
            <p14:sldId id="10460"/>
            <p14:sldId id="10461"/>
            <p14:sldId id="10462"/>
            <p14:sldId id="10463"/>
            <p14:sldId id="10590"/>
            <p14:sldId id="10601"/>
            <p14:sldId id="10602"/>
            <p14:sldId id="11024"/>
            <p14:sldId id="10775"/>
            <p14:sldId id="11016"/>
            <p14:sldId id="11017"/>
            <p14:sldId id="10277"/>
            <p14:sldId id="8943"/>
            <p14:sldId id="8849"/>
            <p14:sldId id="9059"/>
            <p14:sldId id="933"/>
            <p14:sldId id="934"/>
            <p14:sldId id="944"/>
            <p14:sldId id="7152"/>
            <p14:sldId id="7315"/>
            <p14:sldId id="7310"/>
            <p14:sldId id="9110"/>
            <p14:sldId id="10278"/>
            <p14:sldId id="11018"/>
            <p14:sldId id="10281"/>
            <p14:sldId id="8810"/>
            <p14:sldId id="8811"/>
            <p14:sldId id="8812"/>
            <p14:sldId id="9041"/>
            <p14:sldId id="9042"/>
            <p14:sldId id="10282"/>
            <p14:sldId id="9115"/>
            <p14:sldId id="9085"/>
            <p14:sldId id="8816"/>
            <p14:sldId id="11019"/>
            <p14:sldId id="7561"/>
            <p14:sldId id="10611"/>
            <p14:sldId id="10665"/>
            <p14:sldId id="10612"/>
            <p14:sldId id="7563"/>
            <p14:sldId id="7564"/>
            <p14:sldId id="9116"/>
            <p14:sldId id="10296"/>
            <p14:sldId id="10297"/>
            <p14:sldId id="7568"/>
            <p14:sldId id="11025"/>
            <p14:sldId id="10776"/>
            <p14:sldId id="11020"/>
            <p14:sldId id="10894"/>
            <p14:sldId id="11057"/>
            <p14:sldId id="10897"/>
            <p14:sldId id="3061"/>
            <p14:sldId id="6236"/>
            <p14:sldId id="3038"/>
            <p14:sldId id="11059"/>
            <p14:sldId id="11058"/>
            <p14:sldId id="6238"/>
            <p14:sldId id="6239"/>
            <p14:sldId id="6240"/>
            <p14:sldId id="6241"/>
            <p14:sldId id="10895"/>
            <p14:sldId id="10719"/>
            <p14:sldId id="6671"/>
            <p14:sldId id="6674"/>
            <p14:sldId id="6673"/>
            <p14:sldId id="4634"/>
            <p14:sldId id="6672"/>
            <p14:sldId id="9078"/>
            <p14:sldId id="9079"/>
            <p14:sldId id="9080"/>
            <p14:sldId id="6682"/>
            <p14:sldId id="11026"/>
            <p14:sldId id="10778"/>
            <p14:sldId id="11021"/>
            <p14:sldId id="10898"/>
            <p14:sldId id="3357"/>
            <p14:sldId id="8232"/>
            <p14:sldId id="8233"/>
            <p14:sldId id="8234"/>
            <p14:sldId id="3361"/>
            <p14:sldId id="3972"/>
            <p14:sldId id="6467"/>
            <p14:sldId id="6468"/>
            <p14:sldId id="6472"/>
            <p14:sldId id="6469"/>
            <p14:sldId id="6470"/>
            <p14:sldId id="6471"/>
            <p14:sldId id="6473"/>
            <p14:sldId id="6661"/>
            <p14:sldId id="6474"/>
            <p14:sldId id="6475"/>
            <p14:sldId id="6476"/>
            <p14:sldId id="6479"/>
            <p14:sldId id="10899"/>
            <p14:sldId id="11061"/>
            <p14:sldId id="10931"/>
            <p14:sldId id="11027"/>
          </p14:sldIdLst>
        </p14:section>
        <p14:section name="Policy search" id="{D65F9DCC-2D85-4849-95C7-F79CE871E060}">
          <p14:sldIdLst>
            <p14:sldId id="11038"/>
            <p14:sldId id="11067"/>
            <p14:sldId id="11081"/>
            <p14:sldId id="10407"/>
            <p14:sldId id="10380"/>
            <p14:sldId id="10546"/>
            <p14:sldId id="10381"/>
            <p14:sldId id="11082"/>
            <p14:sldId id="5581"/>
            <p14:sldId id="10568"/>
            <p14:sldId id="11062"/>
            <p14:sldId id="11063"/>
            <p14:sldId id="11064"/>
            <p14:sldId id="10382"/>
            <p14:sldId id="11083"/>
            <p14:sldId id="10642"/>
            <p14:sldId id="10732"/>
            <p14:sldId id="11065"/>
            <p14:sldId id="11084"/>
            <p14:sldId id="11044"/>
            <p14:sldId id="10252"/>
            <p14:sldId id="10548"/>
            <p14:sldId id="11085"/>
            <p14:sldId id="11075"/>
            <p14:sldId id="11077"/>
            <p14:sldId id="11080"/>
            <p14:sldId id="11066"/>
            <p14:sldId id="10973"/>
          </p14:sldIdLst>
        </p14:section>
        <p14:section name="Ending slide" id="{A38FE40B-7866-452A-AB51-D7C6AA82D48C}">
          <p14:sldIdLst/>
        </p14:section>
        <p14:section name="Untitled Section" id="{1B10CAED-9D60-4577-9174-6652579FD552}">
          <p14:sldIdLst/>
        </p14:section>
      </p14:sectionLst>
    </p:ex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956" userDrawn="1">
          <p15:clr>
            <a:srgbClr val="A4A3A4"/>
          </p15:clr>
        </p15:guide>
        <p15:guide id="2" pos="2237" userDrawn="1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DADAF6"/>
    <a:srgbClr val="92551A"/>
    <a:srgbClr val="4F1F14"/>
    <a:srgbClr val="3D2914"/>
    <a:srgbClr val="F5ECD6"/>
    <a:srgbClr val="EFF2FB"/>
    <a:srgbClr val="F2F2FC"/>
    <a:srgbClr val="800000"/>
    <a:srgbClr val="FFFFFF"/>
    <a:srgbClr val="007F7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011" autoAdjust="0"/>
    <p:restoredTop sz="94699" autoAdjust="0"/>
  </p:normalViewPr>
  <p:slideViewPr>
    <p:cSldViewPr snapToGrid="0">
      <p:cViewPr varScale="1">
        <p:scale>
          <a:sx n="73" d="100"/>
          <a:sy n="73" d="100"/>
        </p:scale>
        <p:origin x="883" y="72"/>
      </p:cViewPr>
      <p:guideLst>
        <p:guide orient="horz" pos="2160"/>
        <p:guide pos="384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sorterViewPr>
    <p:cViewPr varScale="1">
      <p:scale>
        <a:sx n="100" d="100"/>
        <a:sy n="100" d="100"/>
      </p:scale>
      <p:origin x="0" y="-40061"/>
    </p:cViewPr>
  </p:sorterViewPr>
  <p:notesViewPr>
    <p:cSldViewPr snapToGrid="0">
      <p:cViewPr varScale="1">
        <p:scale>
          <a:sx n="100" d="100"/>
          <a:sy n="100" d="100"/>
        </p:scale>
        <p:origin x="0" y="0"/>
      </p:cViewPr>
      <p:guideLst>
        <p:guide orient="horz" pos="2956"/>
        <p:guide pos="2237"/>
      </p:guideLst>
    </p:cSldViewPr>
  </p:notesViewPr>
  <p:gridSpacing cx="76200" cy="76200"/>
</p:viewPr>
</file>

<file path=ppt/_rels/presentation.xml.rels><?xml version="1.0" encoding="utf-8"?><Relationships xmlns="http://schemas.openxmlformats.org/package/2006/relationships"><Relationship Id="rId128" Type="http://schemas.openxmlformats.org/officeDocument/2006/relationships/slide" Target="slides/slide124.xml"/><Relationship Id="rId402" Type="http://schemas.openxmlformats.org/officeDocument/2006/relationships/font" Target="fonts/font11.fntdata"/><Relationship Id="rId139" Type="http://schemas.openxmlformats.org/officeDocument/2006/relationships/slide" Target="slides/slide135.xml"/><Relationship Id="rId150" Type="http://schemas.openxmlformats.org/officeDocument/2006/relationships/slide" Target="slides/slide146.xml"/><Relationship Id="rId399" Type="http://schemas.openxmlformats.org/officeDocument/2006/relationships/font" Target="fonts/font8.fntdata"/><Relationship Id="rId119" Type="http://schemas.openxmlformats.org/officeDocument/2006/relationships/slide" Target="slides/slide115.xml"/><Relationship Id="rId130" Type="http://schemas.openxmlformats.org/officeDocument/2006/relationships/slide" Target="slides/slide126.xml"/><Relationship Id="rId141" Type="http://schemas.openxmlformats.org/officeDocument/2006/relationships/slide" Target="slides/slide137.xml"/><Relationship Id="rId404" Type="http://schemas.openxmlformats.org/officeDocument/2006/relationships/font" Target="fonts/font13.fntdata"/><Relationship Id="rId152" Type="http://schemas.openxmlformats.org/officeDocument/2006/relationships/slide" Target="slides/slide148.xml"/><Relationship Id="rId121" Type="http://schemas.openxmlformats.org/officeDocument/2006/relationships/slide" Target="slides/slide117.xml"/><Relationship Id="rId132" Type="http://schemas.openxmlformats.org/officeDocument/2006/relationships/slide" Target="slides/slide128.xml"/><Relationship Id="rId143" Type="http://schemas.openxmlformats.org/officeDocument/2006/relationships/slide" Target="slides/slide139.xml"/><Relationship Id="rId406" Type="http://schemas.openxmlformats.org/officeDocument/2006/relationships/font" Target="fonts/font15.fntdata"/><Relationship Id="rId392" Type="http://schemas.openxmlformats.org/officeDocument/2006/relationships/font" Target="fonts/font1.fntdata"/><Relationship Id="rId154" Type="http://schemas.openxmlformats.org/officeDocument/2006/relationships/slide" Target="slides/slide150.xml"/><Relationship Id="rId123" Type="http://schemas.openxmlformats.org/officeDocument/2006/relationships/slide" Target="slides/slide119.xml"/><Relationship Id="rId134" Type="http://schemas.openxmlformats.org/officeDocument/2006/relationships/slide" Target="slides/slide130.xml"/><Relationship Id="rId155" Type="http://schemas.openxmlformats.org/officeDocument/2006/relationships/slide" Target="slides/slide151.xml"/><Relationship Id="rId124" Type="http://schemas.openxmlformats.org/officeDocument/2006/relationships/slide" Target="slides/slide120.xml"/><Relationship Id="rId145" Type="http://schemas.openxmlformats.org/officeDocument/2006/relationships/slide" Target="slides/slide141.xml"/><Relationship Id="rId394" Type="http://schemas.openxmlformats.org/officeDocument/2006/relationships/font" Target="fonts/font3.fntdata"/><Relationship Id="rId408" Type="http://schemas.openxmlformats.org/officeDocument/2006/relationships/font" Target="fonts/font17.fntdata"/><Relationship Id="rId1" Type="http://schemas.openxmlformats.org/officeDocument/2006/relationships/customXml" Target="../customXml/item1.xml"/><Relationship Id="rId135" Type="http://schemas.openxmlformats.org/officeDocument/2006/relationships/slide" Target="slides/slide131.xml"/><Relationship Id="rId156" Type="http://schemas.openxmlformats.org/officeDocument/2006/relationships/slide" Target="slides/slide152.xml"/><Relationship Id="rId125" Type="http://schemas.openxmlformats.org/officeDocument/2006/relationships/slide" Target="slides/slide121.xml"/><Relationship Id="rId146" Type="http://schemas.openxmlformats.org/officeDocument/2006/relationships/slide" Target="slides/slide142.xml"/><Relationship Id="rId395" Type="http://schemas.openxmlformats.org/officeDocument/2006/relationships/font" Target="fonts/font4.fntdata"/><Relationship Id="rId409" Type="http://schemas.openxmlformats.org/officeDocument/2006/relationships/presProps" Target="presProps.xml"/><Relationship Id="rId2" Type="http://schemas.openxmlformats.org/officeDocument/2006/relationships/customXml" Target="../customXml/item2.xml"/><Relationship Id="rId136" Type="http://schemas.openxmlformats.org/officeDocument/2006/relationships/slide" Target="slides/slide132.xml"/><Relationship Id="rId157" Type="http://schemas.openxmlformats.org/officeDocument/2006/relationships/slide" Target="slides/slide153.xml"/><Relationship Id="rId410" Type="http://schemas.openxmlformats.org/officeDocument/2006/relationships/viewProps" Target="viewProps.xml"/><Relationship Id="rId126" Type="http://schemas.openxmlformats.org/officeDocument/2006/relationships/slide" Target="slides/slide122.xml"/><Relationship Id="rId147" Type="http://schemas.openxmlformats.org/officeDocument/2006/relationships/slide" Target="slides/slide143.xml"/><Relationship Id="rId396" Type="http://schemas.openxmlformats.org/officeDocument/2006/relationships/font" Target="fonts/font5.fntdata"/><Relationship Id="rId3" Type="http://schemas.openxmlformats.org/officeDocument/2006/relationships/customXml" Target="../customXml/item3.xml"/><Relationship Id="rId400" Type="http://schemas.openxmlformats.org/officeDocument/2006/relationships/font" Target="fonts/font9.fntdata"/><Relationship Id="rId137" Type="http://schemas.openxmlformats.org/officeDocument/2006/relationships/slide" Target="slides/slide133.xml"/><Relationship Id="rId411" Type="http://schemas.openxmlformats.org/officeDocument/2006/relationships/theme" Target="theme/theme1.xml"/><Relationship Id="rId127" Type="http://schemas.openxmlformats.org/officeDocument/2006/relationships/slide" Target="slides/slide123.xml"/><Relationship Id="rId148" Type="http://schemas.openxmlformats.org/officeDocument/2006/relationships/slide" Target="slides/slide144.xml"/><Relationship Id="rId397" Type="http://schemas.openxmlformats.org/officeDocument/2006/relationships/font" Target="fonts/font6.fntdata"/><Relationship Id="rId4" Type="http://schemas.openxmlformats.org/officeDocument/2006/relationships/slideMaster" Target="slideMasters/slideMaster1.xml"/><Relationship Id="rId401" Type="http://schemas.openxmlformats.org/officeDocument/2006/relationships/font" Target="fonts/font10.fntdata"/><Relationship Id="rId138" Type="http://schemas.openxmlformats.org/officeDocument/2006/relationships/slide" Target="slides/slide134.xml"/><Relationship Id="rId412" Type="http://schemas.openxmlformats.org/officeDocument/2006/relationships/tableStyles" Target="tableStyles.xml"/><Relationship Id="rId149" Type="http://schemas.openxmlformats.org/officeDocument/2006/relationships/slide" Target="slides/slide145.xml"/><Relationship Id="rId398" Type="http://schemas.openxmlformats.org/officeDocument/2006/relationships/font" Target="fonts/font7.fntdata"/><Relationship Id="rId129" Type="http://schemas.openxmlformats.org/officeDocument/2006/relationships/slide" Target="slides/slide125.xml"/><Relationship Id="rId140" Type="http://schemas.openxmlformats.org/officeDocument/2006/relationships/slide" Target="slides/slide136.xml"/><Relationship Id="rId403" Type="http://schemas.openxmlformats.org/officeDocument/2006/relationships/font" Target="fonts/font12.fntdata"/><Relationship Id="rId151" Type="http://schemas.openxmlformats.org/officeDocument/2006/relationships/slide" Target="slides/slide147.xml"/><Relationship Id="rId120" Type="http://schemas.openxmlformats.org/officeDocument/2006/relationships/slide" Target="slides/slide116.xml"/><Relationship Id="rId131" Type="http://schemas.openxmlformats.org/officeDocument/2006/relationships/slide" Target="slides/slide127.xml"/><Relationship Id="rId142" Type="http://schemas.openxmlformats.org/officeDocument/2006/relationships/slide" Target="slides/slide138.xml"/><Relationship Id="rId391" Type="http://schemas.openxmlformats.org/officeDocument/2006/relationships/notesMaster" Target="notesMasters/notesMaster1.xml"/><Relationship Id="rId405" Type="http://schemas.openxmlformats.org/officeDocument/2006/relationships/font" Target="fonts/font14.fntdata"/><Relationship Id="rId153" Type="http://schemas.openxmlformats.org/officeDocument/2006/relationships/slide" Target="slides/slide149.xml"/><Relationship Id="rId122" Type="http://schemas.openxmlformats.org/officeDocument/2006/relationships/slide" Target="slides/slide118.xml"/><Relationship Id="rId133" Type="http://schemas.openxmlformats.org/officeDocument/2006/relationships/slide" Target="slides/slide129.xml"/><Relationship Id="rId144" Type="http://schemas.openxmlformats.org/officeDocument/2006/relationships/slide" Target="slides/slide140.xml"/><Relationship Id="rId393" Type="http://schemas.openxmlformats.org/officeDocument/2006/relationships/font" Target="fonts/font2.fntdata"/><Relationship Id="rId407" Type="http://schemas.openxmlformats.org/officeDocument/2006/relationships/font" Target="fonts/font16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1" y="2"/>
            <a:ext cx="3088836" cy="49519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8345" tIns="49160" rIns="98345" bIns="4916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3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R="0" lvl="1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marR="0" lvl="2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marR="0" lvl="3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marR="0" lvl="4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3985895" y="2"/>
            <a:ext cx="3088836" cy="49519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8345" tIns="49160" rIns="98345" bIns="49160" anchor="t" anchorCtr="0">
            <a:noAutofit/>
          </a:bodyPr>
          <a:lstStyle>
            <a:lvl1pPr marR="0" lvl="0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 sz="13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R="0" lvl="1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marR="0" lvl="2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marR="0" lvl="3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marR="0" lvl="4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496888" y="741363"/>
            <a:ext cx="6164262" cy="3467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miter lim="800000"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975668" y="4455180"/>
            <a:ext cx="5205090" cy="42052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8345" tIns="49160" rIns="98345" bIns="49160" anchor="t" anchorCtr="0">
            <a:noAutofit/>
          </a:bodyPr>
          <a:lstStyle>
            <a:lvl1pPr marL="457200" marR="0" lvl="0" indent="-228600" algn="l" rtl="0">
              <a:spcBef>
                <a:spcPts val="36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L="914400" marR="0" lvl="1" indent="-228600" algn="l" rtl="0">
              <a:spcBef>
                <a:spcPts val="36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marL="1371600" marR="0" lvl="2" indent="-228600" algn="l" rtl="0">
              <a:spcBef>
                <a:spcPts val="36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marL="1828800" marR="0" lvl="3" indent="-228600" algn="l" rtl="0">
              <a:spcBef>
                <a:spcPts val="36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marL="2286000" marR="0" lvl="4" indent="-228600" algn="l" rtl="0">
              <a:spcBef>
                <a:spcPts val="36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1" y="8907255"/>
            <a:ext cx="3088836" cy="4982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8345" tIns="49160" rIns="98345" bIns="49160" anchor="b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3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R="0" lvl="1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marR="0" lvl="2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marR="0" lvl="3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marR="0" lvl="4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3985895" y="8907255"/>
            <a:ext cx="3088836" cy="4982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8345" tIns="49160" rIns="98345" bIns="49160" anchor="b" anchorCtr="0">
            <a:noAutofit/>
          </a:bodyPr>
          <a:lstStyle/>
          <a:p>
            <a:pPr algn="r"/>
            <a:fld id="{00000000-1234-1234-1234-123412341234}" type="slidenum">
              <a:rPr lang="en-US" sz="1300" smtClean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pPr algn="r"/>
              <a:t>‹#›</a:t>
            </a:fld>
            <a:endParaRPr lang="en-US" sz="13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5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6.xml"/><Relationship Id="rId1" Type="http://schemas.openxmlformats.org/officeDocument/2006/relationships/notesMaster" Target="../notesMasters/notesMaster1.xml"/></Relationships>
</file>

<file path=ppt/notesSlides/_rels/notesSlide5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7.xml"/><Relationship Id="rId1" Type="http://schemas.openxmlformats.org/officeDocument/2006/relationships/notesMaster" Target="../notesMasters/notesMaster1.xml"/></Relationships>
</file>

<file path=ppt/notesSlides/_rels/notesSlide6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8.xml"/><Relationship Id="rId1" Type="http://schemas.openxmlformats.org/officeDocument/2006/relationships/notesMaster" Target="../notesMasters/notesMaster1.xml"/></Relationships>
</file>

<file path=ppt/notesSlides/_rels/notesSlide6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0.xml"/><Relationship Id="rId1" Type="http://schemas.openxmlformats.org/officeDocument/2006/relationships/notesMaster" Target="../notesMasters/notesMaster1.xml"/></Relationships>
</file>

<file path=ppt/notesSlides/_rels/notesSlide6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1.xml"/><Relationship Id="rId1" Type="http://schemas.openxmlformats.org/officeDocument/2006/relationships/notesMaster" Target="../notesMasters/notesMaster1.xml"/></Relationships>
</file>

<file path=ppt/notesSlides/_rels/notesSlide6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3.xml"/><Relationship Id="rId1" Type="http://schemas.openxmlformats.org/officeDocument/2006/relationships/notesMaster" Target="../notesMasters/notesMaster1.xml"/></Relationships>
</file>

<file path=ppt/notesSlides/_rels/notesSlide6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8.xml"/><Relationship Id="rId1" Type="http://schemas.openxmlformats.org/officeDocument/2006/relationships/notesMaster" Target="../notesMasters/notesMaster1.xml"/></Relationships>
</file>

<file path=ppt/notesSlides/_rels/notesSlide6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9.xml"/><Relationship Id="rId1" Type="http://schemas.openxmlformats.org/officeDocument/2006/relationships/notesMaster" Target="../notesMasters/notesMaster1.xml"/></Relationships>
</file>

<file path=ppt/notesSlides/_rels/notesSlide6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0.xml"/><Relationship Id="rId1" Type="http://schemas.openxmlformats.org/officeDocument/2006/relationships/notesMaster" Target="../notesMasters/notesMaster1.xml"/></Relationships>
</file>

<file path=ppt/notesSlides/_rels/notesSlide6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3.xml"/><Relationship Id="rId1" Type="http://schemas.openxmlformats.org/officeDocument/2006/relationships/notesMaster" Target="../notesMasters/notesMaster1.xml"/></Relationships>
</file>

<file path=ppt/notesSlides/_rels/notesSlide6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4.xml"/><Relationship Id="rId1" Type="http://schemas.openxmlformats.org/officeDocument/2006/relationships/notesMaster" Target="../notesMasters/notesMaster1.xml"/></Relationships>
</file>

<file path=ppt/notesSlides/_rels/notesSlide6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5.xml"/><Relationship Id="rId1" Type="http://schemas.openxmlformats.org/officeDocument/2006/relationships/notesMaster" Target="../notesMasters/notesMaster1.xml"/></Relationships>
</file>

<file path=ppt/notesSlides/_rels/notesSlide7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6.xml"/><Relationship Id="rId1" Type="http://schemas.openxmlformats.org/officeDocument/2006/relationships/notesMaster" Target="../notesMasters/notesMaster1.xml"/></Relationships>
</file>

<file path=ppt/notesSlides/_rels/notesSlide7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7.xml"/><Relationship Id="rId1" Type="http://schemas.openxmlformats.org/officeDocument/2006/relationships/notesMaster" Target="../notesMasters/notesMaster1.xml"/></Relationships>
</file>

<file path=ppt/notesSlides/_rels/notesSlide7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2.xml"/><Relationship Id="rId1" Type="http://schemas.openxmlformats.org/officeDocument/2006/relationships/notesMaster" Target="../notesMasters/notesMaster1.xml"/></Relationships>
</file>

<file path=ppt/notesSlides/notesSlide5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2">
          <a:extLst>
            <a:ext uri="{FF2B5EF4-FFF2-40B4-BE49-F238E27FC236}">
              <a16:creationId xmlns:a16="http://schemas.microsoft.com/office/drawing/2014/main" id="{57069451-7127-D001-33AA-B950F7ED900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3" name="Google Shape;243;p8:notes">
            <a:extLst>
              <a:ext uri="{FF2B5EF4-FFF2-40B4-BE49-F238E27FC236}">
                <a16:creationId xmlns:a16="http://schemas.microsoft.com/office/drawing/2014/main" id="{BF079331-126A-8BB2-9B8A-873E70D0A35B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975668" y="4455180"/>
            <a:ext cx="5205090" cy="4205254"/>
          </a:xfrm>
          <a:prstGeom prst="rect">
            <a:avLst/>
          </a:prstGeom>
        </p:spPr>
        <p:txBody>
          <a:bodyPr spcFirstLastPara="1" wrap="square" lIns="98345" tIns="49160" rIns="98345" bIns="49160" anchor="t" anchorCtr="0">
            <a:noAutofit/>
          </a:bodyPr>
          <a:lstStyle/>
          <a:p>
            <a:pPr marL="0" indent="0">
              <a:spcBef>
                <a:spcPts val="365"/>
              </a:spcBef>
            </a:pPr>
            <a:endParaRPr dirty="0"/>
          </a:p>
        </p:txBody>
      </p:sp>
      <p:sp>
        <p:nvSpPr>
          <p:cNvPr id="244" name="Google Shape;244;p8:notes">
            <a:extLst>
              <a:ext uri="{FF2B5EF4-FFF2-40B4-BE49-F238E27FC236}">
                <a16:creationId xmlns:a16="http://schemas.microsoft.com/office/drawing/2014/main" id="{98EE635D-8761-0F2A-8608-89066DA892CC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496888" y="741363"/>
            <a:ext cx="6164262" cy="3467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830789815"/>
      </p:ext>
    </p:extLst>
  </p:cSld>
  <p:clrMapOvr>
    <a:masterClrMapping/>
  </p:clrMapOvr>
</p:notes>
</file>

<file path=ppt/notesSlides/notesSlide5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2">
          <a:extLst>
            <a:ext uri="{FF2B5EF4-FFF2-40B4-BE49-F238E27FC236}">
              <a16:creationId xmlns:a16="http://schemas.microsoft.com/office/drawing/2014/main" id="{D0B17DA7-5ECE-B7DA-1E5D-305E838AC02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3" name="Google Shape;243;p8:notes">
            <a:extLst>
              <a:ext uri="{FF2B5EF4-FFF2-40B4-BE49-F238E27FC236}">
                <a16:creationId xmlns:a16="http://schemas.microsoft.com/office/drawing/2014/main" id="{2020C848-0D6C-0777-13A3-F888FC92B85B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975668" y="4455180"/>
            <a:ext cx="5205090" cy="4205254"/>
          </a:xfrm>
          <a:prstGeom prst="rect">
            <a:avLst/>
          </a:prstGeom>
        </p:spPr>
        <p:txBody>
          <a:bodyPr spcFirstLastPara="1" wrap="square" lIns="98345" tIns="49160" rIns="98345" bIns="49160" anchor="t" anchorCtr="0">
            <a:noAutofit/>
          </a:bodyPr>
          <a:lstStyle/>
          <a:p>
            <a:pPr marL="0" indent="0">
              <a:spcBef>
                <a:spcPts val="365"/>
              </a:spcBef>
            </a:pPr>
            <a:endParaRPr dirty="0"/>
          </a:p>
        </p:txBody>
      </p:sp>
      <p:sp>
        <p:nvSpPr>
          <p:cNvPr id="244" name="Google Shape;244;p8:notes">
            <a:extLst>
              <a:ext uri="{FF2B5EF4-FFF2-40B4-BE49-F238E27FC236}">
                <a16:creationId xmlns:a16="http://schemas.microsoft.com/office/drawing/2014/main" id="{A4798CA6-9D60-3B89-865E-166B2C9A70B9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496888" y="741363"/>
            <a:ext cx="6164262" cy="3467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66949223"/>
      </p:ext>
    </p:extLst>
  </p:cSld>
  <p:clrMapOvr>
    <a:masterClrMapping/>
  </p:clrMapOvr>
</p:notes>
</file>

<file path=ppt/notesSlides/notesSlide6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2">
          <a:extLst>
            <a:ext uri="{FF2B5EF4-FFF2-40B4-BE49-F238E27FC236}">
              <a16:creationId xmlns:a16="http://schemas.microsoft.com/office/drawing/2014/main" id="{86714FA1-784D-605C-D19A-1C14D5F78B4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3" name="Google Shape;243;p8:notes">
            <a:extLst>
              <a:ext uri="{FF2B5EF4-FFF2-40B4-BE49-F238E27FC236}">
                <a16:creationId xmlns:a16="http://schemas.microsoft.com/office/drawing/2014/main" id="{7B3211A2-BDC4-921D-6F70-614B591BD549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975668" y="4455180"/>
            <a:ext cx="5205090" cy="4205254"/>
          </a:xfrm>
          <a:prstGeom prst="rect">
            <a:avLst/>
          </a:prstGeom>
        </p:spPr>
        <p:txBody>
          <a:bodyPr spcFirstLastPara="1" wrap="square" lIns="98345" tIns="49160" rIns="98345" bIns="49160" anchor="t" anchorCtr="0">
            <a:noAutofit/>
          </a:bodyPr>
          <a:lstStyle/>
          <a:p>
            <a:pPr marL="0" indent="0">
              <a:spcBef>
                <a:spcPts val="365"/>
              </a:spcBef>
            </a:pPr>
            <a:endParaRPr dirty="0"/>
          </a:p>
        </p:txBody>
      </p:sp>
      <p:sp>
        <p:nvSpPr>
          <p:cNvPr id="244" name="Google Shape;244;p8:notes">
            <a:extLst>
              <a:ext uri="{FF2B5EF4-FFF2-40B4-BE49-F238E27FC236}">
                <a16:creationId xmlns:a16="http://schemas.microsoft.com/office/drawing/2014/main" id="{1C8F5839-BB15-9C57-7FA3-92F2218C58F5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496888" y="741363"/>
            <a:ext cx="6164262" cy="3467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440590818"/>
      </p:ext>
    </p:extLst>
  </p:cSld>
  <p:clrMapOvr>
    <a:masterClrMapping/>
  </p:clrMapOvr>
</p:notes>
</file>

<file path=ppt/notesSlides/notesSlide6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AD29C5B-AE14-7B3E-91BD-257CC1F5294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8082" name="Rectangle 7">
            <a:extLst>
              <a:ext uri="{FF2B5EF4-FFF2-40B4-BE49-F238E27FC236}">
                <a16:creationId xmlns:a16="http://schemas.microsoft.com/office/drawing/2014/main" id="{890BA63B-2F17-31F8-BFDC-2D69FF253983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 defTabSz="972554">
              <a:defRPr sz="2500">
                <a:solidFill>
                  <a:schemeClr val="tx1"/>
                </a:solidFill>
                <a:latin typeface="Times New Roman" pitchFamily="18" charset="0"/>
              </a:defRPr>
            </a:lvl1pPr>
            <a:lvl2pPr marL="776715" indent="-298736" defTabSz="972554">
              <a:defRPr sz="2500">
                <a:solidFill>
                  <a:schemeClr val="tx1"/>
                </a:solidFill>
                <a:latin typeface="Times New Roman" pitchFamily="18" charset="0"/>
              </a:defRPr>
            </a:lvl2pPr>
            <a:lvl3pPr marL="1194946" indent="-238989" defTabSz="972554">
              <a:defRPr sz="2500">
                <a:solidFill>
                  <a:schemeClr val="tx1"/>
                </a:solidFill>
                <a:latin typeface="Times New Roman" pitchFamily="18" charset="0"/>
              </a:defRPr>
            </a:lvl3pPr>
            <a:lvl4pPr marL="1672924" indent="-238989" defTabSz="972554">
              <a:defRPr sz="2500">
                <a:solidFill>
                  <a:schemeClr val="tx1"/>
                </a:solidFill>
                <a:latin typeface="Times New Roman" pitchFamily="18" charset="0"/>
              </a:defRPr>
            </a:lvl4pPr>
            <a:lvl5pPr marL="2150901" indent="-238989" defTabSz="972554">
              <a:defRPr sz="2500">
                <a:solidFill>
                  <a:schemeClr val="tx1"/>
                </a:solidFill>
                <a:latin typeface="Times New Roman" pitchFamily="18" charset="0"/>
              </a:defRPr>
            </a:lvl5pPr>
            <a:lvl6pPr marL="2628881" indent="-238989" defTabSz="972554" eaLnBrk="0" fontAlgn="base" hangingPunct="0">
              <a:spcBef>
                <a:spcPct val="0"/>
              </a:spcBef>
              <a:spcAft>
                <a:spcPct val="0"/>
              </a:spcAft>
              <a:defRPr sz="2500">
                <a:solidFill>
                  <a:schemeClr val="tx1"/>
                </a:solidFill>
                <a:latin typeface="Times New Roman" pitchFamily="18" charset="0"/>
              </a:defRPr>
            </a:lvl6pPr>
            <a:lvl7pPr marL="3106859" indent="-238989" defTabSz="972554" eaLnBrk="0" fontAlgn="base" hangingPunct="0">
              <a:spcBef>
                <a:spcPct val="0"/>
              </a:spcBef>
              <a:spcAft>
                <a:spcPct val="0"/>
              </a:spcAft>
              <a:defRPr sz="2500">
                <a:solidFill>
                  <a:schemeClr val="tx1"/>
                </a:solidFill>
                <a:latin typeface="Times New Roman" pitchFamily="18" charset="0"/>
              </a:defRPr>
            </a:lvl7pPr>
            <a:lvl8pPr marL="3584837" indent="-238989" defTabSz="972554" eaLnBrk="0" fontAlgn="base" hangingPunct="0">
              <a:spcBef>
                <a:spcPct val="0"/>
              </a:spcBef>
              <a:spcAft>
                <a:spcPct val="0"/>
              </a:spcAft>
              <a:defRPr sz="2500">
                <a:solidFill>
                  <a:schemeClr val="tx1"/>
                </a:solidFill>
                <a:latin typeface="Times New Roman" pitchFamily="18" charset="0"/>
              </a:defRPr>
            </a:lvl8pPr>
            <a:lvl9pPr marL="4062815" indent="-238989" defTabSz="972554" eaLnBrk="0" fontAlgn="base" hangingPunct="0">
              <a:spcBef>
                <a:spcPct val="0"/>
              </a:spcBef>
              <a:spcAft>
                <a:spcPct val="0"/>
              </a:spcAft>
              <a:defRPr sz="25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fld id="{AE097531-BEA5-48A9-9D07-68B46E6FA6A0}" type="slidenum">
              <a:rPr lang="en-US" sz="1300"/>
              <a:pPr/>
              <a:t>120</a:t>
            </a:fld>
            <a:endParaRPr lang="en-US" sz="1300"/>
          </a:p>
        </p:txBody>
      </p:sp>
      <p:sp>
        <p:nvSpPr>
          <p:cNvPr id="1198083" name="Rectangle 2">
            <a:extLst>
              <a:ext uri="{FF2B5EF4-FFF2-40B4-BE49-F238E27FC236}">
                <a16:creationId xmlns:a16="http://schemas.microsoft.com/office/drawing/2014/main" id="{63C71D5C-E2B2-4660-AF77-3FBBDDCC0174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539750" y="758825"/>
            <a:ext cx="6299200" cy="3544888"/>
          </a:xfrm>
          <a:ln/>
        </p:spPr>
      </p:sp>
      <p:sp>
        <p:nvSpPr>
          <p:cNvPr id="1198084" name="Rectangle 3">
            <a:extLst>
              <a:ext uri="{FF2B5EF4-FFF2-40B4-BE49-F238E27FC236}">
                <a16:creationId xmlns:a16="http://schemas.microsoft.com/office/drawing/2014/main" id="{0171C712-1312-BF8F-E079-3725864C127D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1004048" y="4556309"/>
            <a:ext cx="5361104" cy="4300537"/>
          </a:xfrm>
          <a:noFill/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15561321"/>
      </p:ext>
    </p:extLst>
  </p:cSld>
  <p:clrMapOvr>
    <a:masterClrMapping/>
  </p:clrMapOvr>
</p:notes>
</file>

<file path=ppt/notesSlides/notesSlide6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CD51CA8-8A8F-673B-17EC-80A0437C7C3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6322" name="Rectangle 7">
            <a:extLst>
              <a:ext uri="{FF2B5EF4-FFF2-40B4-BE49-F238E27FC236}">
                <a16:creationId xmlns:a16="http://schemas.microsoft.com/office/drawing/2014/main" id="{0AC4C258-1CCC-1FFE-4216-8446D530F183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 defTabSz="936347">
              <a:defRPr sz="2400">
                <a:solidFill>
                  <a:schemeClr val="tx1"/>
                </a:solidFill>
                <a:latin typeface="Times New Roman" pitchFamily="18" charset="0"/>
              </a:defRPr>
            </a:lvl1pPr>
            <a:lvl2pPr marL="747798" indent="-287615" defTabSz="936347">
              <a:defRPr sz="2400">
                <a:solidFill>
                  <a:schemeClr val="tx1"/>
                </a:solidFill>
                <a:latin typeface="Times New Roman" pitchFamily="18" charset="0"/>
              </a:defRPr>
            </a:lvl2pPr>
            <a:lvl3pPr marL="1150458" indent="-230091" defTabSz="936347"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10642" indent="-230091" defTabSz="936347"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070824" indent="-230091" defTabSz="936347">
              <a:defRPr sz="2400">
                <a:solidFill>
                  <a:schemeClr val="tx1"/>
                </a:solidFill>
                <a:latin typeface="Times New Roman" pitchFamily="18" charset="0"/>
              </a:defRPr>
            </a:lvl5pPr>
            <a:lvl6pPr marL="2531007" indent="-230091" defTabSz="936347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6pPr>
            <a:lvl7pPr marL="2991193" indent="-230091" defTabSz="936347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7pPr>
            <a:lvl8pPr marL="3451372" indent="-230091" defTabSz="936347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8pPr>
            <a:lvl9pPr marL="3911560" indent="-230091" defTabSz="936347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fld id="{E09B4027-4807-430D-9475-79E8E0CB46DC}" type="slidenum">
              <a:rPr lang="en-US" sz="1300"/>
              <a:pPr/>
              <a:t>121</a:t>
            </a:fld>
            <a:endParaRPr lang="en-US" sz="1300"/>
          </a:p>
        </p:txBody>
      </p:sp>
      <p:sp>
        <p:nvSpPr>
          <p:cNvPr id="696323" name="Rectangle 2">
            <a:extLst>
              <a:ext uri="{FF2B5EF4-FFF2-40B4-BE49-F238E27FC236}">
                <a16:creationId xmlns:a16="http://schemas.microsoft.com/office/drawing/2014/main" id="{5EBC97BE-EDFB-6D51-8E30-6A58A2F22465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96324" name="Rectangle 3">
            <a:extLst>
              <a:ext uri="{FF2B5EF4-FFF2-40B4-BE49-F238E27FC236}">
                <a16:creationId xmlns:a16="http://schemas.microsoft.com/office/drawing/2014/main" id="{8ECE0476-729A-FBF2-D3D9-06492A69DCF2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82390990"/>
      </p:ext>
    </p:extLst>
  </p:cSld>
  <p:clrMapOvr>
    <a:masterClrMapping/>
  </p:clrMapOvr>
</p:notes>
</file>

<file path=ppt/notesSlides/notesSlide6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8D2156E-2EBB-B0EA-FFE1-DE54995F21F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9DFF706-0193-48F8-7F01-71C758EB375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B97D835-A1CE-9EB4-0611-0E1CF689962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6C54337-51FE-70E7-B4F3-EABE95EFAE68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E13B538-08F2-440D-8A49-2A1102E22F53}" type="slidenum">
              <a:rPr lang="en-US" smtClean="0"/>
              <a:pPr/>
              <a:t>123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56078534"/>
      </p:ext>
    </p:extLst>
  </p:cSld>
  <p:clrMapOvr>
    <a:masterClrMapping/>
  </p:clrMapOvr>
</p:notes>
</file>

<file path=ppt/notesSlides/notesSlide6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2">
          <a:extLst>
            <a:ext uri="{FF2B5EF4-FFF2-40B4-BE49-F238E27FC236}">
              <a16:creationId xmlns:a16="http://schemas.microsoft.com/office/drawing/2014/main" id="{23D92F6C-12F3-CCCD-0BC5-86B8BE60AC3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3" name="Google Shape;243;p8:notes">
            <a:extLst>
              <a:ext uri="{FF2B5EF4-FFF2-40B4-BE49-F238E27FC236}">
                <a16:creationId xmlns:a16="http://schemas.microsoft.com/office/drawing/2014/main" id="{E0504462-FA89-3514-ECFE-D5AEB2621108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975668" y="4455180"/>
            <a:ext cx="5205090" cy="4205254"/>
          </a:xfrm>
          <a:prstGeom prst="rect">
            <a:avLst/>
          </a:prstGeom>
        </p:spPr>
        <p:txBody>
          <a:bodyPr spcFirstLastPara="1" wrap="square" lIns="98345" tIns="49160" rIns="98345" bIns="49160" anchor="t" anchorCtr="0">
            <a:noAutofit/>
          </a:bodyPr>
          <a:lstStyle/>
          <a:p>
            <a:pPr marL="0" indent="0">
              <a:spcBef>
                <a:spcPts val="365"/>
              </a:spcBef>
            </a:pPr>
            <a:endParaRPr dirty="0"/>
          </a:p>
        </p:txBody>
      </p:sp>
      <p:sp>
        <p:nvSpPr>
          <p:cNvPr id="244" name="Google Shape;244;p8:notes">
            <a:extLst>
              <a:ext uri="{FF2B5EF4-FFF2-40B4-BE49-F238E27FC236}">
                <a16:creationId xmlns:a16="http://schemas.microsoft.com/office/drawing/2014/main" id="{42659F01-2D67-D692-6015-DD34F8A400E0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496888" y="741363"/>
            <a:ext cx="6164262" cy="3467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982681739"/>
      </p:ext>
    </p:extLst>
  </p:cSld>
  <p:clrMapOvr>
    <a:masterClrMapping/>
  </p:clrMapOvr>
</p:notes>
</file>

<file path=ppt/notesSlides/notesSlide6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8706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968707" name="Rectangle 3"/>
          <p:cNvSpPr>
            <a:spLocks noGrp="1" noChangeArrowheads="1"/>
          </p:cNvSpPr>
          <p:nvPr>
            <p:ph type="body" idx="1"/>
          </p:nvPr>
        </p:nvSpPr>
        <p:spPr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 type="none" w="lg" len="lg"/>
                <a:tailEnd type="none" w="med" len="lg"/>
              </a14:hiddenLine>
            </a:ext>
          </a:extLst>
        </p:spPr>
        <p:txBody>
          <a:bodyPr/>
          <a:lstStyle/>
          <a:p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178775345"/>
      </p:ext>
    </p:extLst>
  </p:cSld>
  <p:clrMapOvr>
    <a:masterClrMapping/>
  </p:clrMapOvr>
</p:notes>
</file>

<file path=ppt/notesSlides/notesSlide6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E49D32B-3A79-71D7-BAC8-46D61F3965C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8706" name="Rectangle 2">
            <a:extLst>
              <a:ext uri="{FF2B5EF4-FFF2-40B4-BE49-F238E27FC236}">
                <a16:creationId xmlns:a16="http://schemas.microsoft.com/office/drawing/2014/main" id="{B06E3E41-FCD4-BD13-2FD8-F38336A47343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968707" name="Rectangle 3">
            <a:extLst>
              <a:ext uri="{FF2B5EF4-FFF2-40B4-BE49-F238E27FC236}">
                <a16:creationId xmlns:a16="http://schemas.microsoft.com/office/drawing/2014/main" id="{EDCCA8D4-7258-C814-5FC1-B5F9C5B4894E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 type="none" w="lg" len="lg"/>
                <a:tailEnd type="none" w="med" len="lg"/>
              </a14:hiddenLine>
            </a:ext>
          </a:extLst>
        </p:spPr>
        <p:txBody>
          <a:bodyPr/>
          <a:lstStyle/>
          <a:p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649059968"/>
      </p:ext>
    </p:extLst>
  </p:cSld>
  <p:clrMapOvr>
    <a:masterClrMapping/>
  </p:clrMapOvr>
</p:notes>
</file>

<file path=ppt/notesSlides/notesSlide6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2802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972803" name="Rectangle 3"/>
          <p:cNvSpPr>
            <a:spLocks noGrp="1" noChangeArrowheads="1"/>
          </p:cNvSpPr>
          <p:nvPr>
            <p:ph type="body" idx="1"/>
          </p:nvPr>
        </p:nvSpPr>
        <p:spPr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 type="none" w="lg" len="lg"/>
                <a:tailEnd type="none" w="med" len="lg"/>
              </a14:hiddenLine>
            </a:ext>
          </a:extLst>
        </p:spPr>
        <p:txBody>
          <a:bodyPr/>
          <a:lstStyle/>
          <a:p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479256944"/>
      </p:ext>
    </p:extLst>
  </p:cSld>
  <p:clrMapOvr>
    <a:masterClrMapping/>
  </p:clrMapOvr>
</p:notes>
</file>

<file path=ppt/notesSlides/notesSlide6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6898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976899" name="Rectangle 3"/>
          <p:cNvSpPr>
            <a:spLocks noGrp="1" noChangeArrowheads="1"/>
          </p:cNvSpPr>
          <p:nvPr>
            <p:ph type="body" idx="1"/>
          </p:nvPr>
        </p:nvSpPr>
        <p:spPr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 type="none" w="lg" len="lg"/>
                <a:tailEnd type="none" w="med" len="lg"/>
              </a14:hiddenLine>
            </a:ext>
          </a:extLst>
        </p:spPr>
        <p:txBody>
          <a:bodyPr/>
          <a:lstStyle/>
          <a:p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603405470"/>
      </p:ext>
    </p:extLst>
  </p:cSld>
  <p:clrMapOvr>
    <a:masterClrMapping/>
  </p:clrMapOvr>
</p:notes>
</file>

<file path=ppt/notesSlides/notesSlide6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8946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458788" y="720725"/>
            <a:ext cx="6400800" cy="3600450"/>
          </a:xfrm>
          <a:ln/>
        </p:spPr>
      </p:sp>
      <p:sp>
        <p:nvSpPr>
          <p:cNvPr id="97894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731839" y="4560889"/>
            <a:ext cx="5851525" cy="4319587"/>
          </a:xfrm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 type="none" w="lg" len="lg"/>
                <a:tailEnd type="none" w="med" len="lg"/>
              </a14:hiddenLine>
            </a:ext>
          </a:extLst>
        </p:spPr>
        <p:txBody>
          <a:bodyPr/>
          <a:lstStyle/>
          <a:p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041617118"/>
      </p:ext>
    </p:extLst>
  </p:cSld>
  <p:clrMapOvr>
    <a:masterClrMapping/>
  </p:clrMapOvr>
</p:notes>
</file>

<file path=ppt/notesSlides/notesSlide7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099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458788" y="720725"/>
            <a:ext cx="6400800" cy="3600450"/>
          </a:xfrm>
          <a:ln/>
        </p:spPr>
      </p:sp>
      <p:sp>
        <p:nvSpPr>
          <p:cNvPr id="98099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731839" y="4560889"/>
            <a:ext cx="5851525" cy="4319587"/>
          </a:xfrm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 type="none" w="lg" len="lg"/>
                <a:tailEnd type="none" w="med" len="lg"/>
              </a14:hiddenLine>
            </a:ext>
          </a:extLst>
        </p:spPr>
        <p:txBody>
          <a:bodyPr/>
          <a:lstStyle/>
          <a:p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086201239"/>
      </p:ext>
    </p:extLst>
  </p:cSld>
  <p:clrMapOvr>
    <a:masterClrMapping/>
  </p:clrMapOvr>
</p:notes>
</file>

<file path=ppt/notesSlides/notesSlide7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2">
          <a:extLst>
            <a:ext uri="{FF2B5EF4-FFF2-40B4-BE49-F238E27FC236}">
              <a16:creationId xmlns:a16="http://schemas.microsoft.com/office/drawing/2014/main" id="{2B68B3BF-AB30-5634-940E-38D9C533029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3" name="Google Shape;243;p8:notes">
            <a:extLst>
              <a:ext uri="{FF2B5EF4-FFF2-40B4-BE49-F238E27FC236}">
                <a16:creationId xmlns:a16="http://schemas.microsoft.com/office/drawing/2014/main" id="{DC2AE301-A7C4-7DE3-4681-92AA8A13E43A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975668" y="4455180"/>
            <a:ext cx="5205090" cy="4205254"/>
          </a:xfrm>
          <a:prstGeom prst="rect">
            <a:avLst/>
          </a:prstGeom>
        </p:spPr>
        <p:txBody>
          <a:bodyPr spcFirstLastPara="1" wrap="square" lIns="98345" tIns="49160" rIns="98345" bIns="49160" anchor="t" anchorCtr="0">
            <a:noAutofit/>
          </a:bodyPr>
          <a:lstStyle/>
          <a:p>
            <a:pPr marL="0" indent="0">
              <a:spcBef>
                <a:spcPts val="365"/>
              </a:spcBef>
            </a:pPr>
            <a:endParaRPr dirty="0"/>
          </a:p>
        </p:txBody>
      </p:sp>
      <p:sp>
        <p:nvSpPr>
          <p:cNvPr id="244" name="Google Shape;244;p8:notes">
            <a:extLst>
              <a:ext uri="{FF2B5EF4-FFF2-40B4-BE49-F238E27FC236}">
                <a16:creationId xmlns:a16="http://schemas.microsoft.com/office/drawing/2014/main" id="{CC2C640A-D0BC-8697-53EA-7413777EC7BE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496888" y="741363"/>
            <a:ext cx="6164262" cy="3467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529213689"/>
      </p:ext>
    </p:extLst>
  </p:cSld>
  <p:clrMapOvr>
    <a:masterClrMapping/>
  </p:clrMapOvr>
</p:notes>
</file>

<file path=ppt/notesSlides/notesSlide7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algn="r"/>
            <a:fld id="{00000000-1234-1234-1234-123412341234}" type="slidenum">
              <a:rPr lang="en-US" sz="1300" smtClean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pPr algn="r"/>
              <a:t>152</a:t>
            </a:fld>
            <a:endParaRPr lang="en-US" sz="13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173918362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bg>
      <p:bgPr>
        <a:solidFill>
          <a:srgbClr val="FFFFFF"/>
        </a:solidFill>
        <a:effectLst/>
      </p:bgPr>
    </p:bg>
    <p:spTree>
      <p:nvGrpSpPr>
        <p:cNvPr id="1" name="Shape 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Google Shape;13;p2"/>
          <p:cNvSpPr txBox="1">
            <a:spLocks noGrp="1"/>
          </p:cNvSpPr>
          <p:nvPr>
            <p:ph type="ctrTitle"/>
          </p:nvPr>
        </p:nvSpPr>
        <p:spPr>
          <a:xfrm>
            <a:off x="914400" y="2130426"/>
            <a:ext cx="10363200" cy="1470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4" name="Google Shape;14;p2"/>
          <p:cNvSpPr txBox="1"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ctr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240"/>
              <a:buFont typeface="Times New Roman"/>
              <a:buNone/>
              <a:defRPr/>
            </a:lvl1pPr>
            <a:lvl2pPr lvl="1" algn="ctr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 New Roman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None/>
              <a:defRPr/>
            </a:lvl9pPr>
          </a:lstStyle>
          <a:p>
            <a:endParaRPr/>
          </a:p>
        </p:txBody>
      </p:sp>
      <p:sp>
        <p:nvSpPr>
          <p:cNvPr id="15" name="Google Shape;15;p2"/>
          <p:cNvSpPr txBox="1">
            <a:spLocks noGrp="1"/>
          </p:cNvSpPr>
          <p:nvPr>
            <p:ph type="dt" idx="10"/>
          </p:nvPr>
        </p:nvSpPr>
        <p:spPr>
          <a:xfrm>
            <a:off x="914400" y="6534150"/>
            <a:ext cx="25400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R="0" lvl="1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marR="0" lvl="2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marR="0" lvl="3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marR="0" lvl="4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endParaRPr/>
          </a:p>
        </p:txBody>
      </p:sp>
      <p:sp>
        <p:nvSpPr>
          <p:cNvPr id="16" name="Google Shape;16;p2"/>
          <p:cNvSpPr txBox="1">
            <a:spLocks noGrp="1"/>
          </p:cNvSpPr>
          <p:nvPr>
            <p:ph type="ftr" idx="11"/>
          </p:nvPr>
        </p:nvSpPr>
        <p:spPr>
          <a:xfrm>
            <a:off x="4165600" y="6553200"/>
            <a:ext cx="3860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R="0" lvl="1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marR="0" lvl="2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marR="0" lvl="3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marR="0" lvl="4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endParaRPr/>
          </a:p>
        </p:txBody>
      </p:sp>
      <p:sp>
        <p:nvSpPr>
          <p:cNvPr id="17" name="Google Shape;17;p2"/>
          <p:cNvSpPr txBox="1">
            <a:spLocks noGrp="1"/>
          </p:cNvSpPr>
          <p:nvPr>
            <p:ph type="sldNum" idx="12"/>
          </p:nvPr>
        </p:nvSpPr>
        <p:spPr>
          <a:xfrm>
            <a:off x="8737600" y="6534150"/>
            <a:ext cx="25400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marR="0" lvl="0" indent="0" algn="ctr" rtl="0">
              <a:spcBef>
                <a:spcPts val="0"/>
              </a:spcBef>
              <a:spcAft>
                <a:spcPts val="0"/>
              </a:spcAft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L="0" marR="0" lvl="1" indent="0" algn="ctr" rtl="0">
              <a:spcBef>
                <a:spcPts val="0"/>
              </a:spcBef>
              <a:spcAft>
                <a:spcPts val="0"/>
              </a:spcAft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marL="0" marR="0" lvl="2" indent="0" algn="ctr" rtl="0">
              <a:spcBef>
                <a:spcPts val="0"/>
              </a:spcBef>
              <a:spcAft>
                <a:spcPts val="0"/>
              </a:spcAft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marL="0" marR="0" lvl="3" indent="0" algn="ctr" rtl="0">
              <a:spcBef>
                <a:spcPts val="0"/>
              </a:spcBef>
              <a:spcAft>
                <a:spcPts val="0"/>
              </a:spcAft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marL="0" marR="0" lvl="4" indent="0" algn="ctr" rtl="0">
              <a:spcBef>
                <a:spcPts val="0"/>
              </a:spcBef>
              <a:spcAft>
                <a:spcPts val="0"/>
              </a:spcAft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marL="0" marR="0" lvl="5" indent="0" algn="ctr" rtl="0">
              <a:spcBef>
                <a:spcPts val="0"/>
              </a:spcBef>
              <a:spcAft>
                <a:spcPts val="0"/>
              </a:spcAft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marL="0" marR="0" lvl="6" indent="0" algn="ctr" rtl="0">
              <a:spcBef>
                <a:spcPts val="0"/>
              </a:spcBef>
              <a:spcAft>
                <a:spcPts val="0"/>
              </a:spcAft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marL="0" marR="0" lvl="7" indent="0" algn="ctr" rtl="0">
              <a:spcBef>
                <a:spcPts val="0"/>
              </a:spcBef>
              <a:spcAft>
                <a:spcPts val="0"/>
              </a:spcAft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marL="0" marR="0" lvl="8" indent="0" algn="ctr" rtl="0">
              <a:spcBef>
                <a:spcPts val="0"/>
              </a:spcBef>
              <a:spcAft>
                <a:spcPts val="0"/>
              </a:spcAft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Slide </a:t>
            </a: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bg>
      <p:bgPr>
        <a:solidFill>
          <a:schemeClr val="lt1"/>
        </a:solidFill>
        <a:effectLst/>
      </p:bgPr>
    </p:bg>
    <p:spTree>
      <p:nvGrpSpPr>
        <p:cNvPr id="1" name="Shape 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Google Shape;19;p3"/>
          <p:cNvSpPr txBox="1">
            <a:spLocks noGrp="1"/>
          </p:cNvSpPr>
          <p:nvPr>
            <p:ph type="title"/>
          </p:nvPr>
        </p:nvSpPr>
        <p:spPr>
          <a:xfrm>
            <a:off x="2021700" y="353850"/>
            <a:ext cx="8283900" cy="550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300"/>
              <a:buFont typeface="Oswald"/>
              <a:buNone/>
              <a:defRPr sz="3300">
                <a:latin typeface="Oswald"/>
                <a:ea typeface="Oswald"/>
                <a:cs typeface="Oswald"/>
                <a:sym typeface="Oswald"/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Font typeface="Raleway"/>
              <a:buNone/>
              <a:defRPr>
                <a:latin typeface="Raleway"/>
                <a:ea typeface="Raleway"/>
                <a:cs typeface="Raleway"/>
                <a:sym typeface="Raleway"/>
              </a:defRPr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Font typeface="Raleway"/>
              <a:buNone/>
              <a:defRPr>
                <a:latin typeface="Raleway"/>
                <a:ea typeface="Raleway"/>
                <a:cs typeface="Raleway"/>
                <a:sym typeface="Raleway"/>
              </a:defRPr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Font typeface="Raleway"/>
              <a:buNone/>
              <a:defRPr>
                <a:latin typeface="Raleway"/>
                <a:ea typeface="Raleway"/>
                <a:cs typeface="Raleway"/>
                <a:sym typeface="Raleway"/>
              </a:defRPr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Font typeface="Raleway"/>
              <a:buNone/>
              <a:defRPr>
                <a:latin typeface="Raleway"/>
                <a:ea typeface="Raleway"/>
                <a:cs typeface="Raleway"/>
                <a:sym typeface="Raleway"/>
              </a:defRPr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Font typeface="Raleway"/>
              <a:buNone/>
              <a:defRPr>
                <a:latin typeface="Raleway"/>
                <a:ea typeface="Raleway"/>
                <a:cs typeface="Raleway"/>
                <a:sym typeface="Raleway"/>
              </a:defRPr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Font typeface="Raleway"/>
              <a:buNone/>
              <a:defRPr>
                <a:latin typeface="Raleway"/>
                <a:ea typeface="Raleway"/>
                <a:cs typeface="Raleway"/>
                <a:sym typeface="Raleway"/>
              </a:defRPr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Font typeface="Raleway"/>
              <a:buNone/>
              <a:defRPr>
                <a:latin typeface="Raleway"/>
                <a:ea typeface="Raleway"/>
                <a:cs typeface="Raleway"/>
                <a:sym typeface="Raleway"/>
              </a:defRPr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Font typeface="Raleway"/>
              <a:buNone/>
              <a:defRPr>
                <a:latin typeface="Raleway"/>
                <a:ea typeface="Raleway"/>
                <a:cs typeface="Raleway"/>
                <a:sym typeface="Raleway"/>
              </a:defRPr>
            </a:lvl9pPr>
          </a:lstStyle>
          <a:p>
            <a:endParaRPr/>
          </a:p>
        </p:txBody>
      </p:sp>
      <p:sp>
        <p:nvSpPr>
          <p:cNvPr id="20" name="Google Shape;20;p3"/>
          <p:cNvSpPr txBox="1">
            <a:spLocks noGrp="1"/>
          </p:cNvSpPr>
          <p:nvPr>
            <p:ph type="body" idx="1"/>
          </p:nvPr>
        </p:nvSpPr>
        <p:spPr>
          <a:xfrm>
            <a:off x="630092" y="1279489"/>
            <a:ext cx="10363200" cy="440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7084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240"/>
              <a:buFont typeface="Raleway"/>
              <a:buChar char="•"/>
              <a:defRPr>
                <a:latin typeface="Raleway"/>
                <a:ea typeface="Raleway"/>
                <a:cs typeface="Raleway"/>
                <a:sym typeface="Raleway"/>
              </a:defRPr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aleway"/>
              <a:buChar char="»"/>
              <a:defRPr>
                <a:latin typeface="Raleway"/>
                <a:ea typeface="Raleway"/>
                <a:cs typeface="Raleway"/>
                <a:sym typeface="Raleway"/>
              </a:defRPr>
            </a:lvl2pPr>
            <a:lvl3pPr marL="1371600" lvl="2" indent="-34290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aleway"/>
              <a:buChar char="•"/>
              <a:defRPr>
                <a:latin typeface="Raleway"/>
                <a:ea typeface="Raleway"/>
                <a:cs typeface="Raleway"/>
                <a:sym typeface="Raleway"/>
              </a:defRPr>
            </a:lvl3pPr>
            <a:lvl4pPr marL="1828800" lvl="3" indent="-34290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aleway"/>
              <a:buChar char="–"/>
              <a:defRPr>
                <a:latin typeface="Raleway"/>
                <a:ea typeface="Raleway"/>
                <a:cs typeface="Raleway"/>
                <a:sym typeface="Raleway"/>
              </a:defRPr>
            </a:lvl4pPr>
            <a:lvl5pPr marL="2286000" lvl="4" indent="-34290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aleway"/>
              <a:buChar char="»"/>
              <a:defRPr>
                <a:latin typeface="Raleway"/>
                <a:ea typeface="Raleway"/>
                <a:cs typeface="Raleway"/>
                <a:sym typeface="Raleway"/>
              </a:defRPr>
            </a:lvl5pPr>
            <a:lvl6pPr marL="2743200" lvl="5" indent="-34290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aleway"/>
              <a:buChar char="»"/>
              <a:defRPr>
                <a:latin typeface="Raleway"/>
                <a:ea typeface="Raleway"/>
                <a:cs typeface="Raleway"/>
                <a:sym typeface="Raleway"/>
              </a:defRPr>
            </a:lvl6pPr>
            <a:lvl7pPr marL="3200400" lvl="6" indent="-34290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aleway"/>
              <a:buChar char="»"/>
              <a:defRPr>
                <a:latin typeface="Raleway"/>
                <a:ea typeface="Raleway"/>
                <a:cs typeface="Raleway"/>
                <a:sym typeface="Raleway"/>
              </a:defRPr>
            </a:lvl7pPr>
            <a:lvl8pPr marL="3657600" lvl="7" indent="-34290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aleway"/>
              <a:buChar char="»"/>
              <a:defRPr>
                <a:latin typeface="Raleway"/>
                <a:ea typeface="Raleway"/>
                <a:cs typeface="Raleway"/>
                <a:sym typeface="Raleway"/>
              </a:defRPr>
            </a:lvl8pPr>
            <a:lvl9pPr marL="4114800" lvl="8" indent="-34290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aleway"/>
              <a:buChar char="»"/>
              <a:defRPr>
                <a:latin typeface="Raleway"/>
                <a:ea typeface="Raleway"/>
                <a:cs typeface="Raleway"/>
                <a:sym typeface="Raleway"/>
              </a:defRPr>
            </a:lvl9pPr>
          </a:lstStyle>
          <a:p>
            <a:endParaRPr/>
          </a:p>
        </p:txBody>
      </p:sp>
      <p:sp>
        <p:nvSpPr>
          <p:cNvPr id="22" name="Google Shape;22;p3"/>
          <p:cNvSpPr/>
          <p:nvPr/>
        </p:nvSpPr>
        <p:spPr>
          <a:xfrm>
            <a:off x="0" y="977750"/>
            <a:ext cx="3772862" cy="59595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solidFill>
              <a:srgbClr val="006699"/>
            </a:solidFill>
          </a:ln>
        </p:spPr>
        <p:txBody>
          <a:bodyPr spcFirstLastPara="1" wrap="square" lIns="45700" tIns="45700" rIns="45700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600"/>
              <a:buFont typeface="Raleway"/>
              <a:buNone/>
            </a:pPr>
            <a:endParaRPr sz="3000" b="0" i="0" u="none" strike="noStrike" cap="none">
              <a:solidFill>
                <a:srgbClr val="FFFFFF"/>
              </a:solidFill>
              <a:latin typeface="Raleway"/>
              <a:ea typeface="Raleway"/>
              <a:cs typeface="Raleway"/>
              <a:sym typeface="Raleway"/>
            </a:endParaRP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solidFill>
          <a:schemeClr val="bg1"/>
        </a:solidFill>
        <a:effectLst/>
      </p:bgPr>
    </p:bg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4"/>
          <p:cNvSpPr txBox="1">
            <a:spLocks noGrp="1"/>
          </p:cNvSpPr>
          <p:nvPr>
            <p:ph type="dt" idx="10"/>
          </p:nvPr>
        </p:nvSpPr>
        <p:spPr>
          <a:xfrm>
            <a:off x="914400" y="6534150"/>
            <a:ext cx="25400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i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R="0" lvl="1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marR="0" lvl="2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marR="0" lvl="3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marR="0" lvl="4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endParaRPr/>
          </a:p>
        </p:txBody>
      </p:sp>
      <p:sp>
        <p:nvSpPr>
          <p:cNvPr id="27" name="Google Shape;27;p4"/>
          <p:cNvSpPr txBox="1">
            <a:spLocks noGrp="1"/>
          </p:cNvSpPr>
          <p:nvPr>
            <p:ph type="ftr" idx="11"/>
          </p:nvPr>
        </p:nvSpPr>
        <p:spPr>
          <a:xfrm>
            <a:off x="4165600" y="6553200"/>
            <a:ext cx="3860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i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R="0" lvl="1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marR="0" lvl="2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marR="0" lvl="3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marR="0" lvl="4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endParaRPr/>
          </a:p>
        </p:txBody>
      </p:sp>
      <p:sp>
        <p:nvSpPr>
          <p:cNvPr id="28" name="Google Shape;28;p4"/>
          <p:cNvSpPr txBox="1">
            <a:spLocks noGrp="1"/>
          </p:cNvSpPr>
          <p:nvPr>
            <p:ph type="sldNum" idx="12"/>
          </p:nvPr>
        </p:nvSpPr>
        <p:spPr>
          <a:xfrm>
            <a:off x="8737600" y="6534150"/>
            <a:ext cx="25400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marR="0" lvl="0" indent="0" algn="ctr" rtl="0">
              <a:spcBef>
                <a:spcPts val="0"/>
              </a:spcBef>
              <a:spcAft>
                <a:spcPts val="0"/>
              </a:spcAft>
              <a:buNone/>
              <a:defRPr sz="1800" i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L="0" marR="0" lvl="1" indent="0" algn="ctr" rtl="0">
              <a:spcBef>
                <a:spcPts val="0"/>
              </a:spcBef>
              <a:spcAft>
                <a:spcPts val="0"/>
              </a:spcAft>
              <a:buNone/>
              <a:defRPr sz="1800" i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marL="0" marR="0" lvl="2" indent="0" algn="ctr" rtl="0">
              <a:spcBef>
                <a:spcPts val="0"/>
              </a:spcBef>
              <a:spcAft>
                <a:spcPts val="0"/>
              </a:spcAft>
              <a:buNone/>
              <a:defRPr sz="1800" i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marL="0" marR="0" lvl="3" indent="0" algn="ctr" rtl="0">
              <a:spcBef>
                <a:spcPts val="0"/>
              </a:spcBef>
              <a:spcAft>
                <a:spcPts val="0"/>
              </a:spcAft>
              <a:buNone/>
              <a:defRPr sz="1800" i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marL="0" marR="0" lvl="4" indent="0" algn="ctr" rtl="0">
              <a:spcBef>
                <a:spcPts val="0"/>
              </a:spcBef>
              <a:spcAft>
                <a:spcPts val="0"/>
              </a:spcAft>
              <a:buNone/>
              <a:defRPr sz="1800" i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marL="0" marR="0" lvl="5" indent="0" algn="ctr" rtl="0">
              <a:spcBef>
                <a:spcPts val="0"/>
              </a:spcBef>
              <a:spcAft>
                <a:spcPts val="0"/>
              </a:spcAft>
              <a:buNone/>
              <a:defRPr sz="1800" i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marL="0" marR="0" lvl="6" indent="0" algn="ctr" rtl="0">
              <a:spcBef>
                <a:spcPts val="0"/>
              </a:spcBef>
              <a:spcAft>
                <a:spcPts val="0"/>
              </a:spcAft>
              <a:buNone/>
              <a:defRPr sz="1800" i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marL="0" marR="0" lvl="7" indent="0" algn="ctr" rtl="0">
              <a:spcBef>
                <a:spcPts val="0"/>
              </a:spcBef>
              <a:spcAft>
                <a:spcPts val="0"/>
              </a:spcAft>
              <a:buNone/>
              <a:defRPr sz="1800" i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marL="0" marR="0" lvl="8" indent="0" algn="ctr" rtl="0">
              <a:spcBef>
                <a:spcPts val="0"/>
              </a:spcBef>
              <a:spcAft>
                <a:spcPts val="0"/>
              </a:spcAft>
              <a:buNone/>
              <a:defRPr sz="1800" i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Slide </a:t>
            </a: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5" name="Google Shape;22;p3">
            <a:extLst>
              <a:ext uri="{FF2B5EF4-FFF2-40B4-BE49-F238E27FC236}">
                <a16:creationId xmlns:a16="http://schemas.microsoft.com/office/drawing/2014/main" id="{58B34863-E096-4468-B3E2-0513B8E89889}"/>
              </a:ext>
            </a:extLst>
          </p:cNvPr>
          <p:cNvSpPr/>
          <p:nvPr userDrawn="1"/>
        </p:nvSpPr>
        <p:spPr>
          <a:xfrm>
            <a:off x="0" y="977750"/>
            <a:ext cx="3772862" cy="59595"/>
          </a:xfrm>
          <a:prstGeom prst="rect">
            <a:avLst/>
          </a:prstGeom>
          <a:solidFill>
            <a:srgbClr val="006699"/>
          </a:solidFill>
          <a:ln>
            <a:solidFill>
              <a:srgbClr val="006699"/>
            </a:solidFill>
          </a:ln>
        </p:spPr>
        <p:txBody>
          <a:bodyPr spcFirstLastPara="1" wrap="square" lIns="45700" tIns="45700" rIns="45700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600"/>
              <a:buFont typeface="Raleway"/>
              <a:buNone/>
            </a:pPr>
            <a:endParaRPr sz="3000" b="0" i="0" u="none" strike="noStrike" cap="none">
              <a:solidFill>
                <a:srgbClr val="FFFFFF"/>
              </a:solidFill>
              <a:latin typeface="Raleway"/>
              <a:ea typeface="Raleway"/>
              <a:cs typeface="Raleway"/>
              <a:sym typeface="Raleway"/>
            </a:endParaRP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bg>
      <p:bgPr>
        <a:solidFill>
          <a:schemeClr val="bg1"/>
        </a:solidFill>
        <a:effectLst/>
      </p:bgPr>
    </p:bg>
    <p:spTree>
      <p:nvGrpSpPr>
        <p:cNvPr id="1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5"/>
          <p:cNvSpPr txBox="1">
            <a:spLocks noGrp="1"/>
          </p:cNvSpPr>
          <p:nvPr>
            <p:ph type="title"/>
          </p:nvPr>
        </p:nvSpPr>
        <p:spPr>
          <a:xfrm>
            <a:off x="963084" y="4406901"/>
            <a:ext cx="10363200" cy="1362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4000" b="1" cap="none"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" name="Google Shape;31;p5"/>
          <p:cNvSpPr txBox="1"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457200" lvl="0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Times New Roman"/>
              <a:buNone/>
              <a:defRPr sz="2000"/>
            </a:lvl1pPr>
            <a:lvl2pPr marL="914400" lvl="1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imes New Roman"/>
              <a:buNone/>
              <a:defRPr sz="1800"/>
            </a:lvl2pPr>
            <a:lvl3pPr marL="1371600" lvl="2" indent="-22860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Times New Roman"/>
              <a:buNone/>
              <a:defRPr sz="1600"/>
            </a:lvl3pPr>
            <a:lvl4pPr marL="1828800" lvl="3" indent="-22860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None/>
              <a:defRPr sz="1400"/>
            </a:lvl4pPr>
            <a:lvl5pPr marL="2286000" lvl="4" indent="-22860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None/>
              <a:defRPr sz="1400"/>
            </a:lvl5pPr>
            <a:lvl6pPr marL="2743200" lvl="5" indent="-22860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None/>
              <a:defRPr sz="1400"/>
            </a:lvl6pPr>
            <a:lvl7pPr marL="3200400" lvl="6" indent="-22860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None/>
              <a:defRPr sz="1400"/>
            </a:lvl7pPr>
            <a:lvl8pPr marL="3657600" lvl="7" indent="-22860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None/>
              <a:defRPr sz="1400"/>
            </a:lvl8pPr>
            <a:lvl9pPr marL="4114800" lvl="8" indent="-22860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None/>
              <a:defRPr sz="1400"/>
            </a:lvl9pPr>
          </a:lstStyle>
          <a:p>
            <a:endParaRPr/>
          </a:p>
        </p:txBody>
      </p:sp>
      <p:sp>
        <p:nvSpPr>
          <p:cNvPr id="32" name="Google Shape;32;p5"/>
          <p:cNvSpPr txBox="1">
            <a:spLocks noGrp="1"/>
          </p:cNvSpPr>
          <p:nvPr>
            <p:ph type="dt" idx="10"/>
          </p:nvPr>
        </p:nvSpPr>
        <p:spPr>
          <a:xfrm>
            <a:off x="914400" y="6534150"/>
            <a:ext cx="25400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i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R="0" lvl="1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marR="0" lvl="2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marR="0" lvl="3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marR="0" lvl="4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endParaRPr/>
          </a:p>
        </p:txBody>
      </p:sp>
      <p:sp>
        <p:nvSpPr>
          <p:cNvPr id="33" name="Google Shape;33;p5"/>
          <p:cNvSpPr txBox="1">
            <a:spLocks noGrp="1"/>
          </p:cNvSpPr>
          <p:nvPr>
            <p:ph type="ftr" idx="11"/>
          </p:nvPr>
        </p:nvSpPr>
        <p:spPr>
          <a:xfrm>
            <a:off x="4165600" y="6553200"/>
            <a:ext cx="3860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i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R="0" lvl="1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marR="0" lvl="2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marR="0" lvl="3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marR="0" lvl="4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endParaRPr/>
          </a:p>
        </p:txBody>
      </p:sp>
      <p:sp>
        <p:nvSpPr>
          <p:cNvPr id="34" name="Google Shape;34;p5"/>
          <p:cNvSpPr txBox="1">
            <a:spLocks noGrp="1"/>
          </p:cNvSpPr>
          <p:nvPr>
            <p:ph type="sldNum" idx="12"/>
          </p:nvPr>
        </p:nvSpPr>
        <p:spPr>
          <a:xfrm>
            <a:off x="8737600" y="6534150"/>
            <a:ext cx="25400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marR="0" lvl="0" indent="0" algn="ctr" rtl="0">
              <a:spcBef>
                <a:spcPts val="0"/>
              </a:spcBef>
              <a:spcAft>
                <a:spcPts val="0"/>
              </a:spcAft>
              <a:buNone/>
              <a:defRPr sz="1800" i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L="0" marR="0" lvl="1" indent="0" algn="ctr" rtl="0">
              <a:spcBef>
                <a:spcPts val="0"/>
              </a:spcBef>
              <a:spcAft>
                <a:spcPts val="0"/>
              </a:spcAft>
              <a:buNone/>
              <a:defRPr sz="1800" i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marL="0" marR="0" lvl="2" indent="0" algn="ctr" rtl="0">
              <a:spcBef>
                <a:spcPts val="0"/>
              </a:spcBef>
              <a:spcAft>
                <a:spcPts val="0"/>
              </a:spcAft>
              <a:buNone/>
              <a:defRPr sz="1800" i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marL="0" marR="0" lvl="3" indent="0" algn="ctr" rtl="0">
              <a:spcBef>
                <a:spcPts val="0"/>
              </a:spcBef>
              <a:spcAft>
                <a:spcPts val="0"/>
              </a:spcAft>
              <a:buNone/>
              <a:defRPr sz="1800" i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marL="0" marR="0" lvl="4" indent="0" algn="ctr" rtl="0">
              <a:spcBef>
                <a:spcPts val="0"/>
              </a:spcBef>
              <a:spcAft>
                <a:spcPts val="0"/>
              </a:spcAft>
              <a:buNone/>
              <a:defRPr sz="1800" i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marL="0" marR="0" lvl="5" indent="0" algn="ctr" rtl="0">
              <a:spcBef>
                <a:spcPts val="0"/>
              </a:spcBef>
              <a:spcAft>
                <a:spcPts val="0"/>
              </a:spcAft>
              <a:buNone/>
              <a:defRPr sz="1800" i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marL="0" marR="0" lvl="6" indent="0" algn="ctr" rtl="0">
              <a:spcBef>
                <a:spcPts val="0"/>
              </a:spcBef>
              <a:spcAft>
                <a:spcPts val="0"/>
              </a:spcAft>
              <a:buNone/>
              <a:defRPr sz="1800" i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marL="0" marR="0" lvl="7" indent="0" algn="ctr" rtl="0">
              <a:spcBef>
                <a:spcPts val="0"/>
              </a:spcBef>
              <a:spcAft>
                <a:spcPts val="0"/>
              </a:spcAft>
              <a:buNone/>
              <a:defRPr sz="1800" i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marL="0" marR="0" lvl="8" indent="0" algn="ctr" rtl="0">
              <a:spcBef>
                <a:spcPts val="0"/>
              </a:spcBef>
              <a:spcAft>
                <a:spcPts val="0"/>
              </a:spcAft>
              <a:buNone/>
              <a:defRPr sz="1800" i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Slide </a:t>
            </a: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bg>
      <p:bgPr>
        <a:solidFill>
          <a:schemeClr val="bg1"/>
        </a:solidFill>
        <a:effectLst/>
      </p:bgPr>
    </p:bg>
    <p:spTree>
      <p:nvGrpSpPr>
        <p:cNvPr id="1" name="Shape 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Google Shape;40;p7"/>
          <p:cNvSpPr txBox="1"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1" name="Google Shape;41;p7"/>
          <p:cNvSpPr txBox="1"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457200" lvl="0" indent="-228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1920"/>
              <a:buFont typeface="Times New Roman"/>
              <a:buNone/>
              <a:defRPr sz="2400" b="1"/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None/>
              <a:defRPr sz="2000" b="1"/>
            </a:lvl2pPr>
            <a:lvl3pPr marL="1371600" lvl="2" indent="-22860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imes New Roman"/>
              <a:buNone/>
              <a:defRPr sz="1800" b="1"/>
            </a:lvl3pPr>
            <a:lvl4pPr marL="1828800" lvl="3" indent="-22860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Times New Roman"/>
              <a:buNone/>
              <a:defRPr sz="1600" b="1"/>
            </a:lvl4pPr>
            <a:lvl5pPr marL="2286000" lvl="4" indent="-22860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Times New Roman"/>
              <a:buNone/>
              <a:defRPr sz="1600" b="1"/>
            </a:lvl5pPr>
            <a:lvl6pPr marL="2743200" lvl="5" indent="-22860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Times New Roman"/>
              <a:buNone/>
              <a:defRPr sz="1600" b="1"/>
            </a:lvl6pPr>
            <a:lvl7pPr marL="3200400" lvl="6" indent="-22860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Times New Roman"/>
              <a:buNone/>
              <a:defRPr sz="1600" b="1"/>
            </a:lvl7pPr>
            <a:lvl8pPr marL="3657600" lvl="7" indent="-22860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Times New Roman"/>
              <a:buNone/>
              <a:defRPr sz="1600" b="1"/>
            </a:lvl8pPr>
            <a:lvl9pPr marL="4114800" lvl="8" indent="-22860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Times New Roman"/>
              <a:buNone/>
              <a:defRPr sz="1600" b="1"/>
            </a:lvl9pPr>
          </a:lstStyle>
          <a:p>
            <a:endParaRPr/>
          </a:p>
        </p:txBody>
      </p:sp>
      <p:sp>
        <p:nvSpPr>
          <p:cNvPr id="42" name="Google Shape;42;p7"/>
          <p:cNvSpPr txBox="1">
            <a:spLocks noGrp="1"/>
          </p:cNvSpPr>
          <p:nvPr>
            <p:ph type="body" idx="2"/>
          </p:nvPr>
        </p:nvSpPr>
        <p:spPr>
          <a:xfrm>
            <a:off x="609600" y="2174875"/>
            <a:ext cx="5386917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5052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1920"/>
              <a:buFont typeface="Times New Roman"/>
              <a:buChar char="•"/>
              <a:defRPr sz="2400"/>
            </a:lvl1pPr>
            <a:lvl2pPr marL="914400" lvl="1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Char char="»"/>
              <a:defRPr sz="2000"/>
            </a:lvl2pPr>
            <a:lvl3pPr marL="1371600" lvl="2" indent="-34290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imes New Roman"/>
              <a:buChar char="•"/>
              <a:defRPr sz="1800"/>
            </a:lvl3pPr>
            <a:lvl4pPr marL="1828800" lvl="3" indent="-33020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Times New Roman"/>
              <a:buChar char="–"/>
              <a:defRPr sz="1600"/>
            </a:lvl4pPr>
            <a:lvl5pPr marL="2286000" lvl="4" indent="-33020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Times New Roman"/>
              <a:buChar char="»"/>
              <a:defRPr sz="1600"/>
            </a:lvl5pPr>
            <a:lvl6pPr marL="2743200" lvl="5" indent="-33020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Times New Roman"/>
              <a:buChar char="»"/>
              <a:defRPr sz="1600"/>
            </a:lvl6pPr>
            <a:lvl7pPr marL="3200400" lvl="6" indent="-33020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Times New Roman"/>
              <a:buChar char="»"/>
              <a:defRPr sz="1600"/>
            </a:lvl7pPr>
            <a:lvl8pPr marL="3657600" lvl="7" indent="-33020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Times New Roman"/>
              <a:buChar char="»"/>
              <a:defRPr sz="1600"/>
            </a:lvl8pPr>
            <a:lvl9pPr marL="4114800" lvl="8" indent="-33020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Times New Roman"/>
              <a:buChar char="»"/>
              <a:defRPr sz="1600"/>
            </a:lvl9pPr>
          </a:lstStyle>
          <a:p>
            <a:endParaRPr/>
          </a:p>
        </p:txBody>
      </p:sp>
      <p:sp>
        <p:nvSpPr>
          <p:cNvPr id="43" name="Google Shape;43;p7"/>
          <p:cNvSpPr txBox="1">
            <a:spLocks noGrp="1"/>
          </p:cNvSpPr>
          <p:nvPr>
            <p:ph type="body" idx="3"/>
          </p:nvPr>
        </p:nvSpPr>
        <p:spPr>
          <a:xfrm>
            <a:off x="6193368" y="1535113"/>
            <a:ext cx="5389033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457200" lvl="0" indent="-228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1920"/>
              <a:buFont typeface="Times New Roman"/>
              <a:buNone/>
              <a:defRPr sz="2400" b="1"/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None/>
              <a:defRPr sz="2000" b="1"/>
            </a:lvl2pPr>
            <a:lvl3pPr marL="1371600" lvl="2" indent="-22860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imes New Roman"/>
              <a:buNone/>
              <a:defRPr sz="1800" b="1"/>
            </a:lvl3pPr>
            <a:lvl4pPr marL="1828800" lvl="3" indent="-22860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Times New Roman"/>
              <a:buNone/>
              <a:defRPr sz="1600" b="1"/>
            </a:lvl4pPr>
            <a:lvl5pPr marL="2286000" lvl="4" indent="-22860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Times New Roman"/>
              <a:buNone/>
              <a:defRPr sz="1600" b="1"/>
            </a:lvl5pPr>
            <a:lvl6pPr marL="2743200" lvl="5" indent="-22860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Times New Roman"/>
              <a:buNone/>
              <a:defRPr sz="1600" b="1"/>
            </a:lvl6pPr>
            <a:lvl7pPr marL="3200400" lvl="6" indent="-22860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Times New Roman"/>
              <a:buNone/>
              <a:defRPr sz="1600" b="1"/>
            </a:lvl7pPr>
            <a:lvl8pPr marL="3657600" lvl="7" indent="-22860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Times New Roman"/>
              <a:buNone/>
              <a:defRPr sz="1600" b="1"/>
            </a:lvl8pPr>
            <a:lvl9pPr marL="4114800" lvl="8" indent="-22860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Times New Roman"/>
              <a:buNone/>
              <a:defRPr sz="1600" b="1"/>
            </a:lvl9pPr>
          </a:lstStyle>
          <a:p>
            <a:endParaRPr/>
          </a:p>
        </p:txBody>
      </p:sp>
      <p:sp>
        <p:nvSpPr>
          <p:cNvPr id="44" name="Google Shape;44;p7"/>
          <p:cNvSpPr txBox="1">
            <a:spLocks noGrp="1"/>
          </p:cNvSpPr>
          <p:nvPr>
            <p:ph type="body" idx="4"/>
          </p:nvPr>
        </p:nvSpPr>
        <p:spPr>
          <a:xfrm>
            <a:off x="6193368" y="2174875"/>
            <a:ext cx="5389033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5052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1920"/>
              <a:buFont typeface="Times New Roman"/>
              <a:buChar char="•"/>
              <a:defRPr sz="2400"/>
            </a:lvl1pPr>
            <a:lvl2pPr marL="914400" lvl="1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Char char="»"/>
              <a:defRPr sz="2000"/>
            </a:lvl2pPr>
            <a:lvl3pPr marL="1371600" lvl="2" indent="-34290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imes New Roman"/>
              <a:buChar char="•"/>
              <a:defRPr sz="1800"/>
            </a:lvl3pPr>
            <a:lvl4pPr marL="1828800" lvl="3" indent="-33020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Times New Roman"/>
              <a:buChar char="–"/>
              <a:defRPr sz="1600"/>
            </a:lvl4pPr>
            <a:lvl5pPr marL="2286000" lvl="4" indent="-33020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Times New Roman"/>
              <a:buChar char="»"/>
              <a:defRPr sz="1600"/>
            </a:lvl5pPr>
            <a:lvl6pPr marL="2743200" lvl="5" indent="-33020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Times New Roman"/>
              <a:buChar char="»"/>
              <a:defRPr sz="1600"/>
            </a:lvl6pPr>
            <a:lvl7pPr marL="3200400" lvl="6" indent="-33020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Times New Roman"/>
              <a:buChar char="»"/>
              <a:defRPr sz="1600"/>
            </a:lvl7pPr>
            <a:lvl8pPr marL="3657600" lvl="7" indent="-33020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Times New Roman"/>
              <a:buChar char="»"/>
              <a:defRPr sz="1600"/>
            </a:lvl8pPr>
            <a:lvl9pPr marL="4114800" lvl="8" indent="-33020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Times New Roman"/>
              <a:buChar char="»"/>
              <a:defRPr sz="1600"/>
            </a:lvl9pPr>
          </a:lstStyle>
          <a:p>
            <a:endParaRPr/>
          </a:p>
        </p:txBody>
      </p:sp>
      <p:sp>
        <p:nvSpPr>
          <p:cNvPr id="45" name="Google Shape;45;p7"/>
          <p:cNvSpPr txBox="1">
            <a:spLocks noGrp="1"/>
          </p:cNvSpPr>
          <p:nvPr>
            <p:ph type="dt" idx="10"/>
          </p:nvPr>
        </p:nvSpPr>
        <p:spPr>
          <a:xfrm>
            <a:off x="914400" y="6534150"/>
            <a:ext cx="25400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i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R="0" lvl="1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marR="0" lvl="2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marR="0" lvl="3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marR="0" lvl="4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endParaRPr/>
          </a:p>
        </p:txBody>
      </p:sp>
      <p:sp>
        <p:nvSpPr>
          <p:cNvPr id="46" name="Google Shape;46;p7"/>
          <p:cNvSpPr txBox="1">
            <a:spLocks noGrp="1"/>
          </p:cNvSpPr>
          <p:nvPr>
            <p:ph type="ftr" idx="11"/>
          </p:nvPr>
        </p:nvSpPr>
        <p:spPr>
          <a:xfrm>
            <a:off x="4165600" y="6553200"/>
            <a:ext cx="3860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i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R="0" lvl="1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marR="0" lvl="2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marR="0" lvl="3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marR="0" lvl="4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endParaRPr/>
          </a:p>
        </p:txBody>
      </p:sp>
      <p:sp>
        <p:nvSpPr>
          <p:cNvPr id="47" name="Google Shape;47;p7"/>
          <p:cNvSpPr txBox="1">
            <a:spLocks noGrp="1"/>
          </p:cNvSpPr>
          <p:nvPr>
            <p:ph type="sldNum" idx="12"/>
          </p:nvPr>
        </p:nvSpPr>
        <p:spPr>
          <a:xfrm>
            <a:off x="8737600" y="6534150"/>
            <a:ext cx="25400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marR="0" lvl="0" indent="0" algn="ctr" rtl="0">
              <a:spcBef>
                <a:spcPts val="0"/>
              </a:spcBef>
              <a:spcAft>
                <a:spcPts val="0"/>
              </a:spcAft>
              <a:buNone/>
              <a:defRPr sz="1800" i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L="0" marR="0" lvl="1" indent="0" algn="ctr" rtl="0">
              <a:spcBef>
                <a:spcPts val="0"/>
              </a:spcBef>
              <a:spcAft>
                <a:spcPts val="0"/>
              </a:spcAft>
              <a:buNone/>
              <a:defRPr sz="1800" i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marL="0" marR="0" lvl="2" indent="0" algn="ctr" rtl="0">
              <a:spcBef>
                <a:spcPts val="0"/>
              </a:spcBef>
              <a:spcAft>
                <a:spcPts val="0"/>
              </a:spcAft>
              <a:buNone/>
              <a:defRPr sz="1800" i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marL="0" marR="0" lvl="3" indent="0" algn="ctr" rtl="0">
              <a:spcBef>
                <a:spcPts val="0"/>
              </a:spcBef>
              <a:spcAft>
                <a:spcPts val="0"/>
              </a:spcAft>
              <a:buNone/>
              <a:defRPr sz="1800" i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marL="0" marR="0" lvl="4" indent="0" algn="ctr" rtl="0">
              <a:spcBef>
                <a:spcPts val="0"/>
              </a:spcBef>
              <a:spcAft>
                <a:spcPts val="0"/>
              </a:spcAft>
              <a:buNone/>
              <a:defRPr sz="1800" i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marL="0" marR="0" lvl="5" indent="0" algn="ctr" rtl="0">
              <a:spcBef>
                <a:spcPts val="0"/>
              </a:spcBef>
              <a:spcAft>
                <a:spcPts val="0"/>
              </a:spcAft>
              <a:buNone/>
              <a:defRPr sz="1800" i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marL="0" marR="0" lvl="6" indent="0" algn="ctr" rtl="0">
              <a:spcBef>
                <a:spcPts val="0"/>
              </a:spcBef>
              <a:spcAft>
                <a:spcPts val="0"/>
              </a:spcAft>
              <a:buNone/>
              <a:defRPr sz="1800" i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marL="0" marR="0" lvl="7" indent="0" algn="ctr" rtl="0">
              <a:spcBef>
                <a:spcPts val="0"/>
              </a:spcBef>
              <a:spcAft>
                <a:spcPts val="0"/>
              </a:spcAft>
              <a:buNone/>
              <a:defRPr sz="1800" i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marL="0" marR="0" lvl="8" indent="0" algn="ctr" rtl="0">
              <a:spcBef>
                <a:spcPts val="0"/>
              </a:spcBef>
              <a:spcAft>
                <a:spcPts val="0"/>
              </a:spcAft>
              <a:buNone/>
              <a:defRPr sz="1800" i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Slide </a:t>
            </a: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bg>
      <p:bgPr>
        <a:solidFill>
          <a:schemeClr val="bg1"/>
        </a:solidFill>
        <a:effectLst/>
      </p:bgPr>
    </p:bg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9"/>
          <p:cNvSpPr txBox="1">
            <a:spLocks noGrp="1"/>
          </p:cNvSpPr>
          <p:nvPr>
            <p:ph type="title"/>
          </p:nvPr>
        </p:nvSpPr>
        <p:spPr>
          <a:xfrm>
            <a:off x="609601" y="273050"/>
            <a:ext cx="4011084" cy="1162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2000" b="1"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2" name="Google Shape;52;p9"/>
          <p:cNvSpPr txBox="1">
            <a:spLocks noGrp="1"/>
          </p:cNvSpPr>
          <p:nvPr>
            <p:ph type="body" idx="1"/>
          </p:nvPr>
        </p:nvSpPr>
        <p:spPr>
          <a:xfrm>
            <a:off x="4766733" y="273051"/>
            <a:ext cx="6815667" cy="58531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9116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2560"/>
              <a:buFont typeface="Times New Roman"/>
              <a:buChar char="•"/>
              <a:defRPr sz="3200"/>
            </a:lvl1pPr>
            <a:lvl2pPr marL="914400" lvl="1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Times New Roman"/>
              <a:buChar char="»"/>
              <a:defRPr sz="2800"/>
            </a:lvl2pPr>
            <a:lvl3pPr marL="1371600" lvl="2" indent="-38100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 New Roman"/>
              <a:buChar char="•"/>
              <a:defRPr sz="2400"/>
            </a:lvl3pPr>
            <a:lvl4pPr marL="1828800" lvl="3" indent="-35560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Char char="–"/>
              <a:defRPr sz="2000"/>
            </a:lvl4pPr>
            <a:lvl5pPr marL="2286000" lvl="4" indent="-35560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Char char="»"/>
              <a:defRPr sz="2000"/>
            </a:lvl5pPr>
            <a:lvl6pPr marL="2743200" lvl="5" indent="-35560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Char char="»"/>
              <a:defRPr sz="2000"/>
            </a:lvl6pPr>
            <a:lvl7pPr marL="3200400" lvl="6" indent="-35560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Char char="»"/>
              <a:defRPr sz="2000"/>
            </a:lvl7pPr>
            <a:lvl8pPr marL="3657600" lvl="7" indent="-35560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Char char="»"/>
              <a:defRPr sz="2000"/>
            </a:lvl8pPr>
            <a:lvl9pPr marL="4114800" lvl="8" indent="-35560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Char char="»"/>
              <a:defRPr sz="2000"/>
            </a:lvl9pPr>
          </a:lstStyle>
          <a:p>
            <a:endParaRPr/>
          </a:p>
        </p:txBody>
      </p:sp>
      <p:sp>
        <p:nvSpPr>
          <p:cNvPr id="53" name="Google Shape;53;p9"/>
          <p:cNvSpPr txBox="1">
            <a:spLocks noGrp="1"/>
          </p:cNvSpPr>
          <p:nvPr>
            <p:ph type="body" idx="2"/>
          </p:nvPr>
        </p:nvSpPr>
        <p:spPr>
          <a:xfrm>
            <a:off x="609601" y="1435101"/>
            <a:ext cx="4011084" cy="46910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120"/>
              <a:buFont typeface="Times New Roman"/>
              <a:buNone/>
              <a:defRPr sz="1400"/>
            </a:lvl1pPr>
            <a:lvl2pPr marL="914400" lvl="1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Times New Roman"/>
              <a:buNone/>
              <a:defRPr sz="1200"/>
            </a:lvl2pPr>
            <a:lvl3pPr marL="1371600" lvl="2" indent="-22860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Times New Roman"/>
              <a:buNone/>
              <a:defRPr sz="1000"/>
            </a:lvl3pPr>
            <a:lvl4pPr marL="1828800" lvl="3" indent="-22860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Times New Roman"/>
              <a:buNone/>
              <a:defRPr sz="900"/>
            </a:lvl4pPr>
            <a:lvl5pPr marL="2286000" lvl="4" indent="-22860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Times New Roman"/>
              <a:buNone/>
              <a:defRPr sz="900"/>
            </a:lvl5pPr>
            <a:lvl6pPr marL="2743200" lvl="5" indent="-22860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Times New Roman"/>
              <a:buNone/>
              <a:defRPr sz="900"/>
            </a:lvl6pPr>
            <a:lvl7pPr marL="3200400" lvl="6" indent="-22860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Times New Roman"/>
              <a:buNone/>
              <a:defRPr sz="900"/>
            </a:lvl7pPr>
            <a:lvl8pPr marL="3657600" lvl="7" indent="-22860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Times New Roman"/>
              <a:buNone/>
              <a:defRPr sz="900"/>
            </a:lvl8pPr>
            <a:lvl9pPr marL="4114800" lvl="8" indent="-22860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Times New Roman"/>
              <a:buNone/>
              <a:defRPr sz="900"/>
            </a:lvl9pPr>
          </a:lstStyle>
          <a:p>
            <a:endParaRPr/>
          </a:p>
        </p:txBody>
      </p:sp>
      <p:sp>
        <p:nvSpPr>
          <p:cNvPr id="54" name="Google Shape;54;p9"/>
          <p:cNvSpPr txBox="1">
            <a:spLocks noGrp="1"/>
          </p:cNvSpPr>
          <p:nvPr>
            <p:ph type="dt" idx="10"/>
          </p:nvPr>
        </p:nvSpPr>
        <p:spPr>
          <a:xfrm>
            <a:off x="914400" y="6534150"/>
            <a:ext cx="25400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i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R="0" lvl="1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marR="0" lvl="2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marR="0" lvl="3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marR="0" lvl="4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endParaRPr/>
          </a:p>
        </p:txBody>
      </p:sp>
      <p:sp>
        <p:nvSpPr>
          <p:cNvPr id="55" name="Google Shape;55;p9"/>
          <p:cNvSpPr txBox="1">
            <a:spLocks noGrp="1"/>
          </p:cNvSpPr>
          <p:nvPr>
            <p:ph type="ftr" idx="11"/>
          </p:nvPr>
        </p:nvSpPr>
        <p:spPr>
          <a:xfrm>
            <a:off x="4165600" y="6553200"/>
            <a:ext cx="3860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i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R="0" lvl="1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marR="0" lvl="2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marR="0" lvl="3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marR="0" lvl="4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endParaRPr/>
          </a:p>
        </p:txBody>
      </p:sp>
      <p:sp>
        <p:nvSpPr>
          <p:cNvPr id="56" name="Google Shape;56;p9"/>
          <p:cNvSpPr txBox="1">
            <a:spLocks noGrp="1"/>
          </p:cNvSpPr>
          <p:nvPr>
            <p:ph type="sldNum" idx="12"/>
          </p:nvPr>
        </p:nvSpPr>
        <p:spPr>
          <a:xfrm>
            <a:off x="8737600" y="6534150"/>
            <a:ext cx="25400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marR="0" lvl="0" indent="0" algn="ctr" rtl="0">
              <a:spcBef>
                <a:spcPts val="0"/>
              </a:spcBef>
              <a:spcAft>
                <a:spcPts val="0"/>
              </a:spcAft>
              <a:buNone/>
              <a:defRPr sz="1800" i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L="0" marR="0" lvl="1" indent="0" algn="ctr" rtl="0">
              <a:spcBef>
                <a:spcPts val="0"/>
              </a:spcBef>
              <a:spcAft>
                <a:spcPts val="0"/>
              </a:spcAft>
              <a:buNone/>
              <a:defRPr sz="1800" i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marL="0" marR="0" lvl="2" indent="0" algn="ctr" rtl="0">
              <a:spcBef>
                <a:spcPts val="0"/>
              </a:spcBef>
              <a:spcAft>
                <a:spcPts val="0"/>
              </a:spcAft>
              <a:buNone/>
              <a:defRPr sz="1800" i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marL="0" marR="0" lvl="3" indent="0" algn="ctr" rtl="0">
              <a:spcBef>
                <a:spcPts val="0"/>
              </a:spcBef>
              <a:spcAft>
                <a:spcPts val="0"/>
              </a:spcAft>
              <a:buNone/>
              <a:defRPr sz="1800" i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marL="0" marR="0" lvl="4" indent="0" algn="ctr" rtl="0">
              <a:spcBef>
                <a:spcPts val="0"/>
              </a:spcBef>
              <a:spcAft>
                <a:spcPts val="0"/>
              </a:spcAft>
              <a:buNone/>
              <a:defRPr sz="1800" i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marL="0" marR="0" lvl="5" indent="0" algn="ctr" rtl="0">
              <a:spcBef>
                <a:spcPts val="0"/>
              </a:spcBef>
              <a:spcAft>
                <a:spcPts val="0"/>
              </a:spcAft>
              <a:buNone/>
              <a:defRPr sz="1800" i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marL="0" marR="0" lvl="6" indent="0" algn="ctr" rtl="0">
              <a:spcBef>
                <a:spcPts val="0"/>
              </a:spcBef>
              <a:spcAft>
                <a:spcPts val="0"/>
              </a:spcAft>
              <a:buNone/>
              <a:defRPr sz="1800" i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marL="0" marR="0" lvl="7" indent="0" algn="ctr" rtl="0">
              <a:spcBef>
                <a:spcPts val="0"/>
              </a:spcBef>
              <a:spcAft>
                <a:spcPts val="0"/>
              </a:spcAft>
              <a:buNone/>
              <a:defRPr sz="1800" i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marL="0" marR="0" lvl="8" indent="0" algn="ctr" rtl="0">
              <a:spcBef>
                <a:spcPts val="0"/>
              </a:spcBef>
              <a:spcAft>
                <a:spcPts val="0"/>
              </a:spcAft>
              <a:buNone/>
              <a:defRPr sz="1800" i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Slide </a:t>
            </a: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bg>
      <p:bgPr>
        <a:solidFill>
          <a:schemeClr val="bg1"/>
        </a:solidFill>
        <a:effectLst/>
      </p:bgPr>
    </p:bg>
    <p:spTree>
      <p:nvGrpSpPr>
        <p:cNvPr id="1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p10"/>
          <p:cNvSpPr txBox="1"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2000" b="1"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9" name="Google Shape;59;p10"/>
          <p:cNvSpPr>
            <a:spLocks noGrp="1"/>
          </p:cNvSpPr>
          <p:nvPr>
            <p:ph type="pic" idx="2"/>
          </p:nvPr>
        </p:nvSpPr>
        <p:spPr>
          <a:xfrm>
            <a:off x="2389717" y="612775"/>
            <a:ext cx="73152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2560"/>
              <a:buFont typeface="Times New Roman"/>
              <a:buNone/>
              <a:defRPr sz="32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R="0" lvl="1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Times New Roman"/>
              <a:buNone/>
              <a:defRPr sz="28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 New Roman"/>
              <a:buNone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None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None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None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None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None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None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endParaRPr/>
          </a:p>
        </p:txBody>
      </p:sp>
      <p:sp>
        <p:nvSpPr>
          <p:cNvPr id="60" name="Google Shape;60;p10"/>
          <p:cNvSpPr txBox="1">
            <a:spLocks noGrp="1"/>
          </p:cNvSpPr>
          <p:nvPr>
            <p:ph type="body" idx="1"/>
          </p:nvPr>
        </p:nvSpPr>
        <p:spPr>
          <a:xfrm>
            <a:off x="2389717" y="5367338"/>
            <a:ext cx="7315200" cy="8048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120"/>
              <a:buFont typeface="Times New Roman"/>
              <a:buNone/>
              <a:defRPr sz="1400"/>
            </a:lvl1pPr>
            <a:lvl2pPr marL="914400" lvl="1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Times New Roman"/>
              <a:buNone/>
              <a:defRPr sz="1200"/>
            </a:lvl2pPr>
            <a:lvl3pPr marL="1371600" lvl="2" indent="-22860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Times New Roman"/>
              <a:buNone/>
              <a:defRPr sz="1000"/>
            </a:lvl3pPr>
            <a:lvl4pPr marL="1828800" lvl="3" indent="-22860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Times New Roman"/>
              <a:buNone/>
              <a:defRPr sz="900"/>
            </a:lvl4pPr>
            <a:lvl5pPr marL="2286000" lvl="4" indent="-22860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Times New Roman"/>
              <a:buNone/>
              <a:defRPr sz="900"/>
            </a:lvl5pPr>
            <a:lvl6pPr marL="2743200" lvl="5" indent="-22860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Times New Roman"/>
              <a:buNone/>
              <a:defRPr sz="900"/>
            </a:lvl6pPr>
            <a:lvl7pPr marL="3200400" lvl="6" indent="-22860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Times New Roman"/>
              <a:buNone/>
              <a:defRPr sz="900"/>
            </a:lvl7pPr>
            <a:lvl8pPr marL="3657600" lvl="7" indent="-22860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Times New Roman"/>
              <a:buNone/>
              <a:defRPr sz="900"/>
            </a:lvl8pPr>
            <a:lvl9pPr marL="4114800" lvl="8" indent="-22860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Times New Roman"/>
              <a:buNone/>
              <a:defRPr sz="900"/>
            </a:lvl9pPr>
          </a:lstStyle>
          <a:p>
            <a:endParaRPr/>
          </a:p>
        </p:txBody>
      </p:sp>
      <p:sp>
        <p:nvSpPr>
          <p:cNvPr id="61" name="Google Shape;61;p10"/>
          <p:cNvSpPr txBox="1">
            <a:spLocks noGrp="1"/>
          </p:cNvSpPr>
          <p:nvPr>
            <p:ph type="dt" idx="10"/>
          </p:nvPr>
        </p:nvSpPr>
        <p:spPr>
          <a:xfrm>
            <a:off x="914400" y="6534150"/>
            <a:ext cx="25400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i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R="0" lvl="1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marR="0" lvl="2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marR="0" lvl="3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marR="0" lvl="4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endParaRPr/>
          </a:p>
        </p:txBody>
      </p:sp>
      <p:sp>
        <p:nvSpPr>
          <p:cNvPr id="62" name="Google Shape;62;p10"/>
          <p:cNvSpPr txBox="1">
            <a:spLocks noGrp="1"/>
          </p:cNvSpPr>
          <p:nvPr>
            <p:ph type="ftr" idx="11"/>
          </p:nvPr>
        </p:nvSpPr>
        <p:spPr>
          <a:xfrm>
            <a:off x="4165600" y="6553200"/>
            <a:ext cx="3860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i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R="0" lvl="1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marR="0" lvl="2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marR="0" lvl="3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marR="0" lvl="4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endParaRPr/>
          </a:p>
        </p:txBody>
      </p:sp>
      <p:sp>
        <p:nvSpPr>
          <p:cNvPr id="63" name="Google Shape;63;p10"/>
          <p:cNvSpPr txBox="1">
            <a:spLocks noGrp="1"/>
          </p:cNvSpPr>
          <p:nvPr>
            <p:ph type="sldNum" idx="12"/>
          </p:nvPr>
        </p:nvSpPr>
        <p:spPr>
          <a:xfrm>
            <a:off x="8737600" y="6534150"/>
            <a:ext cx="25400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marR="0" lvl="0" indent="0" algn="ctr" rtl="0">
              <a:spcBef>
                <a:spcPts val="0"/>
              </a:spcBef>
              <a:spcAft>
                <a:spcPts val="0"/>
              </a:spcAft>
              <a:buNone/>
              <a:defRPr sz="1800" i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L="0" marR="0" lvl="1" indent="0" algn="ctr" rtl="0">
              <a:spcBef>
                <a:spcPts val="0"/>
              </a:spcBef>
              <a:spcAft>
                <a:spcPts val="0"/>
              </a:spcAft>
              <a:buNone/>
              <a:defRPr sz="1800" i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marL="0" marR="0" lvl="2" indent="0" algn="ctr" rtl="0">
              <a:spcBef>
                <a:spcPts val="0"/>
              </a:spcBef>
              <a:spcAft>
                <a:spcPts val="0"/>
              </a:spcAft>
              <a:buNone/>
              <a:defRPr sz="1800" i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marL="0" marR="0" lvl="3" indent="0" algn="ctr" rtl="0">
              <a:spcBef>
                <a:spcPts val="0"/>
              </a:spcBef>
              <a:spcAft>
                <a:spcPts val="0"/>
              </a:spcAft>
              <a:buNone/>
              <a:defRPr sz="1800" i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marL="0" marR="0" lvl="4" indent="0" algn="ctr" rtl="0">
              <a:spcBef>
                <a:spcPts val="0"/>
              </a:spcBef>
              <a:spcAft>
                <a:spcPts val="0"/>
              </a:spcAft>
              <a:buNone/>
              <a:defRPr sz="1800" i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marL="0" marR="0" lvl="5" indent="0" algn="ctr" rtl="0">
              <a:spcBef>
                <a:spcPts val="0"/>
              </a:spcBef>
              <a:spcAft>
                <a:spcPts val="0"/>
              </a:spcAft>
              <a:buNone/>
              <a:defRPr sz="1800" i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marL="0" marR="0" lvl="6" indent="0" algn="ctr" rtl="0">
              <a:spcBef>
                <a:spcPts val="0"/>
              </a:spcBef>
              <a:spcAft>
                <a:spcPts val="0"/>
              </a:spcAft>
              <a:buNone/>
              <a:defRPr sz="1800" i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marL="0" marR="0" lvl="7" indent="0" algn="ctr" rtl="0">
              <a:spcBef>
                <a:spcPts val="0"/>
              </a:spcBef>
              <a:spcAft>
                <a:spcPts val="0"/>
              </a:spcAft>
              <a:buNone/>
              <a:defRPr sz="1800" i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marL="0" marR="0" lvl="8" indent="0" algn="ctr" rtl="0">
              <a:spcBef>
                <a:spcPts val="0"/>
              </a:spcBef>
              <a:spcAft>
                <a:spcPts val="0"/>
              </a:spcAft>
              <a:buNone/>
              <a:defRPr sz="1800" i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Slide </a:t>
            </a: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bg>
      <p:bgPr>
        <a:solidFill>
          <a:schemeClr val="bg1"/>
        </a:solidFill>
        <a:effectLst/>
      </p:bgPr>
    </p:bg>
    <p:spTree>
      <p:nvGrpSpPr>
        <p:cNvPr id="1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p11"/>
          <p:cNvSpPr txBox="1">
            <a:spLocks noGrp="1"/>
          </p:cNvSpPr>
          <p:nvPr>
            <p:ph type="title"/>
          </p:nvPr>
        </p:nvSpPr>
        <p:spPr>
          <a:xfrm>
            <a:off x="914400" y="304800"/>
            <a:ext cx="10363200" cy="60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6" name="Google Shape;66;p11"/>
          <p:cNvSpPr txBox="1">
            <a:spLocks noGrp="1"/>
          </p:cNvSpPr>
          <p:nvPr>
            <p:ph type="body" idx="1"/>
          </p:nvPr>
        </p:nvSpPr>
        <p:spPr>
          <a:xfrm rot="5400000">
            <a:off x="3619500" y="-1562100"/>
            <a:ext cx="4953000" cy="1036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2004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44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2pPr>
            <a:lvl3pPr marL="1371600" lvl="2" indent="-34290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6pPr>
            <a:lvl7pPr marL="3200400" lvl="6" indent="-34290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7pPr>
            <a:lvl8pPr marL="3657600" lvl="7" indent="-34290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8pPr>
            <a:lvl9pPr marL="4114800" lvl="8" indent="-34290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9pPr>
          </a:lstStyle>
          <a:p>
            <a:endParaRPr/>
          </a:p>
        </p:txBody>
      </p:sp>
      <p:sp>
        <p:nvSpPr>
          <p:cNvPr id="67" name="Google Shape;67;p11"/>
          <p:cNvSpPr txBox="1">
            <a:spLocks noGrp="1"/>
          </p:cNvSpPr>
          <p:nvPr>
            <p:ph type="dt" idx="10"/>
          </p:nvPr>
        </p:nvSpPr>
        <p:spPr>
          <a:xfrm>
            <a:off x="914400" y="6534150"/>
            <a:ext cx="25400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i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R="0" lvl="1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marR="0" lvl="2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marR="0" lvl="3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marR="0" lvl="4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endParaRPr/>
          </a:p>
        </p:txBody>
      </p:sp>
      <p:sp>
        <p:nvSpPr>
          <p:cNvPr id="68" name="Google Shape;68;p11"/>
          <p:cNvSpPr txBox="1">
            <a:spLocks noGrp="1"/>
          </p:cNvSpPr>
          <p:nvPr>
            <p:ph type="ftr" idx="11"/>
          </p:nvPr>
        </p:nvSpPr>
        <p:spPr>
          <a:xfrm>
            <a:off x="4165600" y="6553200"/>
            <a:ext cx="3860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i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R="0" lvl="1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marR="0" lvl="2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marR="0" lvl="3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marR="0" lvl="4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endParaRPr/>
          </a:p>
        </p:txBody>
      </p:sp>
      <p:sp>
        <p:nvSpPr>
          <p:cNvPr id="69" name="Google Shape;69;p11"/>
          <p:cNvSpPr txBox="1">
            <a:spLocks noGrp="1"/>
          </p:cNvSpPr>
          <p:nvPr>
            <p:ph type="sldNum" idx="12"/>
          </p:nvPr>
        </p:nvSpPr>
        <p:spPr>
          <a:xfrm>
            <a:off x="8737600" y="6534150"/>
            <a:ext cx="25400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marR="0" lvl="0" indent="0" algn="ctr" rtl="0">
              <a:spcBef>
                <a:spcPts val="0"/>
              </a:spcBef>
              <a:spcAft>
                <a:spcPts val="0"/>
              </a:spcAft>
              <a:buNone/>
              <a:defRPr sz="1800" i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L="0" marR="0" lvl="1" indent="0" algn="ctr" rtl="0">
              <a:spcBef>
                <a:spcPts val="0"/>
              </a:spcBef>
              <a:spcAft>
                <a:spcPts val="0"/>
              </a:spcAft>
              <a:buNone/>
              <a:defRPr sz="1800" i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marL="0" marR="0" lvl="2" indent="0" algn="ctr" rtl="0">
              <a:spcBef>
                <a:spcPts val="0"/>
              </a:spcBef>
              <a:spcAft>
                <a:spcPts val="0"/>
              </a:spcAft>
              <a:buNone/>
              <a:defRPr sz="1800" i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marL="0" marR="0" lvl="3" indent="0" algn="ctr" rtl="0">
              <a:spcBef>
                <a:spcPts val="0"/>
              </a:spcBef>
              <a:spcAft>
                <a:spcPts val="0"/>
              </a:spcAft>
              <a:buNone/>
              <a:defRPr sz="1800" i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marL="0" marR="0" lvl="4" indent="0" algn="ctr" rtl="0">
              <a:spcBef>
                <a:spcPts val="0"/>
              </a:spcBef>
              <a:spcAft>
                <a:spcPts val="0"/>
              </a:spcAft>
              <a:buNone/>
              <a:defRPr sz="1800" i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marL="0" marR="0" lvl="5" indent="0" algn="ctr" rtl="0">
              <a:spcBef>
                <a:spcPts val="0"/>
              </a:spcBef>
              <a:spcAft>
                <a:spcPts val="0"/>
              </a:spcAft>
              <a:buNone/>
              <a:defRPr sz="1800" i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marL="0" marR="0" lvl="6" indent="0" algn="ctr" rtl="0">
              <a:spcBef>
                <a:spcPts val="0"/>
              </a:spcBef>
              <a:spcAft>
                <a:spcPts val="0"/>
              </a:spcAft>
              <a:buNone/>
              <a:defRPr sz="1800" i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marL="0" marR="0" lvl="7" indent="0" algn="ctr" rtl="0">
              <a:spcBef>
                <a:spcPts val="0"/>
              </a:spcBef>
              <a:spcAft>
                <a:spcPts val="0"/>
              </a:spcAft>
              <a:buNone/>
              <a:defRPr sz="1800" i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marL="0" marR="0" lvl="8" indent="0" algn="ctr" rtl="0">
              <a:spcBef>
                <a:spcPts val="0"/>
              </a:spcBef>
              <a:spcAft>
                <a:spcPts val="0"/>
              </a:spcAft>
              <a:buNone/>
              <a:defRPr sz="1800" i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Slide </a:t>
            </a: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bg>
      <p:bgPr>
        <a:solidFill>
          <a:schemeClr val="bg1"/>
        </a:solidFill>
        <a:effectLst/>
      </p:bgPr>
    </p:bg>
    <p:spTree>
      <p:nvGrpSpPr>
        <p:cNvPr id="1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12"/>
          <p:cNvSpPr txBox="1">
            <a:spLocks noGrp="1"/>
          </p:cNvSpPr>
          <p:nvPr>
            <p:ph type="title"/>
          </p:nvPr>
        </p:nvSpPr>
        <p:spPr>
          <a:xfrm rot="5400000">
            <a:off x="7086600" y="1905000"/>
            <a:ext cx="5791200" cy="259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2" name="Google Shape;72;p12"/>
          <p:cNvSpPr txBox="1">
            <a:spLocks noGrp="1"/>
          </p:cNvSpPr>
          <p:nvPr>
            <p:ph type="body" idx="1"/>
          </p:nvPr>
        </p:nvSpPr>
        <p:spPr>
          <a:xfrm rot="5400000">
            <a:off x="1803400" y="-584200"/>
            <a:ext cx="5791200" cy="7569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2004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44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2pPr>
            <a:lvl3pPr marL="1371600" lvl="2" indent="-34290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6pPr>
            <a:lvl7pPr marL="3200400" lvl="6" indent="-34290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7pPr>
            <a:lvl8pPr marL="3657600" lvl="7" indent="-34290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8pPr>
            <a:lvl9pPr marL="4114800" lvl="8" indent="-34290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9pPr>
          </a:lstStyle>
          <a:p>
            <a:endParaRPr/>
          </a:p>
        </p:txBody>
      </p:sp>
      <p:sp>
        <p:nvSpPr>
          <p:cNvPr id="73" name="Google Shape;73;p12"/>
          <p:cNvSpPr txBox="1">
            <a:spLocks noGrp="1"/>
          </p:cNvSpPr>
          <p:nvPr>
            <p:ph type="dt" idx="10"/>
          </p:nvPr>
        </p:nvSpPr>
        <p:spPr>
          <a:xfrm>
            <a:off x="914400" y="6534150"/>
            <a:ext cx="25400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i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R="0" lvl="1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marR="0" lvl="2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marR="0" lvl="3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marR="0" lvl="4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endParaRPr/>
          </a:p>
        </p:txBody>
      </p:sp>
      <p:sp>
        <p:nvSpPr>
          <p:cNvPr id="74" name="Google Shape;74;p12"/>
          <p:cNvSpPr txBox="1">
            <a:spLocks noGrp="1"/>
          </p:cNvSpPr>
          <p:nvPr>
            <p:ph type="ftr" idx="11"/>
          </p:nvPr>
        </p:nvSpPr>
        <p:spPr>
          <a:xfrm>
            <a:off x="4165600" y="6553200"/>
            <a:ext cx="3860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i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R="0" lvl="1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marR="0" lvl="2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marR="0" lvl="3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marR="0" lvl="4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endParaRPr/>
          </a:p>
        </p:txBody>
      </p:sp>
      <p:sp>
        <p:nvSpPr>
          <p:cNvPr id="75" name="Google Shape;75;p12"/>
          <p:cNvSpPr txBox="1">
            <a:spLocks noGrp="1"/>
          </p:cNvSpPr>
          <p:nvPr>
            <p:ph type="sldNum" idx="12"/>
          </p:nvPr>
        </p:nvSpPr>
        <p:spPr>
          <a:xfrm>
            <a:off x="8737600" y="6534150"/>
            <a:ext cx="25400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marR="0" lvl="0" indent="0" algn="ctr" rtl="0">
              <a:spcBef>
                <a:spcPts val="0"/>
              </a:spcBef>
              <a:spcAft>
                <a:spcPts val="0"/>
              </a:spcAft>
              <a:buNone/>
              <a:defRPr sz="1800" i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L="0" marR="0" lvl="1" indent="0" algn="ctr" rtl="0">
              <a:spcBef>
                <a:spcPts val="0"/>
              </a:spcBef>
              <a:spcAft>
                <a:spcPts val="0"/>
              </a:spcAft>
              <a:buNone/>
              <a:defRPr sz="1800" i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marL="0" marR="0" lvl="2" indent="0" algn="ctr" rtl="0">
              <a:spcBef>
                <a:spcPts val="0"/>
              </a:spcBef>
              <a:spcAft>
                <a:spcPts val="0"/>
              </a:spcAft>
              <a:buNone/>
              <a:defRPr sz="1800" i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marL="0" marR="0" lvl="3" indent="0" algn="ctr" rtl="0">
              <a:spcBef>
                <a:spcPts val="0"/>
              </a:spcBef>
              <a:spcAft>
                <a:spcPts val="0"/>
              </a:spcAft>
              <a:buNone/>
              <a:defRPr sz="1800" i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marL="0" marR="0" lvl="4" indent="0" algn="ctr" rtl="0">
              <a:spcBef>
                <a:spcPts val="0"/>
              </a:spcBef>
              <a:spcAft>
                <a:spcPts val="0"/>
              </a:spcAft>
              <a:buNone/>
              <a:defRPr sz="1800" i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marL="0" marR="0" lvl="5" indent="0" algn="ctr" rtl="0">
              <a:spcBef>
                <a:spcPts val="0"/>
              </a:spcBef>
              <a:spcAft>
                <a:spcPts val="0"/>
              </a:spcAft>
              <a:buNone/>
              <a:defRPr sz="1800" i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marL="0" marR="0" lvl="6" indent="0" algn="ctr" rtl="0">
              <a:spcBef>
                <a:spcPts val="0"/>
              </a:spcBef>
              <a:spcAft>
                <a:spcPts val="0"/>
              </a:spcAft>
              <a:buNone/>
              <a:defRPr sz="1800" i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marL="0" marR="0" lvl="7" indent="0" algn="ctr" rtl="0">
              <a:spcBef>
                <a:spcPts val="0"/>
              </a:spcBef>
              <a:spcAft>
                <a:spcPts val="0"/>
              </a:spcAft>
              <a:buNone/>
              <a:defRPr sz="1800" i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marL="0" marR="0" lvl="8" indent="0" algn="ctr" rtl="0">
              <a:spcBef>
                <a:spcPts val="0"/>
              </a:spcBef>
              <a:spcAft>
                <a:spcPts val="0"/>
              </a:spcAft>
              <a:buNone/>
              <a:defRPr sz="1800" i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Slide </a:t>
            </a: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able" type="tbl">
  <p:cSld name="TABLE">
    <p:bg>
      <p:bgPr>
        <a:solidFill>
          <a:schemeClr val="bg1"/>
        </a:solidFill>
        <a:effectLst/>
      </p:bgPr>
    </p:bg>
    <p:spTree>
      <p:nvGrpSpPr>
        <p:cNvPr id="1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p13"/>
          <p:cNvSpPr txBox="1">
            <a:spLocks noGrp="1"/>
          </p:cNvSpPr>
          <p:nvPr>
            <p:ph type="title"/>
          </p:nvPr>
        </p:nvSpPr>
        <p:spPr>
          <a:xfrm>
            <a:off x="914400" y="304800"/>
            <a:ext cx="10363200" cy="60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8" name="Google Shape;78;p13"/>
          <p:cNvSpPr txBox="1">
            <a:spLocks noGrp="1"/>
          </p:cNvSpPr>
          <p:nvPr>
            <p:ph type="dt" idx="10"/>
          </p:nvPr>
        </p:nvSpPr>
        <p:spPr>
          <a:xfrm>
            <a:off x="914400" y="6534150"/>
            <a:ext cx="25400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i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R="0" lvl="1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marR="0" lvl="2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marR="0" lvl="3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marR="0" lvl="4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endParaRPr/>
          </a:p>
        </p:txBody>
      </p:sp>
      <p:sp>
        <p:nvSpPr>
          <p:cNvPr id="79" name="Google Shape;79;p13"/>
          <p:cNvSpPr txBox="1">
            <a:spLocks noGrp="1"/>
          </p:cNvSpPr>
          <p:nvPr>
            <p:ph type="ftr" idx="11"/>
          </p:nvPr>
        </p:nvSpPr>
        <p:spPr>
          <a:xfrm>
            <a:off x="4165600" y="6553200"/>
            <a:ext cx="3860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i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R="0" lvl="1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marR="0" lvl="2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marR="0" lvl="3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marR="0" lvl="4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endParaRPr/>
          </a:p>
        </p:txBody>
      </p:sp>
      <p:sp>
        <p:nvSpPr>
          <p:cNvPr id="80" name="Google Shape;80;p13"/>
          <p:cNvSpPr txBox="1">
            <a:spLocks noGrp="1"/>
          </p:cNvSpPr>
          <p:nvPr>
            <p:ph type="sldNum" idx="12"/>
          </p:nvPr>
        </p:nvSpPr>
        <p:spPr>
          <a:xfrm>
            <a:off x="8737600" y="6534150"/>
            <a:ext cx="25400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marR="0" lvl="0" indent="0" algn="ctr" rtl="0">
              <a:spcBef>
                <a:spcPts val="0"/>
              </a:spcBef>
              <a:spcAft>
                <a:spcPts val="0"/>
              </a:spcAft>
              <a:buNone/>
              <a:defRPr sz="1800" i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L="0" marR="0" lvl="1" indent="0" algn="ctr" rtl="0">
              <a:spcBef>
                <a:spcPts val="0"/>
              </a:spcBef>
              <a:spcAft>
                <a:spcPts val="0"/>
              </a:spcAft>
              <a:buNone/>
              <a:defRPr sz="1800" i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marL="0" marR="0" lvl="2" indent="0" algn="ctr" rtl="0">
              <a:spcBef>
                <a:spcPts val="0"/>
              </a:spcBef>
              <a:spcAft>
                <a:spcPts val="0"/>
              </a:spcAft>
              <a:buNone/>
              <a:defRPr sz="1800" i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marL="0" marR="0" lvl="3" indent="0" algn="ctr" rtl="0">
              <a:spcBef>
                <a:spcPts val="0"/>
              </a:spcBef>
              <a:spcAft>
                <a:spcPts val="0"/>
              </a:spcAft>
              <a:buNone/>
              <a:defRPr sz="1800" i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marL="0" marR="0" lvl="4" indent="0" algn="ctr" rtl="0">
              <a:spcBef>
                <a:spcPts val="0"/>
              </a:spcBef>
              <a:spcAft>
                <a:spcPts val="0"/>
              </a:spcAft>
              <a:buNone/>
              <a:defRPr sz="1800" i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marL="0" marR="0" lvl="5" indent="0" algn="ctr" rtl="0">
              <a:spcBef>
                <a:spcPts val="0"/>
              </a:spcBef>
              <a:spcAft>
                <a:spcPts val="0"/>
              </a:spcAft>
              <a:buNone/>
              <a:defRPr sz="1800" i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marL="0" marR="0" lvl="6" indent="0" algn="ctr" rtl="0">
              <a:spcBef>
                <a:spcPts val="0"/>
              </a:spcBef>
              <a:spcAft>
                <a:spcPts val="0"/>
              </a:spcAft>
              <a:buNone/>
              <a:defRPr sz="1800" i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marL="0" marR="0" lvl="7" indent="0" algn="ctr" rtl="0">
              <a:spcBef>
                <a:spcPts val="0"/>
              </a:spcBef>
              <a:spcAft>
                <a:spcPts val="0"/>
              </a:spcAft>
              <a:buNone/>
              <a:defRPr sz="1800" i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marL="0" marR="0" lvl="8" indent="0" algn="ctr" rtl="0">
              <a:spcBef>
                <a:spcPts val="0"/>
              </a:spcBef>
              <a:spcAft>
                <a:spcPts val="0"/>
              </a:spcAft>
              <a:buNone/>
              <a:defRPr sz="1800" i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Slide </a:t>
            </a: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4 Content" type="fourObj">
  <p:cSld name="FOUR_OBJECTS">
    <p:bg>
      <p:bgPr>
        <a:solidFill>
          <a:schemeClr val="bg1"/>
        </a:solidFill>
        <a:effectLst/>
      </p:bgPr>
    </p:bg>
    <p:spTree>
      <p:nvGrpSpPr>
        <p:cNvPr id="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p14"/>
          <p:cNvSpPr txBox="1">
            <a:spLocks noGrp="1"/>
          </p:cNvSpPr>
          <p:nvPr>
            <p:ph type="title"/>
          </p:nvPr>
        </p:nvSpPr>
        <p:spPr>
          <a:xfrm>
            <a:off x="914400" y="304800"/>
            <a:ext cx="10363200" cy="60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3" name="Google Shape;83;p14"/>
          <p:cNvSpPr txBox="1">
            <a:spLocks noGrp="1"/>
          </p:cNvSpPr>
          <p:nvPr>
            <p:ph type="body" idx="1"/>
          </p:nvPr>
        </p:nvSpPr>
        <p:spPr>
          <a:xfrm>
            <a:off x="914400" y="1143000"/>
            <a:ext cx="5080000" cy="2400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2004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44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2pPr>
            <a:lvl3pPr marL="1371600" lvl="2" indent="-34290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6pPr>
            <a:lvl7pPr marL="3200400" lvl="6" indent="-34290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7pPr>
            <a:lvl8pPr marL="3657600" lvl="7" indent="-34290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8pPr>
            <a:lvl9pPr marL="4114800" lvl="8" indent="-34290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9pPr>
          </a:lstStyle>
          <a:p>
            <a:endParaRPr/>
          </a:p>
        </p:txBody>
      </p:sp>
      <p:sp>
        <p:nvSpPr>
          <p:cNvPr id="84" name="Google Shape;84;p14"/>
          <p:cNvSpPr txBox="1">
            <a:spLocks noGrp="1"/>
          </p:cNvSpPr>
          <p:nvPr>
            <p:ph type="body" idx="2"/>
          </p:nvPr>
        </p:nvSpPr>
        <p:spPr>
          <a:xfrm>
            <a:off x="6197600" y="1143000"/>
            <a:ext cx="5080000" cy="2400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2004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44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2pPr>
            <a:lvl3pPr marL="1371600" lvl="2" indent="-34290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6pPr>
            <a:lvl7pPr marL="3200400" lvl="6" indent="-34290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7pPr>
            <a:lvl8pPr marL="3657600" lvl="7" indent="-34290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8pPr>
            <a:lvl9pPr marL="4114800" lvl="8" indent="-34290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9pPr>
          </a:lstStyle>
          <a:p>
            <a:endParaRPr/>
          </a:p>
        </p:txBody>
      </p:sp>
      <p:sp>
        <p:nvSpPr>
          <p:cNvPr id="85" name="Google Shape;85;p14"/>
          <p:cNvSpPr txBox="1">
            <a:spLocks noGrp="1"/>
          </p:cNvSpPr>
          <p:nvPr>
            <p:ph type="body" idx="3"/>
          </p:nvPr>
        </p:nvSpPr>
        <p:spPr>
          <a:xfrm>
            <a:off x="914400" y="3695700"/>
            <a:ext cx="5080000" cy="2400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2004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44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2pPr>
            <a:lvl3pPr marL="1371600" lvl="2" indent="-34290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6pPr>
            <a:lvl7pPr marL="3200400" lvl="6" indent="-34290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7pPr>
            <a:lvl8pPr marL="3657600" lvl="7" indent="-34290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8pPr>
            <a:lvl9pPr marL="4114800" lvl="8" indent="-34290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9pPr>
          </a:lstStyle>
          <a:p>
            <a:endParaRPr/>
          </a:p>
        </p:txBody>
      </p:sp>
      <p:sp>
        <p:nvSpPr>
          <p:cNvPr id="86" name="Google Shape;86;p14"/>
          <p:cNvSpPr txBox="1">
            <a:spLocks noGrp="1"/>
          </p:cNvSpPr>
          <p:nvPr>
            <p:ph type="body" idx="4"/>
          </p:nvPr>
        </p:nvSpPr>
        <p:spPr>
          <a:xfrm>
            <a:off x="6197600" y="3695700"/>
            <a:ext cx="5080000" cy="2400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2004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44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2pPr>
            <a:lvl3pPr marL="1371600" lvl="2" indent="-34290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6pPr>
            <a:lvl7pPr marL="3200400" lvl="6" indent="-34290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7pPr>
            <a:lvl8pPr marL="3657600" lvl="7" indent="-34290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8pPr>
            <a:lvl9pPr marL="4114800" lvl="8" indent="-34290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9pPr>
          </a:lstStyle>
          <a:p>
            <a:endParaRPr/>
          </a:p>
        </p:txBody>
      </p:sp>
      <p:sp>
        <p:nvSpPr>
          <p:cNvPr id="87" name="Google Shape;87;p14"/>
          <p:cNvSpPr txBox="1">
            <a:spLocks noGrp="1"/>
          </p:cNvSpPr>
          <p:nvPr>
            <p:ph type="dt" idx="10"/>
          </p:nvPr>
        </p:nvSpPr>
        <p:spPr>
          <a:xfrm>
            <a:off x="914400" y="6534150"/>
            <a:ext cx="25400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i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R="0" lvl="1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marR="0" lvl="2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marR="0" lvl="3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marR="0" lvl="4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endParaRPr/>
          </a:p>
        </p:txBody>
      </p:sp>
      <p:sp>
        <p:nvSpPr>
          <p:cNvPr id="88" name="Google Shape;88;p14"/>
          <p:cNvSpPr txBox="1">
            <a:spLocks noGrp="1"/>
          </p:cNvSpPr>
          <p:nvPr>
            <p:ph type="ftr" idx="11"/>
          </p:nvPr>
        </p:nvSpPr>
        <p:spPr>
          <a:xfrm>
            <a:off x="4165600" y="6553200"/>
            <a:ext cx="3860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i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R="0" lvl="1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marR="0" lvl="2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marR="0" lvl="3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marR="0" lvl="4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endParaRPr/>
          </a:p>
        </p:txBody>
      </p:sp>
      <p:sp>
        <p:nvSpPr>
          <p:cNvPr id="89" name="Google Shape;89;p14"/>
          <p:cNvSpPr txBox="1">
            <a:spLocks noGrp="1"/>
          </p:cNvSpPr>
          <p:nvPr>
            <p:ph type="sldNum" idx="12"/>
          </p:nvPr>
        </p:nvSpPr>
        <p:spPr>
          <a:xfrm>
            <a:off x="8737600" y="6534150"/>
            <a:ext cx="25400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marR="0" lvl="0" indent="0" algn="ctr" rtl="0">
              <a:spcBef>
                <a:spcPts val="0"/>
              </a:spcBef>
              <a:spcAft>
                <a:spcPts val="0"/>
              </a:spcAft>
              <a:buNone/>
              <a:defRPr sz="1800" i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L="0" marR="0" lvl="1" indent="0" algn="ctr" rtl="0">
              <a:spcBef>
                <a:spcPts val="0"/>
              </a:spcBef>
              <a:spcAft>
                <a:spcPts val="0"/>
              </a:spcAft>
              <a:buNone/>
              <a:defRPr sz="1800" i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marL="0" marR="0" lvl="2" indent="0" algn="ctr" rtl="0">
              <a:spcBef>
                <a:spcPts val="0"/>
              </a:spcBef>
              <a:spcAft>
                <a:spcPts val="0"/>
              </a:spcAft>
              <a:buNone/>
              <a:defRPr sz="1800" i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marL="0" marR="0" lvl="3" indent="0" algn="ctr" rtl="0">
              <a:spcBef>
                <a:spcPts val="0"/>
              </a:spcBef>
              <a:spcAft>
                <a:spcPts val="0"/>
              </a:spcAft>
              <a:buNone/>
              <a:defRPr sz="1800" i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marL="0" marR="0" lvl="4" indent="0" algn="ctr" rtl="0">
              <a:spcBef>
                <a:spcPts val="0"/>
              </a:spcBef>
              <a:spcAft>
                <a:spcPts val="0"/>
              </a:spcAft>
              <a:buNone/>
              <a:defRPr sz="1800" i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marL="0" marR="0" lvl="5" indent="0" algn="ctr" rtl="0">
              <a:spcBef>
                <a:spcPts val="0"/>
              </a:spcBef>
              <a:spcAft>
                <a:spcPts val="0"/>
              </a:spcAft>
              <a:buNone/>
              <a:defRPr sz="1800" i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marL="0" marR="0" lvl="6" indent="0" algn="ctr" rtl="0">
              <a:spcBef>
                <a:spcPts val="0"/>
              </a:spcBef>
              <a:spcAft>
                <a:spcPts val="0"/>
              </a:spcAft>
              <a:buNone/>
              <a:defRPr sz="1800" i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marL="0" marR="0" lvl="7" indent="0" algn="ctr" rtl="0">
              <a:spcBef>
                <a:spcPts val="0"/>
              </a:spcBef>
              <a:spcAft>
                <a:spcPts val="0"/>
              </a:spcAft>
              <a:buNone/>
              <a:defRPr sz="1800" i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marL="0" marR="0" lvl="8" indent="0" algn="ctr" rtl="0">
              <a:spcBef>
                <a:spcPts val="0"/>
              </a:spcBef>
              <a:spcAft>
                <a:spcPts val="0"/>
              </a:spcAft>
              <a:buNone/>
              <a:defRPr sz="1800" i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Slide </a:t>
            </a: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, Text, and 2 Content" type="txAndTwoObj">
  <p:cSld name="TEXT_AND_TWO_OBJECTS">
    <p:bg>
      <p:bgPr>
        <a:solidFill>
          <a:schemeClr val="bg1"/>
        </a:solidFill>
        <a:effectLst/>
      </p:bgPr>
    </p:bg>
    <p:spTree>
      <p:nvGrpSpPr>
        <p:cNvPr id="1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16"/>
          <p:cNvSpPr txBox="1">
            <a:spLocks noGrp="1"/>
          </p:cNvSpPr>
          <p:nvPr>
            <p:ph type="title"/>
          </p:nvPr>
        </p:nvSpPr>
        <p:spPr>
          <a:xfrm>
            <a:off x="914400" y="304800"/>
            <a:ext cx="10363200" cy="60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9" name="Google Shape;99;p16"/>
          <p:cNvSpPr txBox="1">
            <a:spLocks noGrp="1"/>
          </p:cNvSpPr>
          <p:nvPr>
            <p:ph type="body" idx="1"/>
          </p:nvPr>
        </p:nvSpPr>
        <p:spPr>
          <a:xfrm>
            <a:off x="914400" y="1143000"/>
            <a:ext cx="5080000" cy="495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2004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44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2pPr>
            <a:lvl3pPr marL="1371600" lvl="2" indent="-34290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6pPr>
            <a:lvl7pPr marL="3200400" lvl="6" indent="-34290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7pPr>
            <a:lvl8pPr marL="3657600" lvl="7" indent="-34290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8pPr>
            <a:lvl9pPr marL="4114800" lvl="8" indent="-34290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9pPr>
          </a:lstStyle>
          <a:p>
            <a:endParaRPr/>
          </a:p>
        </p:txBody>
      </p:sp>
      <p:sp>
        <p:nvSpPr>
          <p:cNvPr id="100" name="Google Shape;100;p16"/>
          <p:cNvSpPr txBox="1">
            <a:spLocks noGrp="1"/>
          </p:cNvSpPr>
          <p:nvPr>
            <p:ph type="body" idx="2"/>
          </p:nvPr>
        </p:nvSpPr>
        <p:spPr>
          <a:xfrm>
            <a:off x="6197600" y="1143000"/>
            <a:ext cx="5080000" cy="2400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2004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44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2pPr>
            <a:lvl3pPr marL="1371600" lvl="2" indent="-34290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6pPr>
            <a:lvl7pPr marL="3200400" lvl="6" indent="-34290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7pPr>
            <a:lvl8pPr marL="3657600" lvl="7" indent="-34290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8pPr>
            <a:lvl9pPr marL="4114800" lvl="8" indent="-34290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9pPr>
          </a:lstStyle>
          <a:p>
            <a:endParaRPr/>
          </a:p>
        </p:txBody>
      </p:sp>
      <p:sp>
        <p:nvSpPr>
          <p:cNvPr id="101" name="Google Shape;101;p16"/>
          <p:cNvSpPr txBox="1">
            <a:spLocks noGrp="1"/>
          </p:cNvSpPr>
          <p:nvPr>
            <p:ph type="body" idx="3"/>
          </p:nvPr>
        </p:nvSpPr>
        <p:spPr>
          <a:xfrm>
            <a:off x="6197600" y="3695700"/>
            <a:ext cx="5080000" cy="2400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2004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44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2pPr>
            <a:lvl3pPr marL="1371600" lvl="2" indent="-34290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6pPr>
            <a:lvl7pPr marL="3200400" lvl="6" indent="-34290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7pPr>
            <a:lvl8pPr marL="3657600" lvl="7" indent="-34290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8pPr>
            <a:lvl9pPr marL="4114800" lvl="8" indent="-34290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9pPr>
          </a:lstStyle>
          <a:p>
            <a:endParaRPr/>
          </a:p>
        </p:txBody>
      </p:sp>
      <p:sp>
        <p:nvSpPr>
          <p:cNvPr id="102" name="Google Shape;102;p16"/>
          <p:cNvSpPr txBox="1">
            <a:spLocks noGrp="1"/>
          </p:cNvSpPr>
          <p:nvPr>
            <p:ph type="dt" idx="10"/>
          </p:nvPr>
        </p:nvSpPr>
        <p:spPr>
          <a:xfrm>
            <a:off x="914400" y="6534150"/>
            <a:ext cx="25400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i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R="0" lvl="1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marR="0" lvl="2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marR="0" lvl="3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marR="0" lvl="4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endParaRPr/>
          </a:p>
        </p:txBody>
      </p:sp>
      <p:sp>
        <p:nvSpPr>
          <p:cNvPr id="103" name="Google Shape;103;p16"/>
          <p:cNvSpPr txBox="1">
            <a:spLocks noGrp="1"/>
          </p:cNvSpPr>
          <p:nvPr>
            <p:ph type="ftr" idx="11"/>
          </p:nvPr>
        </p:nvSpPr>
        <p:spPr>
          <a:xfrm>
            <a:off x="4165600" y="6553200"/>
            <a:ext cx="3860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i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R="0" lvl="1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marR="0" lvl="2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marR="0" lvl="3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marR="0" lvl="4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endParaRPr/>
          </a:p>
        </p:txBody>
      </p:sp>
      <p:sp>
        <p:nvSpPr>
          <p:cNvPr id="104" name="Google Shape;104;p16"/>
          <p:cNvSpPr txBox="1">
            <a:spLocks noGrp="1"/>
          </p:cNvSpPr>
          <p:nvPr>
            <p:ph type="sldNum" idx="12"/>
          </p:nvPr>
        </p:nvSpPr>
        <p:spPr>
          <a:xfrm>
            <a:off x="8737600" y="6534150"/>
            <a:ext cx="25400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marR="0" lvl="0" indent="0" algn="ctr" rtl="0">
              <a:spcBef>
                <a:spcPts val="0"/>
              </a:spcBef>
              <a:spcAft>
                <a:spcPts val="0"/>
              </a:spcAft>
              <a:buNone/>
              <a:defRPr sz="1800" i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L="0" marR="0" lvl="1" indent="0" algn="ctr" rtl="0">
              <a:spcBef>
                <a:spcPts val="0"/>
              </a:spcBef>
              <a:spcAft>
                <a:spcPts val="0"/>
              </a:spcAft>
              <a:buNone/>
              <a:defRPr sz="1800" i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marL="0" marR="0" lvl="2" indent="0" algn="ctr" rtl="0">
              <a:spcBef>
                <a:spcPts val="0"/>
              </a:spcBef>
              <a:spcAft>
                <a:spcPts val="0"/>
              </a:spcAft>
              <a:buNone/>
              <a:defRPr sz="1800" i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marL="0" marR="0" lvl="3" indent="0" algn="ctr" rtl="0">
              <a:spcBef>
                <a:spcPts val="0"/>
              </a:spcBef>
              <a:spcAft>
                <a:spcPts val="0"/>
              </a:spcAft>
              <a:buNone/>
              <a:defRPr sz="1800" i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marL="0" marR="0" lvl="4" indent="0" algn="ctr" rtl="0">
              <a:spcBef>
                <a:spcPts val="0"/>
              </a:spcBef>
              <a:spcAft>
                <a:spcPts val="0"/>
              </a:spcAft>
              <a:buNone/>
              <a:defRPr sz="1800" i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marL="0" marR="0" lvl="5" indent="0" algn="ctr" rtl="0">
              <a:spcBef>
                <a:spcPts val="0"/>
              </a:spcBef>
              <a:spcAft>
                <a:spcPts val="0"/>
              </a:spcAft>
              <a:buNone/>
              <a:defRPr sz="1800" i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marL="0" marR="0" lvl="6" indent="0" algn="ctr" rtl="0">
              <a:spcBef>
                <a:spcPts val="0"/>
              </a:spcBef>
              <a:spcAft>
                <a:spcPts val="0"/>
              </a:spcAft>
              <a:buNone/>
              <a:defRPr sz="1800" i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marL="0" marR="0" lvl="7" indent="0" algn="ctr" rtl="0">
              <a:spcBef>
                <a:spcPts val="0"/>
              </a:spcBef>
              <a:spcAft>
                <a:spcPts val="0"/>
              </a:spcAft>
              <a:buNone/>
              <a:defRPr sz="1800" i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marL="0" marR="0" lvl="8" indent="0" algn="ctr" rtl="0">
              <a:spcBef>
                <a:spcPts val="0"/>
              </a:spcBef>
              <a:spcAft>
                <a:spcPts val="0"/>
              </a:spcAft>
              <a:buNone/>
              <a:defRPr sz="1800" i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Slide </a:t>
            </a: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" type="objOnly">
  <p:cSld name="OBJECT_ONLY">
    <p:bg>
      <p:bgPr>
        <a:solidFill>
          <a:schemeClr val="bg1"/>
        </a:solidFill>
        <a:effectLst/>
      </p:bgPr>
    </p:bg>
    <p:spTree>
      <p:nvGrpSpPr>
        <p:cNvPr id="1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p17"/>
          <p:cNvSpPr txBox="1">
            <a:spLocks noGrp="1"/>
          </p:cNvSpPr>
          <p:nvPr>
            <p:ph type="body" idx="1"/>
          </p:nvPr>
        </p:nvSpPr>
        <p:spPr>
          <a:xfrm>
            <a:off x="914400" y="304800"/>
            <a:ext cx="10363200" cy="579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2004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44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2pPr>
            <a:lvl3pPr marL="1371600" lvl="2" indent="-34290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6pPr>
            <a:lvl7pPr marL="3200400" lvl="6" indent="-34290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7pPr>
            <a:lvl8pPr marL="3657600" lvl="7" indent="-34290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8pPr>
            <a:lvl9pPr marL="4114800" lvl="8" indent="-34290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9pPr>
          </a:lstStyle>
          <a:p>
            <a:endParaRPr/>
          </a:p>
        </p:txBody>
      </p:sp>
      <p:sp>
        <p:nvSpPr>
          <p:cNvPr id="107" name="Google Shape;107;p17"/>
          <p:cNvSpPr txBox="1">
            <a:spLocks noGrp="1"/>
          </p:cNvSpPr>
          <p:nvPr>
            <p:ph type="dt" idx="10"/>
          </p:nvPr>
        </p:nvSpPr>
        <p:spPr>
          <a:xfrm>
            <a:off x="914400" y="6534150"/>
            <a:ext cx="25400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i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R="0" lvl="1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marR="0" lvl="2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marR="0" lvl="3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marR="0" lvl="4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endParaRPr/>
          </a:p>
        </p:txBody>
      </p:sp>
      <p:sp>
        <p:nvSpPr>
          <p:cNvPr id="108" name="Google Shape;108;p17"/>
          <p:cNvSpPr txBox="1">
            <a:spLocks noGrp="1"/>
          </p:cNvSpPr>
          <p:nvPr>
            <p:ph type="ftr" idx="11"/>
          </p:nvPr>
        </p:nvSpPr>
        <p:spPr>
          <a:xfrm>
            <a:off x="4165600" y="6553200"/>
            <a:ext cx="3860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i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R="0" lvl="1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marR="0" lvl="2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marR="0" lvl="3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marR="0" lvl="4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endParaRPr/>
          </a:p>
        </p:txBody>
      </p:sp>
      <p:sp>
        <p:nvSpPr>
          <p:cNvPr id="109" name="Google Shape;109;p17"/>
          <p:cNvSpPr txBox="1">
            <a:spLocks noGrp="1"/>
          </p:cNvSpPr>
          <p:nvPr>
            <p:ph type="sldNum" idx="12"/>
          </p:nvPr>
        </p:nvSpPr>
        <p:spPr>
          <a:xfrm>
            <a:off x="8737600" y="6534150"/>
            <a:ext cx="25400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marR="0" lvl="0" indent="0" algn="ctr" rtl="0">
              <a:spcBef>
                <a:spcPts val="0"/>
              </a:spcBef>
              <a:spcAft>
                <a:spcPts val="0"/>
              </a:spcAft>
              <a:buNone/>
              <a:defRPr sz="1800" i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L="0" marR="0" lvl="1" indent="0" algn="ctr" rtl="0">
              <a:spcBef>
                <a:spcPts val="0"/>
              </a:spcBef>
              <a:spcAft>
                <a:spcPts val="0"/>
              </a:spcAft>
              <a:buNone/>
              <a:defRPr sz="1800" i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marL="0" marR="0" lvl="2" indent="0" algn="ctr" rtl="0">
              <a:spcBef>
                <a:spcPts val="0"/>
              </a:spcBef>
              <a:spcAft>
                <a:spcPts val="0"/>
              </a:spcAft>
              <a:buNone/>
              <a:defRPr sz="1800" i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marL="0" marR="0" lvl="3" indent="0" algn="ctr" rtl="0">
              <a:spcBef>
                <a:spcPts val="0"/>
              </a:spcBef>
              <a:spcAft>
                <a:spcPts val="0"/>
              </a:spcAft>
              <a:buNone/>
              <a:defRPr sz="1800" i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marL="0" marR="0" lvl="4" indent="0" algn="ctr" rtl="0">
              <a:spcBef>
                <a:spcPts val="0"/>
              </a:spcBef>
              <a:spcAft>
                <a:spcPts val="0"/>
              </a:spcAft>
              <a:buNone/>
              <a:defRPr sz="1800" i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marL="0" marR="0" lvl="5" indent="0" algn="ctr" rtl="0">
              <a:spcBef>
                <a:spcPts val="0"/>
              </a:spcBef>
              <a:spcAft>
                <a:spcPts val="0"/>
              </a:spcAft>
              <a:buNone/>
              <a:defRPr sz="1800" i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marL="0" marR="0" lvl="6" indent="0" algn="ctr" rtl="0">
              <a:spcBef>
                <a:spcPts val="0"/>
              </a:spcBef>
              <a:spcAft>
                <a:spcPts val="0"/>
              </a:spcAft>
              <a:buNone/>
              <a:defRPr sz="1800" i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marL="0" marR="0" lvl="7" indent="0" algn="ctr" rtl="0">
              <a:spcBef>
                <a:spcPts val="0"/>
              </a:spcBef>
              <a:spcAft>
                <a:spcPts val="0"/>
              </a:spcAft>
              <a:buNone/>
              <a:defRPr sz="1800" i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marL="0" marR="0" lvl="8" indent="0" algn="ctr" rtl="0">
              <a:spcBef>
                <a:spcPts val="0"/>
              </a:spcBef>
              <a:spcAft>
                <a:spcPts val="0"/>
              </a:spcAft>
              <a:buNone/>
              <a:defRPr sz="1800" i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Slide </a:t>
            </a: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objOnly">
  <p:cSld name="1_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/>
          </p:nvPr>
        </p:nvSpPr>
        <p:spPr>
          <a:xfrm>
            <a:off x="914400" y="304800"/>
            <a:ext cx="10363200" cy="57912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>
          <a:xfrm>
            <a:off x="914400" y="6534150"/>
            <a:ext cx="2540000" cy="457200"/>
          </a:xfrm>
          <a:prstGeom prst="rect">
            <a:avLst/>
          </a:prstGeom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>
          <a:xfrm>
            <a:off x="4165600" y="6553200"/>
            <a:ext cx="3860800" cy="457200"/>
          </a:xfrm>
          <a:prstGeom prst="rect">
            <a:avLst/>
          </a:prstGeom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© 2019 W.B. Powell</a:t>
            </a:r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>
          <a:xfrm>
            <a:off x="8737600" y="6534150"/>
            <a:ext cx="2540000" cy="457200"/>
          </a:xfrm>
          <a:prstGeom prst="rect">
            <a:avLst/>
          </a:prstGeom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Slide </a:t>
            </a:r>
            <a:fld id="{628028B9-87C7-4915-BF62-49E2F3848450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0316427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microsoft.com/office/2007/relationships/hdphoto" Target="../media/hdphoto1.wdp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image" Target="../media/image2.png"/><Relationship Id="rId2" Type="http://schemas.openxmlformats.org/officeDocument/2006/relationships/slideLayout" Target="../slideLayouts/slideLayout2.xml"/><Relationship Id="rId16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1"/>
          <p:cNvSpPr txBox="1">
            <a:spLocks noGrp="1"/>
          </p:cNvSpPr>
          <p:nvPr>
            <p:ph type="title"/>
          </p:nvPr>
        </p:nvSpPr>
        <p:spPr>
          <a:xfrm>
            <a:off x="914400" y="304800"/>
            <a:ext cx="10363200" cy="60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3600" b="0" i="0" u="none" strike="noStrike" cap="non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3600" b="0" i="0" u="none" strike="noStrike" cap="non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3600" b="0" i="0" u="none" strike="noStrike" cap="non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3600" b="0" i="0" u="none" strike="noStrike" cap="non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3600" b="0" i="0" u="none" strike="noStrike" cap="non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3600" b="0" i="0" u="none" strike="noStrike" cap="non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3600" b="0" i="0" u="none" strike="noStrike" cap="non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3600" b="0" i="0" u="none" strike="noStrike" cap="non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3600" b="0" i="0" u="none" strike="noStrike" cap="non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endParaRPr/>
          </a:p>
        </p:txBody>
      </p:sp>
      <p:sp>
        <p:nvSpPr>
          <p:cNvPr id="11" name="Google Shape;11;p1"/>
          <p:cNvSpPr txBox="1">
            <a:spLocks noGrp="1"/>
          </p:cNvSpPr>
          <p:nvPr>
            <p:ph type="body" idx="1"/>
          </p:nvPr>
        </p:nvSpPr>
        <p:spPr>
          <a:xfrm>
            <a:off x="914400" y="1143000"/>
            <a:ext cx="10363200" cy="495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37084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240"/>
              <a:buFont typeface="Times New Roman"/>
              <a:buChar char="•"/>
              <a:defRPr sz="28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L="914400" marR="0" lvl="1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 New Roman"/>
              <a:buChar char="»"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marL="1371600" marR="0" lvl="2" indent="-3556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Char char="•"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marL="1828800" marR="0" lvl="3" indent="-3556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Char char="–"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marL="2286000" marR="0" lvl="4" indent="-3556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Char char="»"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marL="2743200" marR="0" lvl="5" indent="-3556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Char char="»"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marL="3200400" marR="0" lvl="6" indent="-3556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Char char="»"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marL="3657600" marR="0" lvl="7" indent="-3556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Char char="»"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marL="4114800" marR="0" lvl="8" indent="-3556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Char char="»"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endParaRPr/>
          </a:p>
        </p:txBody>
      </p:sp>
      <p:sp>
        <p:nvSpPr>
          <p:cNvPr id="4" name="Google Shape;22;p3">
            <a:extLst>
              <a:ext uri="{FF2B5EF4-FFF2-40B4-BE49-F238E27FC236}">
                <a16:creationId xmlns:a16="http://schemas.microsoft.com/office/drawing/2014/main" id="{8DAADDE6-9D87-4A94-9A5F-2FE2DE75B0D7}"/>
              </a:ext>
            </a:extLst>
          </p:cNvPr>
          <p:cNvSpPr/>
          <p:nvPr userDrawn="1"/>
        </p:nvSpPr>
        <p:spPr>
          <a:xfrm>
            <a:off x="0" y="977750"/>
            <a:ext cx="3772862" cy="59595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solidFill>
              <a:srgbClr val="006699"/>
            </a:solidFill>
          </a:ln>
        </p:spPr>
        <p:txBody>
          <a:bodyPr spcFirstLastPara="1" wrap="square" lIns="45700" tIns="45700" rIns="45700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600"/>
              <a:buFont typeface="Raleway"/>
              <a:buNone/>
            </a:pPr>
            <a:endParaRPr sz="3000" b="0" i="0" u="none" strike="noStrike" cap="none">
              <a:solidFill>
                <a:srgbClr val="FFFFFF"/>
              </a:solidFill>
              <a:latin typeface="Raleway"/>
              <a:ea typeface="Raleway"/>
              <a:cs typeface="Raleway"/>
              <a:sym typeface="Raleway"/>
            </a:endParaRPr>
          </a:p>
        </p:txBody>
      </p:sp>
      <p:pic>
        <p:nvPicPr>
          <p:cNvPr id="5" name="Google Shape;129;p18">
            <a:extLst>
              <a:ext uri="{FF2B5EF4-FFF2-40B4-BE49-F238E27FC236}">
                <a16:creationId xmlns:a16="http://schemas.microsoft.com/office/drawing/2014/main" id="{2199409B-45F8-4A01-AB9C-7EA2B2CCD078}"/>
              </a:ext>
            </a:extLst>
          </p:cNvPr>
          <p:cNvPicPr preferRelativeResize="0"/>
          <p:nvPr userDrawn="1"/>
        </p:nvPicPr>
        <p:blipFill>
          <a:blip r:embed="rId16">
            <a:alphaModFix/>
          </a:blip>
          <a:stretch>
            <a:fillRect/>
          </a:stretch>
        </p:blipFill>
        <p:spPr>
          <a:xfrm>
            <a:off x="156373" y="6533883"/>
            <a:ext cx="2041301" cy="204800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Google Shape;23;p3">
            <a:extLst>
              <a:ext uri="{FF2B5EF4-FFF2-40B4-BE49-F238E27FC236}">
                <a16:creationId xmlns:a16="http://schemas.microsoft.com/office/drawing/2014/main" id="{1D1BDBDF-7EA2-8C6E-6985-BFD39B103D2C}"/>
              </a:ext>
            </a:extLst>
          </p:cNvPr>
          <p:cNvSpPr/>
          <p:nvPr userDrawn="1"/>
        </p:nvSpPr>
        <p:spPr>
          <a:xfrm>
            <a:off x="4885608" y="6521551"/>
            <a:ext cx="1837408" cy="30318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Font typeface="Playfair Display"/>
              <a:buNone/>
            </a:pPr>
            <a:r>
              <a:rPr lang="en-US" sz="900" b="0" dirty="0">
                <a:solidFill>
                  <a:schemeClr val="tx1"/>
                </a:solidFill>
                <a:latin typeface="Raleway" pitchFamily="2" charset="0"/>
                <a:ea typeface="Raleway Thin"/>
                <a:cs typeface="Raleway Thin"/>
                <a:sym typeface="Raleway Thin"/>
              </a:rPr>
              <a:t>© WARREN POWELL 2026</a:t>
            </a:r>
            <a:endParaRPr sz="900" b="0" dirty="0">
              <a:solidFill>
                <a:schemeClr val="tx1"/>
              </a:solidFill>
              <a:latin typeface="Raleway" pitchFamily="2" charset="0"/>
              <a:ea typeface="Raleway Thin"/>
              <a:cs typeface="Raleway Thin"/>
              <a:sym typeface="Raleway Thin"/>
            </a:endParaRPr>
          </a:p>
        </p:txBody>
      </p:sp>
      <p:pic>
        <p:nvPicPr>
          <p:cNvPr id="6" name="Picture 5" descr="A picture containing text, clipart&#10;&#10;Description automatically generated">
            <a:extLst>
              <a:ext uri="{FF2B5EF4-FFF2-40B4-BE49-F238E27FC236}">
                <a16:creationId xmlns:a16="http://schemas.microsoft.com/office/drawing/2014/main" id="{6ED04E7B-9405-B242-E92F-713BCFDEE4BD}"/>
              </a:ext>
            </a:extLst>
          </p:cNvPr>
          <p:cNvPicPr>
            <a:picLocks noChangeAspect="1"/>
          </p:cNvPicPr>
          <p:nvPr userDrawn="1"/>
        </p:nvPicPr>
        <p:blipFill>
          <a:blip r:embed="rId17">
            <a:extLst>
              <a:ext uri="{BEBA8EAE-BF5A-486C-A8C5-ECC9F3942E4B}">
                <a14:imgProps xmlns:a14="http://schemas.microsoft.com/office/drawing/2010/main">
                  <a14:imgLayer r:embed="rId18">
                    <a14:imgEffect>
                      <a14:backgroundRemoval t="5495" b="97253" l="4706" r="97059">
                        <a14:foregroundMark x1="45294" y1="24725" x2="45294" y2="24725"/>
                        <a14:foregroundMark x1="56471" y1="23626" x2="56471" y2="23626"/>
                        <a14:foregroundMark x1="41765" y1="20879" x2="41765" y2="20879"/>
                        <a14:foregroundMark x1="10000" y1="72527" x2="10000" y2="72527"/>
                        <a14:foregroundMark x1="10588" y1="79121" x2="10588" y2="79121"/>
                        <a14:foregroundMark x1="11765" y1="68681" x2="11765" y2="68681"/>
                        <a14:foregroundMark x1="6471" y1="68681" x2="6471" y2="68681"/>
                        <a14:foregroundMark x1="40000" y1="30220" x2="40000" y2="30220"/>
                        <a14:foregroundMark x1="54706" y1="20879" x2="54706" y2="20879"/>
                        <a14:foregroundMark x1="54706" y1="30220" x2="54706" y2="30220"/>
                        <a14:foregroundMark x1="54706" y1="30220" x2="54706" y2="30220"/>
                        <a14:foregroundMark x1="51765" y1="24176" x2="51765" y2="24176"/>
                        <a14:foregroundMark x1="53529" y1="30769" x2="53529" y2="30769"/>
                        <a14:foregroundMark x1="45882" y1="29670" x2="45882" y2="29670"/>
                        <a14:foregroundMark x1="8824" y1="87363" x2="8824" y2="87363"/>
                        <a14:foregroundMark x1="19412" y1="89011" x2="19412" y2="89011"/>
                        <a14:foregroundMark x1="31176" y1="93407" x2="31176" y2="93407"/>
                        <a14:foregroundMark x1="24118" y1="95604" x2="24118" y2="96154"/>
                        <a14:foregroundMark x1="24118" y1="87912" x2="24118" y2="95604"/>
                        <a14:foregroundMark x1="5882" y1="65385" x2="5882" y2="65385"/>
                        <a14:foregroundMark x1="9413" y1="62088" x2="8235" y2="61538"/>
                        <a14:foregroundMark x1="10588" y1="62637" x2="9413" y2="62088"/>
                        <a14:foregroundMark x1="16471" y1="65385" x2="10588" y2="62637"/>
                        <a14:foregroundMark x1="28235" y1="89560" x2="28235" y2="89560"/>
                        <a14:foregroundMark x1="31765" y1="96703" x2="31765" y2="96703"/>
                        <a14:foregroundMark x1="38235" y1="95604" x2="38235" y2="95604"/>
                        <a14:foregroundMark x1="35882" y1="92857" x2="35882" y2="92857"/>
                        <a14:foregroundMark x1="34118" y1="90110" x2="34118" y2="90110"/>
                        <a14:foregroundMark x1="41765" y1="90659" x2="41765" y2="90659"/>
                        <a14:foregroundMark x1="41765" y1="93956" x2="41765" y2="93956"/>
                        <a14:foregroundMark x1="45882" y1="97253" x2="45882" y2="97253"/>
                        <a14:foregroundMark x1="50000" y1="97802" x2="50000" y2="97802"/>
                        <a14:foregroundMark x1="52941" y1="97802" x2="52941" y2="97802"/>
                        <a14:foregroundMark x1="58235" y1="97253" x2="58235" y2="97253"/>
                        <a14:foregroundMark x1="61176" y1="97802" x2="61176" y2="97802"/>
                        <a14:foregroundMark x1="60000" y1="90110" x2="60000" y2="90110"/>
                        <a14:foregroundMark x1="64118" y1="90659" x2="64118" y2="90659"/>
                        <a14:foregroundMark x1="70000" y1="86813" x2="70000" y2="86813"/>
                        <a14:foregroundMark x1="74118" y1="85165" x2="74118" y2="85165"/>
                        <a14:foregroundMark x1="75882" y1="91758" x2="75882" y2="91758"/>
                        <a14:foregroundMark x1="87647" y1="75275" x2="87647" y2="75275"/>
                        <a14:foregroundMark x1="87647" y1="75275" x2="87647" y2="75275"/>
                        <a14:foregroundMark x1="87647" y1="72527" x2="87647" y2="72527"/>
                        <a14:foregroundMark x1="84706" y1="80769" x2="84706" y2="80769"/>
                        <a14:foregroundMark x1="92941" y1="82418" x2="92941" y2="82418"/>
                        <a14:foregroundMark x1="97059" y1="65934" x2="97059" y2="65934"/>
                        <a14:foregroundMark x1="88235" y1="65934" x2="88235" y2="65934"/>
                        <a14:foregroundMark x1="10000" y1="62088" x2="10000" y2="62088"/>
                        <a14:foregroundMark x1="10000" y1="62088" x2="10000" y2="62088"/>
                        <a14:foregroundMark x1="10000" y1="62088" x2="10000" y2="62088"/>
                        <a14:foregroundMark x1="10000" y1="62088" x2="10000" y2="62088"/>
                        <a14:foregroundMark x1="50000" y1="5495" x2="50000" y2="5495"/>
                        <a14:foregroundMark x1="9412" y1="62637" x2="9412" y2="62637"/>
                        <a14:foregroundMark x1="9412" y1="62088" x2="9412" y2="62088"/>
                        <a14:foregroundMark x1="9412" y1="62088" x2="9412" y2="62088"/>
                        <a14:foregroundMark x1="9412" y1="62088" x2="9412" y2="62088"/>
                        <a14:foregroundMark x1="9412" y1="62088" x2="9412" y2="62088"/>
                        <a14:backgroundMark x1="9412" y1="61538" x2="9412" y2="61538"/>
                        <a14:backgroundMark x1="8235" y1="60989" x2="8235" y2="60989"/>
                        <a14:backgroundMark x1="11765" y1="62637" x2="11765" y2="62637"/>
                        <a14:backgroundMark x1="10588" y1="62088" x2="10588" y2="62088"/>
                        <a14:backgroundMark x1="24706" y1="96154" x2="24706" y2="96154"/>
                        <a14:backgroundMark x1="24118" y1="95604" x2="24118" y2="95604"/>
                        <a14:backgroundMark x1="23529" y1="97253" x2="23529" y2="97253"/>
                        <a14:backgroundMark x1="24118" y1="97253" x2="24118" y2="97253"/>
                        <a14:backgroundMark x1="24118" y1="97253" x2="24118" y2="97253"/>
                        <a14:backgroundMark x1="23529" y1="97802" x2="23529" y2="97802"/>
                        <a14:backgroundMark x1="23529" y1="96703" x2="23529" y2="96703"/>
                        <a14:backgroundMark x1="23529" y1="96703" x2="23529" y2="96154"/>
                        <a14:backgroundMark x1="7647" y1="62088" x2="7647" y2="62088"/>
                        <a14:backgroundMark x1="8824" y1="62637" x2="8824" y2="62637"/>
                      </a14:backgroundRemoval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11649805" y="6324600"/>
            <a:ext cx="498231" cy="533400"/>
          </a:xfrm>
          <a:prstGeom prst="rect">
            <a:avLst/>
          </a:prstGeom>
        </p:spPr>
      </p:pic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3" r:id="rId5"/>
    <p:sldLayoutId id="2147483655" r:id="rId6"/>
    <p:sldLayoutId id="2147483656" r:id="rId7"/>
    <p:sldLayoutId id="2147483657" r:id="rId8"/>
    <p:sldLayoutId id="2147483658" r:id="rId9"/>
    <p:sldLayoutId id="2147483659" r:id="rId10"/>
    <p:sldLayoutId id="2147483660" r:id="rId11"/>
    <p:sldLayoutId id="2147483662" r:id="rId12"/>
    <p:sldLayoutId id="2147483663" r:id="rId13"/>
    <p:sldLayoutId id="2147483670" r:id="rId14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1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58.xml"/><Relationship Id="rId1" Type="http://schemas.openxmlformats.org/officeDocument/2006/relationships/slideLayout" Target="../slideLayouts/slideLayout2.xml"/></Relationships>
</file>

<file path=ppt/slides/_rels/slide1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59.xml"/><Relationship Id="rId1" Type="http://schemas.openxmlformats.org/officeDocument/2006/relationships/slideLayout" Target="../slideLayouts/slideLayout2.xml"/></Relationships>
</file>

<file path=ppt/slides/_rels/slide1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60.xml"/><Relationship Id="rId1" Type="http://schemas.openxmlformats.org/officeDocument/2006/relationships/slideLayout" Target="../slideLayouts/slideLayout2.xml"/></Relationships>
</file>

<file path=ppt/slides/_rels/slide1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4.png"/><Relationship Id="rId1" Type="http://schemas.openxmlformats.org/officeDocument/2006/relationships/slideLayout" Target="../slideLayouts/slideLayout2.xml"/></Relationships>
</file>

<file path=ppt/slides/_rels/slide1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5.png"/><Relationship Id="rId2" Type="http://schemas.openxmlformats.org/officeDocument/2006/relationships/notesSlide" Target="../notesSlides/notesSlide61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67.png"/><Relationship Id="rId4" Type="http://schemas.openxmlformats.org/officeDocument/2006/relationships/image" Target="../media/image66.png"/></Relationships>
</file>

<file path=ppt/slides/_rels/slide1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8.png"/><Relationship Id="rId2" Type="http://schemas.openxmlformats.org/officeDocument/2006/relationships/notesSlide" Target="../notesSlides/notesSlide6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9.png"/></Relationships>
</file>

<file path=ppt/slides/_rels/slide1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70.png"/><Relationship Id="rId1" Type="http://schemas.openxmlformats.org/officeDocument/2006/relationships/slideLayout" Target="../slideLayouts/slideLayout2.xml"/></Relationships>
</file>

<file path=ppt/slides/_rels/slide123.xml.rels><?xml version="1.0" encoding="UTF-8" standalone="yes"?>
<Relationships xmlns="http://schemas.openxmlformats.org/package/2006/relationships"><Relationship Id="rId8" Type="http://schemas.openxmlformats.org/officeDocument/2006/relationships/image" Target="../media/image74.png"/><Relationship Id="rId3" Type="http://schemas.openxmlformats.org/officeDocument/2006/relationships/image" Target="../media/image700.png"/><Relationship Id="rId2" Type="http://schemas.openxmlformats.org/officeDocument/2006/relationships/notesSlide" Target="../notesSlides/notesSlide63.xml"/><Relationship Id="rId1" Type="http://schemas.openxmlformats.org/officeDocument/2006/relationships/slideLayout" Target="../slideLayouts/slideLayout2.xml"/><Relationship Id="rId5" Type="http://schemas.microsoft.com/office/2007/relationships/hdphoto" Target="../media/hdphoto5.wdp"/><Relationship Id="rId10" Type="http://schemas.openxmlformats.org/officeDocument/2006/relationships/image" Target="../media/image73.png"/><Relationship Id="rId4" Type="http://schemas.openxmlformats.org/officeDocument/2006/relationships/image" Target="../media/image71.png"/><Relationship Id="rId9" Type="http://schemas.openxmlformats.org/officeDocument/2006/relationships/image" Target="../media/image72.png"/></Relationships>
</file>

<file path=ppt/slides/_rels/slide1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75.png"/><Relationship Id="rId1" Type="http://schemas.openxmlformats.org/officeDocument/2006/relationships/slideLayout" Target="../slideLayouts/slideLayout2.xml"/></Relationships>
</file>

<file path=ppt/slides/_rels/slide1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76.png"/><Relationship Id="rId1" Type="http://schemas.openxmlformats.org/officeDocument/2006/relationships/slideLayout" Target="../slideLayouts/slideLayout2.xml"/></Relationships>
</file>

<file path=ppt/slides/_rels/slide1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7.png"/><Relationship Id="rId1" Type="http://schemas.openxmlformats.org/officeDocument/2006/relationships/slideLayout" Target="../slideLayouts/slideLayout2.xml"/></Relationships>
</file>

<file path=ppt/slides/_rels/slide1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64.xml"/><Relationship Id="rId1" Type="http://schemas.openxmlformats.org/officeDocument/2006/relationships/slideLayout" Target="../slideLayouts/slideLayout2.xml"/></Relationships>
</file>

<file path=ppt/slides/_rels/slide1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79.png"/><Relationship Id="rId2" Type="http://schemas.openxmlformats.org/officeDocument/2006/relationships/notesSlide" Target="../notesSlides/notesSlide65.xml"/><Relationship Id="rId1" Type="http://schemas.openxmlformats.org/officeDocument/2006/relationships/slideLayout" Target="../slideLayouts/slideLayout3.xml"/></Relationships>
</file>

<file path=ppt/slides/_rels/slide1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79.png"/><Relationship Id="rId2" Type="http://schemas.openxmlformats.org/officeDocument/2006/relationships/notesSlide" Target="../notesSlides/notesSlide66.xml"/><Relationship Id="rId1" Type="http://schemas.openxmlformats.org/officeDocument/2006/relationships/slideLayout" Target="../slideLayouts/slideLayout3.xml"/></Relationships>
</file>

<file path=ppt/slides/_rels/slide1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9.png"/><Relationship Id="rId2" Type="http://schemas.openxmlformats.org/officeDocument/2006/relationships/image" Target="../media/image78.png"/><Relationship Id="rId1" Type="http://schemas.openxmlformats.org/officeDocument/2006/relationships/slideLayout" Target="../slideLayouts/slideLayout2.xml"/></Relationships>
</file>

<file path=ppt/slides/_rels/slide1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80.png"/><Relationship Id="rId1" Type="http://schemas.openxmlformats.org/officeDocument/2006/relationships/slideLayout" Target="../slideLayouts/slideLayout2.xml"/></Relationships>
</file>

<file path=ppt/slides/_rels/slide133.xml.rels><?xml version="1.0" encoding="UTF-8" standalone="yes"?>
<Relationships xmlns="http://schemas.openxmlformats.org/package/2006/relationships"><Relationship Id="rId8" Type="http://schemas.openxmlformats.org/officeDocument/2006/relationships/image" Target="../media/image486.png"/><Relationship Id="rId13" Type="http://schemas.openxmlformats.org/officeDocument/2006/relationships/image" Target="../media/image489.png"/><Relationship Id="rId3" Type="http://schemas.openxmlformats.org/officeDocument/2006/relationships/image" Target="../media/image81.png"/><Relationship Id="rId7" Type="http://schemas.openxmlformats.org/officeDocument/2006/relationships/image" Target="../media/image485.png"/><Relationship Id="rId12" Type="http://schemas.openxmlformats.org/officeDocument/2006/relationships/image" Target="../media/image4841.png"/><Relationship Id="rId2" Type="http://schemas.openxmlformats.org/officeDocument/2006/relationships/notesSlide" Target="../notesSlides/notesSlide67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484.png"/><Relationship Id="rId11" Type="http://schemas.openxmlformats.org/officeDocument/2006/relationships/image" Target="../media/image4830.png"/><Relationship Id="rId5" Type="http://schemas.openxmlformats.org/officeDocument/2006/relationships/image" Target="../media/image483.png"/><Relationship Id="rId10" Type="http://schemas.openxmlformats.org/officeDocument/2006/relationships/image" Target="../media/image488.png"/><Relationship Id="rId4" Type="http://schemas.openxmlformats.org/officeDocument/2006/relationships/image" Target="../media/image82.png"/><Relationship Id="rId9" Type="http://schemas.openxmlformats.org/officeDocument/2006/relationships/image" Target="../media/image487.png"/><Relationship Id="rId14" Type="http://schemas.openxmlformats.org/officeDocument/2006/relationships/image" Target="../media/image4851.png"/></Relationships>
</file>

<file path=ppt/slides/_rels/slide1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862.png"/><Relationship Id="rId2" Type="http://schemas.openxmlformats.org/officeDocument/2006/relationships/notesSlide" Target="../notesSlides/notesSlide68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83.png"/></Relationships>
</file>

<file path=ppt/slides/_rels/slide135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37.bin"/><Relationship Id="rId2" Type="http://schemas.openxmlformats.org/officeDocument/2006/relationships/notesSlide" Target="../notesSlides/notesSlide69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84.emf"/></Relationships>
</file>

<file path=ppt/slides/_rels/slide136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38.bin"/><Relationship Id="rId2" Type="http://schemas.openxmlformats.org/officeDocument/2006/relationships/notesSlide" Target="../notesSlides/notesSlide70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85.emf"/></Relationships>
</file>

<file path=ppt/slides/_rels/slide1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71.xml"/><Relationship Id="rId1" Type="http://schemas.openxmlformats.org/officeDocument/2006/relationships/slideLayout" Target="../slideLayouts/slideLayout2.xml"/></Relationships>
</file>

<file path=ppt/slides/_rels/slide1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7.png"/><Relationship Id="rId7" Type="http://schemas.openxmlformats.org/officeDocument/2006/relationships/image" Target="../media/image1231.png"/><Relationship Id="rId2" Type="http://schemas.openxmlformats.org/officeDocument/2006/relationships/image" Target="../media/image86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221.png"/><Relationship Id="rId5" Type="http://schemas.openxmlformats.org/officeDocument/2006/relationships/image" Target="../media/image1211.png"/><Relationship Id="rId4" Type="http://schemas.openxmlformats.org/officeDocument/2006/relationships/image" Target="../media/image1201.png"/></Relationships>
</file>

<file path=ppt/slides/_rels/slide139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31.png"/><Relationship Id="rId7" Type="http://schemas.openxmlformats.org/officeDocument/2006/relationships/image" Target="../media/image1221.png"/><Relationship Id="rId2" Type="http://schemas.openxmlformats.org/officeDocument/2006/relationships/image" Target="../media/image88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211.png"/><Relationship Id="rId5" Type="http://schemas.openxmlformats.org/officeDocument/2006/relationships/image" Target="../media/image1201.png"/><Relationship Id="rId9" Type="http://schemas.openxmlformats.org/officeDocument/2006/relationships/image" Target="../media/image4492.png"/></Relationships>
</file>

<file path=ppt/slides/_rels/slide140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31.png"/><Relationship Id="rId7" Type="http://schemas.openxmlformats.org/officeDocument/2006/relationships/image" Target="../media/image1221.png"/><Relationship Id="rId2" Type="http://schemas.openxmlformats.org/officeDocument/2006/relationships/image" Target="../media/image88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211.png"/><Relationship Id="rId11" Type="http://schemas.openxmlformats.org/officeDocument/2006/relationships/image" Target="../media/image4520.png"/><Relationship Id="rId5" Type="http://schemas.openxmlformats.org/officeDocument/2006/relationships/image" Target="../media/image1201.png"/><Relationship Id="rId10" Type="http://schemas.openxmlformats.org/officeDocument/2006/relationships/image" Target="../media/image4511.png"/><Relationship Id="rId9" Type="http://schemas.openxmlformats.org/officeDocument/2006/relationships/image" Target="../media/image4501.png"/></Relationships>
</file>

<file path=ppt/slides/_rels/slide14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810.png"/><Relationship Id="rId3" Type="http://schemas.openxmlformats.org/officeDocument/2006/relationships/image" Target="../media/image1201.png"/><Relationship Id="rId7" Type="http://schemas.openxmlformats.org/officeDocument/2006/relationships/image" Target="../media/image4530.png"/><Relationship Id="rId2" Type="http://schemas.openxmlformats.org/officeDocument/2006/relationships/image" Target="../media/image88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231.png"/><Relationship Id="rId5" Type="http://schemas.openxmlformats.org/officeDocument/2006/relationships/image" Target="../media/image1221.png"/><Relationship Id="rId4" Type="http://schemas.openxmlformats.org/officeDocument/2006/relationships/image" Target="../media/image1211.png"/></Relationships>
</file>

<file path=ppt/slides/_rels/slide142.xml.rels><?xml version="1.0" encoding="UTF-8" standalone="yes"?>
<Relationships xmlns="http://schemas.openxmlformats.org/package/2006/relationships"><Relationship Id="rId2" Type="http://schemas.openxmlformats.org/officeDocument/2006/relationships/image" Target="../media/image89.png"/><Relationship Id="rId1" Type="http://schemas.openxmlformats.org/officeDocument/2006/relationships/slideLayout" Target="../slideLayouts/slideLayout2.xml"/></Relationships>
</file>

<file path=ppt/slides/_rels/slide143.xml.rels><?xml version="1.0" encoding="UTF-8" standalone="yes"?>
<Relationships xmlns="http://schemas.openxmlformats.org/package/2006/relationships"><Relationship Id="rId8" Type="http://schemas.openxmlformats.org/officeDocument/2006/relationships/image" Target="../media/image496.png"/><Relationship Id="rId3" Type="http://schemas.openxmlformats.org/officeDocument/2006/relationships/image" Target="../media/image1201.png"/><Relationship Id="rId7" Type="http://schemas.openxmlformats.org/officeDocument/2006/relationships/image" Target="../media/image88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231.png"/><Relationship Id="rId5" Type="http://schemas.openxmlformats.org/officeDocument/2006/relationships/image" Target="../media/image1221.png"/><Relationship Id="rId4" Type="http://schemas.openxmlformats.org/officeDocument/2006/relationships/image" Target="../media/image1211.png"/></Relationships>
</file>

<file path=ppt/slides/_rels/slide14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01.png"/><Relationship Id="rId7" Type="http://schemas.openxmlformats.org/officeDocument/2006/relationships/image" Target="../media/image88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231.png"/><Relationship Id="rId5" Type="http://schemas.openxmlformats.org/officeDocument/2006/relationships/image" Target="../media/image1221.png"/><Relationship Id="rId4" Type="http://schemas.openxmlformats.org/officeDocument/2006/relationships/image" Target="../media/image1211.png"/></Relationships>
</file>

<file path=ppt/slides/_rels/slide14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01.png"/><Relationship Id="rId7" Type="http://schemas.openxmlformats.org/officeDocument/2006/relationships/image" Target="../media/image88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231.png"/><Relationship Id="rId5" Type="http://schemas.openxmlformats.org/officeDocument/2006/relationships/image" Target="../media/image1221.png"/><Relationship Id="rId4" Type="http://schemas.openxmlformats.org/officeDocument/2006/relationships/image" Target="../media/image1211.png"/></Relationships>
</file>

<file path=ppt/slides/_rels/slide14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01.png"/><Relationship Id="rId7" Type="http://schemas.openxmlformats.org/officeDocument/2006/relationships/image" Target="../media/image88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231.png"/><Relationship Id="rId5" Type="http://schemas.openxmlformats.org/officeDocument/2006/relationships/image" Target="../media/image1221.png"/><Relationship Id="rId4" Type="http://schemas.openxmlformats.org/officeDocument/2006/relationships/image" Target="../media/image1211.png"/></Relationships>
</file>

<file path=ppt/slides/_rels/slide147.xml.rels><?xml version="1.0" encoding="UTF-8" standalone="yes"?>
<Relationships xmlns="http://schemas.openxmlformats.org/package/2006/relationships"><Relationship Id="rId2" Type="http://schemas.openxmlformats.org/officeDocument/2006/relationships/image" Target="../media/image90.png"/><Relationship Id="rId1" Type="http://schemas.openxmlformats.org/officeDocument/2006/relationships/slideLayout" Target="../slideLayouts/slideLayout2.xml"/></Relationships>
</file>

<file path=ppt/slides/_rels/slide148.xml.rels><?xml version="1.0" encoding="UTF-8" standalone="yes"?>
<Relationships xmlns="http://schemas.openxmlformats.org/package/2006/relationships"><Relationship Id="rId8" Type="http://schemas.openxmlformats.org/officeDocument/2006/relationships/image" Target="../media/image88.png"/><Relationship Id="rId3" Type="http://schemas.openxmlformats.org/officeDocument/2006/relationships/image" Target="../media/image1201.png"/><Relationship Id="rId7" Type="http://schemas.openxmlformats.org/officeDocument/2006/relationships/image" Target="../media/image454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231.png"/><Relationship Id="rId5" Type="http://schemas.openxmlformats.org/officeDocument/2006/relationships/image" Target="../media/image1221.png"/><Relationship Id="rId4" Type="http://schemas.openxmlformats.org/officeDocument/2006/relationships/image" Target="../media/image1211.png"/></Relationships>
</file>

<file path=ppt/slides/_rels/slide14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01.png"/><Relationship Id="rId7" Type="http://schemas.openxmlformats.org/officeDocument/2006/relationships/image" Target="../media/image88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231.png"/><Relationship Id="rId5" Type="http://schemas.openxmlformats.org/officeDocument/2006/relationships/image" Target="../media/image1221.png"/><Relationship Id="rId4" Type="http://schemas.openxmlformats.org/officeDocument/2006/relationships/image" Target="../media/image1211.png"/></Relationships>
</file>

<file path=ppt/slides/_rels/slide15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01.png"/><Relationship Id="rId7" Type="http://schemas.openxmlformats.org/officeDocument/2006/relationships/image" Target="../media/image88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231.png"/><Relationship Id="rId5" Type="http://schemas.openxmlformats.org/officeDocument/2006/relationships/image" Target="../media/image1221.png"/><Relationship Id="rId4" Type="http://schemas.openxmlformats.org/officeDocument/2006/relationships/image" Target="../media/image1211.png"/></Relationships>
</file>

<file path=ppt/slides/_rels/slide15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01.png"/><Relationship Id="rId7" Type="http://schemas.openxmlformats.org/officeDocument/2006/relationships/image" Target="../media/image88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231.png"/><Relationship Id="rId5" Type="http://schemas.openxmlformats.org/officeDocument/2006/relationships/image" Target="../media/image1221.png"/><Relationship Id="rId4" Type="http://schemas.openxmlformats.org/officeDocument/2006/relationships/image" Target="../media/image1211.png"/></Relationships>
</file>

<file path=ppt/slides/_rels/slide15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01.png"/><Relationship Id="rId2" Type="http://schemas.openxmlformats.org/officeDocument/2006/relationships/notesSlide" Target="../notesSlides/notesSlide72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231.png"/><Relationship Id="rId5" Type="http://schemas.openxmlformats.org/officeDocument/2006/relationships/image" Target="../media/image1221.png"/><Relationship Id="rId4" Type="http://schemas.openxmlformats.org/officeDocument/2006/relationships/image" Target="../media/image1211.png"/></Relationships>
</file>

<file path=ppt/slides/_rels/slide15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1.png"/><Relationship Id="rId5" Type="http://schemas.openxmlformats.org/officeDocument/2006/relationships/image" Target="../media/image20.png"/><Relationship Id="rId4" Type="http://schemas.openxmlformats.org/officeDocument/2006/relationships/image" Target="../media/image19.png"/></Relationships>
</file>

<file path=ppt/slides/slide1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0DD3CD8-50B4-3B0D-85EC-3CBD1F5DC2A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>
            <a:extLst>
              <a:ext uri="{FF2B5EF4-FFF2-40B4-BE49-F238E27FC236}">
                <a16:creationId xmlns:a16="http://schemas.microsoft.com/office/drawing/2014/main" id="{29EFA635-8AC9-7077-02AF-5438B737911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88" y="0"/>
            <a:ext cx="12180024" cy="6858000"/>
          </a:xfrm>
          <a:prstGeom prst="rect">
            <a:avLst/>
          </a:prstGeom>
        </p:spPr>
      </p:pic>
      <p:sp>
        <p:nvSpPr>
          <p:cNvPr id="12" name="Title 1">
            <a:extLst>
              <a:ext uri="{FF2B5EF4-FFF2-40B4-BE49-F238E27FC236}">
                <a16:creationId xmlns:a16="http://schemas.microsoft.com/office/drawing/2014/main" id="{F93EE897-34F9-1DA4-C87B-91EC033E4C1B}"/>
              </a:ext>
            </a:extLst>
          </p:cNvPr>
          <p:cNvSpPr txBox="1">
            <a:spLocks/>
          </p:cNvSpPr>
          <p:nvPr/>
        </p:nvSpPr>
        <p:spPr>
          <a:xfrm>
            <a:off x="0" y="129992"/>
            <a:ext cx="12192000" cy="84517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3600" b="0" i="0" u="none" strike="noStrike" cap="non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3600" b="0" i="0" u="none" strike="noStrike" cap="non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3600" b="0" i="0" u="none" strike="noStrike" cap="non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3600" b="0" i="0" u="none" strike="noStrike" cap="non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3600" b="0" i="0" u="none" strike="noStrike" cap="non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3600" b="0" i="0" u="none" strike="noStrike" cap="non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3600" b="0" i="0" u="none" strike="noStrike" cap="non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3600" b="0" i="0" u="none" strike="noStrike" cap="non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3600" b="0" i="0" u="none" strike="noStrike" cap="non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r>
              <a:rPr lang="en-US" dirty="0">
                <a:solidFill>
                  <a:schemeClr val="bg1"/>
                </a:solidFill>
              </a:rPr>
              <a:t>Tutorial Series on Sequential Decision Analytics</a:t>
            </a:r>
          </a:p>
        </p:txBody>
      </p:sp>
      <p:sp>
        <p:nvSpPr>
          <p:cNvPr id="13" name="Subtitle 2">
            <a:extLst>
              <a:ext uri="{FF2B5EF4-FFF2-40B4-BE49-F238E27FC236}">
                <a16:creationId xmlns:a16="http://schemas.microsoft.com/office/drawing/2014/main" id="{57DFA0C2-678F-9E7E-75E9-B9E6E456FE44}"/>
              </a:ext>
            </a:extLst>
          </p:cNvPr>
          <p:cNvSpPr txBox="1">
            <a:spLocks/>
          </p:cNvSpPr>
          <p:nvPr/>
        </p:nvSpPr>
        <p:spPr>
          <a:xfrm>
            <a:off x="0" y="927251"/>
            <a:ext cx="12192000" cy="11554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70840" algn="ctr" rtl="0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240"/>
              <a:buFont typeface="Times New Roman"/>
              <a:buNone/>
              <a:defRPr sz="28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L="914400" marR="0" lvl="1" indent="-381000" algn="ctr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 New Roman"/>
              <a:buNone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marL="1371600" marR="0" lvl="2" indent="-3556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None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marL="1828800" marR="0" lvl="3" indent="-3556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None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marL="2286000" marR="0" lvl="4" indent="-3556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None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marL="2743200" marR="0" lvl="5" indent="-3556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None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marL="3200400" marR="0" lvl="6" indent="-3556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None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marL="3657600" marR="0" lvl="7" indent="-3556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None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marL="4114800" marR="0" lvl="8" indent="-3556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None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r>
              <a:rPr lang="en-US" dirty="0">
                <a:solidFill>
                  <a:schemeClr val="bg1"/>
                </a:solidFill>
              </a:rPr>
              <a:t>Warren B Powell</a:t>
            </a:r>
          </a:p>
          <a:p>
            <a:r>
              <a:rPr lang="en-US" sz="2000" dirty="0">
                <a:solidFill>
                  <a:schemeClr val="bg1"/>
                </a:solidFill>
              </a:rPr>
              <a:t>Professor Emeritus, Princeton University</a:t>
            </a: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96672E64-DE7F-A72F-2817-9CD9C2AF4E8C}"/>
              </a:ext>
            </a:extLst>
          </p:cNvPr>
          <p:cNvSpPr txBox="1">
            <a:spLocks/>
          </p:cNvSpPr>
          <p:nvPr/>
        </p:nvSpPr>
        <p:spPr>
          <a:xfrm>
            <a:off x="4224760" y="1866418"/>
            <a:ext cx="3715473" cy="5787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3600" b="0" i="0" u="none" strike="noStrike" cap="non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3600" b="0" i="0" u="none" strike="noStrike" cap="non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3600" b="0" i="0" u="none" strike="noStrike" cap="non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3600" b="0" i="0" u="none" strike="noStrike" cap="non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3600" b="0" i="0" u="none" strike="noStrike" cap="non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3600" b="0" i="0" u="none" strike="noStrike" cap="non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3600" b="0" i="0" u="none" strike="noStrike" cap="non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3600" b="0" i="0" u="none" strike="noStrike" cap="non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3600" b="0" i="0" u="none" strike="noStrike" cap="non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r>
              <a:rPr lang="en-US" sz="1800" dirty="0">
                <a:solidFill>
                  <a:schemeClr val="bg1"/>
                </a:solidFill>
              </a:rPr>
              <a:t>Recorded: August 12, 2026</a:t>
            </a:r>
            <a:endParaRPr lang="en-US" sz="32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10DFD018-DC0B-50AB-C624-173A60016379}"/>
              </a:ext>
            </a:extLst>
          </p:cNvPr>
          <p:cNvSpPr txBox="1">
            <a:spLocks/>
          </p:cNvSpPr>
          <p:nvPr/>
        </p:nvSpPr>
        <p:spPr>
          <a:xfrm>
            <a:off x="1212347" y="3222743"/>
            <a:ext cx="8280445" cy="890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3600" b="0" i="0" u="none" strike="noStrike" cap="non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3600" b="0" i="0" u="none" strike="noStrike" cap="non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3600" b="0" i="0" u="none" strike="noStrike" cap="non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3600" b="0" i="0" u="none" strike="noStrike" cap="non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3600" b="0" i="0" u="none" strike="noStrike" cap="non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3600" b="0" i="0" u="none" strike="noStrike" cap="non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3600" b="0" i="0" u="none" strike="noStrike" cap="non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3600" b="0" i="0" u="none" strike="noStrike" cap="non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3600" b="0" i="0" u="none" strike="noStrike" cap="non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pPr marL="1203325" indent="-1203325" algn="l">
              <a:lnSpc>
                <a:spcPct val="107000"/>
              </a:lnSpc>
              <a:spcAft>
                <a:spcPts val="800"/>
              </a:spcAft>
            </a:pPr>
            <a:r>
              <a:rPr lang="en-US" sz="2400" dirty="0">
                <a:solidFill>
                  <a:schemeClr val="bg1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Module:	Value function approximations IV – Forward ADP and linear value functions</a:t>
            </a:r>
            <a:endParaRPr lang="en-US" sz="2000" dirty="0">
              <a:solidFill>
                <a:schemeClr val="bg1"/>
              </a:solidFill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1196975" indent="-342900" algn="l">
              <a:buClr>
                <a:schemeClr val="bg1"/>
              </a:buClr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chemeClr val="bg1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Learning linear VFAs</a:t>
            </a:r>
          </a:p>
          <a:p>
            <a:pPr marL="1196975" indent="-342900" algn="l">
              <a:buClr>
                <a:schemeClr val="bg1"/>
              </a:buClr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chemeClr val="bg1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A financial trading application</a:t>
            </a:r>
          </a:p>
          <a:p>
            <a:pPr marL="1196975" indent="-342900" algn="l">
              <a:buClr>
                <a:schemeClr val="bg1"/>
              </a:buClr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chemeClr val="bg1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The projection problem</a:t>
            </a:r>
          </a:p>
          <a:p>
            <a:pPr marL="914400" indent="-342900" algn="l">
              <a:lnSpc>
                <a:spcPct val="107000"/>
              </a:lnSpc>
              <a:spcAft>
                <a:spcPts val="800"/>
              </a:spcAft>
              <a:buClr>
                <a:schemeClr val="bg1"/>
              </a:buClr>
              <a:buFont typeface="Arial" panose="020B0604020202020204" pitchFamily="34" charset="0"/>
              <a:buChar char="•"/>
            </a:pPr>
            <a:endParaRPr lang="en-US" sz="2400" dirty="0">
              <a:solidFill>
                <a:schemeClr val="bg1"/>
              </a:solidFill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FF53E4DC-1FB7-2DF2-C56D-DAF99E6D8384}"/>
              </a:ext>
            </a:extLst>
          </p:cNvPr>
          <p:cNvSpPr txBox="1">
            <a:spLocks/>
          </p:cNvSpPr>
          <p:nvPr/>
        </p:nvSpPr>
        <p:spPr>
          <a:xfrm>
            <a:off x="1214274" y="5547361"/>
            <a:ext cx="8881242" cy="890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3600" b="0" i="0" u="none" strike="noStrike" cap="non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3600" b="0" i="0" u="none" strike="noStrike" cap="non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3600" b="0" i="0" u="none" strike="noStrike" cap="non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3600" b="0" i="0" u="none" strike="noStrike" cap="non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3600" b="0" i="0" u="none" strike="noStrike" cap="non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3600" b="0" i="0" u="none" strike="noStrike" cap="non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3600" b="0" i="0" u="none" strike="noStrike" cap="non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3600" b="0" i="0" u="none" strike="noStrike" cap="non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3600" b="0" i="0" u="none" strike="noStrike" cap="non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pPr algn="l">
              <a:lnSpc>
                <a:spcPct val="107000"/>
              </a:lnSpc>
              <a:spcAft>
                <a:spcPts val="800"/>
              </a:spcAft>
            </a:pPr>
            <a:r>
              <a:rPr lang="en-US" sz="2400" dirty="0">
                <a:solidFill>
                  <a:schemeClr val="bg1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Technical level: Advanced. The presentation depends heavily on the mathematics of Bellman’s equation.</a:t>
            </a:r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40D3C819-F610-4F42-2379-7FE502B82A8E}"/>
              </a:ext>
            </a:extLst>
          </p:cNvPr>
          <p:cNvSpPr txBox="1">
            <a:spLocks/>
          </p:cNvSpPr>
          <p:nvPr/>
        </p:nvSpPr>
        <p:spPr>
          <a:xfrm>
            <a:off x="1214274" y="4368419"/>
            <a:ext cx="8881242" cy="890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3600" b="0" i="0" u="none" strike="noStrike" cap="non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3600" b="0" i="0" u="none" strike="noStrike" cap="non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3600" b="0" i="0" u="none" strike="noStrike" cap="non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3600" b="0" i="0" u="none" strike="noStrike" cap="non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3600" b="0" i="0" u="none" strike="noStrike" cap="non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3600" b="0" i="0" u="none" strike="noStrike" cap="non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3600" b="0" i="0" u="none" strike="noStrike" cap="non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3600" b="0" i="0" u="none" strike="noStrike" cap="non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3600" b="0" i="0" u="none" strike="noStrike" cap="non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pPr marL="1203325" indent="-1203325" algn="l"/>
            <a:r>
              <a:rPr lang="en-US" sz="2400" dirty="0">
                <a:solidFill>
                  <a:schemeClr val="bg1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Predecessor module(s):</a:t>
            </a:r>
            <a:r>
              <a:rPr lang="en-US" sz="2400" dirty="0">
                <a:solidFill>
                  <a:schemeClr val="bg1"/>
                </a:solidFill>
              </a:rPr>
              <a:t> </a:t>
            </a:r>
          </a:p>
          <a:p>
            <a:pPr marL="342900" indent="-342900" algn="l">
              <a:buClr>
                <a:schemeClr val="bg1"/>
              </a:buClr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chemeClr val="bg1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Universal modeling framework (detailed)</a:t>
            </a:r>
          </a:p>
          <a:p>
            <a:pPr marL="342900" indent="-342900" algn="l">
              <a:buClr>
                <a:schemeClr val="bg1"/>
              </a:buClr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chemeClr val="bg1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Value function approximations I, II and III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03BFA035-C6F1-8306-424D-711F1E80748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728461" y="1084325"/>
            <a:ext cx="2014549" cy="20145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24265275"/>
      </p:ext>
    </p:extLst>
  </p:cSld>
  <p:clrMapOvr>
    <a:masterClrMapping/>
  </p:clrMapOvr>
</p:sld>
</file>

<file path=ppt/slides/slide1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45">
          <a:extLst>
            <a:ext uri="{FF2B5EF4-FFF2-40B4-BE49-F238E27FC236}">
              <a16:creationId xmlns:a16="http://schemas.microsoft.com/office/drawing/2014/main" id="{3DDA3CA6-CE96-A8D4-8FAF-8A627F4C5D7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75617452-929A-035E-D235-1F2163D7DF6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57956" y="-51516"/>
            <a:ext cx="12292833" cy="6909515"/>
          </a:xfrm>
          <a:prstGeom prst="rect">
            <a:avLst/>
          </a:prstGeom>
        </p:spPr>
      </p:pic>
      <p:sp>
        <p:nvSpPr>
          <p:cNvPr id="246" name="Google Shape;246;p26">
            <a:extLst>
              <a:ext uri="{FF2B5EF4-FFF2-40B4-BE49-F238E27FC236}">
                <a16:creationId xmlns:a16="http://schemas.microsoft.com/office/drawing/2014/main" id="{21FCB463-2D92-1063-8084-93B5B09B18E2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2021700" y="353850"/>
            <a:ext cx="8283900" cy="550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solidFill>
                  <a:schemeClr val="lt1"/>
                </a:solidFill>
              </a:rPr>
              <a:t>OUTLINE</a:t>
            </a:r>
            <a:endParaRPr/>
          </a:p>
        </p:txBody>
      </p:sp>
      <p:sp>
        <p:nvSpPr>
          <p:cNvPr id="5" name="Google Shape;247;p26">
            <a:extLst>
              <a:ext uri="{FF2B5EF4-FFF2-40B4-BE49-F238E27FC236}">
                <a16:creationId xmlns:a16="http://schemas.microsoft.com/office/drawing/2014/main" id="{0D3959EF-9305-B5F8-A83F-2D2380C0D329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1039756" y="725240"/>
            <a:ext cx="10856871" cy="536106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>
              <a:buClr>
                <a:schemeClr val="lt1"/>
              </a:buClr>
              <a:buNone/>
            </a:pPr>
            <a:r>
              <a:rPr lang="en-US" sz="2400" dirty="0">
                <a:solidFill>
                  <a:schemeClr val="bg1"/>
                </a:solidFill>
              </a:rPr>
              <a:t>Value function approximations:</a:t>
            </a:r>
          </a:p>
          <a:p>
            <a:pPr marL="0" lvl="0" indent="0">
              <a:buClr>
                <a:schemeClr val="lt1"/>
              </a:buClr>
              <a:buNone/>
            </a:pPr>
            <a:endParaRPr lang="en-US" sz="2400" dirty="0">
              <a:solidFill>
                <a:schemeClr val="bg1"/>
              </a:solidFill>
            </a:endParaRPr>
          </a:p>
          <a:p>
            <a:pPr marL="342900">
              <a:buClr>
                <a:schemeClr val="lt1"/>
              </a:buClr>
              <a:buFont typeface="Times New Roman"/>
              <a:buChar char="➜"/>
            </a:pPr>
            <a:r>
              <a:rPr lang="en-US" sz="2400" dirty="0">
                <a:solidFill>
                  <a:schemeClr val="accent2">
                    <a:lumMod val="40000"/>
                    <a:lumOff val="60000"/>
                  </a:schemeClr>
                </a:solidFill>
              </a:rPr>
              <a:t>VFA I – Introduction to Dynamic Programming</a:t>
            </a:r>
          </a:p>
          <a:p>
            <a:pPr marL="342900">
              <a:buClr>
                <a:schemeClr val="lt1"/>
              </a:buClr>
              <a:buFont typeface="Times New Roman"/>
              <a:buChar char="➜"/>
            </a:pPr>
            <a:endParaRPr lang="en-US" sz="2400" dirty="0">
              <a:solidFill>
                <a:schemeClr val="accent2">
                  <a:lumMod val="40000"/>
                  <a:lumOff val="60000"/>
                </a:schemeClr>
              </a:solidFill>
            </a:endParaRPr>
          </a:p>
          <a:p>
            <a:pPr marL="342900">
              <a:buClr>
                <a:schemeClr val="lt1"/>
              </a:buClr>
              <a:buFont typeface="Times New Roman"/>
              <a:buChar char="➜"/>
            </a:pPr>
            <a:r>
              <a:rPr lang="en-US" sz="2400" dirty="0">
                <a:solidFill>
                  <a:schemeClr val="accent2">
                    <a:lumMod val="40000"/>
                    <a:lumOff val="60000"/>
                  </a:schemeClr>
                </a:solidFill>
              </a:rPr>
              <a:t>VFA II – VFA-based policies</a:t>
            </a:r>
          </a:p>
          <a:p>
            <a:pPr marL="342900">
              <a:buClr>
                <a:schemeClr val="lt1"/>
              </a:buClr>
              <a:buFont typeface="Times New Roman"/>
              <a:buChar char="➜"/>
            </a:pPr>
            <a:endParaRPr lang="en-US" sz="2400" dirty="0">
              <a:solidFill>
                <a:schemeClr val="accent2">
                  <a:lumMod val="40000"/>
                  <a:lumOff val="60000"/>
                </a:schemeClr>
              </a:solidFill>
            </a:endParaRPr>
          </a:p>
          <a:p>
            <a:pPr marL="342900">
              <a:buClr>
                <a:schemeClr val="lt1"/>
              </a:buClr>
              <a:buFont typeface="Times New Roman"/>
              <a:buChar char="➜"/>
            </a:pPr>
            <a:r>
              <a:rPr lang="en-US" sz="2400" dirty="0">
                <a:solidFill>
                  <a:schemeClr val="accent2">
                    <a:lumMod val="40000"/>
                    <a:lumOff val="60000"/>
                  </a:schemeClr>
                </a:solidFill>
              </a:rPr>
              <a:t>VFA III - “Reinforcement learning” in the style of computer science</a:t>
            </a:r>
          </a:p>
          <a:p>
            <a:pPr marL="342900">
              <a:buClr>
                <a:schemeClr val="lt1"/>
              </a:buClr>
              <a:buFont typeface="Times New Roman"/>
              <a:buChar char="➜"/>
            </a:pPr>
            <a:endParaRPr lang="en-US" sz="2400" dirty="0">
              <a:solidFill>
                <a:schemeClr val="accent2">
                  <a:lumMod val="40000"/>
                  <a:lumOff val="60000"/>
                </a:schemeClr>
              </a:solidFill>
            </a:endParaRPr>
          </a:p>
          <a:p>
            <a:pPr marL="342900">
              <a:buClr>
                <a:schemeClr val="lt1"/>
              </a:buClr>
              <a:buFont typeface="Times New Roman"/>
              <a:buChar char="➜"/>
            </a:pPr>
            <a:r>
              <a:rPr lang="en-US" sz="2200" dirty="0">
                <a:solidFill>
                  <a:schemeClr val="bg1"/>
                </a:solidFill>
              </a:rPr>
              <a:t>VFA IV - Forward ADP and linear VFAs</a:t>
            </a:r>
          </a:p>
          <a:p>
            <a:pPr marL="342900">
              <a:buClr>
                <a:schemeClr val="lt1"/>
              </a:buClr>
              <a:buFont typeface="Times New Roman"/>
              <a:buChar char="➜"/>
            </a:pPr>
            <a:endParaRPr lang="en-US" sz="2200" dirty="0">
              <a:solidFill>
                <a:schemeClr val="accent2">
                  <a:lumMod val="40000"/>
                  <a:lumOff val="60000"/>
                </a:schemeClr>
              </a:solidFill>
            </a:endParaRPr>
          </a:p>
          <a:p>
            <a:pPr marL="342900">
              <a:buClr>
                <a:schemeClr val="lt1"/>
              </a:buClr>
              <a:buFont typeface="Times New Roman"/>
              <a:buChar char="➜"/>
            </a:pPr>
            <a:r>
              <a:rPr lang="en-US" sz="2400" dirty="0">
                <a:solidFill>
                  <a:schemeClr val="accent2">
                    <a:lumMod val="40000"/>
                    <a:lumOff val="60000"/>
                  </a:schemeClr>
                </a:solidFill>
              </a:rPr>
              <a:t>VFA V - Applications of ADP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ADEBE848-16C2-0E99-DFE7-BA37D2E4DD7F}"/>
              </a:ext>
            </a:extLst>
          </p:cNvPr>
          <p:cNvSpPr txBox="1"/>
          <p:nvPr/>
        </p:nvSpPr>
        <p:spPr>
          <a:xfrm>
            <a:off x="11439525" y="6280363"/>
            <a:ext cx="52770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>
                <a:solidFill>
                  <a:schemeClr val="accent2">
                    <a:lumMod val="60000"/>
                    <a:lumOff val="40000"/>
                  </a:schemeClr>
                </a:solidFill>
              </a:rPr>
              <a:t>15</a:t>
            </a:r>
          </a:p>
        </p:txBody>
      </p:sp>
    </p:spTree>
    <p:extLst>
      <p:ext uri="{BB962C8B-B14F-4D97-AF65-F5344CB8AC3E}">
        <p14:creationId xmlns:p14="http://schemas.microsoft.com/office/powerpoint/2010/main" val="570048305"/>
      </p:ext>
    </p:extLst>
  </p:cSld>
  <p:clrMapOvr>
    <a:masterClrMapping/>
  </p:clrMapOvr>
</p:sld>
</file>

<file path=ppt/slides/slide1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45">
          <a:extLst>
            <a:ext uri="{FF2B5EF4-FFF2-40B4-BE49-F238E27FC236}">
              <a16:creationId xmlns:a16="http://schemas.microsoft.com/office/drawing/2014/main" id="{C07D0690-9F2E-FAC2-B470-D3F491C8548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4B7BA854-5F7A-4664-F695-19B9FFBF31C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57956" y="-51516"/>
            <a:ext cx="12292833" cy="6909515"/>
          </a:xfrm>
          <a:prstGeom prst="rect">
            <a:avLst/>
          </a:prstGeom>
        </p:spPr>
      </p:pic>
      <p:sp>
        <p:nvSpPr>
          <p:cNvPr id="246" name="Google Shape;246;p26">
            <a:extLst>
              <a:ext uri="{FF2B5EF4-FFF2-40B4-BE49-F238E27FC236}">
                <a16:creationId xmlns:a16="http://schemas.microsoft.com/office/drawing/2014/main" id="{7F03DF73-3881-8AB9-599D-77944DD4842F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2021700" y="353850"/>
            <a:ext cx="8283900" cy="550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solidFill>
                  <a:schemeClr val="lt1"/>
                </a:solidFill>
              </a:rPr>
              <a:t>OUTLINE</a:t>
            </a:r>
            <a:endParaRPr/>
          </a:p>
        </p:txBody>
      </p:sp>
      <p:sp>
        <p:nvSpPr>
          <p:cNvPr id="5" name="Google Shape;247;p26">
            <a:extLst>
              <a:ext uri="{FF2B5EF4-FFF2-40B4-BE49-F238E27FC236}">
                <a16:creationId xmlns:a16="http://schemas.microsoft.com/office/drawing/2014/main" id="{A77BAEFA-0E12-3E11-7FA2-10ECFE54F843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1039756" y="1799894"/>
            <a:ext cx="10856871" cy="347911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42900">
              <a:spcBef>
                <a:spcPts val="0"/>
              </a:spcBef>
              <a:buClr>
                <a:schemeClr val="lt1"/>
              </a:buClr>
              <a:buFont typeface="Times New Roman"/>
              <a:buChar char="➜"/>
            </a:pPr>
            <a:r>
              <a:rPr lang="en-US" sz="2400" dirty="0">
                <a:solidFill>
                  <a:schemeClr val="bg1"/>
                </a:solidFill>
              </a:rPr>
              <a:t>VFA IV - Forward ADP and linear VFAs</a:t>
            </a:r>
          </a:p>
          <a:p>
            <a:pPr marL="800100" lvl="1">
              <a:buClr>
                <a:schemeClr val="lt1"/>
              </a:buClr>
              <a:buFont typeface="Times New Roman"/>
              <a:buChar char="➜"/>
            </a:pPr>
            <a:endParaRPr lang="en-US" sz="2000" dirty="0">
              <a:solidFill>
                <a:schemeClr val="bg1"/>
              </a:solidFill>
            </a:endParaRPr>
          </a:p>
          <a:p>
            <a:pPr marL="800100" lvl="1">
              <a:spcBef>
                <a:spcPts val="0"/>
              </a:spcBef>
              <a:buClr>
                <a:schemeClr val="lt1"/>
              </a:buClr>
              <a:buFont typeface="Times New Roman"/>
              <a:buChar char="➜"/>
            </a:pPr>
            <a:r>
              <a:rPr lang="en-US" sz="2000" dirty="0">
                <a:solidFill>
                  <a:schemeClr val="bg1"/>
                </a:solidFill>
              </a:rPr>
              <a:t>Algorithms</a:t>
            </a:r>
          </a:p>
          <a:p>
            <a:pPr marL="800100" lvl="1">
              <a:spcBef>
                <a:spcPts val="0"/>
              </a:spcBef>
              <a:buClr>
                <a:schemeClr val="lt1"/>
              </a:buClr>
              <a:buFont typeface="Times New Roman"/>
              <a:buChar char="➜"/>
            </a:pPr>
            <a:endParaRPr lang="en-US" sz="2000" dirty="0">
              <a:solidFill>
                <a:schemeClr val="accent2">
                  <a:lumMod val="40000"/>
                  <a:lumOff val="60000"/>
                </a:schemeClr>
              </a:solidFill>
            </a:endParaRPr>
          </a:p>
          <a:p>
            <a:pPr marL="800100" lvl="1">
              <a:spcBef>
                <a:spcPts val="0"/>
              </a:spcBef>
              <a:buClr>
                <a:schemeClr val="lt1"/>
              </a:buClr>
              <a:buFont typeface="Times New Roman"/>
              <a:buChar char="➜"/>
            </a:pPr>
            <a:r>
              <a:rPr lang="en-US" sz="2000" dirty="0" err="1">
                <a:solidFill>
                  <a:schemeClr val="bg1"/>
                </a:solidFill>
              </a:rPr>
              <a:t>Stepsizes</a:t>
            </a:r>
            <a:endParaRPr lang="en-US" sz="2000" dirty="0">
              <a:solidFill>
                <a:schemeClr val="bg1"/>
              </a:solidFill>
            </a:endParaRPr>
          </a:p>
          <a:p>
            <a:pPr marL="800100" lvl="1">
              <a:spcBef>
                <a:spcPts val="0"/>
              </a:spcBef>
              <a:buClr>
                <a:schemeClr val="lt1"/>
              </a:buClr>
              <a:buFont typeface="Times New Roman"/>
              <a:buChar char="➜"/>
            </a:pPr>
            <a:endParaRPr lang="en-US" sz="2000" dirty="0">
              <a:solidFill>
                <a:schemeClr val="bg1"/>
              </a:solidFill>
            </a:endParaRPr>
          </a:p>
          <a:p>
            <a:pPr marL="800100" lvl="1">
              <a:spcBef>
                <a:spcPts val="0"/>
              </a:spcBef>
              <a:buClr>
                <a:schemeClr val="lt1"/>
              </a:buClr>
              <a:buFont typeface="Times New Roman"/>
              <a:buChar char="➜"/>
            </a:pPr>
            <a:r>
              <a:rPr lang="en-US" sz="2000" dirty="0">
                <a:solidFill>
                  <a:schemeClr val="bg1"/>
                </a:solidFill>
              </a:rPr>
              <a:t>A financial application</a:t>
            </a:r>
          </a:p>
          <a:p>
            <a:pPr marL="800100" lvl="1">
              <a:buClr>
                <a:schemeClr val="lt1"/>
              </a:buClr>
              <a:buFont typeface="Arial" panose="020B0604020202020204" pitchFamily="34" charset="0"/>
              <a:buChar char="•"/>
            </a:pPr>
            <a:endParaRPr lang="en-US" sz="2000" dirty="0">
              <a:solidFill>
                <a:schemeClr val="bg1"/>
              </a:solidFill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CA0CA127-2F64-A6FB-ED2A-F2BC2FD95179}"/>
              </a:ext>
            </a:extLst>
          </p:cNvPr>
          <p:cNvSpPr txBox="1"/>
          <p:nvPr/>
        </p:nvSpPr>
        <p:spPr>
          <a:xfrm>
            <a:off x="11439525" y="6280363"/>
            <a:ext cx="52770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>
                <a:solidFill>
                  <a:schemeClr val="accent2">
                    <a:lumMod val="60000"/>
                    <a:lumOff val="40000"/>
                  </a:schemeClr>
                </a:solidFill>
              </a:rPr>
              <a:t>15</a:t>
            </a:r>
          </a:p>
        </p:txBody>
      </p:sp>
    </p:spTree>
    <p:extLst>
      <p:ext uri="{BB962C8B-B14F-4D97-AF65-F5344CB8AC3E}">
        <p14:creationId xmlns:p14="http://schemas.microsoft.com/office/powerpoint/2010/main" val="605949715"/>
      </p:ext>
    </p:extLst>
  </p:cSld>
  <p:clrMapOvr>
    <a:masterClrMapping/>
  </p:clrMapOvr>
</p:sld>
</file>

<file path=ppt/slides/slide1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45">
          <a:extLst>
            <a:ext uri="{FF2B5EF4-FFF2-40B4-BE49-F238E27FC236}">
              <a16:creationId xmlns:a16="http://schemas.microsoft.com/office/drawing/2014/main" id="{41A81209-BDCD-65DE-6A26-5C461F22E36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0FF056C2-C540-21BA-0599-7C7B08DEF86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57956" y="-51516"/>
            <a:ext cx="12292833" cy="6909515"/>
          </a:xfrm>
          <a:prstGeom prst="rect">
            <a:avLst/>
          </a:prstGeom>
        </p:spPr>
      </p:pic>
      <p:sp>
        <p:nvSpPr>
          <p:cNvPr id="246" name="Google Shape;246;p26">
            <a:extLst>
              <a:ext uri="{FF2B5EF4-FFF2-40B4-BE49-F238E27FC236}">
                <a16:creationId xmlns:a16="http://schemas.microsoft.com/office/drawing/2014/main" id="{AEB87F5C-2E5E-DB6D-4579-505F75F1F6F8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2021700" y="353850"/>
            <a:ext cx="8283900" cy="550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solidFill>
                  <a:schemeClr val="lt1"/>
                </a:solidFill>
              </a:rPr>
              <a:t>OUTLINE</a:t>
            </a:r>
            <a:endParaRPr/>
          </a:p>
        </p:txBody>
      </p:sp>
      <p:sp>
        <p:nvSpPr>
          <p:cNvPr id="5" name="Google Shape;247;p26">
            <a:extLst>
              <a:ext uri="{FF2B5EF4-FFF2-40B4-BE49-F238E27FC236}">
                <a16:creationId xmlns:a16="http://schemas.microsoft.com/office/drawing/2014/main" id="{81F843AC-29F3-2AC2-8430-CCF89B043DCB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1039756" y="1799894"/>
            <a:ext cx="10856871" cy="347911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42900">
              <a:spcBef>
                <a:spcPts val="0"/>
              </a:spcBef>
              <a:buClr>
                <a:schemeClr val="lt1"/>
              </a:buClr>
              <a:buFont typeface="Times New Roman"/>
              <a:buChar char="➜"/>
            </a:pPr>
            <a:r>
              <a:rPr lang="en-US" sz="2400" dirty="0">
                <a:solidFill>
                  <a:schemeClr val="bg1"/>
                </a:solidFill>
              </a:rPr>
              <a:t>VFA IV - Forward ADP and linear VFAs</a:t>
            </a:r>
          </a:p>
          <a:p>
            <a:pPr marL="800100" lvl="1">
              <a:buClr>
                <a:schemeClr val="lt1"/>
              </a:buClr>
              <a:buFont typeface="Times New Roman"/>
              <a:buChar char="➜"/>
            </a:pPr>
            <a:endParaRPr lang="en-US" sz="2000" dirty="0">
              <a:solidFill>
                <a:schemeClr val="bg1"/>
              </a:solidFill>
            </a:endParaRPr>
          </a:p>
          <a:p>
            <a:pPr marL="800100" lvl="1">
              <a:spcBef>
                <a:spcPts val="0"/>
              </a:spcBef>
              <a:buClr>
                <a:schemeClr val="lt1"/>
              </a:buClr>
              <a:buFont typeface="Times New Roman"/>
              <a:buChar char="➜"/>
            </a:pPr>
            <a:r>
              <a:rPr lang="en-US" sz="2000" dirty="0">
                <a:solidFill>
                  <a:schemeClr val="bg1"/>
                </a:solidFill>
              </a:rPr>
              <a:t>Algorithms</a:t>
            </a:r>
          </a:p>
          <a:p>
            <a:pPr marL="800100" lvl="1">
              <a:spcBef>
                <a:spcPts val="0"/>
              </a:spcBef>
              <a:buClr>
                <a:schemeClr val="lt1"/>
              </a:buClr>
              <a:buFont typeface="Times New Roman"/>
              <a:buChar char="➜"/>
            </a:pPr>
            <a:endParaRPr lang="en-US" sz="2000" dirty="0">
              <a:solidFill>
                <a:schemeClr val="accent2">
                  <a:lumMod val="40000"/>
                  <a:lumOff val="60000"/>
                </a:schemeClr>
              </a:solidFill>
            </a:endParaRPr>
          </a:p>
          <a:p>
            <a:pPr marL="800100" lvl="1">
              <a:spcBef>
                <a:spcPts val="0"/>
              </a:spcBef>
              <a:buClr>
                <a:schemeClr val="lt1"/>
              </a:buClr>
              <a:buFont typeface="Times New Roman"/>
              <a:buChar char="➜"/>
            </a:pPr>
            <a:r>
              <a:rPr lang="en-US" sz="2000" dirty="0" err="1">
                <a:solidFill>
                  <a:schemeClr val="accent2">
                    <a:lumMod val="40000"/>
                    <a:lumOff val="60000"/>
                  </a:schemeClr>
                </a:solidFill>
              </a:rPr>
              <a:t>Stepsizes</a:t>
            </a:r>
            <a:endParaRPr lang="en-US" sz="2000" dirty="0">
              <a:solidFill>
                <a:schemeClr val="accent2">
                  <a:lumMod val="40000"/>
                  <a:lumOff val="60000"/>
                </a:schemeClr>
              </a:solidFill>
            </a:endParaRPr>
          </a:p>
          <a:p>
            <a:pPr marL="800100" lvl="1">
              <a:spcBef>
                <a:spcPts val="0"/>
              </a:spcBef>
              <a:buClr>
                <a:schemeClr val="lt1"/>
              </a:buClr>
              <a:buFont typeface="Times New Roman"/>
              <a:buChar char="➜"/>
            </a:pPr>
            <a:endParaRPr lang="en-US" sz="2000" dirty="0">
              <a:solidFill>
                <a:schemeClr val="accent2">
                  <a:lumMod val="40000"/>
                  <a:lumOff val="60000"/>
                </a:schemeClr>
              </a:solidFill>
            </a:endParaRPr>
          </a:p>
          <a:p>
            <a:pPr marL="800100" lvl="1">
              <a:spcBef>
                <a:spcPts val="0"/>
              </a:spcBef>
              <a:buClr>
                <a:schemeClr val="lt1"/>
              </a:buClr>
              <a:buFont typeface="Times New Roman"/>
              <a:buChar char="➜"/>
            </a:pPr>
            <a:r>
              <a:rPr lang="en-US" sz="2000" dirty="0">
                <a:solidFill>
                  <a:schemeClr val="accent2">
                    <a:lumMod val="40000"/>
                    <a:lumOff val="60000"/>
                  </a:schemeClr>
                </a:solidFill>
              </a:rPr>
              <a:t>A financial application</a:t>
            </a:r>
          </a:p>
          <a:p>
            <a:pPr marL="800100" lvl="1">
              <a:buClr>
                <a:schemeClr val="lt1"/>
              </a:buClr>
              <a:buFont typeface="Arial" panose="020B0604020202020204" pitchFamily="34" charset="0"/>
              <a:buChar char="•"/>
            </a:pPr>
            <a:endParaRPr lang="en-US" sz="2000" dirty="0">
              <a:solidFill>
                <a:schemeClr val="bg1"/>
              </a:solidFill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C61992D7-0840-4E8E-19E2-05A6D0279080}"/>
              </a:ext>
            </a:extLst>
          </p:cNvPr>
          <p:cNvSpPr txBox="1"/>
          <p:nvPr/>
        </p:nvSpPr>
        <p:spPr>
          <a:xfrm>
            <a:off x="11439525" y="6280363"/>
            <a:ext cx="52770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>
                <a:solidFill>
                  <a:schemeClr val="accent2">
                    <a:lumMod val="60000"/>
                    <a:lumOff val="40000"/>
                  </a:schemeClr>
                </a:solidFill>
              </a:rPr>
              <a:t>15</a:t>
            </a:r>
          </a:p>
        </p:txBody>
      </p:sp>
    </p:spTree>
    <p:extLst>
      <p:ext uri="{BB962C8B-B14F-4D97-AF65-F5344CB8AC3E}">
        <p14:creationId xmlns:p14="http://schemas.microsoft.com/office/powerpoint/2010/main" val="1866414516"/>
      </p:ext>
    </p:extLst>
  </p:cSld>
  <p:clrMapOvr>
    <a:masterClrMapping/>
  </p:clrMapOvr>
</p:sld>
</file>

<file path=ppt/slides/slide1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D4789FB-D10F-4882-BD91-D344D5F794A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VFAs: Linear value function approximations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 Placeholder 2">
                <a:extLst>
                  <a:ext uri="{FF2B5EF4-FFF2-40B4-BE49-F238E27FC236}">
                    <a16:creationId xmlns:a16="http://schemas.microsoft.com/office/drawing/2014/main" id="{5E86659A-4AF4-ADB0-44BD-44283D156551}"/>
                  </a:ext>
                </a:extLst>
              </p:cNvPr>
              <p:cNvSpPr>
                <a:spLocks noGrp="1"/>
              </p:cNvSpPr>
              <p:nvPr>
                <p:ph type="body" idx="1"/>
              </p:nvPr>
            </p:nvSpPr>
            <p:spPr>
              <a:xfrm>
                <a:off x="611042" y="984214"/>
                <a:ext cx="10363200" cy="4401600"/>
              </a:xfrm>
            </p:spPr>
            <p:txBody>
              <a:bodyPr/>
              <a:lstStyle/>
              <a:p>
                <a:pPr marL="86360" indent="0">
                  <a:buNone/>
                </a:pPr>
                <a:r>
                  <a:rPr lang="en-US" dirty="0"/>
                  <a:t>Linear value functions (see chapter 16 of RLSO)</a:t>
                </a:r>
              </a:p>
              <a:p>
                <a:pPr marL="742950" lvl="1"/>
                <a:r>
                  <a:rPr lang="en-US" sz="2000" dirty="0"/>
                  <a:t>First introduced and studied by Ben van Roy in the 1990s.  It was viewed as the breakthrough that solved the curse of dimensionality.</a:t>
                </a:r>
              </a:p>
              <a:p>
                <a:pPr marL="1200150" lvl="2"/>
                <a:endParaRPr lang="en-US" sz="1600" dirty="0"/>
              </a:p>
              <a:p>
                <a:pPr marL="742950" lvl="1"/>
                <a:r>
                  <a:rPr lang="en-US" sz="2000" dirty="0"/>
                  <a:t>There is by now an extensive ADP literature based on the idea of approximating value functions with linear models (“linear” means “linear in the parameters </a:t>
                </a:r>
                <a14:m>
                  <m:oMath xmlns:m="http://schemas.openxmlformats.org/officeDocument/2006/math"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𝜃</m:t>
                    </m:r>
                  </m:oMath>
                </a14:m>
                <a:r>
                  <a:rPr lang="en-US" sz="2000" dirty="0"/>
                  <a:t>”)</a:t>
                </a:r>
              </a:p>
              <a:p>
                <a:pPr lvl="2"/>
                <a:endParaRPr lang="en-US" sz="1400" dirty="0"/>
              </a:p>
              <a:p>
                <a:pPr marL="1028700" lvl="2" indent="0">
                  <a:buNone/>
                </a:pPr>
                <a:r>
                  <a:rPr lang="en-US" b="0" dirty="0"/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acc>
                          <m:accPr>
                            <m:chr m:val="̅"/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𝑉</m:t>
                            </m:r>
                          </m:e>
                        </m:acc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</m:sSub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𝑆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𝑡</m:t>
                            </m:r>
                          </m:sub>
                        </m:s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|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𝜃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nary>
                      <m:naryPr>
                        <m:chr m:val="∑"/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m:rPr>
                            <m:brk m:alnAt="23"/>
                          </m:rPr>
                          <a:rPr lang="en-US" b="0" i="1" smtClean="0">
                            <a:latin typeface="Cambria Math" panose="02040503050406030204" pitchFamily="18" charset="0"/>
                          </a:rPr>
                          <m:t>𝑓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∈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ℱ</m:t>
                        </m:r>
                      </m:sub>
                      <m:sup/>
                      <m:e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𝜃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𝑡𝑓</m:t>
                            </m:r>
                          </m:sub>
                        </m:sSub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𝜙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𝑓</m:t>
                            </m:r>
                          </m:sub>
                        </m:s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(</m:t>
                        </m:r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𝑆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𝑡</m:t>
                            </m:r>
                          </m:sub>
                        </m:s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)</m:t>
                        </m:r>
                      </m:e>
                    </m:nary>
                  </m:oMath>
                </a14:m>
                <a:endParaRPr lang="en-US" sz="1400" dirty="0"/>
              </a:p>
              <a:p>
                <a:pPr marL="1143000" lvl="2"/>
                <a:endParaRPr lang="en-US" sz="1600" dirty="0"/>
              </a:p>
              <a:p>
                <a:pPr marL="685800" lvl="1"/>
                <a:r>
                  <a:rPr lang="en-US" sz="2000" dirty="0"/>
                  <a:t>Linear approximations lend themselves to elegant recursive methods for updating the estimates of </a:t>
                </a:r>
                <a14:m>
                  <m:oMath xmlns:m="http://schemas.openxmlformats.org/officeDocument/2006/math"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𝜃</m:t>
                    </m:r>
                  </m:oMath>
                </a14:m>
                <a:r>
                  <a:rPr lang="en-US" sz="2000" dirty="0"/>
                  <a:t>.</a:t>
                </a:r>
              </a:p>
              <a:p>
                <a:pPr marL="685800" lvl="1"/>
                <a:endParaRPr lang="en-US" sz="2000" dirty="0"/>
              </a:p>
              <a:p>
                <a:pPr marL="685800" lvl="1"/>
                <a:r>
                  <a:rPr lang="en-US" sz="2000" dirty="0"/>
                  <a:t>They also introduce mathematical and computational complications because of the need to use projected Bellman operators to compute the Bellman error.</a:t>
                </a:r>
              </a:p>
              <a:p>
                <a:pPr marL="1143000" lvl="2"/>
                <a:endParaRPr lang="en-US" sz="1600" dirty="0"/>
              </a:p>
            </p:txBody>
          </p:sp>
        </mc:Choice>
        <mc:Fallback xmlns="">
          <p:sp>
            <p:nvSpPr>
              <p:cNvPr id="3" name="Text Placeholder 2">
                <a:extLst>
                  <a:ext uri="{FF2B5EF4-FFF2-40B4-BE49-F238E27FC236}">
                    <a16:creationId xmlns:a16="http://schemas.microsoft.com/office/drawing/2014/main" id="{5E86659A-4AF4-ADB0-44BD-44283D156551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idx="1"/>
              </p:nvPr>
            </p:nvSpPr>
            <p:spPr>
              <a:xfrm>
                <a:off x="611042" y="984214"/>
                <a:ext cx="10363200" cy="4401600"/>
              </a:xfrm>
              <a:blipFill>
                <a:blip r:embed="rId2"/>
                <a:stretch>
                  <a:fillRect l="-353" r="-294" b="-872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827780529"/>
      </p:ext>
    </p:extLst>
  </p:cSld>
  <p:clrMapOvr>
    <a:masterClrMapping/>
  </p:clrMapOvr>
</p:sld>
</file>

<file path=ppt/slides/slide1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2324FB5-CCF6-76C0-2E91-89E7F2CD4BE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F5107AAD-0CF0-ACAF-DCCC-0C6934DF846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74381" y="1650839"/>
            <a:ext cx="6873836" cy="3886537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581636" name="Rectangle 2">
                <a:extLst>
                  <a:ext uri="{FF2B5EF4-FFF2-40B4-BE49-F238E27FC236}">
                    <a16:creationId xmlns:a16="http://schemas.microsoft.com/office/drawing/2014/main" id="{CBA0FF0F-353A-56E0-5E13-2A1DFC33244F}"/>
                  </a:ext>
                </a:extLst>
              </p:cNvPr>
              <p:cNvSpPr>
                <a:spLocks noGrp="1" noChangeArrowheads="1"/>
              </p:cNvSpPr>
              <p:nvPr>
                <p:ph type="body" idx="1"/>
              </p:nvPr>
            </p:nvSpPr>
            <p:spPr>
              <a:xfrm>
                <a:off x="18854" y="963501"/>
                <a:ext cx="11840066" cy="4401600"/>
              </a:xfrm>
            </p:spPr>
            <p:txBody>
              <a:bodyPr/>
              <a:lstStyle/>
              <a:p>
                <a:pPr marL="86360" indent="0">
                  <a:buNone/>
                </a:pPr>
                <a:r>
                  <a:rPr lang="en-US" dirty="0"/>
                  <a:t>Earlier, we used a lookup table VFA, which is updated using:</a:t>
                </a:r>
              </a:p>
              <a:p>
                <a:pPr lvl="2"/>
                <a:endParaRPr lang="en-US" sz="1400" dirty="0"/>
              </a:p>
              <a:p>
                <a:pPr lvl="1"/>
                <a:r>
                  <a:rPr lang="en-US" sz="2000" dirty="0"/>
                  <a:t>Old value of being in TX:</a:t>
                </a:r>
              </a:p>
              <a:p>
                <a:pPr lvl="2"/>
                <a:endParaRPr lang="en-US" sz="1200" dirty="0"/>
              </a:p>
              <a:p>
                <a:pPr lvl="2"/>
                <a14:m>
                  <m:oMath xmlns:m="http://schemas.openxmlformats.org/officeDocument/2006/math">
                    <m:sSup>
                      <m:sSupPr>
                        <m:ctrlPr>
                          <a:rPr lang="en-US" sz="1800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acc>
                          <m:accPr>
                            <m:chr m:val="̅"/>
                            <m:ctrlPr>
                              <a:rPr lang="en-US" sz="1800" b="0" i="1" smtClean="0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sz="1800" b="0" i="1" smtClean="0">
                                <a:latin typeface="Cambria Math" panose="02040503050406030204" pitchFamily="18" charset="0"/>
                              </a:rPr>
                              <m:t>𝑉</m:t>
                            </m:r>
                          </m:e>
                        </m:acc>
                      </m:e>
                      <m:sup>
                        <m:r>
                          <a:rPr lang="en-US" sz="1800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  <m:d>
                      <m:dPr>
                        <m:ctrlPr>
                          <a:rPr lang="en-US" sz="18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1800" b="0" i="1" smtClean="0">
                            <a:latin typeface="Cambria Math" panose="02040503050406030204" pitchFamily="18" charset="0"/>
                          </a:rPr>
                          <m:t>𝑇𝑋</m:t>
                        </m:r>
                      </m:e>
                    </m:d>
                    <m:r>
                      <a:rPr lang="en-US" sz="1800" b="0" i="1" smtClean="0">
                        <a:latin typeface="Cambria Math" panose="02040503050406030204" pitchFamily="18" charset="0"/>
                      </a:rPr>
                      <m:t>=$450</m:t>
                    </m:r>
                  </m:oMath>
                </a14:m>
                <a:endParaRPr lang="en-US" sz="1800" dirty="0"/>
              </a:p>
              <a:p>
                <a:pPr lvl="3"/>
                <a:endParaRPr lang="en-US" sz="1200" dirty="0"/>
              </a:p>
              <a:p>
                <a:pPr lvl="1"/>
                <a:r>
                  <a:rPr lang="en-US" sz="2000" dirty="0"/>
                  <a:t>New value of going to CO:</a:t>
                </a:r>
              </a:p>
              <a:p>
                <a:pPr lvl="2"/>
                <a:endParaRPr lang="en-US" sz="1400" dirty="0"/>
              </a:p>
              <a:p>
                <a:pPr lvl="2"/>
                <a14:m>
                  <m:oMath xmlns:m="http://schemas.openxmlformats.org/officeDocument/2006/math">
                    <m:sSup>
                      <m:sSupPr>
                        <m:ctrlPr>
                          <a:rPr lang="en-US" sz="1800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acc>
                          <m:accPr>
                            <m:chr m:val="̂"/>
                            <m:ctrlPr>
                              <a:rPr lang="en-US" sz="1800" b="0" i="1" smtClean="0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sz="1800" b="0" i="1" smtClean="0">
                                <a:latin typeface="Cambria Math" panose="02040503050406030204" pitchFamily="18" charset="0"/>
                              </a:rPr>
                              <m:t>𝑣</m:t>
                            </m:r>
                          </m:e>
                        </m:acc>
                      </m:e>
                      <m:sup>
                        <m:r>
                          <a:rPr lang="en-US" sz="18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d>
                      <m:dPr>
                        <m:ctrlPr>
                          <a:rPr lang="en-US" sz="18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1800" b="0" i="1" smtClean="0">
                            <a:latin typeface="Cambria Math" panose="02040503050406030204" pitchFamily="18" charset="0"/>
                          </a:rPr>
                          <m:t>𝑇𝑋</m:t>
                        </m:r>
                      </m:e>
                    </m:d>
                    <m:r>
                      <a:rPr lang="en-US" sz="1800" b="0" i="1" smtClean="0">
                        <a:latin typeface="Cambria Math" panose="02040503050406030204" pitchFamily="18" charset="0"/>
                      </a:rPr>
                      <m:t>=$1200</m:t>
                    </m:r>
                  </m:oMath>
                </a14:m>
                <a:endParaRPr lang="en-US" sz="1800" dirty="0"/>
              </a:p>
              <a:p>
                <a:pPr lvl="2"/>
                <a:endParaRPr lang="en-US" sz="1400" dirty="0"/>
              </a:p>
              <a:p>
                <a:pPr lvl="1"/>
                <a:r>
                  <a:rPr lang="en-US" sz="2000" dirty="0"/>
                  <a:t>Blend old with new:</a:t>
                </a:r>
              </a:p>
              <a:p>
                <a:pPr lvl="2"/>
                <a:endParaRPr lang="en-US" sz="1400" dirty="0"/>
              </a:p>
              <a:p>
                <a:pPr lvl="2"/>
                <a14:m>
                  <m:oMath xmlns:m="http://schemas.openxmlformats.org/officeDocument/2006/math">
                    <m:r>
                      <m:rPr>
                        <m:nor/>
                      </m:rPr>
                      <a:rPr lang="en-US" sz="1800" i="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 </m:t>
                    </m:r>
                    <m:sSup>
                      <m:sSupPr>
                        <m:ctrlPr>
                          <a:rPr lang="en-US" sz="18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acc>
                          <m:accPr>
                            <m:chr m:val="̄"/>
                            <m:ctrlPr>
                              <a:rPr lang="en-US" sz="18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sz="18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𝑉</m:t>
                            </m:r>
                          </m:e>
                        </m:acc>
                      </m:e>
                      <m:sup>
                        <m:r>
                          <a:rPr lang="en-US" sz="18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US" sz="18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sz="18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𝑇𝑋</m:t>
                    </m:r>
                    <m:r>
                      <a:rPr lang="en-US" sz="18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)=(1−</m:t>
                    </m:r>
                    <m:r>
                      <a:rPr lang="en-US" sz="18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𝛼</m:t>
                    </m:r>
                    <m:r>
                      <a:rPr lang="en-US" sz="18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)</m:t>
                    </m:r>
                    <m:sSup>
                      <m:sSupPr>
                        <m:ctrlPr>
                          <a:rPr lang="en-US" sz="18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acc>
                          <m:accPr>
                            <m:chr m:val="̄"/>
                            <m:ctrlPr>
                              <a:rPr lang="en-US" sz="18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sz="18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𝑉</m:t>
                            </m:r>
                          </m:e>
                        </m:acc>
                      </m:e>
                      <m:sup>
                        <m:r>
                          <a:rPr lang="en-US" sz="18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  <m:r>
                      <a:rPr lang="en-US" sz="18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sz="18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𝑇𝑋</m:t>
                    </m:r>
                    <m:r>
                      <a:rPr lang="en-US" sz="18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)+(</m:t>
                    </m:r>
                    <m:r>
                      <a:rPr lang="en-US" sz="18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𝛼</m:t>
                    </m:r>
                    <m:r>
                      <a:rPr lang="en-US" sz="18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)</m:t>
                    </m:r>
                    <m:sSup>
                      <m:sSupPr>
                        <m:ctrlPr>
                          <a:rPr lang="en-US" sz="18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acc>
                          <m:accPr>
                            <m:chr m:val="̂"/>
                            <m:ctrlPr>
                              <a:rPr lang="en-US" sz="18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sz="18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𝑣</m:t>
                            </m:r>
                          </m:e>
                        </m:acc>
                      </m:e>
                      <m:sup>
                        <m:r>
                          <a:rPr lang="en-US" sz="18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US" sz="18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sz="18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𝑇𝑋</m:t>
                    </m:r>
                    <m:r>
                      <a:rPr lang="en-US" sz="18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en-US" sz="1800" dirty="0"/>
              </a:p>
              <a:p>
                <a:pPr lvl="2"/>
                <a:r>
                  <a:rPr lang="en-US" sz="1800" dirty="0"/>
                  <a:t>               </a:t>
                </a:r>
                <a14:m>
                  <m:oMath xmlns:m="http://schemas.openxmlformats.org/officeDocument/2006/math">
                    <m:r>
                      <a:rPr lang="en-US" sz="1800" b="0" i="1" smtClean="0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ctrlPr>
                          <a:rPr lang="en-US" sz="18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1800" b="0" i="1" smtClean="0">
                            <a:latin typeface="Cambria Math" panose="02040503050406030204" pitchFamily="18" charset="0"/>
                          </a:rPr>
                          <m:t>0.90</m:t>
                        </m:r>
                      </m:e>
                    </m:d>
                    <m:r>
                      <a:rPr lang="en-US" sz="1800" b="0" i="1" smtClean="0">
                        <a:latin typeface="Cambria Math" panose="02040503050406030204" pitchFamily="18" charset="0"/>
                      </a:rPr>
                      <m:t>$450+</m:t>
                    </m:r>
                    <m:d>
                      <m:dPr>
                        <m:ctrlPr>
                          <a:rPr lang="en-US" sz="18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1800" b="0" i="1" smtClean="0">
                            <a:latin typeface="Cambria Math" panose="02040503050406030204" pitchFamily="18" charset="0"/>
                          </a:rPr>
                          <m:t>0.10</m:t>
                        </m:r>
                      </m:e>
                    </m:d>
                    <m:r>
                      <a:rPr lang="en-US" sz="1800" b="0" i="1" smtClean="0">
                        <a:latin typeface="Cambria Math" panose="02040503050406030204" pitchFamily="18" charset="0"/>
                      </a:rPr>
                      <m:t>$1200</m:t>
                    </m:r>
                  </m:oMath>
                </a14:m>
                <a:endParaRPr lang="en-US" sz="1800" b="0" dirty="0"/>
              </a:p>
              <a:p>
                <a:pPr lvl="2"/>
                <a:r>
                  <a:rPr lang="en-US" sz="1800" dirty="0"/>
                  <a:t>               </a:t>
                </a:r>
                <a14:m>
                  <m:oMath xmlns:m="http://schemas.openxmlformats.org/officeDocument/2006/math">
                    <m:r>
                      <a:rPr lang="en-US" sz="1800" b="0" i="1" smtClean="0">
                        <a:latin typeface="Cambria Math" panose="02040503050406030204" pitchFamily="18" charset="0"/>
                      </a:rPr>
                      <m:t>=$525</m:t>
                    </m:r>
                  </m:oMath>
                </a14:m>
                <a:endParaRPr lang="en-US" dirty="0"/>
              </a:p>
              <a:p>
                <a:pPr lvl="2"/>
                <a:endParaRPr lang="en-US" dirty="0"/>
              </a:p>
              <a:p>
                <a:pPr lvl="1"/>
                <a:r>
                  <a:rPr lang="en-US" dirty="0"/>
                  <a:t>Lookup tables are a special case of a linear VFA.</a:t>
                </a:r>
              </a:p>
              <a:p>
                <a:pPr lvl="1"/>
                <a:r>
                  <a:rPr lang="en-US" dirty="0"/>
                  <a:t>This example used “forward ADP” since we simulated forward in time.</a:t>
                </a:r>
              </a:p>
            </p:txBody>
          </p:sp>
        </mc:Choice>
        <mc:Fallback xmlns="">
          <p:sp>
            <p:nvSpPr>
              <p:cNvPr id="581636" name="Rectangle 2">
                <a:extLst>
                  <a:ext uri="{FF2B5EF4-FFF2-40B4-BE49-F238E27FC236}">
                    <a16:creationId xmlns:a16="http://schemas.microsoft.com/office/drawing/2014/main" id="{CBA0FF0F-353A-56E0-5E13-2A1DFC33244F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idx="1"/>
              </p:nvPr>
            </p:nvSpPr>
            <p:spPr>
              <a:xfrm>
                <a:off x="18854" y="963501"/>
                <a:ext cx="11840066" cy="4401600"/>
              </a:xfrm>
              <a:blipFill>
                <a:blip r:embed="rId4"/>
                <a:stretch>
                  <a:fillRect l="-309" b="-2562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81638" name="Text Box 4">
            <a:extLst>
              <a:ext uri="{FF2B5EF4-FFF2-40B4-BE49-F238E27FC236}">
                <a16:creationId xmlns:a16="http://schemas.microsoft.com/office/drawing/2014/main" id="{87452BD8-8089-5D1B-F927-773F30035891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noFill/>
          <a:extLs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r>
              <a:rPr lang="en-US" sz="3600" dirty="0"/>
              <a:t>VFAs: Linear value function approximations</a:t>
            </a:r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97BC0204-6349-B264-519B-DC1EFF0124AF}"/>
                  </a:ext>
                </a:extLst>
              </p:cNvPr>
              <p:cNvSpPr txBox="1"/>
              <p:nvPr/>
            </p:nvSpPr>
            <p:spPr>
              <a:xfrm>
                <a:off x="7164369" y="4110086"/>
                <a:ext cx="1291473" cy="292388"/>
              </a:xfrm>
              <a:prstGeom prst="rect">
                <a:avLst/>
              </a:prstGeom>
              <a:solidFill>
                <a:schemeClr val="bg1"/>
              </a:solidFill>
            </p:spPr>
            <p:txBody>
              <a:bodyPr wrap="square">
                <a:spAutoFit/>
              </a:bodyPr>
              <a:lstStyle/>
              <a:p>
                <a:pPr lvl="2"/>
                <a14:m>
                  <m:oMathPara xmlns:m="http://schemas.openxmlformats.org/officeDocument/2006/math">
                    <m:oMath>
                      <m:sSup>
                        <m:sSupPr>
                          <m:ctrlPr>
                            <a:rPr lang="en-US" sz="1300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acc>
                            <m:accPr>
                              <m:chr m:val="̅"/>
                              <m:ctrlPr>
                                <a:rPr lang="en-US" sz="1300" b="0" i="1" smtClean="0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sz="1300" b="0" i="1" smtClean="0">
                                  <a:latin typeface="Cambria Math" panose="02040503050406030204" pitchFamily="18" charset="0"/>
                                </a:rPr>
                                <m:t>𝑉</m:t>
                              </m:r>
                            </m:e>
                          </m:acc>
                        </m:e>
                        <m:sup>
                          <m:r>
                            <a:rPr lang="en-US" sz="13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p>
                      </m:sSup>
                      <m:d>
                        <m:dPr>
                          <m:ctrlPr>
                            <a:rPr lang="en-US" sz="13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1300" b="0" i="1" smtClean="0">
                              <a:latin typeface="Cambria Math" panose="02040503050406030204" pitchFamily="18" charset="0"/>
                            </a:rPr>
                            <m:t>𝑇𝑋</m:t>
                          </m:r>
                        </m:e>
                      </m:d>
                      <m:r>
                        <a:rPr lang="en-US" sz="1300" b="0" i="1" smtClean="0">
                          <a:latin typeface="Cambria Math" panose="02040503050406030204" pitchFamily="18" charset="0"/>
                        </a:rPr>
                        <m:t>=$450</m:t>
                      </m:r>
                    </m:oMath>
                  </m:oMathPara>
                </a14:m>
                <a:endParaRPr lang="en-US" sz="1300" dirty="0"/>
              </a:p>
            </p:txBody>
          </p:sp>
        </mc:Choice>
        <mc:Fallback xmlns="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97BC0204-6349-B264-519B-DC1EFF0124A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164369" y="4110086"/>
                <a:ext cx="1291473" cy="292388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628172895"/>
      </p:ext>
    </p:extLst>
  </p:cSld>
  <p:clrMapOvr>
    <a:masterClrMapping/>
  </p:clrMapOvr>
</p:sld>
</file>

<file path=ppt/slides/slide1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A7B73BF-D9D0-592B-D547-A3C9DD9243E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875" name="Slide Number Placeholder 5">
            <a:extLst>
              <a:ext uri="{FF2B5EF4-FFF2-40B4-BE49-F238E27FC236}">
                <a16:creationId xmlns:a16="http://schemas.microsoft.com/office/drawing/2014/main" id="{55C0609B-C03A-460B-9AAE-63470C38BC50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>
          <a:noFill/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fld id="{C4D36059-6355-4776-B287-ABB72C303CC4}" type="slidenum">
              <a:rPr lang="en-US" sz="1400"/>
              <a:pPr/>
              <a:t>121</a:t>
            </a:fld>
            <a:endParaRPr lang="en-US" sz="1400"/>
          </a:p>
        </p:txBody>
      </p:sp>
      <p:sp>
        <p:nvSpPr>
          <p:cNvPr id="79876" name="Rectangle 2">
            <a:extLst>
              <a:ext uri="{FF2B5EF4-FFF2-40B4-BE49-F238E27FC236}">
                <a16:creationId xmlns:a16="http://schemas.microsoft.com/office/drawing/2014/main" id="{1BBC1F9F-FC8F-DD2C-3EA8-8F296AAA8289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VFAs: Linear value function approximations</a:t>
            </a:r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F1ACA830-A6A0-D802-48D3-62976CD9C4AC}"/>
              </a:ext>
            </a:extLst>
          </p:cNvPr>
          <p:cNvSpPr txBox="1">
            <a:spLocks/>
          </p:cNvSpPr>
          <p:nvPr/>
        </p:nvSpPr>
        <p:spPr>
          <a:xfrm>
            <a:off x="323660" y="1043821"/>
            <a:ext cx="10989201" cy="6247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70840" algn="l" rtl="0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240"/>
              <a:buFont typeface="Raleway"/>
              <a:buChar char="•"/>
              <a:defRPr sz="2800" b="0" i="0" u="none" strike="noStrike" cap="none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1pPr>
            <a:lvl2pPr marL="914400" marR="0" lvl="1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aleway"/>
              <a:buChar char="»"/>
              <a:defRPr sz="2400" b="0" i="0" u="none" strike="noStrike" cap="none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2pPr>
            <a:lvl3pPr marL="1371600" marR="0" lvl="2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aleway"/>
              <a:buChar char="•"/>
              <a:defRPr sz="2000" b="0" i="0" u="none" strike="noStrike" cap="none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3pPr>
            <a:lvl4pPr marL="1828800" marR="0" lvl="3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aleway"/>
              <a:buChar char="–"/>
              <a:defRPr sz="2000" b="0" i="0" u="none" strike="noStrike" cap="none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4pPr>
            <a:lvl5pPr marL="2286000" marR="0" lvl="4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aleway"/>
              <a:buChar char="»"/>
              <a:defRPr sz="2000" b="0" i="0" u="none" strike="noStrike" cap="none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5pPr>
            <a:lvl6pPr marL="2743200" marR="0" lvl="5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aleway"/>
              <a:buChar char="»"/>
              <a:defRPr sz="2000" b="0" i="0" u="none" strike="noStrike" cap="none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6pPr>
            <a:lvl7pPr marL="3200400" marR="0" lvl="6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aleway"/>
              <a:buChar char="»"/>
              <a:defRPr sz="2000" b="0" i="0" u="none" strike="noStrike" cap="none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7pPr>
            <a:lvl8pPr marL="3657600" marR="0" lvl="7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aleway"/>
              <a:buChar char="»"/>
              <a:defRPr sz="2000" b="0" i="0" u="none" strike="noStrike" cap="none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8pPr>
            <a:lvl9pPr marL="4114800" marR="0" lvl="8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aleway"/>
              <a:buChar char="»"/>
              <a:defRPr sz="2000" b="0" i="0" u="none" strike="noStrike" cap="none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9pPr>
          </a:lstStyle>
          <a:p>
            <a:pPr marL="86360" indent="0">
              <a:buFont typeface="Raleway"/>
              <a:buNone/>
            </a:pPr>
            <a:r>
              <a:rPr lang="en-US" sz="2400" dirty="0"/>
              <a:t>More general linear models are a bit more complicated: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E2F02DE3-BFAB-4036-A3F1-5884EA96D5E4}"/>
                  </a:ext>
                </a:extLst>
              </p:cNvPr>
              <p:cNvSpPr txBox="1"/>
              <p:nvPr/>
            </p:nvSpPr>
            <p:spPr>
              <a:xfrm>
                <a:off x="784871" y="1602557"/>
                <a:ext cx="5230984" cy="4794261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>
                  <a:spcBef>
                    <a:spcPts val="600"/>
                  </a:spcBef>
                </a:pPr>
                <a14:m>
                  <m:oMathPara xmlns:m="http://schemas.openxmlformats.org/officeDocument/2006/math">
                    <m:oMath>
                      <m:sSubSup>
                        <m:sSubSupPr>
                          <m:ctrlPr>
                            <a:rPr lang="en-US" sz="1800" b="0" i="1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acc>
                            <m:accPr>
                              <m:chr m:val="̅"/>
                              <m:ctrlPr>
                                <a:rPr lang="en-US" sz="1800" b="0" i="1" smtClean="0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sz="1800" b="0" i="1" smtClean="0">
                                  <a:latin typeface="Cambria Math" panose="02040503050406030204" pitchFamily="18" charset="0"/>
                                </a:rPr>
                                <m:t>𝑉</m:t>
                              </m:r>
                            </m:e>
                          </m:acc>
                        </m:e>
                        <m:sub/>
                        <m:sup>
                          <m:r>
                            <a:rPr lang="en-US" sz="18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en-US" sz="1800" b="0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sz="1800" b="0" i="1" smtClean="0">
                              <a:latin typeface="Cambria Math" panose="02040503050406030204" pitchFamily="18" charset="0"/>
                            </a:rPr>
                            <m:t>𝑛</m:t>
                          </m:r>
                          <m:r>
                            <a:rPr lang="en-US" sz="1800" b="0" i="1" smtClean="0">
                              <a:latin typeface="Cambria Math" panose="02040503050406030204" pitchFamily="18" charset="0"/>
                            </a:rPr>
                            <m:t>−1</m:t>
                          </m:r>
                        </m:sup>
                      </m:sSubSup>
                      <m:r>
                        <a:rPr lang="en-US" sz="1800" b="0" i="1" smtClean="0">
                          <a:latin typeface="Cambria Math" panose="02040503050406030204" pitchFamily="18" charset="0"/>
                        </a:rPr>
                        <m:t>(</m:t>
                      </m:r>
                      <m:sSubSup>
                        <m:sSubSupPr>
                          <m:ctrlPr>
                            <a:rPr lang="en-US" sz="1800" b="0" i="1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sz="1800" b="0" i="1" smtClean="0">
                              <a:latin typeface="Cambria Math" panose="02040503050406030204" pitchFamily="18" charset="0"/>
                            </a:rPr>
                            <m:t>𝑆</m:t>
                          </m:r>
                        </m:e>
                        <m:sub>
                          <m:r>
                            <a:rPr lang="en-US" sz="1800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</m:sub>
                        <m:sup>
                          <m:r>
                            <a:rPr lang="en-US" sz="1800" b="0" i="1" smtClean="0">
                              <a:latin typeface="Cambria Math" panose="02040503050406030204" pitchFamily="18" charset="0"/>
                            </a:rPr>
                            <m:t>𝑛</m:t>
                          </m:r>
                        </m:sup>
                      </m:sSubSup>
                      <m:r>
                        <a:rPr lang="en-US" sz="1800" b="0" i="1" smtClean="0">
                          <a:latin typeface="Cambria Math" panose="02040503050406030204" pitchFamily="18" charset="0"/>
                        </a:rPr>
                        <m:t>|</m:t>
                      </m:r>
                      <m:r>
                        <a:rPr lang="en-US" sz="1800" b="0" i="1" smtClean="0">
                          <a:latin typeface="Cambria Math" panose="02040503050406030204" pitchFamily="18" charset="0"/>
                        </a:rPr>
                        <m:t>𝜃</m:t>
                      </m:r>
                      <m:r>
                        <a:rPr lang="en-US" sz="1800" b="0" i="1" smtClean="0">
                          <a:latin typeface="Cambria Math" panose="02040503050406030204" pitchFamily="18" charset="0"/>
                        </a:rPr>
                        <m:t>)=</m:t>
                      </m:r>
                      <m:nary>
                        <m:naryPr>
                          <m:chr m:val="∑"/>
                          <m:ctrlPr>
                            <a:rPr lang="en-US" sz="1800" b="0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en-US" sz="1800" b="0" i="1" smtClean="0">
                              <a:latin typeface="Cambria Math" panose="02040503050406030204" pitchFamily="18" charset="0"/>
                            </a:rPr>
                            <m:t>𝑓</m:t>
                          </m:r>
                          <m:r>
                            <a:rPr lang="en-US" sz="1800" b="0" i="1" smtClean="0">
                              <a:latin typeface="Cambria Math" panose="02040503050406030204" pitchFamily="18" charset="0"/>
                            </a:rPr>
                            <m:t>∈</m:t>
                          </m:r>
                          <m:r>
                            <a:rPr lang="en-US" sz="1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ℱ</m:t>
                          </m:r>
                        </m:sub>
                        <m:sup/>
                        <m:e>
                          <m:sSubSup>
                            <m:sSubSupPr>
                              <m:ctrlPr>
                                <a:rPr lang="en-US" sz="1800" b="0" i="1" smtClean="0"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en-US" sz="1800" b="0" i="1" smtClean="0">
                                  <a:latin typeface="Cambria Math" panose="02040503050406030204" pitchFamily="18" charset="0"/>
                                </a:rPr>
                                <m:t>𝜃</m:t>
                              </m:r>
                            </m:e>
                            <m:sub>
                              <m:r>
                                <a:rPr lang="en-US" sz="1800" b="0" i="1" smtClean="0">
                                  <a:latin typeface="Cambria Math" panose="02040503050406030204" pitchFamily="18" charset="0"/>
                                </a:rPr>
                                <m:t>𝑓</m:t>
                              </m:r>
                            </m:sub>
                            <m:sup>
                              <m:r>
                                <a:rPr lang="en-US" sz="1800" b="0" i="1" smtClean="0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  <m:r>
                                <a:rPr lang="en-US" sz="1800" b="0" i="1" smtClean="0">
                                  <a:latin typeface="Cambria Math" panose="02040503050406030204" pitchFamily="18" charset="0"/>
                                </a:rPr>
                                <m:t>−1</m:t>
                              </m:r>
                            </m:sup>
                          </m:sSubSup>
                          <m:sSub>
                            <m:sSubPr>
                              <m:ctrlPr>
                                <a:rPr lang="en-US" sz="18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800" b="0" i="1" smtClean="0">
                                  <a:latin typeface="Cambria Math" panose="02040503050406030204" pitchFamily="18" charset="0"/>
                                </a:rPr>
                                <m:t>𝜙</m:t>
                              </m:r>
                            </m:e>
                            <m:sub>
                              <m:r>
                                <a:rPr lang="en-US" sz="1800" b="0" i="1" smtClean="0">
                                  <a:latin typeface="Cambria Math" panose="02040503050406030204" pitchFamily="18" charset="0"/>
                                </a:rPr>
                                <m:t>𝑓</m:t>
                              </m:r>
                            </m:sub>
                          </m:sSub>
                          <m:r>
                            <a:rPr lang="en-US" sz="1800" b="0" i="1" smtClean="0">
                              <a:latin typeface="Cambria Math" panose="02040503050406030204" pitchFamily="18" charset="0"/>
                            </a:rPr>
                            <m:t>(</m:t>
                          </m:r>
                          <m:sSubSup>
                            <m:sSubSupPr>
                              <m:ctrlPr>
                                <a:rPr lang="en-US" sz="1800" i="1"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en-US" sz="1800" i="1">
                                  <a:latin typeface="Cambria Math" panose="02040503050406030204" pitchFamily="18" charset="0"/>
                                </a:rPr>
                                <m:t>𝑆</m:t>
                              </m:r>
                            </m:e>
                            <m:sub>
                              <m:r>
                                <a:rPr lang="en-US" sz="1800" i="1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sub>
                            <m:sup>
                              <m:r>
                                <a:rPr lang="en-US" sz="1800" i="1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sup>
                          </m:sSubSup>
                          <m:r>
                            <a:rPr lang="en-US" sz="1800" b="0" i="1" smtClean="0">
                              <a:latin typeface="Cambria Math" panose="02040503050406030204" pitchFamily="18" charset="0"/>
                            </a:rPr>
                            <m:t>)</m:t>
                          </m:r>
                        </m:e>
                      </m:nary>
                      <m:r>
                        <a:rPr lang="en-US" sz="1800" b="0" i="1" smtClean="0"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en-US" sz="1800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lang="en-US" sz="18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p>
                                <m:sSupPr>
                                  <m:ctrlPr>
                                    <a:rPr lang="en-US" sz="1800" i="1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sz="1800" i="1">
                                      <a:latin typeface="Cambria Math" panose="02040503050406030204" pitchFamily="18" charset="0"/>
                                    </a:rPr>
                                    <m:t>𝜃</m:t>
                                  </m:r>
                                </m:e>
                                <m:sup>
                                  <m:r>
                                    <a:rPr lang="en-US" sz="1800" i="1">
                                      <a:latin typeface="Cambria Math" panose="02040503050406030204" pitchFamily="18" charset="0"/>
                                    </a:rPr>
                                    <m:t>𝑛</m:t>
                                  </m:r>
                                  <m:r>
                                    <a:rPr lang="en-US" sz="1800" b="0" i="1" smtClean="0">
                                      <a:latin typeface="Cambria Math" panose="02040503050406030204" pitchFamily="18" charset="0"/>
                                    </a:rPr>
                                    <m:t>−1</m:t>
                                  </m:r>
                                </m:sup>
                              </m:sSup>
                            </m:e>
                          </m:d>
                        </m:e>
                        <m:sup>
                          <m:r>
                            <a:rPr lang="en-US" sz="1800" b="0" i="1" smtClean="0">
                              <a:latin typeface="Cambria Math" panose="02040503050406030204" pitchFamily="18" charset="0"/>
                            </a:rPr>
                            <m:t>𝑇</m:t>
                          </m:r>
                        </m:sup>
                      </m:sSup>
                      <m:r>
                        <a:rPr lang="en-US" sz="1800" b="0" i="1" smtClean="0">
                          <a:latin typeface="Cambria Math" panose="02040503050406030204" pitchFamily="18" charset="0"/>
                        </a:rPr>
                        <m:t>𝜙</m:t>
                      </m:r>
                      <m:d>
                        <m:dPr>
                          <m:ctrlPr>
                            <a:rPr lang="en-US" sz="18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Sup>
                            <m:sSubSupPr>
                              <m:ctrlPr>
                                <a:rPr lang="en-US" sz="1800" b="0" i="1" smtClean="0"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en-US" sz="1800" b="0" i="1" smtClean="0">
                                  <a:latin typeface="Cambria Math" panose="02040503050406030204" pitchFamily="18" charset="0"/>
                                </a:rPr>
                                <m:t>𝑆</m:t>
                              </m:r>
                            </m:e>
                            <m:sub>
                              <m:r>
                                <a:rPr lang="en-US" sz="1800" b="0" i="1" smtClean="0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sub>
                            <m:sup>
                              <m:r>
                                <a:rPr lang="en-US" sz="1800" b="0" i="1" smtClean="0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sup>
                          </m:sSubSup>
                        </m:e>
                      </m:d>
                    </m:oMath>
                  </m:oMathPara>
                </a14:m>
                <a:endParaRPr lang="en-US" sz="1800" b="0" i="1" dirty="0">
                  <a:latin typeface="Cambria Math" panose="02040503050406030204" pitchFamily="18" charset="0"/>
                </a:endParaRPr>
              </a:p>
              <a:p>
                <a:pPr>
                  <a:spcBef>
                    <a:spcPts val="600"/>
                  </a:spcBef>
                </a:pPr>
                <a:endParaRPr lang="en-US" sz="1800" i="1" dirty="0">
                  <a:latin typeface="Cambria Math" panose="02040503050406030204" pitchFamily="18" charset="0"/>
                </a:endParaRPr>
              </a:p>
              <a:p>
                <a:pPr>
                  <a:spcBef>
                    <a:spcPts val="600"/>
                  </a:spcBef>
                </a:pPr>
                <a14:m>
                  <m:oMathPara xmlns:m="http://schemas.openxmlformats.org/officeDocument/2006/math">
                    <m:oMath>
                      <m:sSubSup>
                        <m:sSubSupPr>
                          <m:ctrlPr>
                            <a:rPr lang="en-US" sz="1800" i="1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acc>
                            <m:accPr>
                              <m:chr m:val="̂"/>
                              <m:ctrlPr>
                                <a:rPr lang="en-US" sz="1800" i="1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sz="1800" i="1">
                                  <a:latin typeface="Cambria Math" panose="02040503050406030204" pitchFamily="18" charset="0"/>
                                </a:rPr>
                                <m:t>𝑣</m:t>
                              </m:r>
                            </m:e>
                          </m:acc>
                        </m:e>
                        <m:sub>
                          <m:r>
                            <a:rPr lang="en-US" sz="1800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</m:sub>
                        <m:sup>
                          <m:r>
                            <a:rPr lang="en-US" sz="1800" i="1">
                              <a:latin typeface="Cambria Math" panose="02040503050406030204" pitchFamily="18" charset="0"/>
                            </a:rPr>
                            <m:t>𝑛</m:t>
                          </m:r>
                        </m:sup>
                      </m:sSubSup>
                      <m:r>
                        <a:rPr lang="en-US" sz="1800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1800" b="0" i="1" smtClean="0">
                          <a:latin typeface="Cambria Math" panose="02040503050406030204" pitchFamily="18" charset="0"/>
                        </a:rPr>
                        <m:t>𝐶</m:t>
                      </m:r>
                      <m:d>
                        <m:dPr>
                          <m:ctrlPr>
                            <a:rPr lang="en-US" sz="18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Sup>
                            <m:sSubSupPr>
                              <m:ctrlPr>
                                <a:rPr lang="en-US" sz="1800" b="0" i="1" smtClean="0"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en-US" sz="1800" b="0" i="1" smtClean="0">
                                  <a:latin typeface="Cambria Math" panose="02040503050406030204" pitchFamily="18" charset="0"/>
                                </a:rPr>
                                <m:t>𝑆</m:t>
                              </m:r>
                            </m:e>
                            <m:sub>
                              <m:r>
                                <a:rPr lang="en-US" sz="1800" b="0" i="1" smtClean="0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sub>
                            <m:sup>
                              <m:r>
                                <a:rPr lang="en-US" sz="1800" b="0" i="1" smtClean="0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sup>
                          </m:sSubSup>
                          <m:r>
                            <a:rPr lang="en-US" sz="1800" b="0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sSubSup>
                            <m:sSubSupPr>
                              <m:ctrlPr>
                                <a:rPr lang="en-US" sz="1800" b="0" i="1" smtClean="0"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en-US" sz="1800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sz="1800" b="0" i="1" smtClean="0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sub>
                            <m:sup>
                              <m:r>
                                <a:rPr lang="en-US" sz="1800" b="0" i="1" smtClean="0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sup>
                          </m:sSubSup>
                        </m:e>
                      </m:d>
                      <m:r>
                        <a:rPr lang="en-US" sz="1800" b="0" i="1" smtClean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sz="1800" b="0" i="1" smtClean="0">
                          <a:latin typeface="Cambria Math" panose="02040503050406030204" pitchFamily="18" charset="0"/>
                        </a:rPr>
                        <m:t>𝜂</m:t>
                      </m:r>
                      <m:sSubSup>
                        <m:sSubSupPr>
                          <m:ctrlPr>
                            <a:rPr lang="en-US" sz="1800" i="1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acc>
                            <m:accPr>
                              <m:chr m:val="̅"/>
                              <m:ctrlPr>
                                <a:rPr lang="en-US" sz="1800" i="1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sz="1800" i="1">
                                  <a:latin typeface="Cambria Math" panose="02040503050406030204" pitchFamily="18" charset="0"/>
                                </a:rPr>
                                <m:t>𝑉</m:t>
                              </m:r>
                            </m:e>
                          </m:acc>
                        </m:e>
                        <m:sub>
                          <m:r>
                            <a:rPr lang="en-US" sz="1800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</m:sub>
                        <m:sup>
                          <m:r>
                            <a:rPr lang="en-US" sz="18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en-US" sz="1800" b="0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sz="1800" i="1">
                              <a:latin typeface="Cambria Math" panose="02040503050406030204" pitchFamily="18" charset="0"/>
                            </a:rPr>
                            <m:t>𝑛</m:t>
                          </m:r>
                          <m:r>
                            <a:rPr lang="en-US" sz="1800" i="1">
                              <a:latin typeface="Cambria Math" panose="02040503050406030204" pitchFamily="18" charset="0"/>
                            </a:rPr>
                            <m:t>−1</m:t>
                          </m:r>
                        </m:sup>
                      </m:sSubSup>
                      <m:r>
                        <a:rPr lang="en-US" sz="1800" i="1">
                          <a:latin typeface="Cambria Math" panose="02040503050406030204" pitchFamily="18" charset="0"/>
                        </a:rPr>
                        <m:t>(</m:t>
                      </m:r>
                      <m:sSubSup>
                        <m:sSubSupPr>
                          <m:ctrlPr>
                            <a:rPr lang="en-US" sz="1800" i="1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sz="1800" i="1">
                              <a:latin typeface="Cambria Math" panose="02040503050406030204" pitchFamily="18" charset="0"/>
                            </a:rPr>
                            <m:t>𝑆</m:t>
                          </m:r>
                        </m:e>
                        <m:sub>
                          <m:r>
                            <a:rPr lang="en-US" sz="1800" i="1">
                              <a:latin typeface="Cambria Math" panose="02040503050406030204" pitchFamily="18" charset="0"/>
                            </a:rPr>
                            <m:t>𝑡</m:t>
                          </m:r>
                        </m:sub>
                        <m:sup>
                          <m:r>
                            <a:rPr lang="en-US" sz="18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en-US" sz="1800" b="0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sz="1800" i="1">
                              <a:latin typeface="Cambria Math" panose="02040503050406030204" pitchFamily="18" charset="0"/>
                            </a:rPr>
                            <m:t>𝑛</m:t>
                          </m:r>
                        </m:sup>
                      </m:sSubSup>
                      <m:r>
                        <a:rPr lang="en-US" sz="1800" i="1">
                          <a:latin typeface="Cambria Math" panose="02040503050406030204" pitchFamily="18" charset="0"/>
                        </a:rPr>
                        <m:t>|</m:t>
                      </m:r>
                      <m:r>
                        <a:rPr lang="en-US" sz="1800" i="1">
                          <a:latin typeface="Cambria Math" panose="02040503050406030204" pitchFamily="18" charset="0"/>
                        </a:rPr>
                        <m:t>𝜃</m:t>
                      </m:r>
                      <m:r>
                        <a:rPr lang="en-US" sz="1800" i="1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sz="1800" b="0" i="1" dirty="0">
                  <a:latin typeface="Cambria Math" panose="02040503050406030204" pitchFamily="18" charset="0"/>
                </a:endParaRPr>
              </a:p>
              <a:p>
                <a:pPr>
                  <a:spcBef>
                    <a:spcPts val="600"/>
                  </a:spcBef>
                </a:pPr>
                <a:endParaRPr lang="en-US" sz="1800" b="0" i="1" dirty="0">
                  <a:latin typeface="Cambria Math" panose="02040503050406030204" pitchFamily="18" charset="0"/>
                </a:endParaRPr>
              </a:p>
              <a:p>
                <a:pPr>
                  <a:spcBef>
                    <a:spcPts val="600"/>
                  </a:spcBef>
                </a:pPr>
                <a14:m>
                  <m:oMathPara xmlns:m="http://schemas.openxmlformats.org/officeDocument/2006/math">
                    <m:oMath>
                      <m:sSup>
                        <m:sSupPr>
                          <m:ctrlPr>
                            <a:rPr lang="en-US" sz="1800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1800" i="1">
                              <a:latin typeface="Cambria Math" panose="02040503050406030204" pitchFamily="18" charset="0"/>
                            </a:rPr>
                            <m:t>𝜀</m:t>
                          </m:r>
                        </m:e>
                        <m:sup>
                          <m:r>
                            <a:rPr lang="en-US" sz="1800" i="1">
                              <a:latin typeface="Cambria Math" panose="02040503050406030204" pitchFamily="18" charset="0"/>
                            </a:rPr>
                            <m:t>𝑛</m:t>
                          </m:r>
                        </m:sup>
                      </m:sSup>
                      <m:r>
                        <a:rPr lang="en-US" sz="1800" b="0" i="1" smtClean="0">
                          <a:latin typeface="Cambria Math" panose="02040503050406030204" pitchFamily="18" charset="0"/>
                        </a:rPr>
                        <m:t>=</m:t>
                      </m:r>
                      <m:sSubSup>
                        <m:sSubSupPr>
                          <m:ctrlPr>
                            <a:rPr lang="en-US" sz="1800" i="1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acc>
                            <m:accPr>
                              <m:chr m:val="̂"/>
                              <m:ctrlPr>
                                <a:rPr lang="en-US" sz="1800" i="1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sz="1800" i="1">
                                  <a:latin typeface="Cambria Math" panose="02040503050406030204" pitchFamily="18" charset="0"/>
                                </a:rPr>
                                <m:t>𝑣</m:t>
                              </m:r>
                            </m:e>
                          </m:acc>
                        </m:e>
                        <m:sub>
                          <m:r>
                            <a:rPr lang="en-US" sz="1800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</m:sub>
                        <m:sup>
                          <m:r>
                            <a:rPr lang="en-US" sz="1800" i="1">
                              <a:latin typeface="Cambria Math" panose="02040503050406030204" pitchFamily="18" charset="0"/>
                            </a:rPr>
                            <m:t>𝑛</m:t>
                          </m:r>
                        </m:sup>
                      </m:sSubSup>
                      <m:r>
                        <a:rPr lang="en-US" sz="1800" i="1">
                          <a:latin typeface="Cambria Math" panose="02040503050406030204" pitchFamily="18" charset="0"/>
                        </a:rPr>
                        <m:t>−</m:t>
                      </m:r>
                      <m:sSup>
                        <m:sSupPr>
                          <m:ctrlPr>
                            <a:rPr lang="en-US" sz="1800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lang="en-US" sz="18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p>
                                <m:sSupPr>
                                  <m:ctrlPr>
                                    <a:rPr lang="en-US" sz="1800" i="1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sz="1800" i="1">
                                      <a:latin typeface="Cambria Math" panose="02040503050406030204" pitchFamily="18" charset="0"/>
                                    </a:rPr>
                                    <m:t>𝜃</m:t>
                                  </m:r>
                                </m:e>
                                <m:sup>
                                  <m:r>
                                    <a:rPr lang="en-US" sz="1800" i="1">
                                      <a:latin typeface="Cambria Math" panose="02040503050406030204" pitchFamily="18" charset="0"/>
                                    </a:rPr>
                                    <m:t>𝑛</m:t>
                                  </m:r>
                                  <m:r>
                                    <a:rPr lang="en-US" sz="1800" b="0" i="1" smtClean="0">
                                      <a:latin typeface="Cambria Math" panose="02040503050406030204" pitchFamily="18" charset="0"/>
                                    </a:rPr>
                                    <m:t>−1</m:t>
                                  </m:r>
                                </m:sup>
                              </m:sSup>
                            </m:e>
                          </m:d>
                        </m:e>
                        <m:sup>
                          <m:r>
                            <a:rPr lang="en-US" sz="1800" i="1">
                              <a:latin typeface="Cambria Math" panose="02040503050406030204" pitchFamily="18" charset="0"/>
                            </a:rPr>
                            <m:t>𝑇</m:t>
                          </m:r>
                        </m:sup>
                      </m:sSup>
                      <m:r>
                        <a:rPr lang="en-US" sz="1800" b="0" i="1" smtClean="0">
                          <a:latin typeface="Cambria Math" panose="02040503050406030204" pitchFamily="18" charset="0"/>
                        </a:rPr>
                        <m:t>𝜙</m:t>
                      </m:r>
                      <m:r>
                        <a:rPr lang="en-US" sz="1800" b="0" i="1" smtClean="0">
                          <a:latin typeface="Cambria Math" panose="02040503050406030204" pitchFamily="18" charset="0"/>
                        </a:rPr>
                        <m:t>(</m:t>
                      </m:r>
                      <m:sSubSup>
                        <m:sSubSupPr>
                          <m:ctrlPr>
                            <a:rPr lang="en-US" sz="1800" i="1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sz="1800" i="1">
                              <a:latin typeface="Cambria Math" panose="02040503050406030204" pitchFamily="18" charset="0"/>
                            </a:rPr>
                            <m:t>𝑆</m:t>
                          </m:r>
                        </m:e>
                        <m:sub>
                          <m:r>
                            <a:rPr lang="en-US" sz="1800" i="1">
                              <a:latin typeface="Cambria Math" panose="02040503050406030204" pitchFamily="18" charset="0"/>
                            </a:rPr>
                            <m:t>𝑡</m:t>
                          </m:r>
                        </m:sub>
                        <m:sup>
                          <m:r>
                            <a:rPr lang="en-US" sz="1800" i="1">
                              <a:latin typeface="Cambria Math" panose="02040503050406030204" pitchFamily="18" charset="0"/>
                            </a:rPr>
                            <m:t>𝑛</m:t>
                          </m:r>
                        </m:sup>
                      </m:sSubSup>
                      <m:r>
                        <a:rPr lang="en-US" sz="1800" b="0" i="1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sz="1800" b="0" i="1" dirty="0">
                  <a:latin typeface="Cambria Math" panose="02040503050406030204" pitchFamily="18" charset="0"/>
                </a:endParaRPr>
              </a:p>
              <a:p>
                <a:pPr>
                  <a:spcBef>
                    <a:spcPts val="600"/>
                  </a:spcBef>
                </a:pPr>
                <a:endParaRPr lang="en-US" sz="2400" b="0" i="1" dirty="0">
                  <a:latin typeface="Cambria Math" panose="02040503050406030204" pitchFamily="18" charset="0"/>
                </a:endParaRPr>
              </a:p>
              <a:p>
                <a:pPr>
                  <a:spcBef>
                    <a:spcPts val="600"/>
                  </a:spcBef>
                </a:pPr>
                <a14:m>
                  <m:oMathPara xmlns:m="http://schemas.openxmlformats.org/officeDocument/2006/math">
                    <m:oMath>
                      <m:sSup>
                        <m:sSupPr>
                          <m:ctrlPr>
                            <a:rPr lang="en-US" sz="1800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1800" b="0" i="1" smtClean="0">
                              <a:latin typeface="Cambria Math" panose="02040503050406030204" pitchFamily="18" charset="0"/>
                            </a:rPr>
                            <m:t>𝜃</m:t>
                          </m:r>
                        </m:e>
                        <m:sup>
                          <m:r>
                            <a:rPr lang="en-US" sz="1800" b="0" i="1" smtClean="0">
                              <a:latin typeface="Cambria Math" panose="02040503050406030204" pitchFamily="18" charset="0"/>
                            </a:rPr>
                            <m:t>𝑛</m:t>
                          </m:r>
                        </m:sup>
                      </m:sSup>
                      <m:r>
                        <a:rPr lang="en-US" sz="1800" b="0" i="1" smtClean="0"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en-US" sz="1800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1800" b="0" i="1" smtClean="0">
                              <a:latin typeface="Cambria Math" panose="02040503050406030204" pitchFamily="18" charset="0"/>
                            </a:rPr>
                            <m:t>𝜃</m:t>
                          </m:r>
                        </m:e>
                        <m:sup>
                          <m:r>
                            <a:rPr lang="en-US" sz="1800" b="0" i="1" smtClean="0">
                              <a:latin typeface="Cambria Math" panose="02040503050406030204" pitchFamily="18" charset="0"/>
                            </a:rPr>
                            <m:t>𝑛</m:t>
                          </m:r>
                          <m:r>
                            <a:rPr lang="en-US" sz="1800" b="0" i="1" smtClean="0">
                              <a:latin typeface="Cambria Math" panose="02040503050406030204" pitchFamily="18" charset="0"/>
                            </a:rPr>
                            <m:t>−1</m:t>
                          </m:r>
                        </m:sup>
                      </m:sSup>
                      <m:r>
                        <a:rPr lang="en-US" sz="1800" b="0" i="1" smtClean="0">
                          <a:latin typeface="Cambria Math" panose="02040503050406030204" pitchFamily="18" charset="0"/>
                        </a:rPr>
                        <m:t>−</m:t>
                      </m:r>
                      <m:f>
                        <m:fPr>
                          <m:ctrlPr>
                            <a:rPr lang="en-US" sz="18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1800" i="1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sSup>
                            <m:sSupPr>
                              <m:ctrlPr>
                                <a:rPr lang="en-US" sz="1800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1800" i="1">
                                  <a:latin typeface="Cambria Math" panose="02040503050406030204" pitchFamily="18" charset="0"/>
                                </a:rPr>
                                <m:t>𝛾</m:t>
                              </m:r>
                            </m:e>
                            <m:sup>
                              <m:r>
                                <a:rPr lang="en-US" sz="1800" i="1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  <m:r>
                                <a:rPr lang="en-US" sz="1800" b="0" i="1" smtClean="0">
                                  <a:latin typeface="Cambria Math" panose="02040503050406030204" pitchFamily="18" charset="0"/>
                                </a:rPr>
                                <m:t>−1</m:t>
                              </m:r>
                            </m:sup>
                          </m:sSup>
                        </m:den>
                      </m:f>
                      <m:sSup>
                        <m:sSupPr>
                          <m:ctrlPr>
                            <a:rPr lang="en-US" sz="1800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1800" i="1">
                              <a:latin typeface="Cambria Math" panose="02040503050406030204" pitchFamily="18" charset="0"/>
                            </a:rPr>
                            <m:t>𝑀</m:t>
                          </m:r>
                        </m:e>
                        <m:sup>
                          <m:r>
                            <a:rPr lang="en-US" sz="1800" i="1">
                              <a:latin typeface="Cambria Math" panose="02040503050406030204" pitchFamily="18" charset="0"/>
                            </a:rPr>
                            <m:t>𝑛</m:t>
                          </m:r>
                          <m:r>
                            <a:rPr lang="en-US" sz="1800" i="1">
                              <a:latin typeface="Cambria Math" panose="02040503050406030204" pitchFamily="18" charset="0"/>
                            </a:rPr>
                            <m:t>−1</m:t>
                          </m:r>
                        </m:sup>
                      </m:sSup>
                      <m:sSubSup>
                        <m:sSubSupPr>
                          <m:ctrlPr>
                            <a:rPr lang="en-US" sz="1800" b="0" i="1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sz="1800" b="0" i="1" smtClean="0">
                              <a:latin typeface="Cambria Math" panose="02040503050406030204" pitchFamily="18" charset="0"/>
                            </a:rPr>
                            <m:t>𝜙</m:t>
                          </m:r>
                        </m:e>
                        <m:sub/>
                        <m:sup>
                          <m:r>
                            <a:rPr lang="en-US" sz="1800" b="0" i="1" smtClean="0">
                              <a:latin typeface="Cambria Math" panose="02040503050406030204" pitchFamily="18" charset="0"/>
                            </a:rPr>
                            <m:t>𝑛</m:t>
                          </m:r>
                        </m:sup>
                      </m:sSubSup>
                      <m:sSup>
                        <m:sSupPr>
                          <m:ctrlPr>
                            <a:rPr lang="en-US" sz="1800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1800" b="0" i="1" smtClean="0">
                              <a:latin typeface="Cambria Math" panose="02040503050406030204" pitchFamily="18" charset="0"/>
                            </a:rPr>
                            <m:t>𝜀</m:t>
                          </m:r>
                        </m:e>
                        <m:sup>
                          <m:r>
                            <a:rPr lang="en-US" sz="1800" b="0" i="1" smtClean="0">
                              <a:latin typeface="Cambria Math" panose="02040503050406030204" pitchFamily="18" charset="0"/>
                            </a:rPr>
                            <m:t>𝑛</m:t>
                          </m:r>
                        </m:sup>
                      </m:sSup>
                    </m:oMath>
                  </m:oMathPara>
                </a14:m>
                <a:endParaRPr lang="en-US" sz="1800" dirty="0"/>
              </a:p>
              <a:p>
                <a:pPr>
                  <a:spcBef>
                    <a:spcPts val="600"/>
                  </a:spcBef>
                </a:pPr>
                <a:endParaRPr lang="en-US" sz="1800" dirty="0"/>
              </a:p>
              <a:p>
                <a:pPr>
                  <a:spcBef>
                    <a:spcPts val="600"/>
                  </a:spcBef>
                </a:pPr>
                <a14:m>
                  <m:oMathPara xmlns:m="http://schemas.openxmlformats.org/officeDocument/2006/math">
                    <m:oMath>
                      <m:sSup>
                        <m:sSupPr>
                          <m:ctrlPr>
                            <a:rPr lang="en-US" sz="1800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1800" i="1">
                              <a:latin typeface="Cambria Math" panose="02040503050406030204" pitchFamily="18" charset="0"/>
                            </a:rPr>
                            <m:t>𝛾</m:t>
                          </m:r>
                        </m:e>
                        <m:sup>
                          <m:r>
                            <a:rPr lang="en-US" sz="1800" i="1">
                              <a:latin typeface="Cambria Math" panose="02040503050406030204" pitchFamily="18" charset="0"/>
                            </a:rPr>
                            <m:t>𝑛</m:t>
                          </m:r>
                        </m:sup>
                      </m:sSup>
                      <m:r>
                        <a:rPr lang="en-US" sz="1800" i="1">
                          <a:latin typeface="Cambria Math" panose="02040503050406030204" pitchFamily="18" charset="0"/>
                        </a:rPr>
                        <m:t>=1+</m:t>
                      </m:r>
                      <m:sSup>
                        <m:sSupPr>
                          <m:ctrlPr>
                            <a:rPr lang="en-US" sz="1800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lang="en-US" sz="18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Sup>
                                <m:sSubSupPr>
                                  <m:ctrlPr>
                                    <a:rPr lang="en-US" sz="1800" i="1">
                                      <a:latin typeface="Cambria Math" panose="02040503050406030204" pitchFamily="18" charset="0"/>
                                    </a:rPr>
                                  </m:ctrlPr>
                                </m:sSubSupPr>
                                <m:e>
                                  <m:r>
                                    <a:rPr lang="en-US" sz="1800" i="1">
                                      <a:latin typeface="Cambria Math" panose="02040503050406030204" pitchFamily="18" charset="0"/>
                                    </a:rPr>
                                    <m:t>𝜙</m:t>
                                  </m:r>
                                </m:e>
                                <m:sub/>
                                <m:sup>
                                  <m:r>
                                    <a:rPr lang="en-US" sz="1800" i="1">
                                      <a:latin typeface="Cambria Math" panose="02040503050406030204" pitchFamily="18" charset="0"/>
                                    </a:rPr>
                                    <m:t>𝑛</m:t>
                                  </m:r>
                                </m:sup>
                              </m:sSubSup>
                            </m:e>
                          </m:d>
                        </m:e>
                        <m:sup>
                          <m:r>
                            <a:rPr lang="en-US" sz="1800" i="1">
                              <a:latin typeface="Cambria Math" panose="02040503050406030204" pitchFamily="18" charset="0"/>
                            </a:rPr>
                            <m:t>𝑇</m:t>
                          </m:r>
                        </m:sup>
                      </m:sSup>
                      <m:sSup>
                        <m:sSupPr>
                          <m:ctrlPr>
                            <a:rPr lang="en-US" sz="1800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1800" i="1">
                              <a:latin typeface="Cambria Math" panose="02040503050406030204" pitchFamily="18" charset="0"/>
                            </a:rPr>
                            <m:t>𝑀</m:t>
                          </m:r>
                        </m:e>
                        <m:sup>
                          <m:r>
                            <a:rPr lang="en-US" sz="1800" i="1">
                              <a:latin typeface="Cambria Math" panose="02040503050406030204" pitchFamily="18" charset="0"/>
                            </a:rPr>
                            <m:t>𝑛</m:t>
                          </m:r>
                          <m:r>
                            <a:rPr lang="en-US" sz="1800" i="1">
                              <a:latin typeface="Cambria Math" panose="02040503050406030204" pitchFamily="18" charset="0"/>
                            </a:rPr>
                            <m:t>−1</m:t>
                          </m:r>
                        </m:sup>
                      </m:sSup>
                      <m:sSubSup>
                        <m:sSubSupPr>
                          <m:ctrlPr>
                            <a:rPr lang="en-US" sz="1800" i="1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sz="1800" i="1">
                              <a:latin typeface="Cambria Math" panose="02040503050406030204" pitchFamily="18" charset="0"/>
                            </a:rPr>
                            <m:t>𝜙</m:t>
                          </m:r>
                        </m:e>
                        <m:sub/>
                        <m:sup>
                          <m:r>
                            <a:rPr lang="en-US" sz="1800" i="1">
                              <a:latin typeface="Cambria Math" panose="02040503050406030204" pitchFamily="18" charset="0"/>
                            </a:rPr>
                            <m:t>𝑛</m:t>
                          </m:r>
                        </m:sup>
                      </m:sSubSup>
                    </m:oMath>
                  </m:oMathPara>
                </a14:m>
                <a:endParaRPr lang="en-US" sz="1800" dirty="0"/>
              </a:p>
              <a:p>
                <a:pPr>
                  <a:spcBef>
                    <a:spcPts val="600"/>
                  </a:spcBef>
                </a:pPr>
                <a:endParaRPr lang="en-US" sz="1800" dirty="0"/>
              </a:p>
              <a:p>
                <a:pPr>
                  <a:spcBef>
                    <a:spcPts val="600"/>
                  </a:spcBef>
                </a:pPr>
                <a14:m>
                  <m:oMathPara xmlns:m="http://schemas.openxmlformats.org/officeDocument/2006/math">
                    <m:oMath>
                      <m:sSup>
                        <m:sSupPr>
                          <m:ctrlPr>
                            <a:rPr lang="en-US" sz="1800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1800" b="0" i="1" smtClean="0">
                              <a:latin typeface="Cambria Math" panose="02040503050406030204" pitchFamily="18" charset="0"/>
                            </a:rPr>
                            <m:t>𝑀</m:t>
                          </m:r>
                        </m:e>
                        <m:sup>
                          <m:r>
                            <a:rPr lang="en-US" sz="1800" b="0" i="1" smtClean="0">
                              <a:latin typeface="Cambria Math" panose="02040503050406030204" pitchFamily="18" charset="0"/>
                            </a:rPr>
                            <m:t>𝑛</m:t>
                          </m:r>
                        </m:sup>
                      </m:sSup>
                      <m:r>
                        <a:rPr lang="en-US" sz="1800" b="0" i="1" smtClean="0"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en-US" sz="1800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1800" b="0" i="1" smtClean="0">
                              <a:latin typeface="Cambria Math" panose="02040503050406030204" pitchFamily="18" charset="0"/>
                            </a:rPr>
                            <m:t>𝑀</m:t>
                          </m:r>
                        </m:e>
                        <m:sup>
                          <m:r>
                            <a:rPr lang="en-US" sz="1800" b="0" i="1" smtClean="0">
                              <a:latin typeface="Cambria Math" panose="02040503050406030204" pitchFamily="18" charset="0"/>
                            </a:rPr>
                            <m:t>𝑛</m:t>
                          </m:r>
                          <m:r>
                            <a:rPr lang="en-US" sz="1800" b="0" i="1" smtClean="0">
                              <a:latin typeface="Cambria Math" panose="02040503050406030204" pitchFamily="18" charset="0"/>
                            </a:rPr>
                            <m:t>−1</m:t>
                          </m:r>
                        </m:sup>
                      </m:sSup>
                      <m:r>
                        <a:rPr lang="en-US" sz="1800" b="0" i="1" smtClean="0">
                          <a:latin typeface="Cambria Math" panose="02040503050406030204" pitchFamily="18" charset="0"/>
                        </a:rPr>
                        <m:t>−</m:t>
                      </m:r>
                      <m:f>
                        <m:fPr>
                          <m:ctrlPr>
                            <a:rPr lang="en-US" sz="18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18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sSup>
                            <m:sSupPr>
                              <m:ctrlPr>
                                <a:rPr lang="en-US" sz="1800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1800" b="0" i="1" smtClean="0">
                                  <a:latin typeface="Cambria Math" panose="02040503050406030204" pitchFamily="18" charset="0"/>
                                </a:rPr>
                                <m:t>𝛾</m:t>
                              </m:r>
                            </m:e>
                            <m:sup>
                              <m:r>
                                <a:rPr lang="en-US" sz="1800" b="0" i="1" smtClean="0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sup>
                          </m:sSup>
                        </m:den>
                      </m:f>
                      <m:d>
                        <m:dPr>
                          <m:ctrlPr>
                            <a:rPr lang="en-US" sz="18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p>
                            <m:sSupPr>
                              <m:ctrlPr>
                                <a:rPr lang="en-US" sz="1800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1800" b="0" i="1" smtClean="0">
                                  <a:latin typeface="Cambria Math" panose="02040503050406030204" pitchFamily="18" charset="0"/>
                                </a:rPr>
                                <m:t>𝑀</m:t>
                              </m:r>
                            </m:e>
                            <m:sup>
                              <m:r>
                                <a:rPr lang="en-US" sz="1800" i="1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  <m:r>
                                <a:rPr lang="en-US" sz="1800" i="1">
                                  <a:latin typeface="Cambria Math" panose="02040503050406030204" pitchFamily="18" charset="0"/>
                                </a:rPr>
                                <m:t>−1</m:t>
                              </m:r>
                            </m:sup>
                          </m:sSup>
                          <m:sSubSup>
                            <m:sSubSupPr>
                              <m:ctrlPr>
                                <a:rPr lang="en-US" sz="1800" i="1"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en-US" sz="1800" i="1">
                                  <a:latin typeface="Cambria Math" panose="02040503050406030204" pitchFamily="18" charset="0"/>
                                </a:rPr>
                                <m:t>𝜙</m:t>
                              </m:r>
                            </m:e>
                            <m:sub/>
                            <m:sup>
                              <m:r>
                                <a:rPr lang="en-US" sz="1800" i="1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sup>
                          </m:sSubSup>
                          <m:sSup>
                            <m:sSupPr>
                              <m:ctrlPr>
                                <a:rPr lang="en-US" sz="1800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d>
                                <m:dPr>
                                  <m:ctrlPr>
                                    <a:rPr lang="en-US" sz="18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bSup>
                                    <m:sSubSupPr>
                                      <m:ctrlPr>
                                        <a:rPr lang="en-US" sz="1800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SupPr>
                                    <m:e>
                                      <m:r>
                                        <a:rPr lang="en-US" sz="1800" b="0" i="1" smtClean="0">
                                          <a:latin typeface="Cambria Math" panose="02040503050406030204" pitchFamily="18" charset="0"/>
                                        </a:rPr>
                                        <m:t>𝜙</m:t>
                                      </m:r>
                                    </m:e>
                                    <m:sub/>
                                    <m:sup>
                                      <m:r>
                                        <a:rPr lang="en-US" sz="1800" b="0" i="1" smtClean="0">
                                          <a:latin typeface="Cambria Math" panose="02040503050406030204" pitchFamily="18" charset="0"/>
                                        </a:rPr>
                                        <m:t>𝑛</m:t>
                                      </m:r>
                                    </m:sup>
                                  </m:sSubSup>
                                </m:e>
                              </m:d>
                            </m:e>
                            <m:sup>
                              <m:r>
                                <a:rPr lang="en-US" sz="1800" b="0" i="1" smtClean="0">
                                  <a:latin typeface="Cambria Math" panose="02040503050406030204" pitchFamily="18" charset="0"/>
                                </a:rPr>
                                <m:t>𝑇</m:t>
                              </m:r>
                            </m:sup>
                          </m:sSup>
                          <m:sSup>
                            <m:sSupPr>
                              <m:ctrlPr>
                                <a:rPr lang="en-US" sz="1800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1800" b="0" i="1" smtClean="0">
                                  <a:latin typeface="Cambria Math" panose="02040503050406030204" pitchFamily="18" charset="0"/>
                                </a:rPr>
                                <m:t>𝑀</m:t>
                              </m:r>
                            </m:e>
                            <m:sup>
                              <m:r>
                                <a:rPr lang="en-US" sz="1800" b="0" i="1" smtClean="0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  <m:r>
                                <a:rPr lang="en-US" sz="1800" b="0" i="1" smtClean="0">
                                  <a:latin typeface="Cambria Math" panose="02040503050406030204" pitchFamily="18" charset="0"/>
                                </a:rPr>
                                <m:t>−1</m:t>
                              </m:r>
                            </m:sup>
                          </m:sSup>
                        </m:e>
                      </m:d>
                    </m:oMath>
                  </m:oMathPara>
                </a14:m>
                <a:endParaRPr lang="en-US" sz="1800" dirty="0"/>
              </a:p>
            </p:txBody>
          </p:sp>
        </mc:Choice>
        <mc:Fallback xmlns="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E2F02DE3-BFAB-4036-A3F1-5884EA96D5E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84871" y="1602557"/>
                <a:ext cx="5230984" cy="4794261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4C34288F-F16A-6C0C-F9FF-031910B6F173}"/>
                  </a:ext>
                </a:extLst>
              </p:cNvPr>
              <p:cNvSpPr txBox="1"/>
              <p:nvPr/>
            </p:nvSpPr>
            <p:spPr>
              <a:xfrm>
                <a:off x="6096000" y="1877978"/>
                <a:ext cx="5216861" cy="449353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1800" b="0" dirty="0">
                    <a:latin typeface="Raleway" pitchFamily="2" charset="0"/>
                  </a:rPr>
                  <a:t>The linear value function approximation</a:t>
                </a:r>
                <a:endParaRPr lang="en-US" sz="1800" b="0" i="1" dirty="0">
                  <a:latin typeface="Cambria Math" panose="02040503050406030204" pitchFamily="18" charset="0"/>
                </a:endParaRPr>
              </a:p>
              <a:p>
                <a:endParaRPr lang="en-US" sz="1600" b="0" dirty="0">
                  <a:latin typeface="Raleway" pitchFamily="2" charset="0"/>
                </a:endParaRPr>
              </a:p>
              <a:p>
                <a:endParaRPr lang="en-US" sz="1600" dirty="0">
                  <a:latin typeface="Raleway" pitchFamily="2" charset="0"/>
                </a:endParaRPr>
              </a:p>
              <a:p>
                <a:r>
                  <a:rPr lang="en-US" sz="1800" b="0" dirty="0">
                    <a:latin typeface="Raleway" pitchFamily="2" charset="0"/>
                  </a:rPr>
                  <a:t>A sampled estimate of the value of being in state 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en-US" sz="1800" b="0" i="1" smtClean="0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sz="1800" b="0" i="1" smtClean="0">
                            <a:latin typeface="Cambria Math" panose="02040503050406030204" pitchFamily="18" charset="0"/>
                          </a:rPr>
                          <m:t>𝑆</m:t>
                        </m:r>
                      </m:e>
                      <m:sub>
                        <m:r>
                          <a:rPr lang="en-US" sz="1800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  <m:sup>
                        <m:r>
                          <a:rPr lang="en-US" sz="1800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</m:sSubSup>
                  </m:oMath>
                </a14:m>
                <a:r>
                  <a:rPr lang="en-US" sz="1800" b="0" dirty="0">
                    <a:latin typeface="Raleway" pitchFamily="2" charset="0"/>
                  </a:rPr>
                  <a:t> at time </a:t>
                </a:r>
                <a14:m>
                  <m:oMath xmlns:m="http://schemas.openxmlformats.org/officeDocument/2006/math">
                    <m:r>
                      <a:rPr lang="en-US" sz="1800" b="0" i="1" smtClean="0">
                        <a:latin typeface="Cambria Math" panose="02040503050406030204" pitchFamily="18" charset="0"/>
                      </a:rPr>
                      <m:t>𝑡</m:t>
                    </m:r>
                  </m:oMath>
                </a14:m>
                <a:r>
                  <a:rPr lang="en-US" sz="1800" b="0" dirty="0">
                    <a:latin typeface="Raleway" pitchFamily="2" charset="0"/>
                  </a:rPr>
                  <a:t>, iteration </a:t>
                </a:r>
                <a14:m>
                  <m:oMath xmlns:m="http://schemas.openxmlformats.org/officeDocument/2006/math">
                    <m:r>
                      <a:rPr lang="en-US" sz="1800" b="0" i="1" smtClean="0"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en-US" sz="1800" b="0" dirty="0">
                    <a:latin typeface="Raleway" pitchFamily="2" charset="0"/>
                  </a:rPr>
                  <a:t>.</a:t>
                </a:r>
              </a:p>
              <a:p>
                <a:endParaRPr lang="en-US" dirty="0">
                  <a:latin typeface="Raleway" pitchFamily="2" charset="0"/>
                </a:endParaRPr>
              </a:p>
              <a:p>
                <a:r>
                  <a:rPr lang="en-US" sz="1800" b="0" dirty="0">
                    <a:latin typeface="Raleway" pitchFamily="2" charset="0"/>
                  </a:rPr>
                  <a:t>The differen</a:t>
                </a:r>
                <a:r>
                  <a:rPr lang="en-US" sz="1800" dirty="0">
                    <a:latin typeface="Raleway" pitchFamily="2" charset="0"/>
                  </a:rPr>
                  <a:t>ce between sampled and estimated value of being in the state.</a:t>
                </a:r>
              </a:p>
              <a:p>
                <a:endParaRPr lang="en-US" sz="1800" dirty="0">
                  <a:latin typeface="Raleway" pitchFamily="2" charset="0"/>
                </a:endParaRPr>
              </a:p>
              <a:p>
                <a:r>
                  <a:rPr lang="en-US" sz="1800" b="0" dirty="0">
                    <a:latin typeface="Raleway" pitchFamily="2" charset="0"/>
                  </a:rPr>
                  <a:t>The updated estimate of </a:t>
                </a:r>
                <a14:m>
                  <m:oMath xmlns:m="http://schemas.openxmlformats.org/officeDocument/2006/math">
                    <m:r>
                      <a:rPr lang="en-US" sz="1800" b="0" i="1" smtClean="0">
                        <a:latin typeface="Cambria Math" panose="02040503050406030204" pitchFamily="18" charset="0"/>
                      </a:rPr>
                      <m:t>𝜃</m:t>
                    </m:r>
                  </m:oMath>
                </a14:m>
                <a:r>
                  <a:rPr lang="en-US" sz="1800" b="0" dirty="0">
                    <a:latin typeface="Raleway" pitchFamily="2" charset="0"/>
                  </a:rPr>
                  <a:t>.</a:t>
                </a:r>
              </a:p>
              <a:p>
                <a:endParaRPr lang="en-US" sz="2000" dirty="0">
                  <a:latin typeface="Raleway" pitchFamily="2" charset="0"/>
                </a:endParaRPr>
              </a:p>
              <a:p>
                <a:endParaRPr lang="en-US" sz="1800" dirty="0">
                  <a:latin typeface="Raleway" pitchFamily="2" charset="0"/>
                </a:endParaRPr>
              </a:p>
              <a:p>
                <a:r>
                  <a:rPr lang="en-US" sz="1800" dirty="0">
                    <a:latin typeface="Raleway" pitchFamily="2" charset="0"/>
                  </a:rPr>
                  <a:t>The updated factor </a:t>
                </a:r>
                <a14:m>
                  <m:oMath xmlns:m="http://schemas.openxmlformats.org/officeDocument/2006/math">
                    <m:r>
                      <a:rPr lang="en-US" sz="1800" i="1">
                        <a:latin typeface="Cambria Math" panose="02040503050406030204" pitchFamily="18" charset="0"/>
                      </a:rPr>
                      <m:t>𝛾</m:t>
                    </m:r>
                  </m:oMath>
                </a14:m>
                <a:endParaRPr lang="en-US" sz="1800" dirty="0">
                  <a:latin typeface="Raleway" pitchFamily="2" charset="0"/>
                </a:endParaRPr>
              </a:p>
              <a:p>
                <a:endParaRPr lang="en-US" sz="1800" b="0" dirty="0">
                  <a:latin typeface="Raleway" pitchFamily="2" charset="0"/>
                </a:endParaRPr>
              </a:p>
              <a:p>
                <a:endParaRPr lang="en-US" sz="1800" b="0" dirty="0">
                  <a:latin typeface="Raleway" pitchFamily="2" charset="0"/>
                </a:endParaRPr>
              </a:p>
              <a:p>
                <a:r>
                  <a:rPr lang="en-US" sz="1800" b="0" dirty="0">
                    <a:latin typeface="Raleway" pitchFamily="2" charset="0"/>
                  </a:rPr>
                  <a:t>The updated matrix </a:t>
                </a:r>
                <a14:m>
                  <m:oMath xmlns:m="http://schemas.openxmlformats.org/officeDocument/2006/math">
                    <m:r>
                      <a:rPr lang="en-US" sz="1800" b="0" i="1" smtClean="0">
                        <a:latin typeface="Cambria Math" panose="02040503050406030204" pitchFamily="18" charset="0"/>
                      </a:rPr>
                      <m:t>𝑀</m:t>
                    </m:r>
                  </m:oMath>
                </a14:m>
                <a:r>
                  <a:rPr lang="en-US" sz="1800" b="0" dirty="0">
                    <a:latin typeface="Raleway" pitchFamily="2" charset="0"/>
                  </a:rPr>
                  <a:t>.</a:t>
                </a:r>
              </a:p>
            </p:txBody>
          </p:sp>
        </mc:Choice>
        <mc:Fallback xmlns="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4C34288F-F16A-6C0C-F9FF-031910B6F17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096000" y="1877978"/>
                <a:ext cx="5216861" cy="4493538"/>
              </a:xfrm>
              <a:prstGeom prst="rect">
                <a:avLst/>
              </a:prstGeom>
              <a:blipFill>
                <a:blip r:embed="rId4"/>
                <a:stretch>
                  <a:fillRect l="-935" t="-67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910822599"/>
      </p:ext>
    </p:extLst>
  </p:cSld>
  <p:clrMapOvr>
    <a:masterClrMapping/>
  </p:clrMapOvr>
</p:sld>
</file>

<file path=ppt/slides/slide1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7EACB75-F7C6-4205-5089-05752260D3D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VFAs: Linear value function approximations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 Placeholder 2">
                <a:extLst>
                  <a:ext uri="{FF2B5EF4-FFF2-40B4-BE49-F238E27FC236}">
                    <a16:creationId xmlns:a16="http://schemas.microsoft.com/office/drawing/2014/main" id="{50C343F2-41E3-494D-8F89-3A6BA4F760F6}"/>
                  </a:ext>
                </a:extLst>
              </p:cNvPr>
              <p:cNvSpPr>
                <a:spLocks noGrp="1"/>
              </p:cNvSpPr>
              <p:nvPr>
                <p:ph type="body" idx="1"/>
              </p:nvPr>
            </p:nvSpPr>
            <p:spPr>
              <a:xfrm>
                <a:off x="488690" y="1062672"/>
                <a:ext cx="10757488" cy="4401600"/>
              </a:xfrm>
            </p:spPr>
            <p:txBody>
              <a:bodyPr/>
              <a:lstStyle/>
              <a:p>
                <a:pPr marL="86360" indent="0">
                  <a:buNone/>
                </a:pPr>
                <a:r>
                  <a:rPr lang="en-US" sz="2000" dirty="0"/>
                  <a:t>We face a challenge… if we have discrete states, we want to find the “fixed point” </a:t>
                </a:r>
                <a14:m>
                  <m:oMath xmlns:m="http://schemas.openxmlformats.org/officeDocument/2006/math"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𝑉</m:t>
                    </m:r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𝑠</m:t>
                    </m:r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sz="2000" dirty="0"/>
                  <a:t> that solves Bellman’s equation:</a:t>
                </a:r>
              </a:p>
              <a:p>
                <a:pPr lvl="2"/>
                <a:endParaRPr lang="en-US" sz="1600" dirty="0"/>
              </a:p>
              <a:p>
                <a:pPr lvl="1"/>
                <a14:m>
                  <m:oMath xmlns:m="http://schemas.openxmlformats.org/officeDocument/2006/math"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𝑉</m:t>
                    </m:r>
                    <m:d>
                      <m:dPr>
                        <m:ctrlPr>
                          <a:rPr lang="en-US" sz="20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𝑠</m:t>
                        </m:r>
                      </m:e>
                    </m:d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=</m:t>
                    </m:r>
                    <m:func>
                      <m:funcPr>
                        <m:ctrlPr>
                          <a:rPr lang="en-US" sz="2000" b="0" i="1" smtClean="0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limLow>
                          <m:limLowPr>
                            <m:ctrlPr>
                              <a:rPr lang="en-US" sz="2000" b="0" i="0" smtClean="0">
                                <a:latin typeface="Cambria Math" panose="02040503050406030204" pitchFamily="18" charset="0"/>
                              </a:rPr>
                            </m:ctrlPr>
                          </m:limLowPr>
                          <m:e>
                            <m:r>
                              <m:rPr>
                                <m:sty m:val="p"/>
                              </m:rPr>
                              <a:rPr lang="en-US" sz="2000" b="0" i="0" smtClean="0">
                                <a:latin typeface="Cambria Math" panose="02040503050406030204" pitchFamily="18" charset="0"/>
                              </a:rPr>
                              <m:t>max</m:t>
                            </m:r>
                          </m:e>
                          <m:lim>
                            <m:r>
                              <a:rPr lang="en-US" sz="2000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lim>
                        </m:limLow>
                      </m:fName>
                      <m:e>
                        <m:d>
                          <m:dPr>
                            <m:ctrlPr>
                              <a:rPr lang="en-US" sz="2000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2000" b="0" i="1" smtClean="0">
                                <a:latin typeface="Cambria Math" panose="02040503050406030204" pitchFamily="18" charset="0"/>
                              </a:rPr>
                              <m:t>𝐶</m:t>
                            </m:r>
                            <m:d>
                              <m:dPr>
                                <m:ctrlPr>
                                  <a:rPr lang="en-US" sz="2000" b="0" i="1" smtClean="0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sz="2000" b="0" i="1" smtClean="0">
                                    <a:latin typeface="Cambria Math" panose="02040503050406030204" pitchFamily="18" charset="0"/>
                                  </a:rPr>
                                  <m:t>𝑠</m:t>
                                </m:r>
                                <m:r>
                                  <a:rPr lang="en-US" sz="2000" b="0" i="1" smtClean="0">
                                    <a:latin typeface="Cambria Math" panose="02040503050406030204" pitchFamily="18" charset="0"/>
                                  </a:rPr>
                                  <m:t>,</m:t>
                                </m:r>
                                <m:r>
                                  <a:rPr lang="en-US" sz="2000" b="0" i="1" smtClean="0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</m:d>
                            <m:r>
                              <a:rPr lang="en-US" sz="2000" b="0" i="1" smtClean="0">
                                <a:latin typeface="Cambria Math" panose="02040503050406030204" pitchFamily="18" charset="0"/>
                              </a:rPr>
                              <m:t>+</m:t>
                            </m:r>
                            <m:r>
                              <a:rPr lang="en-US" sz="2000" b="0" i="1" smtClean="0">
                                <a:latin typeface="Cambria Math" panose="02040503050406030204" pitchFamily="18" charset="0"/>
                              </a:rPr>
                              <m:t>𝜂</m:t>
                            </m:r>
                            <m:nary>
                              <m:naryPr>
                                <m:chr m:val="∑"/>
                                <m:ctrlPr>
                                  <a:rPr lang="en-US" sz="2000" b="0" i="1" smtClean="0">
                                    <a:latin typeface="Cambria Math" panose="02040503050406030204" pitchFamily="18" charset="0"/>
                                  </a:rPr>
                                </m:ctrlPr>
                              </m:naryPr>
                              <m:sub>
                                <m:r>
                                  <m:rPr>
                                    <m:brk m:alnAt="23"/>
                                  </m:rPr>
                                  <a:rPr lang="en-US" sz="2000" b="0" i="1" smtClean="0">
                                    <a:latin typeface="Cambria Math" panose="02040503050406030204" pitchFamily="18" charset="0"/>
                                  </a:rPr>
                                  <m:t>𝑠</m:t>
                                </m:r>
                                <m:r>
                                  <m:rPr>
                                    <m:brk m:alnAt="23"/>
                                  </m:rPr>
                                  <a:rPr lang="en-US" sz="2000" b="0" i="1" smtClean="0">
                                    <a:latin typeface="Cambria Math" panose="02040503050406030204" pitchFamily="18" charset="0"/>
                                  </a:rPr>
                                  <m:t>′</m:t>
                                </m:r>
                                <m:r>
                                  <a:rPr lang="en-US" sz="2000" b="0" i="1" smtClean="0">
                                    <a:latin typeface="Cambria Math" panose="02040503050406030204" pitchFamily="18" charset="0"/>
                                  </a:rPr>
                                  <m:t>∈</m:t>
                                </m:r>
                                <m:r>
                                  <a:rPr lang="en-US" sz="20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𝒮</m:t>
                                </m:r>
                              </m:sub>
                              <m:sup/>
                              <m:e>
                                <m:r>
                                  <a:rPr lang="en-US" sz="2000" b="0" i="1" smtClean="0">
                                    <a:latin typeface="Cambria Math" panose="02040503050406030204" pitchFamily="18" charset="0"/>
                                  </a:rPr>
                                  <m:t>𝑝</m:t>
                                </m:r>
                                <m:d>
                                  <m:dPr>
                                    <m:ctrlPr>
                                      <a:rPr lang="en-US" sz="20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sSup>
                                      <m:sSupPr>
                                        <m:ctrlPr>
                                          <a:rPr lang="en-US" sz="2000" b="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pPr>
                                      <m:e>
                                        <m:r>
                                          <a:rPr lang="en-US" sz="2000" b="0" i="1" smtClean="0">
                                            <a:latin typeface="Cambria Math" panose="02040503050406030204" pitchFamily="18" charset="0"/>
                                          </a:rPr>
                                          <m:t>𝑠</m:t>
                                        </m:r>
                                      </m:e>
                                      <m:sup>
                                        <m:r>
                                          <a:rPr lang="en-US" sz="2000" b="0" i="1" smtClean="0">
                                            <a:latin typeface="Cambria Math" panose="02040503050406030204" pitchFamily="18" charset="0"/>
                                          </a:rPr>
                                          <m:t>′</m:t>
                                        </m:r>
                                      </m:sup>
                                    </m:sSup>
                                  </m:e>
                                  <m:e>
                                    <m:r>
                                      <a:rPr lang="en-US" sz="2000" b="0" i="1" smtClean="0">
                                        <a:latin typeface="Cambria Math" panose="02040503050406030204" pitchFamily="18" charset="0"/>
                                      </a:rPr>
                                      <m:t>𝑠</m:t>
                                    </m:r>
                                    <m:r>
                                      <a:rPr lang="en-US" sz="2000" b="0" i="1" smtClean="0">
                                        <a:latin typeface="Cambria Math" panose="02040503050406030204" pitchFamily="18" charset="0"/>
                                      </a:rPr>
                                      <m:t>,</m:t>
                                    </m:r>
                                    <m:r>
                                      <a:rPr lang="en-US" sz="2000" b="0" i="1" smtClean="0"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e>
                                </m:d>
                                <m:r>
                                  <a:rPr lang="en-US" sz="2000" b="0" i="1" smtClean="0">
                                    <a:latin typeface="Cambria Math" panose="02040503050406030204" pitchFamily="18" charset="0"/>
                                  </a:rPr>
                                  <m:t>𝑉</m:t>
                                </m:r>
                                <m:r>
                                  <a:rPr lang="en-US" sz="2000" b="0" i="1" smtClean="0">
                                    <a:latin typeface="Cambria Math" panose="02040503050406030204" pitchFamily="18" charset="0"/>
                                  </a:rPr>
                                  <m:t>(</m:t>
                                </m:r>
                                <m:sSup>
                                  <m:sSupPr>
                                    <m:ctrlPr>
                                      <a:rPr lang="en-US" sz="20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US" sz="2000" b="0" i="1" smtClean="0">
                                        <a:latin typeface="Cambria Math" panose="02040503050406030204" pitchFamily="18" charset="0"/>
                                      </a:rPr>
                                      <m:t>𝑠</m:t>
                                    </m:r>
                                  </m:e>
                                  <m:sup>
                                    <m:r>
                                      <a:rPr lang="en-US" sz="2000" b="0" i="1" smtClean="0">
                                        <a:latin typeface="Cambria Math" panose="02040503050406030204" pitchFamily="18" charset="0"/>
                                      </a:rPr>
                                      <m:t>′</m:t>
                                    </m:r>
                                  </m:sup>
                                </m:sSup>
                                <m:r>
                                  <a:rPr lang="en-US" sz="2000" b="0" i="1" smtClean="0">
                                    <a:latin typeface="Cambria Math" panose="02040503050406030204" pitchFamily="18" charset="0"/>
                                  </a:rPr>
                                  <m:t>)</m:t>
                                </m:r>
                              </m:e>
                            </m:nary>
                          </m:e>
                        </m:d>
                      </m:e>
                    </m:func>
                  </m:oMath>
                </a14:m>
                <a:endParaRPr lang="en-US" sz="2000" dirty="0"/>
              </a:p>
              <a:p>
                <a:pPr lvl="2"/>
                <a:endParaRPr lang="en-US" sz="1200" dirty="0"/>
              </a:p>
              <a:p>
                <a:pPr marL="1143000" lvl="1" indent="-285750">
                  <a:buFont typeface="Arial" panose="020B0604020202020204" pitchFamily="34" charset="0"/>
                  <a:buChar char="•"/>
                </a:pPr>
                <a:r>
                  <a:rPr lang="en-US" sz="1800" dirty="0"/>
                  <a:t>We know there exists a vector </a:t>
                </a:r>
                <a14:m>
                  <m:oMath xmlns:m="http://schemas.openxmlformats.org/officeDocument/2006/math">
                    <m:r>
                      <a:rPr lang="en-US" sz="1800" b="0" i="1" smtClean="0">
                        <a:latin typeface="Cambria Math" panose="02040503050406030204" pitchFamily="18" charset="0"/>
                      </a:rPr>
                      <m:t>𝑉</m:t>
                    </m:r>
                    <m:r>
                      <a:rPr lang="en-US" sz="1800" b="0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sz="1800" b="0" i="1" smtClean="0">
                        <a:latin typeface="Cambria Math" panose="02040503050406030204" pitchFamily="18" charset="0"/>
                      </a:rPr>
                      <m:t>𝑠</m:t>
                    </m:r>
                    <m:r>
                      <a:rPr lang="en-US" sz="1800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sz="1800" dirty="0"/>
                  <a:t> over </a:t>
                </a:r>
                <a14:m>
                  <m:oMath xmlns:m="http://schemas.openxmlformats.org/officeDocument/2006/math">
                    <m:r>
                      <a:rPr lang="en-US" sz="1800" b="0" i="1" smtClean="0">
                        <a:latin typeface="Cambria Math" panose="02040503050406030204" pitchFamily="18" charset="0"/>
                      </a:rPr>
                      <m:t>𝑠</m:t>
                    </m:r>
                    <m:r>
                      <a:rPr lang="en-US" sz="1800" b="0" i="1" smtClean="0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{"/>
                        <m:endChr m:val="}"/>
                        <m:ctrlPr>
                          <a:rPr lang="en-US" sz="18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1800" b="0" i="1" smtClean="0">
                            <a:latin typeface="Cambria Math" panose="02040503050406030204" pitchFamily="18" charset="0"/>
                          </a:rPr>
                          <m:t>1,2,…,|</m:t>
                        </m:r>
                        <m:r>
                          <a:rPr lang="en-US" sz="18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𝒮</m:t>
                        </m:r>
                        <m:r>
                          <a:rPr lang="en-US" sz="18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|</m:t>
                        </m:r>
                      </m:e>
                    </m:d>
                  </m:oMath>
                </a14:m>
                <a:r>
                  <a:rPr lang="en-US" sz="1800" dirty="0"/>
                  <a:t> that satisfies this equation, and we have algorithms (such as value iteration) that produces a solution.</a:t>
                </a:r>
              </a:p>
              <a:p>
                <a:pPr lvl="2"/>
                <a:endParaRPr lang="en-US" sz="1400" dirty="0"/>
              </a:p>
              <a:p>
                <a:pPr marL="86360" indent="0">
                  <a:buNone/>
                </a:pPr>
                <a:r>
                  <a:rPr lang="en-US" sz="2000" dirty="0"/>
                  <a:t>If we let 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en-US" sz="2000" i="1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acc>
                          <m:accPr>
                            <m:chr m:val="̅"/>
                            <m:ctrlPr>
                              <a:rPr lang="en-US" sz="2000" i="1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sz="2000" i="1">
                                <a:latin typeface="Cambria Math" panose="02040503050406030204" pitchFamily="18" charset="0"/>
                              </a:rPr>
                              <m:t>𝑉</m:t>
                            </m:r>
                          </m:e>
                        </m:acc>
                      </m:e>
                      <m:sub/>
                      <m:sup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−1</m:t>
                        </m:r>
                      </m:sup>
                    </m:sSubSup>
                    <m:r>
                      <a:rPr lang="en-US" sz="2000" i="1">
                        <a:latin typeface="Cambria Math" panose="02040503050406030204" pitchFamily="18" charset="0"/>
                      </a:rPr>
                      <m:t>(</m:t>
                    </m:r>
                    <m:sSubSup>
                      <m:sSubSupPr>
                        <m:ctrlPr>
                          <a:rPr lang="en-US" sz="2000" i="1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𝑆</m:t>
                        </m:r>
                      </m:e>
                      <m:sub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  <m:sup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</m:sSubSup>
                    <m:r>
                      <a:rPr lang="en-US" sz="2000" i="1">
                        <a:latin typeface="Cambria Math" panose="02040503050406030204" pitchFamily="18" charset="0"/>
                      </a:rPr>
                      <m:t>|</m:t>
                    </m:r>
                    <m:r>
                      <a:rPr lang="en-US" sz="2000" i="1">
                        <a:latin typeface="Cambria Math" panose="02040503050406030204" pitchFamily="18" charset="0"/>
                      </a:rPr>
                      <m:t>𝜃</m:t>
                    </m:r>
                    <m:r>
                      <a:rPr lang="en-US" sz="2000" i="1">
                        <a:latin typeface="Cambria Math" panose="02040503050406030204" pitchFamily="18" charset="0"/>
                      </a:rPr>
                      <m:t>) =</m:t>
                    </m:r>
                    <m:sSup>
                      <m:sSupPr>
                        <m:ctrlPr>
                          <a:rPr lang="en-US" sz="20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d>
                          <m:dPr>
                            <m:ctrlPr>
                              <a:rPr lang="en-US" sz="2000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p>
                              <m:sSupPr>
                                <m:ctrlPr>
                                  <a:rPr lang="en-US" sz="2000" i="1"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US" sz="2000" i="1">
                                    <a:latin typeface="Cambria Math" panose="02040503050406030204" pitchFamily="18" charset="0"/>
                                  </a:rPr>
                                  <m:t>𝜃</m:t>
                                </m:r>
                              </m:e>
                              <m:sup>
                                <m:r>
                                  <a:rPr lang="en-US" sz="2000" i="1">
                                    <a:latin typeface="Cambria Math" panose="02040503050406030204" pitchFamily="18" charset="0"/>
                                  </a:rPr>
                                  <m:t>𝑛</m:t>
                                </m:r>
                                <m:r>
                                  <a:rPr lang="en-US" sz="2000" i="1">
                                    <a:latin typeface="Cambria Math" panose="02040503050406030204" pitchFamily="18" charset="0"/>
                                  </a:rPr>
                                  <m:t>−1</m:t>
                                </m:r>
                              </m:sup>
                            </m:sSup>
                          </m:e>
                        </m:d>
                      </m:e>
                      <m:sup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𝑇</m:t>
                        </m:r>
                      </m:sup>
                    </m:sSup>
                    <m:r>
                      <a:rPr lang="en-US" sz="2000" i="1">
                        <a:latin typeface="Cambria Math" panose="02040503050406030204" pitchFamily="18" charset="0"/>
                      </a:rPr>
                      <m:t>𝜙</m:t>
                    </m:r>
                    <m:d>
                      <m:dPr>
                        <m:ctrlPr>
                          <a:rPr lang="en-US" sz="20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Sup>
                          <m:sSubSupPr>
                            <m:ctrlPr>
                              <a:rPr lang="en-US" sz="2000" i="1"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en-US" sz="2000" i="1">
                                <a:latin typeface="Cambria Math" panose="02040503050406030204" pitchFamily="18" charset="0"/>
                              </a:rPr>
                              <m:t>𝑆</m:t>
                            </m:r>
                          </m:e>
                          <m:sub>
                            <m:r>
                              <a:rPr lang="en-US" sz="2000" i="1">
                                <a:latin typeface="Cambria Math" panose="02040503050406030204" pitchFamily="18" charset="0"/>
                              </a:rPr>
                              <m:t>𝑡</m:t>
                            </m:r>
                          </m:sub>
                          <m:sup>
                            <m:r>
                              <a:rPr lang="en-US" sz="2000" i="1">
                                <a:latin typeface="Cambria Math" panose="02040503050406030204" pitchFamily="18" charset="0"/>
                              </a:rPr>
                              <m:t>𝑛</m:t>
                            </m:r>
                          </m:sup>
                        </m:sSubSup>
                      </m:e>
                    </m:d>
                  </m:oMath>
                </a14:m>
                <a:r>
                  <a:rPr lang="en-US" sz="2000" dirty="0"/>
                  <a:t>, then this means finding </a:t>
                </a:r>
                <a14:m>
                  <m:oMath xmlns:m="http://schemas.openxmlformats.org/officeDocument/2006/math"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𝜃</m:t>
                    </m:r>
                  </m:oMath>
                </a14:m>
                <a:r>
                  <a:rPr lang="en-US" sz="2000" dirty="0"/>
                  <a:t> that solves </a:t>
                </a:r>
              </a:p>
              <a:p>
                <a:pPr lvl="2"/>
                <a:endParaRPr lang="en-US" sz="1600" i="1" dirty="0">
                  <a:latin typeface="Cambria Math" panose="02040503050406030204" pitchFamily="18" charset="0"/>
                </a:endParaRPr>
              </a:p>
              <a:p>
                <a:pPr lvl="1"/>
                <a14:m>
                  <m:oMath xmlns:m="http://schemas.openxmlformats.org/officeDocument/2006/math">
                    <m:r>
                      <a:rPr lang="en-US" sz="2000" i="1">
                        <a:latin typeface="Cambria Math" panose="02040503050406030204" pitchFamily="18" charset="0"/>
                      </a:rPr>
                      <m:t>𝑉</m:t>
                    </m:r>
                    <m:d>
                      <m:dPr>
                        <m:ctrlPr>
                          <a:rPr lang="en-US" sz="20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𝑠</m:t>
                        </m:r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|</m:t>
                        </m:r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𝜃</m:t>
                        </m:r>
                      </m:e>
                    </m:d>
                    <m:r>
                      <a:rPr lang="en-US" sz="2000" i="1">
                        <a:latin typeface="Cambria Math" panose="02040503050406030204" pitchFamily="18" charset="0"/>
                      </a:rPr>
                      <m:t>=</m:t>
                    </m:r>
                    <m:func>
                      <m:funcPr>
                        <m:ctrlPr>
                          <a:rPr lang="en-US" sz="2000" i="1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limLow>
                          <m:limLowPr>
                            <m:ctrlPr>
                              <a:rPr lang="en-US" sz="2000">
                                <a:latin typeface="Cambria Math" panose="02040503050406030204" pitchFamily="18" charset="0"/>
                              </a:rPr>
                            </m:ctrlPr>
                          </m:limLowPr>
                          <m:e>
                            <m:r>
                              <m:rPr>
                                <m:sty m:val="p"/>
                              </m:rPr>
                              <a:rPr lang="en-US" sz="2000">
                                <a:latin typeface="Cambria Math" panose="02040503050406030204" pitchFamily="18" charset="0"/>
                              </a:rPr>
                              <m:t>max</m:t>
                            </m:r>
                          </m:e>
                          <m:lim>
                            <m:r>
                              <a:rPr lang="en-US" sz="2000" i="1">
                                <a:latin typeface="Cambria Math" panose="02040503050406030204" pitchFamily="18" charset="0"/>
                              </a:rPr>
                              <m:t>𝑥</m:t>
                            </m:r>
                          </m:lim>
                        </m:limLow>
                      </m:fName>
                      <m:e>
                        <m:d>
                          <m:dPr>
                            <m:ctrlPr>
                              <a:rPr lang="en-US" sz="2000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2000" i="1">
                                <a:latin typeface="Cambria Math" panose="02040503050406030204" pitchFamily="18" charset="0"/>
                              </a:rPr>
                              <m:t>𝐶</m:t>
                            </m:r>
                            <m:d>
                              <m:dPr>
                                <m:ctrlPr>
                                  <a:rPr lang="en-US" sz="2000" i="1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sz="2000" i="1">
                                    <a:latin typeface="Cambria Math" panose="02040503050406030204" pitchFamily="18" charset="0"/>
                                  </a:rPr>
                                  <m:t>𝑠</m:t>
                                </m:r>
                                <m:r>
                                  <a:rPr lang="en-US" sz="2000" i="1">
                                    <a:latin typeface="Cambria Math" panose="02040503050406030204" pitchFamily="18" charset="0"/>
                                  </a:rPr>
                                  <m:t>,</m:t>
                                </m:r>
                                <m:r>
                                  <a:rPr lang="en-US" sz="2000" i="1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</m:d>
                            <m:r>
                              <a:rPr lang="en-US" sz="2000" i="1">
                                <a:latin typeface="Cambria Math" panose="02040503050406030204" pitchFamily="18" charset="0"/>
                              </a:rPr>
                              <m:t>+</m:t>
                            </m:r>
                            <m:r>
                              <a:rPr lang="en-US" sz="2000" i="1">
                                <a:latin typeface="Cambria Math" panose="02040503050406030204" pitchFamily="18" charset="0"/>
                              </a:rPr>
                              <m:t>𝜂</m:t>
                            </m:r>
                            <m:nary>
                              <m:naryPr>
                                <m:chr m:val="∑"/>
                                <m:ctrlPr>
                                  <a:rPr lang="en-US" sz="2000" i="1">
                                    <a:latin typeface="Cambria Math" panose="02040503050406030204" pitchFamily="18" charset="0"/>
                                  </a:rPr>
                                </m:ctrlPr>
                              </m:naryPr>
                              <m:sub>
                                <m:r>
                                  <m:rPr>
                                    <m:brk m:alnAt="23"/>
                                  </m:rPr>
                                  <a:rPr lang="en-US" sz="2000" i="1">
                                    <a:latin typeface="Cambria Math" panose="02040503050406030204" pitchFamily="18" charset="0"/>
                                  </a:rPr>
                                  <m:t>𝑠</m:t>
                                </m:r>
                                <m:r>
                                  <m:rPr>
                                    <m:brk m:alnAt="23"/>
                                  </m:rPr>
                                  <a:rPr lang="en-US" sz="2000" i="1">
                                    <a:latin typeface="Cambria Math" panose="02040503050406030204" pitchFamily="18" charset="0"/>
                                  </a:rPr>
                                  <m:t>′</m:t>
                                </m:r>
                                <m:r>
                                  <a:rPr lang="en-US" sz="2000" i="1">
                                    <a:latin typeface="Cambria Math" panose="02040503050406030204" pitchFamily="18" charset="0"/>
                                  </a:rPr>
                                  <m:t>∈</m:t>
                                </m:r>
                                <m:r>
                                  <a:rPr lang="en-US" sz="20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𝒮</m:t>
                                </m:r>
                              </m:sub>
                              <m:sup/>
                              <m:e>
                                <m:r>
                                  <a:rPr lang="en-US" sz="2000" i="1">
                                    <a:latin typeface="Cambria Math" panose="02040503050406030204" pitchFamily="18" charset="0"/>
                                  </a:rPr>
                                  <m:t>𝑝</m:t>
                                </m:r>
                                <m:d>
                                  <m:dPr>
                                    <m:ctrlPr>
                                      <a:rPr lang="en-US" sz="2000" i="1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sSup>
                                      <m:sSupPr>
                                        <m:ctrlPr>
                                          <a:rPr lang="en-US" sz="2000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pPr>
                                      <m:e>
                                        <m:r>
                                          <a:rPr lang="en-US" sz="2000" i="1">
                                            <a:latin typeface="Cambria Math" panose="02040503050406030204" pitchFamily="18" charset="0"/>
                                          </a:rPr>
                                          <m:t>𝑠</m:t>
                                        </m:r>
                                      </m:e>
                                      <m:sup>
                                        <m:r>
                                          <a:rPr lang="en-US" sz="2000" i="1">
                                            <a:latin typeface="Cambria Math" panose="02040503050406030204" pitchFamily="18" charset="0"/>
                                          </a:rPr>
                                          <m:t>′</m:t>
                                        </m:r>
                                      </m:sup>
                                    </m:sSup>
                                  </m:e>
                                  <m:e>
                                    <m:r>
                                      <a:rPr lang="en-US" sz="2000" i="1">
                                        <a:latin typeface="Cambria Math" panose="02040503050406030204" pitchFamily="18" charset="0"/>
                                      </a:rPr>
                                      <m:t>𝑠</m:t>
                                    </m:r>
                                    <m:r>
                                      <a:rPr lang="en-US" sz="2000" i="1">
                                        <a:latin typeface="Cambria Math" panose="02040503050406030204" pitchFamily="18" charset="0"/>
                                      </a:rPr>
                                      <m:t>,</m:t>
                                    </m:r>
                                    <m:r>
                                      <a:rPr lang="en-US" sz="2000" i="1"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e>
                                </m:d>
                                <m:r>
                                  <a:rPr lang="en-US" sz="2000" i="1">
                                    <a:latin typeface="Cambria Math" panose="02040503050406030204" pitchFamily="18" charset="0"/>
                                  </a:rPr>
                                  <m:t>𝑉</m:t>
                                </m:r>
                                <m:r>
                                  <a:rPr lang="en-US" sz="2000" i="1">
                                    <a:latin typeface="Cambria Math" panose="02040503050406030204" pitchFamily="18" charset="0"/>
                                  </a:rPr>
                                  <m:t>(</m:t>
                                </m:r>
                                <m:sSup>
                                  <m:sSupPr>
                                    <m:ctrlPr>
                                      <a:rPr lang="en-US" sz="2000" i="1"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US" sz="2000" i="1">
                                        <a:latin typeface="Cambria Math" panose="02040503050406030204" pitchFamily="18" charset="0"/>
                                      </a:rPr>
                                      <m:t>𝑠</m:t>
                                    </m:r>
                                  </m:e>
                                  <m:sup>
                                    <m:r>
                                      <a:rPr lang="en-US" sz="2000" i="1">
                                        <a:latin typeface="Cambria Math" panose="02040503050406030204" pitchFamily="18" charset="0"/>
                                      </a:rPr>
                                      <m:t>′</m:t>
                                    </m:r>
                                  </m:sup>
                                </m:sSup>
                                <m:r>
                                  <a:rPr lang="en-US" sz="2000" b="0" i="1" smtClean="0">
                                    <a:latin typeface="Cambria Math" panose="02040503050406030204" pitchFamily="18" charset="0"/>
                                  </a:rPr>
                                  <m:t>|</m:t>
                                </m:r>
                                <m:r>
                                  <a:rPr lang="en-US" sz="2000" b="0" i="1" smtClean="0">
                                    <a:latin typeface="Cambria Math" panose="02040503050406030204" pitchFamily="18" charset="0"/>
                                  </a:rPr>
                                  <m:t>𝜃</m:t>
                                </m:r>
                                <m:r>
                                  <a:rPr lang="en-US" sz="2000" i="1">
                                    <a:latin typeface="Cambria Math" panose="02040503050406030204" pitchFamily="18" charset="0"/>
                                  </a:rPr>
                                  <m:t>)</m:t>
                                </m:r>
                              </m:e>
                            </m:nary>
                          </m:e>
                        </m:d>
                      </m:e>
                    </m:func>
                  </m:oMath>
                </a14:m>
                <a:endParaRPr lang="en-US" sz="2000" dirty="0"/>
              </a:p>
              <a:p>
                <a:pPr marL="1143000" lvl="1" indent="-285750">
                  <a:buFont typeface="Arial" panose="020B0604020202020204" pitchFamily="34" charset="0"/>
                  <a:buChar char="•"/>
                </a:pPr>
                <a:endParaRPr lang="en-US" sz="1200" dirty="0"/>
              </a:p>
              <a:p>
                <a:pPr marL="1143000" lvl="1" indent="-285750">
                  <a:buFont typeface="Arial" panose="020B0604020202020204" pitchFamily="34" charset="0"/>
                  <a:buChar char="•"/>
                </a:pPr>
                <a:r>
                  <a:rPr lang="en-US" sz="1800" dirty="0"/>
                  <a:t>Unfortunately, we cannot show that there exists </a:t>
                </a:r>
                <a14:m>
                  <m:oMath xmlns:m="http://schemas.openxmlformats.org/officeDocument/2006/math">
                    <m:r>
                      <a:rPr lang="en-US" sz="1800" b="0" i="1" smtClean="0">
                        <a:latin typeface="Cambria Math" panose="02040503050406030204" pitchFamily="18" charset="0"/>
                      </a:rPr>
                      <m:t>𝜃</m:t>
                    </m:r>
                  </m:oMath>
                </a14:m>
                <a:r>
                  <a:rPr lang="en-US" sz="1800" dirty="0"/>
                  <a:t> that solves this equation.  </a:t>
                </a:r>
              </a:p>
              <a:p>
                <a:pPr marL="1143000" lvl="1" indent="-285750">
                  <a:buFont typeface="Arial" panose="020B0604020202020204" pitchFamily="34" charset="0"/>
                  <a:buChar char="•"/>
                </a:pPr>
                <a:r>
                  <a:rPr lang="en-US" sz="1800" dirty="0"/>
                  <a:t>Instead, we need to insert a projection operator which introduces considerable complexity into the algorithm.</a:t>
                </a:r>
              </a:p>
              <a:p>
                <a:pPr lvl="1"/>
                <a:endParaRPr lang="en-US" sz="2000" dirty="0"/>
              </a:p>
              <a:p>
                <a:pPr lvl="1"/>
                <a:endParaRPr lang="en-US" sz="2000" dirty="0"/>
              </a:p>
            </p:txBody>
          </p:sp>
        </mc:Choice>
        <mc:Fallback xmlns="">
          <p:sp>
            <p:nvSpPr>
              <p:cNvPr id="3" name="Text Placeholder 2">
                <a:extLst>
                  <a:ext uri="{FF2B5EF4-FFF2-40B4-BE49-F238E27FC236}">
                    <a16:creationId xmlns:a16="http://schemas.microsoft.com/office/drawing/2014/main" id="{50C343F2-41E3-494D-8F89-3A6BA4F760F6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idx="1"/>
              </p:nvPr>
            </p:nvSpPr>
            <p:spPr>
              <a:xfrm>
                <a:off x="488690" y="1062672"/>
                <a:ext cx="10757488" cy="4401600"/>
              </a:xfrm>
              <a:blipFill>
                <a:blip r:embed="rId2"/>
                <a:stretch>
                  <a:fillRect b="-1218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56857368"/>
      </p:ext>
    </p:extLst>
  </p:cSld>
  <p:clrMapOvr>
    <a:masterClrMapping/>
  </p:clrMapOvr>
</p:sld>
</file>

<file path=ppt/slides/slide1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B5719A1-BD75-5F8C-EE45-EE350034EBB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5805BE23-EF03-319A-892B-061BB41FCE6E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488689" y="1066593"/>
                <a:ext cx="10587805" cy="4084363"/>
              </a:xfrm>
            </p:spPr>
            <p:txBody>
              <a:bodyPr/>
              <a:lstStyle/>
              <a:p>
                <a:pPr marL="86360" indent="0">
                  <a:buNone/>
                </a:pPr>
                <a:r>
                  <a:rPr lang="en-US" dirty="0"/>
                  <a:t>Least squares projected Bellman error minimization:</a:t>
                </a:r>
              </a:p>
              <a:p>
                <a:pPr marL="1314450" lvl="1" indent="-369888">
                  <a:buFont typeface="Wingdings" panose="05000000000000000000" pitchFamily="2" charset="2"/>
                  <a:buChar char="Ø"/>
                </a:pPr>
                <a:endParaRPr lang="en-US" sz="1600" dirty="0"/>
              </a:p>
              <a:p>
                <a:pPr marL="857250" indent="-369888">
                  <a:buSzPct val="80000"/>
                  <a:buFont typeface="Wingdings" panose="05000000000000000000" pitchFamily="2" charset="2"/>
                  <a:buChar char="Ø"/>
                </a:pPr>
                <a:r>
                  <a:rPr lang="en-US" sz="2000" dirty="0"/>
                  <a:t>The exact equation for </a:t>
                </a:r>
                <a14:m>
                  <m:oMath xmlns:m="http://schemas.openxmlformats.org/officeDocument/2006/math"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𝜃</m:t>
                    </m:r>
                  </m:oMath>
                </a14:m>
                <a:r>
                  <a:rPr lang="en-US" sz="2000" dirty="0"/>
                  <a:t> using projected Bellman error minimization is given by:</a:t>
                </a:r>
              </a:p>
              <a:p>
                <a:pPr marL="857250" indent="-369888">
                  <a:buSzPct val="80000"/>
                  <a:buFont typeface="Wingdings" panose="05000000000000000000" pitchFamily="2" charset="2"/>
                  <a:buChar char="Ø"/>
                </a:pPr>
                <a:endParaRPr lang="en-US" sz="2000" dirty="0"/>
              </a:p>
              <a:p>
                <a:pPr marL="857250" indent="-369888">
                  <a:buSzPct val="80000"/>
                  <a:buFont typeface="Wingdings" panose="05000000000000000000" pitchFamily="2" charset="2"/>
                  <a:buChar char="Ø"/>
                </a:pPr>
                <a:endParaRPr lang="en-US" sz="2000" dirty="0"/>
              </a:p>
              <a:p>
                <a:pPr marL="857250" indent="-369888">
                  <a:buSzPct val="80000"/>
                  <a:buFont typeface="Wingdings" panose="05000000000000000000" pitchFamily="2" charset="2"/>
                  <a:buChar char="Ø"/>
                </a:pPr>
                <a:endParaRPr lang="en-US" sz="2000" dirty="0"/>
              </a:p>
              <a:p>
                <a:pPr marL="857250" indent="-369888">
                  <a:buSzPct val="80000"/>
                  <a:buFont typeface="Wingdings" panose="05000000000000000000" pitchFamily="2" charset="2"/>
                  <a:buChar char="Ø"/>
                </a:pPr>
                <a:endParaRPr lang="en-US" sz="2000" dirty="0"/>
              </a:p>
              <a:p>
                <a:pPr marL="857250" indent="-369888">
                  <a:buSzPct val="80000"/>
                  <a:buFont typeface="Wingdings" panose="05000000000000000000" pitchFamily="2" charset="2"/>
                  <a:buChar char="Ø"/>
                </a:pPr>
                <a:endParaRPr lang="en-US" sz="2000" dirty="0"/>
              </a:p>
              <a:p>
                <a:pPr marL="857250" indent="-369888">
                  <a:buSzPct val="80000"/>
                  <a:buFont typeface="Wingdings" panose="05000000000000000000" pitchFamily="2" charset="2"/>
                  <a:buChar char="Ø"/>
                </a:pPr>
                <a:endParaRPr lang="en-US" sz="2000" dirty="0"/>
              </a:p>
              <a:p>
                <a:pPr marL="857250" indent="-369888">
                  <a:buSzPct val="80000"/>
                  <a:buFont typeface="Wingdings" panose="05000000000000000000" pitchFamily="2" charset="2"/>
                  <a:buChar char="Ø"/>
                </a:pPr>
                <a:endParaRPr lang="en-US" sz="2000" dirty="0"/>
              </a:p>
              <a:p>
                <a:pPr marL="857250" indent="-369888">
                  <a:buSzPct val="80000"/>
                  <a:buFont typeface="Wingdings" panose="05000000000000000000" pitchFamily="2" charset="2"/>
                  <a:buChar char="Ø"/>
                </a:pPr>
                <a:endParaRPr lang="en-US" dirty="0"/>
              </a:p>
              <a:p>
                <a:pPr marL="857250" indent="-369888">
                  <a:buSzPct val="80000"/>
                  <a:buFont typeface="Wingdings" panose="05000000000000000000" pitchFamily="2" charset="2"/>
                  <a:buChar char="Ø"/>
                </a:pPr>
                <a:r>
                  <a:rPr lang="en-US" sz="2000" dirty="0"/>
                  <a:t>The projection operator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000" b="0" i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sz="2000" b="0" i="0" smtClean="0">
                            <a:latin typeface="Cambria Math" panose="02040503050406030204" pitchFamily="18" charset="0"/>
                          </a:rPr>
                          <m:t>Π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US" sz="2000" b="0" i="0" smtClean="0">
                            <a:latin typeface="Cambria Math" panose="02040503050406030204" pitchFamily="18" charset="0"/>
                          </a:rPr>
                          <m:t>t</m:t>
                        </m:r>
                      </m:sub>
                    </m:sSub>
                  </m:oMath>
                </a14:m>
                <a:r>
                  <a:rPr lang="en-US" sz="2000" dirty="0"/>
                  <a:t>, is an </a:t>
                </a:r>
                <a14:m>
                  <m:oMath xmlns:m="http://schemas.openxmlformats.org/officeDocument/2006/math">
                    <m:d>
                      <m:dPr>
                        <m:begChr m:val="|"/>
                        <m:endChr m:val="|"/>
                        <m:ctrlPr>
                          <a:rPr lang="en-US" sz="20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0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𝒮</m:t>
                        </m:r>
                      </m:e>
                    </m:d>
                    <m:r>
                      <a:rPr lang="en-US" sz="20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×</m:t>
                    </m:r>
                    <m:d>
                      <m:dPr>
                        <m:begChr m:val="|"/>
                        <m:endChr m:val="|"/>
                        <m:ctrlPr>
                          <a:rPr lang="en-US" sz="20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0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𝒮</m:t>
                        </m:r>
                      </m:e>
                    </m:d>
                  </m:oMath>
                </a14:m>
                <a:r>
                  <a:rPr lang="en-US" sz="2000" dirty="0"/>
                  <a:t> matrix which is not computable.  But it can be simulated, which means that the estimate </a:t>
                </a:r>
                <a14:m>
                  <m:oMath xmlns:m="http://schemas.openxmlformats.org/officeDocument/2006/math">
                    <m:acc>
                      <m:accPr>
                        <m:chr m:val="̂"/>
                        <m:ctrlPr>
                          <a:rPr lang="en-US" sz="2000" b="0" i="1" smtClean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𝜃</m:t>
                        </m:r>
                      </m:e>
                    </m:acc>
                  </m:oMath>
                </a14:m>
                <a:r>
                  <a:rPr lang="en-US" sz="2000" dirty="0"/>
                  <a:t> is a random sample whose accuracy depends on the length of the simulation.</a:t>
                </a:r>
              </a:p>
              <a:p>
                <a:endParaRPr lang="en-US" i="1" dirty="0"/>
              </a:p>
              <a:p>
                <a:endParaRPr lang="en-US" i="1" dirty="0"/>
              </a:p>
              <a:p>
                <a:endParaRPr lang="en-US" i="1" dirty="0"/>
              </a:p>
              <a:p>
                <a:endParaRPr lang="en-US" i="1" dirty="0"/>
              </a:p>
              <a:p>
                <a:endParaRPr lang="en-US" i="1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5805BE23-EF03-319A-892B-061BB41FCE6E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488689" y="1066593"/>
                <a:ext cx="10587805" cy="4084363"/>
              </a:xfrm>
              <a:blipFill>
                <a:blip r:embed="rId3"/>
                <a:stretch>
                  <a:fillRect l="-345" b="-3597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" name="Title 1">
            <a:extLst>
              <a:ext uri="{FF2B5EF4-FFF2-40B4-BE49-F238E27FC236}">
                <a16:creationId xmlns:a16="http://schemas.microsoft.com/office/drawing/2014/main" id="{8755788D-373F-2794-01B2-46C32437B2C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VFAs: Linear value function approximations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9918EEE7-BF9A-CDC9-F042-AD6F242FEEA8}"/>
              </a:ext>
            </a:extLst>
          </p:cNvPr>
          <p:cNvSpPr/>
          <p:nvPr/>
        </p:nvSpPr>
        <p:spPr bwMode="auto">
          <a:xfrm>
            <a:off x="6903613" y="3108775"/>
            <a:ext cx="2520049" cy="342900"/>
          </a:xfrm>
          <a:prstGeom prst="rect">
            <a:avLst/>
          </a:prstGeom>
          <a:solidFill>
            <a:schemeClr val="bg1"/>
          </a:solidFill>
          <a:ln w="28575" cap="flat" cmpd="sng" algn="ctr">
            <a:noFill/>
            <a:prstDash val="solid"/>
            <a:round/>
            <a:headEnd type="none" w="med" len="med"/>
            <a:tailEnd type="stealth" w="med" len="lg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algn="ctr" eaLnBrk="0" fontAlgn="base" hangingPunct="0">
              <a:spcBef>
                <a:spcPct val="0"/>
              </a:spcBef>
              <a:spcAft>
                <a:spcPct val="0"/>
              </a:spcAft>
              <a:buClrTx/>
            </a:pPr>
            <a:endParaRPr lang="en-US" sz="1800" i="1">
              <a:solidFill>
                <a:schemeClr val="tx1"/>
              </a:solidFill>
              <a:latin typeface="Times New Roman" pitchFamily="18" charset="0"/>
            </a:endParaRPr>
          </a:p>
        </p:txBody>
      </p:sp>
      <p:pic>
        <p:nvPicPr>
          <p:cNvPr id="8" name="Picture 2">
            <a:extLst>
              <a:ext uri="{FF2B5EF4-FFF2-40B4-BE49-F238E27FC236}">
                <a16:creationId xmlns:a16="http://schemas.microsoft.com/office/drawing/2014/main" id="{4A467F3C-10DC-15ED-0885-3F002CFC5BFA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4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sharpenSoften amount="5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t="47249" b="33074"/>
          <a:stretch>
            <a:fillRect/>
          </a:stretch>
        </p:blipFill>
        <p:spPr bwMode="auto">
          <a:xfrm>
            <a:off x="1295180" y="2530101"/>
            <a:ext cx="9451376" cy="81444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9ED47354-BFF9-E9B5-3A9C-FC595CF157F7}"/>
                  </a:ext>
                </a:extLst>
              </p:cNvPr>
              <p:cNvSpPr txBox="1"/>
              <p:nvPr/>
            </p:nvSpPr>
            <p:spPr>
              <a:xfrm>
                <a:off x="447493" y="4139384"/>
                <a:ext cx="2676630" cy="40011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r>
                        <m:rPr>
                          <m:sty m:val="p"/>
                        </m:rPr>
                        <a:rPr lang="en-US" sz="2000" b="0" i="0" smtClean="0">
                          <a:latin typeface="Cambria Math" panose="02040503050406030204" pitchFamily="18" charset="0"/>
                        </a:rPr>
                        <m:t>Π</m:t>
                      </m:r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m:rPr>
                          <m:sty m:val="p"/>
                        </m:rPr>
                        <a:rPr lang="en-US" sz="2000" b="0" i="0" smtClean="0">
                          <a:latin typeface="Cambria Math" panose="02040503050406030204" pitchFamily="18" charset="0"/>
                        </a:rPr>
                        <m:t>Φ</m:t>
                      </m:r>
                      <m:sSup>
                        <m:sSupPr>
                          <m:ctrlPr>
                            <a:rPr lang="en-US" sz="2000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lang="en-US" sz="2000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p>
                                <m:sSupPr>
                                  <m:ctrlPr>
                                    <a:rPr lang="en-US" sz="2000" b="0" i="0" smtClean="0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m:rPr>
                                      <m:sty m:val="p"/>
                                    </m:rPr>
                                    <a:rPr lang="en-US" sz="2000" b="0" i="0" smtClean="0">
                                      <a:latin typeface="Cambria Math" panose="02040503050406030204" pitchFamily="18" charset="0"/>
                                    </a:rPr>
                                    <m:t>Φ</m:t>
                                  </m:r>
                                </m:e>
                                <m:sup>
                                  <m:r>
                                    <a:rPr lang="en-US" sz="2000" b="0" i="1" smtClean="0">
                                      <a:latin typeface="Cambria Math" panose="02040503050406030204" pitchFamily="18" charset="0"/>
                                    </a:rPr>
                                    <m:t>𝑇</m:t>
                                  </m:r>
                                </m:sup>
                              </m:sSup>
                              <m:r>
                                <a:rPr lang="en-US" sz="2000" b="0" i="1" smtClean="0">
                                  <a:latin typeface="Cambria Math" panose="02040503050406030204" pitchFamily="18" charset="0"/>
                                </a:rPr>
                                <m:t>𝐷</m:t>
                              </m:r>
                              <m:r>
                                <m:rPr>
                                  <m:sty m:val="p"/>
                                </m:rPr>
                                <a:rPr lang="en-US" sz="2000" b="0" i="0" smtClean="0">
                                  <a:latin typeface="Cambria Math" panose="02040503050406030204" pitchFamily="18" charset="0"/>
                                </a:rPr>
                                <m:t>Φ</m:t>
                              </m:r>
                            </m:e>
                          </m:d>
                        </m:e>
                        <m:sup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−1</m:t>
                          </m:r>
                        </m:sup>
                      </m:sSup>
                      <m:sSup>
                        <m:sSupPr>
                          <m:ctrlPr>
                            <a:rPr lang="en-US" sz="2000" b="0" i="0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m:rPr>
                              <m:sty m:val="p"/>
                            </m:rPr>
                            <a:rPr lang="en-US" sz="2000" b="0" i="0" smtClean="0">
                              <a:latin typeface="Cambria Math" panose="02040503050406030204" pitchFamily="18" charset="0"/>
                            </a:rPr>
                            <m:t>Φ</m:t>
                          </m:r>
                        </m:e>
                        <m:sup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𝑇</m:t>
                          </m:r>
                        </m:sup>
                      </m:sSup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𝐷</m:t>
                      </m:r>
                    </m:oMath>
                  </m:oMathPara>
                </a14:m>
                <a:endParaRPr lang="en-US" sz="2000" dirty="0"/>
              </a:p>
            </p:txBody>
          </p:sp>
        </mc:Choice>
        <mc:Fallback xmlns="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9ED47354-BFF9-E9B5-3A9C-FC595CF157F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47493" y="4139384"/>
                <a:ext cx="2676630" cy="400110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6" name="Picture 5">
            <a:extLst>
              <a:ext uri="{FF2B5EF4-FFF2-40B4-BE49-F238E27FC236}">
                <a16:creationId xmlns:a16="http://schemas.microsoft.com/office/drawing/2014/main" id="{19912E0A-C704-0E54-0D83-BF9559C0CCCE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3491954" y="3651626"/>
            <a:ext cx="4185213" cy="1398449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837ACED2-AF42-8963-D14F-7EEEDD2889C1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8125904" y="3624867"/>
            <a:ext cx="3582187" cy="14499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81533475"/>
      </p:ext>
    </p:extLst>
  </p:cSld>
  <p:clrMapOvr>
    <a:masterClrMapping/>
  </p:clrMapOvr>
</p:sld>
</file>

<file path=ppt/slides/slide1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VFAs: Linear value function approximations</a:t>
            </a: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53143" y="1162372"/>
            <a:ext cx="9085714" cy="5142857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CAB9406A-B40E-D9DB-D7C9-6E31A13E0C99}"/>
              </a:ext>
            </a:extLst>
          </p:cNvPr>
          <p:cNvSpPr txBox="1"/>
          <p:nvPr/>
        </p:nvSpPr>
        <p:spPr>
          <a:xfrm>
            <a:off x="8247646" y="853509"/>
            <a:ext cx="2343911" cy="954107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pPr algn="l"/>
            <a:r>
              <a:rPr lang="en-US" sz="2800" dirty="0">
                <a:solidFill>
                  <a:srgbClr val="00B050"/>
                </a:solidFill>
              </a:rPr>
              <a:t>Myopic policy</a:t>
            </a:r>
          </a:p>
          <a:p>
            <a:r>
              <a:rPr lang="en-US" sz="2800" dirty="0">
                <a:solidFill>
                  <a:srgbClr val="FFC000"/>
                </a:solidFill>
              </a:rPr>
              <a:t> 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3A9408AA-7CA8-CEE1-2971-38D70942B4B6}"/>
              </a:ext>
            </a:extLst>
          </p:cNvPr>
          <p:cNvSpPr txBox="1"/>
          <p:nvPr/>
        </p:nvSpPr>
        <p:spPr>
          <a:xfrm rot="16200000">
            <a:off x="235670" y="3431358"/>
            <a:ext cx="204414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800" dirty="0"/>
              <a:t>Percent of optimal</a:t>
            </a:r>
          </a:p>
        </p:txBody>
      </p:sp>
    </p:spTree>
    <p:extLst>
      <p:ext uri="{BB962C8B-B14F-4D97-AF65-F5344CB8AC3E}">
        <p14:creationId xmlns:p14="http://schemas.microsoft.com/office/powerpoint/2010/main" val="1088851112"/>
      </p:ext>
    </p:extLst>
  </p:cSld>
  <p:clrMapOvr>
    <a:masterClrMapping/>
  </p:clrMapOvr>
</p:sld>
</file>

<file path=ppt/slides/slide1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VFAs: Linear value function approximations</a:t>
            </a: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53143" y="1162372"/>
            <a:ext cx="9085714" cy="5142857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24339600-9511-B555-377F-783ECD3C2F01}"/>
              </a:ext>
            </a:extLst>
          </p:cNvPr>
          <p:cNvSpPr txBox="1"/>
          <p:nvPr/>
        </p:nvSpPr>
        <p:spPr>
          <a:xfrm>
            <a:off x="8247646" y="853509"/>
            <a:ext cx="2343911" cy="1384995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pPr algn="l"/>
            <a:r>
              <a:rPr lang="en-US" sz="2800" dirty="0">
                <a:solidFill>
                  <a:srgbClr val="00B050"/>
                </a:solidFill>
              </a:rPr>
              <a:t>Myopic policy</a:t>
            </a:r>
          </a:p>
          <a:p>
            <a:pPr algn="l"/>
            <a:r>
              <a:rPr lang="en-US" sz="2800" dirty="0">
                <a:solidFill>
                  <a:srgbClr val="FF0000"/>
                </a:solidFill>
              </a:rPr>
              <a:t>LSAPI</a:t>
            </a:r>
          </a:p>
          <a:p>
            <a:r>
              <a:rPr lang="en-US" sz="2800" dirty="0">
                <a:solidFill>
                  <a:srgbClr val="FFC000"/>
                </a:solidFill>
              </a:rPr>
              <a:t> 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5454EAA8-532B-83B5-2AB5-CC6513495159}"/>
              </a:ext>
            </a:extLst>
          </p:cNvPr>
          <p:cNvSpPr txBox="1"/>
          <p:nvPr/>
        </p:nvSpPr>
        <p:spPr>
          <a:xfrm rot="16200000">
            <a:off x="235670" y="3431358"/>
            <a:ext cx="204414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800" dirty="0"/>
              <a:t>Percent of optimal</a:t>
            </a:r>
          </a:p>
        </p:txBody>
      </p:sp>
    </p:spTree>
    <p:extLst>
      <p:ext uri="{BB962C8B-B14F-4D97-AF65-F5344CB8AC3E}">
        <p14:creationId xmlns:p14="http://schemas.microsoft.com/office/powerpoint/2010/main" val="3890746956"/>
      </p:ext>
    </p:extLst>
  </p:cSld>
  <p:clrMapOvr>
    <a:masterClrMapping/>
  </p:clrMapOvr>
  <p:transition spd="slow">
    <p:wipe dir="u"/>
  </p:transition>
</p:sld>
</file>

<file path=ppt/slides/slide1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VFAs: Linear value function approximations</a:t>
            </a: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33141" y="1157610"/>
            <a:ext cx="9095238" cy="5152381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8FB00213-E6E2-12F8-D4A6-6A95BD8792BC}"/>
              </a:ext>
            </a:extLst>
          </p:cNvPr>
          <p:cNvSpPr txBox="1"/>
          <p:nvPr/>
        </p:nvSpPr>
        <p:spPr>
          <a:xfrm>
            <a:off x="8247646" y="853509"/>
            <a:ext cx="3459601" cy="1384995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pPr algn="l"/>
            <a:r>
              <a:rPr lang="en-US" sz="2800" dirty="0">
                <a:solidFill>
                  <a:srgbClr val="00B050"/>
                </a:solidFill>
              </a:rPr>
              <a:t>Myopic policy</a:t>
            </a:r>
          </a:p>
          <a:p>
            <a:pPr algn="l"/>
            <a:r>
              <a:rPr lang="en-US" sz="2800" dirty="0">
                <a:solidFill>
                  <a:srgbClr val="FF0000"/>
                </a:solidFill>
              </a:rPr>
              <a:t>LSAPI</a:t>
            </a:r>
          </a:p>
          <a:p>
            <a:r>
              <a:rPr lang="en-US" sz="2800" dirty="0">
                <a:solidFill>
                  <a:srgbClr val="FFC000"/>
                </a:solidFill>
              </a:rPr>
              <a:t>LSAPI-</a:t>
            </a:r>
            <a:r>
              <a:rPr lang="en-US" sz="2800" dirty="0" err="1">
                <a:solidFill>
                  <a:srgbClr val="FFC000"/>
                </a:solidFill>
              </a:rPr>
              <a:t>Proj</a:t>
            </a:r>
            <a:r>
              <a:rPr lang="en-US" sz="2800" dirty="0">
                <a:solidFill>
                  <a:srgbClr val="FFC000"/>
                </a:solidFill>
              </a:rPr>
              <a:t>. Bellman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F03C5CA2-A552-9C4E-1E89-5FC9E9DD645A}"/>
              </a:ext>
            </a:extLst>
          </p:cNvPr>
          <p:cNvSpPr txBox="1"/>
          <p:nvPr/>
        </p:nvSpPr>
        <p:spPr>
          <a:xfrm rot="16200000">
            <a:off x="235670" y="3431358"/>
            <a:ext cx="204414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800" dirty="0"/>
              <a:t>Percent of optimal</a:t>
            </a:r>
          </a:p>
        </p:txBody>
      </p:sp>
    </p:spTree>
    <p:extLst>
      <p:ext uri="{BB962C8B-B14F-4D97-AF65-F5344CB8AC3E}">
        <p14:creationId xmlns:p14="http://schemas.microsoft.com/office/powerpoint/2010/main" val="2456569502"/>
      </p:ext>
    </p:extLst>
  </p:cSld>
  <p:clrMapOvr>
    <a:masterClrMapping/>
  </p:clrMapOvr>
  <p:transition spd="slow">
    <p:wipe dir="u"/>
  </p:transition>
</p:sld>
</file>

<file path=ppt/slides/slide1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7B5AB79-5DF4-0793-DDBC-5170FA69479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VFAs: Linear value function approximations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A457D3A-0036-B371-4D24-AF250CE6D9E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86360" indent="0">
              <a:buNone/>
            </a:pPr>
            <a:r>
              <a:rPr lang="en-US" dirty="0"/>
              <a:t>Notes:</a:t>
            </a:r>
          </a:p>
          <a:p>
            <a:pPr lvl="1"/>
            <a:r>
              <a:rPr lang="en-US" dirty="0"/>
              <a:t>Projected Bellman minimization is a fairly complex algorithmic strategy.</a:t>
            </a:r>
          </a:p>
          <a:p>
            <a:pPr lvl="1"/>
            <a:r>
              <a:rPr lang="en-US" dirty="0"/>
              <a:t>It is necessary to implement simulation-based approximations to overcome the size of the state space.</a:t>
            </a:r>
          </a:p>
          <a:p>
            <a:pPr lvl="1"/>
            <a:r>
              <a:rPr lang="en-US" dirty="0"/>
              <a:t>Despite this success, linear VFAs have proven to be problematic.  They simply do not work as a general methodology.</a:t>
            </a:r>
          </a:p>
          <a:p>
            <a:pPr lvl="1"/>
            <a:r>
              <a:rPr lang="en-US" dirty="0"/>
              <a:t>The problem is that local approximations (that is, accurate for a local region of the state space) is not enough.  It has to be accurate over all the states that might be visited.</a:t>
            </a:r>
          </a:p>
        </p:txBody>
      </p:sp>
    </p:spTree>
    <p:extLst>
      <p:ext uri="{BB962C8B-B14F-4D97-AF65-F5344CB8AC3E}">
        <p14:creationId xmlns:p14="http://schemas.microsoft.com/office/powerpoint/2010/main" val="3718725057"/>
      </p:ext>
    </p:extLst>
  </p:cSld>
  <p:clrMapOvr>
    <a:masterClrMapping/>
  </p:clrMapOvr>
</p:sld>
</file>

<file path=ppt/slides/slide1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45">
          <a:extLst>
            <a:ext uri="{FF2B5EF4-FFF2-40B4-BE49-F238E27FC236}">
              <a16:creationId xmlns:a16="http://schemas.microsoft.com/office/drawing/2014/main" id="{F2E84B53-4D55-12EA-159C-8EB0644ACF3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A8436CF7-9775-1E62-08CC-6B3F9B91426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57956" y="-51516"/>
            <a:ext cx="12292833" cy="6909515"/>
          </a:xfrm>
          <a:prstGeom prst="rect">
            <a:avLst/>
          </a:prstGeom>
        </p:spPr>
      </p:pic>
      <p:sp>
        <p:nvSpPr>
          <p:cNvPr id="246" name="Google Shape;246;p26">
            <a:extLst>
              <a:ext uri="{FF2B5EF4-FFF2-40B4-BE49-F238E27FC236}">
                <a16:creationId xmlns:a16="http://schemas.microsoft.com/office/drawing/2014/main" id="{D88567B5-7198-2F0D-1C89-46F882C3973E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2021700" y="353850"/>
            <a:ext cx="8283900" cy="550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solidFill>
                  <a:schemeClr val="lt1"/>
                </a:solidFill>
              </a:rPr>
              <a:t>OUTLINE</a:t>
            </a:r>
            <a:endParaRPr/>
          </a:p>
        </p:txBody>
      </p:sp>
      <p:sp>
        <p:nvSpPr>
          <p:cNvPr id="5" name="Google Shape;247;p26">
            <a:extLst>
              <a:ext uri="{FF2B5EF4-FFF2-40B4-BE49-F238E27FC236}">
                <a16:creationId xmlns:a16="http://schemas.microsoft.com/office/drawing/2014/main" id="{A7E66A5A-A747-9756-7E75-E580C2D90D91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1039756" y="1799894"/>
            <a:ext cx="10856871" cy="347911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42900">
              <a:spcBef>
                <a:spcPts val="0"/>
              </a:spcBef>
              <a:buClr>
                <a:schemeClr val="lt1"/>
              </a:buClr>
              <a:buFont typeface="Times New Roman"/>
              <a:buChar char="➜"/>
            </a:pPr>
            <a:r>
              <a:rPr lang="en-US" sz="2400" dirty="0">
                <a:solidFill>
                  <a:schemeClr val="bg1"/>
                </a:solidFill>
              </a:rPr>
              <a:t>VFA IV - Forward ADP and linear VFAs</a:t>
            </a:r>
          </a:p>
          <a:p>
            <a:pPr marL="800100" lvl="1">
              <a:buClr>
                <a:schemeClr val="lt1"/>
              </a:buClr>
              <a:buFont typeface="Times New Roman"/>
              <a:buChar char="➜"/>
            </a:pPr>
            <a:endParaRPr lang="en-US" sz="2000" dirty="0">
              <a:solidFill>
                <a:schemeClr val="bg1"/>
              </a:solidFill>
            </a:endParaRPr>
          </a:p>
          <a:p>
            <a:pPr marL="800100" lvl="1">
              <a:spcBef>
                <a:spcPts val="0"/>
              </a:spcBef>
              <a:buClr>
                <a:schemeClr val="lt1"/>
              </a:buClr>
              <a:buFont typeface="Times New Roman"/>
              <a:buChar char="➜"/>
            </a:pPr>
            <a:r>
              <a:rPr lang="en-US" sz="2000" dirty="0">
                <a:solidFill>
                  <a:schemeClr val="accent2">
                    <a:lumMod val="40000"/>
                    <a:lumOff val="60000"/>
                  </a:schemeClr>
                </a:solidFill>
              </a:rPr>
              <a:t>Algorithms</a:t>
            </a:r>
          </a:p>
          <a:p>
            <a:pPr marL="800100" lvl="1">
              <a:spcBef>
                <a:spcPts val="0"/>
              </a:spcBef>
              <a:buClr>
                <a:schemeClr val="lt1"/>
              </a:buClr>
              <a:buFont typeface="Times New Roman"/>
              <a:buChar char="➜"/>
            </a:pPr>
            <a:endParaRPr lang="en-US" sz="2000" dirty="0">
              <a:solidFill>
                <a:schemeClr val="accent2">
                  <a:lumMod val="40000"/>
                  <a:lumOff val="60000"/>
                </a:schemeClr>
              </a:solidFill>
            </a:endParaRPr>
          </a:p>
          <a:p>
            <a:pPr marL="800100" lvl="1">
              <a:spcBef>
                <a:spcPts val="0"/>
              </a:spcBef>
              <a:buClr>
                <a:schemeClr val="lt1"/>
              </a:buClr>
              <a:buFont typeface="Times New Roman"/>
              <a:buChar char="➜"/>
            </a:pPr>
            <a:r>
              <a:rPr lang="en-US" sz="2000" dirty="0" err="1">
                <a:solidFill>
                  <a:schemeClr val="bg1"/>
                </a:solidFill>
              </a:rPr>
              <a:t>Stepsizes</a:t>
            </a:r>
            <a:endParaRPr lang="en-US" sz="2000" dirty="0">
              <a:solidFill>
                <a:schemeClr val="bg1"/>
              </a:solidFill>
            </a:endParaRPr>
          </a:p>
          <a:p>
            <a:pPr marL="800100" lvl="1">
              <a:spcBef>
                <a:spcPts val="0"/>
              </a:spcBef>
              <a:buClr>
                <a:schemeClr val="lt1"/>
              </a:buClr>
              <a:buFont typeface="Times New Roman"/>
              <a:buChar char="➜"/>
            </a:pPr>
            <a:endParaRPr lang="en-US" sz="2000" dirty="0">
              <a:solidFill>
                <a:schemeClr val="accent2">
                  <a:lumMod val="40000"/>
                  <a:lumOff val="60000"/>
                </a:schemeClr>
              </a:solidFill>
            </a:endParaRPr>
          </a:p>
          <a:p>
            <a:pPr marL="800100" lvl="1">
              <a:spcBef>
                <a:spcPts val="0"/>
              </a:spcBef>
              <a:buClr>
                <a:schemeClr val="lt1"/>
              </a:buClr>
              <a:buFont typeface="Times New Roman"/>
              <a:buChar char="➜"/>
            </a:pPr>
            <a:r>
              <a:rPr lang="en-US" sz="2000" dirty="0">
                <a:solidFill>
                  <a:schemeClr val="accent2">
                    <a:lumMod val="40000"/>
                    <a:lumOff val="60000"/>
                  </a:schemeClr>
                </a:solidFill>
              </a:rPr>
              <a:t>A financial application</a:t>
            </a:r>
          </a:p>
          <a:p>
            <a:pPr marL="800100" lvl="1">
              <a:buClr>
                <a:schemeClr val="lt1"/>
              </a:buClr>
              <a:buFont typeface="Arial" panose="020B0604020202020204" pitchFamily="34" charset="0"/>
              <a:buChar char="•"/>
            </a:pPr>
            <a:endParaRPr lang="en-US" sz="2000" dirty="0">
              <a:solidFill>
                <a:schemeClr val="bg1"/>
              </a:solidFill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43230578-30AE-F467-D979-393B40AB5360}"/>
              </a:ext>
            </a:extLst>
          </p:cNvPr>
          <p:cNvSpPr txBox="1"/>
          <p:nvPr/>
        </p:nvSpPr>
        <p:spPr>
          <a:xfrm>
            <a:off x="11439525" y="6280363"/>
            <a:ext cx="52770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>
                <a:solidFill>
                  <a:schemeClr val="accent2">
                    <a:lumMod val="60000"/>
                    <a:lumOff val="40000"/>
                  </a:schemeClr>
                </a:solidFill>
              </a:rPr>
              <a:t>15</a:t>
            </a:r>
          </a:p>
        </p:txBody>
      </p:sp>
    </p:spTree>
    <p:extLst>
      <p:ext uri="{BB962C8B-B14F-4D97-AF65-F5344CB8AC3E}">
        <p14:creationId xmlns:p14="http://schemas.microsoft.com/office/powerpoint/2010/main" val="1209291580"/>
      </p:ext>
    </p:extLst>
  </p:cSld>
  <p:clrMapOvr>
    <a:masterClrMapping/>
  </p:clrMapOvr>
</p:sld>
</file>

<file path=ppt/slides/slide1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7683" name="Rectangle 3"/>
          <p:cNvSpPr>
            <a:spLocks noGrp="1" noChangeArrowheads="1"/>
          </p:cNvSpPr>
          <p:nvPr>
            <p:ph type="body" idx="4294967295"/>
          </p:nvPr>
        </p:nvSpPr>
        <p:spPr/>
        <p:txBody>
          <a:bodyPr/>
          <a:lstStyle/>
          <a:p>
            <a:pPr marL="86360" indent="0">
              <a:buNone/>
            </a:pPr>
            <a:r>
              <a:rPr lang="en-US" altLang="en-US" dirty="0" err="1"/>
              <a:t>Stepsizes</a:t>
            </a:r>
            <a:r>
              <a:rPr lang="en-US" altLang="en-US" dirty="0"/>
              <a:t>:</a:t>
            </a:r>
          </a:p>
          <a:p>
            <a:pPr lvl="1"/>
            <a:r>
              <a:rPr lang="en-US" altLang="en-US" dirty="0"/>
              <a:t>Approximate value iteration requires updates of the form: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67684" name="Object 4"/>
              <p:cNvSpPr txBox="1"/>
              <p:nvPr/>
            </p:nvSpPr>
            <p:spPr bwMode="auto">
              <a:xfrm>
                <a:off x="3090156" y="2788552"/>
                <a:ext cx="6939961" cy="635000"/>
              </a:xfrm>
              <a:prstGeom prst="rect">
                <a:avLst/>
              </a:prstGeom>
              <a:noFill/>
              <a:ln w="19050">
                <a:noFill/>
              </a:ln>
              <a:effectLst/>
            </p:spPr>
            <p:txBody>
              <a:bodyPr>
                <a:no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>
                      <m:sSubSup>
                        <m:sSubSupPr>
                          <m:ctrlPr>
                            <a:rPr lang="en-US" sz="2400" i="1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𝑉</m:t>
                          </m:r>
                        </m:e>
                        <m:sub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𝑡</m:t>
                          </m:r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−1</m:t>
                          </m:r>
                        </m:sub>
                        <m:sup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𝑛</m:t>
                          </m:r>
                        </m:sup>
                      </m:sSubSup>
                      <m:r>
                        <a:rPr lang="en-US" sz="2400" i="1">
                          <a:latin typeface="Cambria Math" panose="02040503050406030204" pitchFamily="18" charset="0"/>
                        </a:rPr>
                        <m:t>(</m:t>
                      </m:r>
                      <m:sSubSup>
                        <m:sSubSupPr>
                          <m:ctrlPr>
                            <a:rPr lang="en-US" sz="2400" i="1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𝑆</m:t>
                          </m:r>
                        </m:e>
                        <m:sub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𝑡</m:t>
                          </m:r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−1</m:t>
                          </m:r>
                        </m:sub>
                        <m:sup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𝑥</m:t>
                          </m:r>
                        </m:sup>
                      </m:sSubSup>
                      <m:r>
                        <a:rPr lang="en-US" sz="2400" i="1">
                          <a:latin typeface="Cambria Math" panose="02040503050406030204" pitchFamily="18" charset="0"/>
                        </a:rPr>
                        <m:t>)=(1−</m:t>
                      </m:r>
                      <m:sSub>
                        <m:sSubPr>
                          <m:ctrlPr>
                            <a:rPr lang="en-US" sz="24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𝛼</m:t>
                          </m:r>
                        </m:e>
                        <m:sub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𝑛</m:t>
                          </m:r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−1</m:t>
                          </m:r>
                        </m:sub>
                      </m:sSub>
                      <m:r>
                        <a:rPr lang="en-US" sz="2400" i="1">
                          <a:latin typeface="Cambria Math" panose="02040503050406030204" pitchFamily="18" charset="0"/>
                        </a:rPr>
                        <m:t>)</m:t>
                      </m:r>
                      <m:sSubSup>
                        <m:sSubSupPr>
                          <m:ctrlPr>
                            <a:rPr lang="en-US" sz="2400" i="1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𝑉</m:t>
                          </m:r>
                        </m:e>
                        <m:sub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𝑡</m:t>
                          </m:r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−1</m:t>
                          </m:r>
                        </m:sub>
                        <m:sup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𝑛</m:t>
                          </m:r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−1</m:t>
                          </m:r>
                        </m:sup>
                      </m:sSubSup>
                      <m:r>
                        <a:rPr lang="en-US" sz="2400" i="1">
                          <a:latin typeface="Cambria Math" panose="02040503050406030204" pitchFamily="18" charset="0"/>
                        </a:rPr>
                        <m:t>(</m:t>
                      </m:r>
                      <m:sSubSup>
                        <m:sSubSupPr>
                          <m:ctrlPr>
                            <a:rPr lang="en-US" sz="2400" i="1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𝑆</m:t>
                          </m:r>
                        </m:e>
                        <m:sub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𝑡</m:t>
                          </m:r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−1</m:t>
                          </m:r>
                        </m:sub>
                        <m:sup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𝑥</m:t>
                          </m:r>
                        </m:sup>
                      </m:sSubSup>
                      <m:r>
                        <a:rPr lang="en-US" sz="2400" i="1">
                          <a:latin typeface="Cambria Math" panose="02040503050406030204" pitchFamily="18" charset="0"/>
                        </a:rPr>
                        <m:t>)+</m:t>
                      </m:r>
                      <m:sSub>
                        <m:sSubPr>
                          <m:ctrlPr>
                            <a:rPr lang="en-US" sz="24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𝛼</m:t>
                          </m:r>
                        </m:e>
                        <m:sub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𝑛</m:t>
                          </m:r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−1</m:t>
                          </m:r>
                        </m:sub>
                      </m:sSub>
                      <m:sSubSup>
                        <m:sSubSupPr>
                          <m:ctrlPr>
                            <a:rPr lang="en-US" sz="2400" i="1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acc>
                            <m:accPr>
                              <m:chr m:val="̂"/>
                              <m:ctrlPr>
                                <a:rPr lang="en-US" sz="2400" i="1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𝑣</m:t>
                              </m:r>
                            </m:e>
                          </m:acc>
                        </m:e>
                        <m:sub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𝑡</m:t>
                          </m:r>
                        </m:sub>
                        <m:sup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𝑛</m:t>
                          </m:r>
                        </m:sup>
                      </m:sSubSup>
                    </m:oMath>
                  </m:oMathPara>
                </a14:m>
                <a:endParaRPr lang="en-US" sz="2400" dirty="0"/>
              </a:p>
            </p:txBody>
          </p:sp>
        </mc:Choice>
        <mc:Fallback xmlns="">
          <p:sp>
            <p:nvSpPr>
              <p:cNvPr id="967684" name="Object 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3090156" y="2788552"/>
                <a:ext cx="6939961" cy="635000"/>
              </a:xfrm>
              <a:prstGeom prst="rect">
                <a:avLst/>
              </a:prstGeom>
              <a:blipFill>
                <a:blip r:embed="rId3"/>
                <a:stretch>
                  <a:fillRect l="-264"/>
                </a:stretch>
              </a:blipFill>
              <a:ln w="19050">
                <a:noFill/>
              </a:ln>
              <a:effectLst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21" name="Group 20">
            <a:extLst>
              <a:ext uri="{FF2B5EF4-FFF2-40B4-BE49-F238E27FC236}">
                <a16:creationId xmlns:a16="http://schemas.microsoft.com/office/drawing/2014/main" id="{7183B513-C432-0039-EC5B-7B59FD964E8F}"/>
              </a:ext>
            </a:extLst>
          </p:cNvPr>
          <p:cNvGrpSpPr/>
          <p:nvPr/>
        </p:nvGrpSpPr>
        <p:grpSpPr>
          <a:xfrm>
            <a:off x="2838449" y="2844199"/>
            <a:ext cx="1968500" cy="1544637"/>
            <a:chOff x="2838449" y="2833689"/>
            <a:chExt cx="1968500" cy="1544637"/>
          </a:xfrm>
        </p:grpSpPr>
        <p:grpSp>
          <p:nvGrpSpPr>
            <p:cNvPr id="4" name="Group 11"/>
            <p:cNvGrpSpPr>
              <a:grpSpLocks/>
            </p:cNvGrpSpPr>
            <p:nvPr/>
          </p:nvGrpSpPr>
          <p:grpSpPr bwMode="auto">
            <a:xfrm>
              <a:off x="2838449" y="2833689"/>
              <a:ext cx="1968500" cy="1544637"/>
              <a:chOff x="2923" y="1752"/>
              <a:chExt cx="1240" cy="973"/>
            </a:xfrm>
          </p:grpSpPr>
          <p:sp>
            <p:nvSpPr>
              <p:cNvPr id="967692" name="Oval 12"/>
              <p:cNvSpPr>
                <a:spLocks noChangeArrowheads="1"/>
              </p:cNvSpPr>
              <p:nvPr/>
            </p:nvSpPr>
            <p:spPr bwMode="auto">
              <a:xfrm>
                <a:off x="3104" y="1752"/>
                <a:ext cx="954" cy="273"/>
              </a:xfrm>
              <a:prstGeom prst="ellipse">
                <a:avLst/>
              </a:prstGeom>
              <a:noFill/>
              <a:ln w="19050" algn="ctr">
                <a:solidFill>
                  <a:srgbClr val="0000CC"/>
                </a:solidFill>
                <a:round/>
                <a:headEnd type="none" w="lg" len="lg"/>
                <a:tailEnd type="none" w="lg" len="lg"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square" anchor="ctr">
                <a:spAutoFit/>
              </a:bodyPr>
              <a:lstStyle>
                <a:lvl1pPr>
                  <a:defRPr i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defRPr i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defRPr i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defRPr i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defRPr i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i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i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i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i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endParaRPr lang="en-US" altLang="en-US"/>
              </a:p>
            </p:txBody>
          </p:sp>
          <p:sp>
            <p:nvSpPr>
              <p:cNvPr id="967693" name="Text Box 13"/>
              <p:cNvSpPr txBox="1">
                <a:spLocks noChangeArrowheads="1"/>
              </p:cNvSpPr>
              <p:nvPr/>
            </p:nvSpPr>
            <p:spPr bwMode="auto">
              <a:xfrm>
                <a:off x="2923" y="2473"/>
                <a:ext cx="1240" cy="252"/>
              </a:xfrm>
              <a:prstGeom prst="rect">
                <a:avLst/>
              </a:prstGeom>
              <a:noFill/>
              <a:ln w="19050" algn="ctr">
                <a:solidFill>
                  <a:srgbClr val="0000CC"/>
                </a:solidFill>
                <a:miter lim="800000"/>
                <a:headEnd type="none" w="lg" len="lg"/>
                <a:tailEnd type="none" w="lg" len="lg"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>
                <a:spAutoFit/>
              </a:bodyPr>
              <a:lstStyle>
                <a:lvl1pPr>
                  <a:defRPr i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defRPr i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defRPr i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defRPr i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defRPr i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i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i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i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i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r>
                  <a:rPr lang="en-US" altLang="en-US" sz="2000" i="0">
                    <a:solidFill>
                      <a:srgbClr val="0000CC"/>
                    </a:solidFill>
                  </a:rPr>
                  <a:t>Updated estimate</a:t>
                </a:r>
              </a:p>
            </p:txBody>
          </p:sp>
        </p:grpSp>
        <p:cxnSp>
          <p:nvCxnSpPr>
            <p:cNvPr id="12" name="Straight Arrow Connector 11">
              <a:extLst>
                <a:ext uri="{FF2B5EF4-FFF2-40B4-BE49-F238E27FC236}">
                  <a16:creationId xmlns:a16="http://schemas.microsoft.com/office/drawing/2014/main" id="{CE3C5C99-2B8A-6918-646B-716787394510}"/>
                </a:ext>
              </a:extLst>
            </p:cNvPr>
            <p:cNvCxnSpPr>
              <a:stCxn id="967693" idx="0"/>
              <a:endCxn id="967692" idx="4"/>
            </p:cNvCxnSpPr>
            <p:nvPr/>
          </p:nvCxnSpPr>
          <p:spPr>
            <a:xfrm flipV="1">
              <a:off x="3822699" y="3267076"/>
              <a:ext cx="60326" cy="711200"/>
            </a:xfrm>
            <a:prstGeom prst="straightConnector1">
              <a:avLst/>
            </a:prstGeom>
            <a:ln w="19050">
              <a:solidFill>
                <a:schemeClr val="accent2">
                  <a:lumMod val="75000"/>
                </a:schemeClr>
              </a:solidFill>
              <a:headEnd type="none" w="med" len="med"/>
              <a:tailEnd type="arrow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0" name="Group 19">
            <a:extLst>
              <a:ext uri="{FF2B5EF4-FFF2-40B4-BE49-F238E27FC236}">
                <a16:creationId xmlns:a16="http://schemas.microsoft.com/office/drawing/2014/main" id="{F26C1A2F-C45D-62C7-375A-09DC49D94958}"/>
              </a:ext>
            </a:extLst>
          </p:cNvPr>
          <p:cNvGrpSpPr/>
          <p:nvPr/>
        </p:nvGrpSpPr>
        <p:grpSpPr>
          <a:xfrm>
            <a:off x="6330730" y="2831880"/>
            <a:ext cx="1587500" cy="1525588"/>
            <a:chOff x="6299200" y="2800350"/>
            <a:chExt cx="1587500" cy="1525588"/>
          </a:xfrm>
        </p:grpSpPr>
        <p:grpSp>
          <p:nvGrpSpPr>
            <p:cNvPr id="2" name="Group 5"/>
            <p:cNvGrpSpPr>
              <a:grpSpLocks/>
            </p:cNvGrpSpPr>
            <p:nvPr/>
          </p:nvGrpSpPr>
          <p:grpSpPr bwMode="auto">
            <a:xfrm>
              <a:off x="6299200" y="2800350"/>
              <a:ext cx="1587500" cy="1525588"/>
              <a:chOff x="3008" y="1764"/>
              <a:chExt cx="1000" cy="961"/>
            </a:xfrm>
          </p:grpSpPr>
          <p:sp>
            <p:nvSpPr>
              <p:cNvPr id="967686" name="Oval 6"/>
              <p:cNvSpPr>
                <a:spLocks noChangeArrowheads="1"/>
              </p:cNvSpPr>
              <p:nvPr/>
            </p:nvSpPr>
            <p:spPr bwMode="auto">
              <a:xfrm>
                <a:off x="3008" y="1764"/>
                <a:ext cx="1000" cy="273"/>
              </a:xfrm>
              <a:prstGeom prst="ellipse">
                <a:avLst/>
              </a:prstGeom>
              <a:noFill/>
              <a:ln w="19050" algn="ctr">
                <a:solidFill>
                  <a:srgbClr val="0000CC"/>
                </a:solidFill>
                <a:round/>
                <a:headEnd type="none" w="lg" len="lg"/>
                <a:tailEnd type="none" w="lg" len="lg"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square" anchor="ctr">
                <a:spAutoFit/>
              </a:bodyPr>
              <a:lstStyle>
                <a:lvl1pPr>
                  <a:defRPr i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defRPr i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defRPr i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defRPr i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defRPr i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i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i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i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i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endParaRPr lang="en-US" altLang="en-US"/>
              </a:p>
            </p:txBody>
          </p:sp>
          <p:sp>
            <p:nvSpPr>
              <p:cNvPr id="967687" name="Text Box 7"/>
              <p:cNvSpPr txBox="1">
                <a:spLocks noChangeArrowheads="1"/>
              </p:cNvSpPr>
              <p:nvPr/>
            </p:nvSpPr>
            <p:spPr bwMode="auto">
              <a:xfrm>
                <a:off x="3073" y="2473"/>
                <a:ext cx="935" cy="252"/>
              </a:xfrm>
              <a:prstGeom prst="rect">
                <a:avLst/>
              </a:prstGeom>
              <a:solidFill>
                <a:schemeClr val="bg1"/>
              </a:solidFill>
              <a:ln w="19050" algn="ctr">
                <a:solidFill>
                  <a:srgbClr val="0000CC"/>
                </a:solidFill>
                <a:miter lim="800000"/>
                <a:headEnd type="none" w="lg" len="lg"/>
                <a:tailEnd type="none" w="lg" len="lg"/>
              </a:ln>
            </p:spPr>
            <p:txBody>
              <a:bodyPr wrap="none">
                <a:spAutoFit/>
              </a:bodyPr>
              <a:lstStyle>
                <a:lvl1pPr>
                  <a:defRPr i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defRPr i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defRPr i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defRPr i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defRPr i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i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i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i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i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r>
                  <a:rPr lang="en-US" altLang="en-US" sz="2000" i="0">
                    <a:solidFill>
                      <a:srgbClr val="0000CC"/>
                    </a:solidFill>
                  </a:rPr>
                  <a:t>Old estimate</a:t>
                </a:r>
              </a:p>
            </p:txBody>
          </p:sp>
        </p:grpSp>
        <p:cxnSp>
          <p:nvCxnSpPr>
            <p:cNvPr id="13" name="Straight Arrow Connector 12">
              <a:extLst>
                <a:ext uri="{FF2B5EF4-FFF2-40B4-BE49-F238E27FC236}">
                  <a16:creationId xmlns:a16="http://schemas.microsoft.com/office/drawing/2014/main" id="{7664AC01-AF39-86D1-C16E-9F4F8EEB9D6B}"/>
                </a:ext>
              </a:extLst>
            </p:cNvPr>
            <p:cNvCxnSpPr>
              <a:cxnSpLocks/>
              <a:stCxn id="967687" idx="0"/>
            </p:cNvCxnSpPr>
            <p:nvPr/>
          </p:nvCxnSpPr>
          <p:spPr>
            <a:xfrm flipV="1">
              <a:off x="7144545" y="3214688"/>
              <a:ext cx="0" cy="711200"/>
            </a:xfrm>
            <a:prstGeom prst="straightConnector1">
              <a:avLst/>
            </a:prstGeom>
            <a:ln w="19050">
              <a:solidFill>
                <a:schemeClr val="accent2">
                  <a:lumMod val="75000"/>
                </a:schemeClr>
              </a:solidFill>
              <a:headEnd type="none" w="med" len="med"/>
              <a:tailEnd type="arrow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9" name="Group 18">
            <a:extLst>
              <a:ext uri="{FF2B5EF4-FFF2-40B4-BE49-F238E27FC236}">
                <a16:creationId xmlns:a16="http://schemas.microsoft.com/office/drawing/2014/main" id="{5BF5DDA4-47D5-36F4-81D4-4C4EB0A852AB}"/>
              </a:ext>
            </a:extLst>
          </p:cNvPr>
          <p:cNvGrpSpPr/>
          <p:nvPr/>
        </p:nvGrpSpPr>
        <p:grpSpPr>
          <a:xfrm>
            <a:off x="8052846" y="2831499"/>
            <a:ext cx="1928813" cy="1481137"/>
            <a:chOff x="8126416" y="2820989"/>
            <a:chExt cx="1928813" cy="1481137"/>
          </a:xfrm>
        </p:grpSpPr>
        <p:grpSp>
          <p:nvGrpSpPr>
            <p:cNvPr id="3" name="Group 8"/>
            <p:cNvGrpSpPr>
              <a:grpSpLocks/>
            </p:cNvGrpSpPr>
            <p:nvPr/>
          </p:nvGrpSpPr>
          <p:grpSpPr bwMode="auto">
            <a:xfrm>
              <a:off x="8126416" y="2820989"/>
              <a:ext cx="1928813" cy="1481137"/>
              <a:chOff x="4159" y="1777"/>
              <a:chExt cx="1215" cy="933"/>
            </a:xfrm>
          </p:grpSpPr>
          <p:sp>
            <p:nvSpPr>
              <p:cNvPr id="967689" name="Oval 9"/>
              <p:cNvSpPr>
                <a:spLocks noChangeArrowheads="1"/>
              </p:cNvSpPr>
              <p:nvPr/>
            </p:nvSpPr>
            <p:spPr bwMode="auto">
              <a:xfrm>
                <a:off x="4641" y="1777"/>
                <a:ext cx="232" cy="273"/>
              </a:xfrm>
              <a:prstGeom prst="ellipse">
                <a:avLst/>
              </a:prstGeom>
              <a:noFill/>
              <a:ln w="19050" algn="ctr">
                <a:solidFill>
                  <a:srgbClr val="0000CC"/>
                </a:solidFill>
                <a:round/>
                <a:headEnd type="none" w="lg" len="lg"/>
                <a:tailEnd type="none" w="lg" len="lg"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anchor="ctr">
                <a:spAutoFit/>
              </a:bodyPr>
              <a:lstStyle>
                <a:lvl1pPr>
                  <a:defRPr i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defRPr i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defRPr i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defRPr i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defRPr i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i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i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i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i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endParaRPr lang="en-US" altLang="en-US"/>
              </a:p>
            </p:txBody>
          </p:sp>
          <p:sp>
            <p:nvSpPr>
              <p:cNvPr id="967690" name="Text Box 10"/>
              <p:cNvSpPr txBox="1">
                <a:spLocks noChangeArrowheads="1"/>
              </p:cNvSpPr>
              <p:nvPr/>
            </p:nvSpPr>
            <p:spPr bwMode="auto">
              <a:xfrm>
                <a:off x="4159" y="2458"/>
                <a:ext cx="1215" cy="252"/>
              </a:xfrm>
              <a:prstGeom prst="rect">
                <a:avLst/>
              </a:prstGeom>
              <a:noFill/>
              <a:ln w="19050" algn="ctr">
                <a:solidFill>
                  <a:srgbClr val="0000CC"/>
                </a:solidFill>
                <a:miter lim="800000"/>
                <a:headEnd type="none" w="lg" len="lg"/>
                <a:tailEnd type="none" w="lg" len="lg"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>
                <a:spAutoFit/>
              </a:bodyPr>
              <a:lstStyle>
                <a:lvl1pPr>
                  <a:defRPr i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defRPr i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defRPr i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defRPr i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defRPr i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i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i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i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i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r>
                  <a:rPr lang="en-US" altLang="en-US" sz="2000" i="0">
                    <a:solidFill>
                      <a:srgbClr val="0000CC"/>
                    </a:solidFill>
                  </a:rPr>
                  <a:t>New observation</a:t>
                </a:r>
              </a:p>
            </p:txBody>
          </p:sp>
        </p:grpSp>
        <p:cxnSp>
          <p:nvCxnSpPr>
            <p:cNvPr id="16" name="Straight Arrow Connector 15">
              <a:extLst>
                <a:ext uri="{FF2B5EF4-FFF2-40B4-BE49-F238E27FC236}">
                  <a16:creationId xmlns:a16="http://schemas.microsoft.com/office/drawing/2014/main" id="{34CE5C30-FFA1-7452-74D2-795C704D84FD}"/>
                </a:ext>
              </a:extLst>
            </p:cNvPr>
            <p:cNvCxnSpPr>
              <a:cxnSpLocks/>
              <a:stCxn id="967690" idx="0"/>
              <a:endCxn id="967689" idx="4"/>
            </p:cNvCxnSpPr>
            <p:nvPr/>
          </p:nvCxnSpPr>
          <p:spPr>
            <a:xfrm flipH="1" flipV="1">
              <a:off x="9075741" y="3254376"/>
              <a:ext cx="15082" cy="647700"/>
            </a:xfrm>
            <a:prstGeom prst="straightConnector1">
              <a:avLst/>
            </a:prstGeom>
            <a:ln w="19050">
              <a:solidFill>
                <a:schemeClr val="accent2">
                  <a:lumMod val="75000"/>
                </a:schemeClr>
              </a:solidFill>
              <a:headEnd type="none" w="med" len="med"/>
              <a:tailEnd type="arrow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5" name="Title 1">
            <a:extLst>
              <a:ext uri="{FF2B5EF4-FFF2-40B4-BE49-F238E27FC236}">
                <a16:creationId xmlns:a16="http://schemas.microsoft.com/office/drawing/2014/main" id="{8D760DB8-6289-76DC-114A-90915905A5DC}"/>
              </a:ext>
            </a:extLst>
          </p:cNvPr>
          <p:cNvSpPr txBox="1">
            <a:spLocks/>
          </p:cNvSpPr>
          <p:nvPr/>
        </p:nvSpPr>
        <p:spPr>
          <a:xfrm>
            <a:off x="2021700" y="353850"/>
            <a:ext cx="8283900" cy="550500"/>
          </a:xfrm>
          <a:prstGeom prst="rect">
            <a:avLst/>
          </a:prstGeom>
        </p:spPr>
        <p:txBody>
          <a:bodyPr/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ctr"/>
            <a:r>
              <a:rPr lang="en-US" sz="3300" dirty="0">
                <a:latin typeface="Oswald" panose="00000500000000000000" pitchFamily="2" charset="0"/>
              </a:rPr>
              <a:t>VFAs: </a:t>
            </a:r>
            <a:r>
              <a:rPr lang="en-US" sz="3300" dirty="0" err="1">
                <a:latin typeface="Oswald" panose="00000500000000000000" pitchFamily="2" charset="0"/>
              </a:rPr>
              <a:t>Stepsizes</a:t>
            </a:r>
            <a:endParaRPr lang="en-US" sz="3300" dirty="0">
              <a:latin typeface="Oswald" panose="000005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8518815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7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C582BEC-1427-5B24-1F8F-F0BC9307070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7682" name="Rectangle 2">
            <a:extLst>
              <a:ext uri="{FF2B5EF4-FFF2-40B4-BE49-F238E27FC236}">
                <a16:creationId xmlns:a16="http://schemas.microsoft.com/office/drawing/2014/main" id="{00B50D42-75D6-63C3-3A3D-592719AC24F6}"/>
              </a:ext>
            </a:extLst>
          </p:cNvPr>
          <p:cNvSpPr>
            <a:spLocks noGrp="1" noChangeArrowheads="1"/>
          </p:cNvSpPr>
          <p:nvPr>
            <p:ph type="title" idx="4294967295"/>
          </p:nvPr>
        </p:nvSpPr>
        <p:spPr/>
        <p:txBody>
          <a:bodyPr/>
          <a:lstStyle/>
          <a:p>
            <a:r>
              <a:rPr lang="en-US" sz="3200" dirty="0">
                <a:latin typeface="Oswald" panose="00000500000000000000" pitchFamily="2" charset="0"/>
              </a:rPr>
              <a:t>VFAs: </a:t>
            </a:r>
            <a:r>
              <a:rPr lang="en-US" sz="3200" dirty="0" err="1">
                <a:latin typeface="Oswald" panose="00000500000000000000" pitchFamily="2" charset="0"/>
              </a:rPr>
              <a:t>Stepsizes</a:t>
            </a:r>
            <a:endParaRPr lang="en-US" sz="3200" dirty="0">
              <a:latin typeface="Oswald" panose="00000500000000000000" pitchFamily="2" charset="0"/>
            </a:endParaRPr>
          </a:p>
        </p:txBody>
      </p:sp>
      <p:sp>
        <p:nvSpPr>
          <p:cNvPr id="967683" name="Rectangle 3">
            <a:extLst>
              <a:ext uri="{FF2B5EF4-FFF2-40B4-BE49-F238E27FC236}">
                <a16:creationId xmlns:a16="http://schemas.microsoft.com/office/drawing/2014/main" id="{8B0FB98B-3F27-7530-60D8-8AAE3C529C84}"/>
              </a:ext>
            </a:extLst>
          </p:cNvPr>
          <p:cNvSpPr>
            <a:spLocks noGrp="1" noChangeArrowheads="1"/>
          </p:cNvSpPr>
          <p:nvPr>
            <p:ph type="body" idx="4294967295"/>
          </p:nvPr>
        </p:nvSpPr>
        <p:spPr/>
        <p:txBody>
          <a:bodyPr/>
          <a:lstStyle/>
          <a:p>
            <a:pPr marL="86360" indent="0">
              <a:buNone/>
            </a:pPr>
            <a:r>
              <a:rPr lang="en-US" altLang="en-US" dirty="0" err="1"/>
              <a:t>Stepsizes</a:t>
            </a:r>
            <a:r>
              <a:rPr lang="en-US" altLang="en-US" dirty="0"/>
              <a:t>:</a:t>
            </a:r>
          </a:p>
          <a:p>
            <a:pPr lvl="1"/>
            <a:r>
              <a:rPr lang="en-US" altLang="en-US" dirty="0"/>
              <a:t>Approximate value iteration requires updates of the form: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67684" name="Object 4">
                <a:extLst>
                  <a:ext uri="{FF2B5EF4-FFF2-40B4-BE49-F238E27FC236}">
                    <a16:creationId xmlns:a16="http://schemas.microsoft.com/office/drawing/2014/main" id="{E7BD700E-8E6B-1896-514B-66E14CD1DD1C}"/>
                  </a:ext>
                </a:extLst>
              </p:cNvPr>
              <p:cNvSpPr txBox="1"/>
              <p:nvPr/>
            </p:nvSpPr>
            <p:spPr bwMode="auto">
              <a:xfrm>
                <a:off x="3090156" y="2788552"/>
                <a:ext cx="6939961" cy="635000"/>
              </a:xfrm>
              <a:prstGeom prst="rect">
                <a:avLst/>
              </a:prstGeom>
              <a:noFill/>
              <a:ln w="19050">
                <a:noFill/>
              </a:ln>
              <a:effectLst/>
            </p:spPr>
            <p:txBody>
              <a:bodyPr>
                <a:no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>
                      <m:sSubSup>
                        <m:sSubSupPr>
                          <m:ctrlPr>
                            <a:rPr lang="en-US" sz="2400" i="1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𝑉</m:t>
                          </m:r>
                        </m:e>
                        <m:sub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𝑡</m:t>
                          </m:r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−1</m:t>
                          </m:r>
                        </m:sub>
                        <m:sup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𝑛</m:t>
                          </m:r>
                        </m:sup>
                      </m:sSubSup>
                      <m:r>
                        <a:rPr lang="en-US" sz="2400" i="1">
                          <a:latin typeface="Cambria Math" panose="02040503050406030204" pitchFamily="18" charset="0"/>
                        </a:rPr>
                        <m:t>(</m:t>
                      </m:r>
                      <m:sSubSup>
                        <m:sSubSupPr>
                          <m:ctrlPr>
                            <a:rPr lang="en-US" sz="2400" i="1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𝑆</m:t>
                          </m:r>
                        </m:e>
                        <m:sub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𝑡</m:t>
                          </m:r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−1</m:t>
                          </m:r>
                        </m:sub>
                        <m:sup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𝑥</m:t>
                          </m:r>
                        </m:sup>
                      </m:sSubSup>
                      <m:r>
                        <a:rPr lang="en-US" sz="2400" i="1">
                          <a:latin typeface="Cambria Math" panose="02040503050406030204" pitchFamily="18" charset="0"/>
                        </a:rPr>
                        <m:t>)=(1−</m:t>
                      </m:r>
                      <m:sSub>
                        <m:sSubPr>
                          <m:ctrlPr>
                            <a:rPr lang="en-US" sz="24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𝛼</m:t>
                          </m:r>
                        </m:e>
                        <m:sub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𝑛</m:t>
                          </m:r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−1</m:t>
                          </m:r>
                        </m:sub>
                      </m:sSub>
                      <m:r>
                        <a:rPr lang="en-US" sz="2400" i="1">
                          <a:latin typeface="Cambria Math" panose="02040503050406030204" pitchFamily="18" charset="0"/>
                        </a:rPr>
                        <m:t>)</m:t>
                      </m:r>
                      <m:sSubSup>
                        <m:sSubSupPr>
                          <m:ctrlPr>
                            <a:rPr lang="en-US" sz="2400" i="1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𝑉</m:t>
                          </m:r>
                        </m:e>
                        <m:sub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𝑡</m:t>
                          </m:r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−1</m:t>
                          </m:r>
                        </m:sub>
                        <m:sup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𝑛</m:t>
                          </m:r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−1</m:t>
                          </m:r>
                        </m:sup>
                      </m:sSubSup>
                      <m:r>
                        <a:rPr lang="en-US" sz="2400" i="1">
                          <a:latin typeface="Cambria Math" panose="02040503050406030204" pitchFamily="18" charset="0"/>
                        </a:rPr>
                        <m:t>(</m:t>
                      </m:r>
                      <m:sSubSup>
                        <m:sSubSupPr>
                          <m:ctrlPr>
                            <a:rPr lang="en-US" sz="2400" i="1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𝑆</m:t>
                          </m:r>
                        </m:e>
                        <m:sub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𝑡</m:t>
                          </m:r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−1</m:t>
                          </m:r>
                        </m:sub>
                        <m:sup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𝑥</m:t>
                          </m:r>
                        </m:sup>
                      </m:sSubSup>
                      <m:r>
                        <a:rPr lang="en-US" sz="2400" i="1">
                          <a:latin typeface="Cambria Math" panose="02040503050406030204" pitchFamily="18" charset="0"/>
                        </a:rPr>
                        <m:t>)+</m:t>
                      </m:r>
                      <m:sSub>
                        <m:sSubPr>
                          <m:ctrlPr>
                            <a:rPr lang="en-US" sz="24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𝛼</m:t>
                          </m:r>
                        </m:e>
                        <m:sub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𝑛</m:t>
                          </m:r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−1</m:t>
                          </m:r>
                        </m:sub>
                      </m:sSub>
                      <m:sSubSup>
                        <m:sSubSupPr>
                          <m:ctrlPr>
                            <a:rPr lang="en-US" sz="2400" i="1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acc>
                            <m:accPr>
                              <m:chr m:val="̂"/>
                              <m:ctrlPr>
                                <a:rPr lang="en-US" sz="2400" i="1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𝑣</m:t>
                              </m:r>
                            </m:e>
                          </m:acc>
                        </m:e>
                        <m:sub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𝑡</m:t>
                          </m:r>
                        </m:sub>
                        <m:sup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𝑛</m:t>
                          </m:r>
                        </m:sup>
                      </m:sSubSup>
                    </m:oMath>
                  </m:oMathPara>
                </a14:m>
                <a:endParaRPr lang="en-US" sz="2400" dirty="0"/>
              </a:p>
            </p:txBody>
          </p:sp>
        </mc:Choice>
        <mc:Fallback xmlns="">
          <p:sp>
            <p:nvSpPr>
              <p:cNvPr id="967684" name="Object 4">
                <a:extLst>
                  <a:ext uri="{FF2B5EF4-FFF2-40B4-BE49-F238E27FC236}">
                    <a16:creationId xmlns:a16="http://schemas.microsoft.com/office/drawing/2014/main" id="{E7BD700E-8E6B-1896-514B-66E14CD1DD1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3090156" y="2788552"/>
                <a:ext cx="6939961" cy="635000"/>
              </a:xfrm>
              <a:prstGeom prst="rect">
                <a:avLst/>
              </a:prstGeom>
              <a:blipFill>
                <a:blip r:embed="rId3"/>
                <a:stretch>
                  <a:fillRect l="-264"/>
                </a:stretch>
              </a:blipFill>
              <a:ln w="19050">
                <a:noFill/>
              </a:ln>
              <a:effectLst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5" name="Group 14">
            <a:extLst>
              <a:ext uri="{FF2B5EF4-FFF2-40B4-BE49-F238E27FC236}">
                <a16:creationId xmlns:a16="http://schemas.microsoft.com/office/drawing/2014/main" id="{FCD7E371-E741-1844-2E0F-BB788CB49783}"/>
              </a:ext>
            </a:extLst>
          </p:cNvPr>
          <p:cNvGrpSpPr>
            <a:grpSpLocks/>
          </p:cNvGrpSpPr>
          <p:nvPr/>
        </p:nvGrpSpPr>
        <p:grpSpPr bwMode="auto">
          <a:xfrm>
            <a:off x="3538538" y="2851152"/>
            <a:ext cx="5295900" cy="3376613"/>
            <a:chOff x="1269" y="1796"/>
            <a:chExt cx="3336" cy="2127"/>
          </a:xfrm>
        </p:grpSpPr>
        <p:cxnSp>
          <p:nvCxnSpPr>
            <p:cNvPr id="967695" name="AutoShape 15">
              <a:extLst>
                <a:ext uri="{FF2B5EF4-FFF2-40B4-BE49-F238E27FC236}">
                  <a16:creationId xmlns:a16="http://schemas.microsoft.com/office/drawing/2014/main" id="{470C4AA1-AFED-A749-362E-AEC8E32873E3}"/>
                </a:ext>
              </a:extLst>
            </p:cNvPr>
            <p:cNvCxnSpPr>
              <a:cxnSpLocks noChangeShapeType="1"/>
              <a:stCxn id="967698" idx="0"/>
              <a:endCxn id="967697" idx="4"/>
            </p:cNvCxnSpPr>
            <p:nvPr/>
          </p:nvCxnSpPr>
          <p:spPr bwMode="auto">
            <a:xfrm flipV="1">
              <a:off x="1963" y="2074"/>
              <a:ext cx="2430" cy="1199"/>
            </a:xfrm>
            <a:prstGeom prst="straightConnector1">
              <a:avLst/>
            </a:prstGeom>
            <a:noFill/>
            <a:ln w="19050">
              <a:solidFill>
                <a:srgbClr val="D67F00"/>
              </a:solidFill>
              <a:round/>
              <a:headEnd type="none" w="lg" len="lg"/>
              <a:tailEnd type="stealth" w="lg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sp>
          <p:nvSpPr>
            <p:cNvPr id="967696" name="Oval 16">
              <a:extLst>
                <a:ext uri="{FF2B5EF4-FFF2-40B4-BE49-F238E27FC236}">
                  <a16:creationId xmlns:a16="http://schemas.microsoft.com/office/drawing/2014/main" id="{5F525F87-09BA-E816-A73F-FA53F1D54A1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558" y="1796"/>
              <a:ext cx="414" cy="273"/>
            </a:xfrm>
            <a:prstGeom prst="ellipse">
              <a:avLst/>
            </a:prstGeom>
            <a:noFill/>
            <a:ln w="19050" algn="ctr">
              <a:solidFill>
                <a:srgbClr val="D67F00"/>
              </a:solidFill>
              <a:round/>
              <a:headEnd type="none" w="lg" len="lg"/>
              <a:tailEnd type="none" w="lg" len="lg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square" anchor="ctr">
              <a:spAutoFit/>
            </a:bodyPr>
            <a:lstStyle>
              <a:lvl1pPr>
                <a:defRPr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defRPr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defRPr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defRPr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defRPr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endParaRPr lang="en-US" altLang="en-US"/>
            </a:p>
          </p:txBody>
        </p:sp>
        <p:sp>
          <p:nvSpPr>
            <p:cNvPr id="967697" name="Oval 17">
              <a:extLst>
                <a:ext uri="{FF2B5EF4-FFF2-40B4-BE49-F238E27FC236}">
                  <a16:creationId xmlns:a16="http://schemas.microsoft.com/office/drawing/2014/main" id="{0BE6D80C-44BB-8A57-9ED3-2E258A0F7F4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181" y="1801"/>
              <a:ext cx="424" cy="273"/>
            </a:xfrm>
            <a:prstGeom prst="ellipse">
              <a:avLst/>
            </a:prstGeom>
            <a:noFill/>
            <a:ln w="19050" algn="ctr">
              <a:solidFill>
                <a:srgbClr val="D67F00"/>
              </a:solidFill>
              <a:round/>
              <a:headEnd type="none" w="lg" len="lg"/>
              <a:tailEnd type="none" w="lg" len="lg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anchor="ctr">
              <a:spAutoFit/>
            </a:bodyPr>
            <a:lstStyle>
              <a:lvl1pPr>
                <a:defRPr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defRPr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defRPr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defRPr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defRPr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endParaRPr lang="en-US" altLang="en-US"/>
            </a:p>
          </p:txBody>
        </p:sp>
        <p:sp>
          <p:nvSpPr>
            <p:cNvPr id="967698" name="Text Box 18">
              <a:extLst>
                <a:ext uri="{FF2B5EF4-FFF2-40B4-BE49-F238E27FC236}">
                  <a16:creationId xmlns:a16="http://schemas.microsoft.com/office/drawing/2014/main" id="{A6CA1EF8-8AA8-3248-1289-A5E6C5BC3EA3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269" y="3273"/>
              <a:ext cx="1387" cy="650"/>
            </a:xfrm>
            <a:prstGeom prst="rect">
              <a:avLst/>
            </a:prstGeom>
            <a:noFill/>
            <a:ln w="19050" algn="ctr">
              <a:solidFill>
                <a:srgbClr val="D67F00"/>
              </a:solidFill>
              <a:miter lim="800000"/>
              <a:headEnd type="none" w="lg" len="lg"/>
              <a:tailEnd type="none" w="lg" len="lg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>
              <a:spAutoFit/>
            </a:bodyPr>
            <a:lstStyle>
              <a:lvl1pPr>
                <a:defRPr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defRPr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defRPr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defRPr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defRPr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r>
                <a:rPr lang="en-US" altLang="en-US" sz="2000" i="0">
                  <a:solidFill>
                    <a:srgbClr val="D67F00"/>
                  </a:solidFill>
                </a:rPr>
                <a:t>The stepsize</a:t>
              </a:r>
            </a:p>
            <a:p>
              <a:r>
                <a:rPr lang="en-US" altLang="en-US" sz="2000" i="0">
                  <a:solidFill>
                    <a:srgbClr val="D67F00"/>
                  </a:solidFill>
                </a:rPr>
                <a:t>“Learning rate”</a:t>
              </a:r>
            </a:p>
            <a:p>
              <a:r>
                <a:rPr lang="en-US" altLang="en-US" sz="2000" i="0">
                  <a:solidFill>
                    <a:srgbClr val="D67F00"/>
                  </a:solidFill>
                </a:rPr>
                <a:t>“Smoothing factor”</a:t>
              </a:r>
            </a:p>
          </p:txBody>
        </p:sp>
        <p:cxnSp>
          <p:nvCxnSpPr>
            <p:cNvPr id="967699" name="AutoShape 19">
              <a:extLst>
                <a:ext uri="{FF2B5EF4-FFF2-40B4-BE49-F238E27FC236}">
                  <a16:creationId xmlns:a16="http://schemas.microsoft.com/office/drawing/2014/main" id="{7905FEA9-D0F9-21C5-3BE8-D339BFF4F13D}"/>
                </a:ext>
              </a:extLst>
            </p:cNvPr>
            <p:cNvCxnSpPr>
              <a:cxnSpLocks noChangeShapeType="1"/>
              <a:stCxn id="967698" idx="0"/>
              <a:endCxn id="967696" idx="4"/>
            </p:cNvCxnSpPr>
            <p:nvPr/>
          </p:nvCxnSpPr>
          <p:spPr bwMode="auto">
            <a:xfrm flipV="1">
              <a:off x="1963" y="2069"/>
              <a:ext cx="802" cy="1204"/>
            </a:xfrm>
            <a:prstGeom prst="straightConnector1">
              <a:avLst/>
            </a:prstGeom>
            <a:noFill/>
            <a:ln w="19050">
              <a:solidFill>
                <a:srgbClr val="D67F00"/>
              </a:solidFill>
              <a:round/>
              <a:headEnd type="none" w="lg" len="lg"/>
              <a:tailEnd type="stealth" w="lg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</p:grpSp>
    </p:spTree>
    <p:extLst>
      <p:ext uri="{BB962C8B-B14F-4D97-AF65-F5344CB8AC3E}">
        <p14:creationId xmlns:p14="http://schemas.microsoft.com/office/powerpoint/2010/main" val="3982065669"/>
      </p:ext>
    </p:extLst>
  </p:cSld>
  <p:clrMapOvr>
    <a:masterClrMapping/>
  </p:clrMapOvr>
  <p:transition spd="slow">
    <p:wipe dir="u"/>
  </p:transition>
</p:sld>
</file>

<file path=ppt/slides/slide1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168A939-0CF0-E5BE-C5CB-C6DFA7DA218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Oswald" panose="00000500000000000000" pitchFamily="2" charset="0"/>
              </a:rPr>
              <a:t>VFAs: </a:t>
            </a:r>
            <a:r>
              <a:rPr lang="en-US" dirty="0" err="1">
                <a:latin typeface="Oswald" panose="00000500000000000000" pitchFamily="2" charset="0"/>
              </a:rPr>
              <a:t>Stepsizes</a:t>
            </a:r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 Placeholder 2">
                <a:extLst>
                  <a:ext uri="{FF2B5EF4-FFF2-40B4-BE49-F238E27FC236}">
                    <a16:creationId xmlns:a16="http://schemas.microsoft.com/office/drawing/2014/main" id="{D4721E32-DE3D-86C7-1BDF-D8A1F7DD2B2C}"/>
                  </a:ext>
                </a:extLst>
              </p:cNvPr>
              <p:cNvSpPr>
                <a:spLocks noGrp="1"/>
              </p:cNvSpPr>
              <p:nvPr>
                <p:ph type="body" idx="1"/>
              </p:nvPr>
            </p:nvSpPr>
            <p:spPr>
              <a:xfrm>
                <a:off x="469837" y="1033641"/>
                <a:ext cx="10363200" cy="4401600"/>
              </a:xfrm>
            </p:spPr>
            <p:txBody>
              <a:bodyPr/>
              <a:lstStyle/>
              <a:p>
                <a:pPr marL="86360" indent="0">
                  <a:buNone/>
                </a:pPr>
                <a:r>
                  <a:rPr lang="en-US" dirty="0"/>
                  <a:t>Summary of </a:t>
                </a:r>
                <a:r>
                  <a:rPr lang="en-US" dirty="0" err="1"/>
                  <a:t>stepsize</a:t>
                </a:r>
                <a:r>
                  <a:rPr lang="en-US" dirty="0"/>
                  <a:t> policies (see Chapter 6 of RLSO):</a:t>
                </a:r>
              </a:p>
              <a:p>
                <a:pPr lvl="1"/>
                <a:r>
                  <a:rPr lang="en-US" dirty="0"/>
                  <a:t>Constant</a:t>
                </a:r>
              </a:p>
              <a:p>
                <a:pPr lvl="2"/>
                <a:endParaRPr lang="en-US" sz="1200" b="0" i="1" dirty="0">
                  <a:latin typeface="Cambria Math" panose="02040503050406030204" pitchFamily="18" charset="0"/>
                </a:endParaRPr>
              </a:p>
              <a:p>
                <a:pPr lvl="2"/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𝛼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𝜃</m:t>
                        </m:r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𝑠𝑡𝑒𝑝</m:t>
                        </m:r>
                      </m:sup>
                    </m:sSup>
                  </m:oMath>
                </a14:m>
                <a:r>
                  <a:rPr lang="en-US" dirty="0"/>
                  <a:t> (which becomes a tunable parameter)</a:t>
                </a:r>
              </a:p>
              <a:p>
                <a:pPr lvl="2"/>
                <a:endParaRPr lang="en-US" sz="1200" dirty="0"/>
              </a:p>
              <a:p>
                <a:pPr lvl="1"/>
                <a:r>
                  <a:rPr lang="en-US" dirty="0"/>
                  <a:t>Deterministic:</a:t>
                </a:r>
              </a:p>
              <a:p>
                <a:pPr lvl="2"/>
                <a:endParaRPr lang="en-US" sz="1100" b="0" i="1" dirty="0">
                  <a:latin typeface="Cambria Math" panose="02040503050406030204" pitchFamily="18" charset="0"/>
                </a:endParaRPr>
              </a:p>
              <a:p>
                <a:pPr lvl="2"/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𝛼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sSup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𝜃</m:t>
                            </m:r>
                          </m:e>
                          <m:sup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𝑠𝑡𝑒𝑝</m:t>
                            </m:r>
                          </m:sup>
                        </m:sSup>
                      </m:num>
                      <m:den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1+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−</m:t>
                        </m:r>
                        <m:sSup>
                          <m:sSup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𝜃</m:t>
                            </m:r>
                          </m:e>
                          <m:sup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𝑠𝑡𝑒𝑝</m:t>
                            </m:r>
                          </m:sup>
                        </m:sSup>
                      </m:den>
                    </m:f>
                  </m:oMath>
                </a14:m>
                <a:endParaRPr lang="en-US" dirty="0"/>
              </a:p>
              <a:p>
                <a:pPr lvl="2"/>
                <a:endParaRPr lang="en-US" sz="1200" dirty="0"/>
              </a:p>
              <a:p>
                <a:pPr lvl="1"/>
                <a:r>
                  <a:rPr lang="en-US" dirty="0"/>
                  <a:t>Stochastic</a:t>
                </a:r>
              </a:p>
              <a:p>
                <a:pPr lvl="2"/>
                <a:r>
                  <a:rPr lang="en-US" dirty="0"/>
                  <a:t>Kesten’s formula</a:t>
                </a:r>
              </a:p>
              <a:p>
                <a:pPr lvl="2"/>
                <a:endParaRPr lang="en-US" sz="1000" dirty="0"/>
              </a:p>
              <a:p>
                <a:pPr marL="1028700" lvl="2" indent="0">
                  <a:buNone/>
                </a:pPr>
                <a:r>
                  <a:rPr lang="en-US" b="0" dirty="0"/>
                  <a:t>	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𝛼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sSup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𝜃</m:t>
                            </m:r>
                          </m:e>
                          <m:sup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𝑠𝑡𝑒𝑝</m:t>
                            </m:r>
                          </m:sup>
                        </m:sSup>
                      </m:num>
                      <m:den>
                        <m:sSup>
                          <m:sSup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𝜃</m:t>
                            </m:r>
                          </m:e>
                          <m:sup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𝑠𝑡𝑒𝑝</m:t>
                            </m:r>
                          </m:sup>
                        </m:s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+</m:t>
                        </m:r>
                        <m:sSup>
                          <m:sSup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𝑁</m:t>
                            </m:r>
                          </m:e>
                          <m:sup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𝑛</m:t>
                            </m:r>
                          </m:sup>
                        </m:sSup>
                      </m:den>
                    </m:f>
                  </m:oMath>
                </a14:m>
                <a:r>
                  <a:rPr lang="en-US" dirty="0"/>
                  <a:t>  where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𝑁</m:t>
                        </m:r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</m:sSup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</m:oMath>
                </a14:m>
                <a:r>
                  <a:rPr lang="en-US" dirty="0"/>
                  <a:t> No. of times gradient has changed signs.</a:t>
                </a:r>
              </a:p>
              <a:p>
                <a:pPr lvl="3">
                  <a:buFont typeface="Arial" panose="020B0604020202020204" pitchFamily="34" charset="0"/>
                  <a:buChar char="•"/>
                </a:pPr>
                <a:endParaRPr lang="en-US" sz="1400" dirty="0"/>
              </a:p>
              <a:p>
                <a:pPr lvl="2">
                  <a:buFont typeface="Arial" panose="020B0604020202020204" pitchFamily="34" charset="0"/>
                  <a:buChar char="•"/>
                </a:pPr>
                <a:r>
                  <a:rPr lang="en-US" dirty="0" err="1"/>
                  <a:t>RMSProp</a:t>
                </a:r>
                <a:endParaRPr lang="en-US" dirty="0"/>
              </a:p>
            </p:txBody>
          </p:sp>
        </mc:Choice>
        <mc:Fallback xmlns="">
          <p:sp>
            <p:nvSpPr>
              <p:cNvPr id="3" name="Text Placeholder 2">
                <a:extLst>
                  <a:ext uri="{FF2B5EF4-FFF2-40B4-BE49-F238E27FC236}">
                    <a16:creationId xmlns:a16="http://schemas.microsoft.com/office/drawing/2014/main" id="{D4721E32-DE3D-86C7-1BDF-D8A1F7DD2B2C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idx="1"/>
              </p:nvPr>
            </p:nvSpPr>
            <p:spPr>
              <a:xfrm>
                <a:off x="469837" y="1033641"/>
                <a:ext cx="10363200" cy="4401600"/>
              </a:xfrm>
              <a:blipFill>
                <a:blip r:embed="rId2"/>
                <a:stretch>
                  <a:fillRect l="-353" b="-1149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41F04C48-A0CE-8B41-41A8-B07800D158A4}"/>
                  </a:ext>
                </a:extLst>
              </p:cNvPr>
              <p:cNvSpPr txBox="1"/>
              <p:nvPr/>
            </p:nvSpPr>
            <p:spPr>
              <a:xfrm>
                <a:off x="2286902" y="5801481"/>
                <a:ext cx="7411901" cy="59708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sz="18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800" b="0" i="1" smtClean="0">
                            <a:latin typeface="Cambria Math" panose="02040503050406030204" pitchFamily="18" charset="0"/>
                          </a:rPr>
                          <m:t>𝛼</m:t>
                        </m:r>
                      </m:e>
                      <m:sub>
                        <m:r>
                          <a:rPr lang="en-US" sz="1800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  <m:r>
                      <a:rPr lang="en-US" sz="1800" b="0" i="1" smtClean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sz="1800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sSupPr>
                            <m:ctrlPr>
                              <a:rPr lang="en-US" sz="1800" b="0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sz="1800" b="0" i="1" smtClean="0">
                                <a:latin typeface="Cambria Math" panose="02040503050406030204" pitchFamily="18" charset="0"/>
                              </a:rPr>
                              <m:t>𝜃</m:t>
                            </m:r>
                          </m:e>
                          <m:sup>
                            <m:r>
                              <a:rPr lang="en-US" sz="1800" b="0" i="1" smtClean="0">
                                <a:latin typeface="Cambria Math" panose="02040503050406030204" pitchFamily="18" charset="0"/>
                              </a:rPr>
                              <m:t>𝑠𝑐𝑎𝑙𝑒</m:t>
                            </m:r>
                          </m:sup>
                        </m:sSup>
                      </m:num>
                      <m:den>
                        <m:rad>
                          <m:radPr>
                            <m:degHide m:val="on"/>
                            <m:ctrlPr>
                              <a:rPr lang="en-US" sz="1800" b="0" i="1" smtClean="0"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sSup>
                              <m:sSupPr>
                                <m:ctrlPr>
                                  <a:rPr lang="en-US" sz="1800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acc>
                                  <m:accPr>
                                    <m:chr m:val="̅"/>
                                    <m:ctrlPr>
                                      <a:rPr lang="en-US" sz="18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accPr>
                                  <m:e>
                                    <m:r>
                                      <a:rPr lang="en-US" sz="1800" b="0" i="1" smtClean="0">
                                        <a:latin typeface="Cambria Math" panose="02040503050406030204" pitchFamily="18" charset="0"/>
                                      </a:rPr>
                                      <m:t>𝑔</m:t>
                                    </m:r>
                                  </m:e>
                                </m:acc>
                              </m:e>
                              <m:sup>
                                <m:r>
                                  <a:rPr lang="en-US" sz="1800" b="0" i="1" smtClean="0">
                                    <a:latin typeface="Cambria Math" panose="02040503050406030204" pitchFamily="18" charset="0"/>
                                  </a:rPr>
                                  <m:t>𝑛</m:t>
                                </m:r>
                              </m:sup>
                            </m:sSup>
                          </m:e>
                        </m:rad>
                      </m:den>
                    </m:f>
                  </m:oMath>
                </a14:m>
                <a:r>
                  <a:rPr lang="en-US" sz="1800" dirty="0"/>
                  <a:t>  where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1800" b="0" i="1" dirty="0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acc>
                          <m:accPr>
                            <m:chr m:val="̅"/>
                            <m:ctrlPr>
                              <a:rPr lang="en-US" sz="1800" b="0" i="1" dirty="0" smtClean="0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sz="1800" b="0" i="1" dirty="0" smtClean="0">
                                <a:latin typeface="Cambria Math" panose="02040503050406030204" pitchFamily="18" charset="0"/>
                              </a:rPr>
                              <m:t>𝑔</m:t>
                            </m:r>
                          </m:e>
                        </m:acc>
                      </m:e>
                      <m:sup>
                        <m:r>
                          <a:rPr lang="en-US" sz="1800" b="0" i="1" dirty="0" smtClean="0"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</m:sSup>
                    <m:r>
                      <a:rPr lang="en-US" sz="1800" b="0" i="1" dirty="0" smtClean="0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ctrlPr>
                          <a:rPr lang="en-US" sz="1800" b="0" i="1" dirty="0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1800" b="0" i="1" dirty="0" smtClean="0">
                            <a:latin typeface="Cambria Math" panose="02040503050406030204" pitchFamily="18" charset="0"/>
                          </a:rPr>
                          <m:t>1−</m:t>
                        </m:r>
                        <m:sSup>
                          <m:sSupPr>
                            <m:ctrlPr>
                              <a:rPr lang="en-US" sz="1800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sz="1800" i="1">
                                <a:latin typeface="Cambria Math" panose="02040503050406030204" pitchFamily="18" charset="0"/>
                              </a:rPr>
                              <m:t>𝜃</m:t>
                            </m:r>
                          </m:e>
                          <m:sup>
                            <m:r>
                              <a:rPr lang="en-US" sz="1800" i="1">
                                <a:latin typeface="Cambria Math" panose="02040503050406030204" pitchFamily="18" charset="0"/>
                              </a:rPr>
                              <m:t>𝑠</m:t>
                            </m:r>
                            <m:r>
                              <a:rPr lang="en-US" sz="1800" b="0" i="1" smtClean="0">
                                <a:latin typeface="Cambria Math" panose="02040503050406030204" pitchFamily="18" charset="0"/>
                              </a:rPr>
                              <m:t>𝑚𝑜𝑜𝑡ℎ</m:t>
                            </m:r>
                          </m:sup>
                        </m:sSup>
                      </m:e>
                    </m:d>
                    <m:sSub>
                      <m:sSubPr>
                        <m:ctrlPr>
                          <a:rPr lang="en-US" sz="1800" b="0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acc>
                          <m:accPr>
                            <m:chr m:val="̅"/>
                            <m:ctrlPr>
                              <a:rPr lang="en-US" sz="1800" b="0" i="1" dirty="0" smtClean="0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sz="1800" b="0" i="1" dirty="0" smtClean="0">
                                <a:latin typeface="Cambria Math" panose="02040503050406030204" pitchFamily="18" charset="0"/>
                              </a:rPr>
                              <m:t>𝑔</m:t>
                            </m:r>
                          </m:e>
                        </m:acc>
                      </m:e>
                      <m:sub>
                        <m:r>
                          <a:rPr lang="en-US" sz="1800" b="0" i="1" dirty="0" smtClean="0"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a:rPr lang="en-US" sz="1800" b="0" i="1" dirty="0" smtClean="0">
                            <a:latin typeface="Cambria Math" panose="02040503050406030204" pitchFamily="18" charset="0"/>
                          </a:rPr>
                          <m:t>−1</m:t>
                        </m:r>
                      </m:sub>
                    </m:sSub>
                    <m:r>
                      <a:rPr lang="en-US" sz="1800" b="0" i="1" dirty="0" smtClean="0">
                        <a:latin typeface="Cambria Math" panose="02040503050406030204" pitchFamily="18" charset="0"/>
                      </a:rPr>
                      <m:t>+</m:t>
                    </m:r>
                    <m:sSup>
                      <m:sSupPr>
                        <m:ctrlPr>
                          <a:rPr lang="en-US" sz="18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1800" i="1">
                            <a:latin typeface="Cambria Math" panose="02040503050406030204" pitchFamily="18" charset="0"/>
                          </a:rPr>
                          <m:t>𝜃</m:t>
                        </m:r>
                      </m:e>
                      <m:sup>
                        <m:r>
                          <a:rPr lang="en-US" sz="1800" i="1">
                            <a:latin typeface="Cambria Math" panose="02040503050406030204" pitchFamily="18" charset="0"/>
                          </a:rPr>
                          <m:t>𝑠𝑚𝑜𝑜𝑡ℎ</m:t>
                        </m:r>
                      </m:sup>
                    </m:sSup>
                    <m:sSup>
                      <m:sSupPr>
                        <m:ctrlPr>
                          <a:rPr lang="en-US" sz="18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d>
                          <m:dPr>
                            <m:begChr m:val="‖"/>
                            <m:endChr m:val="‖"/>
                            <m:ctrlPr>
                              <a:rPr lang="en-US" sz="1800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en-US" sz="1800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m:rPr>
                                    <m:sty m:val="p"/>
                                  </m:rPr>
                                  <a:rPr lang="en-US" sz="1800" i="1">
                                    <a:latin typeface="Cambria Math" panose="02040503050406030204" pitchFamily="18" charset="0"/>
                                  </a:rPr>
                                  <m:t>∇</m:t>
                                </m:r>
                              </m:e>
                              <m:sub>
                                <m:r>
                                  <a:rPr lang="en-US" sz="1800" i="1">
                                    <a:latin typeface="Cambria Math" panose="02040503050406030204" pitchFamily="18" charset="0"/>
                                  </a:rPr>
                                  <m:t>𝜃</m:t>
                                </m:r>
                              </m:sub>
                            </m:sSub>
                            <m:r>
                              <a:rPr lang="en-US" sz="1800" i="1">
                                <a:latin typeface="Cambria Math" panose="02040503050406030204" pitchFamily="18" charset="0"/>
                              </a:rPr>
                              <m:t>𝐹</m:t>
                            </m:r>
                            <m:d>
                              <m:dPr>
                                <m:ctrlPr>
                                  <a:rPr lang="en-US" sz="1800" i="1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sSup>
                                  <m:sSupPr>
                                    <m:ctrlPr>
                                      <a:rPr lang="en-US" sz="1800" i="1"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US" sz="1800" i="1">
                                        <a:latin typeface="Cambria Math" panose="02040503050406030204" pitchFamily="18" charset="0"/>
                                      </a:rPr>
                                      <m:t>𝜃</m:t>
                                    </m:r>
                                  </m:e>
                                  <m:sup>
                                    <m:r>
                                      <a:rPr lang="en-US" sz="1800" i="1">
                                        <a:latin typeface="Cambria Math" panose="02040503050406030204" pitchFamily="18" charset="0"/>
                                      </a:rPr>
                                      <m:t>𝑛</m:t>
                                    </m:r>
                                    <m:r>
                                      <a:rPr lang="en-US" sz="1800" b="0" i="1" smtClean="0">
                                        <a:latin typeface="Cambria Math" panose="02040503050406030204" pitchFamily="18" charset="0"/>
                                      </a:rPr>
                                      <m:t>−1</m:t>
                                    </m:r>
                                  </m:sup>
                                </m:sSup>
                                <m:r>
                                  <a:rPr lang="en-US" sz="1800" i="1">
                                    <a:latin typeface="Cambria Math" panose="02040503050406030204" pitchFamily="18" charset="0"/>
                                  </a:rPr>
                                  <m:t>,</m:t>
                                </m:r>
                                <m:sSup>
                                  <m:sSupPr>
                                    <m:ctrlPr>
                                      <a:rPr lang="en-US" sz="1800" i="1"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US" sz="1800" i="1">
                                        <a:latin typeface="Cambria Math" panose="02040503050406030204" pitchFamily="18" charset="0"/>
                                      </a:rPr>
                                      <m:t>𝑊</m:t>
                                    </m:r>
                                  </m:e>
                                  <m:sup>
                                    <m:r>
                                      <a:rPr lang="en-US" sz="1800" i="1">
                                        <a:latin typeface="Cambria Math" panose="02040503050406030204" pitchFamily="18" charset="0"/>
                                      </a:rPr>
                                      <m:t>𝑛</m:t>
                                    </m:r>
                                  </m:sup>
                                </m:sSup>
                              </m:e>
                            </m:d>
                          </m:e>
                        </m:d>
                      </m:e>
                      <m:sup>
                        <m:r>
                          <a:rPr lang="en-US" sz="1800" b="0" i="1" dirty="0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endParaRPr lang="en-US" sz="1800" dirty="0"/>
              </a:p>
            </p:txBody>
          </p:sp>
        </mc:Choice>
        <mc:Fallback xmlns="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41F04C48-A0CE-8B41-41A8-B07800D158A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286902" y="5801481"/>
                <a:ext cx="7411901" cy="597087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752653822"/>
      </p:ext>
    </p:extLst>
  </p:cSld>
  <p:clrMapOvr>
    <a:masterClrMapping/>
  </p:clrMapOvr>
</p:sld>
</file>

<file path=ppt/slides/slide1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Oswald" panose="00000500000000000000" pitchFamily="2" charset="0"/>
              </a:rPr>
              <a:t>VFAs: </a:t>
            </a:r>
            <a:r>
              <a:rPr lang="en-US" dirty="0" err="1">
                <a:latin typeface="Oswald" panose="00000500000000000000" pitchFamily="2" charset="0"/>
              </a:rPr>
              <a:t>Stepsizes</a:t>
            </a:r>
            <a:endParaRPr lang="en-US" dirty="0">
              <a:latin typeface="Oswald" panose="00000500000000000000" pitchFamily="2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01812" y="1184800"/>
            <a:ext cx="10363200" cy="4401600"/>
          </a:xfrm>
        </p:spPr>
        <p:txBody>
          <a:bodyPr/>
          <a:lstStyle/>
          <a:p>
            <a:pPr marL="86360" indent="0">
              <a:buNone/>
            </a:pPr>
            <a:r>
              <a:rPr lang="en-US" sz="2400" dirty="0"/>
              <a:t>Single state, single action Markov chain</a:t>
            </a:r>
          </a:p>
          <a:p>
            <a:pPr lvl="1"/>
            <a:r>
              <a:rPr lang="en-US" sz="2000" dirty="0"/>
              <a:t>Updating – receives reward=1 at last node. All other rewards = 0. </a:t>
            </a:r>
          </a:p>
          <a:p>
            <a:pPr lvl="1"/>
            <a:endParaRPr lang="en-US" sz="2000" dirty="0"/>
          </a:p>
          <a:p>
            <a:pPr lvl="1"/>
            <a:endParaRPr lang="en-US" sz="2000" dirty="0"/>
          </a:p>
          <a:p>
            <a:pPr lvl="1"/>
            <a:r>
              <a:rPr lang="en-US" sz="2000" dirty="0"/>
              <a:t>Same as adding up random rewards with mean of 1.  Noise may be zero, or quite high.</a:t>
            </a:r>
          </a:p>
        </p:txBody>
      </p:sp>
      <p:sp>
        <p:nvSpPr>
          <p:cNvPr id="5" name="Oval 4"/>
          <p:cNvSpPr/>
          <p:nvPr/>
        </p:nvSpPr>
        <p:spPr>
          <a:xfrm>
            <a:off x="2044428" y="2331936"/>
            <a:ext cx="306421" cy="306421"/>
          </a:xfrm>
          <a:prstGeom prst="ellipse">
            <a:avLst/>
          </a:prstGeom>
          <a:ln w="28575">
            <a:solidFill>
              <a:schemeClr val="tx1"/>
            </a:solidFill>
          </a:ln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algn="ctr" eaLnBrk="0" fontAlgn="base" hangingPunct="0">
              <a:spcBef>
                <a:spcPct val="0"/>
              </a:spcBef>
              <a:spcAft>
                <a:spcPct val="0"/>
              </a:spcAft>
              <a:buClrTx/>
            </a:pPr>
            <a:endParaRPr lang="en-US" sz="1800" i="1">
              <a:solidFill>
                <a:schemeClr val="tx1"/>
              </a:solidFill>
              <a:latin typeface="Times New Roman" pitchFamily="18" charset="0"/>
            </a:endParaRPr>
          </a:p>
        </p:txBody>
      </p:sp>
      <p:cxnSp>
        <p:nvCxnSpPr>
          <p:cNvPr id="7" name="Straight Arrow Connector 6"/>
          <p:cNvCxnSpPr>
            <a:stCxn id="5" idx="6"/>
          </p:cNvCxnSpPr>
          <p:nvPr/>
        </p:nvCxnSpPr>
        <p:spPr bwMode="auto">
          <a:xfrm flipV="1">
            <a:off x="2350848" y="2477850"/>
            <a:ext cx="1079770" cy="7297"/>
          </a:xfrm>
          <a:prstGeom prst="straightConnector1">
            <a:avLst/>
          </a:prstGeom>
          <a:noFill/>
          <a:ln w="28575" cap="flat" cmpd="sng" algn="ctr">
            <a:solidFill>
              <a:schemeClr val="tx1"/>
            </a:solidFill>
            <a:prstDash val="solid"/>
            <a:round/>
            <a:headEnd type="none" w="med" len="med"/>
            <a:tailEnd type="arrow" w="med" len="med"/>
          </a:ln>
          <a:effectLst/>
        </p:spPr>
      </p:cxnSp>
      <p:sp>
        <p:nvSpPr>
          <p:cNvPr id="8" name="Oval 7"/>
          <p:cNvSpPr/>
          <p:nvPr/>
        </p:nvSpPr>
        <p:spPr>
          <a:xfrm>
            <a:off x="3422511" y="2328692"/>
            <a:ext cx="306421" cy="306421"/>
          </a:xfrm>
          <a:prstGeom prst="ellipse">
            <a:avLst/>
          </a:prstGeom>
          <a:ln w="28575">
            <a:solidFill>
              <a:schemeClr val="tx1"/>
            </a:solidFill>
          </a:ln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algn="ctr" eaLnBrk="0" fontAlgn="base" hangingPunct="0">
              <a:spcBef>
                <a:spcPct val="0"/>
              </a:spcBef>
              <a:spcAft>
                <a:spcPct val="0"/>
              </a:spcAft>
              <a:buClrTx/>
            </a:pPr>
            <a:endParaRPr lang="en-US" sz="1800" i="1">
              <a:solidFill>
                <a:schemeClr val="tx1"/>
              </a:solidFill>
              <a:latin typeface="Times New Roman" pitchFamily="18" charset="0"/>
            </a:endParaRPr>
          </a:p>
        </p:txBody>
      </p:sp>
      <p:cxnSp>
        <p:nvCxnSpPr>
          <p:cNvPr id="9" name="Straight Arrow Connector 8"/>
          <p:cNvCxnSpPr>
            <a:stCxn id="8" idx="6"/>
          </p:cNvCxnSpPr>
          <p:nvPr/>
        </p:nvCxnSpPr>
        <p:spPr bwMode="auto">
          <a:xfrm flipV="1">
            <a:off x="3728931" y="2474606"/>
            <a:ext cx="1079770" cy="7297"/>
          </a:xfrm>
          <a:prstGeom prst="straightConnector1">
            <a:avLst/>
          </a:prstGeom>
          <a:noFill/>
          <a:ln w="28575" cap="flat" cmpd="sng" algn="ctr">
            <a:solidFill>
              <a:schemeClr val="tx1"/>
            </a:solidFill>
            <a:prstDash val="solid"/>
            <a:round/>
            <a:headEnd type="none" w="med" len="med"/>
            <a:tailEnd type="arrow" w="med" len="med"/>
          </a:ln>
          <a:effectLst/>
        </p:spPr>
      </p:cxnSp>
      <p:sp>
        <p:nvSpPr>
          <p:cNvPr id="10" name="Oval 9"/>
          <p:cNvSpPr/>
          <p:nvPr/>
        </p:nvSpPr>
        <p:spPr>
          <a:xfrm>
            <a:off x="4813577" y="2328691"/>
            <a:ext cx="306421" cy="306421"/>
          </a:xfrm>
          <a:prstGeom prst="ellipse">
            <a:avLst/>
          </a:prstGeom>
          <a:ln w="28575">
            <a:solidFill>
              <a:schemeClr val="tx1"/>
            </a:solidFill>
          </a:ln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algn="ctr" eaLnBrk="0" fontAlgn="base" hangingPunct="0">
              <a:spcBef>
                <a:spcPct val="0"/>
              </a:spcBef>
              <a:spcAft>
                <a:spcPct val="0"/>
              </a:spcAft>
              <a:buClrTx/>
            </a:pPr>
            <a:endParaRPr lang="en-US" sz="1800" i="1">
              <a:solidFill>
                <a:schemeClr val="tx1"/>
              </a:solidFill>
              <a:latin typeface="Times New Roman" pitchFamily="18" charset="0"/>
            </a:endParaRPr>
          </a:p>
        </p:txBody>
      </p:sp>
      <p:cxnSp>
        <p:nvCxnSpPr>
          <p:cNvPr id="11" name="Straight Arrow Connector 10"/>
          <p:cNvCxnSpPr>
            <a:stCxn id="10" idx="6"/>
          </p:cNvCxnSpPr>
          <p:nvPr/>
        </p:nvCxnSpPr>
        <p:spPr bwMode="auto">
          <a:xfrm flipV="1">
            <a:off x="5119997" y="2474605"/>
            <a:ext cx="1079770" cy="7297"/>
          </a:xfrm>
          <a:prstGeom prst="straightConnector1">
            <a:avLst/>
          </a:prstGeom>
          <a:noFill/>
          <a:ln w="28575" cap="flat" cmpd="sng" algn="ctr">
            <a:solidFill>
              <a:schemeClr val="tx1"/>
            </a:solidFill>
            <a:prstDash val="solid"/>
            <a:round/>
            <a:headEnd type="none" w="med" len="med"/>
            <a:tailEnd type="arrow" w="med" len="med"/>
          </a:ln>
          <a:effectLst/>
        </p:spPr>
      </p:cxnSp>
      <p:sp>
        <p:nvSpPr>
          <p:cNvPr id="12" name="Oval 11"/>
          <p:cNvSpPr/>
          <p:nvPr/>
        </p:nvSpPr>
        <p:spPr>
          <a:xfrm>
            <a:off x="6191660" y="2325447"/>
            <a:ext cx="306421" cy="306421"/>
          </a:xfrm>
          <a:prstGeom prst="ellipse">
            <a:avLst/>
          </a:prstGeom>
          <a:ln w="28575">
            <a:solidFill>
              <a:schemeClr val="tx1"/>
            </a:solidFill>
          </a:ln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algn="ctr" eaLnBrk="0" fontAlgn="base" hangingPunct="0">
              <a:spcBef>
                <a:spcPct val="0"/>
              </a:spcBef>
              <a:spcAft>
                <a:spcPct val="0"/>
              </a:spcAft>
              <a:buClrTx/>
            </a:pPr>
            <a:endParaRPr lang="en-US" sz="1800" i="1">
              <a:solidFill>
                <a:schemeClr val="tx1"/>
              </a:solidFill>
              <a:latin typeface="Times New Roman" pitchFamily="18" charset="0"/>
            </a:endParaRPr>
          </a:p>
        </p:txBody>
      </p:sp>
      <p:cxnSp>
        <p:nvCxnSpPr>
          <p:cNvPr id="13" name="Straight Arrow Connector 12"/>
          <p:cNvCxnSpPr>
            <a:stCxn id="12" idx="6"/>
          </p:cNvCxnSpPr>
          <p:nvPr/>
        </p:nvCxnSpPr>
        <p:spPr bwMode="auto">
          <a:xfrm flipV="1">
            <a:off x="6498080" y="2471361"/>
            <a:ext cx="1079770" cy="7297"/>
          </a:xfrm>
          <a:prstGeom prst="straightConnector1">
            <a:avLst/>
          </a:prstGeom>
          <a:noFill/>
          <a:ln w="28575" cap="flat" cmpd="sng" algn="ctr">
            <a:solidFill>
              <a:schemeClr val="tx1"/>
            </a:solidFill>
            <a:prstDash val="solid"/>
            <a:round/>
            <a:headEnd type="none" w="med" len="med"/>
            <a:tailEnd type="arrow" w="med" len="med"/>
          </a:ln>
          <a:effectLst/>
        </p:spPr>
      </p:cxnSp>
      <p:sp>
        <p:nvSpPr>
          <p:cNvPr id="14" name="Oval 13"/>
          <p:cNvSpPr/>
          <p:nvPr/>
        </p:nvSpPr>
        <p:spPr>
          <a:xfrm>
            <a:off x="7569747" y="2322205"/>
            <a:ext cx="306421" cy="306421"/>
          </a:xfrm>
          <a:prstGeom prst="ellipse">
            <a:avLst/>
          </a:prstGeom>
          <a:ln w="28575">
            <a:solidFill>
              <a:schemeClr val="tx1"/>
            </a:solidFill>
          </a:ln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algn="ctr" eaLnBrk="0" fontAlgn="base" hangingPunct="0">
              <a:spcBef>
                <a:spcPct val="0"/>
              </a:spcBef>
              <a:spcAft>
                <a:spcPct val="0"/>
              </a:spcAft>
              <a:buClrTx/>
            </a:pPr>
            <a:endParaRPr lang="en-US" sz="1800" i="1">
              <a:solidFill>
                <a:schemeClr val="tx1"/>
              </a:solidFill>
              <a:latin typeface="Times New Roman" pitchFamily="18" charset="0"/>
            </a:endParaRPr>
          </a:p>
        </p:txBody>
      </p:sp>
      <p:cxnSp>
        <p:nvCxnSpPr>
          <p:cNvPr id="15" name="Straight Arrow Connector 14"/>
          <p:cNvCxnSpPr/>
          <p:nvPr/>
        </p:nvCxnSpPr>
        <p:spPr bwMode="auto">
          <a:xfrm flipV="1">
            <a:off x="7895622" y="2468117"/>
            <a:ext cx="1079770" cy="7297"/>
          </a:xfrm>
          <a:prstGeom prst="straightConnector1">
            <a:avLst/>
          </a:prstGeom>
          <a:noFill/>
          <a:ln w="28575" cap="flat" cmpd="sng" algn="ctr">
            <a:solidFill>
              <a:schemeClr val="tx1"/>
            </a:solidFill>
            <a:prstDash val="solid"/>
            <a:round/>
            <a:headEnd type="none" w="med" len="med"/>
            <a:tailEnd type="arrow" w="med" len="med"/>
          </a:ln>
          <a:effectLst/>
        </p:spPr>
      </p:cxnSp>
      <p:sp>
        <p:nvSpPr>
          <p:cNvPr id="16" name="Oval 15"/>
          <p:cNvSpPr/>
          <p:nvPr/>
        </p:nvSpPr>
        <p:spPr>
          <a:xfrm>
            <a:off x="8967289" y="2318961"/>
            <a:ext cx="306421" cy="306421"/>
          </a:xfrm>
          <a:prstGeom prst="ellipse">
            <a:avLst/>
          </a:prstGeom>
          <a:ln w="28575">
            <a:solidFill>
              <a:schemeClr val="tx1"/>
            </a:solidFill>
          </a:ln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algn="ctr" eaLnBrk="0" fontAlgn="base" hangingPunct="0">
              <a:spcBef>
                <a:spcPct val="0"/>
              </a:spcBef>
              <a:spcAft>
                <a:spcPct val="0"/>
              </a:spcAft>
              <a:buClrTx/>
            </a:pPr>
            <a:endParaRPr lang="en-US" sz="1800" i="1">
              <a:solidFill>
                <a:schemeClr val="tx1"/>
              </a:solidFill>
              <a:latin typeface="Times New Roman" pitchFamily="18" charset="0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2681589" y="2114675"/>
            <a:ext cx="327334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sz="2000" dirty="0"/>
              <a:t>0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049950" y="2121161"/>
            <a:ext cx="327334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sz="2000" dirty="0"/>
              <a:t>0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525310" y="2127641"/>
            <a:ext cx="327334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sz="2000" dirty="0"/>
              <a:t>0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845033" y="2143853"/>
            <a:ext cx="327334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sz="2000" dirty="0"/>
              <a:t>0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213394" y="2101698"/>
            <a:ext cx="327334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sz="2000" dirty="0"/>
              <a:t>0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046048" y="2276803"/>
            <a:ext cx="327334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sz="2000" dirty="0"/>
              <a:t>0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433044" y="2280042"/>
            <a:ext cx="327334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sz="2000" dirty="0"/>
              <a:t>1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830590" y="2286522"/>
            <a:ext cx="327334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sz="2000" dirty="0"/>
              <a:t>2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198947" y="2273551"/>
            <a:ext cx="327334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sz="2000" dirty="0"/>
              <a:t>3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567305" y="2270308"/>
            <a:ext cx="327334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sz="2000" dirty="0"/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964847" y="2247608"/>
            <a:ext cx="327334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sz="2000" dirty="0"/>
              <a:t>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426112" y="2079001"/>
            <a:ext cx="327334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sz="2000" dirty="0"/>
              <a:t>1</a:t>
            </a:r>
          </a:p>
        </p:txBody>
      </p:sp>
      <p:cxnSp>
        <p:nvCxnSpPr>
          <p:cNvPr id="28" name="Straight Arrow Connector 27"/>
          <p:cNvCxnSpPr/>
          <p:nvPr/>
        </p:nvCxnSpPr>
        <p:spPr bwMode="auto">
          <a:xfrm flipV="1">
            <a:off x="9254255" y="2455144"/>
            <a:ext cx="1079770" cy="7297"/>
          </a:xfrm>
          <a:prstGeom prst="straightConnector1">
            <a:avLst/>
          </a:prstGeom>
          <a:noFill/>
          <a:ln w="28575" cap="flat" cmpd="sng" algn="ctr">
            <a:solidFill>
              <a:schemeClr val="tx1"/>
            </a:solidFill>
            <a:prstDash val="solid"/>
            <a:round/>
            <a:headEnd type="none" w="med" len="med"/>
            <a:tailEnd type="arrow" w="med" len="med"/>
          </a:ln>
          <a:effectLst/>
        </p:spPr>
      </p:cxnSp>
      <p:pic>
        <p:nvPicPr>
          <p:cNvPr id="30" name="Picture 29"/>
          <p:cNvPicPr>
            <a:picLocks noChangeAspect="1"/>
          </p:cNvPicPr>
          <p:nvPr/>
        </p:nvPicPr>
        <p:blipFill>
          <a:blip r:embed="rId2"/>
          <a:srcRect t="9963" b="12736"/>
          <a:stretch>
            <a:fillRect/>
          </a:stretch>
        </p:blipFill>
        <p:spPr>
          <a:xfrm>
            <a:off x="2247636" y="3385600"/>
            <a:ext cx="7210015" cy="3107249"/>
          </a:xfrm>
          <a:prstGeom prst="rect">
            <a:avLst/>
          </a:prstGeom>
        </p:spPr>
      </p:pic>
      <p:sp>
        <p:nvSpPr>
          <p:cNvPr id="31" name="Oval 30">
            <a:extLst>
              <a:ext uri="{FF2B5EF4-FFF2-40B4-BE49-F238E27FC236}">
                <a16:creationId xmlns:a16="http://schemas.microsoft.com/office/drawing/2014/main" id="{498178BF-2538-EF5F-F6D8-F5C4F79DF25D}"/>
              </a:ext>
            </a:extLst>
          </p:cNvPr>
          <p:cNvSpPr/>
          <p:nvPr/>
        </p:nvSpPr>
        <p:spPr>
          <a:xfrm>
            <a:off x="7051250" y="4345759"/>
            <a:ext cx="801278" cy="282804"/>
          </a:xfrm>
          <a:prstGeom prst="ellipse">
            <a:avLst/>
          </a:prstGeom>
          <a:noFill/>
          <a:ln w="19050">
            <a:solidFill>
              <a:schemeClr val="accent2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3" name="Oval 32">
            <a:extLst>
              <a:ext uri="{FF2B5EF4-FFF2-40B4-BE49-F238E27FC236}">
                <a16:creationId xmlns:a16="http://schemas.microsoft.com/office/drawing/2014/main" id="{8D42EE49-FFC0-4CE2-6788-332B1B3298C2}"/>
              </a:ext>
            </a:extLst>
          </p:cNvPr>
          <p:cNvSpPr/>
          <p:nvPr/>
        </p:nvSpPr>
        <p:spPr>
          <a:xfrm>
            <a:off x="5808483" y="4573575"/>
            <a:ext cx="801278" cy="282804"/>
          </a:xfrm>
          <a:prstGeom prst="ellipse">
            <a:avLst/>
          </a:prstGeom>
          <a:noFill/>
          <a:ln w="19050">
            <a:solidFill>
              <a:schemeClr val="accent2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5" name="Oval 34">
            <a:extLst>
              <a:ext uri="{FF2B5EF4-FFF2-40B4-BE49-F238E27FC236}">
                <a16:creationId xmlns:a16="http://schemas.microsoft.com/office/drawing/2014/main" id="{72236452-0172-06DA-F85A-24DACFE4AE50}"/>
              </a:ext>
            </a:extLst>
          </p:cNvPr>
          <p:cNvSpPr/>
          <p:nvPr/>
        </p:nvSpPr>
        <p:spPr>
          <a:xfrm>
            <a:off x="4603420" y="4773110"/>
            <a:ext cx="801278" cy="282804"/>
          </a:xfrm>
          <a:prstGeom prst="ellipse">
            <a:avLst/>
          </a:prstGeom>
          <a:noFill/>
          <a:ln w="19050">
            <a:solidFill>
              <a:schemeClr val="accent2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7" name="Oval 36">
            <a:extLst>
              <a:ext uri="{FF2B5EF4-FFF2-40B4-BE49-F238E27FC236}">
                <a16:creationId xmlns:a16="http://schemas.microsoft.com/office/drawing/2014/main" id="{DEE7C118-0D7E-181E-3A0E-0E85A951034F}"/>
              </a:ext>
            </a:extLst>
          </p:cNvPr>
          <p:cNvSpPr/>
          <p:nvPr/>
        </p:nvSpPr>
        <p:spPr>
          <a:xfrm>
            <a:off x="3341800" y="4972645"/>
            <a:ext cx="801278" cy="282804"/>
          </a:xfrm>
          <a:prstGeom prst="ellipse">
            <a:avLst/>
          </a:prstGeom>
          <a:noFill/>
          <a:ln w="19050">
            <a:solidFill>
              <a:schemeClr val="accent2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CF950CB9-16ED-4BC1-FBD8-7CF341358A87}"/>
              </a:ext>
            </a:extLst>
          </p:cNvPr>
          <p:cNvSpPr txBox="1"/>
          <p:nvPr/>
        </p:nvSpPr>
        <p:spPr>
          <a:xfrm>
            <a:off x="465679" y="4277504"/>
            <a:ext cx="2191395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>
                <a:solidFill>
                  <a:schemeClr val="accent2">
                    <a:lumMod val="75000"/>
                  </a:schemeClr>
                </a:solidFill>
                <a:latin typeface="Raleway" pitchFamily="2" charset="0"/>
              </a:rPr>
              <a:t>Very slow backward communication of rewards when using forward ADP, with a 1/n </a:t>
            </a:r>
            <a:r>
              <a:rPr lang="en-US" sz="1600" dirty="0" err="1">
                <a:solidFill>
                  <a:schemeClr val="accent2">
                    <a:lumMod val="75000"/>
                  </a:schemeClr>
                </a:solidFill>
                <a:latin typeface="Raleway" pitchFamily="2" charset="0"/>
              </a:rPr>
              <a:t>stepsize</a:t>
            </a:r>
            <a:r>
              <a:rPr lang="en-US" sz="1600" dirty="0">
                <a:solidFill>
                  <a:schemeClr val="accent2">
                    <a:lumMod val="75000"/>
                  </a:schemeClr>
                </a:solidFill>
                <a:latin typeface="Raleway" pitchFamily="2" charset="0"/>
              </a:rPr>
              <a:t>.</a:t>
            </a:r>
          </a:p>
        </p:txBody>
      </p:sp>
      <p:sp>
        <p:nvSpPr>
          <p:cNvPr id="40" name="Oval 39">
            <a:extLst>
              <a:ext uri="{FF2B5EF4-FFF2-40B4-BE49-F238E27FC236}">
                <a16:creationId xmlns:a16="http://schemas.microsoft.com/office/drawing/2014/main" id="{15C89B99-52F4-E5DA-ABE6-8CC9B814F588}"/>
              </a:ext>
            </a:extLst>
          </p:cNvPr>
          <p:cNvSpPr/>
          <p:nvPr/>
        </p:nvSpPr>
        <p:spPr>
          <a:xfrm>
            <a:off x="8325441" y="4139938"/>
            <a:ext cx="801278" cy="282804"/>
          </a:xfrm>
          <a:prstGeom prst="ellipse">
            <a:avLst/>
          </a:prstGeom>
          <a:noFill/>
          <a:ln w="19050">
            <a:solidFill>
              <a:schemeClr val="accent2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62433089"/>
      </p:ext>
    </p:extLst>
  </p:cSld>
  <p:clrMapOvr>
    <a:masterClrMapping/>
  </p:clrMapOvr>
</p:sld>
</file>

<file path=ppt/slides/slide1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1778" name="Rectangle 2"/>
          <p:cNvSpPr>
            <a:spLocks noGrp="1" noChangeArrowheads="1"/>
          </p:cNvSpPr>
          <p:nvPr>
            <p:ph type="title" idx="4294967295"/>
          </p:nvPr>
        </p:nvSpPr>
        <p:spPr/>
        <p:txBody>
          <a:bodyPr/>
          <a:lstStyle/>
          <a:p>
            <a:r>
              <a:rPr lang="en-US" sz="3200" dirty="0">
                <a:latin typeface="Oswald" panose="00000500000000000000" pitchFamily="2" charset="0"/>
              </a:rPr>
              <a:t>VFAs: </a:t>
            </a:r>
            <a:r>
              <a:rPr lang="en-US" sz="3200" dirty="0" err="1">
                <a:latin typeface="Oswald" panose="00000500000000000000" pitchFamily="2" charset="0"/>
              </a:rPr>
              <a:t>Stepsizes</a:t>
            </a:r>
            <a:endParaRPr lang="en-US" sz="3200" dirty="0">
              <a:latin typeface="Oswald" panose="00000500000000000000" pitchFamily="2" charset="0"/>
            </a:endParaRPr>
          </a:p>
        </p:txBody>
      </p:sp>
      <p:sp>
        <p:nvSpPr>
          <p:cNvPr id="971779" name="Rectangle 3"/>
          <p:cNvSpPr>
            <a:spLocks noGrp="1" noChangeArrowheads="1"/>
          </p:cNvSpPr>
          <p:nvPr>
            <p:ph type="body" idx="4294967295"/>
          </p:nvPr>
        </p:nvSpPr>
        <p:spPr>
          <a:xfrm>
            <a:off x="424206" y="1058157"/>
            <a:ext cx="5213350" cy="4953000"/>
          </a:xfrm>
        </p:spPr>
        <p:txBody>
          <a:bodyPr/>
          <a:lstStyle/>
          <a:p>
            <a:pPr marL="86360" indent="0">
              <a:buNone/>
            </a:pPr>
            <a:r>
              <a:rPr lang="en-US" altLang="en-US" sz="2400" dirty="0">
                <a:latin typeface="Raleway" pitchFamily="2" charset="0"/>
              </a:rPr>
              <a:t>Bound on rate of convergence using ADP:</a:t>
            </a:r>
          </a:p>
          <a:p>
            <a:pPr lvl="1">
              <a:buSzPct val="80000"/>
              <a:buFont typeface="Wingdings" panose="05000000000000000000" pitchFamily="2" charset="2"/>
              <a:buChar char="Ø"/>
            </a:pPr>
            <a:endParaRPr lang="en-US" altLang="en-US" sz="1200" dirty="0">
              <a:latin typeface="Raleway" pitchFamily="2" charset="0"/>
            </a:endParaRPr>
          </a:p>
          <a:p>
            <a:pPr>
              <a:buSzPct val="80000"/>
              <a:buFont typeface="Wingdings" panose="05000000000000000000" pitchFamily="2" charset="2"/>
              <a:buChar char="Ø"/>
            </a:pPr>
            <a:r>
              <a:rPr lang="en-US" altLang="en-US" sz="2000" dirty="0">
                <a:latin typeface="Raleway" pitchFamily="2" charset="0"/>
              </a:rPr>
              <a:t>Single state, single action problem</a:t>
            </a:r>
          </a:p>
          <a:p>
            <a:pPr>
              <a:buSzPct val="80000"/>
              <a:buFont typeface="Wingdings" panose="05000000000000000000" pitchFamily="2" charset="2"/>
              <a:buChar char="Ø"/>
            </a:pPr>
            <a:endParaRPr lang="en-US" altLang="en-US" sz="2000" dirty="0">
              <a:latin typeface="Raleway" pitchFamily="2" charset="0"/>
            </a:endParaRPr>
          </a:p>
          <a:p>
            <a:pPr>
              <a:buSzPct val="80000"/>
              <a:buFont typeface="Wingdings" panose="05000000000000000000" pitchFamily="2" charset="2"/>
              <a:buChar char="Ø"/>
            </a:pPr>
            <a:endParaRPr lang="en-US" altLang="en-US" sz="2000" dirty="0">
              <a:latin typeface="Raleway" pitchFamily="2" charset="0"/>
            </a:endParaRPr>
          </a:p>
          <a:p>
            <a:pPr>
              <a:buSzPct val="80000"/>
              <a:buFont typeface="Wingdings" panose="05000000000000000000" pitchFamily="2" charset="2"/>
              <a:buChar char="Ø"/>
            </a:pPr>
            <a:r>
              <a:rPr lang="en-US" altLang="en-US" sz="2000" dirty="0">
                <a:latin typeface="Raleway" pitchFamily="2" charset="0"/>
              </a:rPr>
              <a:t>Discounted sum of costs over infinite horizon:</a:t>
            </a:r>
          </a:p>
          <a:p>
            <a:pPr>
              <a:buSzPct val="80000"/>
              <a:buFont typeface="Wingdings" panose="05000000000000000000" pitchFamily="2" charset="2"/>
              <a:buChar char="Ø"/>
            </a:pPr>
            <a:endParaRPr lang="en-US" altLang="en-US" sz="2000" dirty="0">
              <a:latin typeface="Raleway" pitchFamily="2" charset="0"/>
            </a:endParaRPr>
          </a:p>
          <a:p>
            <a:pPr>
              <a:buSzPct val="80000"/>
              <a:buFont typeface="Wingdings" panose="05000000000000000000" pitchFamily="2" charset="2"/>
              <a:buChar char="Ø"/>
            </a:pPr>
            <a:endParaRPr lang="en-US" altLang="en-US" sz="2000" dirty="0">
              <a:latin typeface="Raleway" pitchFamily="2" charset="0"/>
            </a:endParaRPr>
          </a:p>
          <a:p>
            <a:pPr>
              <a:buSzPct val="80000"/>
              <a:buFont typeface="Wingdings" panose="05000000000000000000" pitchFamily="2" charset="2"/>
              <a:buChar char="Ø"/>
            </a:pPr>
            <a:r>
              <a:rPr lang="en-US" altLang="en-US" sz="2000" dirty="0">
                <a:latin typeface="Raleway" pitchFamily="2" charset="0"/>
              </a:rPr>
              <a:t>Computed the infinite discounted sum using approximate DP:</a:t>
            </a:r>
          </a:p>
        </p:txBody>
      </p:sp>
      <p:pic>
        <p:nvPicPr>
          <p:cNvPr id="971780" name="Picture 5"/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224" t="76804" r="33272" b="10495"/>
          <a:stretch/>
        </p:blipFill>
        <p:spPr bwMode="auto">
          <a:xfrm>
            <a:off x="5830757" y="1762967"/>
            <a:ext cx="5068888" cy="8413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rgbClr val="000000"/>
                </a:solidFill>
                <a:miter lim="800000"/>
                <a:headEnd/>
                <a:tailEnd type="none" w="lg" len="lg"/>
              </a14:hiddenLine>
            </a:ext>
          </a:extLst>
        </p:spPr>
      </p:pic>
      <p:grpSp>
        <p:nvGrpSpPr>
          <p:cNvPr id="971781" name="Group 5"/>
          <p:cNvGrpSpPr>
            <a:grpSpLocks/>
          </p:cNvGrpSpPr>
          <p:nvPr/>
        </p:nvGrpSpPr>
        <p:grpSpPr bwMode="auto">
          <a:xfrm>
            <a:off x="6055210" y="2630241"/>
            <a:ext cx="5319713" cy="3789363"/>
            <a:chOff x="1006" y="1572"/>
            <a:chExt cx="3351" cy="2387"/>
          </a:xfrm>
        </p:grpSpPr>
        <p:pic>
          <p:nvPicPr>
            <p:cNvPr id="971782" name="Picture 4"/>
            <p:cNvPicPr>
              <a:picLocks noChangeAspect="1" noChangeArrowheads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3716" t="5331" r="6557" b="15536"/>
            <a:stretch>
              <a:fillRect/>
            </a:stretch>
          </p:blipFill>
          <p:spPr bwMode="auto">
            <a:xfrm>
              <a:off x="1006" y="1572"/>
              <a:ext cx="3284" cy="237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rgbClr val="000000"/>
                  </a:solidFill>
                  <a:miter lim="800000"/>
                  <a:headEnd/>
                  <a:tailEnd type="none" w="lg" len="lg"/>
                </a14:hiddenLine>
              </a:ext>
            </a:extLst>
          </p:spPr>
        </p:pic>
        <p:sp>
          <p:nvSpPr>
            <p:cNvPr id="971783" name="Rectangle 6"/>
            <p:cNvSpPr>
              <a:spLocks noChangeArrowheads="1"/>
            </p:cNvSpPr>
            <p:nvPr/>
          </p:nvSpPr>
          <p:spPr bwMode="auto">
            <a:xfrm>
              <a:off x="1184" y="3760"/>
              <a:ext cx="3112" cy="192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38100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defRPr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defRPr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defRPr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defRPr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endParaRPr lang="en-US" alt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971784" name="Object 7"/>
                <p:cNvSpPr txBox="1"/>
                <p:nvPr/>
              </p:nvSpPr>
              <p:spPr bwMode="auto">
                <a:xfrm>
                  <a:off x="1551" y="3775"/>
                  <a:ext cx="207" cy="184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</p:spPr>
              <p:txBody>
                <a:bodyPr>
                  <a:normAutofit fontScale="92500"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left"/>
                      </m:oMathParaPr>
                      <m:oMath>
                        <m:r>
                          <a:rPr lang="en-US" i="1">
                            <a:latin typeface="Cambria Math" panose="02040503050406030204" pitchFamily="18" charset="0"/>
                          </a:rPr>
                          <m:t>1</m:t>
                        </m:r>
                        <m:sSup>
                          <m:sSup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0</m:t>
                            </m:r>
                          </m:e>
                          <m:sup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oMath>
                    </m:oMathPara>
                  </a14:m>
                  <a:endParaRPr lang="en-US"/>
                </a:p>
              </p:txBody>
            </p:sp>
          </mc:Choice>
          <mc:Fallback xmlns="">
            <p:sp>
              <p:nvSpPr>
                <p:cNvPr id="971784" name="Object 7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 bwMode="auto">
                <a:xfrm>
                  <a:off x="1551" y="3775"/>
                  <a:ext cx="207" cy="184"/>
                </a:xfrm>
                <a:prstGeom prst="rect">
                  <a:avLst/>
                </a:prstGeom>
                <a:blipFill>
                  <a:blip r:embed="rId5"/>
                  <a:stretch>
                    <a:fillRect r="-18519"/>
                  </a:stretch>
                </a:blipFill>
                <a:ln>
                  <a:noFill/>
                </a:ln>
                <a:effectLst/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971785" name="Object 8"/>
                <p:cNvSpPr txBox="1"/>
                <p:nvPr/>
              </p:nvSpPr>
              <p:spPr bwMode="auto">
                <a:xfrm>
                  <a:off x="2064" y="3760"/>
                  <a:ext cx="207" cy="184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</p:spPr>
              <p:txBody>
                <a:bodyPr>
                  <a:normAutofit fontScale="92500"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left"/>
                      </m:oMathParaPr>
                      <m:oMath>
                        <m:r>
                          <a:rPr lang="en-US" i="1">
                            <a:latin typeface="Cambria Math" panose="02040503050406030204" pitchFamily="18" charset="0"/>
                          </a:rPr>
                          <m:t>1</m:t>
                        </m:r>
                        <m:sSup>
                          <m:sSup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0</m:t>
                            </m:r>
                          </m:e>
                          <m:sup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4</m:t>
                            </m:r>
                          </m:sup>
                        </m:sSup>
                      </m:oMath>
                    </m:oMathPara>
                  </a14:m>
                  <a:endParaRPr lang="en-US"/>
                </a:p>
              </p:txBody>
            </p:sp>
          </mc:Choice>
          <mc:Fallback xmlns="">
            <p:sp>
              <p:nvSpPr>
                <p:cNvPr id="971785" name="Object 8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 bwMode="auto">
                <a:xfrm>
                  <a:off x="2064" y="3760"/>
                  <a:ext cx="207" cy="184"/>
                </a:xfrm>
                <a:prstGeom prst="rect">
                  <a:avLst/>
                </a:prstGeom>
                <a:blipFill>
                  <a:blip r:embed="rId6"/>
                  <a:stretch>
                    <a:fillRect r="-18519"/>
                  </a:stretch>
                </a:blipFill>
                <a:ln>
                  <a:noFill/>
                </a:ln>
                <a:effectLst/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971786" name="Object 9"/>
                <p:cNvSpPr txBox="1"/>
                <p:nvPr/>
              </p:nvSpPr>
              <p:spPr bwMode="auto">
                <a:xfrm>
                  <a:off x="2593" y="3761"/>
                  <a:ext cx="207" cy="184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</p:spPr>
              <p:txBody>
                <a:bodyPr>
                  <a:normAutofit fontScale="92500"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left"/>
                      </m:oMathParaPr>
                      <m:oMath>
                        <m:r>
                          <a:rPr lang="en-US" i="1">
                            <a:latin typeface="Cambria Math" panose="02040503050406030204" pitchFamily="18" charset="0"/>
                          </a:rPr>
                          <m:t>1</m:t>
                        </m:r>
                        <m:sSup>
                          <m:sSup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0</m:t>
                            </m:r>
                          </m:e>
                          <m:sup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6</m:t>
                            </m:r>
                          </m:sup>
                        </m:sSup>
                      </m:oMath>
                    </m:oMathPara>
                  </a14:m>
                  <a:endParaRPr lang="en-US"/>
                </a:p>
              </p:txBody>
            </p:sp>
          </mc:Choice>
          <mc:Fallback xmlns="">
            <p:sp>
              <p:nvSpPr>
                <p:cNvPr id="971786" name="Object 9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 bwMode="auto">
                <a:xfrm>
                  <a:off x="2593" y="3761"/>
                  <a:ext cx="207" cy="184"/>
                </a:xfrm>
                <a:prstGeom prst="rect">
                  <a:avLst/>
                </a:prstGeom>
                <a:blipFill>
                  <a:blip r:embed="rId7"/>
                  <a:stretch>
                    <a:fillRect r="-20755"/>
                  </a:stretch>
                </a:blipFill>
                <a:ln>
                  <a:noFill/>
                </a:ln>
                <a:effectLst/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971787" name="Object 10"/>
                <p:cNvSpPr txBox="1"/>
                <p:nvPr/>
              </p:nvSpPr>
              <p:spPr bwMode="auto">
                <a:xfrm>
                  <a:off x="3098" y="3762"/>
                  <a:ext cx="207" cy="184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</p:spPr>
              <p:txBody>
                <a:bodyPr>
                  <a:normAutofit fontScale="92500"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left"/>
                      </m:oMathParaPr>
                      <m:oMath>
                        <m:r>
                          <a:rPr lang="en-US" i="1">
                            <a:latin typeface="Cambria Math" panose="02040503050406030204" pitchFamily="18" charset="0"/>
                          </a:rPr>
                          <m:t>1</m:t>
                        </m:r>
                        <m:sSup>
                          <m:sSup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0</m:t>
                            </m:r>
                          </m:e>
                          <m:sup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8</m:t>
                            </m:r>
                          </m:sup>
                        </m:sSup>
                      </m:oMath>
                    </m:oMathPara>
                  </a14:m>
                  <a:endParaRPr lang="en-US"/>
                </a:p>
              </p:txBody>
            </p:sp>
          </mc:Choice>
          <mc:Fallback xmlns="">
            <p:sp>
              <p:nvSpPr>
                <p:cNvPr id="971787" name="Object 10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 bwMode="auto">
                <a:xfrm>
                  <a:off x="3098" y="3762"/>
                  <a:ext cx="207" cy="184"/>
                </a:xfrm>
                <a:prstGeom prst="rect">
                  <a:avLst/>
                </a:prstGeom>
                <a:blipFill>
                  <a:blip r:embed="rId8"/>
                  <a:stretch>
                    <a:fillRect r="-18519"/>
                  </a:stretch>
                </a:blipFill>
                <a:ln>
                  <a:noFill/>
                </a:ln>
                <a:effectLst/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971788" name="Object 11"/>
                <p:cNvSpPr txBox="1"/>
                <p:nvPr/>
              </p:nvSpPr>
              <p:spPr bwMode="auto">
                <a:xfrm>
                  <a:off x="3601" y="3763"/>
                  <a:ext cx="242" cy="184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</p:spPr>
              <p:txBody>
                <a:bodyPr>
                  <a:normAutofit fontScale="92500"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left"/>
                      </m:oMathParaPr>
                      <m:oMath>
                        <m:r>
                          <a:rPr lang="en-US" i="1">
                            <a:latin typeface="Cambria Math" panose="02040503050406030204" pitchFamily="18" charset="0"/>
                          </a:rPr>
                          <m:t>1</m:t>
                        </m:r>
                        <m:sSup>
                          <m:sSup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0</m:t>
                            </m:r>
                          </m:e>
                          <m:sup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10</m:t>
                            </m:r>
                          </m:sup>
                        </m:sSup>
                      </m:oMath>
                    </m:oMathPara>
                  </a14:m>
                  <a:endParaRPr lang="en-US"/>
                </a:p>
              </p:txBody>
            </p:sp>
          </mc:Choice>
          <mc:Fallback xmlns="">
            <p:sp>
              <p:nvSpPr>
                <p:cNvPr id="971788" name="Object 11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 bwMode="auto">
                <a:xfrm>
                  <a:off x="3601" y="3763"/>
                  <a:ext cx="242" cy="184"/>
                </a:xfrm>
                <a:prstGeom prst="rect">
                  <a:avLst/>
                </a:prstGeom>
                <a:blipFill>
                  <a:blip r:embed="rId9"/>
                  <a:stretch>
                    <a:fillRect r="-19048"/>
                  </a:stretch>
                </a:blipFill>
                <a:ln>
                  <a:noFill/>
                </a:ln>
                <a:effectLst/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971789" name="Object 12"/>
                <p:cNvSpPr txBox="1"/>
                <p:nvPr/>
              </p:nvSpPr>
              <p:spPr bwMode="auto">
                <a:xfrm>
                  <a:off x="4114" y="3756"/>
                  <a:ext cx="243" cy="184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</p:spPr>
              <p:txBody>
                <a:bodyPr>
                  <a:normAutofit fontScale="92500"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left"/>
                      </m:oMathParaPr>
                      <m:oMath>
                        <m:r>
                          <a:rPr lang="en-US" i="1">
                            <a:latin typeface="Cambria Math" panose="02040503050406030204" pitchFamily="18" charset="0"/>
                          </a:rPr>
                          <m:t>1</m:t>
                        </m:r>
                        <m:sSup>
                          <m:sSup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0</m:t>
                            </m:r>
                          </m:e>
                          <m:sup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12</m:t>
                            </m:r>
                          </m:sup>
                        </m:sSup>
                      </m:oMath>
                    </m:oMathPara>
                  </a14:m>
                  <a:endParaRPr lang="en-US"/>
                </a:p>
              </p:txBody>
            </p:sp>
          </mc:Choice>
          <mc:Fallback xmlns="">
            <p:sp>
              <p:nvSpPr>
                <p:cNvPr id="971789" name="Object 12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 bwMode="auto">
                <a:xfrm>
                  <a:off x="4114" y="3756"/>
                  <a:ext cx="243" cy="184"/>
                </a:xfrm>
                <a:prstGeom prst="rect">
                  <a:avLst/>
                </a:prstGeom>
                <a:blipFill>
                  <a:blip r:embed="rId10"/>
                  <a:stretch>
                    <a:fillRect r="-19048"/>
                  </a:stretch>
                </a:blipFill>
                <a:ln>
                  <a:noFill/>
                </a:ln>
                <a:effectLst/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sp>
        <p:nvSpPr>
          <p:cNvPr id="3" name="Oval 2"/>
          <p:cNvSpPr/>
          <p:nvPr/>
        </p:nvSpPr>
        <p:spPr>
          <a:xfrm>
            <a:off x="2655663" y="2789172"/>
            <a:ext cx="535021" cy="186261"/>
          </a:xfrm>
          <a:prstGeom prst="ellipse">
            <a:avLst/>
          </a:prstGeom>
          <a:ln w="19050">
            <a:solidFill>
              <a:schemeClr val="tx1"/>
            </a:solidFill>
          </a:ln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algn="ctr" eaLnBrk="0" fontAlgn="base" hangingPunct="0">
              <a:spcBef>
                <a:spcPct val="0"/>
              </a:spcBef>
              <a:spcAft>
                <a:spcPct val="0"/>
              </a:spcAft>
              <a:buClrTx/>
            </a:pPr>
            <a:endParaRPr lang="en-US" sz="1800" i="1">
              <a:solidFill>
                <a:schemeClr val="tx1"/>
              </a:solidFill>
              <a:latin typeface="Times New Roman" pitchFamily="18" charset="0"/>
            </a:endParaRPr>
          </a:p>
        </p:txBody>
      </p:sp>
      <p:sp>
        <p:nvSpPr>
          <p:cNvPr id="15" name="Oval 14"/>
          <p:cNvSpPr/>
          <p:nvPr/>
        </p:nvSpPr>
        <p:spPr>
          <a:xfrm>
            <a:off x="2446517" y="2712701"/>
            <a:ext cx="306421" cy="306421"/>
          </a:xfrm>
          <a:prstGeom prst="ellipse">
            <a:avLst/>
          </a:prstGeom>
          <a:solidFill>
            <a:schemeClr val="bg1"/>
          </a:solidFill>
          <a:ln w="28575">
            <a:solidFill>
              <a:schemeClr val="tx1"/>
            </a:solidFill>
          </a:ln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algn="ctr" eaLnBrk="0" fontAlgn="base" hangingPunct="0">
              <a:spcBef>
                <a:spcPct val="0"/>
              </a:spcBef>
              <a:spcAft>
                <a:spcPct val="0"/>
              </a:spcAft>
              <a:buClrTx/>
            </a:pPr>
            <a:endParaRPr lang="en-US" sz="1800" i="1">
              <a:solidFill>
                <a:schemeClr val="tx1"/>
              </a:solidFill>
              <a:latin typeface="Times New Roman" pitchFamily="18" charset="0"/>
            </a:endParaRPr>
          </a:p>
        </p:txBody>
      </p:sp>
      <p:cxnSp>
        <p:nvCxnSpPr>
          <p:cNvPr id="5" name="Straight Arrow Connector 4"/>
          <p:cNvCxnSpPr/>
          <p:nvPr/>
        </p:nvCxnSpPr>
        <p:spPr bwMode="auto">
          <a:xfrm flipH="1">
            <a:off x="2718775" y="2789172"/>
            <a:ext cx="189159" cy="27277"/>
          </a:xfrm>
          <a:prstGeom prst="straightConnector1">
            <a:avLst/>
          </a:prstGeom>
          <a:noFill/>
          <a:ln w="19050" cap="flat" cmpd="sng" algn="ctr">
            <a:solidFill>
              <a:schemeClr val="tx1"/>
            </a:solidFill>
            <a:prstDash val="solid"/>
            <a:round/>
            <a:headEnd type="none" w="med" len="med"/>
            <a:tailEnd type="arrow" w="med" len="med"/>
          </a:ln>
          <a:effectLst/>
        </p:spPr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/>
              <p:cNvSpPr txBox="1"/>
              <p:nvPr/>
            </p:nvSpPr>
            <p:spPr>
              <a:xfrm>
                <a:off x="6297758" y="1346212"/>
                <a:ext cx="3327009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en-US" sz="2000" dirty="0">
                    <a:latin typeface="Raleway" pitchFamily="2" charset="0"/>
                  </a:rPr>
                  <a:t>Lower bound on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20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acc>
                          <m:accPr>
                            <m:chr m:val="̄"/>
                            <m:ctrlPr>
                              <a:rPr lang="en-US" sz="2000" i="1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sz="2000" i="1">
                                <a:latin typeface="Cambria Math" panose="02040503050406030204" pitchFamily="18" charset="0"/>
                              </a:rPr>
                              <m:t>𝑣</m:t>
                            </m:r>
                          </m:e>
                        </m:acc>
                      </m:e>
                      <m:sup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+1</m:t>
                        </m:r>
                      </m:sup>
                    </m:sSup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:</m:t>
                    </m:r>
                  </m:oMath>
                </a14:m>
                <a:r>
                  <a:rPr lang="en-US" altLang="en-US" sz="2000" dirty="0">
                    <a:latin typeface="Raleway" pitchFamily="2" charset="0"/>
                  </a:rPr>
                  <a:t> </a:t>
                </a:r>
                <a:endParaRPr lang="en-US" dirty="0">
                  <a:latin typeface="Raleway" pitchFamily="2" charset="0"/>
                </a:endParaRPr>
              </a:p>
            </p:txBody>
          </p:sp>
        </mc:Choice>
        <mc:Fallback xmlns="">
          <p:sp>
            <p:nvSpPr>
              <p:cNvPr id="6" name="TextBox 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297758" y="1346212"/>
                <a:ext cx="3327009" cy="400110"/>
              </a:xfrm>
              <a:prstGeom prst="rect">
                <a:avLst/>
              </a:prstGeom>
              <a:blipFill>
                <a:blip r:embed="rId11"/>
                <a:stretch>
                  <a:fillRect l="-1832" t="-9231" b="-2769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Object 6"/>
              <p:cNvSpPr txBox="1"/>
              <p:nvPr/>
            </p:nvSpPr>
            <p:spPr>
              <a:xfrm>
                <a:off x="1508280" y="3997614"/>
                <a:ext cx="2182893" cy="757330"/>
              </a:xfrm>
              <a:prstGeom prst="rect">
                <a:avLst/>
              </a:prstGeom>
            </p:spPr>
            <p:txBody>
              <a:bodyPr>
                <a:norm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>
                      <m:r>
                        <a:rPr lang="en-US" i="1">
                          <a:latin typeface="Cambria Math" panose="02040503050406030204" pitchFamily="18" charset="0"/>
                        </a:rPr>
                        <m:t>𝑉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chr m:val="∑"/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𝑛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=0</m:t>
                          </m:r>
                        </m:sub>
                        <m:sup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∞</m:t>
                          </m:r>
                        </m:sup>
                        <m:e>
                          <m:sSup>
                            <m:sSup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𝛾</m:t>
                              </m:r>
                            </m:e>
                            <m:sup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sup>
                          </m:sSup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𝑐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=</m:t>
                          </m:r>
                          <m:f>
                            <m:f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𝑐</m:t>
                              </m:r>
                            </m:num>
                            <m:den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1−</m:t>
                              </m:r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𝛾</m:t>
                              </m:r>
                            </m:den>
                          </m:f>
                        </m:e>
                      </m:nary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7" name="Object 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508280" y="3997614"/>
                <a:ext cx="2182893" cy="757330"/>
              </a:xfrm>
              <a:prstGeom prst="rect">
                <a:avLst/>
              </a:prstGeom>
              <a:blipFill>
                <a:blip r:embed="rId1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Object 7"/>
              <p:cNvSpPr txBox="1"/>
              <p:nvPr/>
            </p:nvSpPr>
            <p:spPr>
              <a:xfrm>
                <a:off x="1273498" y="5578066"/>
                <a:ext cx="3711900" cy="998538"/>
              </a:xfrm>
              <a:prstGeom prst="rect">
                <a:avLst/>
              </a:prstGeom>
            </p:spPr>
            <p:txBody>
              <a:bodyPr>
                <a:no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>
                      <m:sSup>
                        <m:sSupPr>
                          <m:ctrlPr>
                            <a:rPr lang="en-US" sz="1800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acc>
                            <m:accPr>
                              <m:chr m:val="̂"/>
                              <m:ctrlPr>
                                <a:rPr lang="en-US" sz="1800" i="1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sz="1800" i="1">
                                  <a:latin typeface="Cambria Math" panose="02040503050406030204" pitchFamily="18" charset="0"/>
                                </a:rPr>
                                <m:t>𝑣</m:t>
                              </m:r>
                            </m:e>
                          </m:acc>
                        </m:e>
                        <m:sup>
                          <m:r>
                            <a:rPr lang="en-US" sz="1800" i="1">
                              <a:latin typeface="Cambria Math" panose="02040503050406030204" pitchFamily="18" charset="0"/>
                            </a:rPr>
                            <m:t>𝑛</m:t>
                          </m:r>
                          <m:r>
                            <a:rPr lang="en-US" sz="1800" i="1">
                              <a:latin typeface="Cambria Math" panose="02040503050406030204" pitchFamily="18" charset="0"/>
                            </a:rPr>
                            <m:t>+1</m:t>
                          </m:r>
                        </m:sup>
                      </m:sSup>
                      <m:r>
                        <a:rPr lang="en-US" sz="1800" i="1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1800" i="1">
                          <a:latin typeface="Cambria Math" panose="02040503050406030204" pitchFamily="18" charset="0"/>
                        </a:rPr>
                        <m:t>𝑐</m:t>
                      </m:r>
                      <m:r>
                        <a:rPr lang="en-US" sz="1800" i="1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sz="1800" i="1">
                          <a:latin typeface="Cambria Math" panose="02040503050406030204" pitchFamily="18" charset="0"/>
                        </a:rPr>
                        <m:t>𝛾</m:t>
                      </m:r>
                      <m:sSup>
                        <m:sSupPr>
                          <m:ctrlPr>
                            <a:rPr lang="en-US" sz="1800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acc>
                            <m:accPr>
                              <m:chr m:val="̄"/>
                              <m:ctrlPr>
                                <a:rPr lang="en-US" sz="1800" i="1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sz="1800" i="1">
                                  <a:latin typeface="Cambria Math" panose="02040503050406030204" pitchFamily="18" charset="0"/>
                                </a:rPr>
                                <m:t>𝑣</m:t>
                              </m:r>
                            </m:e>
                          </m:acc>
                        </m:e>
                        <m:sup>
                          <m:r>
                            <a:rPr lang="en-US" sz="1800" i="1">
                              <a:latin typeface="Cambria Math" panose="02040503050406030204" pitchFamily="18" charset="0"/>
                            </a:rPr>
                            <m:t>𝑛</m:t>
                          </m:r>
                        </m:sup>
                      </m:sSup>
                    </m:oMath>
                    <m:oMath>
                      <m:sSup>
                        <m:sSupPr>
                          <m:ctrlPr>
                            <a:rPr lang="en-US" sz="1800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acc>
                            <m:accPr>
                              <m:chr m:val="̄"/>
                              <m:ctrlPr>
                                <a:rPr lang="en-US" sz="1800" i="1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sz="1800" i="1">
                                  <a:latin typeface="Cambria Math" panose="02040503050406030204" pitchFamily="18" charset="0"/>
                                </a:rPr>
                                <m:t>𝑣</m:t>
                              </m:r>
                            </m:e>
                          </m:acc>
                        </m:e>
                        <m:sup>
                          <m:r>
                            <a:rPr lang="en-US" sz="1800" i="1">
                              <a:latin typeface="Cambria Math" panose="02040503050406030204" pitchFamily="18" charset="0"/>
                            </a:rPr>
                            <m:t>𝑛</m:t>
                          </m:r>
                          <m:r>
                            <a:rPr lang="en-US" sz="1800" i="1">
                              <a:latin typeface="Cambria Math" panose="02040503050406030204" pitchFamily="18" charset="0"/>
                            </a:rPr>
                            <m:t>+1</m:t>
                          </m:r>
                        </m:sup>
                      </m:sSup>
                      <m:r>
                        <a:rPr lang="en-US" sz="1800" i="1">
                          <a:latin typeface="Cambria Math" panose="02040503050406030204" pitchFamily="18" charset="0"/>
                        </a:rPr>
                        <m:t>=(1−</m:t>
                      </m:r>
                      <m:sSub>
                        <m:sSubPr>
                          <m:ctrlPr>
                            <a:rPr lang="en-US" sz="18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800" i="1">
                              <a:latin typeface="Cambria Math" panose="02040503050406030204" pitchFamily="18" charset="0"/>
                            </a:rPr>
                            <m:t>𝛼</m:t>
                          </m:r>
                        </m:e>
                        <m:sub>
                          <m:r>
                            <a:rPr lang="en-US" sz="1800" i="1">
                              <a:latin typeface="Cambria Math" panose="02040503050406030204" pitchFamily="18" charset="0"/>
                            </a:rPr>
                            <m:t>𝑛</m:t>
                          </m:r>
                        </m:sub>
                      </m:sSub>
                      <m:r>
                        <a:rPr lang="en-US" sz="1800" i="1">
                          <a:latin typeface="Cambria Math" panose="02040503050406030204" pitchFamily="18" charset="0"/>
                        </a:rPr>
                        <m:t>)</m:t>
                      </m:r>
                      <m:sSup>
                        <m:sSupPr>
                          <m:ctrlPr>
                            <a:rPr lang="en-US" sz="1800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acc>
                            <m:accPr>
                              <m:chr m:val="̄"/>
                              <m:ctrlPr>
                                <a:rPr lang="en-US" sz="1800" i="1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sz="1800" i="1">
                                  <a:latin typeface="Cambria Math" panose="02040503050406030204" pitchFamily="18" charset="0"/>
                                </a:rPr>
                                <m:t>𝑣</m:t>
                              </m:r>
                            </m:e>
                          </m:acc>
                        </m:e>
                        <m:sup>
                          <m:r>
                            <a:rPr lang="en-US" sz="1800" i="1">
                              <a:latin typeface="Cambria Math" panose="02040503050406030204" pitchFamily="18" charset="0"/>
                            </a:rPr>
                            <m:t>𝑛</m:t>
                          </m:r>
                        </m:sup>
                      </m:sSup>
                      <m:r>
                        <a:rPr lang="en-US" sz="1800" i="1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sz="18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800" i="1">
                              <a:latin typeface="Cambria Math" panose="02040503050406030204" pitchFamily="18" charset="0"/>
                            </a:rPr>
                            <m:t>𝛼</m:t>
                          </m:r>
                        </m:e>
                        <m:sub>
                          <m:r>
                            <a:rPr lang="en-US" sz="1800" i="1">
                              <a:latin typeface="Cambria Math" panose="02040503050406030204" pitchFamily="18" charset="0"/>
                            </a:rPr>
                            <m:t>𝑛</m:t>
                          </m:r>
                        </m:sub>
                      </m:sSub>
                      <m:sSup>
                        <m:sSupPr>
                          <m:ctrlPr>
                            <a:rPr lang="en-US" sz="1800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acc>
                            <m:accPr>
                              <m:chr m:val="̂"/>
                              <m:ctrlPr>
                                <a:rPr lang="en-US" sz="1800" i="1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sz="1800" i="1">
                                  <a:latin typeface="Cambria Math" panose="02040503050406030204" pitchFamily="18" charset="0"/>
                                </a:rPr>
                                <m:t>𝑣</m:t>
                              </m:r>
                            </m:e>
                          </m:acc>
                        </m:e>
                        <m:sup>
                          <m:r>
                            <a:rPr lang="en-US" sz="1800" i="1">
                              <a:latin typeface="Cambria Math" panose="02040503050406030204" pitchFamily="18" charset="0"/>
                            </a:rPr>
                            <m:t>𝑛</m:t>
                          </m:r>
                          <m:r>
                            <a:rPr lang="en-US" sz="1800" i="1">
                              <a:latin typeface="Cambria Math" panose="02040503050406030204" pitchFamily="18" charset="0"/>
                            </a:rPr>
                            <m:t>+1</m:t>
                          </m:r>
                        </m:sup>
                      </m:sSup>
                    </m:oMath>
                  </m:oMathPara>
                </a14:m>
                <a:endParaRPr lang="en-US" sz="1800" dirty="0"/>
              </a:p>
            </p:txBody>
          </p:sp>
        </mc:Choice>
        <mc:Fallback xmlns="">
          <p:sp>
            <p:nvSpPr>
              <p:cNvPr id="8" name="Object 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73498" y="5578066"/>
                <a:ext cx="3711900" cy="998538"/>
              </a:xfrm>
              <a:prstGeom prst="rect">
                <a:avLst/>
              </a:prstGeom>
              <a:blipFill>
                <a:blip r:embed="rId13"/>
                <a:stretch>
                  <a:fillRect t="-182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B3FCC43C-5D0D-B23C-7EC4-2FC61DDD27AB}"/>
                  </a:ext>
                </a:extLst>
              </p:cNvPr>
              <p:cNvSpPr txBox="1"/>
              <p:nvPr/>
            </p:nvSpPr>
            <p:spPr>
              <a:xfrm>
                <a:off x="3190684" y="2675608"/>
                <a:ext cx="361894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r>
                        <a:rPr lang="en-US" sz="1800" b="0" i="1" smtClean="0">
                          <a:latin typeface="Cambria Math" panose="02040503050406030204" pitchFamily="18" charset="0"/>
                        </a:rPr>
                        <m:t>𝑐</m:t>
                      </m:r>
                    </m:oMath>
                  </m:oMathPara>
                </a14:m>
                <a:endParaRPr lang="en-US" sz="1800" dirty="0"/>
              </a:p>
            </p:txBody>
          </p:sp>
        </mc:Choice>
        <mc:Fallback xmlns="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B3FCC43C-5D0D-B23C-7EC4-2FC61DDD27A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190684" y="2675608"/>
                <a:ext cx="361894" cy="369332"/>
              </a:xfrm>
              <a:prstGeom prst="rect">
                <a:avLst/>
              </a:prstGeom>
              <a:blipFill>
                <a:blip r:embed="rId1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484177638"/>
      </p:ext>
    </p:extLst>
  </p:cSld>
  <p:clrMapOvr>
    <a:masterClrMapping/>
  </p:clrMapOvr>
</p:sld>
</file>

<file path=ppt/slides/slide1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5874" name="Rectangle 2"/>
          <p:cNvSpPr>
            <a:spLocks noGrp="1" noChangeArrowheads="1"/>
          </p:cNvSpPr>
          <p:nvPr>
            <p:ph type="title" idx="4294967295"/>
          </p:nvPr>
        </p:nvSpPr>
        <p:spPr/>
        <p:txBody>
          <a:bodyPr/>
          <a:lstStyle/>
          <a:p>
            <a:r>
              <a:rPr lang="en-US" sz="3200" dirty="0">
                <a:latin typeface="Oswald" panose="00000500000000000000" pitchFamily="2" charset="0"/>
              </a:rPr>
              <a:t>VFAs: </a:t>
            </a:r>
            <a:r>
              <a:rPr lang="en-US" sz="3200" dirty="0" err="1">
                <a:latin typeface="Oswald" panose="00000500000000000000" pitchFamily="2" charset="0"/>
              </a:rPr>
              <a:t>Stepsizes</a:t>
            </a:r>
            <a:endParaRPr lang="en-US" sz="3200" dirty="0">
              <a:latin typeface="Oswald" panose="00000500000000000000" pitchFamily="2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75875" name="Object 3"/>
              <p:cNvSpPr txBox="1"/>
              <p:nvPr/>
            </p:nvSpPr>
            <p:spPr bwMode="auto">
              <a:xfrm>
                <a:off x="1589998" y="2254250"/>
                <a:ext cx="5818295" cy="3998507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rm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>
                      <m:sSub>
                        <m:sSubPr>
                          <m:ctrlPr>
                            <a:rPr lang="en-US" sz="20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000" i="1">
                              <a:latin typeface="Cambria Math" panose="02040503050406030204" pitchFamily="18" charset="0"/>
                            </a:rPr>
                            <m:t>𝛼</m:t>
                          </m:r>
                        </m:e>
                        <m:sub>
                          <m:r>
                            <a:rPr lang="en-US" sz="2000" i="1">
                              <a:latin typeface="Cambria Math" panose="02040503050406030204" pitchFamily="18" charset="0"/>
                            </a:rPr>
                            <m:t>𝑛</m:t>
                          </m:r>
                        </m:sub>
                      </m:sSub>
                      <m:r>
                        <a:rPr lang="en-US" sz="2000" i="1">
                          <a:latin typeface="Cambria Math" panose="02040503050406030204" pitchFamily="18" charset="0"/>
                        </a:rPr>
                        <m:t>=1−</m:t>
                      </m:r>
                      <m:f>
                        <m:fPr>
                          <m:ctrlPr>
                            <a:rPr lang="en-US" sz="20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p>
                            <m:sSupPr>
                              <m:ctrlPr>
                                <a:rPr lang="en-US" sz="2000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2000" i="1">
                                  <a:latin typeface="Cambria Math" panose="02040503050406030204" pitchFamily="18" charset="0"/>
                                </a:rPr>
                                <m:t>𝜎</m:t>
                              </m:r>
                            </m:e>
                            <m:sup>
                              <m:r>
                                <a:rPr lang="en-US" sz="2000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num>
                        <m:den>
                          <m:d>
                            <m:dPr>
                              <m:ctrlPr>
                                <a:rPr lang="en-US" sz="20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2000" i="1">
                                  <a:latin typeface="Cambria Math" panose="02040503050406030204" pitchFamily="18" charset="0"/>
                                </a:rPr>
                                <m:t>1+</m:t>
                              </m:r>
                              <m:sSup>
                                <m:sSupPr>
                                  <m:ctrlPr>
                                    <a:rPr lang="en-US" sz="2000" i="1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sz="2000" i="1">
                                      <a:latin typeface="Cambria Math" panose="02040503050406030204" pitchFamily="18" charset="0"/>
                                    </a:rPr>
                                    <m:t>𝜆</m:t>
                                  </m:r>
                                </m:e>
                                <m:sup>
                                  <m:r>
                                    <a:rPr lang="en-US" sz="2000" i="1">
                                      <a:latin typeface="Cambria Math" panose="02040503050406030204" pitchFamily="18" charset="0"/>
                                    </a:rPr>
                                    <m:t>𝑛</m:t>
                                  </m:r>
                                  <m:r>
                                    <a:rPr lang="en-US" sz="2000" i="1">
                                      <a:latin typeface="Cambria Math" panose="02040503050406030204" pitchFamily="18" charset="0"/>
                                    </a:rPr>
                                    <m:t>−1</m:t>
                                  </m:r>
                                </m:sup>
                              </m:sSup>
                            </m:e>
                          </m:d>
                          <m:sSup>
                            <m:sSupPr>
                              <m:ctrlPr>
                                <a:rPr lang="en-US" sz="2000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2000" i="1">
                                  <a:latin typeface="Cambria Math" panose="02040503050406030204" pitchFamily="18" charset="0"/>
                                </a:rPr>
                                <m:t>𝜎</m:t>
                              </m:r>
                            </m:e>
                            <m:sup>
                              <m:r>
                                <a:rPr lang="en-US" sz="2000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  <m:r>
                            <a:rPr lang="en-US" sz="2000" i="1">
                              <a:latin typeface="Cambria Math" panose="02040503050406030204" pitchFamily="18" charset="0"/>
                            </a:rPr>
                            <m:t>+</m:t>
                          </m:r>
                          <m:sSup>
                            <m:sSupPr>
                              <m:ctrlPr>
                                <a:rPr lang="en-US" sz="2000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d>
                                <m:dPr>
                                  <m:ctrlPr>
                                    <a:rPr lang="en-US" sz="2000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p>
                                    <m:sSupPr>
                                      <m:ctrlPr>
                                        <a:rPr lang="en-US" sz="20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r>
                                        <a:rPr lang="en-US" sz="2000" i="1">
                                          <a:latin typeface="Cambria Math" panose="02040503050406030204" pitchFamily="18" charset="0"/>
                                        </a:rPr>
                                        <m:t>𝛽</m:t>
                                      </m:r>
                                    </m:e>
                                    <m:sup>
                                      <m:r>
                                        <a:rPr lang="en-US" sz="2000" i="1">
                                          <a:latin typeface="Cambria Math" panose="02040503050406030204" pitchFamily="18" charset="0"/>
                                        </a:rPr>
                                        <m:t>𝑛</m:t>
                                      </m:r>
                                    </m:sup>
                                  </m:sSup>
                                </m:e>
                              </m:d>
                            </m:e>
                            <m:sup>
                              <m:r>
                                <a:rPr lang="en-US" sz="2000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den>
                      </m:f>
                    </m:oMath>
                  </m:oMathPara>
                </a14:m>
                <a:br>
                  <a:rPr lang="en-US" sz="2000" i="1" dirty="0">
                    <a:latin typeface="Raleway" pitchFamily="2" charset="0"/>
                  </a:rPr>
                </a:br>
                <a:br>
                  <a:rPr lang="en-US" sz="2000" i="1" dirty="0">
                    <a:latin typeface="Raleway" pitchFamily="2" charset="0"/>
                  </a:rPr>
                </a:br>
                <a14:m>
                  <m:oMathPara xmlns:m="http://schemas.openxmlformats.org/officeDocument/2006/math">
                    <m:oMathParaPr>
                      <m:jc m:val="left"/>
                    </m:oMathParaPr>
                    <m:oMath>
                      <m:r>
                        <m:rPr>
                          <m:nor/>
                        </m:rPr>
                        <a:rPr lang="en-US" sz="2000" i="0">
                          <a:latin typeface="Raleway" pitchFamily="2" charset="0"/>
                        </a:rPr>
                        <m:t>where:</m:t>
                      </m:r>
                    </m:oMath>
                  </m:oMathPara>
                </a14:m>
                <a:br>
                  <a:rPr lang="en-US" sz="2000" dirty="0">
                    <a:latin typeface="Raleway" pitchFamily="2" charset="0"/>
                  </a:rPr>
                </a:br>
                <a:endParaRPr lang="en-US" sz="2000" dirty="0">
                  <a:latin typeface="Raleway" pitchFamily="2" charset="0"/>
                </a:endParaRPr>
              </a:p>
              <a:p>
                <a:endParaRPr lang="en-US" sz="2000" dirty="0">
                  <a:latin typeface="Raleway" pitchFamily="2" charset="0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>
                      <m:r>
                        <m:rPr>
                          <m:nor/>
                        </m:rPr>
                        <a:rPr lang="en-US" sz="2000" i="0">
                          <a:latin typeface="Raleway" pitchFamily="2" charset="0"/>
                        </a:rPr>
                        <m:t>         </m:t>
                      </m:r>
                      <m:sSup>
                        <m:sSupPr>
                          <m:ctrlPr>
                            <a:rPr lang="en-US" sz="2000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000" i="1">
                              <a:latin typeface="Cambria Math" panose="02040503050406030204" pitchFamily="18" charset="0"/>
                            </a:rPr>
                            <m:t>𝜆</m:t>
                          </m:r>
                        </m:e>
                        <m:sup>
                          <m:r>
                            <a:rPr lang="en-US" sz="2000" i="1">
                              <a:latin typeface="Cambria Math" panose="02040503050406030204" pitchFamily="18" charset="0"/>
                            </a:rPr>
                            <m:t>𝑛</m:t>
                          </m:r>
                        </m:sup>
                      </m:sSup>
                      <m:r>
                        <a:rPr lang="en-US" sz="2000" i="1"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en-US" sz="2000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lang="en-US" sz="20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2000" i="1">
                                  <a:latin typeface="Cambria Math" panose="02040503050406030204" pitchFamily="18" charset="0"/>
                                </a:rPr>
                                <m:t>1−</m:t>
                              </m:r>
                              <m:sSub>
                                <m:sSubPr>
                                  <m:ctrlPr>
                                    <a:rPr lang="en-US" sz="20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000" i="1">
                                      <a:latin typeface="Cambria Math" panose="02040503050406030204" pitchFamily="18" charset="0"/>
                                    </a:rPr>
                                    <m:t>𝛼</m:t>
                                  </m:r>
                                </m:e>
                                <m:sub>
                                  <m:r>
                                    <a:rPr lang="en-US" sz="2000" i="1">
                                      <a:latin typeface="Cambria Math" panose="02040503050406030204" pitchFamily="18" charset="0"/>
                                    </a:rPr>
                                    <m:t>𝑛</m:t>
                                  </m:r>
                                </m:sub>
                              </m:sSub>
                            </m:e>
                          </m:d>
                        </m:e>
                        <m:sup>
                          <m:r>
                            <a:rPr lang="en-US" sz="2000" i="1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sSup>
                        <m:sSupPr>
                          <m:ctrlPr>
                            <a:rPr lang="en-US" sz="2000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000" i="1">
                              <a:latin typeface="Cambria Math" panose="02040503050406030204" pitchFamily="18" charset="0"/>
                            </a:rPr>
                            <m:t>𝜆</m:t>
                          </m:r>
                        </m:e>
                        <m:sup>
                          <m:r>
                            <a:rPr lang="en-US" sz="2000" i="1">
                              <a:latin typeface="Cambria Math" panose="02040503050406030204" pitchFamily="18" charset="0"/>
                            </a:rPr>
                            <m:t>𝑛</m:t>
                          </m:r>
                          <m:r>
                            <a:rPr lang="en-US" sz="2000" i="1">
                              <a:latin typeface="Cambria Math" panose="02040503050406030204" pitchFamily="18" charset="0"/>
                            </a:rPr>
                            <m:t>−1</m:t>
                          </m:r>
                        </m:sup>
                      </m:sSup>
                      <m:r>
                        <a:rPr lang="en-US" sz="2000" i="1">
                          <a:latin typeface="Cambria Math" panose="02040503050406030204" pitchFamily="18" charset="0"/>
                        </a:rPr>
                        <m:t>+</m:t>
                      </m:r>
                      <m:sSup>
                        <m:sSupPr>
                          <m:ctrlPr>
                            <a:rPr lang="en-US" sz="2000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lang="en-US" sz="20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sz="20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000" i="1">
                                      <a:latin typeface="Cambria Math" panose="02040503050406030204" pitchFamily="18" charset="0"/>
                                    </a:rPr>
                                    <m:t>𝛼</m:t>
                                  </m:r>
                                </m:e>
                                <m:sub>
                                  <m:r>
                                    <a:rPr lang="en-US" sz="2000" i="1">
                                      <a:latin typeface="Cambria Math" panose="02040503050406030204" pitchFamily="18" charset="0"/>
                                    </a:rPr>
                                    <m:t>𝑛</m:t>
                                  </m:r>
                                </m:sub>
                              </m:sSub>
                            </m:e>
                          </m:d>
                        </m:e>
                        <m:sup>
                          <m:r>
                            <a:rPr lang="en-US" sz="2000" i="1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</m:oMath>
                  </m:oMathPara>
                </a14:m>
                <a:br>
                  <a:rPr lang="en-US" sz="2000" i="1" dirty="0">
                    <a:latin typeface="Raleway" pitchFamily="2" charset="0"/>
                  </a:rPr>
                </a:br>
                <a:endParaRPr lang="en-US" sz="2000" dirty="0">
                  <a:latin typeface="Raleway" pitchFamily="2" charset="0"/>
                </a:endParaRPr>
              </a:p>
              <a:p>
                <a:endParaRPr lang="en-US" sz="2000" dirty="0">
                  <a:latin typeface="Raleway" pitchFamily="2" charset="0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>
                      <m:r>
                        <m:rPr>
                          <m:nor/>
                        </m:rPr>
                        <a:rPr lang="en-US" sz="2000" i="0">
                          <a:latin typeface="Raleway" pitchFamily="2" charset="0"/>
                        </a:rPr>
                        <m:t>As </m:t>
                      </m:r>
                      <m:sSup>
                        <m:sSupPr>
                          <m:ctrlPr>
                            <a:rPr lang="en-US" sz="2000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000" i="1">
                              <a:latin typeface="Cambria Math" panose="02040503050406030204" pitchFamily="18" charset="0"/>
                            </a:rPr>
                            <m:t>𝜎</m:t>
                          </m:r>
                        </m:e>
                        <m:sup>
                          <m:r>
                            <a:rPr lang="en-US" sz="2000" i="1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m:rPr>
                          <m:nor/>
                        </m:rPr>
                        <a:rPr lang="en-US" sz="2000" i="0">
                          <a:latin typeface="Raleway" pitchFamily="2" charset="0"/>
                        </a:rPr>
                        <m:t> increases, stepsize decreases toward </m:t>
                      </m:r>
                      <m:r>
                        <a:rPr lang="en-US" sz="2000" i="1">
                          <a:latin typeface="Cambria Math" panose="02040503050406030204" pitchFamily="18" charset="0"/>
                        </a:rPr>
                        <m:t>1/</m:t>
                      </m:r>
                      <m:r>
                        <a:rPr lang="en-US" sz="2000" i="1">
                          <a:latin typeface="Cambria Math" panose="02040503050406030204" pitchFamily="18" charset="0"/>
                        </a:rPr>
                        <m:t>𝑛</m:t>
                      </m:r>
                    </m:oMath>
                    <m:oMath>
                      <m:r>
                        <m:rPr>
                          <m:nor/>
                        </m:rPr>
                        <a:rPr lang="en-US" sz="2000" i="0">
                          <a:latin typeface="Raleway" pitchFamily="2" charset="0"/>
                        </a:rPr>
                        <m:t>As </m:t>
                      </m:r>
                      <m:sSup>
                        <m:sSupPr>
                          <m:ctrlPr>
                            <a:rPr lang="en-US" sz="2000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000" i="1">
                              <a:latin typeface="Cambria Math" panose="02040503050406030204" pitchFamily="18" charset="0"/>
                            </a:rPr>
                            <m:t>𝛽</m:t>
                          </m:r>
                        </m:e>
                        <m:sup>
                          <m:r>
                            <a:rPr lang="en-US" sz="2000" i="1">
                              <a:latin typeface="Cambria Math" panose="02040503050406030204" pitchFamily="18" charset="0"/>
                            </a:rPr>
                            <m:t>𝑛</m:t>
                          </m:r>
                        </m:sup>
                      </m:sSup>
                      <m:r>
                        <m:rPr>
                          <m:nor/>
                        </m:rPr>
                        <a:rPr lang="en-US" sz="2000" i="0">
                          <a:latin typeface="Raleway" pitchFamily="2" charset="0"/>
                        </a:rPr>
                        <m:t> increases, stepsize increases toward 1.</m:t>
                      </m:r>
                    </m:oMath>
                    <m:oMath>
                      <m:r>
                        <m:rPr>
                          <m:nor/>
                        </m:rPr>
                        <a:rPr lang="en-US" sz="2000" i="0">
                          <a:latin typeface="Raleway" pitchFamily="2" charset="0"/>
                        </a:rPr>
                        <m:t>At all times, </m:t>
                      </m:r>
                      <m:sSub>
                        <m:sSubPr>
                          <m:ctrlPr>
                            <a:rPr lang="en-US" sz="20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000" i="1">
                              <a:latin typeface="Cambria Math" panose="02040503050406030204" pitchFamily="18" charset="0"/>
                            </a:rPr>
                            <m:t>𝛼</m:t>
                          </m:r>
                        </m:e>
                        <m:sub>
                          <m:r>
                            <a:rPr lang="en-US" sz="2000" i="1">
                              <a:latin typeface="Cambria Math" panose="02040503050406030204" pitchFamily="18" charset="0"/>
                            </a:rPr>
                            <m:t>𝑛</m:t>
                          </m:r>
                        </m:sub>
                      </m:sSub>
                      <m:r>
                        <a:rPr lang="en-US" sz="2000" i="1">
                          <a:latin typeface="Cambria Math" panose="02040503050406030204" pitchFamily="18" charset="0"/>
                        </a:rPr>
                        <m:t>≥</m:t>
                      </m:r>
                      <m:f>
                        <m:fPr>
                          <m:ctrlPr>
                            <a:rPr lang="en-US" sz="20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000" i="1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US" sz="2000" i="1">
                              <a:latin typeface="Cambria Math" panose="02040503050406030204" pitchFamily="18" charset="0"/>
                            </a:rPr>
                            <m:t>𝑛</m:t>
                          </m:r>
                        </m:den>
                      </m:f>
                    </m:oMath>
                  </m:oMathPara>
                </a14:m>
                <a:endParaRPr lang="en-US" sz="2000" dirty="0">
                  <a:latin typeface="Raleway" pitchFamily="2" charset="0"/>
                </a:endParaRPr>
              </a:p>
            </p:txBody>
          </p:sp>
        </mc:Choice>
        <mc:Fallback xmlns="">
          <p:sp>
            <p:nvSpPr>
              <p:cNvPr id="975875" name="Object 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1589998" y="2254250"/>
                <a:ext cx="5818295" cy="3998507"/>
              </a:xfrm>
              <a:prstGeom prst="rect">
                <a:avLst/>
              </a:prstGeom>
              <a:blipFill>
                <a:blip r:embed="rId3"/>
                <a:stretch>
                  <a:fillRect l="-210"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2" name="Group 4"/>
          <p:cNvGrpSpPr>
            <a:grpSpLocks/>
          </p:cNvGrpSpPr>
          <p:nvPr/>
        </p:nvGrpSpPr>
        <p:grpSpPr bwMode="auto">
          <a:xfrm>
            <a:off x="3783583" y="1903136"/>
            <a:ext cx="2922588" cy="1173163"/>
            <a:chOff x="2322" y="1142"/>
            <a:chExt cx="1841" cy="739"/>
          </a:xfrm>
        </p:grpSpPr>
        <p:sp>
          <p:nvSpPr>
            <p:cNvPr id="975877" name="Oval 5"/>
            <p:cNvSpPr>
              <a:spLocks noChangeArrowheads="1"/>
            </p:cNvSpPr>
            <p:nvPr/>
          </p:nvSpPr>
          <p:spPr bwMode="auto">
            <a:xfrm>
              <a:off x="2322" y="1574"/>
              <a:ext cx="307" cy="307"/>
            </a:xfrm>
            <a:prstGeom prst="ellipse">
              <a:avLst/>
            </a:prstGeom>
            <a:noFill/>
            <a:ln w="19050">
              <a:solidFill>
                <a:srgbClr val="0033CC"/>
              </a:solidFill>
              <a:round/>
              <a:headEnd type="none" w="lg" len="lg"/>
              <a:tailEnd type="none" w="lg" len="lg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defRPr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defRPr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defRPr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defRPr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defRPr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endParaRPr lang="en-US" altLang="en-US"/>
            </a:p>
          </p:txBody>
        </p:sp>
        <p:sp>
          <p:nvSpPr>
            <p:cNvPr id="975878" name="Text Box 6"/>
            <p:cNvSpPr txBox="1">
              <a:spLocks noChangeArrowheads="1"/>
            </p:cNvSpPr>
            <p:nvPr/>
          </p:nvSpPr>
          <p:spPr bwMode="auto">
            <a:xfrm>
              <a:off x="2950" y="1142"/>
              <a:ext cx="1213" cy="194"/>
            </a:xfrm>
            <a:prstGeom prst="rect">
              <a:avLst/>
            </a:prstGeom>
            <a:noFill/>
            <a:ln w="19050">
              <a:solidFill>
                <a:srgbClr val="0033CC"/>
              </a:solidFill>
              <a:miter lim="800000"/>
              <a:headEnd type="none" w="lg" len="lg"/>
              <a:tailEnd type="none" w="lg" len="lg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>
              <a:spAutoFit/>
            </a:bodyPr>
            <a:lstStyle>
              <a:lvl1pPr>
                <a:defRPr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defRPr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defRPr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defRPr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defRPr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l"/>
              <a:r>
                <a:rPr lang="en-US" altLang="en-US" i="0">
                  <a:solidFill>
                    <a:srgbClr val="0033CC"/>
                  </a:solidFill>
                </a:rPr>
                <a:t>Estimate of the variance</a:t>
              </a:r>
            </a:p>
          </p:txBody>
        </p:sp>
        <p:sp>
          <p:nvSpPr>
            <p:cNvPr id="975879" name="Line 7"/>
            <p:cNvSpPr>
              <a:spLocks noChangeShapeType="1"/>
            </p:cNvSpPr>
            <p:nvPr/>
          </p:nvSpPr>
          <p:spPr bwMode="auto">
            <a:xfrm flipH="1">
              <a:off x="2563" y="1336"/>
              <a:ext cx="389" cy="274"/>
            </a:xfrm>
            <a:prstGeom prst="line">
              <a:avLst/>
            </a:prstGeom>
            <a:noFill/>
            <a:ln w="19050">
              <a:solidFill>
                <a:srgbClr val="0033CC"/>
              </a:solidFill>
              <a:round/>
              <a:headEnd type="none" w="lg" len="lg"/>
              <a:tailEnd type="stealth" w="lg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3" name="Group 8"/>
          <p:cNvGrpSpPr>
            <a:grpSpLocks/>
          </p:cNvGrpSpPr>
          <p:nvPr/>
        </p:nvGrpSpPr>
        <p:grpSpPr bwMode="auto">
          <a:xfrm>
            <a:off x="4515591" y="2588568"/>
            <a:ext cx="2384425" cy="963613"/>
            <a:chOff x="1982" y="1794"/>
            <a:chExt cx="1502" cy="607"/>
          </a:xfrm>
        </p:grpSpPr>
        <p:sp>
          <p:nvSpPr>
            <p:cNvPr id="975881" name="Oval 9"/>
            <p:cNvSpPr>
              <a:spLocks noChangeArrowheads="1"/>
            </p:cNvSpPr>
            <p:nvPr/>
          </p:nvSpPr>
          <p:spPr bwMode="auto">
            <a:xfrm>
              <a:off x="1982" y="1794"/>
              <a:ext cx="307" cy="350"/>
            </a:xfrm>
            <a:prstGeom prst="ellipse">
              <a:avLst/>
            </a:prstGeom>
            <a:noFill/>
            <a:ln w="19050">
              <a:solidFill>
                <a:srgbClr val="0033CC"/>
              </a:solidFill>
              <a:round/>
              <a:headEnd type="none" w="lg" len="lg"/>
              <a:tailEnd type="none" w="lg" len="lg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defRPr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defRPr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defRPr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defRPr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defRPr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endParaRPr lang="en-US" altLang="en-US"/>
            </a:p>
          </p:txBody>
        </p:sp>
        <p:sp>
          <p:nvSpPr>
            <p:cNvPr id="975882" name="Text Box 10"/>
            <p:cNvSpPr txBox="1">
              <a:spLocks noChangeArrowheads="1"/>
            </p:cNvSpPr>
            <p:nvPr/>
          </p:nvSpPr>
          <p:spPr bwMode="auto">
            <a:xfrm>
              <a:off x="2472" y="2207"/>
              <a:ext cx="1012" cy="194"/>
            </a:xfrm>
            <a:prstGeom prst="rect">
              <a:avLst/>
            </a:prstGeom>
            <a:noFill/>
            <a:ln w="19050">
              <a:solidFill>
                <a:srgbClr val="0033CC"/>
              </a:solidFill>
              <a:miter lim="800000"/>
              <a:headEnd type="none" w="lg" len="lg"/>
              <a:tailEnd type="none" w="lg" len="lg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>
              <a:spAutoFit/>
            </a:bodyPr>
            <a:lstStyle>
              <a:lvl1pPr>
                <a:defRPr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defRPr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defRPr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defRPr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defRPr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l"/>
              <a:r>
                <a:rPr lang="en-US" altLang="en-US" i="0" dirty="0">
                  <a:solidFill>
                    <a:srgbClr val="0033CC"/>
                  </a:solidFill>
                </a:rPr>
                <a:t>Estimate of the bias</a:t>
              </a:r>
            </a:p>
          </p:txBody>
        </p:sp>
        <p:sp>
          <p:nvSpPr>
            <p:cNvPr id="975883" name="Line 11"/>
            <p:cNvSpPr>
              <a:spLocks noChangeShapeType="1"/>
            </p:cNvSpPr>
            <p:nvPr/>
          </p:nvSpPr>
          <p:spPr bwMode="auto">
            <a:xfrm flipH="1" flipV="1">
              <a:off x="2106" y="2153"/>
              <a:ext cx="350" cy="180"/>
            </a:xfrm>
            <a:prstGeom prst="line">
              <a:avLst/>
            </a:prstGeom>
            <a:noFill/>
            <a:ln w="19050">
              <a:solidFill>
                <a:srgbClr val="0033CC"/>
              </a:solidFill>
              <a:round/>
              <a:headEnd type="none" w="lg" len="lg"/>
              <a:tailEnd type="stealth" w="lg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pic>
        <p:nvPicPr>
          <p:cNvPr id="975884" name="Picture 12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5431"/>
          <a:stretch>
            <a:fillRect/>
          </a:stretch>
        </p:blipFill>
        <p:spPr bwMode="auto">
          <a:xfrm>
            <a:off x="7612292" y="2290977"/>
            <a:ext cx="4202112" cy="24590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 type="none" w="lg" len="lg"/>
                <a:tailEnd type="none" w="lg" len="lg"/>
              </a14:hiddenLine>
            </a:ext>
          </a:extLst>
        </p:spPr>
      </p:pic>
      <p:grpSp>
        <p:nvGrpSpPr>
          <p:cNvPr id="4" name="Group 13"/>
          <p:cNvGrpSpPr>
            <a:grpSpLocks/>
          </p:cNvGrpSpPr>
          <p:nvPr/>
        </p:nvGrpSpPr>
        <p:grpSpPr bwMode="auto">
          <a:xfrm>
            <a:off x="9604604" y="2849776"/>
            <a:ext cx="527050" cy="688975"/>
            <a:chOff x="4120" y="1832"/>
            <a:chExt cx="332" cy="434"/>
          </a:xfrm>
        </p:grpSpPr>
        <p:sp>
          <p:nvSpPr>
            <p:cNvPr id="975886" name="Line 14"/>
            <p:cNvSpPr>
              <a:spLocks noChangeShapeType="1"/>
            </p:cNvSpPr>
            <p:nvPr/>
          </p:nvSpPr>
          <p:spPr bwMode="auto">
            <a:xfrm>
              <a:off x="4120" y="1832"/>
              <a:ext cx="0" cy="272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 type="stealth" w="med" len="lg"/>
              <a:tailEnd type="stealth" w="med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975887" name="Text Box 15"/>
            <p:cNvSpPr txBox="1">
              <a:spLocks noChangeArrowheads="1"/>
            </p:cNvSpPr>
            <p:nvPr/>
          </p:nvSpPr>
          <p:spPr bwMode="auto">
            <a:xfrm>
              <a:off x="4134" y="2072"/>
              <a:ext cx="318" cy="19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 type="none" w="lg" len="lg"/>
                  <a:tailEnd type="none" w="lg" len="lg"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defRPr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defRPr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defRPr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defRPr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l"/>
              <a:r>
                <a:rPr lang="en-US" altLang="en-US" i="0"/>
                <a:t>Bias</a:t>
              </a:r>
            </a:p>
          </p:txBody>
        </p:sp>
      </p:grpSp>
      <p:grpSp>
        <p:nvGrpSpPr>
          <p:cNvPr id="5" name="Group 16"/>
          <p:cNvGrpSpPr>
            <a:grpSpLocks/>
          </p:cNvGrpSpPr>
          <p:nvPr/>
        </p:nvGrpSpPr>
        <p:grpSpPr bwMode="auto">
          <a:xfrm>
            <a:off x="8420330" y="2443377"/>
            <a:ext cx="765175" cy="800100"/>
            <a:chOff x="3374" y="1576"/>
            <a:chExt cx="482" cy="504"/>
          </a:xfrm>
        </p:grpSpPr>
        <p:sp>
          <p:nvSpPr>
            <p:cNvPr id="975889" name="Line 17"/>
            <p:cNvSpPr>
              <a:spLocks noChangeShapeType="1"/>
            </p:cNvSpPr>
            <p:nvPr/>
          </p:nvSpPr>
          <p:spPr bwMode="auto">
            <a:xfrm>
              <a:off x="3856" y="1704"/>
              <a:ext cx="0" cy="376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 type="stealth" w="med" len="lg"/>
              <a:tailEnd type="stealth" w="med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975890" name="Text Box 18"/>
            <p:cNvSpPr txBox="1">
              <a:spLocks noChangeArrowheads="1"/>
            </p:cNvSpPr>
            <p:nvPr/>
          </p:nvSpPr>
          <p:spPr bwMode="auto">
            <a:xfrm>
              <a:off x="3374" y="1576"/>
              <a:ext cx="381" cy="19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 type="none" w="lg" len="lg"/>
                  <a:tailEnd type="none" w="lg" len="lg"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defRPr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defRPr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defRPr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defRPr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l"/>
              <a:r>
                <a:rPr lang="en-US" altLang="en-US" i="0"/>
                <a:t>Noise</a:t>
              </a:r>
            </a:p>
          </p:txBody>
        </p:sp>
      </p:grpSp>
      <p:sp>
        <p:nvSpPr>
          <p:cNvPr id="975891" name="Rectangle 19"/>
          <p:cNvSpPr>
            <a:spLocks noGrp="1" noChangeArrowheads="1"/>
          </p:cNvSpPr>
          <p:nvPr>
            <p:ph type="body" idx="4294967295"/>
          </p:nvPr>
        </p:nvSpPr>
        <p:spPr>
          <a:xfrm>
            <a:off x="914400" y="1143000"/>
            <a:ext cx="10363200" cy="564595"/>
          </a:xfrm>
          <a:noFill/>
        </p:spPr>
        <p:txBody>
          <a:bodyPr/>
          <a:lstStyle/>
          <a:p>
            <a:pPr marL="86360" indent="0">
              <a:buNone/>
            </a:pPr>
            <a:r>
              <a:rPr lang="en-US" altLang="en-US" dirty="0">
                <a:latin typeface="Raleway" pitchFamily="2" charset="0"/>
              </a:rPr>
              <a:t>Bias-adjusted </a:t>
            </a:r>
            <a:r>
              <a:rPr lang="en-US" altLang="en-US" dirty="0" err="1">
                <a:latin typeface="Raleway" pitchFamily="2" charset="0"/>
              </a:rPr>
              <a:t>Kalman</a:t>
            </a:r>
            <a:r>
              <a:rPr lang="en-US" altLang="en-US" dirty="0">
                <a:latin typeface="Raleway" pitchFamily="2" charset="0"/>
              </a:rPr>
              <a:t> filter (BAKF)</a:t>
            </a:r>
          </a:p>
        </p:txBody>
      </p:sp>
    </p:spTree>
    <p:extLst>
      <p:ext uri="{BB962C8B-B14F-4D97-AF65-F5344CB8AC3E}">
        <p14:creationId xmlns:p14="http://schemas.microsoft.com/office/powerpoint/2010/main" val="190583578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9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1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 nodeType="clickPar">
                      <p:stCondLst>
                        <p:cond delay="indefinite"/>
                      </p:stCondLst>
                      <p:childTnLst>
                        <p:par>
                          <p:cTn id="1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4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6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8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0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7922" name="Rectangle 2"/>
          <p:cNvSpPr>
            <a:spLocks noGrp="1" noChangeArrowheads="1"/>
          </p:cNvSpPr>
          <p:nvPr>
            <p:ph type="title" idx="4294967295"/>
          </p:nvPr>
        </p:nvSpPr>
        <p:spPr/>
        <p:txBody>
          <a:bodyPr/>
          <a:lstStyle/>
          <a:p>
            <a:r>
              <a:rPr lang="en-US" sz="3200" dirty="0">
                <a:latin typeface="Oswald" panose="00000500000000000000" pitchFamily="2" charset="0"/>
              </a:rPr>
              <a:t>VFAs: </a:t>
            </a:r>
            <a:r>
              <a:rPr lang="en-US" sz="3200" dirty="0" err="1">
                <a:latin typeface="Oswald" panose="00000500000000000000" pitchFamily="2" charset="0"/>
              </a:rPr>
              <a:t>Stepsizes</a:t>
            </a:r>
            <a:endParaRPr lang="en-US" sz="3200" dirty="0">
              <a:latin typeface="Oswald" panose="00000500000000000000" pitchFamily="2" charset="0"/>
            </a:endParaRPr>
          </a:p>
        </p:txBody>
      </p:sp>
      <p:sp>
        <p:nvSpPr>
          <p:cNvPr id="977923" name="Rectangle 3"/>
          <p:cNvSpPr>
            <a:spLocks noGrp="1" noChangeArrowheads="1"/>
          </p:cNvSpPr>
          <p:nvPr>
            <p:ph type="body" idx="4294967295"/>
          </p:nvPr>
        </p:nvSpPr>
        <p:spPr/>
        <p:txBody>
          <a:bodyPr/>
          <a:lstStyle/>
          <a:p>
            <a:pPr marL="86360" indent="0">
              <a:buNone/>
            </a:pPr>
            <a:r>
              <a:rPr lang="en-US" altLang="en-US" dirty="0">
                <a:latin typeface="Raleway" pitchFamily="2" charset="0"/>
              </a:rPr>
              <a:t>The bias-adjusted Kalman filter – low noise case</a:t>
            </a:r>
          </a:p>
        </p:txBody>
      </p:sp>
      <p:grpSp>
        <p:nvGrpSpPr>
          <p:cNvPr id="977924" name="Group 4"/>
          <p:cNvGrpSpPr>
            <a:grpSpLocks/>
          </p:cNvGrpSpPr>
          <p:nvPr/>
        </p:nvGrpSpPr>
        <p:grpSpPr bwMode="auto">
          <a:xfrm>
            <a:off x="2947989" y="1987550"/>
            <a:ext cx="6448425" cy="3619500"/>
            <a:chOff x="57" y="44"/>
            <a:chExt cx="4062" cy="2280"/>
          </a:xfrm>
        </p:grpSpPr>
        <p:graphicFrame>
          <p:nvGraphicFramePr>
            <p:cNvPr id="977925" name="Object 5"/>
            <p:cNvGraphicFramePr>
              <a:graphicFrameLocks noChangeAspect="1"/>
            </p:cNvGraphicFramePr>
            <p:nvPr/>
          </p:nvGraphicFramePr>
          <p:xfrm>
            <a:off x="57" y="44"/>
            <a:ext cx="4062" cy="228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Chart" r:id="rId3" imgW="6448425" imgH="3619500" progId="Excel.Chart.8">
                    <p:embed/>
                  </p:oleObj>
                </mc:Choice>
                <mc:Fallback>
                  <p:oleObj name="Chart" r:id="rId3" imgW="6448425" imgH="3619500" progId="Excel.Chart.8">
                    <p:embed/>
                    <p:pic>
                      <p:nvPicPr>
                        <p:cNvPr id="977925" name="Object 5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4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57" y="44"/>
                          <a:ext cx="4062" cy="228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accent1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38100">
                              <a:solidFill>
                                <a:schemeClr val="tx1"/>
                              </a:solidFill>
                              <a:miter lim="800000"/>
                              <a:headEnd/>
                              <a:tailEnd type="none" w="med" len="lg"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chemeClr val="bg2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977926" name="Text Box 6"/>
            <p:cNvSpPr txBox="1">
              <a:spLocks noChangeArrowheads="1"/>
            </p:cNvSpPr>
            <p:nvPr/>
          </p:nvSpPr>
          <p:spPr bwMode="auto">
            <a:xfrm>
              <a:off x="2550" y="296"/>
              <a:ext cx="869" cy="19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rgbClr val="000000"/>
                  </a:solidFill>
                  <a:miter lim="800000"/>
                  <a:headEnd/>
                  <a:tailEnd type="none" w="med" len="lg"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defRPr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defRPr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defRPr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defRPr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l" eaLnBrk="1" hangingPunct="1"/>
              <a:r>
                <a:rPr lang="en-US" altLang="en-US" i="0"/>
                <a:t>Observed values</a:t>
              </a:r>
            </a:p>
          </p:txBody>
        </p:sp>
        <p:sp>
          <p:nvSpPr>
            <p:cNvPr id="977927" name="Text Box 7"/>
            <p:cNvSpPr txBox="1">
              <a:spLocks noChangeArrowheads="1"/>
            </p:cNvSpPr>
            <p:nvPr/>
          </p:nvSpPr>
          <p:spPr bwMode="auto">
            <a:xfrm>
              <a:off x="2654" y="1232"/>
              <a:ext cx="1010" cy="19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rgbClr val="000000"/>
                  </a:solidFill>
                  <a:miter lim="800000"/>
                  <a:headEnd/>
                  <a:tailEnd type="none" w="med" len="lg"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defRPr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defRPr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defRPr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defRPr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l" eaLnBrk="1" hangingPunct="1"/>
              <a:r>
                <a:rPr lang="en-US" altLang="en-US" i="0"/>
                <a:t>BAKF stepsize rule</a:t>
              </a:r>
            </a:p>
          </p:txBody>
        </p:sp>
        <p:sp>
          <p:nvSpPr>
            <p:cNvPr id="977928" name="Text Box 8"/>
            <p:cNvSpPr txBox="1">
              <a:spLocks noChangeArrowheads="1"/>
            </p:cNvSpPr>
            <p:nvPr/>
          </p:nvSpPr>
          <p:spPr bwMode="auto">
            <a:xfrm>
              <a:off x="1270" y="1768"/>
              <a:ext cx="852" cy="19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rgbClr val="000000"/>
                  </a:solidFill>
                  <a:miter lim="800000"/>
                  <a:headEnd/>
                  <a:tailEnd type="none" w="med" len="lg"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defRPr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defRPr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defRPr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defRPr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l" eaLnBrk="1" hangingPunct="1"/>
              <a:r>
                <a:rPr lang="en-US" altLang="en-US" i="0"/>
                <a:t>1/n stepsize rule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3046790545"/>
      </p:ext>
    </p:extLst>
  </p:cSld>
  <p:clrMapOvr>
    <a:masterClrMapping/>
  </p:clrMapOvr>
</p:sld>
</file>

<file path=ppt/slides/slide1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9970" name="Rectangle 2"/>
          <p:cNvSpPr>
            <a:spLocks noGrp="1" noChangeArrowheads="1"/>
          </p:cNvSpPr>
          <p:nvPr>
            <p:ph type="title" idx="4294967295"/>
          </p:nvPr>
        </p:nvSpPr>
        <p:spPr/>
        <p:txBody>
          <a:bodyPr/>
          <a:lstStyle/>
          <a:p>
            <a:r>
              <a:rPr lang="en-US" sz="3200" dirty="0">
                <a:latin typeface="Oswald" panose="00000500000000000000" pitchFamily="2" charset="0"/>
              </a:rPr>
              <a:t>VFAs: </a:t>
            </a:r>
            <a:r>
              <a:rPr lang="en-US" sz="3200" dirty="0" err="1">
                <a:latin typeface="Oswald" panose="00000500000000000000" pitchFamily="2" charset="0"/>
              </a:rPr>
              <a:t>Stepsizes</a:t>
            </a:r>
            <a:endParaRPr lang="en-US" sz="3200" dirty="0">
              <a:latin typeface="Oswald" panose="00000500000000000000" pitchFamily="2" charset="0"/>
            </a:endParaRPr>
          </a:p>
        </p:txBody>
      </p:sp>
      <p:grpSp>
        <p:nvGrpSpPr>
          <p:cNvPr id="979972" name="Group 4"/>
          <p:cNvGrpSpPr>
            <a:grpSpLocks/>
          </p:cNvGrpSpPr>
          <p:nvPr/>
        </p:nvGrpSpPr>
        <p:grpSpPr bwMode="auto">
          <a:xfrm>
            <a:off x="2808289" y="2082800"/>
            <a:ext cx="6448425" cy="3619500"/>
            <a:chOff x="49" y="40"/>
            <a:chExt cx="4062" cy="2280"/>
          </a:xfrm>
        </p:grpSpPr>
        <p:graphicFrame>
          <p:nvGraphicFramePr>
            <p:cNvPr id="979973" name="Object 5"/>
            <p:cNvGraphicFramePr>
              <a:graphicFrameLocks noChangeAspect="1"/>
            </p:cNvGraphicFramePr>
            <p:nvPr/>
          </p:nvGraphicFramePr>
          <p:xfrm>
            <a:off x="49" y="40"/>
            <a:ext cx="4062" cy="228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Chart" r:id="rId3" imgW="6448425" imgH="3619500" progId="Excel.Chart.8">
                    <p:embed/>
                  </p:oleObj>
                </mc:Choice>
                <mc:Fallback>
                  <p:oleObj name="Chart" r:id="rId3" imgW="6448425" imgH="3619500" progId="Excel.Chart.8">
                    <p:embed/>
                    <p:pic>
                      <p:nvPicPr>
                        <p:cNvPr id="979973" name="Object 5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4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9" y="40"/>
                          <a:ext cx="4062" cy="228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accent1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38100">
                              <a:solidFill>
                                <a:schemeClr val="tx1"/>
                              </a:solidFill>
                              <a:miter lim="800000"/>
                              <a:headEnd/>
                              <a:tailEnd type="none" w="med" len="lg"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chemeClr val="bg2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979974" name="Text Box 6"/>
            <p:cNvSpPr txBox="1">
              <a:spLocks noChangeArrowheads="1"/>
            </p:cNvSpPr>
            <p:nvPr/>
          </p:nvSpPr>
          <p:spPr bwMode="auto">
            <a:xfrm>
              <a:off x="1822" y="224"/>
              <a:ext cx="869" cy="19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rgbClr val="000000"/>
                  </a:solidFill>
                  <a:miter lim="800000"/>
                  <a:headEnd/>
                  <a:tailEnd type="none" w="med" len="lg"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defRPr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defRPr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defRPr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defRPr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l" eaLnBrk="1" hangingPunct="1"/>
              <a:r>
                <a:rPr lang="en-US" altLang="en-US" i="0"/>
                <a:t>Observed values</a:t>
              </a:r>
            </a:p>
          </p:txBody>
        </p:sp>
        <p:sp>
          <p:nvSpPr>
            <p:cNvPr id="979975" name="Text Box 7"/>
            <p:cNvSpPr txBox="1">
              <a:spLocks noChangeArrowheads="1"/>
            </p:cNvSpPr>
            <p:nvPr/>
          </p:nvSpPr>
          <p:spPr bwMode="auto">
            <a:xfrm>
              <a:off x="2558" y="1576"/>
              <a:ext cx="1010" cy="19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rgbClr val="000000"/>
                  </a:solidFill>
                  <a:miter lim="800000"/>
                  <a:headEnd/>
                  <a:tailEnd type="none" w="med" len="lg"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defRPr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defRPr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defRPr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defRPr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l" eaLnBrk="1" hangingPunct="1"/>
              <a:r>
                <a:rPr lang="en-US" altLang="en-US" i="0"/>
                <a:t>BAKF stepsize rule</a:t>
              </a:r>
            </a:p>
          </p:txBody>
        </p:sp>
      </p:grpSp>
      <p:sp>
        <p:nvSpPr>
          <p:cNvPr id="3" name="Rectangle 3">
            <a:extLst>
              <a:ext uri="{FF2B5EF4-FFF2-40B4-BE49-F238E27FC236}">
                <a16:creationId xmlns:a16="http://schemas.microsoft.com/office/drawing/2014/main" id="{0E86DF4F-CCDB-687C-4E91-E11184E93FB0}"/>
              </a:ext>
            </a:extLst>
          </p:cNvPr>
          <p:cNvSpPr txBox="1">
            <a:spLocks noChangeArrowheads="1"/>
          </p:cNvSpPr>
          <p:nvPr/>
        </p:nvSpPr>
        <p:spPr>
          <a:xfrm>
            <a:off x="914400" y="1143000"/>
            <a:ext cx="10363200" cy="495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70840" algn="l" rtl="0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240"/>
              <a:buFont typeface="Times New Roman"/>
              <a:buChar char="•"/>
              <a:defRPr sz="28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L="914400" marR="0" lvl="1" indent="-38100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 New Roman"/>
              <a:buChar char="»"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marL="1371600" marR="0" lvl="2" indent="-355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Char char="•"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marL="1828800" marR="0" lvl="3" indent="-355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Char char="–"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marL="2286000" marR="0" lvl="4" indent="-355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Char char="»"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marL="2743200" marR="0" lvl="5" indent="-355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Char char="»"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marL="3200400" marR="0" lvl="6" indent="-355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Char char="»"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marL="3657600" marR="0" lvl="7" indent="-355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Char char="»"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marL="4114800" marR="0" lvl="8" indent="-355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Char char="»"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pPr marL="86360" indent="0">
              <a:buFont typeface="Times New Roman"/>
              <a:buNone/>
            </a:pPr>
            <a:r>
              <a:rPr lang="en-US" altLang="en-US" dirty="0">
                <a:latin typeface="Raleway" pitchFamily="2" charset="0"/>
              </a:rPr>
              <a:t>The bias-adjusted Kalman filter – high noise case</a:t>
            </a:r>
          </a:p>
        </p:txBody>
      </p:sp>
    </p:spTree>
    <p:extLst>
      <p:ext uri="{BB962C8B-B14F-4D97-AF65-F5344CB8AC3E}">
        <p14:creationId xmlns:p14="http://schemas.microsoft.com/office/powerpoint/2010/main" val="3590744467"/>
      </p:ext>
    </p:extLst>
  </p:cSld>
  <p:clrMapOvr>
    <a:masterClrMapping/>
  </p:clrMapOvr>
</p:sld>
</file>

<file path=ppt/slides/slide1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45">
          <a:extLst>
            <a:ext uri="{FF2B5EF4-FFF2-40B4-BE49-F238E27FC236}">
              <a16:creationId xmlns:a16="http://schemas.microsoft.com/office/drawing/2014/main" id="{5453247D-4344-4CAE-B2E3-91B3E85E2CB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5A9643A8-93A6-0BED-9E70-66D652BF3D4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57956" y="-51516"/>
            <a:ext cx="12292833" cy="6909515"/>
          </a:xfrm>
          <a:prstGeom prst="rect">
            <a:avLst/>
          </a:prstGeom>
        </p:spPr>
      </p:pic>
      <p:sp>
        <p:nvSpPr>
          <p:cNvPr id="246" name="Google Shape;246;p26">
            <a:extLst>
              <a:ext uri="{FF2B5EF4-FFF2-40B4-BE49-F238E27FC236}">
                <a16:creationId xmlns:a16="http://schemas.microsoft.com/office/drawing/2014/main" id="{F0599BDF-43E0-CED2-EBDF-9F5E4D376CF4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2021700" y="353850"/>
            <a:ext cx="8283900" cy="550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solidFill>
                  <a:schemeClr val="lt1"/>
                </a:solidFill>
              </a:rPr>
              <a:t>OUTLINE</a:t>
            </a:r>
            <a:endParaRPr/>
          </a:p>
        </p:txBody>
      </p:sp>
      <p:sp>
        <p:nvSpPr>
          <p:cNvPr id="5" name="Google Shape;247;p26">
            <a:extLst>
              <a:ext uri="{FF2B5EF4-FFF2-40B4-BE49-F238E27FC236}">
                <a16:creationId xmlns:a16="http://schemas.microsoft.com/office/drawing/2014/main" id="{3A96CE07-86DE-C179-60A2-13C24B0C3F5C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1039756" y="1799894"/>
            <a:ext cx="10856871" cy="347911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42900">
              <a:spcBef>
                <a:spcPts val="0"/>
              </a:spcBef>
              <a:buClr>
                <a:schemeClr val="lt1"/>
              </a:buClr>
              <a:buFont typeface="Times New Roman"/>
              <a:buChar char="➜"/>
            </a:pPr>
            <a:r>
              <a:rPr lang="en-US" sz="2400" dirty="0">
                <a:solidFill>
                  <a:schemeClr val="bg1"/>
                </a:solidFill>
              </a:rPr>
              <a:t>VFA IV - Forward ADP and linear VFAs</a:t>
            </a:r>
          </a:p>
          <a:p>
            <a:pPr marL="800100" lvl="1">
              <a:buClr>
                <a:schemeClr val="lt1"/>
              </a:buClr>
              <a:buFont typeface="Times New Roman"/>
              <a:buChar char="➜"/>
            </a:pPr>
            <a:endParaRPr lang="en-US" sz="2000" dirty="0">
              <a:solidFill>
                <a:schemeClr val="bg1"/>
              </a:solidFill>
            </a:endParaRPr>
          </a:p>
          <a:p>
            <a:pPr marL="800100" lvl="1">
              <a:spcBef>
                <a:spcPts val="0"/>
              </a:spcBef>
              <a:buClr>
                <a:schemeClr val="lt1"/>
              </a:buClr>
              <a:buFont typeface="Times New Roman"/>
              <a:buChar char="➜"/>
            </a:pPr>
            <a:r>
              <a:rPr lang="en-US" sz="2000" dirty="0">
                <a:solidFill>
                  <a:schemeClr val="accent2">
                    <a:lumMod val="40000"/>
                    <a:lumOff val="60000"/>
                  </a:schemeClr>
                </a:solidFill>
              </a:rPr>
              <a:t>Algorithms</a:t>
            </a:r>
          </a:p>
          <a:p>
            <a:pPr marL="800100" lvl="1">
              <a:spcBef>
                <a:spcPts val="0"/>
              </a:spcBef>
              <a:buClr>
                <a:schemeClr val="lt1"/>
              </a:buClr>
              <a:buFont typeface="Times New Roman"/>
              <a:buChar char="➜"/>
            </a:pPr>
            <a:endParaRPr lang="en-US" sz="2000" dirty="0">
              <a:solidFill>
                <a:schemeClr val="accent2">
                  <a:lumMod val="40000"/>
                  <a:lumOff val="60000"/>
                </a:schemeClr>
              </a:solidFill>
            </a:endParaRPr>
          </a:p>
          <a:p>
            <a:pPr marL="800100" lvl="1">
              <a:spcBef>
                <a:spcPts val="0"/>
              </a:spcBef>
              <a:buClr>
                <a:schemeClr val="lt1"/>
              </a:buClr>
              <a:buFont typeface="Times New Roman"/>
              <a:buChar char="➜"/>
            </a:pPr>
            <a:r>
              <a:rPr lang="en-US" sz="2000" dirty="0" err="1">
                <a:solidFill>
                  <a:schemeClr val="accent2">
                    <a:lumMod val="40000"/>
                    <a:lumOff val="60000"/>
                  </a:schemeClr>
                </a:solidFill>
              </a:rPr>
              <a:t>Stepsizes</a:t>
            </a:r>
            <a:endParaRPr lang="en-US" sz="2000" dirty="0">
              <a:solidFill>
                <a:schemeClr val="accent2">
                  <a:lumMod val="40000"/>
                  <a:lumOff val="60000"/>
                </a:schemeClr>
              </a:solidFill>
            </a:endParaRPr>
          </a:p>
          <a:p>
            <a:pPr marL="800100" lvl="1">
              <a:spcBef>
                <a:spcPts val="0"/>
              </a:spcBef>
              <a:buClr>
                <a:schemeClr val="lt1"/>
              </a:buClr>
              <a:buFont typeface="Times New Roman"/>
              <a:buChar char="➜"/>
            </a:pPr>
            <a:endParaRPr lang="en-US" sz="2000" dirty="0">
              <a:solidFill>
                <a:schemeClr val="accent2">
                  <a:lumMod val="40000"/>
                  <a:lumOff val="60000"/>
                </a:schemeClr>
              </a:solidFill>
            </a:endParaRPr>
          </a:p>
          <a:p>
            <a:pPr marL="800100" lvl="1">
              <a:spcBef>
                <a:spcPts val="0"/>
              </a:spcBef>
              <a:buClr>
                <a:schemeClr val="lt1"/>
              </a:buClr>
              <a:buFont typeface="Times New Roman"/>
              <a:buChar char="➜"/>
            </a:pPr>
            <a:r>
              <a:rPr lang="en-US" sz="2000" dirty="0">
                <a:solidFill>
                  <a:schemeClr val="bg1"/>
                </a:solidFill>
              </a:rPr>
              <a:t>A financial application</a:t>
            </a:r>
          </a:p>
          <a:p>
            <a:pPr marL="800100" lvl="1">
              <a:buClr>
                <a:schemeClr val="lt1"/>
              </a:buClr>
              <a:buFont typeface="Arial" panose="020B0604020202020204" pitchFamily="34" charset="0"/>
              <a:buChar char="•"/>
            </a:pPr>
            <a:endParaRPr lang="en-US" sz="2000" dirty="0">
              <a:solidFill>
                <a:schemeClr val="bg1"/>
              </a:solidFill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4F755501-4064-D270-C2B3-276B1F9EEE5D}"/>
              </a:ext>
            </a:extLst>
          </p:cNvPr>
          <p:cNvSpPr txBox="1"/>
          <p:nvPr/>
        </p:nvSpPr>
        <p:spPr>
          <a:xfrm>
            <a:off x="11439525" y="6280363"/>
            <a:ext cx="52770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>
                <a:solidFill>
                  <a:schemeClr val="accent2">
                    <a:lumMod val="60000"/>
                    <a:lumOff val="40000"/>
                  </a:schemeClr>
                </a:solidFill>
              </a:rPr>
              <a:t>15</a:t>
            </a:r>
          </a:p>
        </p:txBody>
      </p:sp>
    </p:spTree>
    <p:extLst>
      <p:ext uri="{BB962C8B-B14F-4D97-AF65-F5344CB8AC3E}">
        <p14:creationId xmlns:p14="http://schemas.microsoft.com/office/powerpoint/2010/main" val="3229211800"/>
      </p:ext>
    </p:extLst>
  </p:cSld>
  <p:clrMapOvr>
    <a:masterClrMapping/>
  </p:clrMapOvr>
</p:sld>
</file>

<file path=ppt/slides/slide1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20F4737-A723-7B60-9A92-D24E40A3B99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3200" dirty="0"/>
              <a:t>Value iteration: Financial application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13F9A39-C8E0-3928-C32F-4881DF3D709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54997" y="1039544"/>
            <a:ext cx="10363200" cy="4401600"/>
          </a:xfrm>
        </p:spPr>
        <p:txBody>
          <a:bodyPr/>
          <a:lstStyle/>
          <a:p>
            <a:pPr marL="86360" indent="0">
              <a:buNone/>
            </a:pPr>
            <a:r>
              <a:rPr lang="en-US" dirty="0"/>
              <a:t>Longstaff and Schwartz - Pricing an American option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57D74A4E-EAC8-7731-000F-6FFE5E1A50C0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6441"/>
          <a:stretch/>
        </p:blipFill>
        <p:spPr>
          <a:xfrm>
            <a:off x="5291846" y="3010433"/>
            <a:ext cx="6094290" cy="3458121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4E6ABF7E-A36E-A5C5-3611-7D361ABA3FF5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12479"/>
          <a:stretch/>
        </p:blipFill>
        <p:spPr>
          <a:xfrm>
            <a:off x="603110" y="3106798"/>
            <a:ext cx="4120797" cy="3270708"/>
          </a:xfrm>
          <a:prstGeom prst="rect">
            <a:avLst/>
          </a:prstGeom>
        </p:spPr>
      </p:pic>
      <p:grpSp>
        <p:nvGrpSpPr>
          <p:cNvPr id="37" name="Group 36">
            <a:extLst>
              <a:ext uri="{FF2B5EF4-FFF2-40B4-BE49-F238E27FC236}">
                <a16:creationId xmlns:a16="http://schemas.microsoft.com/office/drawing/2014/main" id="{552BFD00-8E73-8963-727D-CC2DF29FB02A}"/>
              </a:ext>
            </a:extLst>
          </p:cNvPr>
          <p:cNvGrpSpPr/>
          <p:nvPr/>
        </p:nvGrpSpPr>
        <p:grpSpPr>
          <a:xfrm>
            <a:off x="1532117" y="1670661"/>
            <a:ext cx="8500341" cy="893597"/>
            <a:chOff x="1538602" y="2137588"/>
            <a:chExt cx="8500341" cy="893597"/>
          </a:xfrm>
        </p:grpSpPr>
        <p:grpSp>
          <p:nvGrpSpPr>
            <p:cNvPr id="38" name="Group 37">
              <a:extLst>
                <a:ext uri="{FF2B5EF4-FFF2-40B4-BE49-F238E27FC236}">
                  <a16:creationId xmlns:a16="http://schemas.microsoft.com/office/drawing/2014/main" id="{7D9F926A-22A0-9030-16F6-D1468991DD0A}"/>
                </a:ext>
              </a:extLst>
            </p:cNvPr>
            <p:cNvGrpSpPr/>
            <p:nvPr/>
          </p:nvGrpSpPr>
          <p:grpSpPr>
            <a:xfrm>
              <a:off x="1538602" y="2137588"/>
              <a:ext cx="2138453" cy="887107"/>
              <a:chOff x="1538602" y="2137588"/>
              <a:chExt cx="2138453" cy="887107"/>
            </a:xfrm>
          </p:grpSpPr>
          <p:sp>
            <p:nvSpPr>
              <p:cNvPr id="62" name="Oval 61">
                <a:extLst>
                  <a:ext uri="{FF2B5EF4-FFF2-40B4-BE49-F238E27FC236}">
                    <a16:creationId xmlns:a16="http://schemas.microsoft.com/office/drawing/2014/main" id="{22F4EF23-FE15-035B-F1E7-89796A72CF93}"/>
                  </a:ext>
                </a:extLst>
              </p:cNvPr>
              <p:cNvSpPr/>
              <p:nvPr/>
            </p:nvSpPr>
            <p:spPr>
              <a:xfrm>
                <a:off x="1544372" y="2724660"/>
                <a:ext cx="290914" cy="290914"/>
              </a:xfrm>
              <a:prstGeom prst="ellipse">
                <a:avLst/>
              </a:prstGeom>
              <a:solidFill>
                <a:schemeClr val="bg1"/>
              </a:solidFill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63" name="TextBox 62">
                <a:extLst>
                  <a:ext uri="{FF2B5EF4-FFF2-40B4-BE49-F238E27FC236}">
                    <a16:creationId xmlns:a16="http://schemas.microsoft.com/office/drawing/2014/main" id="{483086A2-3D8C-B3FE-5D87-0A9530A08D8E}"/>
                  </a:ext>
                </a:extLst>
              </p:cNvPr>
              <p:cNvSpPr txBox="1"/>
              <p:nvPr/>
            </p:nvSpPr>
            <p:spPr>
              <a:xfrm>
                <a:off x="1538602" y="2716918"/>
                <a:ext cx="284052" cy="30777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dirty="0"/>
                  <a:t>1</a:t>
                </a:r>
              </a:p>
            </p:txBody>
          </p:sp>
          <p:cxnSp>
            <p:nvCxnSpPr>
              <p:cNvPr id="64" name="Straight Arrow Connector 63">
                <a:extLst>
                  <a:ext uri="{FF2B5EF4-FFF2-40B4-BE49-F238E27FC236}">
                    <a16:creationId xmlns:a16="http://schemas.microsoft.com/office/drawing/2014/main" id="{5FE0CF0F-CC66-5CFA-76CD-D33CEA294552}"/>
                  </a:ext>
                </a:extLst>
              </p:cNvPr>
              <p:cNvCxnSpPr>
                <a:stCxn id="62" idx="6"/>
              </p:cNvCxnSpPr>
              <p:nvPr/>
            </p:nvCxnSpPr>
            <p:spPr>
              <a:xfrm>
                <a:off x="1835286" y="2870117"/>
                <a:ext cx="1841769" cy="0"/>
              </a:xfrm>
              <a:prstGeom prst="straightConnector1">
                <a:avLst/>
              </a:prstGeom>
              <a:ln w="28575">
                <a:solidFill>
                  <a:schemeClr val="tx1"/>
                </a:solidFill>
                <a:headEnd type="none" w="med" len="med"/>
                <a:tailEnd type="arrow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5" name="Straight Arrow Connector 64">
                <a:extLst>
                  <a:ext uri="{FF2B5EF4-FFF2-40B4-BE49-F238E27FC236}">
                    <a16:creationId xmlns:a16="http://schemas.microsoft.com/office/drawing/2014/main" id="{378F34F4-938B-0B56-4690-E691C3395DCB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1847918" y="2137588"/>
                <a:ext cx="1166432" cy="739760"/>
              </a:xfrm>
              <a:prstGeom prst="straightConnector1">
                <a:avLst/>
              </a:prstGeom>
              <a:ln w="28575">
                <a:solidFill>
                  <a:schemeClr val="tx1"/>
                </a:solidFill>
                <a:headEnd type="none" w="med" len="med"/>
                <a:tailEnd type="arrow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66" name="TextBox 65">
                <a:extLst>
                  <a:ext uri="{FF2B5EF4-FFF2-40B4-BE49-F238E27FC236}">
                    <a16:creationId xmlns:a16="http://schemas.microsoft.com/office/drawing/2014/main" id="{0410B58A-BA80-DE3F-B4EA-F41D9E1576DF}"/>
                  </a:ext>
                </a:extLst>
              </p:cNvPr>
              <p:cNvSpPr txBox="1"/>
              <p:nvPr/>
            </p:nvSpPr>
            <p:spPr>
              <a:xfrm>
                <a:off x="2431134" y="2594757"/>
                <a:ext cx="553357" cy="30777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dirty="0"/>
                  <a:t>Hold</a:t>
                </a:r>
              </a:p>
            </p:txBody>
          </p: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67" name="TextBox 66">
                    <a:extLst>
                      <a:ext uri="{FF2B5EF4-FFF2-40B4-BE49-F238E27FC236}">
                        <a16:creationId xmlns:a16="http://schemas.microsoft.com/office/drawing/2014/main" id="{FD04AB90-F370-43A2-9B0D-DC56AE1F2C50}"/>
                      </a:ext>
                    </a:extLst>
                  </p:cNvPr>
                  <p:cNvSpPr txBox="1"/>
                  <p:nvPr/>
                </p:nvSpPr>
                <p:spPr>
                  <a:xfrm rot="19640672">
                    <a:off x="1788240" y="2273357"/>
                    <a:ext cx="905184" cy="307777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r>
                      <a:rPr lang="en-US" dirty="0"/>
                      <a:t>Sell at </a:t>
                    </a:r>
                    <a14:m>
                      <m:oMath xmlns:m="http://schemas.openxmlformats.org/officeDocument/2006/math"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𝑝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oMath>
                    </a14:m>
                    <a:endParaRPr lang="en-US" dirty="0"/>
                  </a:p>
                </p:txBody>
              </p:sp>
            </mc:Choice>
            <mc:Fallback xmlns="">
              <p:sp>
                <p:nvSpPr>
                  <p:cNvPr id="67" name="TextBox 66">
                    <a:extLst>
                      <a:ext uri="{FF2B5EF4-FFF2-40B4-BE49-F238E27FC236}">
                        <a16:creationId xmlns:a16="http://schemas.microsoft.com/office/drawing/2014/main" id="{FD04AB90-F370-43A2-9B0D-DC56AE1F2C50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 rot="19640672">
                    <a:off x="1788240" y="2273357"/>
                    <a:ext cx="905184" cy="307777"/>
                  </a:xfrm>
                  <a:prstGeom prst="rect">
                    <a:avLst/>
                  </a:prstGeom>
                  <a:blipFill>
                    <a:blip r:embed="rId4"/>
                    <a:stretch>
                      <a:fillRect l="-1961" b="-8130"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  <p:grpSp>
          <p:nvGrpSpPr>
            <p:cNvPr id="39" name="Group 38">
              <a:extLst>
                <a:ext uri="{FF2B5EF4-FFF2-40B4-BE49-F238E27FC236}">
                  <a16:creationId xmlns:a16="http://schemas.microsoft.com/office/drawing/2014/main" id="{B15D1BA8-0C55-A2E6-9267-6CCBB177E811}"/>
                </a:ext>
              </a:extLst>
            </p:cNvPr>
            <p:cNvGrpSpPr/>
            <p:nvPr/>
          </p:nvGrpSpPr>
          <p:grpSpPr>
            <a:xfrm>
              <a:off x="3655991" y="2140833"/>
              <a:ext cx="2138453" cy="887107"/>
              <a:chOff x="1538602" y="2137588"/>
              <a:chExt cx="2138453" cy="887107"/>
            </a:xfrm>
          </p:grpSpPr>
          <p:sp>
            <p:nvSpPr>
              <p:cNvPr id="56" name="Oval 55">
                <a:extLst>
                  <a:ext uri="{FF2B5EF4-FFF2-40B4-BE49-F238E27FC236}">
                    <a16:creationId xmlns:a16="http://schemas.microsoft.com/office/drawing/2014/main" id="{0D2FE433-A7DE-075F-8607-DE7016B424AC}"/>
                  </a:ext>
                </a:extLst>
              </p:cNvPr>
              <p:cNvSpPr/>
              <p:nvPr/>
            </p:nvSpPr>
            <p:spPr>
              <a:xfrm>
                <a:off x="1544372" y="2724660"/>
                <a:ext cx="290914" cy="290914"/>
              </a:xfrm>
              <a:prstGeom prst="ellipse">
                <a:avLst/>
              </a:prstGeom>
              <a:solidFill>
                <a:schemeClr val="bg1"/>
              </a:solidFill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57" name="TextBox 56">
                <a:extLst>
                  <a:ext uri="{FF2B5EF4-FFF2-40B4-BE49-F238E27FC236}">
                    <a16:creationId xmlns:a16="http://schemas.microsoft.com/office/drawing/2014/main" id="{66DADCB7-79E7-8227-CC03-E7E1B61300D4}"/>
                  </a:ext>
                </a:extLst>
              </p:cNvPr>
              <p:cNvSpPr txBox="1"/>
              <p:nvPr/>
            </p:nvSpPr>
            <p:spPr>
              <a:xfrm>
                <a:off x="1538602" y="2716918"/>
                <a:ext cx="284052" cy="30777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dirty="0"/>
                  <a:t>2</a:t>
                </a:r>
              </a:p>
            </p:txBody>
          </p:sp>
          <p:cxnSp>
            <p:nvCxnSpPr>
              <p:cNvPr id="58" name="Straight Arrow Connector 57">
                <a:extLst>
                  <a:ext uri="{FF2B5EF4-FFF2-40B4-BE49-F238E27FC236}">
                    <a16:creationId xmlns:a16="http://schemas.microsoft.com/office/drawing/2014/main" id="{88991F0A-1B10-FF9C-C965-AC478C23F525}"/>
                  </a:ext>
                </a:extLst>
              </p:cNvPr>
              <p:cNvCxnSpPr>
                <a:stCxn id="56" idx="6"/>
              </p:cNvCxnSpPr>
              <p:nvPr/>
            </p:nvCxnSpPr>
            <p:spPr>
              <a:xfrm>
                <a:off x="1835286" y="2870117"/>
                <a:ext cx="1841769" cy="0"/>
              </a:xfrm>
              <a:prstGeom prst="straightConnector1">
                <a:avLst/>
              </a:prstGeom>
              <a:ln w="28575">
                <a:solidFill>
                  <a:schemeClr val="tx1"/>
                </a:solidFill>
                <a:headEnd type="none" w="med" len="med"/>
                <a:tailEnd type="arrow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9" name="Straight Arrow Connector 58">
                <a:extLst>
                  <a:ext uri="{FF2B5EF4-FFF2-40B4-BE49-F238E27FC236}">
                    <a16:creationId xmlns:a16="http://schemas.microsoft.com/office/drawing/2014/main" id="{740F9C4A-DFDE-ED8B-38F8-593556315C7C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1847918" y="2137588"/>
                <a:ext cx="1166432" cy="739760"/>
              </a:xfrm>
              <a:prstGeom prst="straightConnector1">
                <a:avLst/>
              </a:prstGeom>
              <a:ln w="28575">
                <a:solidFill>
                  <a:schemeClr val="tx1"/>
                </a:solidFill>
                <a:headEnd type="none" w="med" len="med"/>
                <a:tailEnd type="arrow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60" name="TextBox 59">
                <a:extLst>
                  <a:ext uri="{FF2B5EF4-FFF2-40B4-BE49-F238E27FC236}">
                    <a16:creationId xmlns:a16="http://schemas.microsoft.com/office/drawing/2014/main" id="{1140CAF2-A5BB-CC07-045F-DBA9F427BDFE}"/>
                  </a:ext>
                </a:extLst>
              </p:cNvPr>
              <p:cNvSpPr txBox="1"/>
              <p:nvPr/>
            </p:nvSpPr>
            <p:spPr>
              <a:xfrm>
                <a:off x="2431134" y="2594757"/>
                <a:ext cx="553357" cy="30777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dirty="0"/>
                  <a:t>Hold</a:t>
                </a:r>
              </a:p>
            </p:txBody>
          </p: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61" name="TextBox 60">
                    <a:extLst>
                      <a:ext uri="{FF2B5EF4-FFF2-40B4-BE49-F238E27FC236}">
                        <a16:creationId xmlns:a16="http://schemas.microsoft.com/office/drawing/2014/main" id="{6819AD98-B5D3-66DC-6768-5AEF1C98481D}"/>
                      </a:ext>
                    </a:extLst>
                  </p:cNvPr>
                  <p:cNvSpPr txBox="1"/>
                  <p:nvPr/>
                </p:nvSpPr>
                <p:spPr>
                  <a:xfrm rot="19640672">
                    <a:off x="1786156" y="2273357"/>
                    <a:ext cx="909352" cy="307777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r>
                      <a:rPr lang="en-US" dirty="0"/>
                      <a:t>Sell at </a:t>
                    </a:r>
                    <a14:m>
                      <m:oMath xmlns:m="http://schemas.openxmlformats.org/officeDocument/2006/math"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𝑝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oMath>
                    </a14:m>
                    <a:endParaRPr lang="en-US" dirty="0"/>
                  </a:p>
                </p:txBody>
              </p:sp>
            </mc:Choice>
            <mc:Fallback xmlns="">
              <p:sp>
                <p:nvSpPr>
                  <p:cNvPr id="61" name="TextBox 60">
                    <a:extLst>
                      <a:ext uri="{FF2B5EF4-FFF2-40B4-BE49-F238E27FC236}">
                        <a16:creationId xmlns:a16="http://schemas.microsoft.com/office/drawing/2014/main" id="{6819AD98-B5D3-66DC-6768-5AEF1C98481D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 rot="19640672">
                    <a:off x="1786156" y="2273357"/>
                    <a:ext cx="909352" cy="307777"/>
                  </a:xfrm>
                  <a:prstGeom prst="rect">
                    <a:avLst/>
                  </a:prstGeom>
                  <a:blipFill>
                    <a:blip r:embed="rId5"/>
                    <a:stretch>
                      <a:fillRect l="-1948" b="-7258"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  <p:grpSp>
          <p:nvGrpSpPr>
            <p:cNvPr id="40" name="Group 39">
              <a:extLst>
                <a:ext uri="{FF2B5EF4-FFF2-40B4-BE49-F238E27FC236}">
                  <a16:creationId xmlns:a16="http://schemas.microsoft.com/office/drawing/2014/main" id="{B682EBC8-0FA3-E4A3-5B98-1362B9C821D0}"/>
                </a:ext>
              </a:extLst>
            </p:cNvPr>
            <p:cNvGrpSpPr/>
            <p:nvPr/>
          </p:nvGrpSpPr>
          <p:grpSpPr>
            <a:xfrm>
              <a:off x="5783101" y="2140833"/>
              <a:ext cx="2138453" cy="887107"/>
              <a:chOff x="1538602" y="2137588"/>
              <a:chExt cx="2138453" cy="887107"/>
            </a:xfrm>
          </p:grpSpPr>
          <p:sp>
            <p:nvSpPr>
              <p:cNvPr id="50" name="Oval 49">
                <a:extLst>
                  <a:ext uri="{FF2B5EF4-FFF2-40B4-BE49-F238E27FC236}">
                    <a16:creationId xmlns:a16="http://schemas.microsoft.com/office/drawing/2014/main" id="{D58E157E-BCD8-7780-62F8-BAEDDF8B710B}"/>
                  </a:ext>
                </a:extLst>
              </p:cNvPr>
              <p:cNvSpPr/>
              <p:nvPr/>
            </p:nvSpPr>
            <p:spPr>
              <a:xfrm>
                <a:off x="1544372" y="2724660"/>
                <a:ext cx="290914" cy="290914"/>
              </a:xfrm>
              <a:prstGeom prst="ellipse">
                <a:avLst/>
              </a:prstGeom>
              <a:solidFill>
                <a:schemeClr val="bg1"/>
              </a:solidFill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51" name="TextBox 50">
                <a:extLst>
                  <a:ext uri="{FF2B5EF4-FFF2-40B4-BE49-F238E27FC236}">
                    <a16:creationId xmlns:a16="http://schemas.microsoft.com/office/drawing/2014/main" id="{B0DED893-D1E1-1743-1DED-D02A563AF752}"/>
                  </a:ext>
                </a:extLst>
              </p:cNvPr>
              <p:cNvSpPr txBox="1"/>
              <p:nvPr/>
            </p:nvSpPr>
            <p:spPr>
              <a:xfrm>
                <a:off x="1538602" y="2716918"/>
                <a:ext cx="284052" cy="30777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dirty="0"/>
                  <a:t>3</a:t>
                </a:r>
              </a:p>
            </p:txBody>
          </p:sp>
          <p:cxnSp>
            <p:nvCxnSpPr>
              <p:cNvPr id="52" name="Straight Arrow Connector 51">
                <a:extLst>
                  <a:ext uri="{FF2B5EF4-FFF2-40B4-BE49-F238E27FC236}">
                    <a16:creationId xmlns:a16="http://schemas.microsoft.com/office/drawing/2014/main" id="{ADF23DA4-100D-D7D5-1330-727C96C3D0F5}"/>
                  </a:ext>
                </a:extLst>
              </p:cNvPr>
              <p:cNvCxnSpPr>
                <a:stCxn id="50" idx="6"/>
              </p:cNvCxnSpPr>
              <p:nvPr/>
            </p:nvCxnSpPr>
            <p:spPr>
              <a:xfrm>
                <a:off x="1835286" y="2870117"/>
                <a:ext cx="1841769" cy="0"/>
              </a:xfrm>
              <a:prstGeom prst="straightConnector1">
                <a:avLst/>
              </a:prstGeom>
              <a:ln w="28575">
                <a:solidFill>
                  <a:schemeClr val="tx1"/>
                </a:solidFill>
                <a:headEnd type="none" w="med" len="med"/>
                <a:tailEnd type="arrow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3" name="Straight Arrow Connector 52">
                <a:extLst>
                  <a:ext uri="{FF2B5EF4-FFF2-40B4-BE49-F238E27FC236}">
                    <a16:creationId xmlns:a16="http://schemas.microsoft.com/office/drawing/2014/main" id="{2DFA2C34-747F-31DC-8240-6529B3AA264D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1847918" y="2137588"/>
                <a:ext cx="1166432" cy="739760"/>
              </a:xfrm>
              <a:prstGeom prst="straightConnector1">
                <a:avLst/>
              </a:prstGeom>
              <a:ln w="28575">
                <a:solidFill>
                  <a:schemeClr val="tx1"/>
                </a:solidFill>
                <a:headEnd type="none" w="med" len="med"/>
                <a:tailEnd type="arrow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54" name="TextBox 53">
                <a:extLst>
                  <a:ext uri="{FF2B5EF4-FFF2-40B4-BE49-F238E27FC236}">
                    <a16:creationId xmlns:a16="http://schemas.microsoft.com/office/drawing/2014/main" id="{CB0B0079-98BC-DA0A-C48E-8B1E38205EEC}"/>
                  </a:ext>
                </a:extLst>
              </p:cNvPr>
              <p:cNvSpPr txBox="1"/>
              <p:nvPr/>
            </p:nvSpPr>
            <p:spPr>
              <a:xfrm>
                <a:off x="2431134" y="2594757"/>
                <a:ext cx="553357" cy="30777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dirty="0"/>
                  <a:t>Hold</a:t>
                </a:r>
              </a:p>
            </p:txBody>
          </p: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55" name="TextBox 54">
                    <a:extLst>
                      <a:ext uri="{FF2B5EF4-FFF2-40B4-BE49-F238E27FC236}">
                        <a16:creationId xmlns:a16="http://schemas.microsoft.com/office/drawing/2014/main" id="{044DF146-E4CC-E283-3AEE-2B558DA372F9}"/>
                      </a:ext>
                    </a:extLst>
                  </p:cNvPr>
                  <p:cNvSpPr txBox="1"/>
                  <p:nvPr/>
                </p:nvSpPr>
                <p:spPr>
                  <a:xfrm rot="19640672">
                    <a:off x="1786156" y="2273357"/>
                    <a:ext cx="909352" cy="307777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r>
                      <a:rPr lang="en-US" dirty="0"/>
                      <a:t>Sell at </a:t>
                    </a:r>
                    <a14:m>
                      <m:oMath xmlns:m="http://schemas.openxmlformats.org/officeDocument/2006/math"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𝑝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3</m:t>
                            </m:r>
                          </m:sub>
                        </m:sSub>
                      </m:oMath>
                    </a14:m>
                    <a:endParaRPr lang="en-US" dirty="0"/>
                  </a:p>
                </p:txBody>
              </p:sp>
            </mc:Choice>
            <mc:Fallback xmlns="">
              <p:sp>
                <p:nvSpPr>
                  <p:cNvPr id="55" name="TextBox 54">
                    <a:extLst>
                      <a:ext uri="{FF2B5EF4-FFF2-40B4-BE49-F238E27FC236}">
                        <a16:creationId xmlns:a16="http://schemas.microsoft.com/office/drawing/2014/main" id="{044DF146-E4CC-E283-3AEE-2B558DA372F9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 rot="19640672">
                    <a:off x="1786156" y="2273357"/>
                    <a:ext cx="909352" cy="307777"/>
                  </a:xfrm>
                  <a:prstGeom prst="rect">
                    <a:avLst/>
                  </a:prstGeom>
                  <a:blipFill>
                    <a:blip r:embed="rId6"/>
                    <a:stretch>
                      <a:fillRect l="-1948" b="-7258"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  <p:grpSp>
          <p:nvGrpSpPr>
            <p:cNvPr id="41" name="Group 40">
              <a:extLst>
                <a:ext uri="{FF2B5EF4-FFF2-40B4-BE49-F238E27FC236}">
                  <a16:creationId xmlns:a16="http://schemas.microsoft.com/office/drawing/2014/main" id="{BA4482FB-A8C1-863E-5C2E-FD954C3F071F}"/>
                </a:ext>
              </a:extLst>
            </p:cNvPr>
            <p:cNvGrpSpPr/>
            <p:nvPr/>
          </p:nvGrpSpPr>
          <p:grpSpPr>
            <a:xfrm>
              <a:off x="7900490" y="2144078"/>
              <a:ext cx="2138453" cy="887107"/>
              <a:chOff x="1538602" y="2137588"/>
              <a:chExt cx="2138453" cy="887107"/>
            </a:xfrm>
          </p:grpSpPr>
          <p:sp>
            <p:nvSpPr>
              <p:cNvPr id="44" name="Oval 43">
                <a:extLst>
                  <a:ext uri="{FF2B5EF4-FFF2-40B4-BE49-F238E27FC236}">
                    <a16:creationId xmlns:a16="http://schemas.microsoft.com/office/drawing/2014/main" id="{92C20469-B178-DC25-03D5-006E1ABDB10A}"/>
                  </a:ext>
                </a:extLst>
              </p:cNvPr>
              <p:cNvSpPr/>
              <p:nvPr/>
            </p:nvSpPr>
            <p:spPr>
              <a:xfrm>
                <a:off x="1544372" y="2724660"/>
                <a:ext cx="290914" cy="290914"/>
              </a:xfrm>
              <a:prstGeom prst="ellipse">
                <a:avLst/>
              </a:prstGeom>
              <a:solidFill>
                <a:schemeClr val="bg1"/>
              </a:solidFill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45" name="TextBox 44">
                <a:extLst>
                  <a:ext uri="{FF2B5EF4-FFF2-40B4-BE49-F238E27FC236}">
                    <a16:creationId xmlns:a16="http://schemas.microsoft.com/office/drawing/2014/main" id="{C72E72A0-20FD-802D-1BAF-2FB8FFFF2DCF}"/>
                  </a:ext>
                </a:extLst>
              </p:cNvPr>
              <p:cNvSpPr txBox="1"/>
              <p:nvPr/>
            </p:nvSpPr>
            <p:spPr>
              <a:xfrm>
                <a:off x="1538602" y="2716918"/>
                <a:ext cx="284052" cy="30777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dirty="0"/>
                  <a:t>4</a:t>
                </a:r>
              </a:p>
            </p:txBody>
          </p:sp>
          <p:cxnSp>
            <p:nvCxnSpPr>
              <p:cNvPr id="46" name="Straight Arrow Connector 45">
                <a:extLst>
                  <a:ext uri="{FF2B5EF4-FFF2-40B4-BE49-F238E27FC236}">
                    <a16:creationId xmlns:a16="http://schemas.microsoft.com/office/drawing/2014/main" id="{F9CC715D-B871-8408-0EB1-6222240AC17A}"/>
                  </a:ext>
                </a:extLst>
              </p:cNvPr>
              <p:cNvCxnSpPr>
                <a:stCxn id="44" idx="6"/>
              </p:cNvCxnSpPr>
              <p:nvPr/>
            </p:nvCxnSpPr>
            <p:spPr>
              <a:xfrm>
                <a:off x="1835286" y="2870117"/>
                <a:ext cx="1841769" cy="0"/>
              </a:xfrm>
              <a:prstGeom prst="straightConnector1">
                <a:avLst/>
              </a:prstGeom>
              <a:ln w="28575">
                <a:solidFill>
                  <a:schemeClr val="tx1"/>
                </a:solidFill>
                <a:headEnd type="none" w="med" len="med"/>
                <a:tailEnd type="arrow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7" name="Straight Arrow Connector 46">
                <a:extLst>
                  <a:ext uri="{FF2B5EF4-FFF2-40B4-BE49-F238E27FC236}">
                    <a16:creationId xmlns:a16="http://schemas.microsoft.com/office/drawing/2014/main" id="{280C9AA7-98AF-D41F-25B0-8B29ADC60D4B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1847918" y="2137588"/>
                <a:ext cx="1166432" cy="739760"/>
              </a:xfrm>
              <a:prstGeom prst="straightConnector1">
                <a:avLst/>
              </a:prstGeom>
              <a:ln w="28575">
                <a:solidFill>
                  <a:schemeClr val="tx1"/>
                </a:solidFill>
                <a:headEnd type="none" w="med" len="med"/>
                <a:tailEnd type="arrow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48" name="TextBox 47">
                <a:extLst>
                  <a:ext uri="{FF2B5EF4-FFF2-40B4-BE49-F238E27FC236}">
                    <a16:creationId xmlns:a16="http://schemas.microsoft.com/office/drawing/2014/main" id="{CFD906ED-C74D-1A09-6F43-7AAB57CD0782}"/>
                  </a:ext>
                </a:extLst>
              </p:cNvPr>
              <p:cNvSpPr txBox="1"/>
              <p:nvPr/>
            </p:nvSpPr>
            <p:spPr>
              <a:xfrm>
                <a:off x="2431134" y="2594757"/>
                <a:ext cx="553357" cy="30777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dirty="0"/>
                  <a:t>Hold</a:t>
                </a:r>
              </a:p>
            </p:txBody>
          </p: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49" name="TextBox 48">
                    <a:extLst>
                      <a:ext uri="{FF2B5EF4-FFF2-40B4-BE49-F238E27FC236}">
                        <a16:creationId xmlns:a16="http://schemas.microsoft.com/office/drawing/2014/main" id="{3E11E04C-327F-F2D5-70BF-26E07AD10795}"/>
                      </a:ext>
                    </a:extLst>
                  </p:cNvPr>
                  <p:cNvSpPr txBox="1"/>
                  <p:nvPr/>
                </p:nvSpPr>
                <p:spPr>
                  <a:xfrm rot="19640672">
                    <a:off x="1786798" y="2273357"/>
                    <a:ext cx="908069" cy="307777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r>
                      <a:rPr lang="en-US" dirty="0"/>
                      <a:t>Sell at </a:t>
                    </a:r>
                    <a14:m>
                      <m:oMath xmlns:m="http://schemas.openxmlformats.org/officeDocument/2006/math"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𝑝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4</m:t>
                            </m:r>
                          </m:sub>
                        </m:sSub>
                      </m:oMath>
                    </a14:m>
                    <a:endParaRPr lang="en-US" dirty="0"/>
                  </a:p>
                </p:txBody>
              </p:sp>
            </mc:Choice>
            <mc:Fallback xmlns="">
              <p:sp>
                <p:nvSpPr>
                  <p:cNvPr id="49" name="TextBox 48">
                    <a:extLst>
                      <a:ext uri="{FF2B5EF4-FFF2-40B4-BE49-F238E27FC236}">
                        <a16:creationId xmlns:a16="http://schemas.microsoft.com/office/drawing/2014/main" id="{3E11E04C-327F-F2D5-70BF-26E07AD10795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 rot="19640672">
                    <a:off x="1786798" y="2273357"/>
                    <a:ext cx="908069" cy="307777"/>
                  </a:xfrm>
                  <a:prstGeom prst="rect">
                    <a:avLst/>
                  </a:prstGeom>
                  <a:blipFill>
                    <a:blip r:embed="rId7"/>
                    <a:stretch>
                      <a:fillRect l="-1299" b="-7258"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</p:grpSp>
      <p:sp>
        <p:nvSpPr>
          <p:cNvPr id="68" name="TextBox 67">
            <a:extLst>
              <a:ext uri="{FF2B5EF4-FFF2-40B4-BE49-F238E27FC236}">
                <a16:creationId xmlns:a16="http://schemas.microsoft.com/office/drawing/2014/main" id="{AA68A860-F31A-AAC8-CCFF-58674C18DDD0}"/>
              </a:ext>
            </a:extLst>
          </p:cNvPr>
          <p:cNvSpPr txBox="1"/>
          <p:nvPr/>
        </p:nvSpPr>
        <p:spPr>
          <a:xfrm>
            <a:off x="7409161" y="3275111"/>
            <a:ext cx="1011815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Sell prices</a:t>
            </a:r>
          </a:p>
        </p:txBody>
      </p:sp>
    </p:spTree>
    <p:extLst>
      <p:ext uri="{BB962C8B-B14F-4D97-AF65-F5344CB8AC3E}">
        <p14:creationId xmlns:p14="http://schemas.microsoft.com/office/powerpoint/2010/main" val="2998000961"/>
      </p:ext>
    </p:extLst>
  </p:cSld>
  <p:clrMapOvr>
    <a:masterClrMapping/>
  </p:clrMapOvr>
</p:sld>
</file>

<file path=ppt/slides/slide1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093F0B8-9C68-0F7F-345A-5B08B2759D9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Text Placeholder 2">
            <a:extLst>
              <a:ext uri="{FF2B5EF4-FFF2-40B4-BE49-F238E27FC236}">
                <a16:creationId xmlns:a16="http://schemas.microsoft.com/office/drawing/2014/main" id="{2EC13385-2E3C-A616-02D3-A747A12831E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54997" y="1039544"/>
            <a:ext cx="10363200" cy="4401600"/>
          </a:xfrm>
        </p:spPr>
        <p:txBody>
          <a:bodyPr/>
          <a:lstStyle/>
          <a:p>
            <a:pPr marL="86360" indent="0">
              <a:buNone/>
            </a:pPr>
            <a:r>
              <a:rPr lang="en-US" dirty="0"/>
              <a:t>Longstaff and Schwartz - Pricing an American option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85B51BF-F8C9-0E8C-A2F4-A135B74915C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3200" dirty="0"/>
              <a:t>Value iteration: Financial application</a:t>
            </a:r>
            <a:endParaRPr lang="en-US" dirty="0"/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4063BF19-1ED8-F285-BBC3-D34801502A80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35271"/>
          <a:stretch/>
        </p:blipFill>
        <p:spPr>
          <a:xfrm>
            <a:off x="2287338" y="3382110"/>
            <a:ext cx="3629538" cy="2355030"/>
          </a:xfrm>
          <a:prstGeom prst="rect">
            <a:avLst/>
          </a:prstGeom>
        </p:spPr>
      </p:pic>
      <p:sp>
        <p:nvSpPr>
          <p:cNvPr id="46" name="TextBox 45">
            <a:extLst>
              <a:ext uri="{FF2B5EF4-FFF2-40B4-BE49-F238E27FC236}">
                <a16:creationId xmlns:a16="http://schemas.microsoft.com/office/drawing/2014/main" id="{A495B3A4-291B-62D8-68E8-D8820BFD75FC}"/>
              </a:ext>
            </a:extLst>
          </p:cNvPr>
          <p:cNvSpPr txBox="1"/>
          <p:nvPr/>
        </p:nvSpPr>
        <p:spPr>
          <a:xfrm>
            <a:off x="2321079" y="3105111"/>
            <a:ext cx="2978701" cy="276999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r>
              <a:rPr lang="en-US" sz="1200" dirty="0"/>
              <a:t>Outcome       Sell                          Hold    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627D5856-9A49-BD9B-4372-C7FD206082D6}"/>
              </a:ext>
            </a:extLst>
          </p:cNvPr>
          <p:cNvSpPr/>
          <p:nvPr/>
        </p:nvSpPr>
        <p:spPr>
          <a:xfrm>
            <a:off x="3238470" y="3401565"/>
            <a:ext cx="495970" cy="2166107"/>
          </a:xfrm>
          <a:prstGeom prst="rect">
            <a:avLst/>
          </a:prstGeom>
          <a:noFill/>
          <a:ln w="19050">
            <a:solidFill>
              <a:schemeClr val="accent2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21" name="Group 20">
            <a:extLst>
              <a:ext uri="{FF2B5EF4-FFF2-40B4-BE49-F238E27FC236}">
                <a16:creationId xmlns:a16="http://schemas.microsoft.com/office/drawing/2014/main" id="{8DAB739B-B6F9-03A1-9740-5C35188C1AC7}"/>
              </a:ext>
            </a:extLst>
          </p:cNvPr>
          <p:cNvGrpSpPr/>
          <p:nvPr/>
        </p:nvGrpSpPr>
        <p:grpSpPr>
          <a:xfrm>
            <a:off x="1532117" y="1670661"/>
            <a:ext cx="8500341" cy="893597"/>
            <a:chOff x="1538602" y="2137588"/>
            <a:chExt cx="8500341" cy="893597"/>
          </a:xfrm>
        </p:grpSpPr>
        <p:grpSp>
          <p:nvGrpSpPr>
            <p:cNvPr id="48" name="Group 47">
              <a:extLst>
                <a:ext uri="{FF2B5EF4-FFF2-40B4-BE49-F238E27FC236}">
                  <a16:creationId xmlns:a16="http://schemas.microsoft.com/office/drawing/2014/main" id="{5085EDF8-3DA9-1D39-5204-DD427952C1B5}"/>
                </a:ext>
              </a:extLst>
            </p:cNvPr>
            <p:cNvGrpSpPr/>
            <p:nvPr/>
          </p:nvGrpSpPr>
          <p:grpSpPr>
            <a:xfrm>
              <a:off x="1538602" y="2137588"/>
              <a:ext cx="2138453" cy="887107"/>
              <a:chOff x="1538602" y="2137588"/>
              <a:chExt cx="2138453" cy="887107"/>
            </a:xfrm>
          </p:grpSpPr>
          <p:sp>
            <p:nvSpPr>
              <p:cNvPr id="81" name="Oval 80">
                <a:extLst>
                  <a:ext uri="{FF2B5EF4-FFF2-40B4-BE49-F238E27FC236}">
                    <a16:creationId xmlns:a16="http://schemas.microsoft.com/office/drawing/2014/main" id="{66CD62FF-33F7-D408-0BD0-BE6A934C7FE8}"/>
                  </a:ext>
                </a:extLst>
              </p:cNvPr>
              <p:cNvSpPr/>
              <p:nvPr/>
            </p:nvSpPr>
            <p:spPr>
              <a:xfrm>
                <a:off x="1544372" y="2724660"/>
                <a:ext cx="290914" cy="290914"/>
              </a:xfrm>
              <a:prstGeom prst="ellipse">
                <a:avLst/>
              </a:prstGeom>
              <a:solidFill>
                <a:schemeClr val="bg1"/>
              </a:solidFill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82" name="TextBox 81">
                <a:extLst>
                  <a:ext uri="{FF2B5EF4-FFF2-40B4-BE49-F238E27FC236}">
                    <a16:creationId xmlns:a16="http://schemas.microsoft.com/office/drawing/2014/main" id="{D6167480-03B2-A009-9739-E2488FB984E2}"/>
                  </a:ext>
                </a:extLst>
              </p:cNvPr>
              <p:cNvSpPr txBox="1"/>
              <p:nvPr/>
            </p:nvSpPr>
            <p:spPr>
              <a:xfrm>
                <a:off x="1538602" y="2716918"/>
                <a:ext cx="284052" cy="30777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dirty="0"/>
                  <a:t>1</a:t>
                </a:r>
              </a:p>
            </p:txBody>
          </p:sp>
          <p:cxnSp>
            <p:nvCxnSpPr>
              <p:cNvPr id="83" name="Straight Arrow Connector 82">
                <a:extLst>
                  <a:ext uri="{FF2B5EF4-FFF2-40B4-BE49-F238E27FC236}">
                    <a16:creationId xmlns:a16="http://schemas.microsoft.com/office/drawing/2014/main" id="{A560C383-9EBD-E42C-877B-3864901AA0EA}"/>
                  </a:ext>
                </a:extLst>
              </p:cNvPr>
              <p:cNvCxnSpPr>
                <a:stCxn id="81" idx="6"/>
              </p:cNvCxnSpPr>
              <p:nvPr/>
            </p:nvCxnSpPr>
            <p:spPr>
              <a:xfrm>
                <a:off x="1835286" y="2870117"/>
                <a:ext cx="1841769" cy="0"/>
              </a:xfrm>
              <a:prstGeom prst="straightConnector1">
                <a:avLst/>
              </a:prstGeom>
              <a:ln w="28575">
                <a:solidFill>
                  <a:schemeClr val="tx1"/>
                </a:solidFill>
                <a:headEnd type="none" w="med" len="med"/>
                <a:tailEnd type="arrow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4" name="Straight Arrow Connector 83">
                <a:extLst>
                  <a:ext uri="{FF2B5EF4-FFF2-40B4-BE49-F238E27FC236}">
                    <a16:creationId xmlns:a16="http://schemas.microsoft.com/office/drawing/2014/main" id="{654921EC-0135-A074-B6FF-48A667865558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1847918" y="2137588"/>
                <a:ext cx="1166432" cy="739760"/>
              </a:xfrm>
              <a:prstGeom prst="straightConnector1">
                <a:avLst/>
              </a:prstGeom>
              <a:ln w="28575">
                <a:solidFill>
                  <a:schemeClr val="tx1"/>
                </a:solidFill>
                <a:headEnd type="none" w="med" len="med"/>
                <a:tailEnd type="arrow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85" name="TextBox 84">
                <a:extLst>
                  <a:ext uri="{FF2B5EF4-FFF2-40B4-BE49-F238E27FC236}">
                    <a16:creationId xmlns:a16="http://schemas.microsoft.com/office/drawing/2014/main" id="{C9F7C5DD-5DB6-84EE-D5AE-63A2A3A9FC48}"/>
                  </a:ext>
                </a:extLst>
              </p:cNvPr>
              <p:cNvSpPr txBox="1"/>
              <p:nvPr/>
            </p:nvSpPr>
            <p:spPr>
              <a:xfrm>
                <a:off x="2431134" y="2594757"/>
                <a:ext cx="553357" cy="30777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dirty="0"/>
                  <a:t>Hold</a:t>
                </a:r>
              </a:p>
            </p:txBody>
          </p: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86" name="TextBox 85">
                    <a:extLst>
                      <a:ext uri="{FF2B5EF4-FFF2-40B4-BE49-F238E27FC236}">
                        <a16:creationId xmlns:a16="http://schemas.microsoft.com/office/drawing/2014/main" id="{28AE08C5-3729-3E17-7A9D-FE5D2D5B6099}"/>
                      </a:ext>
                    </a:extLst>
                  </p:cNvPr>
                  <p:cNvSpPr txBox="1"/>
                  <p:nvPr/>
                </p:nvSpPr>
                <p:spPr>
                  <a:xfrm rot="19640672">
                    <a:off x="1788240" y="2273357"/>
                    <a:ext cx="905184" cy="307777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r>
                      <a:rPr lang="en-US" dirty="0"/>
                      <a:t>Sell at </a:t>
                    </a:r>
                    <a14:m>
                      <m:oMath xmlns:m="http://schemas.openxmlformats.org/officeDocument/2006/math"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𝑝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oMath>
                    </a14:m>
                    <a:endParaRPr lang="en-US" dirty="0"/>
                  </a:p>
                </p:txBody>
              </p:sp>
            </mc:Choice>
            <mc:Fallback xmlns="">
              <p:sp>
                <p:nvSpPr>
                  <p:cNvPr id="86" name="TextBox 85">
                    <a:extLst>
                      <a:ext uri="{FF2B5EF4-FFF2-40B4-BE49-F238E27FC236}">
                        <a16:creationId xmlns:a16="http://schemas.microsoft.com/office/drawing/2014/main" id="{28AE08C5-3729-3E17-7A9D-FE5D2D5B6099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 rot="19640672">
                    <a:off x="1788240" y="2273357"/>
                    <a:ext cx="905184" cy="307777"/>
                  </a:xfrm>
                  <a:prstGeom prst="rect">
                    <a:avLst/>
                  </a:prstGeom>
                  <a:blipFill>
                    <a:blip r:embed="rId5"/>
                    <a:stretch>
                      <a:fillRect l="-1961" b="-8130"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  <p:grpSp>
          <p:nvGrpSpPr>
            <p:cNvPr id="60" name="Group 59">
              <a:extLst>
                <a:ext uri="{FF2B5EF4-FFF2-40B4-BE49-F238E27FC236}">
                  <a16:creationId xmlns:a16="http://schemas.microsoft.com/office/drawing/2014/main" id="{7572A948-17FD-7C83-93FD-DE40A7F06478}"/>
                </a:ext>
              </a:extLst>
            </p:cNvPr>
            <p:cNvGrpSpPr/>
            <p:nvPr/>
          </p:nvGrpSpPr>
          <p:grpSpPr>
            <a:xfrm>
              <a:off x="3655991" y="2140833"/>
              <a:ext cx="2138453" cy="887107"/>
              <a:chOff x="1538602" y="2137588"/>
              <a:chExt cx="2138453" cy="887107"/>
            </a:xfrm>
          </p:grpSpPr>
          <p:sp>
            <p:nvSpPr>
              <p:cNvPr id="75" name="Oval 74">
                <a:extLst>
                  <a:ext uri="{FF2B5EF4-FFF2-40B4-BE49-F238E27FC236}">
                    <a16:creationId xmlns:a16="http://schemas.microsoft.com/office/drawing/2014/main" id="{413E8E23-BD17-E97F-7533-9C3F95EE8FD5}"/>
                  </a:ext>
                </a:extLst>
              </p:cNvPr>
              <p:cNvSpPr/>
              <p:nvPr/>
            </p:nvSpPr>
            <p:spPr>
              <a:xfrm>
                <a:off x="1544372" y="2724660"/>
                <a:ext cx="290914" cy="290914"/>
              </a:xfrm>
              <a:prstGeom prst="ellipse">
                <a:avLst/>
              </a:prstGeom>
              <a:solidFill>
                <a:schemeClr val="bg1"/>
              </a:solidFill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76" name="TextBox 75">
                <a:extLst>
                  <a:ext uri="{FF2B5EF4-FFF2-40B4-BE49-F238E27FC236}">
                    <a16:creationId xmlns:a16="http://schemas.microsoft.com/office/drawing/2014/main" id="{A62B9B2C-4425-974E-A0BC-35908E6F96AD}"/>
                  </a:ext>
                </a:extLst>
              </p:cNvPr>
              <p:cNvSpPr txBox="1"/>
              <p:nvPr/>
            </p:nvSpPr>
            <p:spPr>
              <a:xfrm>
                <a:off x="1538602" y="2716918"/>
                <a:ext cx="284052" cy="30777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dirty="0"/>
                  <a:t>2</a:t>
                </a:r>
              </a:p>
            </p:txBody>
          </p:sp>
          <p:cxnSp>
            <p:nvCxnSpPr>
              <p:cNvPr id="77" name="Straight Arrow Connector 76">
                <a:extLst>
                  <a:ext uri="{FF2B5EF4-FFF2-40B4-BE49-F238E27FC236}">
                    <a16:creationId xmlns:a16="http://schemas.microsoft.com/office/drawing/2014/main" id="{F30C7106-E0E3-736C-1F74-30AC3F7C19C9}"/>
                  </a:ext>
                </a:extLst>
              </p:cNvPr>
              <p:cNvCxnSpPr>
                <a:stCxn id="75" idx="6"/>
              </p:cNvCxnSpPr>
              <p:nvPr/>
            </p:nvCxnSpPr>
            <p:spPr>
              <a:xfrm>
                <a:off x="1835286" y="2870117"/>
                <a:ext cx="1841769" cy="0"/>
              </a:xfrm>
              <a:prstGeom prst="straightConnector1">
                <a:avLst/>
              </a:prstGeom>
              <a:ln w="28575">
                <a:solidFill>
                  <a:schemeClr val="tx1"/>
                </a:solidFill>
                <a:headEnd type="none" w="med" len="med"/>
                <a:tailEnd type="arrow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8" name="Straight Arrow Connector 77">
                <a:extLst>
                  <a:ext uri="{FF2B5EF4-FFF2-40B4-BE49-F238E27FC236}">
                    <a16:creationId xmlns:a16="http://schemas.microsoft.com/office/drawing/2014/main" id="{46913230-8D38-6800-7ACE-21807B98EBC9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1847918" y="2137588"/>
                <a:ext cx="1166432" cy="739760"/>
              </a:xfrm>
              <a:prstGeom prst="straightConnector1">
                <a:avLst/>
              </a:prstGeom>
              <a:ln w="28575">
                <a:solidFill>
                  <a:schemeClr val="tx1"/>
                </a:solidFill>
                <a:headEnd type="none" w="med" len="med"/>
                <a:tailEnd type="arrow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79" name="TextBox 78">
                <a:extLst>
                  <a:ext uri="{FF2B5EF4-FFF2-40B4-BE49-F238E27FC236}">
                    <a16:creationId xmlns:a16="http://schemas.microsoft.com/office/drawing/2014/main" id="{F9F4CF8F-61F3-7566-92BF-F28EBF303996}"/>
                  </a:ext>
                </a:extLst>
              </p:cNvPr>
              <p:cNvSpPr txBox="1"/>
              <p:nvPr/>
            </p:nvSpPr>
            <p:spPr>
              <a:xfrm>
                <a:off x="2431134" y="2594757"/>
                <a:ext cx="553357" cy="30777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dirty="0"/>
                  <a:t>Hold</a:t>
                </a:r>
              </a:p>
            </p:txBody>
          </p: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80" name="TextBox 79">
                    <a:extLst>
                      <a:ext uri="{FF2B5EF4-FFF2-40B4-BE49-F238E27FC236}">
                        <a16:creationId xmlns:a16="http://schemas.microsoft.com/office/drawing/2014/main" id="{4DC69DEC-EDC9-F21D-F3B4-05CA2C3BC996}"/>
                      </a:ext>
                    </a:extLst>
                  </p:cNvPr>
                  <p:cNvSpPr txBox="1"/>
                  <p:nvPr/>
                </p:nvSpPr>
                <p:spPr>
                  <a:xfrm rot="19640672">
                    <a:off x="1786156" y="2273357"/>
                    <a:ext cx="909352" cy="307777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r>
                      <a:rPr lang="en-US" dirty="0"/>
                      <a:t>Sell at </a:t>
                    </a:r>
                    <a14:m>
                      <m:oMath xmlns:m="http://schemas.openxmlformats.org/officeDocument/2006/math"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𝑝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oMath>
                    </a14:m>
                    <a:endParaRPr lang="en-US" dirty="0"/>
                  </a:p>
                </p:txBody>
              </p:sp>
            </mc:Choice>
            <mc:Fallback xmlns="">
              <p:sp>
                <p:nvSpPr>
                  <p:cNvPr id="80" name="TextBox 79">
                    <a:extLst>
                      <a:ext uri="{FF2B5EF4-FFF2-40B4-BE49-F238E27FC236}">
                        <a16:creationId xmlns:a16="http://schemas.microsoft.com/office/drawing/2014/main" id="{4DC69DEC-EDC9-F21D-F3B4-05CA2C3BC996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 rot="19640672">
                    <a:off x="1786156" y="2273357"/>
                    <a:ext cx="909352" cy="307777"/>
                  </a:xfrm>
                  <a:prstGeom prst="rect">
                    <a:avLst/>
                  </a:prstGeom>
                  <a:blipFill>
                    <a:blip r:embed="rId6"/>
                    <a:stretch>
                      <a:fillRect l="-1948" b="-7258"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  <p:grpSp>
          <p:nvGrpSpPr>
            <p:cNvPr id="61" name="Group 60">
              <a:extLst>
                <a:ext uri="{FF2B5EF4-FFF2-40B4-BE49-F238E27FC236}">
                  <a16:creationId xmlns:a16="http://schemas.microsoft.com/office/drawing/2014/main" id="{6509B9D1-1495-B25B-3DB6-23659BDAF7AB}"/>
                </a:ext>
              </a:extLst>
            </p:cNvPr>
            <p:cNvGrpSpPr/>
            <p:nvPr/>
          </p:nvGrpSpPr>
          <p:grpSpPr>
            <a:xfrm>
              <a:off x="5783101" y="2140833"/>
              <a:ext cx="2138453" cy="887107"/>
              <a:chOff x="1538602" y="2137588"/>
              <a:chExt cx="2138453" cy="887107"/>
            </a:xfrm>
          </p:grpSpPr>
          <p:sp>
            <p:nvSpPr>
              <p:cNvPr id="69" name="Oval 68">
                <a:extLst>
                  <a:ext uri="{FF2B5EF4-FFF2-40B4-BE49-F238E27FC236}">
                    <a16:creationId xmlns:a16="http://schemas.microsoft.com/office/drawing/2014/main" id="{BECA7BC1-D9D4-5381-D4EB-6745263B53D8}"/>
                  </a:ext>
                </a:extLst>
              </p:cNvPr>
              <p:cNvSpPr/>
              <p:nvPr/>
            </p:nvSpPr>
            <p:spPr>
              <a:xfrm>
                <a:off x="1544372" y="2724660"/>
                <a:ext cx="290914" cy="290914"/>
              </a:xfrm>
              <a:prstGeom prst="ellipse">
                <a:avLst/>
              </a:prstGeom>
              <a:solidFill>
                <a:schemeClr val="bg1"/>
              </a:solidFill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70" name="TextBox 69">
                <a:extLst>
                  <a:ext uri="{FF2B5EF4-FFF2-40B4-BE49-F238E27FC236}">
                    <a16:creationId xmlns:a16="http://schemas.microsoft.com/office/drawing/2014/main" id="{580C3348-6AFC-5188-6637-4B837191D3F6}"/>
                  </a:ext>
                </a:extLst>
              </p:cNvPr>
              <p:cNvSpPr txBox="1"/>
              <p:nvPr/>
            </p:nvSpPr>
            <p:spPr>
              <a:xfrm>
                <a:off x="1538602" y="2716918"/>
                <a:ext cx="284052" cy="30777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dirty="0"/>
                  <a:t>3</a:t>
                </a:r>
              </a:p>
            </p:txBody>
          </p:sp>
          <p:cxnSp>
            <p:nvCxnSpPr>
              <p:cNvPr id="71" name="Straight Arrow Connector 70">
                <a:extLst>
                  <a:ext uri="{FF2B5EF4-FFF2-40B4-BE49-F238E27FC236}">
                    <a16:creationId xmlns:a16="http://schemas.microsoft.com/office/drawing/2014/main" id="{AFF4AE2E-960C-173C-EBE5-F75FE5562948}"/>
                  </a:ext>
                </a:extLst>
              </p:cNvPr>
              <p:cNvCxnSpPr>
                <a:stCxn id="69" idx="6"/>
              </p:cNvCxnSpPr>
              <p:nvPr/>
            </p:nvCxnSpPr>
            <p:spPr>
              <a:xfrm>
                <a:off x="1835286" y="2870117"/>
                <a:ext cx="1841769" cy="0"/>
              </a:xfrm>
              <a:prstGeom prst="straightConnector1">
                <a:avLst/>
              </a:prstGeom>
              <a:ln w="28575">
                <a:solidFill>
                  <a:schemeClr val="tx1"/>
                </a:solidFill>
                <a:headEnd type="none" w="med" len="med"/>
                <a:tailEnd type="arrow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2" name="Straight Arrow Connector 71">
                <a:extLst>
                  <a:ext uri="{FF2B5EF4-FFF2-40B4-BE49-F238E27FC236}">
                    <a16:creationId xmlns:a16="http://schemas.microsoft.com/office/drawing/2014/main" id="{7D2BD1E4-94F1-6484-651B-1D30CCF28822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1847918" y="2137588"/>
                <a:ext cx="1166432" cy="739760"/>
              </a:xfrm>
              <a:prstGeom prst="straightConnector1">
                <a:avLst/>
              </a:prstGeom>
              <a:ln w="28575">
                <a:solidFill>
                  <a:schemeClr val="tx1"/>
                </a:solidFill>
                <a:headEnd type="none" w="med" len="med"/>
                <a:tailEnd type="arrow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73" name="TextBox 72">
                <a:extLst>
                  <a:ext uri="{FF2B5EF4-FFF2-40B4-BE49-F238E27FC236}">
                    <a16:creationId xmlns:a16="http://schemas.microsoft.com/office/drawing/2014/main" id="{D7C545F5-E51E-E80F-EE28-70D105BB53C0}"/>
                  </a:ext>
                </a:extLst>
              </p:cNvPr>
              <p:cNvSpPr txBox="1"/>
              <p:nvPr/>
            </p:nvSpPr>
            <p:spPr>
              <a:xfrm>
                <a:off x="2431134" y="2594757"/>
                <a:ext cx="553357" cy="30777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dirty="0"/>
                  <a:t>Hold</a:t>
                </a:r>
              </a:p>
            </p:txBody>
          </p: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74" name="TextBox 73">
                    <a:extLst>
                      <a:ext uri="{FF2B5EF4-FFF2-40B4-BE49-F238E27FC236}">
                        <a16:creationId xmlns:a16="http://schemas.microsoft.com/office/drawing/2014/main" id="{F040632B-E725-A1BC-ED3E-A42C9FE1BB28}"/>
                      </a:ext>
                    </a:extLst>
                  </p:cNvPr>
                  <p:cNvSpPr txBox="1"/>
                  <p:nvPr/>
                </p:nvSpPr>
                <p:spPr>
                  <a:xfrm rot="19640672">
                    <a:off x="1786156" y="2273357"/>
                    <a:ext cx="909352" cy="307777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r>
                      <a:rPr lang="en-US" dirty="0"/>
                      <a:t>Sell at </a:t>
                    </a:r>
                    <a14:m>
                      <m:oMath xmlns:m="http://schemas.openxmlformats.org/officeDocument/2006/math"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𝑝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3</m:t>
                            </m:r>
                          </m:sub>
                        </m:sSub>
                      </m:oMath>
                    </a14:m>
                    <a:endParaRPr lang="en-US" dirty="0"/>
                  </a:p>
                </p:txBody>
              </p:sp>
            </mc:Choice>
            <mc:Fallback xmlns="">
              <p:sp>
                <p:nvSpPr>
                  <p:cNvPr id="74" name="TextBox 73">
                    <a:extLst>
                      <a:ext uri="{FF2B5EF4-FFF2-40B4-BE49-F238E27FC236}">
                        <a16:creationId xmlns:a16="http://schemas.microsoft.com/office/drawing/2014/main" id="{F040632B-E725-A1BC-ED3E-A42C9FE1BB28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 rot="19640672">
                    <a:off x="1786156" y="2273357"/>
                    <a:ext cx="909352" cy="307777"/>
                  </a:xfrm>
                  <a:prstGeom prst="rect">
                    <a:avLst/>
                  </a:prstGeom>
                  <a:blipFill>
                    <a:blip r:embed="rId7"/>
                    <a:stretch>
                      <a:fillRect l="-1948" b="-7258"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  <p:grpSp>
          <p:nvGrpSpPr>
            <p:cNvPr id="62" name="Group 61">
              <a:extLst>
                <a:ext uri="{FF2B5EF4-FFF2-40B4-BE49-F238E27FC236}">
                  <a16:creationId xmlns:a16="http://schemas.microsoft.com/office/drawing/2014/main" id="{8DA1609C-572A-6452-CFF5-A5B33B7DAE76}"/>
                </a:ext>
              </a:extLst>
            </p:cNvPr>
            <p:cNvGrpSpPr/>
            <p:nvPr/>
          </p:nvGrpSpPr>
          <p:grpSpPr>
            <a:xfrm>
              <a:off x="7900490" y="2144078"/>
              <a:ext cx="2138453" cy="887107"/>
              <a:chOff x="1538602" y="2137588"/>
              <a:chExt cx="2138453" cy="887107"/>
            </a:xfrm>
          </p:grpSpPr>
          <p:sp>
            <p:nvSpPr>
              <p:cNvPr id="63" name="Oval 62">
                <a:extLst>
                  <a:ext uri="{FF2B5EF4-FFF2-40B4-BE49-F238E27FC236}">
                    <a16:creationId xmlns:a16="http://schemas.microsoft.com/office/drawing/2014/main" id="{63E3F3BD-F4B2-8BB8-2A17-9F6811964D3D}"/>
                  </a:ext>
                </a:extLst>
              </p:cNvPr>
              <p:cNvSpPr/>
              <p:nvPr/>
            </p:nvSpPr>
            <p:spPr>
              <a:xfrm>
                <a:off x="1544372" y="2724660"/>
                <a:ext cx="290914" cy="290914"/>
              </a:xfrm>
              <a:prstGeom prst="ellipse">
                <a:avLst/>
              </a:prstGeom>
              <a:solidFill>
                <a:schemeClr val="bg1"/>
              </a:solidFill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64" name="TextBox 63">
                <a:extLst>
                  <a:ext uri="{FF2B5EF4-FFF2-40B4-BE49-F238E27FC236}">
                    <a16:creationId xmlns:a16="http://schemas.microsoft.com/office/drawing/2014/main" id="{88433062-1D08-7F44-8380-BF0217D1B106}"/>
                  </a:ext>
                </a:extLst>
              </p:cNvPr>
              <p:cNvSpPr txBox="1"/>
              <p:nvPr/>
            </p:nvSpPr>
            <p:spPr>
              <a:xfrm>
                <a:off x="1538602" y="2716918"/>
                <a:ext cx="284052" cy="30777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dirty="0"/>
                  <a:t>4</a:t>
                </a:r>
              </a:p>
            </p:txBody>
          </p:sp>
          <p:cxnSp>
            <p:nvCxnSpPr>
              <p:cNvPr id="65" name="Straight Arrow Connector 64">
                <a:extLst>
                  <a:ext uri="{FF2B5EF4-FFF2-40B4-BE49-F238E27FC236}">
                    <a16:creationId xmlns:a16="http://schemas.microsoft.com/office/drawing/2014/main" id="{744D2692-96F6-A0F3-75F5-943648C2070B}"/>
                  </a:ext>
                </a:extLst>
              </p:cNvPr>
              <p:cNvCxnSpPr>
                <a:stCxn id="63" idx="6"/>
              </p:cNvCxnSpPr>
              <p:nvPr/>
            </p:nvCxnSpPr>
            <p:spPr>
              <a:xfrm>
                <a:off x="1835286" y="2870117"/>
                <a:ext cx="1841769" cy="0"/>
              </a:xfrm>
              <a:prstGeom prst="straightConnector1">
                <a:avLst/>
              </a:prstGeom>
              <a:ln w="28575">
                <a:solidFill>
                  <a:schemeClr val="tx1"/>
                </a:solidFill>
                <a:headEnd type="none" w="med" len="med"/>
                <a:tailEnd type="arrow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6" name="Straight Arrow Connector 65">
                <a:extLst>
                  <a:ext uri="{FF2B5EF4-FFF2-40B4-BE49-F238E27FC236}">
                    <a16:creationId xmlns:a16="http://schemas.microsoft.com/office/drawing/2014/main" id="{17A09170-E6E8-DBE9-AD3E-8A76785DADD4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1847918" y="2137588"/>
                <a:ext cx="1166432" cy="739760"/>
              </a:xfrm>
              <a:prstGeom prst="straightConnector1">
                <a:avLst/>
              </a:prstGeom>
              <a:ln w="28575">
                <a:solidFill>
                  <a:schemeClr val="tx1"/>
                </a:solidFill>
                <a:headEnd type="none" w="med" len="med"/>
                <a:tailEnd type="arrow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67" name="TextBox 66">
                <a:extLst>
                  <a:ext uri="{FF2B5EF4-FFF2-40B4-BE49-F238E27FC236}">
                    <a16:creationId xmlns:a16="http://schemas.microsoft.com/office/drawing/2014/main" id="{ABB25A5F-BB75-5109-CE1D-2BACFF6662F6}"/>
                  </a:ext>
                </a:extLst>
              </p:cNvPr>
              <p:cNvSpPr txBox="1"/>
              <p:nvPr/>
            </p:nvSpPr>
            <p:spPr>
              <a:xfrm>
                <a:off x="2431134" y="2594757"/>
                <a:ext cx="553357" cy="30777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dirty="0"/>
                  <a:t>Hold</a:t>
                </a:r>
              </a:p>
            </p:txBody>
          </p: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68" name="TextBox 67">
                    <a:extLst>
                      <a:ext uri="{FF2B5EF4-FFF2-40B4-BE49-F238E27FC236}">
                        <a16:creationId xmlns:a16="http://schemas.microsoft.com/office/drawing/2014/main" id="{E17DED16-14C7-DA4F-4F3F-08B48ECFDFAF}"/>
                      </a:ext>
                    </a:extLst>
                  </p:cNvPr>
                  <p:cNvSpPr txBox="1"/>
                  <p:nvPr/>
                </p:nvSpPr>
                <p:spPr>
                  <a:xfrm rot="19640672">
                    <a:off x="1786798" y="2273357"/>
                    <a:ext cx="908069" cy="307777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r>
                      <a:rPr lang="en-US" dirty="0"/>
                      <a:t>Sell at </a:t>
                    </a:r>
                    <a14:m>
                      <m:oMath xmlns:m="http://schemas.openxmlformats.org/officeDocument/2006/math"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𝑝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4</m:t>
                            </m:r>
                          </m:sub>
                        </m:sSub>
                      </m:oMath>
                    </a14:m>
                    <a:endParaRPr lang="en-US" dirty="0"/>
                  </a:p>
                </p:txBody>
              </p:sp>
            </mc:Choice>
            <mc:Fallback xmlns="">
              <p:sp>
                <p:nvSpPr>
                  <p:cNvPr id="68" name="TextBox 67">
                    <a:extLst>
                      <a:ext uri="{FF2B5EF4-FFF2-40B4-BE49-F238E27FC236}">
                        <a16:creationId xmlns:a16="http://schemas.microsoft.com/office/drawing/2014/main" id="{E17DED16-14C7-DA4F-4F3F-08B48ECFDFAF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 rot="19640672">
                    <a:off x="1786798" y="2273357"/>
                    <a:ext cx="908069" cy="307777"/>
                  </a:xfrm>
                  <a:prstGeom prst="rect">
                    <a:avLst/>
                  </a:prstGeom>
                  <a:blipFill>
                    <a:blip r:embed="rId8"/>
                    <a:stretch>
                      <a:fillRect l="-1299" b="-7258"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</p:grpSp>
      <p:cxnSp>
        <p:nvCxnSpPr>
          <p:cNvPr id="88" name="Straight Connector 87">
            <a:extLst>
              <a:ext uri="{FF2B5EF4-FFF2-40B4-BE49-F238E27FC236}">
                <a16:creationId xmlns:a16="http://schemas.microsoft.com/office/drawing/2014/main" id="{D56FEB9F-DA66-48E4-0146-35F181BFFB7A}"/>
              </a:ext>
            </a:extLst>
          </p:cNvPr>
          <p:cNvCxnSpPr/>
          <p:nvPr/>
        </p:nvCxnSpPr>
        <p:spPr>
          <a:xfrm>
            <a:off x="3320376" y="3101871"/>
            <a:ext cx="2148927" cy="0"/>
          </a:xfrm>
          <a:prstGeom prst="line">
            <a:avLst/>
          </a:prstGeom>
          <a:ln w="19050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9" name="TextBox 88">
            <a:extLst>
              <a:ext uri="{FF2B5EF4-FFF2-40B4-BE49-F238E27FC236}">
                <a16:creationId xmlns:a16="http://schemas.microsoft.com/office/drawing/2014/main" id="{183B9E17-7676-2185-197F-647B22C800E1}"/>
              </a:ext>
            </a:extLst>
          </p:cNvPr>
          <p:cNvSpPr txBox="1"/>
          <p:nvPr/>
        </p:nvSpPr>
        <p:spPr>
          <a:xfrm>
            <a:off x="4062937" y="2797044"/>
            <a:ext cx="814647" cy="276999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r>
              <a:rPr lang="en-US" sz="1200" dirty="0"/>
              <a:t>Decision </a:t>
            </a:r>
          </a:p>
        </p:txBody>
      </p:sp>
      <p:grpSp>
        <p:nvGrpSpPr>
          <p:cNvPr id="9" name="Group 8">
            <a:extLst>
              <a:ext uri="{FF2B5EF4-FFF2-40B4-BE49-F238E27FC236}">
                <a16:creationId xmlns:a16="http://schemas.microsoft.com/office/drawing/2014/main" id="{D7831057-2E2A-BC30-2E45-773324FEA174}"/>
              </a:ext>
            </a:extLst>
          </p:cNvPr>
          <p:cNvGrpSpPr/>
          <p:nvPr/>
        </p:nvGrpSpPr>
        <p:grpSpPr>
          <a:xfrm>
            <a:off x="3734440" y="4126006"/>
            <a:ext cx="3803597" cy="614723"/>
            <a:chOff x="3734440" y="4126006"/>
            <a:chExt cx="3803597" cy="614723"/>
          </a:xfrm>
        </p:grpSpPr>
        <p:grpSp>
          <p:nvGrpSpPr>
            <p:cNvPr id="12" name="Group 11">
              <a:extLst>
                <a:ext uri="{FF2B5EF4-FFF2-40B4-BE49-F238E27FC236}">
                  <a16:creationId xmlns:a16="http://schemas.microsoft.com/office/drawing/2014/main" id="{BFC92FAB-231E-9BD7-B6D8-C45F23A8784F}"/>
                </a:ext>
              </a:extLst>
            </p:cNvPr>
            <p:cNvGrpSpPr/>
            <p:nvPr/>
          </p:nvGrpSpPr>
          <p:grpSpPr>
            <a:xfrm>
              <a:off x="3734440" y="4126006"/>
              <a:ext cx="3803597" cy="614723"/>
              <a:chOff x="4493198" y="4634017"/>
              <a:chExt cx="3803597" cy="614723"/>
            </a:xfrm>
          </p:grpSpPr>
          <p:sp>
            <p:nvSpPr>
              <p:cNvPr id="7" name="Rectangle 6">
                <a:extLst>
                  <a:ext uri="{FF2B5EF4-FFF2-40B4-BE49-F238E27FC236}">
                    <a16:creationId xmlns:a16="http://schemas.microsoft.com/office/drawing/2014/main" id="{DCBCCD73-F73A-9C04-E0F7-DC6318AE4A5B}"/>
                  </a:ext>
                </a:extLst>
              </p:cNvPr>
              <p:cNvSpPr/>
              <p:nvPr/>
            </p:nvSpPr>
            <p:spPr>
              <a:xfrm>
                <a:off x="6608322" y="4634017"/>
                <a:ext cx="1688473" cy="614723"/>
              </a:xfrm>
              <a:prstGeom prst="rect">
                <a:avLst/>
              </a:prstGeom>
              <a:noFill/>
              <a:ln w="19050">
                <a:solidFill>
                  <a:schemeClr val="accent2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cxnSp>
            <p:nvCxnSpPr>
              <p:cNvPr id="11" name="Straight Arrow Connector 10">
                <a:extLst>
                  <a:ext uri="{FF2B5EF4-FFF2-40B4-BE49-F238E27FC236}">
                    <a16:creationId xmlns:a16="http://schemas.microsoft.com/office/drawing/2014/main" id="{1E33DF91-F4D1-A448-C662-839604A46982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4493198" y="4935540"/>
                <a:ext cx="2115124" cy="0"/>
              </a:xfrm>
              <a:prstGeom prst="straightConnector1">
                <a:avLst/>
              </a:prstGeom>
              <a:ln w="19050">
                <a:solidFill>
                  <a:schemeClr val="accent2">
                    <a:lumMod val="75000"/>
                  </a:schemeClr>
                </a:solidFill>
                <a:headEnd type="none" w="med" len="med"/>
                <a:tailEnd type="arrow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3" name="TextBox 2">
              <a:extLst>
                <a:ext uri="{FF2B5EF4-FFF2-40B4-BE49-F238E27FC236}">
                  <a16:creationId xmlns:a16="http://schemas.microsoft.com/office/drawing/2014/main" id="{6E1688C2-0DE4-AF02-01C5-3A77612A8003}"/>
                </a:ext>
              </a:extLst>
            </p:cNvPr>
            <p:cNvSpPr txBox="1"/>
            <p:nvPr/>
          </p:nvSpPr>
          <p:spPr>
            <a:xfrm>
              <a:off x="5849564" y="4251848"/>
              <a:ext cx="1632178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600" dirty="0">
                  <a:solidFill>
                    <a:schemeClr val="accent2">
                      <a:lumMod val="75000"/>
                    </a:schemeClr>
                  </a:solidFill>
                  <a:latin typeface="Raleway" pitchFamily="2" charset="0"/>
                </a:rPr>
                <a:t>Prices at time 2</a:t>
              </a:r>
            </a:p>
          </p:txBody>
        </p: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84B9305D-AD94-F9DB-6279-9E54335B569A}"/>
                  </a:ext>
                </a:extLst>
              </p:cNvPr>
              <p:cNvSpPr txBox="1"/>
              <p:nvPr/>
            </p:nvSpPr>
            <p:spPr>
              <a:xfrm>
                <a:off x="2102004" y="5962650"/>
                <a:ext cx="4924361" cy="40011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2000" b="0" dirty="0">
                    <a:latin typeface="Raleway" pitchFamily="2" charset="0"/>
                  </a:rPr>
                  <a:t>State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sz="20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𝑆</m:t>
                        </m:r>
                      </m:e>
                      <m:sub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</m:sSub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ctrlPr>
                          <a:rPr lang="en-US" sz="20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sz="20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000" b="0" i="1" smtClean="0">
                                <a:latin typeface="Cambria Math" panose="02040503050406030204" pitchFamily="18" charset="0"/>
                              </a:rPr>
                              <m:t>𝑅</m:t>
                            </m:r>
                          </m:e>
                          <m:sub>
                            <m:r>
                              <a:rPr lang="en-US" sz="2000" b="0" i="1" smtClean="0">
                                <a:latin typeface="Cambria Math" panose="02040503050406030204" pitchFamily="18" charset="0"/>
                              </a:rPr>
                              <m:t>𝑡</m:t>
                            </m:r>
                          </m:sub>
                        </m:sSub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,</m:t>
                        </m:r>
                        <m:sSub>
                          <m:sSubPr>
                            <m:ctrlPr>
                              <a:rPr lang="en-US" sz="20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000" b="0" i="1" smtClean="0">
                                <a:latin typeface="Cambria Math" panose="02040503050406030204" pitchFamily="18" charset="0"/>
                              </a:rPr>
                              <m:t>𝐼</m:t>
                            </m:r>
                          </m:e>
                          <m:sub>
                            <m:r>
                              <a:rPr lang="en-US" sz="2000" b="0" i="1" smtClean="0">
                                <a:latin typeface="Cambria Math" panose="02040503050406030204" pitchFamily="18" charset="0"/>
                              </a:rPr>
                              <m:t>𝑡</m:t>
                            </m:r>
                          </m:sub>
                        </m:sSub>
                      </m:e>
                    </m:d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=(</m:t>
                    </m:r>
                    <m:sSub>
                      <m:sSubPr>
                        <m:ctrlPr>
                          <a:rPr lang="en-US" sz="20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  <m:sub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</m:sSub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,</m:t>
                    </m:r>
                    <m:d>
                      <m:dPr>
                        <m:ctrlPr>
                          <a:rPr lang="en-US" sz="20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sz="20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000" b="0" i="1" smtClean="0">
                                <a:latin typeface="Cambria Math" panose="02040503050406030204" pitchFamily="18" charset="0"/>
                              </a:rPr>
                              <m:t>𝑝</m:t>
                            </m:r>
                          </m:e>
                          <m:sub>
                            <m:r>
                              <a:rPr lang="en-US" sz="2000" b="0" i="1" smtClean="0">
                                <a:latin typeface="Cambria Math" panose="02040503050406030204" pitchFamily="18" charset="0"/>
                              </a:rPr>
                              <m:t>𝑡</m:t>
                            </m:r>
                          </m:sub>
                        </m:sSub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,</m:t>
                        </m:r>
                        <m:sSub>
                          <m:sSubPr>
                            <m:ctrlPr>
                              <a:rPr lang="en-US" sz="20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000" b="0" i="1" smtClean="0">
                                <a:latin typeface="Cambria Math" panose="02040503050406030204" pitchFamily="18" charset="0"/>
                              </a:rPr>
                              <m:t>𝑝</m:t>
                            </m:r>
                          </m:e>
                          <m:sub>
                            <m:r>
                              <a:rPr lang="en-US" sz="2000" b="0" i="1" smtClean="0">
                                <a:latin typeface="Cambria Math" panose="02040503050406030204" pitchFamily="18" charset="0"/>
                              </a:rPr>
                              <m:t>𝑡</m:t>
                            </m:r>
                            <m:r>
                              <a:rPr lang="en-US" sz="2000" b="0" i="1" smtClean="0">
                                <a:latin typeface="Cambria Math" panose="02040503050406030204" pitchFamily="18" charset="0"/>
                              </a:rPr>
                              <m:t>−1</m:t>
                            </m:r>
                          </m:sub>
                        </m:sSub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,</m:t>
                        </m:r>
                        <m:sSub>
                          <m:sSubPr>
                            <m:ctrlPr>
                              <a:rPr lang="en-US" sz="20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000" b="0" i="1" smtClean="0">
                                <a:latin typeface="Cambria Math" panose="02040503050406030204" pitchFamily="18" charset="0"/>
                              </a:rPr>
                              <m:t>𝑝</m:t>
                            </m:r>
                          </m:e>
                          <m:sub>
                            <m:r>
                              <a:rPr lang="en-US" sz="2000" b="0" i="1" smtClean="0">
                                <a:latin typeface="Cambria Math" panose="02040503050406030204" pitchFamily="18" charset="0"/>
                              </a:rPr>
                              <m:t>𝑡</m:t>
                            </m:r>
                            <m:r>
                              <a:rPr lang="en-US" sz="2000" b="0" i="1" smtClean="0">
                                <a:latin typeface="Cambria Math" panose="02040503050406030204" pitchFamily="18" charset="0"/>
                              </a:rPr>
                              <m:t>−2</m:t>
                            </m:r>
                          </m:sub>
                        </m:sSub>
                      </m:e>
                    </m:d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en-US" sz="2000" dirty="0"/>
              </a:p>
            </p:txBody>
          </p:sp>
        </mc:Choice>
        <mc:Fallback xmlns="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84B9305D-AD94-F9DB-6279-9E54335B569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102004" y="5962650"/>
                <a:ext cx="4924361" cy="400110"/>
              </a:xfrm>
              <a:prstGeom prst="rect">
                <a:avLst/>
              </a:prstGeom>
              <a:blipFill>
                <a:blip r:embed="rId9"/>
                <a:stretch>
                  <a:fillRect l="-1361" t="-7576" b="-2575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86234863"/>
      </p:ext>
    </p:extLst>
  </p:cSld>
  <p:clrMapOvr>
    <a:masterClrMapping/>
  </p:clrMapOvr>
  <p:transition spd="slow">
    <p:wipe dir="r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</p:bldLst>
  </p:timing>
</p:sld>
</file>

<file path=ppt/slides/slide1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5EC924E-08A1-AB57-DB8E-4B6D1788783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Text Placeholder 2">
            <a:extLst>
              <a:ext uri="{FF2B5EF4-FFF2-40B4-BE49-F238E27FC236}">
                <a16:creationId xmlns:a16="http://schemas.microsoft.com/office/drawing/2014/main" id="{834049D6-4D02-E49C-ACF9-6CA6B057F00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54997" y="1039544"/>
            <a:ext cx="10363200" cy="4401600"/>
          </a:xfrm>
        </p:spPr>
        <p:txBody>
          <a:bodyPr/>
          <a:lstStyle/>
          <a:p>
            <a:pPr marL="86360" indent="0">
              <a:buNone/>
            </a:pPr>
            <a:r>
              <a:rPr lang="en-US" dirty="0"/>
              <a:t>Longstaff and Schwartz - Pricing an American option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C855C74-73AA-8662-723D-1DB510A3109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3200" dirty="0"/>
              <a:t>Value iteration: Financial application</a:t>
            </a:r>
            <a:endParaRPr lang="en-US" dirty="0"/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1A50A4BC-0777-20E6-17BA-FEBD9260ABE7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35271"/>
          <a:stretch/>
        </p:blipFill>
        <p:spPr>
          <a:xfrm>
            <a:off x="2287338" y="3382110"/>
            <a:ext cx="3629538" cy="2355030"/>
          </a:xfrm>
          <a:prstGeom prst="rect">
            <a:avLst/>
          </a:prstGeom>
        </p:spPr>
      </p:pic>
      <p:sp>
        <p:nvSpPr>
          <p:cNvPr id="46" name="TextBox 45">
            <a:extLst>
              <a:ext uri="{FF2B5EF4-FFF2-40B4-BE49-F238E27FC236}">
                <a16:creationId xmlns:a16="http://schemas.microsoft.com/office/drawing/2014/main" id="{710F9985-CBD6-59E8-E7DE-199619DA939F}"/>
              </a:ext>
            </a:extLst>
          </p:cNvPr>
          <p:cNvSpPr txBox="1"/>
          <p:nvPr/>
        </p:nvSpPr>
        <p:spPr>
          <a:xfrm>
            <a:off x="2321079" y="3105111"/>
            <a:ext cx="2978701" cy="276999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r>
              <a:rPr lang="en-US" sz="1200" dirty="0"/>
              <a:t>Outcome       Sell                          Hold    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7ACD5247-81C7-18BF-5F2B-6EA42238C5AA}"/>
              </a:ext>
            </a:extLst>
          </p:cNvPr>
          <p:cNvSpPr/>
          <p:nvPr/>
        </p:nvSpPr>
        <p:spPr>
          <a:xfrm>
            <a:off x="4137498" y="3401565"/>
            <a:ext cx="590926" cy="2166107"/>
          </a:xfrm>
          <a:prstGeom prst="rect">
            <a:avLst/>
          </a:prstGeom>
          <a:noFill/>
          <a:ln w="19050">
            <a:solidFill>
              <a:schemeClr val="accent2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21" name="Group 20">
            <a:extLst>
              <a:ext uri="{FF2B5EF4-FFF2-40B4-BE49-F238E27FC236}">
                <a16:creationId xmlns:a16="http://schemas.microsoft.com/office/drawing/2014/main" id="{B8DBB5A2-2350-E1BC-61CB-1A1689A144B0}"/>
              </a:ext>
            </a:extLst>
          </p:cNvPr>
          <p:cNvGrpSpPr/>
          <p:nvPr/>
        </p:nvGrpSpPr>
        <p:grpSpPr>
          <a:xfrm>
            <a:off x="1532117" y="1670661"/>
            <a:ext cx="8500341" cy="893597"/>
            <a:chOff x="1538602" y="2137588"/>
            <a:chExt cx="8500341" cy="893597"/>
          </a:xfrm>
        </p:grpSpPr>
        <p:grpSp>
          <p:nvGrpSpPr>
            <p:cNvPr id="48" name="Group 47">
              <a:extLst>
                <a:ext uri="{FF2B5EF4-FFF2-40B4-BE49-F238E27FC236}">
                  <a16:creationId xmlns:a16="http://schemas.microsoft.com/office/drawing/2014/main" id="{5F84A773-EDFD-7CF7-C578-388E04FA6DC7}"/>
                </a:ext>
              </a:extLst>
            </p:cNvPr>
            <p:cNvGrpSpPr/>
            <p:nvPr/>
          </p:nvGrpSpPr>
          <p:grpSpPr>
            <a:xfrm>
              <a:off x="1538602" y="2137588"/>
              <a:ext cx="2138453" cy="887107"/>
              <a:chOff x="1538602" y="2137588"/>
              <a:chExt cx="2138453" cy="887107"/>
            </a:xfrm>
          </p:grpSpPr>
          <p:sp>
            <p:nvSpPr>
              <p:cNvPr id="81" name="Oval 80">
                <a:extLst>
                  <a:ext uri="{FF2B5EF4-FFF2-40B4-BE49-F238E27FC236}">
                    <a16:creationId xmlns:a16="http://schemas.microsoft.com/office/drawing/2014/main" id="{7D2E41A3-841E-F39C-B097-1CFF5145506D}"/>
                  </a:ext>
                </a:extLst>
              </p:cNvPr>
              <p:cNvSpPr/>
              <p:nvPr/>
            </p:nvSpPr>
            <p:spPr>
              <a:xfrm>
                <a:off x="1544372" y="2724660"/>
                <a:ext cx="290914" cy="290914"/>
              </a:xfrm>
              <a:prstGeom prst="ellipse">
                <a:avLst/>
              </a:prstGeom>
              <a:solidFill>
                <a:schemeClr val="bg1"/>
              </a:solidFill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82" name="TextBox 81">
                <a:extLst>
                  <a:ext uri="{FF2B5EF4-FFF2-40B4-BE49-F238E27FC236}">
                    <a16:creationId xmlns:a16="http://schemas.microsoft.com/office/drawing/2014/main" id="{CABA96A2-D099-E059-B8FA-39DC2A76392B}"/>
                  </a:ext>
                </a:extLst>
              </p:cNvPr>
              <p:cNvSpPr txBox="1"/>
              <p:nvPr/>
            </p:nvSpPr>
            <p:spPr>
              <a:xfrm>
                <a:off x="1538602" y="2716918"/>
                <a:ext cx="284052" cy="30777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dirty="0"/>
                  <a:t>1</a:t>
                </a:r>
              </a:p>
            </p:txBody>
          </p:sp>
          <p:cxnSp>
            <p:nvCxnSpPr>
              <p:cNvPr id="83" name="Straight Arrow Connector 82">
                <a:extLst>
                  <a:ext uri="{FF2B5EF4-FFF2-40B4-BE49-F238E27FC236}">
                    <a16:creationId xmlns:a16="http://schemas.microsoft.com/office/drawing/2014/main" id="{25FFE1D7-B5E9-7B22-D571-5DED52756141}"/>
                  </a:ext>
                </a:extLst>
              </p:cNvPr>
              <p:cNvCxnSpPr>
                <a:stCxn id="81" idx="6"/>
              </p:cNvCxnSpPr>
              <p:nvPr/>
            </p:nvCxnSpPr>
            <p:spPr>
              <a:xfrm>
                <a:off x="1835286" y="2870117"/>
                <a:ext cx="1841769" cy="0"/>
              </a:xfrm>
              <a:prstGeom prst="straightConnector1">
                <a:avLst/>
              </a:prstGeom>
              <a:ln w="28575">
                <a:solidFill>
                  <a:schemeClr val="tx1"/>
                </a:solidFill>
                <a:headEnd type="none" w="med" len="med"/>
                <a:tailEnd type="arrow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4" name="Straight Arrow Connector 83">
                <a:extLst>
                  <a:ext uri="{FF2B5EF4-FFF2-40B4-BE49-F238E27FC236}">
                    <a16:creationId xmlns:a16="http://schemas.microsoft.com/office/drawing/2014/main" id="{EE13EBB3-32AE-6C61-2E10-74C37CBEBBFE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1847918" y="2137588"/>
                <a:ext cx="1166432" cy="739760"/>
              </a:xfrm>
              <a:prstGeom prst="straightConnector1">
                <a:avLst/>
              </a:prstGeom>
              <a:ln w="28575">
                <a:solidFill>
                  <a:schemeClr val="tx1"/>
                </a:solidFill>
                <a:headEnd type="none" w="med" len="med"/>
                <a:tailEnd type="arrow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85" name="TextBox 84">
                <a:extLst>
                  <a:ext uri="{FF2B5EF4-FFF2-40B4-BE49-F238E27FC236}">
                    <a16:creationId xmlns:a16="http://schemas.microsoft.com/office/drawing/2014/main" id="{3CDB080D-E633-714A-0BB2-110E16B66397}"/>
                  </a:ext>
                </a:extLst>
              </p:cNvPr>
              <p:cNvSpPr txBox="1"/>
              <p:nvPr/>
            </p:nvSpPr>
            <p:spPr>
              <a:xfrm>
                <a:off x="2431134" y="2594757"/>
                <a:ext cx="553357" cy="30777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dirty="0"/>
                  <a:t>Hold</a:t>
                </a:r>
              </a:p>
            </p:txBody>
          </p: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86" name="TextBox 85">
                    <a:extLst>
                      <a:ext uri="{FF2B5EF4-FFF2-40B4-BE49-F238E27FC236}">
                        <a16:creationId xmlns:a16="http://schemas.microsoft.com/office/drawing/2014/main" id="{B058EE32-4884-106F-7508-FF13A5035463}"/>
                      </a:ext>
                    </a:extLst>
                  </p:cNvPr>
                  <p:cNvSpPr txBox="1"/>
                  <p:nvPr/>
                </p:nvSpPr>
                <p:spPr>
                  <a:xfrm rot="19640672">
                    <a:off x="1788240" y="2273357"/>
                    <a:ext cx="905184" cy="307777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r>
                      <a:rPr lang="en-US" dirty="0"/>
                      <a:t>Sell at </a:t>
                    </a:r>
                    <a14:m>
                      <m:oMath xmlns:m="http://schemas.openxmlformats.org/officeDocument/2006/math"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𝑝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oMath>
                    </a14:m>
                    <a:endParaRPr lang="en-US" dirty="0"/>
                  </a:p>
                </p:txBody>
              </p:sp>
            </mc:Choice>
            <mc:Fallback xmlns="">
              <p:sp>
                <p:nvSpPr>
                  <p:cNvPr id="86" name="TextBox 85">
                    <a:extLst>
                      <a:ext uri="{FF2B5EF4-FFF2-40B4-BE49-F238E27FC236}">
                        <a16:creationId xmlns:a16="http://schemas.microsoft.com/office/drawing/2014/main" id="{28AE08C5-3729-3E17-7A9D-FE5D2D5B6099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 rot="19640672">
                    <a:off x="1788240" y="2273357"/>
                    <a:ext cx="905184" cy="307777"/>
                  </a:xfrm>
                  <a:prstGeom prst="rect">
                    <a:avLst/>
                  </a:prstGeom>
                  <a:blipFill>
                    <a:blip r:embed="rId5"/>
                    <a:stretch>
                      <a:fillRect l="-1961" b="-8130"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  <p:grpSp>
          <p:nvGrpSpPr>
            <p:cNvPr id="60" name="Group 59">
              <a:extLst>
                <a:ext uri="{FF2B5EF4-FFF2-40B4-BE49-F238E27FC236}">
                  <a16:creationId xmlns:a16="http://schemas.microsoft.com/office/drawing/2014/main" id="{5E629A7E-3DC7-56A3-DC17-04B7BBBF64AC}"/>
                </a:ext>
              </a:extLst>
            </p:cNvPr>
            <p:cNvGrpSpPr/>
            <p:nvPr/>
          </p:nvGrpSpPr>
          <p:grpSpPr>
            <a:xfrm>
              <a:off x="3655991" y="2140833"/>
              <a:ext cx="2138453" cy="887107"/>
              <a:chOff x="1538602" y="2137588"/>
              <a:chExt cx="2138453" cy="887107"/>
            </a:xfrm>
          </p:grpSpPr>
          <p:sp>
            <p:nvSpPr>
              <p:cNvPr id="75" name="Oval 74">
                <a:extLst>
                  <a:ext uri="{FF2B5EF4-FFF2-40B4-BE49-F238E27FC236}">
                    <a16:creationId xmlns:a16="http://schemas.microsoft.com/office/drawing/2014/main" id="{BF8DB63F-173F-A68A-81F0-DBED9D23AF27}"/>
                  </a:ext>
                </a:extLst>
              </p:cNvPr>
              <p:cNvSpPr/>
              <p:nvPr/>
            </p:nvSpPr>
            <p:spPr>
              <a:xfrm>
                <a:off x="1544372" y="2724660"/>
                <a:ext cx="290914" cy="290914"/>
              </a:xfrm>
              <a:prstGeom prst="ellipse">
                <a:avLst/>
              </a:prstGeom>
              <a:solidFill>
                <a:schemeClr val="bg1"/>
              </a:solidFill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76" name="TextBox 75">
                <a:extLst>
                  <a:ext uri="{FF2B5EF4-FFF2-40B4-BE49-F238E27FC236}">
                    <a16:creationId xmlns:a16="http://schemas.microsoft.com/office/drawing/2014/main" id="{0E787A95-60ED-EF1E-482E-2E9D4BBCC731}"/>
                  </a:ext>
                </a:extLst>
              </p:cNvPr>
              <p:cNvSpPr txBox="1"/>
              <p:nvPr/>
            </p:nvSpPr>
            <p:spPr>
              <a:xfrm>
                <a:off x="1538602" y="2716918"/>
                <a:ext cx="284052" cy="30777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dirty="0"/>
                  <a:t>2</a:t>
                </a:r>
              </a:p>
            </p:txBody>
          </p:sp>
          <p:cxnSp>
            <p:nvCxnSpPr>
              <p:cNvPr id="77" name="Straight Arrow Connector 76">
                <a:extLst>
                  <a:ext uri="{FF2B5EF4-FFF2-40B4-BE49-F238E27FC236}">
                    <a16:creationId xmlns:a16="http://schemas.microsoft.com/office/drawing/2014/main" id="{3E1AFA62-38DE-30F2-DE5E-620EDA14F245}"/>
                  </a:ext>
                </a:extLst>
              </p:cNvPr>
              <p:cNvCxnSpPr>
                <a:stCxn id="75" idx="6"/>
              </p:cNvCxnSpPr>
              <p:nvPr/>
            </p:nvCxnSpPr>
            <p:spPr>
              <a:xfrm>
                <a:off x="1835286" y="2870117"/>
                <a:ext cx="1841769" cy="0"/>
              </a:xfrm>
              <a:prstGeom prst="straightConnector1">
                <a:avLst/>
              </a:prstGeom>
              <a:ln w="28575">
                <a:solidFill>
                  <a:schemeClr val="tx1"/>
                </a:solidFill>
                <a:headEnd type="none" w="med" len="med"/>
                <a:tailEnd type="arrow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8" name="Straight Arrow Connector 77">
                <a:extLst>
                  <a:ext uri="{FF2B5EF4-FFF2-40B4-BE49-F238E27FC236}">
                    <a16:creationId xmlns:a16="http://schemas.microsoft.com/office/drawing/2014/main" id="{E72F4620-CF61-DE68-31A2-B0C2115BBC81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1847918" y="2137588"/>
                <a:ext cx="1166432" cy="739760"/>
              </a:xfrm>
              <a:prstGeom prst="straightConnector1">
                <a:avLst/>
              </a:prstGeom>
              <a:ln w="28575">
                <a:solidFill>
                  <a:schemeClr val="tx1"/>
                </a:solidFill>
                <a:headEnd type="none" w="med" len="med"/>
                <a:tailEnd type="arrow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79" name="TextBox 78">
                <a:extLst>
                  <a:ext uri="{FF2B5EF4-FFF2-40B4-BE49-F238E27FC236}">
                    <a16:creationId xmlns:a16="http://schemas.microsoft.com/office/drawing/2014/main" id="{710ED670-5CD6-4EDC-0AAC-5383291599B1}"/>
                  </a:ext>
                </a:extLst>
              </p:cNvPr>
              <p:cNvSpPr txBox="1"/>
              <p:nvPr/>
            </p:nvSpPr>
            <p:spPr>
              <a:xfrm>
                <a:off x="2431134" y="2594757"/>
                <a:ext cx="553357" cy="30777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dirty="0"/>
                  <a:t>Hold</a:t>
                </a:r>
              </a:p>
            </p:txBody>
          </p: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80" name="TextBox 79">
                    <a:extLst>
                      <a:ext uri="{FF2B5EF4-FFF2-40B4-BE49-F238E27FC236}">
                        <a16:creationId xmlns:a16="http://schemas.microsoft.com/office/drawing/2014/main" id="{0D9172EE-5E45-5215-BC56-084A4CD3DD1C}"/>
                      </a:ext>
                    </a:extLst>
                  </p:cNvPr>
                  <p:cNvSpPr txBox="1"/>
                  <p:nvPr/>
                </p:nvSpPr>
                <p:spPr>
                  <a:xfrm rot="19640672">
                    <a:off x="1786156" y="2273357"/>
                    <a:ext cx="909352" cy="307777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r>
                      <a:rPr lang="en-US" dirty="0"/>
                      <a:t>Sell at </a:t>
                    </a:r>
                    <a14:m>
                      <m:oMath xmlns:m="http://schemas.openxmlformats.org/officeDocument/2006/math"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𝑝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oMath>
                    </a14:m>
                    <a:endParaRPr lang="en-US" dirty="0"/>
                  </a:p>
                </p:txBody>
              </p:sp>
            </mc:Choice>
            <mc:Fallback xmlns="">
              <p:sp>
                <p:nvSpPr>
                  <p:cNvPr id="80" name="TextBox 79">
                    <a:extLst>
                      <a:ext uri="{FF2B5EF4-FFF2-40B4-BE49-F238E27FC236}">
                        <a16:creationId xmlns:a16="http://schemas.microsoft.com/office/drawing/2014/main" id="{4DC69DEC-EDC9-F21D-F3B4-05CA2C3BC996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 rot="19640672">
                    <a:off x="1786156" y="2273357"/>
                    <a:ext cx="909352" cy="307777"/>
                  </a:xfrm>
                  <a:prstGeom prst="rect">
                    <a:avLst/>
                  </a:prstGeom>
                  <a:blipFill>
                    <a:blip r:embed="rId6"/>
                    <a:stretch>
                      <a:fillRect l="-1948" b="-7258"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  <p:grpSp>
          <p:nvGrpSpPr>
            <p:cNvPr id="61" name="Group 60">
              <a:extLst>
                <a:ext uri="{FF2B5EF4-FFF2-40B4-BE49-F238E27FC236}">
                  <a16:creationId xmlns:a16="http://schemas.microsoft.com/office/drawing/2014/main" id="{B9CBAA73-C015-0076-5BED-CAD5A5173995}"/>
                </a:ext>
              </a:extLst>
            </p:cNvPr>
            <p:cNvGrpSpPr/>
            <p:nvPr/>
          </p:nvGrpSpPr>
          <p:grpSpPr>
            <a:xfrm>
              <a:off x="5783101" y="2140833"/>
              <a:ext cx="2138453" cy="887107"/>
              <a:chOff x="1538602" y="2137588"/>
              <a:chExt cx="2138453" cy="887107"/>
            </a:xfrm>
          </p:grpSpPr>
          <p:sp>
            <p:nvSpPr>
              <p:cNvPr id="69" name="Oval 68">
                <a:extLst>
                  <a:ext uri="{FF2B5EF4-FFF2-40B4-BE49-F238E27FC236}">
                    <a16:creationId xmlns:a16="http://schemas.microsoft.com/office/drawing/2014/main" id="{4BB5D764-3C14-112B-8B5C-154177775794}"/>
                  </a:ext>
                </a:extLst>
              </p:cNvPr>
              <p:cNvSpPr/>
              <p:nvPr/>
            </p:nvSpPr>
            <p:spPr>
              <a:xfrm>
                <a:off x="1544372" y="2724660"/>
                <a:ext cx="290914" cy="290914"/>
              </a:xfrm>
              <a:prstGeom prst="ellipse">
                <a:avLst/>
              </a:prstGeom>
              <a:solidFill>
                <a:schemeClr val="bg1"/>
              </a:solidFill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70" name="TextBox 69">
                <a:extLst>
                  <a:ext uri="{FF2B5EF4-FFF2-40B4-BE49-F238E27FC236}">
                    <a16:creationId xmlns:a16="http://schemas.microsoft.com/office/drawing/2014/main" id="{D866C1FB-AC42-7D92-91DE-4B660147E785}"/>
                  </a:ext>
                </a:extLst>
              </p:cNvPr>
              <p:cNvSpPr txBox="1"/>
              <p:nvPr/>
            </p:nvSpPr>
            <p:spPr>
              <a:xfrm>
                <a:off x="1538602" y="2716918"/>
                <a:ext cx="284052" cy="30777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dirty="0"/>
                  <a:t>3</a:t>
                </a:r>
              </a:p>
            </p:txBody>
          </p:sp>
          <p:cxnSp>
            <p:nvCxnSpPr>
              <p:cNvPr id="71" name="Straight Arrow Connector 70">
                <a:extLst>
                  <a:ext uri="{FF2B5EF4-FFF2-40B4-BE49-F238E27FC236}">
                    <a16:creationId xmlns:a16="http://schemas.microsoft.com/office/drawing/2014/main" id="{FB47DE4F-EF53-C218-745A-DB94B66B0207}"/>
                  </a:ext>
                </a:extLst>
              </p:cNvPr>
              <p:cNvCxnSpPr>
                <a:stCxn id="69" idx="6"/>
              </p:cNvCxnSpPr>
              <p:nvPr/>
            </p:nvCxnSpPr>
            <p:spPr>
              <a:xfrm>
                <a:off x="1835286" y="2870117"/>
                <a:ext cx="1841769" cy="0"/>
              </a:xfrm>
              <a:prstGeom prst="straightConnector1">
                <a:avLst/>
              </a:prstGeom>
              <a:ln w="28575">
                <a:solidFill>
                  <a:schemeClr val="tx1"/>
                </a:solidFill>
                <a:headEnd type="none" w="med" len="med"/>
                <a:tailEnd type="arrow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2" name="Straight Arrow Connector 71">
                <a:extLst>
                  <a:ext uri="{FF2B5EF4-FFF2-40B4-BE49-F238E27FC236}">
                    <a16:creationId xmlns:a16="http://schemas.microsoft.com/office/drawing/2014/main" id="{54B5E29F-F3D4-4B5F-DA2A-E921B4506561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1847918" y="2137588"/>
                <a:ext cx="1166432" cy="739760"/>
              </a:xfrm>
              <a:prstGeom prst="straightConnector1">
                <a:avLst/>
              </a:prstGeom>
              <a:ln w="28575">
                <a:solidFill>
                  <a:schemeClr val="tx1"/>
                </a:solidFill>
                <a:headEnd type="none" w="med" len="med"/>
                <a:tailEnd type="arrow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73" name="TextBox 72">
                <a:extLst>
                  <a:ext uri="{FF2B5EF4-FFF2-40B4-BE49-F238E27FC236}">
                    <a16:creationId xmlns:a16="http://schemas.microsoft.com/office/drawing/2014/main" id="{E8B411A5-2DC2-7DD1-A1A3-7AD61AD23954}"/>
                  </a:ext>
                </a:extLst>
              </p:cNvPr>
              <p:cNvSpPr txBox="1"/>
              <p:nvPr/>
            </p:nvSpPr>
            <p:spPr>
              <a:xfrm>
                <a:off x="2431134" y="2594757"/>
                <a:ext cx="553357" cy="30777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dirty="0"/>
                  <a:t>Hold</a:t>
                </a:r>
              </a:p>
            </p:txBody>
          </p: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74" name="TextBox 73">
                    <a:extLst>
                      <a:ext uri="{FF2B5EF4-FFF2-40B4-BE49-F238E27FC236}">
                        <a16:creationId xmlns:a16="http://schemas.microsoft.com/office/drawing/2014/main" id="{E9EBFEF6-9A70-E685-0D3A-CF8D6D22FDB4}"/>
                      </a:ext>
                    </a:extLst>
                  </p:cNvPr>
                  <p:cNvSpPr txBox="1"/>
                  <p:nvPr/>
                </p:nvSpPr>
                <p:spPr>
                  <a:xfrm rot="19640672">
                    <a:off x="1786156" y="2273357"/>
                    <a:ext cx="909352" cy="307777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r>
                      <a:rPr lang="en-US" dirty="0"/>
                      <a:t>Sell at </a:t>
                    </a:r>
                    <a14:m>
                      <m:oMath xmlns:m="http://schemas.openxmlformats.org/officeDocument/2006/math"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𝑝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3</m:t>
                            </m:r>
                          </m:sub>
                        </m:sSub>
                      </m:oMath>
                    </a14:m>
                    <a:endParaRPr lang="en-US" dirty="0"/>
                  </a:p>
                </p:txBody>
              </p:sp>
            </mc:Choice>
            <mc:Fallback xmlns="">
              <p:sp>
                <p:nvSpPr>
                  <p:cNvPr id="74" name="TextBox 73">
                    <a:extLst>
                      <a:ext uri="{FF2B5EF4-FFF2-40B4-BE49-F238E27FC236}">
                        <a16:creationId xmlns:a16="http://schemas.microsoft.com/office/drawing/2014/main" id="{F040632B-E725-A1BC-ED3E-A42C9FE1BB28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 rot="19640672">
                    <a:off x="1786156" y="2273357"/>
                    <a:ext cx="909352" cy="307777"/>
                  </a:xfrm>
                  <a:prstGeom prst="rect">
                    <a:avLst/>
                  </a:prstGeom>
                  <a:blipFill>
                    <a:blip r:embed="rId7"/>
                    <a:stretch>
                      <a:fillRect l="-1948" b="-7258"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  <p:grpSp>
          <p:nvGrpSpPr>
            <p:cNvPr id="62" name="Group 61">
              <a:extLst>
                <a:ext uri="{FF2B5EF4-FFF2-40B4-BE49-F238E27FC236}">
                  <a16:creationId xmlns:a16="http://schemas.microsoft.com/office/drawing/2014/main" id="{248797B3-1D3D-81D0-8F8D-97E048D92CD6}"/>
                </a:ext>
              </a:extLst>
            </p:cNvPr>
            <p:cNvGrpSpPr/>
            <p:nvPr/>
          </p:nvGrpSpPr>
          <p:grpSpPr>
            <a:xfrm>
              <a:off x="7900490" y="2144078"/>
              <a:ext cx="2138453" cy="887107"/>
              <a:chOff x="1538602" y="2137588"/>
              <a:chExt cx="2138453" cy="887107"/>
            </a:xfrm>
          </p:grpSpPr>
          <p:sp>
            <p:nvSpPr>
              <p:cNvPr id="63" name="Oval 62">
                <a:extLst>
                  <a:ext uri="{FF2B5EF4-FFF2-40B4-BE49-F238E27FC236}">
                    <a16:creationId xmlns:a16="http://schemas.microsoft.com/office/drawing/2014/main" id="{B480076D-E113-B390-E500-FAB2B78D43DF}"/>
                  </a:ext>
                </a:extLst>
              </p:cNvPr>
              <p:cNvSpPr/>
              <p:nvPr/>
            </p:nvSpPr>
            <p:spPr>
              <a:xfrm>
                <a:off x="1544372" y="2724660"/>
                <a:ext cx="290914" cy="290914"/>
              </a:xfrm>
              <a:prstGeom prst="ellipse">
                <a:avLst/>
              </a:prstGeom>
              <a:solidFill>
                <a:schemeClr val="bg1"/>
              </a:solidFill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64" name="TextBox 63">
                <a:extLst>
                  <a:ext uri="{FF2B5EF4-FFF2-40B4-BE49-F238E27FC236}">
                    <a16:creationId xmlns:a16="http://schemas.microsoft.com/office/drawing/2014/main" id="{B28A620E-65A5-B7DD-4060-297423EC0555}"/>
                  </a:ext>
                </a:extLst>
              </p:cNvPr>
              <p:cNvSpPr txBox="1"/>
              <p:nvPr/>
            </p:nvSpPr>
            <p:spPr>
              <a:xfrm>
                <a:off x="1538602" y="2716918"/>
                <a:ext cx="284052" cy="30777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dirty="0"/>
                  <a:t>4</a:t>
                </a:r>
              </a:p>
            </p:txBody>
          </p:sp>
          <p:cxnSp>
            <p:nvCxnSpPr>
              <p:cNvPr id="65" name="Straight Arrow Connector 64">
                <a:extLst>
                  <a:ext uri="{FF2B5EF4-FFF2-40B4-BE49-F238E27FC236}">
                    <a16:creationId xmlns:a16="http://schemas.microsoft.com/office/drawing/2014/main" id="{C67980C5-5FFC-007C-DA94-5C24E320F4D1}"/>
                  </a:ext>
                </a:extLst>
              </p:cNvPr>
              <p:cNvCxnSpPr>
                <a:stCxn id="63" idx="6"/>
              </p:cNvCxnSpPr>
              <p:nvPr/>
            </p:nvCxnSpPr>
            <p:spPr>
              <a:xfrm>
                <a:off x="1835286" y="2870117"/>
                <a:ext cx="1841769" cy="0"/>
              </a:xfrm>
              <a:prstGeom prst="straightConnector1">
                <a:avLst/>
              </a:prstGeom>
              <a:ln w="28575">
                <a:solidFill>
                  <a:schemeClr val="tx1"/>
                </a:solidFill>
                <a:headEnd type="none" w="med" len="med"/>
                <a:tailEnd type="arrow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6" name="Straight Arrow Connector 65">
                <a:extLst>
                  <a:ext uri="{FF2B5EF4-FFF2-40B4-BE49-F238E27FC236}">
                    <a16:creationId xmlns:a16="http://schemas.microsoft.com/office/drawing/2014/main" id="{D6741CC5-D368-F19C-864E-4D41C0E0B360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1847918" y="2137588"/>
                <a:ext cx="1166432" cy="739760"/>
              </a:xfrm>
              <a:prstGeom prst="straightConnector1">
                <a:avLst/>
              </a:prstGeom>
              <a:ln w="28575">
                <a:solidFill>
                  <a:schemeClr val="tx1"/>
                </a:solidFill>
                <a:headEnd type="none" w="med" len="med"/>
                <a:tailEnd type="arrow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67" name="TextBox 66">
                <a:extLst>
                  <a:ext uri="{FF2B5EF4-FFF2-40B4-BE49-F238E27FC236}">
                    <a16:creationId xmlns:a16="http://schemas.microsoft.com/office/drawing/2014/main" id="{13AEDD47-3EBD-D077-38B3-E542F0F043DF}"/>
                  </a:ext>
                </a:extLst>
              </p:cNvPr>
              <p:cNvSpPr txBox="1"/>
              <p:nvPr/>
            </p:nvSpPr>
            <p:spPr>
              <a:xfrm>
                <a:off x="2431134" y="2594757"/>
                <a:ext cx="553357" cy="30777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dirty="0"/>
                  <a:t>Hold</a:t>
                </a:r>
              </a:p>
            </p:txBody>
          </p: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68" name="TextBox 67">
                    <a:extLst>
                      <a:ext uri="{FF2B5EF4-FFF2-40B4-BE49-F238E27FC236}">
                        <a16:creationId xmlns:a16="http://schemas.microsoft.com/office/drawing/2014/main" id="{43FC4CC5-98CE-4817-4D02-47666646A013}"/>
                      </a:ext>
                    </a:extLst>
                  </p:cNvPr>
                  <p:cNvSpPr txBox="1"/>
                  <p:nvPr/>
                </p:nvSpPr>
                <p:spPr>
                  <a:xfrm rot="19640672">
                    <a:off x="1786798" y="2273357"/>
                    <a:ext cx="908069" cy="307777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r>
                      <a:rPr lang="en-US" dirty="0"/>
                      <a:t>Sell at </a:t>
                    </a:r>
                    <a14:m>
                      <m:oMath xmlns:m="http://schemas.openxmlformats.org/officeDocument/2006/math"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𝑝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4</m:t>
                            </m:r>
                          </m:sub>
                        </m:sSub>
                      </m:oMath>
                    </a14:m>
                    <a:endParaRPr lang="en-US" dirty="0"/>
                  </a:p>
                </p:txBody>
              </p:sp>
            </mc:Choice>
            <mc:Fallback xmlns="">
              <p:sp>
                <p:nvSpPr>
                  <p:cNvPr id="68" name="TextBox 67">
                    <a:extLst>
                      <a:ext uri="{FF2B5EF4-FFF2-40B4-BE49-F238E27FC236}">
                        <a16:creationId xmlns:a16="http://schemas.microsoft.com/office/drawing/2014/main" id="{E17DED16-14C7-DA4F-4F3F-08B48ECFDFAF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 rot="19640672">
                    <a:off x="1786798" y="2273357"/>
                    <a:ext cx="908069" cy="307777"/>
                  </a:xfrm>
                  <a:prstGeom prst="rect">
                    <a:avLst/>
                  </a:prstGeom>
                  <a:blipFill>
                    <a:blip r:embed="rId8"/>
                    <a:stretch>
                      <a:fillRect l="-1299" b="-7258"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</p:grpSp>
      <p:cxnSp>
        <p:nvCxnSpPr>
          <p:cNvPr id="88" name="Straight Connector 87">
            <a:extLst>
              <a:ext uri="{FF2B5EF4-FFF2-40B4-BE49-F238E27FC236}">
                <a16:creationId xmlns:a16="http://schemas.microsoft.com/office/drawing/2014/main" id="{33BA95ED-7986-C2D7-BF77-FB43307454E4}"/>
              </a:ext>
            </a:extLst>
          </p:cNvPr>
          <p:cNvCxnSpPr/>
          <p:nvPr/>
        </p:nvCxnSpPr>
        <p:spPr>
          <a:xfrm>
            <a:off x="3320376" y="3101871"/>
            <a:ext cx="2148927" cy="0"/>
          </a:xfrm>
          <a:prstGeom prst="line">
            <a:avLst/>
          </a:prstGeom>
          <a:ln w="19050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9" name="TextBox 88">
            <a:extLst>
              <a:ext uri="{FF2B5EF4-FFF2-40B4-BE49-F238E27FC236}">
                <a16:creationId xmlns:a16="http://schemas.microsoft.com/office/drawing/2014/main" id="{0D5D5A5A-77F3-5743-7C81-73FCEC6B25CC}"/>
              </a:ext>
            </a:extLst>
          </p:cNvPr>
          <p:cNvSpPr txBox="1"/>
          <p:nvPr/>
        </p:nvSpPr>
        <p:spPr>
          <a:xfrm>
            <a:off x="4062937" y="2797044"/>
            <a:ext cx="814647" cy="276999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r>
              <a:rPr lang="en-US" sz="1200" dirty="0"/>
              <a:t>Decision </a:t>
            </a:r>
          </a:p>
        </p:txBody>
      </p:sp>
      <p:grpSp>
        <p:nvGrpSpPr>
          <p:cNvPr id="9" name="Group 8">
            <a:extLst>
              <a:ext uri="{FF2B5EF4-FFF2-40B4-BE49-F238E27FC236}">
                <a16:creationId xmlns:a16="http://schemas.microsoft.com/office/drawing/2014/main" id="{08D1BD54-B80C-BDC9-DB73-B03E11DC7A30}"/>
              </a:ext>
            </a:extLst>
          </p:cNvPr>
          <p:cNvGrpSpPr/>
          <p:nvPr/>
        </p:nvGrpSpPr>
        <p:grpSpPr>
          <a:xfrm>
            <a:off x="4728424" y="3627358"/>
            <a:ext cx="7417902" cy="1313442"/>
            <a:chOff x="4728424" y="3627358"/>
            <a:chExt cx="7417902" cy="1313442"/>
          </a:xfrm>
        </p:grpSpPr>
        <p:grpSp>
          <p:nvGrpSpPr>
            <p:cNvPr id="87" name="Group 86">
              <a:extLst>
                <a:ext uri="{FF2B5EF4-FFF2-40B4-BE49-F238E27FC236}">
                  <a16:creationId xmlns:a16="http://schemas.microsoft.com/office/drawing/2014/main" id="{5A4D3F4A-6490-9895-0666-C39CB9C6D344}"/>
                </a:ext>
              </a:extLst>
            </p:cNvPr>
            <p:cNvGrpSpPr/>
            <p:nvPr/>
          </p:nvGrpSpPr>
          <p:grpSpPr>
            <a:xfrm>
              <a:off x="4728424" y="3627358"/>
              <a:ext cx="7417902" cy="1313442"/>
              <a:chOff x="5487182" y="4135369"/>
              <a:chExt cx="7417902" cy="1313442"/>
            </a:xfrm>
          </p:grpSpPr>
          <p:grpSp>
            <p:nvGrpSpPr>
              <p:cNvPr id="8" name="Group 7">
                <a:extLst>
                  <a:ext uri="{FF2B5EF4-FFF2-40B4-BE49-F238E27FC236}">
                    <a16:creationId xmlns:a16="http://schemas.microsoft.com/office/drawing/2014/main" id="{05EED4F9-8C67-6895-06D1-B04C02A91F92}"/>
                  </a:ext>
                </a:extLst>
              </p:cNvPr>
              <p:cNvGrpSpPr/>
              <p:nvPr/>
            </p:nvGrpSpPr>
            <p:grpSpPr>
              <a:xfrm>
                <a:off x="5911783" y="4577108"/>
                <a:ext cx="6993301" cy="797502"/>
                <a:chOff x="2811902" y="5673499"/>
                <a:chExt cx="6993301" cy="797502"/>
              </a:xfrm>
            </p:grpSpPr>
            <mc:AlternateContent xmlns:mc="http://schemas.openxmlformats.org/markup-compatibility/2006" xmlns:a14="http://schemas.microsoft.com/office/drawing/2010/main">
              <mc:Choice Requires="a14">
                <p:sp>
                  <p:nvSpPr>
                    <p:cNvPr id="4" name="TextBox 3">
                      <a:extLst>
                        <a:ext uri="{FF2B5EF4-FFF2-40B4-BE49-F238E27FC236}">
                          <a16:creationId xmlns:a16="http://schemas.microsoft.com/office/drawing/2014/main" id="{EA72060F-473A-EFC2-1978-607F26032659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2811902" y="5673499"/>
                      <a:ext cx="6374860" cy="369332"/>
                    </a:xfrm>
                    <a:prstGeom prst="rect">
                      <a:avLst/>
                    </a:prstGeom>
                    <a:noFill/>
                  </p:spPr>
                  <p:txBody>
                    <a:bodyPr wrap="square" rtlCol="0">
                      <a:spAutoFit/>
                    </a:bodyPr>
                    <a:lstStyle/>
                    <a:p>
                      <a:pPr/>
                      <a14:m>
                        <m:oMathPara xmlns:m="http://schemas.openxmlformats.org/officeDocument/2006/math">
                          <m:oMath>
                            <m:sSub>
                              <m:sSubPr>
                                <m:ctrlPr>
                                  <a:rPr lang="en-US" sz="1800" b="0" i="1" smtClean="0">
                                    <a:solidFill>
                                      <a:schemeClr val="accent2">
                                        <a:lumMod val="75000"/>
                                      </a:schemeClr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acc>
                                  <m:accPr>
                                    <m:chr m:val="̅"/>
                                    <m:ctrlPr>
                                      <a:rPr lang="en-US" sz="1800" b="0" i="1" smtClean="0">
                                        <a:solidFill>
                                          <a:schemeClr val="accent2">
                                            <a:lumMod val="75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accPr>
                                  <m:e>
                                    <m:r>
                                      <a:rPr lang="en-US" sz="1800" b="0" i="1" smtClean="0">
                                        <a:solidFill>
                                          <a:schemeClr val="accent2">
                                            <a:lumMod val="75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𝑉</m:t>
                                    </m:r>
                                  </m:e>
                                </m:acc>
                              </m:e>
                              <m:sub>
                                <m:r>
                                  <a:rPr lang="en-US" sz="1800" b="0" i="1" smtClean="0">
                                    <a:solidFill>
                                      <a:schemeClr val="accent2">
                                        <a:lumMod val="75000"/>
                                      </a:schemeClr>
                                    </a:solidFill>
                                    <a:latin typeface="Cambria Math" panose="02040503050406030204" pitchFamily="18" charset="0"/>
                                  </a:rPr>
                                  <m:t>3</m:t>
                                </m:r>
                              </m:sub>
                            </m:sSub>
                            <m:r>
                              <a:rPr lang="en-US" sz="1800" b="0" i="1" smtClean="0">
                                <a:solidFill>
                                  <a:schemeClr val="accent2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(</m:t>
                            </m:r>
                            <m:sSub>
                              <m:sSubPr>
                                <m:ctrlPr>
                                  <a:rPr lang="en-US" sz="1800" b="0" i="1" smtClean="0">
                                    <a:solidFill>
                                      <a:schemeClr val="accent2">
                                        <a:lumMod val="75000"/>
                                      </a:schemeClr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1800" b="0" i="1" smtClean="0">
                                    <a:solidFill>
                                      <a:schemeClr val="accent2">
                                        <a:lumMod val="75000"/>
                                      </a:schemeClr>
                                    </a:solidFill>
                                    <a:latin typeface="Cambria Math" panose="02040503050406030204" pitchFamily="18" charset="0"/>
                                  </a:rPr>
                                  <m:t>𝑆</m:t>
                                </m:r>
                              </m:e>
                              <m:sub>
                                <m:r>
                                  <a:rPr lang="en-US" sz="1800" b="0" i="1" smtClean="0">
                                    <a:solidFill>
                                      <a:schemeClr val="accent2">
                                        <a:lumMod val="75000"/>
                                      </a:schemeClr>
                                    </a:solidFill>
                                    <a:latin typeface="Cambria Math" panose="02040503050406030204" pitchFamily="18" charset="0"/>
                                  </a:rPr>
                                  <m:t>𝑡</m:t>
                                </m:r>
                              </m:sub>
                            </m:sSub>
                            <m:r>
                              <a:rPr lang="en-US" sz="1800" b="0" i="1" smtClean="0">
                                <a:solidFill>
                                  <a:schemeClr val="accent2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)=</m:t>
                            </m:r>
                            <m:sSub>
                              <m:sSubPr>
                                <m:ctrlPr>
                                  <a:rPr lang="en-US" sz="1800" b="0" i="1" smtClean="0">
                                    <a:solidFill>
                                      <a:schemeClr val="accent2">
                                        <a:lumMod val="75000"/>
                                      </a:schemeClr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1800" b="0" i="1" smtClean="0">
                                    <a:solidFill>
                                      <a:schemeClr val="accent2">
                                        <a:lumMod val="75000"/>
                                      </a:schemeClr>
                                    </a:solidFill>
                                    <a:latin typeface="Cambria Math" panose="02040503050406030204" pitchFamily="18" charset="0"/>
                                  </a:rPr>
                                  <m:t>𝜃</m:t>
                                </m:r>
                              </m:e>
                              <m:sub>
                                <m:r>
                                  <a:rPr lang="en-US" sz="1800" b="0" i="1" smtClean="0">
                                    <a:solidFill>
                                      <a:schemeClr val="accent2">
                                        <a:lumMod val="75000"/>
                                      </a:schemeClr>
                                    </a:solidFill>
                                    <a:latin typeface="Cambria Math" panose="02040503050406030204" pitchFamily="18" charset="0"/>
                                  </a:rPr>
                                  <m:t>𝑡</m:t>
                                </m:r>
                                <m:r>
                                  <a:rPr lang="en-US" sz="1800" b="0" i="1" smtClean="0">
                                    <a:solidFill>
                                      <a:schemeClr val="accent2">
                                        <a:lumMod val="75000"/>
                                      </a:schemeClr>
                                    </a:solidFill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sub>
                            </m:sSub>
                            <m:sSub>
                              <m:sSubPr>
                                <m:ctrlPr>
                                  <a:rPr lang="en-US" sz="1800" i="1">
                                    <a:solidFill>
                                      <a:schemeClr val="accent2">
                                        <a:lumMod val="75000"/>
                                      </a:schemeClr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1800" i="1">
                                    <a:solidFill>
                                      <a:schemeClr val="accent2">
                                        <a:lumMod val="75000"/>
                                      </a:schemeClr>
                                    </a:solidFill>
                                    <a:latin typeface="Cambria Math" panose="02040503050406030204" pitchFamily="18" charset="0"/>
                                  </a:rPr>
                                  <m:t>𝑝</m:t>
                                </m:r>
                              </m:e>
                              <m:sub>
                                <m:r>
                                  <a:rPr lang="en-US" sz="1800" i="1">
                                    <a:solidFill>
                                      <a:schemeClr val="accent2">
                                        <a:lumMod val="75000"/>
                                      </a:schemeClr>
                                    </a:solidFill>
                                    <a:latin typeface="Cambria Math" panose="02040503050406030204" pitchFamily="18" charset="0"/>
                                  </a:rPr>
                                  <m:t>𝑡</m:t>
                                </m:r>
                                <m:r>
                                  <a:rPr lang="en-US" sz="1800" i="1">
                                    <a:solidFill>
                                      <a:schemeClr val="accent2">
                                        <a:lumMod val="75000"/>
                                      </a:schemeClr>
                                    </a:solidFill>
                                    <a:latin typeface="Cambria Math" panose="02040503050406030204" pitchFamily="18" charset="0"/>
                                  </a:rPr>
                                  <m:t>−2</m:t>
                                </m:r>
                              </m:sub>
                            </m:sSub>
                            <m:r>
                              <a:rPr lang="en-US" sz="1800" b="0" i="1" smtClean="0">
                                <a:solidFill>
                                  <a:schemeClr val="accent2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sSub>
                              <m:sSubPr>
                                <m:ctrlPr>
                                  <a:rPr lang="en-US" sz="1800" b="0" i="1" smtClean="0">
                                    <a:solidFill>
                                      <a:schemeClr val="accent2">
                                        <a:lumMod val="75000"/>
                                      </a:schemeClr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1800" b="0" i="1" smtClean="0">
                                    <a:solidFill>
                                      <a:schemeClr val="accent2">
                                        <a:lumMod val="75000"/>
                                      </a:schemeClr>
                                    </a:solidFill>
                                    <a:latin typeface="Cambria Math" panose="02040503050406030204" pitchFamily="18" charset="0"/>
                                  </a:rPr>
                                  <m:t>𝜃</m:t>
                                </m:r>
                              </m:e>
                              <m:sub>
                                <m:r>
                                  <a:rPr lang="en-US" sz="1800" b="0" i="1" smtClean="0">
                                    <a:solidFill>
                                      <a:schemeClr val="accent2">
                                        <a:lumMod val="75000"/>
                                      </a:schemeClr>
                                    </a:solidFill>
                                    <a:latin typeface="Cambria Math" panose="02040503050406030204" pitchFamily="18" charset="0"/>
                                  </a:rPr>
                                  <m:t>𝑡</m:t>
                                </m:r>
                                <m:r>
                                  <a:rPr lang="en-US" sz="1800" b="0" i="1" smtClean="0">
                                    <a:solidFill>
                                      <a:schemeClr val="accent2">
                                        <a:lumMod val="75000"/>
                                      </a:schemeClr>
                                    </a:solidFill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sub>
                            </m:sSub>
                            <m:sSub>
                              <m:sSubPr>
                                <m:ctrlPr>
                                  <a:rPr lang="en-US" sz="1800" b="0" i="1" smtClean="0">
                                    <a:solidFill>
                                      <a:schemeClr val="accent2">
                                        <a:lumMod val="75000"/>
                                      </a:schemeClr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1800" b="0" i="1" smtClean="0">
                                    <a:solidFill>
                                      <a:schemeClr val="accent2">
                                        <a:lumMod val="75000"/>
                                      </a:schemeClr>
                                    </a:solidFill>
                                    <a:latin typeface="Cambria Math" panose="02040503050406030204" pitchFamily="18" charset="0"/>
                                  </a:rPr>
                                  <m:t>𝑝</m:t>
                                </m:r>
                              </m:e>
                              <m:sub>
                                <m:r>
                                  <a:rPr lang="en-US" sz="1800" b="0" i="1" smtClean="0">
                                    <a:solidFill>
                                      <a:schemeClr val="accent2">
                                        <a:lumMod val="75000"/>
                                      </a:schemeClr>
                                    </a:solidFill>
                                    <a:latin typeface="Cambria Math" panose="02040503050406030204" pitchFamily="18" charset="0"/>
                                  </a:rPr>
                                  <m:t>𝑡</m:t>
                                </m:r>
                                <m:r>
                                  <a:rPr lang="en-US" sz="1800" b="0" i="1" smtClean="0">
                                    <a:solidFill>
                                      <a:schemeClr val="accent2">
                                        <a:lumMod val="75000"/>
                                      </a:schemeClr>
                                    </a:solidFill>
                                    <a:latin typeface="Cambria Math" panose="02040503050406030204" pitchFamily="18" charset="0"/>
                                  </a:rPr>
                                  <m:t>−1</m:t>
                                </m:r>
                              </m:sub>
                            </m:sSub>
                            <m:r>
                              <a:rPr lang="en-US" sz="1800" b="0" i="1" smtClean="0">
                                <a:solidFill>
                                  <a:schemeClr val="accent2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sSub>
                              <m:sSubPr>
                                <m:ctrlPr>
                                  <a:rPr lang="en-US" sz="1800" b="0" i="1" smtClean="0">
                                    <a:solidFill>
                                      <a:schemeClr val="accent2">
                                        <a:lumMod val="75000"/>
                                      </a:schemeClr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1800" b="0" i="1" smtClean="0">
                                    <a:solidFill>
                                      <a:schemeClr val="accent2">
                                        <a:lumMod val="75000"/>
                                      </a:schemeClr>
                                    </a:solidFill>
                                    <a:latin typeface="Cambria Math" panose="02040503050406030204" pitchFamily="18" charset="0"/>
                                  </a:rPr>
                                  <m:t>𝜃</m:t>
                                </m:r>
                              </m:e>
                              <m:sub>
                                <m:r>
                                  <a:rPr lang="en-US" sz="1800" b="0" i="1" smtClean="0">
                                    <a:solidFill>
                                      <a:schemeClr val="accent2">
                                        <a:lumMod val="75000"/>
                                      </a:schemeClr>
                                    </a:solidFill>
                                    <a:latin typeface="Cambria Math" panose="02040503050406030204" pitchFamily="18" charset="0"/>
                                  </a:rPr>
                                  <m:t>𝑡</m:t>
                                </m:r>
                                <m:r>
                                  <a:rPr lang="en-US" sz="1800" b="0" i="1" smtClean="0">
                                    <a:solidFill>
                                      <a:schemeClr val="accent2">
                                        <a:lumMod val="75000"/>
                                      </a:schemeClr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b>
                            </m:sSub>
                            <m:sSub>
                              <m:sSubPr>
                                <m:ctrlPr>
                                  <a:rPr lang="en-US" sz="1800" b="0" i="1" smtClean="0">
                                    <a:solidFill>
                                      <a:schemeClr val="accent2">
                                        <a:lumMod val="75000"/>
                                      </a:schemeClr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1800" b="0" i="1" smtClean="0">
                                    <a:solidFill>
                                      <a:schemeClr val="accent2">
                                        <a:lumMod val="75000"/>
                                      </a:schemeClr>
                                    </a:solidFill>
                                    <a:latin typeface="Cambria Math" panose="02040503050406030204" pitchFamily="18" charset="0"/>
                                  </a:rPr>
                                  <m:t>𝑝</m:t>
                                </m:r>
                              </m:e>
                              <m:sub>
                                <m:r>
                                  <a:rPr lang="en-US" sz="1800" b="0" i="1" smtClean="0">
                                    <a:solidFill>
                                      <a:schemeClr val="accent2">
                                        <a:lumMod val="75000"/>
                                      </a:schemeClr>
                                    </a:solidFill>
                                    <a:latin typeface="Cambria Math" panose="02040503050406030204" pitchFamily="18" charset="0"/>
                                  </a:rPr>
                                  <m:t>𝑡</m:t>
                                </m:r>
                              </m:sub>
                            </m:sSub>
                            <m:r>
                              <a:rPr lang="en-US" sz="1800" b="0" i="1" smtClean="0">
                                <a:solidFill>
                                  <a:schemeClr val="accent2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sSub>
                              <m:sSubPr>
                                <m:ctrlPr>
                                  <a:rPr lang="en-US" sz="1800" b="0" i="1" smtClean="0">
                                    <a:solidFill>
                                      <a:schemeClr val="accent2">
                                        <a:lumMod val="75000"/>
                                      </a:schemeClr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1800" b="0" i="1" smtClean="0">
                                    <a:solidFill>
                                      <a:schemeClr val="accent2">
                                        <a:lumMod val="75000"/>
                                      </a:schemeClr>
                                    </a:solidFill>
                                    <a:latin typeface="Cambria Math" panose="02040503050406030204" pitchFamily="18" charset="0"/>
                                  </a:rPr>
                                  <m:t>𝜃</m:t>
                                </m:r>
                              </m:e>
                              <m:sub>
                                <m:r>
                                  <a:rPr lang="en-US" sz="1800" b="0" i="1" smtClean="0">
                                    <a:solidFill>
                                      <a:schemeClr val="accent2">
                                        <a:lumMod val="75000"/>
                                      </a:schemeClr>
                                    </a:solidFill>
                                    <a:latin typeface="Cambria Math" panose="02040503050406030204" pitchFamily="18" charset="0"/>
                                  </a:rPr>
                                  <m:t>𝑡</m:t>
                                </m:r>
                                <m:r>
                                  <a:rPr lang="en-US" sz="1800" b="0" i="1" smtClean="0">
                                    <a:solidFill>
                                      <a:schemeClr val="accent2">
                                        <a:lumMod val="75000"/>
                                      </a:schemeClr>
                                    </a:solidFill>
                                    <a:latin typeface="Cambria Math" panose="02040503050406030204" pitchFamily="18" charset="0"/>
                                  </a:rPr>
                                  <m:t>3</m:t>
                                </m:r>
                              </m:sub>
                            </m:sSub>
                            <m:sSup>
                              <m:sSupPr>
                                <m:ctrlPr>
                                  <a:rPr lang="en-US" sz="1800" b="0" i="1" smtClean="0">
                                    <a:solidFill>
                                      <a:schemeClr val="accent2">
                                        <a:lumMod val="75000"/>
                                      </a:schemeClr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d>
                                  <m:dPr>
                                    <m:ctrlPr>
                                      <a:rPr lang="en-US" sz="1800" b="0" i="1" smtClean="0">
                                        <a:solidFill>
                                          <a:schemeClr val="accent2">
                                            <a:lumMod val="75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sSub>
                                      <m:sSubPr>
                                        <m:ctrlPr>
                                          <a:rPr lang="en-US" sz="1800" b="0" i="1" smtClean="0">
                                            <a:solidFill>
                                              <a:schemeClr val="accent2">
                                                <a:lumMod val="75000"/>
                                              </a:schemeClr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sz="1800" b="0" i="1" smtClean="0">
                                            <a:solidFill>
                                              <a:schemeClr val="accent2">
                                                <a:lumMod val="75000"/>
                                              </a:schemeClr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𝑝</m:t>
                                        </m:r>
                                      </m:e>
                                      <m:sub>
                                        <m:r>
                                          <a:rPr lang="en-US" sz="1800" b="0" i="1" smtClean="0">
                                            <a:solidFill>
                                              <a:schemeClr val="accent2">
                                                <a:lumMod val="75000"/>
                                              </a:schemeClr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𝑡</m:t>
                                        </m:r>
                                      </m:sub>
                                    </m:sSub>
                                  </m:e>
                                </m:d>
                              </m:e>
                              <m:sup>
                                <m:r>
                                  <a:rPr lang="en-US" sz="1800" b="0" i="1" smtClean="0">
                                    <a:solidFill>
                                      <a:schemeClr val="accent2">
                                        <a:lumMod val="75000"/>
                                      </a:schemeClr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</m:oMath>
                        </m:oMathPara>
                      </a14:m>
                      <a:endParaRPr lang="en-US" sz="1800" dirty="0">
                        <a:solidFill>
                          <a:schemeClr val="accent2">
                            <a:lumMod val="75000"/>
                          </a:schemeClr>
                        </a:solidFill>
                      </a:endParaRPr>
                    </a:p>
                  </p:txBody>
                </p:sp>
              </mc:Choice>
              <mc:Fallback xmlns="">
                <p:sp>
                  <p:nvSpPr>
                    <p:cNvPr id="4" name="TextBox 3">
                      <a:extLst>
                        <a:ext uri="{FF2B5EF4-FFF2-40B4-BE49-F238E27FC236}">
                          <a16:creationId xmlns:a16="http://schemas.microsoft.com/office/drawing/2014/main" id="{EA72060F-473A-EFC2-1978-607F26032659}"/>
                        </a:ext>
                      </a:extLst>
                    </p:cNvPr>
                    <p:cNvSpPr txBox="1">
                      <a:spLocks noRot="1" noChangeAspect="1" noMove="1" noResize="1" noEditPoints="1" noAdjustHandles="1" noChangeArrowheads="1" noChangeShapeType="1" noTextEdit="1"/>
                    </p:cNvSpPr>
                    <p:nvPr/>
                  </p:nvSpPr>
                  <p:spPr>
                    <a:xfrm>
                      <a:off x="2811902" y="5673499"/>
                      <a:ext cx="6374860" cy="369332"/>
                    </a:xfrm>
                    <a:prstGeom prst="rect">
                      <a:avLst/>
                    </a:prstGeom>
                    <a:blipFill>
                      <a:blip r:embed="rId9"/>
                      <a:stretch>
                        <a:fillRect b="-15000"/>
                      </a:stretch>
                    </a:blipFill>
                  </p:spPr>
                  <p:txBody>
                    <a:bodyPr/>
                    <a:lstStyle/>
                    <a:p>
                      <a:r>
                        <a:rPr lang="en-US">
                          <a:noFill/>
                        </a:rPr>
                        <a:t> </a:t>
                      </a:r>
                    </a:p>
                  </p:txBody>
                </p:sp>
              </mc:Fallback>
            </mc:AlternateContent>
            <mc:AlternateContent xmlns:mc="http://schemas.openxmlformats.org/markup-compatibility/2006" xmlns:a14="http://schemas.microsoft.com/office/drawing/2010/main">
              <mc:Choice Requires="a14">
                <p:sp>
                  <p:nvSpPr>
                    <p:cNvPr id="6" name="TextBox 5">
                      <a:extLst>
                        <a:ext uri="{FF2B5EF4-FFF2-40B4-BE49-F238E27FC236}">
                          <a16:creationId xmlns:a16="http://schemas.microsoft.com/office/drawing/2014/main" id="{DEB87AF6-3C4D-A144-2DD9-44A4651D7F66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3430343" y="6101669"/>
                      <a:ext cx="6374860" cy="369332"/>
                    </a:xfrm>
                    <a:prstGeom prst="rect">
                      <a:avLst/>
                    </a:prstGeom>
                    <a:noFill/>
                  </p:spPr>
                  <p:txBody>
                    <a:bodyPr wrap="square" rtlCol="0">
                      <a:spAutoFit/>
                    </a:bodyPr>
                    <a:lstStyle/>
                    <a:p>
                      <a:r>
                        <a:rPr lang="en-US" sz="1800" b="0" dirty="0">
                          <a:solidFill>
                            <a:schemeClr val="accent2">
                              <a:lumMod val="75000"/>
                            </a:schemeClr>
                          </a:solidFill>
                        </a:rPr>
                        <a:t>              </a:t>
                      </a:r>
                      <a14:m>
                        <m:oMath xmlns:m="http://schemas.openxmlformats.org/officeDocument/2006/math">
                          <m:r>
                            <a:rPr lang="en-US" sz="1800" b="0" i="1" smtClean="0">
                              <a:solidFill>
                                <a:schemeClr val="accent2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=0.0056−0.1234</m:t>
                          </m:r>
                          <m:sSub>
                            <m:sSubPr>
                              <m:ctrlPr>
                                <a:rPr lang="en-US" sz="1800" b="0" i="1" smtClean="0">
                                  <a:solidFill>
                                    <a:schemeClr val="accent2">
                                      <a:lumMod val="7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800" b="0" i="1" smtClean="0">
                                  <a:solidFill>
                                    <a:schemeClr val="accent2">
                                      <a:lumMod val="7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𝑝</m:t>
                              </m:r>
                            </m:e>
                            <m:sub>
                              <m:r>
                                <a:rPr lang="en-US" sz="1800" b="0" i="1" smtClean="0">
                                  <a:solidFill>
                                    <a:schemeClr val="accent2">
                                      <a:lumMod val="7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r>
                            <a:rPr lang="en-US" sz="1800" b="0" i="1" smtClean="0">
                              <a:solidFill>
                                <a:schemeClr val="accent2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+0.6011</m:t>
                          </m:r>
                          <m:sSub>
                            <m:sSubPr>
                              <m:ctrlPr>
                                <a:rPr lang="en-US" sz="1800" b="0" i="1" smtClean="0">
                                  <a:solidFill>
                                    <a:schemeClr val="accent2">
                                      <a:lumMod val="7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800" b="0" i="1" smtClean="0">
                                  <a:solidFill>
                                    <a:schemeClr val="accent2">
                                      <a:lumMod val="7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𝑝</m:t>
                              </m:r>
                            </m:e>
                            <m:sub>
                              <m:r>
                                <a:rPr lang="en-US" sz="1800" b="0" i="1" smtClean="0">
                                  <a:solidFill>
                                    <a:schemeClr val="accent2">
                                      <a:lumMod val="7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  <m:r>
                            <a:rPr lang="en-US" sz="1800" b="0" i="1" smtClean="0">
                              <a:solidFill>
                                <a:schemeClr val="accent2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−0.3903</m:t>
                          </m:r>
                          <m:sSup>
                            <m:sSupPr>
                              <m:ctrlPr>
                                <a:rPr lang="en-US" sz="1800" b="0" i="1" smtClean="0">
                                  <a:solidFill>
                                    <a:schemeClr val="accent2">
                                      <a:lumMod val="7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d>
                                <m:dPr>
                                  <m:ctrlPr>
                                    <a:rPr lang="en-US" sz="1800" b="0" i="1" smtClean="0">
                                      <a:solidFill>
                                        <a:schemeClr val="accent2">
                                          <a:lumMod val="7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b>
                                    <m:sSubPr>
                                      <m:ctrlPr>
                                        <a:rPr lang="en-US" sz="1800" b="0" i="1" smtClean="0">
                                          <a:solidFill>
                                            <a:schemeClr val="accent2">
                                              <a:lumMod val="75000"/>
                                            </a:schemeClr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sz="1800" b="0" i="1" smtClean="0">
                                          <a:solidFill>
                                            <a:schemeClr val="accent2">
                                              <a:lumMod val="75000"/>
                                            </a:schemeClr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𝑝</m:t>
                                      </m:r>
                                    </m:e>
                                    <m:sub>
                                      <m:r>
                                        <a:rPr lang="en-US" sz="1800" b="0" i="1" smtClean="0">
                                          <a:solidFill>
                                            <a:schemeClr val="accent2">
                                              <a:lumMod val="75000"/>
                                            </a:schemeClr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2</m:t>
                                      </m:r>
                                    </m:sub>
                                  </m:sSub>
                                </m:e>
                              </m:d>
                            </m:e>
                            <m:sup>
                              <m:r>
                                <a:rPr lang="en-US" sz="1800" b="0" i="1" smtClean="0">
                                  <a:solidFill>
                                    <a:schemeClr val="accent2">
                                      <a:lumMod val="7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oMath>
                      </a14:m>
                      <a:endParaRPr lang="en-US" sz="1800" dirty="0">
                        <a:solidFill>
                          <a:schemeClr val="accent2">
                            <a:lumMod val="75000"/>
                          </a:schemeClr>
                        </a:solidFill>
                      </a:endParaRPr>
                    </a:p>
                  </p:txBody>
                </p:sp>
              </mc:Choice>
              <mc:Fallback xmlns="">
                <p:sp>
                  <p:nvSpPr>
                    <p:cNvPr id="6" name="TextBox 5">
                      <a:extLst>
                        <a:ext uri="{FF2B5EF4-FFF2-40B4-BE49-F238E27FC236}">
                          <a16:creationId xmlns:a16="http://schemas.microsoft.com/office/drawing/2014/main" id="{DEB87AF6-3C4D-A144-2DD9-44A4651D7F66}"/>
                        </a:ext>
                      </a:extLst>
                    </p:cNvPr>
                    <p:cNvSpPr txBox="1">
                      <a:spLocks noRot="1" noChangeAspect="1" noMove="1" noResize="1" noEditPoints="1" noAdjustHandles="1" noChangeArrowheads="1" noChangeShapeType="1" noTextEdit="1"/>
                    </p:cNvSpPr>
                    <p:nvPr/>
                  </p:nvSpPr>
                  <p:spPr>
                    <a:xfrm>
                      <a:off x="3430343" y="6101669"/>
                      <a:ext cx="6374860" cy="369332"/>
                    </a:xfrm>
                    <a:prstGeom prst="rect">
                      <a:avLst/>
                    </a:prstGeom>
                    <a:blipFill>
                      <a:blip r:embed="rId10"/>
                      <a:stretch>
                        <a:fillRect b="-8333"/>
                      </a:stretch>
                    </a:blipFill>
                  </p:spPr>
                  <p:txBody>
                    <a:bodyPr/>
                    <a:lstStyle/>
                    <a:p>
                      <a:r>
                        <a:rPr lang="en-US">
                          <a:noFill/>
                        </a:rPr>
                        <a:t> </a:t>
                      </a:r>
                    </a:p>
                  </p:txBody>
                </p:sp>
              </mc:Fallback>
            </mc:AlternateContent>
          </p:grpSp>
          <p:grpSp>
            <p:nvGrpSpPr>
              <p:cNvPr id="12" name="Group 11">
                <a:extLst>
                  <a:ext uri="{FF2B5EF4-FFF2-40B4-BE49-F238E27FC236}">
                    <a16:creationId xmlns:a16="http://schemas.microsoft.com/office/drawing/2014/main" id="{89418008-399F-6B38-6CF0-9873C75B7949}"/>
                  </a:ext>
                </a:extLst>
              </p:cNvPr>
              <p:cNvGrpSpPr/>
              <p:nvPr/>
            </p:nvGrpSpPr>
            <p:grpSpPr>
              <a:xfrm>
                <a:off x="5487182" y="4135369"/>
                <a:ext cx="6856590" cy="1313442"/>
                <a:chOff x="5487182" y="4135369"/>
                <a:chExt cx="6856590" cy="1313442"/>
              </a:xfrm>
            </p:grpSpPr>
            <p:sp>
              <p:nvSpPr>
                <p:cNvPr id="7" name="Rectangle 6">
                  <a:extLst>
                    <a:ext uri="{FF2B5EF4-FFF2-40B4-BE49-F238E27FC236}">
                      <a16:creationId xmlns:a16="http://schemas.microsoft.com/office/drawing/2014/main" id="{8B19D5A9-0DBF-332A-2848-86E8FB821358}"/>
                    </a:ext>
                  </a:extLst>
                </p:cNvPr>
                <p:cNvSpPr/>
                <p:nvPr/>
              </p:nvSpPr>
              <p:spPr>
                <a:xfrm>
                  <a:off x="6608322" y="4135369"/>
                  <a:ext cx="5735450" cy="1313442"/>
                </a:xfrm>
                <a:prstGeom prst="rect">
                  <a:avLst/>
                </a:prstGeom>
                <a:noFill/>
                <a:ln w="19050">
                  <a:solidFill>
                    <a:schemeClr val="accent2">
                      <a:lumMod val="75000"/>
                    </a:schemeClr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cxnSp>
              <p:nvCxnSpPr>
                <p:cNvPr id="11" name="Straight Arrow Connector 10">
                  <a:extLst>
                    <a:ext uri="{FF2B5EF4-FFF2-40B4-BE49-F238E27FC236}">
                      <a16:creationId xmlns:a16="http://schemas.microsoft.com/office/drawing/2014/main" id="{8A5E3602-33C8-944B-47FA-C724C688535B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5487182" y="4935540"/>
                  <a:ext cx="1121140" cy="0"/>
                </a:xfrm>
                <a:prstGeom prst="straightConnector1">
                  <a:avLst/>
                </a:prstGeom>
                <a:ln w="19050">
                  <a:solidFill>
                    <a:schemeClr val="accent2">
                      <a:lumMod val="75000"/>
                    </a:schemeClr>
                  </a:solidFill>
                  <a:headEnd type="none" w="med" len="med"/>
                  <a:tailEnd type="arrow" w="med" len="med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</p:grp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" name="TextBox 2">
                  <a:extLst>
                    <a:ext uri="{FF2B5EF4-FFF2-40B4-BE49-F238E27FC236}">
                      <a16:creationId xmlns:a16="http://schemas.microsoft.com/office/drawing/2014/main" id="{415F03B3-14C8-FAB9-CA5F-83C71523257C}"/>
                    </a:ext>
                  </a:extLst>
                </p:cNvPr>
                <p:cNvSpPr txBox="1"/>
                <p:nvPr/>
              </p:nvSpPr>
              <p:spPr>
                <a:xfrm>
                  <a:off x="6434969" y="3668069"/>
                  <a:ext cx="4379340" cy="338554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US" sz="1600" dirty="0">
                      <a:solidFill>
                        <a:schemeClr val="accent2">
                          <a:lumMod val="75000"/>
                        </a:schemeClr>
                      </a:solidFill>
                      <a:latin typeface="Raleway" pitchFamily="2" charset="0"/>
                    </a:rPr>
                    <a:t>Expected value of holding the asset (</a:t>
                  </a:r>
                  <a14:m>
                    <m:oMath xmlns:m="http://schemas.openxmlformats.org/officeDocument/2006/math">
                      <m:sSub>
                        <m:sSubPr>
                          <m:ctrlPr>
                            <a:rPr lang="en-US" sz="1600" b="0" i="1" smtClean="0">
                              <a:solidFill>
                                <a:schemeClr val="accent2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600" b="0" i="1" smtClean="0">
                              <a:solidFill>
                                <a:schemeClr val="accent2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𝑅</m:t>
                          </m:r>
                        </m:e>
                        <m:sub>
                          <m:r>
                            <a:rPr lang="en-US" sz="1600" b="0" i="1" smtClean="0">
                              <a:solidFill>
                                <a:schemeClr val="accent2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𝑡</m:t>
                          </m:r>
                        </m:sub>
                      </m:sSub>
                      <m:r>
                        <a:rPr lang="en-US" sz="1600" b="0" i="1" smtClean="0">
                          <a:solidFill>
                            <a:schemeClr val="accent2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</a:rPr>
                        <m:t>=1</m:t>
                      </m:r>
                    </m:oMath>
                  </a14:m>
                  <a:r>
                    <a:rPr lang="en-US" sz="1600" dirty="0">
                      <a:solidFill>
                        <a:schemeClr val="accent2">
                          <a:lumMod val="75000"/>
                        </a:schemeClr>
                      </a:solidFill>
                      <a:latin typeface="Raleway" pitchFamily="2" charset="0"/>
                    </a:rPr>
                    <a:t>):</a:t>
                  </a:r>
                </a:p>
              </p:txBody>
            </p:sp>
          </mc:Choice>
          <mc:Fallback xmlns="">
            <p:sp>
              <p:nvSpPr>
                <p:cNvPr id="3" name="TextBox 2">
                  <a:extLst>
                    <a:ext uri="{FF2B5EF4-FFF2-40B4-BE49-F238E27FC236}">
                      <a16:creationId xmlns:a16="http://schemas.microsoft.com/office/drawing/2014/main" id="{415F03B3-14C8-FAB9-CA5F-83C71523257C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434969" y="3668069"/>
                  <a:ext cx="4379340" cy="338554"/>
                </a:xfrm>
                <a:prstGeom prst="rect">
                  <a:avLst/>
                </a:prstGeom>
                <a:blipFill>
                  <a:blip r:embed="rId11"/>
                  <a:stretch>
                    <a:fillRect l="-836" t="-5455" b="-23636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</p:spTree>
    <p:extLst>
      <p:ext uri="{BB962C8B-B14F-4D97-AF65-F5344CB8AC3E}">
        <p14:creationId xmlns:p14="http://schemas.microsoft.com/office/powerpoint/2010/main" val="302346287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</p:bldLst>
  </p:timing>
</p:sld>
</file>

<file path=ppt/slides/slide1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2F9059F-26E2-9D25-5B85-5192575A4B3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44399E3-3E04-D5A2-4148-93D3F9F6494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3200" dirty="0"/>
              <a:t>Value iteration: Financial application</a:t>
            </a:r>
            <a:endParaRPr lang="en-US" dirty="0"/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0BD84686-D9BA-DF4B-5DC2-09C035FE728F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35271"/>
          <a:stretch/>
        </p:blipFill>
        <p:spPr>
          <a:xfrm>
            <a:off x="2287338" y="3382110"/>
            <a:ext cx="3629538" cy="2355030"/>
          </a:xfrm>
          <a:prstGeom prst="rect">
            <a:avLst/>
          </a:prstGeom>
        </p:spPr>
      </p:pic>
      <p:sp>
        <p:nvSpPr>
          <p:cNvPr id="46" name="TextBox 45">
            <a:extLst>
              <a:ext uri="{FF2B5EF4-FFF2-40B4-BE49-F238E27FC236}">
                <a16:creationId xmlns:a16="http://schemas.microsoft.com/office/drawing/2014/main" id="{6B80DD5C-8AB2-47F2-AE90-C98627AF9DF6}"/>
              </a:ext>
            </a:extLst>
          </p:cNvPr>
          <p:cNvSpPr txBox="1"/>
          <p:nvPr/>
        </p:nvSpPr>
        <p:spPr>
          <a:xfrm>
            <a:off x="2321079" y="3105111"/>
            <a:ext cx="2978701" cy="276999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r>
              <a:rPr lang="en-US" sz="1200" dirty="0"/>
              <a:t>Outcome       Sell                          Hold    </a:t>
            </a:r>
          </a:p>
        </p:txBody>
      </p:sp>
      <p:sp>
        <p:nvSpPr>
          <p:cNvPr id="18" name="Text Placeholder 2">
            <a:extLst>
              <a:ext uri="{FF2B5EF4-FFF2-40B4-BE49-F238E27FC236}">
                <a16:creationId xmlns:a16="http://schemas.microsoft.com/office/drawing/2014/main" id="{88CAFB0D-2C62-B1AC-4CAC-A91CF8DBA81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54997" y="1039544"/>
            <a:ext cx="10363200" cy="4401600"/>
          </a:xfrm>
        </p:spPr>
        <p:txBody>
          <a:bodyPr/>
          <a:lstStyle/>
          <a:p>
            <a:pPr marL="86360" indent="0">
              <a:buNone/>
            </a:pPr>
            <a:r>
              <a:rPr lang="en-US" dirty="0"/>
              <a:t>Longstaff and Schwartz - Pricing an American option</a:t>
            </a:r>
          </a:p>
        </p:txBody>
      </p:sp>
      <p:grpSp>
        <p:nvGrpSpPr>
          <p:cNvPr id="21" name="Group 20">
            <a:extLst>
              <a:ext uri="{FF2B5EF4-FFF2-40B4-BE49-F238E27FC236}">
                <a16:creationId xmlns:a16="http://schemas.microsoft.com/office/drawing/2014/main" id="{74373D04-5004-8E04-AD63-33473A1A8656}"/>
              </a:ext>
            </a:extLst>
          </p:cNvPr>
          <p:cNvGrpSpPr/>
          <p:nvPr/>
        </p:nvGrpSpPr>
        <p:grpSpPr>
          <a:xfrm>
            <a:off x="1532117" y="1670661"/>
            <a:ext cx="8500341" cy="893597"/>
            <a:chOff x="1538602" y="2137588"/>
            <a:chExt cx="8500341" cy="893597"/>
          </a:xfrm>
        </p:grpSpPr>
        <p:grpSp>
          <p:nvGrpSpPr>
            <p:cNvPr id="48" name="Group 47">
              <a:extLst>
                <a:ext uri="{FF2B5EF4-FFF2-40B4-BE49-F238E27FC236}">
                  <a16:creationId xmlns:a16="http://schemas.microsoft.com/office/drawing/2014/main" id="{731FB013-4500-6DF8-7A37-33E1520E6018}"/>
                </a:ext>
              </a:extLst>
            </p:cNvPr>
            <p:cNvGrpSpPr/>
            <p:nvPr/>
          </p:nvGrpSpPr>
          <p:grpSpPr>
            <a:xfrm>
              <a:off x="1538602" y="2137588"/>
              <a:ext cx="2138453" cy="887107"/>
              <a:chOff x="1538602" y="2137588"/>
              <a:chExt cx="2138453" cy="887107"/>
            </a:xfrm>
          </p:grpSpPr>
          <p:sp>
            <p:nvSpPr>
              <p:cNvPr id="81" name="Oval 80">
                <a:extLst>
                  <a:ext uri="{FF2B5EF4-FFF2-40B4-BE49-F238E27FC236}">
                    <a16:creationId xmlns:a16="http://schemas.microsoft.com/office/drawing/2014/main" id="{E79AC938-FCA8-EEEF-B1C1-1EC7575ADACD}"/>
                  </a:ext>
                </a:extLst>
              </p:cNvPr>
              <p:cNvSpPr/>
              <p:nvPr/>
            </p:nvSpPr>
            <p:spPr>
              <a:xfrm>
                <a:off x="1544372" y="2724660"/>
                <a:ext cx="290914" cy="290914"/>
              </a:xfrm>
              <a:prstGeom prst="ellipse">
                <a:avLst/>
              </a:prstGeom>
              <a:solidFill>
                <a:schemeClr val="bg1"/>
              </a:solidFill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82" name="TextBox 81">
                <a:extLst>
                  <a:ext uri="{FF2B5EF4-FFF2-40B4-BE49-F238E27FC236}">
                    <a16:creationId xmlns:a16="http://schemas.microsoft.com/office/drawing/2014/main" id="{735D5AF4-4E74-E1A9-8E0A-2B9907FC5C79}"/>
                  </a:ext>
                </a:extLst>
              </p:cNvPr>
              <p:cNvSpPr txBox="1"/>
              <p:nvPr/>
            </p:nvSpPr>
            <p:spPr>
              <a:xfrm>
                <a:off x="1538602" y="2716918"/>
                <a:ext cx="284052" cy="30777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dirty="0"/>
                  <a:t>1</a:t>
                </a:r>
              </a:p>
            </p:txBody>
          </p:sp>
          <p:cxnSp>
            <p:nvCxnSpPr>
              <p:cNvPr id="83" name="Straight Arrow Connector 82">
                <a:extLst>
                  <a:ext uri="{FF2B5EF4-FFF2-40B4-BE49-F238E27FC236}">
                    <a16:creationId xmlns:a16="http://schemas.microsoft.com/office/drawing/2014/main" id="{41C24E80-C602-77F7-685E-2D4D4CE014AC}"/>
                  </a:ext>
                </a:extLst>
              </p:cNvPr>
              <p:cNvCxnSpPr>
                <a:stCxn id="81" idx="6"/>
              </p:cNvCxnSpPr>
              <p:nvPr/>
            </p:nvCxnSpPr>
            <p:spPr>
              <a:xfrm>
                <a:off x="1835286" y="2870117"/>
                <a:ext cx="1841769" cy="0"/>
              </a:xfrm>
              <a:prstGeom prst="straightConnector1">
                <a:avLst/>
              </a:prstGeom>
              <a:ln w="28575">
                <a:solidFill>
                  <a:schemeClr val="tx1"/>
                </a:solidFill>
                <a:headEnd type="none" w="med" len="med"/>
                <a:tailEnd type="arrow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4" name="Straight Arrow Connector 83">
                <a:extLst>
                  <a:ext uri="{FF2B5EF4-FFF2-40B4-BE49-F238E27FC236}">
                    <a16:creationId xmlns:a16="http://schemas.microsoft.com/office/drawing/2014/main" id="{5F57DC45-58CE-ADF5-61A6-F283903C1685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1847918" y="2137588"/>
                <a:ext cx="1166432" cy="739760"/>
              </a:xfrm>
              <a:prstGeom prst="straightConnector1">
                <a:avLst/>
              </a:prstGeom>
              <a:ln w="28575">
                <a:solidFill>
                  <a:schemeClr val="tx1"/>
                </a:solidFill>
                <a:headEnd type="none" w="med" len="med"/>
                <a:tailEnd type="arrow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85" name="TextBox 84">
                <a:extLst>
                  <a:ext uri="{FF2B5EF4-FFF2-40B4-BE49-F238E27FC236}">
                    <a16:creationId xmlns:a16="http://schemas.microsoft.com/office/drawing/2014/main" id="{53CAEC11-829D-5BF2-670D-58FA97BBA602}"/>
                  </a:ext>
                </a:extLst>
              </p:cNvPr>
              <p:cNvSpPr txBox="1"/>
              <p:nvPr/>
            </p:nvSpPr>
            <p:spPr>
              <a:xfrm>
                <a:off x="2431134" y="2594757"/>
                <a:ext cx="553357" cy="30777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dirty="0"/>
                  <a:t>Hold</a:t>
                </a:r>
              </a:p>
            </p:txBody>
          </p: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86" name="TextBox 85">
                    <a:extLst>
                      <a:ext uri="{FF2B5EF4-FFF2-40B4-BE49-F238E27FC236}">
                        <a16:creationId xmlns:a16="http://schemas.microsoft.com/office/drawing/2014/main" id="{51D2BF2A-95EE-6362-E7EA-3BD990E9840E}"/>
                      </a:ext>
                    </a:extLst>
                  </p:cNvPr>
                  <p:cNvSpPr txBox="1"/>
                  <p:nvPr/>
                </p:nvSpPr>
                <p:spPr>
                  <a:xfrm rot="19640672">
                    <a:off x="1788240" y="2273357"/>
                    <a:ext cx="905184" cy="307777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r>
                      <a:rPr lang="en-US" dirty="0"/>
                      <a:t>Sell at </a:t>
                    </a:r>
                    <a14:m>
                      <m:oMath xmlns:m="http://schemas.openxmlformats.org/officeDocument/2006/math"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𝑝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oMath>
                    </a14:m>
                    <a:endParaRPr lang="en-US" dirty="0"/>
                  </a:p>
                </p:txBody>
              </p:sp>
            </mc:Choice>
            <mc:Fallback xmlns="">
              <p:sp>
                <p:nvSpPr>
                  <p:cNvPr id="86" name="TextBox 85">
                    <a:extLst>
                      <a:ext uri="{FF2B5EF4-FFF2-40B4-BE49-F238E27FC236}">
                        <a16:creationId xmlns:a16="http://schemas.microsoft.com/office/drawing/2014/main" id="{51D2BF2A-95EE-6362-E7EA-3BD990E9840E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 rot="19640672">
                    <a:off x="1788240" y="2273357"/>
                    <a:ext cx="905184" cy="307777"/>
                  </a:xfrm>
                  <a:prstGeom prst="rect">
                    <a:avLst/>
                  </a:prstGeom>
                  <a:blipFill>
                    <a:blip r:embed="rId3"/>
                    <a:stretch>
                      <a:fillRect l="-1961" b="-8130"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  <p:grpSp>
          <p:nvGrpSpPr>
            <p:cNvPr id="60" name="Group 59">
              <a:extLst>
                <a:ext uri="{FF2B5EF4-FFF2-40B4-BE49-F238E27FC236}">
                  <a16:creationId xmlns:a16="http://schemas.microsoft.com/office/drawing/2014/main" id="{0888EB47-CBDC-9398-3E55-161D0843FE8F}"/>
                </a:ext>
              </a:extLst>
            </p:cNvPr>
            <p:cNvGrpSpPr/>
            <p:nvPr/>
          </p:nvGrpSpPr>
          <p:grpSpPr>
            <a:xfrm>
              <a:off x="3655991" y="2140833"/>
              <a:ext cx="2138453" cy="887107"/>
              <a:chOff x="1538602" y="2137588"/>
              <a:chExt cx="2138453" cy="887107"/>
            </a:xfrm>
          </p:grpSpPr>
          <p:sp>
            <p:nvSpPr>
              <p:cNvPr id="75" name="Oval 74">
                <a:extLst>
                  <a:ext uri="{FF2B5EF4-FFF2-40B4-BE49-F238E27FC236}">
                    <a16:creationId xmlns:a16="http://schemas.microsoft.com/office/drawing/2014/main" id="{D3985A2F-0FC2-011F-8055-3B2DBDEDECB2}"/>
                  </a:ext>
                </a:extLst>
              </p:cNvPr>
              <p:cNvSpPr/>
              <p:nvPr/>
            </p:nvSpPr>
            <p:spPr>
              <a:xfrm>
                <a:off x="1544372" y="2724660"/>
                <a:ext cx="290914" cy="290914"/>
              </a:xfrm>
              <a:prstGeom prst="ellipse">
                <a:avLst/>
              </a:prstGeom>
              <a:solidFill>
                <a:schemeClr val="bg1"/>
              </a:solidFill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76" name="TextBox 75">
                <a:extLst>
                  <a:ext uri="{FF2B5EF4-FFF2-40B4-BE49-F238E27FC236}">
                    <a16:creationId xmlns:a16="http://schemas.microsoft.com/office/drawing/2014/main" id="{97ED6979-0A29-BCB7-9DA2-C1FB04E3CFE4}"/>
                  </a:ext>
                </a:extLst>
              </p:cNvPr>
              <p:cNvSpPr txBox="1"/>
              <p:nvPr/>
            </p:nvSpPr>
            <p:spPr>
              <a:xfrm>
                <a:off x="1538602" y="2716918"/>
                <a:ext cx="284052" cy="30777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dirty="0"/>
                  <a:t>2</a:t>
                </a:r>
              </a:p>
            </p:txBody>
          </p:sp>
          <p:cxnSp>
            <p:nvCxnSpPr>
              <p:cNvPr id="77" name="Straight Arrow Connector 76">
                <a:extLst>
                  <a:ext uri="{FF2B5EF4-FFF2-40B4-BE49-F238E27FC236}">
                    <a16:creationId xmlns:a16="http://schemas.microsoft.com/office/drawing/2014/main" id="{695BA075-DB87-ED8C-3037-9096CB94525C}"/>
                  </a:ext>
                </a:extLst>
              </p:cNvPr>
              <p:cNvCxnSpPr>
                <a:stCxn id="75" idx="6"/>
              </p:cNvCxnSpPr>
              <p:nvPr/>
            </p:nvCxnSpPr>
            <p:spPr>
              <a:xfrm>
                <a:off x="1835286" y="2870117"/>
                <a:ext cx="1841769" cy="0"/>
              </a:xfrm>
              <a:prstGeom prst="straightConnector1">
                <a:avLst/>
              </a:prstGeom>
              <a:ln w="28575">
                <a:solidFill>
                  <a:schemeClr val="tx1"/>
                </a:solidFill>
                <a:headEnd type="none" w="med" len="med"/>
                <a:tailEnd type="arrow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8" name="Straight Arrow Connector 77">
                <a:extLst>
                  <a:ext uri="{FF2B5EF4-FFF2-40B4-BE49-F238E27FC236}">
                    <a16:creationId xmlns:a16="http://schemas.microsoft.com/office/drawing/2014/main" id="{07E009E3-5895-659A-63AD-FEC12CA41803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1847918" y="2137588"/>
                <a:ext cx="1166432" cy="739760"/>
              </a:xfrm>
              <a:prstGeom prst="straightConnector1">
                <a:avLst/>
              </a:prstGeom>
              <a:ln w="28575">
                <a:solidFill>
                  <a:schemeClr val="tx1"/>
                </a:solidFill>
                <a:headEnd type="none" w="med" len="med"/>
                <a:tailEnd type="arrow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79" name="TextBox 78">
                <a:extLst>
                  <a:ext uri="{FF2B5EF4-FFF2-40B4-BE49-F238E27FC236}">
                    <a16:creationId xmlns:a16="http://schemas.microsoft.com/office/drawing/2014/main" id="{8670371E-1D26-C931-64B1-DB81E811415D}"/>
                  </a:ext>
                </a:extLst>
              </p:cNvPr>
              <p:cNvSpPr txBox="1"/>
              <p:nvPr/>
            </p:nvSpPr>
            <p:spPr>
              <a:xfrm>
                <a:off x="2431134" y="2594757"/>
                <a:ext cx="553357" cy="30777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dirty="0"/>
                  <a:t>Hold</a:t>
                </a:r>
              </a:p>
            </p:txBody>
          </p: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80" name="TextBox 79">
                    <a:extLst>
                      <a:ext uri="{FF2B5EF4-FFF2-40B4-BE49-F238E27FC236}">
                        <a16:creationId xmlns:a16="http://schemas.microsoft.com/office/drawing/2014/main" id="{8F9E8D89-B5C4-2686-521E-3BAF6B13DC90}"/>
                      </a:ext>
                    </a:extLst>
                  </p:cNvPr>
                  <p:cNvSpPr txBox="1"/>
                  <p:nvPr/>
                </p:nvSpPr>
                <p:spPr>
                  <a:xfrm rot="19640672">
                    <a:off x="1786156" y="2273357"/>
                    <a:ext cx="909352" cy="307777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r>
                      <a:rPr lang="en-US" dirty="0"/>
                      <a:t>Sell at </a:t>
                    </a:r>
                    <a14:m>
                      <m:oMath xmlns:m="http://schemas.openxmlformats.org/officeDocument/2006/math"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𝑝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oMath>
                    </a14:m>
                    <a:endParaRPr lang="en-US" dirty="0"/>
                  </a:p>
                </p:txBody>
              </p:sp>
            </mc:Choice>
            <mc:Fallback xmlns="">
              <p:sp>
                <p:nvSpPr>
                  <p:cNvPr id="80" name="TextBox 79">
                    <a:extLst>
                      <a:ext uri="{FF2B5EF4-FFF2-40B4-BE49-F238E27FC236}">
                        <a16:creationId xmlns:a16="http://schemas.microsoft.com/office/drawing/2014/main" id="{8F9E8D89-B5C4-2686-521E-3BAF6B13DC90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 rot="19640672">
                    <a:off x="1786156" y="2273357"/>
                    <a:ext cx="909352" cy="307777"/>
                  </a:xfrm>
                  <a:prstGeom prst="rect">
                    <a:avLst/>
                  </a:prstGeom>
                  <a:blipFill>
                    <a:blip r:embed="rId4"/>
                    <a:stretch>
                      <a:fillRect l="-1948" b="-7258"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  <p:grpSp>
          <p:nvGrpSpPr>
            <p:cNvPr id="61" name="Group 60">
              <a:extLst>
                <a:ext uri="{FF2B5EF4-FFF2-40B4-BE49-F238E27FC236}">
                  <a16:creationId xmlns:a16="http://schemas.microsoft.com/office/drawing/2014/main" id="{EE702B0B-794D-B2AB-394E-7484D3BD3F20}"/>
                </a:ext>
              </a:extLst>
            </p:cNvPr>
            <p:cNvGrpSpPr/>
            <p:nvPr/>
          </p:nvGrpSpPr>
          <p:grpSpPr>
            <a:xfrm>
              <a:off x="5783101" y="2140833"/>
              <a:ext cx="2138453" cy="887107"/>
              <a:chOff x="1538602" y="2137588"/>
              <a:chExt cx="2138453" cy="887107"/>
            </a:xfrm>
          </p:grpSpPr>
          <p:sp>
            <p:nvSpPr>
              <p:cNvPr id="69" name="Oval 68">
                <a:extLst>
                  <a:ext uri="{FF2B5EF4-FFF2-40B4-BE49-F238E27FC236}">
                    <a16:creationId xmlns:a16="http://schemas.microsoft.com/office/drawing/2014/main" id="{58CE66F0-6C81-88BB-4D79-82AF1FFDBD2F}"/>
                  </a:ext>
                </a:extLst>
              </p:cNvPr>
              <p:cNvSpPr/>
              <p:nvPr/>
            </p:nvSpPr>
            <p:spPr>
              <a:xfrm>
                <a:off x="1544372" y="2724660"/>
                <a:ext cx="290914" cy="290914"/>
              </a:xfrm>
              <a:prstGeom prst="ellipse">
                <a:avLst/>
              </a:prstGeom>
              <a:solidFill>
                <a:schemeClr val="bg1"/>
              </a:solidFill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70" name="TextBox 69">
                <a:extLst>
                  <a:ext uri="{FF2B5EF4-FFF2-40B4-BE49-F238E27FC236}">
                    <a16:creationId xmlns:a16="http://schemas.microsoft.com/office/drawing/2014/main" id="{D1A6D963-E541-D323-2E25-D5681C81D22E}"/>
                  </a:ext>
                </a:extLst>
              </p:cNvPr>
              <p:cNvSpPr txBox="1"/>
              <p:nvPr/>
            </p:nvSpPr>
            <p:spPr>
              <a:xfrm>
                <a:off x="1538602" y="2716918"/>
                <a:ext cx="284052" cy="30777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dirty="0"/>
                  <a:t>3</a:t>
                </a:r>
              </a:p>
            </p:txBody>
          </p:sp>
          <p:cxnSp>
            <p:nvCxnSpPr>
              <p:cNvPr id="71" name="Straight Arrow Connector 70">
                <a:extLst>
                  <a:ext uri="{FF2B5EF4-FFF2-40B4-BE49-F238E27FC236}">
                    <a16:creationId xmlns:a16="http://schemas.microsoft.com/office/drawing/2014/main" id="{270CA111-77D9-C0F0-68BC-EABB89AA132C}"/>
                  </a:ext>
                </a:extLst>
              </p:cNvPr>
              <p:cNvCxnSpPr>
                <a:stCxn id="69" idx="6"/>
              </p:cNvCxnSpPr>
              <p:nvPr/>
            </p:nvCxnSpPr>
            <p:spPr>
              <a:xfrm>
                <a:off x="1835286" y="2870117"/>
                <a:ext cx="1841769" cy="0"/>
              </a:xfrm>
              <a:prstGeom prst="straightConnector1">
                <a:avLst/>
              </a:prstGeom>
              <a:ln w="28575">
                <a:solidFill>
                  <a:schemeClr val="tx1"/>
                </a:solidFill>
                <a:headEnd type="none" w="med" len="med"/>
                <a:tailEnd type="arrow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2" name="Straight Arrow Connector 71">
                <a:extLst>
                  <a:ext uri="{FF2B5EF4-FFF2-40B4-BE49-F238E27FC236}">
                    <a16:creationId xmlns:a16="http://schemas.microsoft.com/office/drawing/2014/main" id="{5366C292-AF7F-A2F3-95DE-6757A2CA0E32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1847918" y="2137588"/>
                <a:ext cx="1166432" cy="739760"/>
              </a:xfrm>
              <a:prstGeom prst="straightConnector1">
                <a:avLst/>
              </a:prstGeom>
              <a:ln w="28575">
                <a:solidFill>
                  <a:schemeClr val="tx1"/>
                </a:solidFill>
                <a:headEnd type="none" w="med" len="med"/>
                <a:tailEnd type="arrow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73" name="TextBox 72">
                <a:extLst>
                  <a:ext uri="{FF2B5EF4-FFF2-40B4-BE49-F238E27FC236}">
                    <a16:creationId xmlns:a16="http://schemas.microsoft.com/office/drawing/2014/main" id="{FBD64C4E-4AE5-5F5E-77F4-246C6FD98347}"/>
                  </a:ext>
                </a:extLst>
              </p:cNvPr>
              <p:cNvSpPr txBox="1"/>
              <p:nvPr/>
            </p:nvSpPr>
            <p:spPr>
              <a:xfrm>
                <a:off x="2431134" y="2594757"/>
                <a:ext cx="553357" cy="30777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dirty="0"/>
                  <a:t>Hold</a:t>
                </a:r>
              </a:p>
            </p:txBody>
          </p: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74" name="TextBox 73">
                    <a:extLst>
                      <a:ext uri="{FF2B5EF4-FFF2-40B4-BE49-F238E27FC236}">
                        <a16:creationId xmlns:a16="http://schemas.microsoft.com/office/drawing/2014/main" id="{9474491E-B362-B7C4-1B10-B562F47662F2}"/>
                      </a:ext>
                    </a:extLst>
                  </p:cNvPr>
                  <p:cNvSpPr txBox="1"/>
                  <p:nvPr/>
                </p:nvSpPr>
                <p:spPr>
                  <a:xfrm rot="19640672">
                    <a:off x="1786156" y="2273357"/>
                    <a:ext cx="909352" cy="307777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r>
                      <a:rPr lang="en-US" dirty="0"/>
                      <a:t>Sell at </a:t>
                    </a:r>
                    <a14:m>
                      <m:oMath xmlns:m="http://schemas.openxmlformats.org/officeDocument/2006/math"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𝑝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3</m:t>
                            </m:r>
                          </m:sub>
                        </m:sSub>
                      </m:oMath>
                    </a14:m>
                    <a:endParaRPr lang="en-US" dirty="0"/>
                  </a:p>
                </p:txBody>
              </p:sp>
            </mc:Choice>
            <mc:Fallback xmlns="">
              <p:sp>
                <p:nvSpPr>
                  <p:cNvPr id="74" name="TextBox 73">
                    <a:extLst>
                      <a:ext uri="{FF2B5EF4-FFF2-40B4-BE49-F238E27FC236}">
                        <a16:creationId xmlns:a16="http://schemas.microsoft.com/office/drawing/2014/main" id="{9474491E-B362-B7C4-1B10-B562F47662F2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 rot="19640672">
                    <a:off x="1786156" y="2273357"/>
                    <a:ext cx="909352" cy="307777"/>
                  </a:xfrm>
                  <a:prstGeom prst="rect">
                    <a:avLst/>
                  </a:prstGeom>
                  <a:blipFill>
                    <a:blip r:embed="rId5"/>
                    <a:stretch>
                      <a:fillRect l="-1948" b="-7258"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  <p:grpSp>
          <p:nvGrpSpPr>
            <p:cNvPr id="62" name="Group 61">
              <a:extLst>
                <a:ext uri="{FF2B5EF4-FFF2-40B4-BE49-F238E27FC236}">
                  <a16:creationId xmlns:a16="http://schemas.microsoft.com/office/drawing/2014/main" id="{B5D2AA7C-68EE-609C-3D60-3A45C30AB52B}"/>
                </a:ext>
              </a:extLst>
            </p:cNvPr>
            <p:cNvGrpSpPr/>
            <p:nvPr/>
          </p:nvGrpSpPr>
          <p:grpSpPr>
            <a:xfrm>
              <a:off x="7900490" y="2144078"/>
              <a:ext cx="2138453" cy="887107"/>
              <a:chOff x="1538602" y="2137588"/>
              <a:chExt cx="2138453" cy="887107"/>
            </a:xfrm>
          </p:grpSpPr>
          <p:sp>
            <p:nvSpPr>
              <p:cNvPr id="63" name="Oval 62">
                <a:extLst>
                  <a:ext uri="{FF2B5EF4-FFF2-40B4-BE49-F238E27FC236}">
                    <a16:creationId xmlns:a16="http://schemas.microsoft.com/office/drawing/2014/main" id="{A708FF10-019C-4BA5-1C7B-C61C470F0267}"/>
                  </a:ext>
                </a:extLst>
              </p:cNvPr>
              <p:cNvSpPr/>
              <p:nvPr/>
            </p:nvSpPr>
            <p:spPr>
              <a:xfrm>
                <a:off x="1544372" y="2724660"/>
                <a:ext cx="290914" cy="290914"/>
              </a:xfrm>
              <a:prstGeom prst="ellipse">
                <a:avLst/>
              </a:prstGeom>
              <a:solidFill>
                <a:schemeClr val="bg1"/>
              </a:solidFill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64" name="TextBox 63">
                <a:extLst>
                  <a:ext uri="{FF2B5EF4-FFF2-40B4-BE49-F238E27FC236}">
                    <a16:creationId xmlns:a16="http://schemas.microsoft.com/office/drawing/2014/main" id="{61DB042B-6528-3EB0-861B-A4EF284FBFCB}"/>
                  </a:ext>
                </a:extLst>
              </p:cNvPr>
              <p:cNvSpPr txBox="1"/>
              <p:nvPr/>
            </p:nvSpPr>
            <p:spPr>
              <a:xfrm>
                <a:off x="1538602" y="2716918"/>
                <a:ext cx="284052" cy="30777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dirty="0"/>
                  <a:t>4</a:t>
                </a:r>
              </a:p>
            </p:txBody>
          </p:sp>
          <p:cxnSp>
            <p:nvCxnSpPr>
              <p:cNvPr id="65" name="Straight Arrow Connector 64">
                <a:extLst>
                  <a:ext uri="{FF2B5EF4-FFF2-40B4-BE49-F238E27FC236}">
                    <a16:creationId xmlns:a16="http://schemas.microsoft.com/office/drawing/2014/main" id="{55A6C622-6863-93B7-5A74-1AE94A8EC5E7}"/>
                  </a:ext>
                </a:extLst>
              </p:cNvPr>
              <p:cNvCxnSpPr>
                <a:stCxn id="63" idx="6"/>
              </p:cNvCxnSpPr>
              <p:nvPr/>
            </p:nvCxnSpPr>
            <p:spPr>
              <a:xfrm>
                <a:off x="1835286" y="2870117"/>
                <a:ext cx="1841769" cy="0"/>
              </a:xfrm>
              <a:prstGeom prst="straightConnector1">
                <a:avLst/>
              </a:prstGeom>
              <a:ln w="28575">
                <a:solidFill>
                  <a:schemeClr val="tx1"/>
                </a:solidFill>
                <a:headEnd type="none" w="med" len="med"/>
                <a:tailEnd type="arrow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6" name="Straight Arrow Connector 65">
                <a:extLst>
                  <a:ext uri="{FF2B5EF4-FFF2-40B4-BE49-F238E27FC236}">
                    <a16:creationId xmlns:a16="http://schemas.microsoft.com/office/drawing/2014/main" id="{9B8FF032-4C8E-534D-04BF-BB4B29AE9799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1847918" y="2137588"/>
                <a:ext cx="1166432" cy="739760"/>
              </a:xfrm>
              <a:prstGeom prst="straightConnector1">
                <a:avLst/>
              </a:prstGeom>
              <a:ln w="28575">
                <a:solidFill>
                  <a:schemeClr val="tx1"/>
                </a:solidFill>
                <a:headEnd type="none" w="med" len="med"/>
                <a:tailEnd type="arrow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67" name="TextBox 66">
                <a:extLst>
                  <a:ext uri="{FF2B5EF4-FFF2-40B4-BE49-F238E27FC236}">
                    <a16:creationId xmlns:a16="http://schemas.microsoft.com/office/drawing/2014/main" id="{19A73330-67A4-8260-C0E1-46503C2BDB43}"/>
                  </a:ext>
                </a:extLst>
              </p:cNvPr>
              <p:cNvSpPr txBox="1"/>
              <p:nvPr/>
            </p:nvSpPr>
            <p:spPr>
              <a:xfrm>
                <a:off x="2431134" y="2594757"/>
                <a:ext cx="553357" cy="30777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dirty="0"/>
                  <a:t>Hold</a:t>
                </a:r>
              </a:p>
            </p:txBody>
          </p: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68" name="TextBox 67">
                    <a:extLst>
                      <a:ext uri="{FF2B5EF4-FFF2-40B4-BE49-F238E27FC236}">
                        <a16:creationId xmlns:a16="http://schemas.microsoft.com/office/drawing/2014/main" id="{A871009B-A45B-1571-5D69-4B1024723EC4}"/>
                      </a:ext>
                    </a:extLst>
                  </p:cNvPr>
                  <p:cNvSpPr txBox="1"/>
                  <p:nvPr/>
                </p:nvSpPr>
                <p:spPr>
                  <a:xfrm rot="19640672">
                    <a:off x="1786798" y="2273357"/>
                    <a:ext cx="908069" cy="307777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r>
                      <a:rPr lang="en-US" dirty="0"/>
                      <a:t>Sell at </a:t>
                    </a:r>
                    <a14:m>
                      <m:oMath xmlns:m="http://schemas.openxmlformats.org/officeDocument/2006/math"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𝑝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4</m:t>
                            </m:r>
                          </m:sub>
                        </m:sSub>
                      </m:oMath>
                    </a14:m>
                    <a:endParaRPr lang="en-US" dirty="0"/>
                  </a:p>
                </p:txBody>
              </p:sp>
            </mc:Choice>
            <mc:Fallback xmlns="">
              <p:sp>
                <p:nvSpPr>
                  <p:cNvPr id="68" name="TextBox 67">
                    <a:extLst>
                      <a:ext uri="{FF2B5EF4-FFF2-40B4-BE49-F238E27FC236}">
                        <a16:creationId xmlns:a16="http://schemas.microsoft.com/office/drawing/2014/main" id="{A871009B-A45B-1571-5D69-4B1024723EC4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 rot="19640672">
                    <a:off x="1786798" y="2273357"/>
                    <a:ext cx="908069" cy="307777"/>
                  </a:xfrm>
                  <a:prstGeom prst="rect">
                    <a:avLst/>
                  </a:prstGeom>
                  <a:blipFill>
                    <a:blip r:embed="rId6"/>
                    <a:stretch>
                      <a:fillRect l="-1299" b="-7258"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</p:grp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46B00F22-A40F-90D1-2C3D-3D60EC6423EF}"/>
              </a:ext>
            </a:extLst>
          </p:cNvPr>
          <p:cNvCxnSpPr/>
          <p:nvPr/>
        </p:nvCxnSpPr>
        <p:spPr>
          <a:xfrm>
            <a:off x="3320376" y="3101871"/>
            <a:ext cx="2148927" cy="0"/>
          </a:xfrm>
          <a:prstGeom prst="line">
            <a:avLst/>
          </a:prstGeom>
          <a:ln w="19050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Oval 8">
            <a:extLst>
              <a:ext uri="{FF2B5EF4-FFF2-40B4-BE49-F238E27FC236}">
                <a16:creationId xmlns:a16="http://schemas.microsoft.com/office/drawing/2014/main" id="{418C8FE1-AEFA-A2BB-433E-494AB3C13852}"/>
              </a:ext>
            </a:extLst>
          </p:cNvPr>
          <p:cNvSpPr/>
          <p:nvPr/>
        </p:nvSpPr>
        <p:spPr>
          <a:xfrm>
            <a:off x="4967593" y="3478008"/>
            <a:ext cx="577174" cy="179599"/>
          </a:xfrm>
          <a:prstGeom prst="ellipse">
            <a:avLst/>
          </a:prstGeom>
          <a:noFill/>
          <a:ln w="12700">
            <a:solidFill>
              <a:schemeClr val="accent2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BDA6C496-32AD-1183-DF39-5D81A9A54927}"/>
              </a:ext>
            </a:extLst>
          </p:cNvPr>
          <p:cNvSpPr/>
          <p:nvPr/>
        </p:nvSpPr>
        <p:spPr>
          <a:xfrm>
            <a:off x="4957868" y="3701743"/>
            <a:ext cx="577174" cy="179599"/>
          </a:xfrm>
          <a:prstGeom prst="ellipse">
            <a:avLst/>
          </a:prstGeom>
          <a:noFill/>
          <a:ln w="12700">
            <a:solidFill>
              <a:schemeClr val="accent2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A4CF50B2-80C5-F6F3-73ED-3E3E2FF97B00}"/>
              </a:ext>
            </a:extLst>
          </p:cNvPr>
          <p:cNvSpPr/>
          <p:nvPr/>
        </p:nvSpPr>
        <p:spPr>
          <a:xfrm>
            <a:off x="4961113" y="3893053"/>
            <a:ext cx="577174" cy="179599"/>
          </a:xfrm>
          <a:prstGeom prst="ellipse">
            <a:avLst/>
          </a:prstGeom>
          <a:noFill/>
          <a:ln w="12700">
            <a:solidFill>
              <a:schemeClr val="accent2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Oval 14">
            <a:extLst>
              <a:ext uri="{FF2B5EF4-FFF2-40B4-BE49-F238E27FC236}">
                <a16:creationId xmlns:a16="http://schemas.microsoft.com/office/drawing/2014/main" id="{C2CB55D9-320E-5FBA-1AAD-31484EE74940}"/>
              </a:ext>
            </a:extLst>
          </p:cNvPr>
          <p:cNvSpPr/>
          <p:nvPr/>
        </p:nvSpPr>
        <p:spPr>
          <a:xfrm>
            <a:off x="4970843" y="4110303"/>
            <a:ext cx="577174" cy="179599"/>
          </a:xfrm>
          <a:prstGeom prst="ellipse">
            <a:avLst/>
          </a:prstGeom>
          <a:noFill/>
          <a:ln w="12700">
            <a:solidFill>
              <a:schemeClr val="accent2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Oval 15">
            <a:extLst>
              <a:ext uri="{FF2B5EF4-FFF2-40B4-BE49-F238E27FC236}">
                <a16:creationId xmlns:a16="http://schemas.microsoft.com/office/drawing/2014/main" id="{A2DEE91F-5906-C967-DA73-FF292C2505AE}"/>
              </a:ext>
            </a:extLst>
          </p:cNvPr>
          <p:cNvSpPr/>
          <p:nvPr/>
        </p:nvSpPr>
        <p:spPr>
          <a:xfrm>
            <a:off x="3197171" y="4308098"/>
            <a:ext cx="577174" cy="179599"/>
          </a:xfrm>
          <a:prstGeom prst="ellipse">
            <a:avLst/>
          </a:prstGeom>
          <a:noFill/>
          <a:ln w="12700">
            <a:solidFill>
              <a:schemeClr val="accent2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Oval 16">
            <a:extLst>
              <a:ext uri="{FF2B5EF4-FFF2-40B4-BE49-F238E27FC236}">
                <a16:creationId xmlns:a16="http://schemas.microsoft.com/office/drawing/2014/main" id="{17CBBBC3-345A-69E6-ED42-93DB3644F318}"/>
              </a:ext>
            </a:extLst>
          </p:cNvPr>
          <p:cNvSpPr/>
          <p:nvPr/>
        </p:nvSpPr>
        <p:spPr>
          <a:xfrm>
            <a:off x="4964364" y="4518863"/>
            <a:ext cx="577174" cy="179599"/>
          </a:xfrm>
          <a:prstGeom prst="ellipse">
            <a:avLst/>
          </a:prstGeom>
          <a:noFill/>
          <a:ln w="12700">
            <a:solidFill>
              <a:schemeClr val="accent2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Oval 18">
            <a:extLst>
              <a:ext uri="{FF2B5EF4-FFF2-40B4-BE49-F238E27FC236}">
                <a16:creationId xmlns:a16="http://schemas.microsoft.com/office/drawing/2014/main" id="{72291738-D3C6-DD62-CCD1-7EFD9D6DFF60}"/>
              </a:ext>
            </a:extLst>
          </p:cNvPr>
          <p:cNvSpPr/>
          <p:nvPr/>
        </p:nvSpPr>
        <p:spPr>
          <a:xfrm>
            <a:off x="3180961" y="4726387"/>
            <a:ext cx="577174" cy="179599"/>
          </a:xfrm>
          <a:prstGeom prst="ellipse">
            <a:avLst/>
          </a:prstGeom>
          <a:noFill/>
          <a:ln w="12700">
            <a:solidFill>
              <a:schemeClr val="accent2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0" name="Oval 19">
            <a:extLst>
              <a:ext uri="{FF2B5EF4-FFF2-40B4-BE49-F238E27FC236}">
                <a16:creationId xmlns:a16="http://schemas.microsoft.com/office/drawing/2014/main" id="{E3EE9CFB-E696-ACF5-07F5-E981E307A902}"/>
              </a:ext>
            </a:extLst>
          </p:cNvPr>
          <p:cNvSpPr/>
          <p:nvPr/>
        </p:nvSpPr>
        <p:spPr>
          <a:xfrm>
            <a:off x="4961121" y="4924182"/>
            <a:ext cx="577174" cy="179599"/>
          </a:xfrm>
          <a:prstGeom prst="ellipse">
            <a:avLst/>
          </a:prstGeom>
          <a:noFill/>
          <a:ln w="12700">
            <a:solidFill>
              <a:schemeClr val="accent2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Oval 21">
            <a:extLst>
              <a:ext uri="{FF2B5EF4-FFF2-40B4-BE49-F238E27FC236}">
                <a16:creationId xmlns:a16="http://schemas.microsoft.com/office/drawing/2014/main" id="{5C11C216-FCBD-2BB1-2C02-ECD840B69F4B}"/>
              </a:ext>
            </a:extLst>
          </p:cNvPr>
          <p:cNvSpPr/>
          <p:nvPr/>
        </p:nvSpPr>
        <p:spPr>
          <a:xfrm>
            <a:off x="3187663" y="5135791"/>
            <a:ext cx="577174" cy="179599"/>
          </a:xfrm>
          <a:prstGeom prst="ellipse">
            <a:avLst/>
          </a:prstGeom>
          <a:noFill/>
          <a:ln w="12700">
            <a:solidFill>
              <a:schemeClr val="accent2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Oval 22">
            <a:extLst>
              <a:ext uri="{FF2B5EF4-FFF2-40B4-BE49-F238E27FC236}">
                <a16:creationId xmlns:a16="http://schemas.microsoft.com/office/drawing/2014/main" id="{63D5A36B-9114-219E-CCCE-7B117E090940}"/>
              </a:ext>
            </a:extLst>
          </p:cNvPr>
          <p:cNvSpPr/>
          <p:nvPr/>
        </p:nvSpPr>
        <p:spPr>
          <a:xfrm>
            <a:off x="4964366" y="5329497"/>
            <a:ext cx="577174" cy="179599"/>
          </a:xfrm>
          <a:prstGeom prst="ellipse">
            <a:avLst/>
          </a:prstGeom>
          <a:noFill/>
          <a:ln w="12700">
            <a:solidFill>
              <a:schemeClr val="accent2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755C8C7E-E121-D342-71D1-384A5DDCEAC6}"/>
              </a:ext>
            </a:extLst>
          </p:cNvPr>
          <p:cNvSpPr txBox="1"/>
          <p:nvPr/>
        </p:nvSpPr>
        <p:spPr>
          <a:xfrm>
            <a:off x="4062937" y="2797044"/>
            <a:ext cx="814647" cy="276999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r>
              <a:rPr lang="en-US" sz="1200" dirty="0"/>
              <a:t>Decision </a:t>
            </a:r>
          </a:p>
        </p:txBody>
      </p:sp>
      <p:grpSp>
        <p:nvGrpSpPr>
          <p:cNvPr id="27" name="Group 26">
            <a:extLst>
              <a:ext uri="{FF2B5EF4-FFF2-40B4-BE49-F238E27FC236}">
                <a16:creationId xmlns:a16="http://schemas.microsoft.com/office/drawing/2014/main" id="{D32FA766-75AA-17ED-4F47-772151CDF662}"/>
              </a:ext>
            </a:extLst>
          </p:cNvPr>
          <p:cNvGrpSpPr/>
          <p:nvPr/>
        </p:nvGrpSpPr>
        <p:grpSpPr>
          <a:xfrm>
            <a:off x="5573478" y="3410636"/>
            <a:ext cx="5942247" cy="2098460"/>
            <a:chOff x="5573478" y="3410636"/>
            <a:chExt cx="5942247" cy="2098460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5" name="TextBox 24">
                  <a:extLst>
                    <a:ext uri="{FF2B5EF4-FFF2-40B4-BE49-F238E27FC236}">
                      <a16:creationId xmlns:a16="http://schemas.microsoft.com/office/drawing/2014/main" id="{8729A04A-7287-E981-2147-1009ABB953A8}"/>
                    </a:ext>
                  </a:extLst>
                </p:cNvPr>
                <p:cNvSpPr txBox="1"/>
                <p:nvPr/>
              </p:nvSpPr>
              <p:spPr>
                <a:xfrm>
                  <a:off x="6029655" y="4274463"/>
                  <a:ext cx="5486070" cy="369332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14:m>
                    <m:oMath xmlns:m="http://schemas.openxmlformats.org/officeDocument/2006/math">
                      <m:sSub>
                        <m:sSubPr>
                          <m:ctrlPr>
                            <a:rPr lang="en-US" sz="1800" b="0" i="1" smtClean="0">
                              <a:solidFill>
                                <a:schemeClr val="accent2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acc>
                            <m:accPr>
                              <m:chr m:val="̅"/>
                              <m:ctrlPr>
                                <a:rPr lang="en-US" sz="1800" b="0" i="1" smtClean="0">
                                  <a:solidFill>
                                    <a:schemeClr val="accent2">
                                      <a:lumMod val="7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sz="1800" b="0" i="1" smtClean="0">
                                  <a:solidFill>
                                    <a:schemeClr val="accent2">
                                      <a:lumMod val="7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𝑉</m:t>
                              </m:r>
                            </m:e>
                          </m:acc>
                        </m:e>
                        <m:sub>
                          <m:r>
                            <a:rPr lang="en-US" sz="1800" b="0" i="1" smtClean="0">
                              <a:solidFill>
                                <a:schemeClr val="accent2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US" sz="1800" b="0" i="1" smtClean="0">
                          <a:solidFill>
                            <a:schemeClr val="accent2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</m:oMath>
                  </a14:m>
                  <a:r>
                    <a:rPr lang="en-US" sz="1800" dirty="0">
                      <a:solidFill>
                        <a:schemeClr val="accent2">
                          <a:lumMod val="75000"/>
                        </a:schemeClr>
                      </a:solidFill>
                      <a:latin typeface="Raleway" pitchFamily="2" charset="0"/>
                    </a:rPr>
                    <a:t> average of max value for each sample path</a:t>
                  </a:r>
                </a:p>
              </p:txBody>
            </p:sp>
          </mc:Choice>
          <mc:Fallback xmlns="">
            <p:sp>
              <p:nvSpPr>
                <p:cNvPr id="25" name="TextBox 24">
                  <a:extLst>
                    <a:ext uri="{FF2B5EF4-FFF2-40B4-BE49-F238E27FC236}">
                      <a16:creationId xmlns:a16="http://schemas.microsoft.com/office/drawing/2014/main" id="{8729A04A-7287-E981-2147-1009ABB953A8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029655" y="4274463"/>
                  <a:ext cx="5486070" cy="369332"/>
                </a:xfrm>
                <a:prstGeom prst="rect">
                  <a:avLst/>
                </a:prstGeom>
                <a:blipFill>
                  <a:blip r:embed="rId7"/>
                  <a:stretch>
                    <a:fillRect t="-8197" b="-24590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6" name="TextBox 25">
                  <a:extLst>
                    <a:ext uri="{FF2B5EF4-FFF2-40B4-BE49-F238E27FC236}">
                      <a16:creationId xmlns:a16="http://schemas.microsoft.com/office/drawing/2014/main" id="{C3E46AF0-BE78-C72F-32B7-DD7EF078CB96}"/>
                    </a:ext>
                  </a:extLst>
                </p:cNvPr>
                <p:cNvSpPr txBox="1"/>
                <p:nvPr/>
              </p:nvSpPr>
              <p:spPr>
                <a:xfrm>
                  <a:off x="5573478" y="3410636"/>
                  <a:ext cx="522387" cy="2098460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>
                        <m:d>
                          <m:dPr>
                            <m:begChr m:val=""/>
                            <m:endChr m:val="}"/>
                            <m:ctrlPr>
                              <a:rPr lang="en-US" i="1" smtClean="0">
                                <a:solidFill>
                                  <a:schemeClr val="accent2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m>
                              <m:mPr>
                                <m:mcs>
                                  <m:mc>
                                    <m:mcPr>
                                      <m:count m:val="1"/>
                                      <m:mcJc m:val="center"/>
                                    </m:mcPr>
                                  </m:mc>
                                </m:mcs>
                                <m:ctrlPr>
                                  <a:rPr lang="en-US" i="1" smtClean="0">
                                    <a:solidFill>
                                      <a:schemeClr val="accent2">
                                        <a:lumMod val="75000"/>
                                      </a:schemeClr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mPr>
                              <m:mr>
                                <m:e/>
                              </m:mr>
                              <m:mr>
                                <m:e/>
                              </m:mr>
                              <m:mr>
                                <m:e>
                                  <m:m>
                                    <m:mPr>
                                      <m:mcs>
                                        <m:mc>
                                          <m:mcPr>
                                            <m:count m:val="1"/>
                                            <m:mcJc m:val="center"/>
                                          </m:mcPr>
                                        </m:mc>
                                      </m:mcs>
                                      <m:ctrlPr>
                                        <a:rPr lang="en-US" i="1" smtClean="0">
                                          <a:solidFill>
                                            <a:schemeClr val="accent2">
                                              <a:lumMod val="75000"/>
                                            </a:schemeClr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mPr>
                                    <m:mr>
                                      <m:e/>
                                    </m:mr>
                                    <m:mr>
                                      <m:e/>
                                    </m:mr>
                                    <m:mr>
                                      <m:e>
                                        <m:m>
                                          <m:mPr>
                                            <m:mcs>
                                              <m:mc>
                                                <m:mcPr>
                                                  <m:count m:val="1"/>
                                                  <m:mcJc m:val="center"/>
                                                </m:mcPr>
                                              </m:mc>
                                            </m:mcs>
                                            <m:ctrlPr>
                                              <a:rPr lang="en-US" i="1" smtClean="0">
                                                <a:solidFill>
                                                  <a:schemeClr val="accent2">
                                                    <a:lumMod val="75000"/>
                                                  </a:schemeClr>
                                                </a:solidFill>
                                                <a:latin typeface="Cambria Math" panose="02040503050406030204" pitchFamily="18" charset="0"/>
                                              </a:rPr>
                                            </m:ctrlPr>
                                          </m:mPr>
                                          <m:mr>
                                            <m:e/>
                                          </m:mr>
                                          <m:mr>
                                            <m:e/>
                                          </m:mr>
                                          <m:mr>
                                            <m:e>
                                              <m:m>
                                                <m:mPr>
                                                  <m:mcs>
                                                    <m:mc>
                                                      <m:mcPr>
                                                        <m:count m:val="1"/>
                                                        <m:mcJc m:val="center"/>
                                                      </m:mcPr>
                                                    </m:mc>
                                                  </m:mcs>
                                                  <m:ctrlPr>
                                                    <a:rPr lang="en-US" i="1" smtClean="0">
                                                      <a:solidFill>
                                                        <a:schemeClr val="accent2">
                                                          <a:lumMod val="75000"/>
                                                        </a:schemeClr>
                                                      </a:solidFill>
                                                      <a:latin typeface="Cambria Math" panose="02040503050406030204" pitchFamily="18" charset="0"/>
                                                    </a:rPr>
                                                  </m:ctrlPr>
                                                </m:mPr>
                                                <m:mr>
                                                  <m:e/>
                                                </m:mr>
                                                <m:mr>
                                                  <m:e/>
                                                </m:mr>
                                                <m:mr>
                                                  <m:e>
                                                    <m:m>
                                                      <m:mPr>
                                                        <m:mcs>
                                                          <m:mc>
                                                            <m:mcPr>
                                                              <m:count m:val="1"/>
                                                              <m:mcJc m:val="center"/>
                                                            </m:mcPr>
                                                          </m:mc>
                                                        </m:mcs>
                                                        <m:ctrlPr>
                                                          <a:rPr lang="en-US" i="1" smtClean="0">
                                                            <a:solidFill>
                                                              <a:schemeClr val="accent2">
                                                                <a:lumMod val="75000"/>
                                                              </a:schemeClr>
                                                            </a:solidFill>
                                                            <a:latin typeface="Cambria Math" panose="02040503050406030204" pitchFamily="18" charset="0"/>
                                                          </a:rPr>
                                                        </m:ctrlPr>
                                                      </m:mPr>
                                                      <m:mr>
                                                        <m:e/>
                                                      </m:mr>
                                                      <m:mr>
                                                        <m:e/>
                                                      </m:mr>
                                                    </m:m>
                                                  </m:e>
                                                </m:mr>
                                              </m:m>
                                            </m:e>
                                          </m:mr>
                                        </m:m>
                                      </m:e>
                                    </m:mr>
                                  </m:m>
                                </m:e>
                              </m:mr>
                            </m:m>
                          </m:e>
                        </m:d>
                      </m:oMath>
                    </m:oMathPara>
                  </a14:m>
                  <a:endParaRPr lang="en-US" dirty="0">
                    <a:solidFill>
                      <a:schemeClr val="accent2">
                        <a:lumMod val="75000"/>
                      </a:schemeClr>
                    </a:solidFill>
                  </a:endParaRPr>
                </a:p>
              </p:txBody>
            </p:sp>
          </mc:Choice>
          <mc:Fallback xmlns="">
            <p:sp>
              <p:nvSpPr>
                <p:cNvPr id="26" name="TextBox 25">
                  <a:extLst>
                    <a:ext uri="{FF2B5EF4-FFF2-40B4-BE49-F238E27FC236}">
                      <a16:creationId xmlns:a16="http://schemas.microsoft.com/office/drawing/2014/main" id="{C3E46AF0-BE78-C72F-32B7-DD7EF078CB96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573478" y="3410636"/>
                  <a:ext cx="522387" cy="2098460"/>
                </a:xfrm>
                <a:prstGeom prst="rect">
                  <a:avLst/>
                </a:prstGeom>
                <a:blipFill>
                  <a:blip r:embed="rId8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</p:spTree>
    <p:extLst>
      <p:ext uri="{BB962C8B-B14F-4D97-AF65-F5344CB8AC3E}">
        <p14:creationId xmlns:p14="http://schemas.microsoft.com/office/powerpoint/2010/main" val="425001826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500"/>
                            </p:stCondLst>
                            <p:childTnLst>
                              <p:par>
                                <p:cTn id="11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1000"/>
                            </p:stCondLst>
                            <p:childTnLst>
                              <p:par>
                                <p:cTn id="17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9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>
                            <p:stCondLst>
                              <p:cond delay="1500"/>
                            </p:stCondLst>
                            <p:childTnLst>
                              <p:par>
                                <p:cTn id="23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5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2000"/>
                            </p:stCondLst>
                            <p:childTnLst>
                              <p:par>
                                <p:cTn id="29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1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2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4" fill="hold">
                            <p:stCondLst>
                              <p:cond delay="2500"/>
                            </p:stCondLst>
                            <p:childTnLst>
                              <p:par>
                                <p:cTn id="35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7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8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9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0" fill="hold">
                            <p:stCondLst>
                              <p:cond delay="3000"/>
                            </p:stCondLst>
                            <p:childTnLst>
                              <p:par>
                                <p:cTn id="41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3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5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6" fill="hold">
                            <p:stCondLst>
                              <p:cond delay="3500"/>
                            </p:stCondLst>
                            <p:childTnLst>
                              <p:par>
                                <p:cTn id="47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9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0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1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2" fill="hold">
                            <p:stCondLst>
                              <p:cond delay="4000"/>
                            </p:stCondLst>
                            <p:childTnLst>
                              <p:par>
                                <p:cTn id="53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5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6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7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8" fill="hold">
                            <p:stCondLst>
                              <p:cond delay="4500"/>
                            </p:stCondLst>
                            <p:childTnLst>
                              <p:par>
                                <p:cTn id="59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1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2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3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4" fill="hold">
                            <p:stCondLst>
                              <p:cond delay="5000"/>
                            </p:stCondLst>
                            <p:childTnLst>
                              <p:par>
                                <p:cTn id="6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7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  <p:bldP spid="10" grpId="0" animBg="1"/>
      <p:bldP spid="14" grpId="0" animBg="1"/>
      <p:bldP spid="15" grpId="0" animBg="1"/>
      <p:bldP spid="16" grpId="0" animBg="1"/>
      <p:bldP spid="17" grpId="0" animBg="1"/>
      <p:bldP spid="19" grpId="0" animBg="1"/>
      <p:bldP spid="20" grpId="0" animBg="1"/>
      <p:bldP spid="22" grpId="0" animBg="1"/>
      <p:bldP spid="23" grpId="0" animBg="1"/>
    </p:bldLst>
  </p:timing>
</p:sld>
</file>

<file path=ppt/slides/slide1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CC7933E-A0D5-D107-9B5E-C0A0CBCD824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3200" dirty="0"/>
              <a:t>Value iteration: Financial application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 Placeholder 2">
                <a:extLst>
                  <a:ext uri="{FF2B5EF4-FFF2-40B4-BE49-F238E27FC236}">
                    <a16:creationId xmlns:a16="http://schemas.microsoft.com/office/drawing/2014/main" id="{32210D74-93E5-E4EB-4361-06E9AD22DDCB}"/>
                  </a:ext>
                </a:extLst>
              </p:cNvPr>
              <p:cNvSpPr>
                <a:spLocks noGrp="1"/>
              </p:cNvSpPr>
              <p:nvPr>
                <p:ph type="body" idx="1"/>
              </p:nvPr>
            </p:nvSpPr>
            <p:spPr>
              <a:xfrm>
                <a:off x="479263" y="1119234"/>
                <a:ext cx="10363200" cy="4401600"/>
              </a:xfrm>
            </p:spPr>
            <p:txBody>
              <a:bodyPr/>
              <a:lstStyle/>
              <a:p>
                <a:pPr marL="86360" indent="0">
                  <a:buNone/>
                </a:pPr>
                <a:r>
                  <a:rPr lang="en-US" dirty="0"/>
                  <a:t>We can execute this logic in two ways:</a:t>
                </a:r>
              </a:p>
              <a:p>
                <a:pPr marL="86360" indent="0">
                  <a:buNone/>
                </a:pPr>
                <a:endParaRPr lang="en-US" sz="1600" dirty="0"/>
              </a:p>
              <a:p>
                <a:r>
                  <a:rPr lang="en-US" dirty="0"/>
                  <a:t>As a forward pass</a:t>
                </a:r>
              </a:p>
              <a:p>
                <a:pPr lvl="1"/>
                <a:r>
                  <a:rPr lang="en-US" dirty="0"/>
                  <a:t>We step forward in time, updating the previous VFA  (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en-US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acc>
                          <m:accPr>
                            <m:chr m:val="̅"/>
                            <m:ctrlPr>
                              <a:rPr lang="en-US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𝑉</m:t>
                            </m:r>
                          </m:e>
                        </m:acc>
                      </m:e>
                      <m:sub>
                        <m:r>
                          <a:rPr lang="en-US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  <m:r>
                          <a:rPr lang="en-US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−1</m:t>
                        </m:r>
                      </m:sub>
                      <m:sup>
                        <m:r>
                          <a:rPr lang="en-US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a:rPr lang="en-US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−1</m:t>
                        </m:r>
                      </m:sup>
                    </m:sSubSup>
                    <m:r>
                      <a:rPr lang="en-US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dirty="0"/>
                  <a:t> use what we just learned 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en-US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acc>
                          <m:accPr>
                            <m:chr m:val="̂"/>
                            <m:ctrlPr>
                              <a:rPr lang="en-US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𝑣</m:t>
                            </m:r>
                          </m:e>
                        </m:acc>
                      </m:e>
                      <m:sub>
                        <m:r>
                          <a:rPr lang="en-US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  <m:sup>
                        <m:r>
                          <a:rPr lang="en-US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</m:sSubSup>
                    <m:r>
                      <a:rPr lang="en-US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dirty="0">
                    <a:solidFill>
                      <a:schemeClr val="tx1"/>
                    </a:solidFill>
                  </a:rPr>
                  <a:t> at time </a:t>
                </a:r>
                <a14:m>
                  <m:oMath xmlns:m="http://schemas.openxmlformats.org/officeDocument/2006/math">
                    <m:r>
                      <a:rPr lang="en-US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𝑡</m:t>
                    </m:r>
                  </m:oMath>
                </a14:m>
                <a:r>
                  <a:rPr lang="en-US" dirty="0"/>
                  <a:t> in iteration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en-US" dirty="0"/>
                  <a:t>.</a:t>
                </a:r>
              </a:p>
              <a:p>
                <a:pPr lvl="2"/>
                <a:endParaRPr lang="en-US" dirty="0"/>
              </a:p>
              <a:p>
                <a:r>
                  <a:rPr lang="en-US" dirty="0">
                    <a:solidFill>
                      <a:schemeClr val="bg1">
                        <a:lumMod val="65000"/>
                      </a:schemeClr>
                    </a:solidFill>
                  </a:rPr>
                  <a:t>As a backward pass </a:t>
                </a:r>
              </a:p>
              <a:p>
                <a:pPr lvl="1"/>
                <a:r>
                  <a:rPr lang="en-US" dirty="0">
                    <a:solidFill>
                      <a:schemeClr val="bg1">
                        <a:lumMod val="65000"/>
                      </a:schemeClr>
                    </a:solidFill>
                  </a:rPr>
                  <a:t>We run a forward pass, making a decision at time </a:t>
                </a:r>
                <a14:m>
                  <m:oMath xmlns:m="http://schemas.openxmlformats.org/officeDocument/2006/math">
                    <m:r>
                      <a:rPr lang="en-US" b="0" i="1" smtClean="0">
                        <a:solidFill>
                          <a:schemeClr val="bg1">
                            <a:lumMod val="65000"/>
                          </a:schemeClr>
                        </a:solidFill>
                        <a:latin typeface="Cambria Math" panose="02040503050406030204" pitchFamily="18" charset="0"/>
                      </a:rPr>
                      <m:t>𝑡</m:t>
                    </m:r>
                  </m:oMath>
                </a14:m>
                <a:r>
                  <a:rPr lang="en-US" dirty="0">
                    <a:solidFill>
                      <a:schemeClr val="bg1">
                        <a:lumMod val="65000"/>
                      </a:schemeClr>
                    </a:solidFill>
                  </a:rPr>
                  <a:t>, using post-decision VFAs (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en-US" i="1">
                            <a:solidFill>
                              <a:schemeClr val="bg1">
                                <a:lumMod val="65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acc>
                          <m:accPr>
                            <m:chr m:val="̅"/>
                            <m:ctrlPr>
                              <a:rPr lang="en-US" i="1">
                                <a:solidFill>
                                  <a:schemeClr val="bg1">
                                    <a:lumMod val="6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i="1">
                                <a:solidFill>
                                  <a:schemeClr val="bg1">
                                    <a:lumMod val="6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𝑉</m:t>
                            </m:r>
                          </m:e>
                        </m:acc>
                      </m:e>
                      <m:sub>
                        <m:r>
                          <a:rPr lang="en-US" i="1">
                            <a:solidFill>
                              <a:schemeClr val="bg1">
                                <a:lumMod val="6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  <m:sup>
                        <m:r>
                          <a:rPr lang="en-US" b="0" i="1" smtClean="0">
                            <a:solidFill>
                              <a:schemeClr val="bg1">
                                <a:lumMod val="6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lang="en-US" b="0" i="1" smtClean="0">
                            <a:solidFill>
                              <a:schemeClr val="bg1">
                                <a:lumMod val="6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i="1">
                            <a:solidFill>
                              <a:schemeClr val="bg1">
                                <a:lumMod val="6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a:rPr lang="en-US" i="1">
                            <a:solidFill>
                              <a:schemeClr val="bg1">
                                <a:lumMod val="6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−1</m:t>
                        </m:r>
                      </m:sup>
                    </m:sSubSup>
                    <m:r>
                      <a:rPr lang="en-US" i="1">
                        <a:solidFill>
                          <a:schemeClr val="bg1">
                            <a:lumMod val="65000"/>
                          </a:schemeClr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a:rPr lang="en-US" b="0" i="0" smtClean="0">
                        <a:solidFill>
                          <a:schemeClr val="bg1">
                            <a:lumMod val="65000"/>
                          </a:schemeClr>
                        </a:solidFill>
                        <a:latin typeface="Cambria Math" panose="02040503050406030204" pitchFamily="18" charset="0"/>
                      </a:rPr>
                      <m:t>.</m:t>
                    </m:r>
                  </m:oMath>
                </a14:m>
                <a:endParaRPr lang="en-US" b="0" dirty="0">
                  <a:solidFill>
                    <a:schemeClr val="bg1">
                      <a:lumMod val="65000"/>
                    </a:schemeClr>
                  </a:solidFill>
                </a:endParaRPr>
              </a:p>
              <a:p>
                <a:pPr lvl="1"/>
                <a:r>
                  <a:rPr lang="en-US" dirty="0">
                    <a:solidFill>
                      <a:schemeClr val="bg1">
                        <a:lumMod val="65000"/>
                      </a:schemeClr>
                    </a:solidFill>
                  </a:rPr>
                  <a:t>Then run a backward pass, computing state values 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en-US" i="1">
                            <a:solidFill>
                              <a:schemeClr val="bg1">
                                <a:lumMod val="65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i="1">
                            <a:solidFill>
                              <a:schemeClr val="bg1">
                                <a:lumMod val="6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acc>
                          <m:accPr>
                            <m:chr m:val="̂"/>
                            <m:ctrlPr>
                              <a:rPr lang="en-US" i="1">
                                <a:solidFill>
                                  <a:schemeClr val="bg1">
                                    <a:lumMod val="6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i="1">
                                <a:solidFill>
                                  <a:schemeClr val="bg1">
                                    <a:lumMod val="6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𝑣</m:t>
                            </m:r>
                          </m:e>
                        </m:acc>
                      </m:e>
                      <m:sub>
                        <m:r>
                          <a:rPr lang="en-US" i="1">
                            <a:solidFill>
                              <a:schemeClr val="bg1">
                                <a:lumMod val="6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  <m:sup>
                        <m:r>
                          <a:rPr lang="en-US" i="1">
                            <a:solidFill>
                              <a:schemeClr val="bg1">
                                <a:lumMod val="6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</m:sSubSup>
                    <m:r>
                      <a:rPr lang="en-US" i="1">
                        <a:solidFill>
                          <a:schemeClr val="bg1">
                            <a:lumMod val="65000"/>
                          </a:schemeClr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dirty="0">
                    <a:solidFill>
                      <a:schemeClr val="bg1">
                        <a:lumMod val="65000"/>
                      </a:schemeClr>
                    </a:solidFill>
                  </a:rPr>
                  <a:t> that depend on downstream sample information, which we then use to update the post decision VFAs. </a:t>
                </a:r>
              </a:p>
            </p:txBody>
          </p:sp>
        </mc:Choice>
        <mc:Fallback xmlns="">
          <p:sp>
            <p:nvSpPr>
              <p:cNvPr id="3" name="Text Placeholder 2">
                <a:extLst>
                  <a:ext uri="{FF2B5EF4-FFF2-40B4-BE49-F238E27FC236}">
                    <a16:creationId xmlns:a16="http://schemas.microsoft.com/office/drawing/2014/main" id="{32210D74-93E5-E4EB-4361-06E9AD22DDCB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idx="1"/>
              </p:nvPr>
            </p:nvSpPr>
            <p:spPr>
              <a:xfrm>
                <a:off x="479263" y="1119234"/>
                <a:ext cx="10363200" cy="4401600"/>
              </a:xfrm>
              <a:blipFill>
                <a:blip r:embed="rId2"/>
                <a:stretch>
                  <a:fillRect l="-412" b="-1662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505186820"/>
      </p:ext>
    </p:extLst>
  </p:cSld>
  <p:clrMapOvr>
    <a:masterClrMapping/>
  </p:clrMapOvr>
</p:sld>
</file>

<file path=ppt/slides/slide1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9B93C2B-40E2-0977-9EBB-BFA5106E0C0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F8A069A-6F32-4A91-ACE5-9985108E535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3200" dirty="0"/>
              <a:t>Value iteration: Financial application</a:t>
            </a:r>
            <a:endParaRPr lang="en-US" dirty="0"/>
          </a:p>
        </p:txBody>
      </p:sp>
      <p:sp>
        <p:nvSpPr>
          <p:cNvPr id="18" name="Text Placeholder 2">
            <a:extLst>
              <a:ext uri="{FF2B5EF4-FFF2-40B4-BE49-F238E27FC236}">
                <a16:creationId xmlns:a16="http://schemas.microsoft.com/office/drawing/2014/main" id="{2DE83BB8-3B22-7746-6002-90F00ABB9D4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54997" y="1039544"/>
            <a:ext cx="10363200" cy="4401600"/>
          </a:xfrm>
        </p:spPr>
        <p:txBody>
          <a:bodyPr/>
          <a:lstStyle/>
          <a:p>
            <a:pPr marL="86360" indent="0">
              <a:buNone/>
            </a:pPr>
            <a:r>
              <a:rPr lang="en-US" dirty="0"/>
              <a:t>Longstaff and Schwartz - Pricing an American option</a:t>
            </a:r>
          </a:p>
        </p:txBody>
      </p:sp>
      <p:grpSp>
        <p:nvGrpSpPr>
          <p:cNvPr id="21" name="Group 20">
            <a:extLst>
              <a:ext uri="{FF2B5EF4-FFF2-40B4-BE49-F238E27FC236}">
                <a16:creationId xmlns:a16="http://schemas.microsoft.com/office/drawing/2014/main" id="{34CB893D-4D63-7BCA-7BA3-FFF3844855E8}"/>
              </a:ext>
            </a:extLst>
          </p:cNvPr>
          <p:cNvGrpSpPr/>
          <p:nvPr/>
        </p:nvGrpSpPr>
        <p:grpSpPr>
          <a:xfrm>
            <a:off x="1532117" y="1670661"/>
            <a:ext cx="8500341" cy="893597"/>
            <a:chOff x="1538602" y="2137588"/>
            <a:chExt cx="8500341" cy="893597"/>
          </a:xfrm>
        </p:grpSpPr>
        <p:grpSp>
          <p:nvGrpSpPr>
            <p:cNvPr id="48" name="Group 47">
              <a:extLst>
                <a:ext uri="{FF2B5EF4-FFF2-40B4-BE49-F238E27FC236}">
                  <a16:creationId xmlns:a16="http://schemas.microsoft.com/office/drawing/2014/main" id="{58CBCA16-2FA8-E6B7-3D5B-8BB2763C55E6}"/>
                </a:ext>
              </a:extLst>
            </p:cNvPr>
            <p:cNvGrpSpPr/>
            <p:nvPr/>
          </p:nvGrpSpPr>
          <p:grpSpPr>
            <a:xfrm>
              <a:off x="1538602" y="2137588"/>
              <a:ext cx="2138453" cy="887107"/>
              <a:chOff x="1538602" y="2137588"/>
              <a:chExt cx="2138453" cy="887107"/>
            </a:xfrm>
          </p:grpSpPr>
          <p:sp>
            <p:nvSpPr>
              <p:cNvPr id="81" name="Oval 80">
                <a:extLst>
                  <a:ext uri="{FF2B5EF4-FFF2-40B4-BE49-F238E27FC236}">
                    <a16:creationId xmlns:a16="http://schemas.microsoft.com/office/drawing/2014/main" id="{A6D19509-FCB1-C5E0-6837-CBF688901850}"/>
                  </a:ext>
                </a:extLst>
              </p:cNvPr>
              <p:cNvSpPr/>
              <p:nvPr/>
            </p:nvSpPr>
            <p:spPr>
              <a:xfrm>
                <a:off x="1544372" y="2724660"/>
                <a:ext cx="290914" cy="290914"/>
              </a:xfrm>
              <a:prstGeom prst="ellipse">
                <a:avLst/>
              </a:prstGeom>
              <a:solidFill>
                <a:schemeClr val="bg1"/>
              </a:solidFill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82" name="TextBox 81">
                <a:extLst>
                  <a:ext uri="{FF2B5EF4-FFF2-40B4-BE49-F238E27FC236}">
                    <a16:creationId xmlns:a16="http://schemas.microsoft.com/office/drawing/2014/main" id="{99859B92-47EE-79BE-F7C4-0F03E6C6042B}"/>
                  </a:ext>
                </a:extLst>
              </p:cNvPr>
              <p:cNvSpPr txBox="1"/>
              <p:nvPr/>
            </p:nvSpPr>
            <p:spPr>
              <a:xfrm>
                <a:off x="1538602" y="2716918"/>
                <a:ext cx="284052" cy="30777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dirty="0"/>
                  <a:t>1</a:t>
                </a:r>
              </a:p>
            </p:txBody>
          </p:sp>
          <p:cxnSp>
            <p:nvCxnSpPr>
              <p:cNvPr id="83" name="Straight Arrow Connector 82">
                <a:extLst>
                  <a:ext uri="{FF2B5EF4-FFF2-40B4-BE49-F238E27FC236}">
                    <a16:creationId xmlns:a16="http://schemas.microsoft.com/office/drawing/2014/main" id="{A2022C3D-320E-5DDE-FA14-987CFA3E6754}"/>
                  </a:ext>
                </a:extLst>
              </p:cNvPr>
              <p:cNvCxnSpPr>
                <a:stCxn id="81" idx="6"/>
              </p:cNvCxnSpPr>
              <p:nvPr/>
            </p:nvCxnSpPr>
            <p:spPr>
              <a:xfrm>
                <a:off x="1835286" y="2870117"/>
                <a:ext cx="1841769" cy="0"/>
              </a:xfrm>
              <a:prstGeom prst="straightConnector1">
                <a:avLst/>
              </a:prstGeom>
              <a:ln w="28575">
                <a:solidFill>
                  <a:schemeClr val="tx1"/>
                </a:solidFill>
                <a:headEnd type="none" w="med" len="med"/>
                <a:tailEnd type="arrow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4" name="Straight Arrow Connector 83">
                <a:extLst>
                  <a:ext uri="{FF2B5EF4-FFF2-40B4-BE49-F238E27FC236}">
                    <a16:creationId xmlns:a16="http://schemas.microsoft.com/office/drawing/2014/main" id="{68609073-605D-9FAE-1E1E-B8684BAA11D2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1847918" y="2137588"/>
                <a:ext cx="1166432" cy="739760"/>
              </a:xfrm>
              <a:prstGeom prst="straightConnector1">
                <a:avLst/>
              </a:prstGeom>
              <a:ln w="28575">
                <a:solidFill>
                  <a:schemeClr val="tx1"/>
                </a:solidFill>
                <a:headEnd type="none" w="med" len="med"/>
                <a:tailEnd type="arrow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85" name="TextBox 84">
                <a:extLst>
                  <a:ext uri="{FF2B5EF4-FFF2-40B4-BE49-F238E27FC236}">
                    <a16:creationId xmlns:a16="http://schemas.microsoft.com/office/drawing/2014/main" id="{072A66CD-0524-775A-8E7F-1F4790A2B796}"/>
                  </a:ext>
                </a:extLst>
              </p:cNvPr>
              <p:cNvSpPr txBox="1"/>
              <p:nvPr/>
            </p:nvSpPr>
            <p:spPr>
              <a:xfrm>
                <a:off x="2431134" y="2594757"/>
                <a:ext cx="553357" cy="30777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dirty="0"/>
                  <a:t>Hold</a:t>
                </a:r>
              </a:p>
            </p:txBody>
          </p: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86" name="TextBox 85">
                    <a:extLst>
                      <a:ext uri="{FF2B5EF4-FFF2-40B4-BE49-F238E27FC236}">
                        <a16:creationId xmlns:a16="http://schemas.microsoft.com/office/drawing/2014/main" id="{A7577BCE-F96D-D9CA-B10F-2B7C30D9F067}"/>
                      </a:ext>
                    </a:extLst>
                  </p:cNvPr>
                  <p:cNvSpPr txBox="1"/>
                  <p:nvPr/>
                </p:nvSpPr>
                <p:spPr>
                  <a:xfrm rot="19640672">
                    <a:off x="1788240" y="2273357"/>
                    <a:ext cx="905184" cy="307777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r>
                      <a:rPr lang="en-US" dirty="0"/>
                      <a:t>Sell at </a:t>
                    </a:r>
                    <a14:m>
                      <m:oMath xmlns:m="http://schemas.openxmlformats.org/officeDocument/2006/math"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𝑝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oMath>
                    </a14:m>
                    <a:endParaRPr lang="en-US" dirty="0"/>
                  </a:p>
                </p:txBody>
              </p:sp>
            </mc:Choice>
            <mc:Fallback xmlns="">
              <p:sp>
                <p:nvSpPr>
                  <p:cNvPr id="86" name="TextBox 85">
                    <a:extLst>
                      <a:ext uri="{FF2B5EF4-FFF2-40B4-BE49-F238E27FC236}">
                        <a16:creationId xmlns:a16="http://schemas.microsoft.com/office/drawing/2014/main" id="{51D2BF2A-95EE-6362-E7EA-3BD990E9840E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 rot="19640672">
                    <a:off x="1788240" y="2273357"/>
                    <a:ext cx="905184" cy="307777"/>
                  </a:xfrm>
                  <a:prstGeom prst="rect">
                    <a:avLst/>
                  </a:prstGeom>
                  <a:blipFill>
                    <a:blip r:embed="rId3"/>
                    <a:stretch>
                      <a:fillRect l="-1961" b="-8130"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  <p:grpSp>
          <p:nvGrpSpPr>
            <p:cNvPr id="60" name="Group 59">
              <a:extLst>
                <a:ext uri="{FF2B5EF4-FFF2-40B4-BE49-F238E27FC236}">
                  <a16:creationId xmlns:a16="http://schemas.microsoft.com/office/drawing/2014/main" id="{CFD4B3FE-8EAD-D7CA-0668-F597B82FB7B3}"/>
                </a:ext>
              </a:extLst>
            </p:cNvPr>
            <p:cNvGrpSpPr/>
            <p:nvPr/>
          </p:nvGrpSpPr>
          <p:grpSpPr>
            <a:xfrm>
              <a:off x="3655991" y="2140833"/>
              <a:ext cx="2138453" cy="887107"/>
              <a:chOff x="1538602" y="2137588"/>
              <a:chExt cx="2138453" cy="887107"/>
            </a:xfrm>
          </p:grpSpPr>
          <p:sp>
            <p:nvSpPr>
              <p:cNvPr id="75" name="Oval 74">
                <a:extLst>
                  <a:ext uri="{FF2B5EF4-FFF2-40B4-BE49-F238E27FC236}">
                    <a16:creationId xmlns:a16="http://schemas.microsoft.com/office/drawing/2014/main" id="{3C66A178-B08E-C16E-F8B5-4770F21A4AFF}"/>
                  </a:ext>
                </a:extLst>
              </p:cNvPr>
              <p:cNvSpPr/>
              <p:nvPr/>
            </p:nvSpPr>
            <p:spPr>
              <a:xfrm>
                <a:off x="1544372" y="2724660"/>
                <a:ext cx="290914" cy="290914"/>
              </a:xfrm>
              <a:prstGeom prst="ellipse">
                <a:avLst/>
              </a:prstGeom>
              <a:solidFill>
                <a:schemeClr val="bg1"/>
              </a:solidFill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76" name="TextBox 75">
                <a:extLst>
                  <a:ext uri="{FF2B5EF4-FFF2-40B4-BE49-F238E27FC236}">
                    <a16:creationId xmlns:a16="http://schemas.microsoft.com/office/drawing/2014/main" id="{168820B9-100E-1627-FFDB-109BFC709921}"/>
                  </a:ext>
                </a:extLst>
              </p:cNvPr>
              <p:cNvSpPr txBox="1"/>
              <p:nvPr/>
            </p:nvSpPr>
            <p:spPr>
              <a:xfrm>
                <a:off x="1538602" y="2716918"/>
                <a:ext cx="284052" cy="30777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dirty="0"/>
                  <a:t>2</a:t>
                </a:r>
              </a:p>
            </p:txBody>
          </p:sp>
          <p:cxnSp>
            <p:nvCxnSpPr>
              <p:cNvPr id="77" name="Straight Arrow Connector 76">
                <a:extLst>
                  <a:ext uri="{FF2B5EF4-FFF2-40B4-BE49-F238E27FC236}">
                    <a16:creationId xmlns:a16="http://schemas.microsoft.com/office/drawing/2014/main" id="{DD014A24-813B-85EB-F2B9-289DDAF3BAFA}"/>
                  </a:ext>
                </a:extLst>
              </p:cNvPr>
              <p:cNvCxnSpPr>
                <a:stCxn id="75" idx="6"/>
              </p:cNvCxnSpPr>
              <p:nvPr/>
            </p:nvCxnSpPr>
            <p:spPr>
              <a:xfrm>
                <a:off x="1835286" y="2870117"/>
                <a:ext cx="1841769" cy="0"/>
              </a:xfrm>
              <a:prstGeom prst="straightConnector1">
                <a:avLst/>
              </a:prstGeom>
              <a:ln w="28575">
                <a:solidFill>
                  <a:schemeClr val="tx1"/>
                </a:solidFill>
                <a:headEnd type="none" w="med" len="med"/>
                <a:tailEnd type="arrow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8" name="Straight Arrow Connector 77">
                <a:extLst>
                  <a:ext uri="{FF2B5EF4-FFF2-40B4-BE49-F238E27FC236}">
                    <a16:creationId xmlns:a16="http://schemas.microsoft.com/office/drawing/2014/main" id="{4F7EEF6C-D40B-ED00-0BF9-BE5145182750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1847918" y="2137588"/>
                <a:ext cx="1166432" cy="739760"/>
              </a:xfrm>
              <a:prstGeom prst="straightConnector1">
                <a:avLst/>
              </a:prstGeom>
              <a:ln w="28575">
                <a:solidFill>
                  <a:schemeClr val="tx1"/>
                </a:solidFill>
                <a:headEnd type="none" w="med" len="med"/>
                <a:tailEnd type="arrow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79" name="TextBox 78">
                <a:extLst>
                  <a:ext uri="{FF2B5EF4-FFF2-40B4-BE49-F238E27FC236}">
                    <a16:creationId xmlns:a16="http://schemas.microsoft.com/office/drawing/2014/main" id="{03B21E8E-B5E2-CF94-5884-9A739A881E3C}"/>
                  </a:ext>
                </a:extLst>
              </p:cNvPr>
              <p:cNvSpPr txBox="1"/>
              <p:nvPr/>
            </p:nvSpPr>
            <p:spPr>
              <a:xfrm>
                <a:off x="2431134" y="2594757"/>
                <a:ext cx="553357" cy="30777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dirty="0"/>
                  <a:t>Hold</a:t>
                </a:r>
              </a:p>
            </p:txBody>
          </p: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80" name="TextBox 79">
                    <a:extLst>
                      <a:ext uri="{FF2B5EF4-FFF2-40B4-BE49-F238E27FC236}">
                        <a16:creationId xmlns:a16="http://schemas.microsoft.com/office/drawing/2014/main" id="{6F3FB5EC-CBF0-06A8-C679-C95FA6346876}"/>
                      </a:ext>
                    </a:extLst>
                  </p:cNvPr>
                  <p:cNvSpPr txBox="1"/>
                  <p:nvPr/>
                </p:nvSpPr>
                <p:spPr>
                  <a:xfrm rot="19640672">
                    <a:off x="1786156" y="2273357"/>
                    <a:ext cx="909352" cy="307777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r>
                      <a:rPr lang="en-US" dirty="0"/>
                      <a:t>Sell at </a:t>
                    </a:r>
                    <a14:m>
                      <m:oMath xmlns:m="http://schemas.openxmlformats.org/officeDocument/2006/math"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𝑝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oMath>
                    </a14:m>
                    <a:endParaRPr lang="en-US" dirty="0"/>
                  </a:p>
                </p:txBody>
              </p:sp>
            </mc:Choice>
            <mc:Fallback xmlns="">
              <p:sp>
                <p:nvSpPr>
                  <p:cNvPr id="80" name="TextBox 79">
                    <a:extLst>
                      <a:ext uri="{FF2B5EF4-FFF2-40B4-BE49-F238E27FC236}">
                        <a16:creationId xmlns:a16="http://schemas.microsoft.com/office/drawing/2014/main" id="{8F9E8D89-B5C4-2686-521E-3BAF6B13DC90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 rot="19640672">
                    <a:off x="1786156" y="2273357"/>
                    <a:ext cx="909352" cy="307777"/>
                  </a:xfrm>
                  <a:prstGeom prst="rect">
                    <a:avLst/>
                  </a:prstGeom>
                  <a:blipFill>
                    <a:blip r:embed="rId4"/>
                    <a:stretch>
                      <a:fillRect l="-1948" b="-7258"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  <p:grpSp>
          <p:nvGrpSpPr>
            <p:cNvPr id="61" name="Group 60">
              <a:extLst>
                <a:ext uri="{FF2B5EF4-FFF2-40B4-BE49-F238E27FC236}">
                  <a16:creationId xmlns:a16="http://schemas.microsoft.com/office/drawing/2014/main" id="{8A241AB0-B29E-3BAD-F02A-CC0D69918E7D}"/>
                </a:ext>
              </a:extLst>
            </p:cNvPr>
            <p:cNvGrpSpPr/>
            <p:nvPr/>
          </p:nvGrpSpPr>
          <p:grpSpPr>
            <a:xfrm>
              <a:off x="5783101" y="2140833"/>
              <a:ext cx="2138453" cy="887107"/>
              <a:chOff x="1538602" y="2137588"/>
              <a:chExt cx="2138453" cy="887107"/>
            </a:xfrm>
          </p:grpSpPr>
          <p:sp>
            <p:nvSpPr>
              <p:cNvPr id="69" name="Oval 68">
                <a:extLst>
                  <a:ext uri="{FF2B5EF4-FFF2-40B4-BE49-F238E27FC236}">
                    <a16:creationId xmlns:a16="http://schemas.microsoft.com/office/drawing/2014/main" id="{2A7D60BC-596C-2EB3-1A2E-EA60CC5CB6F1}"/>
                  </a:ext>
                </a:extLst>
              </p:cNvPr>
              <p:cNvSpPr/>
              <p:nvPr/>
            </p:nvSpPr>
            <p:spPr>
              <a:xfrm>
                <a:off x="1544372" y="2724660"/>
                <a:ext cx="290914" cy="290914"/>
              </a:xfrm>
              <a:prstGeom prst="ellipse">
                <a:avLst/>
              </a:prstGeom>
              <a:solidFill>
                <a:schemeClr val="bg1"/>
              </a:solidFill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70" name="TextBox 69">
                <a:extLst>
                  <a:ext uri="{FF2B5EF4-FFF2-40B4-BE49-F238E27FC236}">
                    <a16:creationId xmlns:a16="http://schemas.microsoft.com/office/drawing/2014/main" id="{34A6B0BD-FF23-6558-7F64-1D2B0E89375C}"/>
                  </a:ext>
                </a:extLst>
              </p:cNvPr>
              <p:cNvSpPr txBox="1"/>
              <p:nvPr/>
            </p:nvSpPr>
            <p:spPr>
              <a:xfrm>
                <a:off x="1538602" y="2716918"/>
                <a:ext cx="284052" cy="30777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dirty="0"/>
                  <a:t>3</a:t>
                </a:r>
              </a:p>
            </p:txBody>
          </p:sp>
          <p:cxnSp>
            <p:nvCxnSpPr>
              <p:cNvPr id="71" name="Straight Arrow Connector 70">
                <a:extLst>
                  <a:ext uri="{FF2B5EF4-FFF2-40B4-BE49-F238E27FC236}">
                    <a16:creationId xmlns:a16="http://schemas.microsoft.com/office/drawing/2014/main" id="{98D0E0EC-E3EE-C1B8-28AA-D4344BDA5A0E}"/>
                  </a:ext>
                </a:extLst>
              </p:cNvPr>
              <p:cNvCxnSpPr>
                <a:stCxn id="69" idx="6"/>
              </p:cNvCxnSpPr>
              <p:nvPr/>
            </p:nvCxnSpPr>
            <p:spPr>
              <a:xfrm>
                <a:off x="1835286" y="2870117"/>
                <a:ext cx="1841769" cy="0"/>
              </a:xfrm>
              <a:prstGeom prst="straightConnector1">
                <a:avLst/>
              </a:prstGeom>
              <a:ln w="28575">
                <a:solidFill>
                  <a:schemeClr val="tx1"/>
                </a:solidFill>
                <a:headEnd type="none" w="med" len="med"/>
                <a:tailEnd type="arrow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2" name="Straight Arrow Connector 71">
                <a:extLst>
                  <a:ext uri="{FF2B5EF4-FFF2-40B4-BE49-F238E27FC236}">
                    <a16:creationId xmlns:a16="http://schemas.microsoft.com/office/drawing/2014/main" id="{9B86CFF8-F591-44DE-8FF0-8F35BD7B59A5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1847918" y="2137588"/>
                <a:ext cx="1166432" cy="739760"/>
              </a:xfrm>
              <a:prstGeom prst="straightConnector1">
                <a:avLst/>
              </a:prstGeom>
              <a:ln w="28575">
                <a:solidFill>
                  <a:schemeClr val="tx1"/>
                </a:solidFill>
                <a:headEnd type="none" w="med" len="med"/>
                <a:tailEnd type="arrow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73" name="TextBox 72">
                <a:extLst>
                  <a:ext uri="{FF2B5EF4-FFF2-40B4-BE49-F238E27FC236}">
                    <a16:creationId xmlns:a16="http://schemas.microsoft.com/office/drawing/2014/main" id="{0C9DD47A-5B44-D042-F779-C51A23AD6F33}"/>
                  </a:ext>
                </a:extLst>
              </p:cNvPr>
              <p:cNvSpPr txBox="1"/>
              <p:nvPr/>
            </p:nvSpPr>
            <p:spPr>
              <a:xfrm>
                <a:off x="2431134" y="2594757"/>
                <a:ext cx="553357" cy="30777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dirty="0"/>
                  <a:t>Hold</a:t>
                </a:r>
              </a:p>
            </p:txBody>
          </p: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74" name="TextBox 73">
                    <a:extLst>
                      <a:ext uri="{FF2B5EF4-FFF2-40B4-BE49-F238E27FC236}">
                        <a16:creationId xmlns:a16="http://schemas.microsoft.com/office/drawing/2014/main" id="{99C60F14-5742-928B-9B14-92965FF1BD82}"/>
                      </a:ext>
                    </a:extLst>
                  </p:cNvPr>
                  <p:cNvSpPr txBox="1"/>
                  <p:nvPr/>
                </p:nvSpPr>
                <p:spPr>
                  <a:xfrm rot="19640672">
                    <a:off x="1786156" y="2273357"/>
                    <a:ext cx="909352" cy="307777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r>
                      <a:rPr lang="en-US" dirty="0"/>
                      <a:t>Sell at </a:t>
                    </a:r>
                    <a14:m>
                      <m:oMath xmlns:m="http://schemas.openxmlformats.org/officeDocument/2006/math"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𝑝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3</m:t>
                            </m:r>
                          </m:sub>
                        </m:sSub>
                      </m:oMath>
                    </a14:m>
                    <a:endParaRPr lang="en-US" dirty="0"/>
                  </a:p>
                </p:txBody>
              </p:sp>
            </mc:Choice>
            <mc:Fallback xmlns="">
              <p:sp>
                <p:nvSpPr>
                  <p:cNvPr id="74" name="TextBox 73">
                    <a:extLst>
                      <a:ext uri="{FF2B5EF4-FFF2-40B4-BE49-F238E27FC236}">
                        <a16:creationId xmlns:a16="http://schemas.microsoft.com/office/drawing/2014/main" id="{9474491E-B362-B7C4-1B10-B562F47662F2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 rot="19640672">
                    <a:off x="1786156" y="2273357"/>
                    <a:ext cx="909352" cy="307777"/>
                  </a:xfrm>
                  <a:prstGeom prst="rect">
                    <a:avLst/>
                  </a:prstGeom>
                  <a:blipFill>
                    <a:blip r:embed="rId5"/>
                    <a:stretch>
                      <a:fillRect l="-1948" b="-7258"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  <p:grpSp>
          <p:nvGrpSpPr>
            <p:cNvPr id="62" name="Group 61">
              <a:extLst>
                <a:ext uri="{FF2B5EF4-FFF2-40B4-BE49-F238E27FC236}">
                  <a16:creationId xmlns:a16="http://schemas.microsoft.com/office/drawing/2014/main" id="{84C5E23C-0FB8-093B-8F8C-55A618CBD08D}"/>
                </a:ext>
              </a:extLst>
            </p:cNvPr>
            <p:cNvGrpSpPr/>
            <p:nvPr/>
          </p:nvGrpSpPr>
          <p:grpSpPr>
            <a:xfrm>
              <a:off x="7900490" y="2144078"/>
              <a:ext cx="2138453" cy="887107"/>
              <a:chOff x="1538602" y="2137588"/>
              <a:chExt cx="2138453" cy="887107"/>
            </a:xfrm>
          </p:grpSpPr>
          <p:sp>
            <p:nvSpPr>
              <p:cNvPr id="63" name="Oval 62">
                <a:extLst>
                  <a:ext uri="{FF2B5EF4-FFF2-40B4-BE49-F238E27FC236}">
                    <a16:creationId xmlns:a16="http://schemas.microsoft.com/office/drawing/2014/main" id="{3137A77F-D4FF-E127-6CAF-297FCBADDA65}"/>
                  </a:ext>
                </a:extLst>
              </p:cNvPr>
              <p:cNvSpPr/>
              <p:nvPr/>
            </p:nvSpPr>
            <p:spPr>
              <a:xfrm>
                <a:off x="1544372" y="2724660"/>
                <a:ext cx="290914" cy="290914"/>
              </a:xfrm>
              <a:prstGeom prst="ellipse">
                <a:avLst/>
              </a:prstGeom>
              <a:solidFill>
                <a:schemeClr val="bg1"/>
              </a:solidFill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64" name="TextBox 63">
                <a:extLst>
                  <a:ext uri="{FF2B5EF4-FFF2-40B4-BE49-F238E27FC236}">
                    <a16:creationId xmlns:a16="http://schemas.microsoft.com/office/drawing/2014/main" id="{367BAB95-86E5-901F-3F23-D4167456B193}"/>
                  </a:ext>
                </a:extLst>
              </p:cNvPr>
              <p:cNvSpPr txBox="1"/>
              <p:nvPr/>
            </p:nvSpPr>
            <p:spPr>
              <a:xfrm>
                <a:off x="1538602" y="2716918"/>
                <a:ext cx="284052" cy="30777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dirty="0"/>
                  <a:t>4</a:t>
                </a:r>
              </a:p>
            </p:txBody>
          </p:sp>
          <p:cxnSp>
            <p:nvCxnSpPr>
              <p:cNvPr id="65" name="Straight Arrow Connector 64">
                <a:extLst>
                  <a:ext uri="{FF2B5EF4-FFF2-40B4-BE49-F238E27FC236}">
                    <a16:creationId xmlns:a16="http://schemas.microsoft.com/office/drawing/2014/main" id="{199E5D6D-E596-D36A-CEF0-464EE078D230}"/>
                  </a:ext>
                </a:extLst>
              </p:cNvPr>
              <p:cNvCxnSpPr>
                <a:stCxn id="63" idx="6"/>
              </p:cNvCxnSpPr>
              <p:nvPr/>
            </p:nvCxnSpPr>
            <p:spPr>
              <a:xfrm>
                <a:off x="1835286" y="2870117"/>
                <a:ext cx="1841769" cy="0"/>
              </a:xfrm>
              <a:prstGeom prst="straightConnector1">
                <a:avLst/>
              </a:prstGeom>
              <a:ln w="28575">
                <a:solidFill>
                  <a:schemeClr val="tx1"/>
                </a:solidFill>
                <a:headEnd type="none" w="med" len="med"/>
                <a:tailEnd type="arrow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6" name="Straight Arrow Connector 65">
                <a:extLst>
                  <a:ext uri="{FF2B5EF4-FFF2-40B4-BE49-F238E27FC236}">
                    <a16:creationId xmlns:a16="http://schemas.microsoft.com/office/drawing/2014/main" id="{B08A7C85-68A7-04D5-3EB3-422E8B255422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1847918" y="2137588"/>
                <a:ext cx="1166432" cy="739760"/>
              </a:xfrm>
              <a:prstGeom prst="straightConnector1">
                <a:avLst/>
              </a:prstGeom>
              <a:ln w="28575">
                <a:solidFill>
                  <a:schemeClr val="tx1"/>
                </a:solidFill>
                <a:headEnd type="none" w="med" len="med"/>
                <a:tailEnd type="arrow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67" name="TextBox 66">
                <a:extLst>
                  <a:ext uri="{FF2B5EF4-FFF2-40B4-BE49-F238E27FC236}">
                    <a16:creationId xmlns:a16="http://schemas.microsoft.com/office/drawing/2014/main" id="{77F1E2BA-AFA8-DD67-421C-6DAD061550C9}"/>
                  </a:ext>
                </a:extLst>
              </p:cNvPr>
              <p:cNvSpPr txBox="1"/>
              <p:nvPr/>
            </p:nvSpPr>
            <p:spPr>
              <a:xfrm>
                <a:off x="2431134" y="2594757"/>
                <a:ext cx="553357" cy="30777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dirty="0"/>
                  <a:t>Hold</a:t>
                </a:r>
              </a:p>
            </p:txBody>
          </p: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68" name="TextBox 67">
                    <a:extLst>
                      <a:ext uri="{FF2B5EF4-FFF2-40B4-BE49-F238E27FC236}">
                        <a16:creationId xmlns:a16="http://schemas.microsoft.com/office/drawing/2014/main" id="{068F4A58-1F76-8008-4959-8DB5654736A4}"/>
                      </a:ext>
                    </a:extLst>
                  </p:cNvPr>
                  <p:cNvSpPr txBox="1"/>
                  <p:nvPr/>
                </p:nvSpPr>
                <p:spPr>
                  <a:xfrm rot="19640672">
                    <a:off x="1786798" y="2273357"/>
                    <a:ext cx="908069" cy="307777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r>
                      <a:rPr lang="en-US" dirty="0"/>
                      <a:t>Sell at </a:t>
                    </a:r>
                    <a14:m>
                      <m:oMath xmlns:m="http://schemas.openxmlformats.org/officeDocument/2006/math"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𝑝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4</m:t>
                            </m:r>
                          </m:sub>
                        </m:sSub>
                      </m:oMath>
                    </a14:m>
                    <a:endParaRPr lang="en-US" dirty="0"/>
                  </a:p>
                </p:txBody>
              </p:sp>
            </mc:Choice>
            <mc:Fallback xmlns="">
              <p:sp>
                <p:nvSpPr>
                  <p:cNvPr id="68" name="TextBox 67">
                    <a:extLst>
                      <a:ext uri="{FF2B5EF4-FFF2-40B4-BE49-F238E27FC236}">
                        <a16:creationId xmlns:a16="http://schemas.microsoft.com/office/drawing/2014/main" id="{A871009B-A45B-1571-5D69-4B1024723EC4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 rot="19640672">
                    <a:off x="1786798" y="2273357"/>
                    <a:ext cx="908069" cy="307777"/>
                  </a:xfrm>
                  <a:prstGeom prst="rect">
                    <a:avLst/>
                  </a:prstGeom>
                  <a:blipFill>
                    <a:blip r:embed="rId6"/>
                    <a:stretch>
                      <a:fillRect l="-1299" b="-7258"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</p:grpSp>
      <p:grpSp>
        <p:nvGrpSpPr>
          <p:cNvPr id="5" name="Group 4">
            <a:extLst>
              <a:ext uri="{FF2B5EF4-FFF2-40B4-BE49-F238E27FC236}">
                <a16:creationId xmlns:a16="http://schemas.microsoft.com/office/drawing/2014/main" id="{CFD6E65B-7226-183E-9B77-FCBFE326E656}"/>
              </a:ext>
            </a:extLst>
          </p:cNvPr>
          <p:cNvGrpSpPr/>
          <p:nvPr/>
        </p:nvGrpSpPr>
        <p:grpSpPr>
          <a:xfrm>
            <a:off x="229938" y="2787519"/>
            <a:ext cx="3629538" cy="2940096"/>
            <a:chOff x="2287338" y="2797044"/>
            <a:chExt cx="3629538" cy="2940096"/>
          </a:xfrm>
        </p:grpSpPr>
        <p:pic>
          <p:nvPicPr>
            <p:cNvPr id="6" name="Picture 5">
              <a:extLst>
                <a:ext uri="{FF2B5EF4-FFF2-40B4-BE49-F238E27FC236}">
                  <a16:creationId xmlns:a16="http://schemas.microsoft.com/office/drawing/2014/main" id="{4E32D83B-971C-EE0C-D62E-3057E6588BCD}"/>
                </a:ext>
              </a:extLst>
            </p:cNvPr>
            <p:cNvPicPr>
              <a:picLocks noChangeAspect="1"/>
            </p:cNvPicPr>
            <p:nvPr/>
          </p:nvPicPr>
          <p:blipFill>
            <a:blip r:embed="rId7"/>
            <a:srcRect t="35271"/>
            <a:stretch/>
          </p:blipFill>
          <p:spPr>
            <a:xfrm>
              <a:off x="2287338" y="3382110"/>
              <a:ext cx="3629538" cy="2355030"/>
            </a:xfrm>
            <a:prstGeom prst="rect">
              <a:avLst/>
            </a:prstGeom>
          </p:spPr>
        </p:pic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79F275C5-09A1-B916-D5D4-A0CA015E792A}"/>
                </a:ext>
              </a:extLst>
            </p:cNvPr>
            <p:cNvSpPr txBox="1"/>
            <p:nvPr/>
          </p:nvSpPr>
          <p:spPr>
            <a:xfrm>
              <a:off x="2321079" y="3105111"/>
              <a:ext cx="2978701" cy="276999"/>
            </a:xfrm>
            <a:prstGeom prst="rect">
              <a:avLst/>
            </a:prstGeom>
            <a:solidFill>
              <a:schemeClr val="bg1"/>
            </a:solidFill>
          </p:spPr>
          <p:txBody>
            <a:bodyPr wrap="none" rtlCol="0">
              <a:spAutoFit/>
            </a:bodyPr>
            <a:lstStyle/>
            <a:p>
              <a:r>
                <a:rPr lang="en-US" sz="1200" dirty="0"/>
                <a:t>Outcome       Sell                          Hold    </a:t>
              </a:r>
            </a:p>
          </p:txBody>
        </p:sp>
        <p:cxnSp>
          <p:nvCxnSpPr>
            <p:cNvPr id="8" name="Straight Connector 7">
              <a:extLst>
                <a:ext uri="{FF2B5EF4-FFF2-40B4-BE49-F238E27FC236}">
                  <a16:creationId xmlns:a16="http://schemas.microsoft.com/office/drawing/2014/main" id="{E8478951-4034-D8E8-343E-4CDB1544091B}"/>
                </a:ext>
              </a:extLst>
            </p:cNvPr>
            <p:cNvCxnSpPr/>
            <p:nvPr/>
          </p:nvCxnSpPr>
          <p:spPr>
            <a:xfrm>
              <a:off x="3320376" y="3101871"/>
              <a:ext cx="2148927" cy="0"/>
            </a:xfrm>
            <a:prstGeom prst="line">
              <a:avLst/>
            </a:prstGeom>
            <a:ln w="19050">
              <a:solidFill>
                <a:schemeClr val="tx1"/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46C27940-E253-1FCC-CF1C-0129CF740B6D}"/>
                </a:ext>
              </a:extLst>
            </p:cNvPr>
            <p:cNvSpPr txBox="1"/>
            <p:nvPr/>
          </p:nvSpPr>
          <p:spPr>
            <a:xfrm>
              <a:off x="4062937" y="2797044"/>
              <a:ext cx="814647" cy="276999"/>
            </a:xfrm>
            <a:prstGeom prst="rect">
              <a:avLst/>
            </a:prstGeom>
            <a:solidFill>
              <a:schemeClr val="bg1"/>
            </a:solidFill>
          </p:spPr>
          <p:txBody>
            <a:bodyPr wrap="none" rtlCol="0">
              <a:spAutoFit/>
            </a:bodyPr>
            <a:lstStyle/>
            <a:p>
              <a:r>
                <a:rPr lang="en-US" sz="1200" dirty="0"/>
                <a:t>Decision </a:t>
              </a:r>
            </a:p>
          </p:txBody>
        </p: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972F7EB4-C7F2-E388-8176-6BA85D757501}"/>
                  </a:ext>
                </a:extLst>
              </p:cNvPr>
              <p:cNvSpPr txBox="1"/>
              <p:nvPr/>
            </p:nvSpPr>
            <p:spPr>
              <a:xfrm>
                <a:off x="6073300" y="3693578"/>
                <a:ext cx="4107989" cy="94776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1800" dirty="0">
                    <a:solidFill>
                      <a:schemeClr val="accent2">
                        <a:lumMod val="75000"/>
                      </a:schemeClr>
                    </a:solidFill>
                    <a:latin typeface="Raleway" pitchFamily="2" charset="0"/>
                  </a:rPr>
                  <a:t>Step forward in time, updating the VFAs as you progress using the most recent values 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en-US" sz="1800" b="0" i="1" smtClean="0">
                            <a:solidFill>
                              <a:schemeClr val="accent2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acc>
                          <m:accPr>
                            <m:chr m:val="̂"/>
                            <m:ctrlPr>
                              <a:rPr lang="en-US" sz="1800" b="0" i="1" smtClean="0">
                                <a:solidFill>
                                  <a:schemeClr val="accent2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sz="1800" b="0" i="1" smtClean="0">
                                <a:solidFill>
                                  <a:schemeClr val="accent2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𝑣</m:t>
                            </m:r>
                          </m:e>
                        </m:acc>
                      </m:e>
                      <m:sub>
                        <m:r>
                          <a:rPr lang="en-US" sz="1800" b="0" i="1" smtClean="0">
                            <a:solidFill>
                              <a:schemeClr val="accent2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  <m:sup>
                        <m:r>
                          <a:rPr lang="en-US" sz="1800" b="0" i="1" smtClean="0">
                            <a:solidFill>
                              <a:schemeClr val="accent2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</m:sSubSup>
                  </m:oMath>
                </a14:m>
                <a:r>
                  <a:rPr lang="en-US" sz="1800" dirty="0">
                    <a:solidFill>
                      <a:schemeClr val="accent2">
                        <a:lumMod val="75000"/>
                      </a:schemeClr>
                    </a:solidFill>
                    <a:latin typeface="Raleway" pitchFamily="2" charset="0"/>
                  </a:rPr>
                  <a:t> to update 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en-US" sz="1800" b="0" i="1" smtClean="0">
                            <a:solidFill>
                              <a:schemeClr val="accent2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acc>
                          <m:accPr>
                            <m:chr m:val="̅"/>
                            <m:ctrlPr>
                              <a:rPr lang="en-US" sz="1800" b="0" i="1" smtClean="0">
                                <a:solidFill>
                                  <a:schemeClr val="accent2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sz="1800" b="0" i="1" smtClean="0">
                                <a:solidFill>
                                  <a:schemeClr val="accent2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𝑉</m:t>
                            </m:r>
                          </m:e>
                        </m:acc>
                      </m:e>
                      <m:sub>
                        <m:r>
                          <a:rPr lang="en-US" sz="1800" b="0" i="1" smtClean="0">
                            <a:solidFill>
                              <a:schemeClr val="accent2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  <m:r>
                          <a:rPr lang="en-US" sz="1800" b="0" i="1" smtClean="0">
                            <a:solidFill>
                              <a:schemeClr val="accent2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−1</m:t>
                        </m:r>
                      </m:sub>
                      <m:sup>
                        <m:r>
                          <a:rPr lang="en-US" sz="1800" b="0" i="1" smtClean="0">
                            <a:solidFill>
                              <a:schemeClr val="accent2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a:rPr lang="en-US" sz="1800" b="0" i="1" smtClean="0">
                            <a:solidFill>
                              <a:schemeClr val="accent2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−1</m:t>
                        </m:r>
                      </m:sup>
                    </m:sSubSup>
                    <m:r>
                      <a:rPr lang="en-US" sz="1800" b="0" i="1" smtClean="0">
                        <a:solidFill>
                          <a:schemeClr val="accent2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sz="1800" dirty="0">
                    <a:solidFill>
                      <a:schemeClr val="accent2">
                        <a:lumMod val="75000"/>
                      </a:schemeClr>
                    </a:solidFill>
                    <a:latin typeface="Raleway" pitchFamily="2" charset="0"/>
                  </a:rPr>
                  <a:t>.</a:t>
                </a:r>
              </a:p>
            </p:txBody>
          </p:sp>
        </mc:Choice>
        <mc:Fallback xmlns="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972F7EB4-C7F2-E388-8176-6BA85D75750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073300" y="3693578"/>
                <a:ext cx="4107989" cy="947760"/>
              </a:xfrm>
              <a:prstGeom prst="rect">
                <a:avLst/>
              </a:prstGeom>
              <a:blipFill>
                <a:blip r:embed="rId8"/>
                <a:stretch>
                  <a:fillRect l="-1187" t="-3871" b="-3677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187946238"/>
      </p:ext>
    </p:extLst>
  </p:cSld>
  <p:clrMapOvr>
    <a:masterClrMapping/>
  </p:clrMapOvr>
</p:sld>
</file>

<file path=ppt/slides/slide1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045D808-7D0B-2CE3-87B1-61F90F2E8C3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1BC828-C3AD-5102-18BD-0A1422C5D72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3200" dirty="0"/>
              <a:t>Value iteration: Financial application</a:t>
            </a:r>
            <a:endParaRPr lang="en-US" dirty="0"/>
          </a:p>
        </p:txBody>
      </p:sp>
      <p:sp>
        <p:nvSpPr>
          <p:cNvPr id="18" name="Text Placeholder 2">
            <a:extLst>
              <a:ext uri="{FF2B5EF4-FFF2-40B4-BE49-F238E27FC236}">
                <a16:creationId xmlns:a16="http://schemas.microsoft.com/office/drawing/2014/main" id="{DDC7E9A3-9E51-1F56-1B7A-A23DEF46AD9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54997" y="1039544"/>
            <a:ext cx="10363200" cy="4401600"/>
          </a:xfrm>
        </p:spPr>
        <p:txBody>
          <a:bodyPr/>
          <a:lstStyle/>
          <a:p>
            <a:pPr marL="86360" indent="0">
              <a:buNone/>
            </a:pPr>
            <a:r>
              <a:rPr lang="en-US" dirty="0"/>
              <a:t>Longstaff and Schwartz - Pricing an American option</a:t>
            </a:r>
          </a:p>
        </p:txBody>
      </p:sp>
      <p:grpSp>
        <p:nvGrpSpPr>
          <p:cNvPr id="21" name="Group 20">
            <a:extLst>
              <a:ext uri="{FF2B5EF4-FFF2-40B4-BE49-F238E27FC236}">
                <a16:creationId xmlns:a16="http://schemas.microsoft.com/office/drawing/2014/main" id="{7B40235D-0CE3-EFE0-D6F3-9789926FF43F}"/>
              </a:ext>
            </a:extLst>
          </p:cNvPr>
          <p:cNvGrpSpPr/>
          <p:nvPr/>
        </p:nvGrpSpPr>
        <p:grpSpPr>
          <a:xfrm>
            <a:off x="1532117" y="1670661"/>
            <a:ext cx="8500341" cy="893597"/>
            <a:chOff x="1538602" y="2137588"/>
            <a:chExt cx="8500341" cy="893597"/>
          </a:xfrm>
        </p:grpSpPr>
        <p:grpSp>
          <p:nvGrpSpPr>
            <p:cNvPr id="48" name="Group 47">
              <a:extLst>
                <a:ext uri="{FF2B5EF4-FFF2-40B4-BE49-F238E27FC236}">
                  <a16:creationId xmlns:a16="http://schemas.microsoft.com/office/drawing/2014/main" id="{2D508C5B-A953-720F-8F3B-7720DD025010}"/>
                </a:ext>
              </a:extLst>
            </p:cNvPr>
            <p:cNvGrpSpPr/>
            <p:nvPr/>
          </p:nvGrpSpPr>
          <p:grpSpPr>
            <a:xfrm>
              <a:off x="1538602" y="2137588"/>
              <a:ext cx="2138453" cy="887107"/>
              <a:chOff x="1538602" y="2137588"/>
              <a:chExt cx="2138453" cy="887107"/>
            </a:xfrm>
          </p:grpSpPr>
          <p:sp>
            <p:nvSpPr>
              <p:cNvPr id="81" name="Oval 80">
                <a:extLst>
                  <a:ext uri="{FF2B5EF4-FFF2-40B4-BE49-F238E27FC236}">
                    <a16:creationId xmlns:a16="http://schemas.microsoft.com/office/drawing/2014/main" id="{7311E136-F180-FE7A-9A29-48C3B4596FBF}"/>
                  </a:ext>
                </a:extLst>
              </p:cNvPr>
              <p:cNvSpPr/>
              <p:nvPr/>
            </p:nvSpPr>
            <p:spPr>
              <a:xfrm>
                <a:off x="1544372" y="2724660"/>
                <a:ext cx="290914" cy="290914"/>
              </a:xfrm>
              <a:prstGeom prst="ellipse">
                <a:avLst/>
              </a:prstGeom>
              <a:solidFill>
                <a:schemeClr val="bg1"/>
              </a:solidFill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82" name="TextBox 81">
                <a:extLst>
                  <a:ext uri="{FF2B5EF4-FFF2-40B4-BE49-F238E27FC236}">
                    <a16:creationId xmlns:a16="http://schemas.microsoft.com/office/drawing/2014/main" id="{63707116-FC24-EF2D-6DD5-AB34E03ECCD2}"/>
                  </a:ext>
                </a:extLst>
              </p:cNvPr>
              <p:cNvSpPr txBox="1"/>
              <p:nvPr/>
            </p:nvSpPr>
            <p:spPr>
              <a:xfrm>
                <a:off x="1538602" y="2716918"/>
                <a:ext cx="284052" cy="30777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dirty="0"/>
                  <a:t>1</a:t>
                </a:r>
              </a:p>
            </p:txBody>
          </p:sp>
          <p:cxnSp>
            <p:nvCxnSpPr>
              <p:cNvPr id="83" name="Straight Arrow Connector 82">
                <a:extLst>
                  <a:ext uri="{FF2B5EF4-FFF2-40B4-BE49-F238E27FC236}">
                    <a16:creationId xmlns:a16="http://schemas.microsoft.com/office/drawing/2014/main" id="{1004E525-2FC5-33A3-A6E0-373093D42277}"/>
                  </a:ext>
                </a:extLst>
              </p:cNvPr>
              <p:cNvCxnSpPr>
                <a:stCxn id="81" idx="6"/>
              </p:cNvCxnSpPr>
              <p:nvPr/>
            </p:nvCxnSpPr>
            <p:spPr>
              <a:xfrm>
                <a:off x="1835286" y="2870117"/>
                <a:ext cx="1841769" cy="0"/>
              </a:xfrm>
              <a:prstGeom prst="straightConnector1">
                <a:avLst/>
              </a:prstGeom>
              <a:ln w="28575">
                <a:solidFill>
                  <a:schemeClr val="tx1"/>
                </a:solidFill>
                <a:headEnd type="none" w="med" len="med"/>
                <a:tailEnd type="arrow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4" name="Straight Arrow Connector 83">
                <a:extLst>
                  <a:ext uri="{FF2B5EF4-FFF2-40B4-BE49-F238E27FC236}">
                    <a16:creationId xmlns:a16="http://schemas.microsoft.com/office/drawing/2014/main" id="{E097FD21-6880-B32B-BE58-EE88A459FA87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1847918" y="2137588"/>
                <a:ext cx="1166432" cy="739760"/>
              </a:xfrm>
              <a:prstGeom prst="straightConnector1">
                <a:avLst/>
              </a:prstGeom>
              <a:ln w="28575">
                <a:solidFill>
                  <a:schemeClr val="tx1"/>
                </a:solidFill>
                <a:headEnd type="none" w="med" len="med"/>
                <a:tailEnd type="arrow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85" name="TextBox 84">
                <a:extLst>
                  <a:ext uri="{FF2B5EF4-FFF2-40B4-BE49-F238E27FC236}">
                    <a16:creationId xmlns:a16="http://schemas.microsoft.com/office/drawing/2014/main" id="{8B447617-4E4D-4B13-8367-02D29C196442}"/>
                  </a:ext>
                </a:extLst>
              </p:cNvPr>
              <p:cNvSpPr txBox="1"/>
              <p:nvPr/>
            </p:nvSpPr>
            <p:spPr>
              <a:xfrm>
                <a:off x="2431134" y="2594757"/>
                <a:ext cx="553357" cy="30777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dirty="0"/>
                  <a:t>Hold</a:t>
                </a:r>
              </a:p>
            </p:txBody>
          </p: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86" name="TextBox 85">
                    <a:extLst>
                      <a:ext uri="{FF2B5EF4-FFF2-40B4-BE49-F238E27FC236}">
                        <a16:creationId xmlns:a16="http://schemas.microsoft.com/office/drawing/2014/main" id="{6E27F64C-4CAE-4417-1A44-25716F1E4E1B}"/>
                      </a:ext>
                    </a:extLst>
                  </p:cNvPr>
                  <p:cNvSpPr txBox="1"/>
                  <p:nvPr/>
                </p:nvSpPr>
                <p:spPr>
                  <a:xfrm rot="19640672">
                    <a:off x="1788240" y="2273357"/>
                    <a:ext cx="905184" cy="307777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r>
                      <a:rPr lang="en-US" dirty="0"/>
                      <a:t>Sell at </a:t>
                    </a:r>
                    <a14:m>
                      <m:oMath xmlns:m="http://schemas.openxmlformats.org/officeDocument/2006/math"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𝑝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oMath>
                    </a14:m>
                    <a:endParaRPr lang="en-US" dirty="0"/>
                  </a:p>
                </p:txBody>
              </p:sp>
            </mc:Choice>
            <mc:Fallback xmlns="">
              <p:sp>
                <p:nvSpPr>
                  <p:cNvPr id="86" name="TextBox 85">
                    <a:extLst>
                      <a:ext uri="{FF2B5EF4-FFF2-40B4-BE49-F238E27FC236}">
                        <a16:creationId xmlns:a16="http://schemas.microsoft.com/office/drawing/2014/main" id="{51D2BF2A-95EE-6362-E7EA-3BD990E9840E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 rot="19640672">
                    <a:off x="1788240" y="2273357"/>
                    <a:ext cx="905184" cy="307777"/>
                  </a:xfrm>
                  <a:prstGeom prst="rect">
                    <a:avLst/>
                  </a:prstGeom>
                  <a:blipFill>
                    <a:blip r:embed="rId3"/>
                    <a:stretch>
                      <a:fillRect l="-1961" b="-8130"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  <p:grpSp>
          <p:nvGrpSpPr>
            <p:cNvPr id="60" name="Group 59">
              <a:extLst>
                <a:ext uri="{FF2B5EF4-FFF2-40B4-BE49-F238E27FC236}">
                  <a16:creationId xmlns:a16="http://schemas.microsoft.com/office/drawing/2014/main" id="{EADFDD30-2EC5-3C37-7975-528A697FE7E3}"/>
                </a:ext>
              </a:extLst>
            </p:cNvPr>
            <p:cNvGrpSpPr/>
            <p:nvPr/>
          </p:nvGrpSpPr>
          <p:grpSpPr>
            <a:xfrm>
              <a:off x="3655991" y="2140833"/>
              <a:ext cx="2138453" cy="887107"/>
              <a:chOff x="1538602" y="2137588"/>
              <a:chExt cx="2138453" cy="887107"/>
            </a:xfrm>
          </p:grpSpPr>
          <p:sp>
            <p:nvSpPr>
              <p:cNvPr id="75" name="Oval 74">
                <a:extLst>
                  <a:ext uri="{FF2B5EF4-FFF2-40B4-BE49-F238E27FC236}">
                    <a16:creationId xmlns:a16="http://schemas.microsoft.com/office/drawing/2014/main" id="{F62E490C-62A8-8773-7F28-99AF561AC44F}"/>
                  </a:ext>
                </a:extLst>
              </p:cNvPr>
              <p:cNvSpPr/>
              <p:nvPr/>
            </p:nvSpPr>
            <p:spPr>
              <a:xfrm>
                <a:off x="1544372" y="2724660"/>
                <a:ext cx="290914" cy="290914"/>
              </a:xfrm>
              <a:prstGeom prst="ellipse">
                <a:avLst/>
              </a:prstGeom>
              <a:solidFill>
                <a:schemeClr val="bg1"/>
              </a:solidFill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76" name="TextBox 75">
                <a:extLst>
                  <a:ext uri="{FF2B5EF4-FFF2-40B4-BE49-F238E27FC236}">
                    <a16:creationId xmlns:a16="http://schemas.microsoft.com/office/drawing/2014/main" id="{4B97A2BF-7D9A-738A-95A6-6D4175FB9175}"/>
                  </a:ext>
                </a:extLst>
              </p:cNvPr>
              <p:cNvSpPr txBox="1"/>
              <p:nvPr/>
            </p:nvSpPr>
            <p:spPr>
              <a:xfrm>
                <a:off x="1538602" y="2716918"/>
                <a:ext cx="284052" cy="30777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dirty="0"/>
                  <a:t>2</a:t>
                </a:r>
              </a:p>
            </p:txBody>
          </p:sp>
          <p:cxnSp>
            <p:nvCxnSpPr>
              <p:cNvPr id="77" name="Straight Arrow Connector 76">
                <a:extLst>
                  <a:ext uri="{FF2B5EF4-FFF2-40B4-BE49-F238E27FC236}">
                    <a16:creationId xmlns:a16="http://schemas.microsoft.com/office/drawing/2014/main" id="{3D74C604-C4AC-7A7A-AECD-FAF98A0CF8AD}"/>
                  </a:ext>
                </a:extLst>
              </p:cNvPr>
              <p:cNvCxnSpPr>
                <a:stCxn id="75" idx="6"/>
              </p:cNvCxnSpPr>
              <p:nvPr/>
            </p:nvCxnSpPr>
            <p:spPr>
              <a:xfrm>
                <a:off x="1835286" y="2870117"/>
                <a:ext cx="1841769" cy="0"/>
              </a:xfrm>
              <a:prstGeom prst="straightConnector1">
                <a:avLst/>
              </a:prstGeom>
              <a:ln w="28575">
                <a:solidFill>
                  <a:schemeClr val="tx1"/>
                </a:solidFill>
                <a:headEnd type="none" w="med" len="med"/>
                <a:tailEnd type="arrow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8" name="Straight Arrow Connector 77">
                <a:extLst>
                  <a:ext uri="{FF2B5EF4-FFF2-40B4-BE49-F238E27FC236}">
                    <a16:creationId xmlns:a16="http://schemas.microsoft.com/office/drawing/2014/main" id="{5C8E6E6A-25A1-32E1-2935-31B6A3C4923F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1847918" y="2137588"/>
                <a:ext cx="1166432" cy="739760"/>
              </a:xfrm>
              <a:prstGeom prst="straightConnector1">
                <a:avLst/>
              </a:prstGeom>
              <a:ln w="28575">
                <a:solidFill>
                  <a:schemeClr val="tx1"/>
                </a:solidFill>
                <a:headEnd type="none" w="med" len="med"/>
                <a:tailEnd type="arrow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79" name="TextBox 78">
                <a:extLst>
                  <a:ext uri="{FF2B5EF4-FFF2-40B4-BE49-F238E27FC236}">
                    <a16:creationId xmlns:a16="http://schemas.microsoft.com/office/drawing/2014/main" id="{5811AF0D-01E4-9D7B-60E9-E62B9C53465D}"/>
                  </a:ext>
                </a:extLst>
              </p:cNvPr>
              <p:cNvSpPr txBox="1"/>
              <p:nvPr/>
            </p:nvSpPr>
            <p:spPr>
              <a:xfrm>
                <a:off x="2431134" y="2594757"/>
                <a:ext cx="553357" cy="30777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dirty="0"/>
                  <a:t>Hold</a:t>
                </a:r>
              </a:p>
            </p:txBody>
          </p: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80" name="TextBox 79">
                    <a:extLst>
                      <a:ext uri="{FF2B5EF4-FFF2-40B4-BE49-F238E27FC236}">
                        <a16:creationId xmlns:a16="http://schemas.microsoft.com/office/drawing/2014/main" id="{F7478A23-FF38-6EC9-5772-7BA9E35DB86B}"/>
                      </a:ext>
                    </a:extLst>
                  </p:cNvPr>
                  <p:cNvSpPr txBox="1"/>
                  <p:nvPr/>
                </p:nvSpPr>
                <p:spPr>
                  <a:xfrm rot="19640672">
                    <a:off x="1786156" y="2273357"/>
                    <a:ext cx="909352" cy="307777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r>
                      <a:rPr lang="en-US" dirty="0"/>
                      <a:t>Sell at </a:t>
                    </a:r>
                    <a14:m>
                      <m:oMath xmlns:m="http://schemas.openxmlformats.org/officeDocument/2006/math"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𝑝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oMath>
                    </a14:m>
                    <a:endParaRPr lang="en-US" dirty="0"/>
                  </a:p>
                </p:txBody>
              </p:sp>
            </mc:Choice>
            <mc:Fallback xmlns="">
              <p:sp>
                <p:nvSpPr>
                  <p:cNvPr id="80" name="TextBox 79">
                    <a:extLst>
                      <a:ext uri="{FF2B5EF4-FFF2-40B4-BE49-F238E27FC236}">
                        <a16:creationId xmlns:a16="http://schemas.microsoft.com/office/drawing/2014/main" id="{8F9E8D89-B5C4-2686-521E-3BAF6B13DC90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 rot="19640672">
                    <a:off x="1786156" y="2273357"/>
                    <a:ext cx="909352" cy="307777"/>
                  </a:xfrm>
                  <a:prstGeom prst="rect">
                    <a:avLst/>
                  </a:prstGeom>
                  <a:blipFill>
                    <a:blip r:embed="rId4"/>
                    <a:stretch>
                      <a:fillRect l="-1948" b="-7258"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  <p:grpSp>
          <p:nvGrpSpPr>
            <p:cNvPr id="61" name="Group 60">
              <a:extLst>
                <a:ext uri="{FF2B5EF4-FFF2-40B4-BE49-F238E27FC236}">
                  <a16:creationId xmlns:a16="http://schemas.microsoft.com/office/drawing/2014/main" id="{9B0902ED-DBE5-2EC1-22D7-E3DEB7202139}"/>
                </a:ext>
              </a:extLst>
            </p:cNvPr>
            <p:cNvGrpSpPr/>
            <p:nvPr/>
          </p:nvGrpSpPr>
          <p:grpSpPr>
            <a:xfrm>
              <a:off x="5783101" y="2140833"/>
              <a:ext cx="2138453" cy="887107"/>
              <a:chOff x="1538602" y="2137588"/>
              <a:chExt cx="2138453" cy="887107"/>
            </a:xfrm>
          </p:grpSpPr>
          <p:sp>
            <p:nvSpPr>
              <p:cNvPr id="69" name="Oval 68">
                <a:extLst>
                  <a:ext uri="{FF2B5EF4-FFF2-40B4-BE49-F238E27FC236}">
                    <a16:creationId xmlns:a16="http://schemas.microsoft.com/office/drawing/2014/main" id="{EB0A665E-67DE-815B-8839-F2D60D5D44A6}"/>
                  </a:ext>
                </a:extLst>
              </p:cNvPr>
              <p:cNvSpPr/>
              <p:nvPr/>
            </p:nvSpPr>
            <p:spPr>
              <a:xfrm>
                <a:off x="1544372" y="2724660"/>
                <a:ext cx="290914" cy="290914"/>
              </a:xfrm>
              <a:prstGeom prst="ellipse">
                <a:avLst/>
              </a:prstGeom>
              <a:solidFill>
                <a:schemeClr val="bg1"/>
              </a:solidFill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70" name="TextBox 69">
                <a:extLst>
                  <a:ext uri="{FF2B5EF4-FFF2-40B4-BE49-F238E27FC236}">
                    <a16:creationId xmlns:a16="http://schemas.microsoft.com/office/drawing/2014/main" id="{64441CA4-A275-BFDA-B8C1-D34EDFCF15BA}"/>
                  </a:ext>
                </a:extLst>
              </p:cNvPr>
              <p:cNvSpPr txBox="1"/>
              <p:nvPr/>
            </p:nvSpPr>
            <p:spPr>
              <a:xfrm>
                <a:off x="1538602" y="2716918"/>
                <a:ext cx="284052" cy="30777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dirty="0"/>
                  <a:t>3</a:t>
                </a:r>
              </a:p>
            </p:txBody>
          </p:sp>
          <p:cxnSp>
            <p:nvCxnSpPr>
              <p:cNvPr id="71" name="Straight Arrow Connector 70">
                <a:extLst>
                  <a:ext uri="{FF2B5EF4-FFF2-40B4-BE49-F238E27FC236}">
                    <a16:creationId xmlns:a16="http://schemas.microsoft.com/office/drawing/2014/main" id="{FA134B2D-95F2-FCFF-2360-98EB17280EA0}"/>
                  </a:ext>
                </a:extLst>
              </p:cNvPr>
              <p:cNvCxnSpPr>
                <a:stCxn id="69" idx="6"/>
              </p:cNvCxnSpPr>
              <p:nvPr/>
            </p:nvCxnSpPr>
            <p:spPr>
              <a:xfrm>
                <a:off x="1835286" y="2870117"/>
                <a:ext cx="1841769" cy="0"/>
              </a:xfrm>
              <a:prstGeom prst="straightConnector1">
                <a:avLst/>
              </a:prstGeom>
              <a:ln w="28575">
                <a:solidFill>
                  <a:schemeClr val="tx1"/>
                </a:solidFill>
                <a:headEnd type="none" w="med" len="med"/>
                <a:tailEnd type="arrow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2" name="Straight Arrow Connector 71">
                <a:extLst>
                  <a:ext uri="{FF2B5EF4-FFF2-40B4-BE49-F238E27FC236}">
                    <a16:creationId xmlns:a16="http://schemas.microsoft.com/office/drawing/2014/main" id="{215CEA88-CC6E-9A54-AF80-38E16A199830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1847918" y="2137588"/>
                <a:ext cx="1166432" cy="739760"/>
              </a:xfrm>
              <a:prstGeom prst="straightConnector1">
                <a:avLst/>
              </a:prstGeom>
              <a:ln w="28575">
                <a:solidFill>
                  <a:schemeClr val="tx1"/>
                </a:solidFill>
                <a:headEnd type="none" w="med" len="med"/>
                <a:tailEnd type="arrow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73" name="TextBox 72">
                <a:extLst>
                  <a:ext uri="{FF2B5EF4-FFF2-40B4-BE49-F238E27FC236}">
                    <a16:creationId xmlns:a16="http://schemas.microsoft.com/office/drawing/2014/main" id="{45D346FA-1791-4E3D-024F-425C2EEF2E84}"/>
                  </a:ext>
                </a:extLst>
              </p:cNvPr>
              <p:cNvSpPr txBox="1"/>
              <p:nvPr/>
            </p:nvSpPr>
            <p:spPr>
              <a:xfrm>
                <a:off x="2431134" y="2594757"/>
                <a:ext cx="553357" cy="30777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dirty="0"/>
                  <a:t>Hold</a:t>
                </a:r>
              </a:p>
            </p:txBody>
          </p: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74" name="TextBox 73">
                    <a:extLst>
                      <a:ext uri="{FF2B5EF4-FFF2-40B4-BE49-F238E27FC236}">
                        <a16:creationId xmlns:a16="http://schemas.microsoft.com/office/drawing/2014/main" id="{57303FC4-6B90-1DF1-C0F0-AB8F432C6130}"/>
                      </a:ext>
                    </a:extLst>
                  </p:cNvPr>
                  <p:cNvSpPr txBox="1"/>
                  <p:nvPr/>
                </p:nvSpPr>
                <p:spPr>
                  <a:xfrm rot="19640672">
                    <a:off x="1786156" y="2273357"/>
                    <a:ext cx="909352" cy="307777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r>
                      <a:rPr lang="en-US" dirty="0"/>
                      <a:t>Sell at </a:t>
                    </a:r>
                    <a14:m>
                      <m:oMath xmlns:m="http://schemas.openxmlformats.org/officeDocument/2006/math"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𝑝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3</m:t>
                            </m:r>
                          </m:sub>
                        </m:sSub>
                      </m:oMath>
                    </a14:m>
                    <a:endParaRPr lang="en-US" dirty="0"/>
                  </a:p>
                </p:txBody>
              </p:sp>
            </mc:Choice>
            <mc:Fallback xmlns="">
              <p:sp>
                <p:nvSpPr>
                  <p:cNvPr id="74" name="TextBox 73">
                    <a:extLst>
                      <a:ext uri="{FF2B5EF4-FFF2-40B4-BE49-F238E27FC236}">
                        <a16:creationId xmlns:a16="http://schemas.microsoft.com/office/drawing/2014/main" id="{9474491E-B362-B7C4-1B10-B562F47662F2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 rot="19640672">
                    <a:off x="1786156" y="2273357"/>
                    <a:ext cx="909352" cy="307777"/>
                  </a:xfrm>
                  <a:prstGeom prst="rect">
                    <a:avLst/>
                  </a:prstGeom>
                  <a:blipFill>
                    <a:blip r:embed="rId5"/>
                    <a:stretch>
                      <a:fillRect l="-1948" b="-7258"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  <p:grpSp>
          <p:nvGrpSpPr>
            <p:cNvPr id="62" name="Group 61">
              <a:extLst>
                <a:ext uri="{FF2B5EF4-FFF2-40B4-BE49-F238E27FC236}">
                  <a16:creationId xmlns:a16="http://schemas.microsoft.com/office/drawing/2014/main" id="{0710A3EE-EFB6-0973-4D50-2B6A92689ABC}"/>
                </a:ext>
              </a:extLst>
            </p:cNvPr>
            <p:cNvGrpSpPr/>
            <p:nvPr/>
          </p:nvGrpSpPr>
          <p:grpSpPr>
            <a:xfrm>
              <a:off x="7900490" y="2144078"/>
              <a:ext cx="2138453" cy="887107"/>
              <a:chOff x="1538602" y="2137588"/>
              <a:chExt cx="2138453" cy="887107"/>
            </a:xfrm>
          </p:grpSpPr>
          <p:sp>
            <p:nvSpPr>
              <p:cNvPr id="63" name="Oval 62">
                <a:extLst>
                  <a:ext uri="{FF2B5EF4-FFF2-40B4-BE49-F238E27FC236}">
                    <a16:creationId xmlns:a16="http://schemas.microsoft.com/office/drawing/2014/main" id="{15A50B8F-08E7-A841-4184-9C1EC61EF048}"/>
                  </a:ext>
                </a:extLst>
              </p:cNvPr>
              <p:cNvSpPr/>
              <p:nvPr/>
            </p:nvSpPr>
            <p:spPr>
              <a:xfrm>
                <a:off x="1544372" y="2724660"/>
                <a:ext cx="290914" cy="290914"/>
              </a:xfrm>
              <a:prstGeom prst="ellipse">
                <a:avLst/>
              </a:prstGeom>
              <a:solidFill>
                <a:schemeClr val="bg1"/>
              </a:solidFill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64" name="TextBox 63">
                <a:extLst>
                  <a:ext uri="{FF2B5EF4-FFF2-40B4-BE49-F238E27FC236}">
                    <a16:creationId xmlns:a16="http://schemas.microsoft.com/office/drawing/2014/main" id="{F62FAD47-D801-054D-A512-C28B64F86E65}"/>
                  </a:ext>
                </a:extLst>
              </p:cNvPr>
              <p:cNvSpPr txBox="1"/>
              <p:nvPr/>
            </p:nvSpPr>
            <p:spPr>
              <a:xfrm>
                <a:off x="1538602" y="2716918"/>
                <a:ext cx="284052" cy="30777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dirty="0"/>
                  <a:t>4</a:t>
                </a:r>
              </a:p>
            </p:txBody>
          </p:sp>
          <p:cxnSp>
            <p:nvCxnSpPr>
              <p:cNvPr id="65" name="Straight Arrow Connector 64">
                <a:extLst>
                  <a:ext uri="{FF2B5EF4-FFF2-40B4-BE49-F238E27FC236}">
                    <a16:creationId xmlns:a16="http://schemas.microsoft.com/office/drawing/2014/main" id="{33B73B07-556E-44BB-4D24-AFC93986A550}"/>
                  </a:ext>
                </a:extLst>
              </p:cNvPr>
              <p:cNvCxnSpPr>
                <a:stCxn id="63" idx="6"/>
              </p:cNvCxnSpPr>
              <p:nvPr/>
            </p:nvCxnSpPr>
            <p:spPr>
              <a:xfrm>
                <a:off x="1835286" y="2870117"/>
                <a:ext cx="1841769" cy="0"/>
              </a:xfrm>
              <a:prstGeom prst="straightConnector1">
                <a:avLst/>
              </a:prstGeom>
              <a:ln w="28575">
                <a:solidFill>
                  <a:schemeClr val="tx1"/>
                </a:solidFill>
                <a:headEnd type="none" w="med" len="med"/>
                <a:tailEnd type="arrow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6" name="Straight Arrow Connector 65">
                <a:extLst>
                  <a:ext uri="{FF2B5EF4-FFF2-40B4-BE49-F238E27FC236}">
                    <a16:creationId xmlns:a16="http://schemas.microsoft.com/office/drawing/2014/main" id="{35DAAD3E-2824-A41E-FB28-77936E027E7A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1847918" y="2137588"/>
                <a:ext cx="1166432" cy="739760"/>
              </a:xfrm>
              <a:prstGeom prst="straightConnector1">
                <a:avLst/>
              </a:prstGeom>
              <a:ln w="28575">
                <a:solidFill>
                  <a:schemeClr val="tx1"/>
                </a:solidFill>
                <a:headEnd type="none" w="med" len="med"/>
                <a:tailEnd type="arrow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67" name="TextBox 66">
                <a:extLst>
                  <a:ext uri="{FF2B5EF4-FFF2-40B4-BE49-F238E27FC236}">
                    <a16:creationId xmlns:a16="http://schemas.microsoft.com/office/drawing/2014/main" id="{0AEE38F5-1896-C9B2-6B0C-E206350B1C1C}"/>
                  </a:ext>
                </a:extLst>
              </p:cNvPr>
              <p:cNvSpPr txBox="1"/>
              <p:nvPr/>
            </p:nvSpPr>
            <p:spPr>
              <a:xfrm>
                <a:off x="2431134" y="2594757"/>
                <a:ext cx="553357" cy="30777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dirty="0"/>
                  <a:t>Hold</a:t>
                </a:r>
              </a:p>
            </p:txBody>
          </p: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68" name="TextBox 67">
                    <a:extLst>
                      <a:ext uri="{FF2B5EF4-FFF2-40B4-BE49-F238E27FC236}">
                        <a16:creationId xmlns:a16="http://schemas.microsoft.com/office/drawing/2014/main" id="{FD7B6CB8-7D1A-3BAE-D44A-464B52C174CE}"/>
                      </a:ext>
                    </a:extLst>
                  </p:cNvPr>
                  <p:cNvSpPr txBox="1"/>
                  <p:nvPr/>
                </p:nvSpPr>
                <p:spPr>
                  <a:xfrm rot="19640672">
                    <a:off x="1786798" y="2273357"/>
                    <a:ext cx="908069" cy="307777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r>
                      <a:rPr lang="en-US" dirty="0"/>
                      <a:t>Sell at </a:t>
                    </a:r>
                    <a14:m>
                      <m:oMath xmlns:m="http://schemas.openxmlformats.org/officeDocument/2006/math"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𝑝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4</m:t>
                            </m:r>
                          </m:sub>
                        </m:sSub>
                      </m:oMath>
                    </a14:m>
                    <a:endParaRPr lang="en-US" dirty="0"/>
                  </a:p>
                </p:txBody>
              </p:sp>
            </mc:Choice>
            <mc:Fallback xmlns="">
              <p:sp>
                <p:nvSpPr>
                  <p:cNvPr id="68" name="TextBox 67">
                    <a:extLst>
                      <a:ext uri="{FF2B5EF4-FFF2-40B4-BE49-F238E27FC236}">
                        <a16:creationId xmlns:a16="http://schemas.microsoft.com/office/drawing/2014/main" id="{A871009B-A45B-1571-5D69-4B1024723EC4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 rot="19640672">
                    <a:off x="1786798" y="2273357"/>
                    <a:ext cx="908069" cy="307777"/>
                  </a:xfrm>
                  <a:prstGeom prst="rect">
                    <a:avLst/>
                  </a:prstGeom>
                  <a:blipFill>
                    <a:blip r:embed="rId6"/>
                    <a:stretch>
                      <a:fillRect l="-1299" b="-7258"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</p:grpSp>
      <p:grpSp>
        <p:nvGrpSpPr>
          <p:cNvPr id="5" name="Group 4">
            <a:extLst>
              <a:ext uri="{FF2B5EF4-FFF2-40B4-BE49-F238E27FC236}">
                <a16:creationId xmlns:a16="http://schemas.microsoft.com/office/drawing/2014/main" id="{5FF75929-64E9-73F8-A169-17126042EEC5}"/>
              </a:ext>
            </a:extLst>
          </p:cNvPr>
          <p:cNvGrpSpPr/>
          <p:nvPr/>
        </p:nvGrpSpPr>
        <p:grpSpPr>
          <a:xfrm>
            <a:off x="2392113" y="2787519"/>
            <a:ext cx="3629538" cy="2940096"/>
            <a:chOff x="2287338" y="2797044"/>
            <a:chExt cx="3629538" cy="2940096"/>
          </a:xfrm>
        </p:grpSpPr>
        <p:pic>
          <p:nvPicPr>
            <p:cNvPr id="6" name="Picture 5">
              <a:extLst>
                <a:ext uri="{FF2B5EF4-FFF2-40B4-BE49-F238E27FC236}">
                  <a16:creationId xmlns:a16="http://schemas.microsoft.com/office/drawing/2014/main" id="{C51C16FC-A23E-6F52-136D-21DFC7E6D9AF}"/>
                </a:ext>
              </a:extLst>
            </p:cNvPr>
            <p:cNvPicPr>
              <a:picLocks noChangeAspect="1"/>
            </p:cNvPicPr>
            <p:nvPr/>
          </p:nvPicPr>
          <p:blipFill>
            <a:blip r:embed="rId7"/>
            <a:srcRect t="35271"/>
            <a:stretch/>
          </p:blipFill>
          <p:spPr>
            <a:xfrm>
              <a:off x="2287338" y="3382110"/>
              <a:ext cx="3629538" cy="2355030"/>
            </a:xfrm>
            <a:prstGeom prst="rect">
              <a:avLst/>
            </a:prstGeom>
          </p:spPr>
        </p:pic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D97C129F-4B7D-FB8F-F890-C4F3B6A6ED1F}"/>
                </a:ext>
              </a:extLst>
            </p:cNvPr>
            <p:cNvSpPr txBox="1"/>
            <p:nvPr/>
          </p:nvSpPr>
          <p:spPr>
            <a:xfrm>
              <a:off x="2321079" y="3105111"/>
              <a:ext cx="2978701" cy="276999"/>
            </a:xfrm>
            <a:prstGeom prst="rect">
              <a:avLst/>
            </a:prstGeom>
            <a:solidFill>
              <a:schemeClr val="bg1"/>
            </a:solidFill>
          </p:spPr>
          <p:txBody>
            <a:bodyPr wrap="none" rtlCol="0">
              <a:spAutoFit/>
            </a:bodyPr>
            <a:lstStyle/>
            <a:p>
              <a:r>
                <a:rPr lang="en-US" sz="1200" dirty="0"/>
                <a:t>Outcome       Sell                          Hold    </a:t>
              </a:r>
            </a:p>
          </p:txBody>
        </p:sp>
        <p:cxnSp>
          <p:nvCxnSpPr>
            <p:cNvPr id="8" name="Straight Connector 7">
              <a:extLst>
                <a:ext uri="{FF2B5EF4-FFF2-40B4-BE49-F238E27FC236}">
                  <a16:creationId xmlns:a16="http://schemas.microsoft.com/office/drawing/2014/main" id="{44F503E5-91D0-6D6D-12A3-9B975A9DE1A6}"/>
                </a:ext>
              </a:extLst>
            </p:cNvPr>
            <p:cNvCxnSpPr/>
            <p:nvPr/>
          </p:nvCxnSpPr>
          <p:spPr>
            <a:xfrm>
              <a:off x="3320376" y="3101871"/>
              <a:ext cx="2148927" cy="0"/>
            </a:xfrm>
            <a:prstGeom prst="line">
              <a:avLst/>
            </a:prstGeom>
            <a:ln w="19050">
              <a:solidFill>
                <a:schemeClr val="tx1"/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1EA9ABCE-9B1A-E60C-44AA-61BADADC6D10}"/>
                </a:ext>
              </a:extLst>
            </p:cNvPr>
            <p:cNvSpPr txBox="1"/>
            <p:nvPr/>
          </p:nvSpPr>
          <p:spPr>
            <a:xfrm>
              <a:off x="4062937" y="2797044"/>
              <a:ext cx="814647" cy="276999"/>
            </a:xfrm>
            <a:prstGeom prst="rect">
              <a:avLst/>
            </a:prstGeom>
            <a:solidFill>
              <a:schemeClr val="bg1"/>
            </a:solidFill>
          </p:spPr>
          <p:txBody>
            <a:bodyPr wrap="none" rtlCol="0">
              <a:spAutoFit/>
            </a:bodyPr>
            <a:lstStyle/>
            <a:p>
              <a:r>
                <a:rPr lang="en-US" sz="1200" dirty="0"/>
                <a:t>Decision 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3920939815"/>
      </p:ext>
    </p:extLst>
  </p:cSld>
  <p:clrMapOvr>
    <a:masterClrMapping/>
  </p:clrMapOvr>
</p:sld>
</file>

<file path=ppt/slides/slide1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C3BC258-7D65-5569-CB7C-183F38480ED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D169D35-B486-FB4B-E180-195546DA6B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3200" dirty="0"/>
              <a:t>Value iteration: Financial application</a:t>
            </a:r>
            <a:endParaRPr lang="en-US" dirty="0"/>
          </a:p>
        </p:txBody>
      </p:sp>
      <p:sp>
        <p:nvSpPr>
          <p:cNvPr id="18" name="Text Placeholder 2">
            <a:extLst>
              <a:ext uri="{FF2B5EF4-FFF2-40B4-BE49-F238E27FC236}">
                <a16:creationId xmlns:a16="http://schemas.microsoft.com/office/drawing/2014/main" id="{16B994BD-BC6A-415D-7B43-4C05CD70BDC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54997" y="1039544"/>
            <a:ext cx="10363200" cy="4401600"/>
          </a:xfrm>
        </p:spPr>
        <p:txBody>
          <a:bodyPr/>
          <a:lstStyle/>
          <a:p>
            <a:pPr marL="86360" indent="0">
              <a:buNone/>
            </a:pPr>
            <a:r>
              <a:rPr lang="en-US" dirty="0"/>
              <a:t>Longstaff and Schwartz - Pricing an American option</a:t>
            </a:r>
          </a:p>
        </p:txBody>
      </p:sp>
      <p:grpSp>
        <p:nvGrpSpPr>
          <p:cNvPr id="21" name="Group 20">
            <a:extLst>
              <a:ext uri="{FF2B5EF4-FFF2-40B4-BE49-F238E27FC236}">
                <a16:creationId xmlns:a16="http://schemas.microsoft.com/office/drawing/2014/main" id="{AADE29AC-A041-782A-4412-64A80AF41CE8}"/>
              </a:ext>
            </a:extLst>
          </p:cNvPr>
          <p:cNvGrpSpPr/>
          <p:nvPr/>
        </p:nvGrpSpPr>
        <p:grpSpPr>
          <a:xfrm>
            <a:off x="1532117" y="1670661"/>
            <a:ext cx="8500341" cy="893597"/>
            <a:chOff x="1538602" y="2137588"/>
            <a:chExt cx="8500341" cy="893597"/>
          </a:xfrm>
        </p:grpSpPr>
        <p:grpSp>
          <p:nvGrpSpPr>
            <p:cNvPr id="48" name="Group 47">
              <a:extLst>
                <a:ext uri="{FF2B5EF4-FFF2-40B4-BE49-F238E27FC236}">
                  <a16:creationId xmlns:a16="http://schemas.microsoft.com/office/drawing/2014/main" id="{9ABFE140-121E-9E7B-A5F2-7B552B39CE60}"/>
                </a:ext>
              </a:extLst>
            </p:cNvPr>
            <p:cNvGrpSpPr/>
            <p:nvPr/>
          </p:nvGrpSpPr>
          <p:grpSpPr>
            <a:xfrm>
              <a:off x="1538602" y="2137588"/>
              <a:ext cx="2138453" cy="887107"/>
              <a:chOff x="1538602" y="2137588"/>
              <a:chExt cx="2138453" cy="887107"/>
            </a:xfrm>
          </p:grpSpPr>
          <p:sp>
            <p:nvSpPr>
              <p:cNvPr id="81" name="Oval 80">
                <a:extLst>
                  <a:ext uri="{FF2B5EF4-FFF2-40B4-BE49-F238E27FC236}">
                    <a16:creationId xmlns:a16="http://schemas.microsoft.com/office/drawing/2014/main" id="{E9C3648D-A3D4-0992-12B7-775C7A2D32AE}"/>
                  </a:ext>
                </a:extLst>
              </p:cNvPr>
              <p:cNvSpPr/>
              <p:nvPr/>
            </p:nvSpPr>
            <p:spPr>
              <a:xfrm>
                <a:off x="1544372" y="2724660"/>
                <a:ext cx="290914" cy="290914"/>
              </a:xfrm>
              <a:prstGeom prst="ellipse">
                <a:avLst/>
              </a:prstGeom>
              <a:solidFill>
                <a:schemeClr val="bg1"/>
              </a:solidFill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82" name="TextBox 81">
                <a:extLst>
                  <a:ext uri="{FF2B5EF4-FFF2-40B4-BE49-F238E27FC236}">
                    <a16:creationId xmlns:a16="http://schemas.microsoft.com/office/drawing/2014/main" id="{AFEDF2F4-1F77-B559-4CB8-6E6852A4BB17}"/>
                  </a:ext>
                </a:extLst>
              </p:cNvPr>
              <p:cNvSpPr txBox="1"/>
              <p:nvPr/>
            </p:nvSpPr>
            <p:spPr>
              <a:xfrm>
                <a:off x="1538602" y="2716918"/>
                <a:ext cx="284052" cy="30777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dirty="0"/>
                  <a:t>1</a:t>
                </a:r>
              </a:p>
            </p:txBody>
          </p:sp>
          <p:cxnSp>
            <p:nvCxnSpPr>
              <p:cNvPr id="83" name="Straight Arrow Connector 82">
                <a:extLst>
                  <a:ext uri="{FF2B5EF4-FFF2-40B4-BE49-F238E27FC236}">
                    <a16:creationId xmlns:a16="http://schemas.microsoft.com/office/drawing/2014/main" id="{93797FBD-2E81-FB51-438F-0833BB411091}"/>
                  </a:ext>
                </a:extLst>
              </p:cNvPr>
              <p:cNvCxnSpPr>
                <a:stCxn id="81" idx="6"/>
              </p:cNvCxnSpPr>
              <p:nvPr/>
            </p:nvCxnSpPr>
            <p:spPr>
              <a:xfrm>
                <a:off x="1835286" y="2870117"/>
                <a:ext cx="1841769" cy="0"/>
              </a:xfrm>
              <a:prstGeom prst="straightConnector1">
                <a:avLst/>
              </a:prstGeom>
              <a:ln w="28575">
                <a:solidFill>
                  <a:schemeClr val="tx1"/>
                </a:solidFill>
                <a:headEnd type="none" w="med" len="med"/>
                <a:tailEnd type="arrow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4" name="Straight Arrow Connector 83">
                <a:extLst>
                  <a:ext uri="{FF2B5EF4-FFF2-40B4-BE49-F238E27FC236}">
                    <a16:creationId xmlns:a16="http://schemas.microsoft.com/office/drawing/2014/main" id="{ABF132D9-A900-5715-6D1D-28BE6CD0CCE8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1847918" y="2137588"/>
                <a:ext cx="1166432" cy="739760"/>
              </a:xfrm>
              <a:prstGeom prst="straightConnector1">
                <a:avLst/>
              </a:prstGeom>
              <a:ln w="28575">
                <a:solidFill>
                  <a:schemeClr val="tx1"/>
                </a:solidFill>
                <a:headEnd type="none" w="med" len="med"/>
                <a:tailEnd type="arrow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85" name="TextBox 84">
                <a:extLst>
                  <a:ext uri="{FF2B5EF4-FFF2-40B4-BE49-F238E27FC236}">
                    <a16:creationId xmlns:a16="http://schemas.microsoft.com/office/drawing/2014/main" id="{4BDB4F6D-2004-C973-C92A-E756F7ED2706}"/>
                  </a:ext>
                </a:extLst>
              </p:cNvPr>
              <p:cNvSpPr txBox="1"/>
              <p:nvPr/>
            </p:nvSpPr>
            <p:spPr>
              <a:xfrm>
                <a:off x="2431134" y="2594757"/>
                <a:ext cx="553357" cy="30777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dirty="0"/>
                  <a:t>Hold</a:t>
                </a:r>
              </a:p>
            </p:txBody>
          </p: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86" name="TextBox 85">
                    <a:extLst>
                      <a:ext uri="{FF2B5EF4-FFF2-40B4-BE49-F238E27FC236}">
                        <a16:creationId xmlns:a16="http://schemas.microsoft.com/office/drawing/2014/main" id="{44D7E650-DFFF-9A33-9921-B07F87A50C30}"/>
                      </a:ext>
                    </a:extLst>
                  </p:cNvPr>
                  <p:cNvSpPr txBox="1"/>
                  <p:nvPr/>
                </p:nvSpPr>
                <p:spPr>
                  <a:xfrm rot="19640672">
                    <a:off x="1788240" y="2273357"/>
                    <a:ext cx="905184" cy="307777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r>
                      <a:rPr lang="en-US" dirty="0"/>
                      <a:t>Sell at </a:t>
                    </a:r>
                    <a14:m>
                      <m:oMath xmlns:m="http://schemas.openxmlformats.org/officeDocument/2006/math"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𝑝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oMath>
                    </a14:m>
                    <a:endParaRPr lang="en-US" dirty="0"/>
                  </a:p>
                </p:txBody>
              </p:sp>
            </mc:Choice>
            <mc:Fallback xmlns="">
              <p:sp>
                <p:nvSpPr>
                  <p:cNvPr id="86" name="TextBox 85">
                    <a:extLst>
                      <a:ext uri="{FF2B5EF4-FFF2-40B4-BE49-F238E27FC236}">
                        <a16:creationId xmlns:a16="http://schemas.microsoft.com/office/drawing/2014/main" id="{51D2BF2A-95EE-6362-E7EA-3BD990E9840E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 rot="19640672">
                    <a:off x="1788240" y="2273357"/>
                    <a:ext cx="905184" cy="307777"/>
                  </a:xfrm>
                  <a:prstGeom prst="rect">
                    <a:avLst/>
                  </a:prstGeom>
                  <a:blipFill>
                    <a:blip r:embed="rId3"/>
                    <a:stretch>
                      <a:fillRect l="-1961" b="-8130"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  <p:grpSp>
          <p:nvGrpSpPr>
            <p:cNvPr id="60" name="Group 59">
              <a:extLst>
                <a:ext uri="{FF2B5EF4-FFF2-40B4-BE49-F238E27FC236}">
                  <a16:creationId xmlns:a16="http://schemas.microsoft.com/office/drawing/2014/main" id="{B79FFA17-0B19-B1BE-91B9-1DBF3DEC2015}"/>
                </a:ext>
              </a:extLst>
            </p:cNvPr>
            <p:cNvGrpSpPr/>
            <p:nvPr/>
          </p:nvGrpSpPr>
          <p:grpSpPr>
            <a:xfrm>
              <a:off x="3655991" y="2140833"/>
              <a:ext cx="2138453" cy="887107"/>
              <a:chOff x="1538602" y="2137588"/>
              <a:chExt cx="2138453" cy="887107"/>
            </a:xfrm>
          </p:grpSpPr>
          <p:sp>
            <p:nvSpPr>
              <p:cNvPr id="75" name="Oval 74">
                <a:extLst>
                  <a:ext uri="{FF2B5EF4-FFF2-40B4-BE49-F238E27FC236}">
                    <a16:creationId xmlns:a16="http://schemas.microsoft.com/office/drawing/2014/main" id="{882DFB93-A5B2-DF4D-7BB6-CB1A2BE7D00C}"/>
                  </a:ext>
                </a:extLst>
              </p:cNvPr>
              <p:cNvSpPr/>
              <p:nvPr/>
            </p:nvSpPr>
            <p:spPr>
              <a:xfrm>
                <a:off x="1544372" y="2724660"/>
                <a:ext cx="290914" cy="290914"/>
              </a:xfrm>
              <a:prstGeom prst="ellipse">
                <a:avLst/>
              </a:prstGeom>
              <a:solidFill>
                <a:schemeClr val="bg1"/>
              </a:solidFill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76" name="TextBox 75">
                <a:extLst>
                  <a:ext uri="{FF2B5EF4-FFF2-40B4-BE49-F238E27FC236}">
                    <a16:creationId xmlns:a16="http://schemas.microsoft.com/office/drawing/2014/main" id="{DCD41292-B738-B061-2B3D-850DE8D67F42}"/>
                  </a:ext>
                </a:extLst>
              </p:cNvPr>
              <p:cNvSpPr txBox="1"/>
              <p:nvPr/>
            </p:nvSpPr>
            <p:spPr>
              <a:xfrm>
                <a:off x="1538602" y="2716918"/>
                <a:ext cx="284052" cy="30777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dirty="0"/>
                  <a:t>2</a:t>
                </a:r>
              </a:p>
            </p:txBody>
          </p:sp>
          <p:cxnSp>
            <p:nvCxnSpPr>
              <p:cNvPr id="77" name="Straight Arrow Connector 76">
                <a:extLst>
                  <a:ext uri="{FF2B5EF4-FFF2-40B4-BE49-F238E27FC236}">
                    <a16:creationId xmlns:a16="http://schemas.microsoft.com/office/drawing/2014/main" id="{FF6F4978-BC5D-63BD-B123-CCBF87D96CC3}"/>
                  </a:ext>
                </a:extLst>
              </p:cNvPr>
              <p:cNvCxnSpPr>
                <a:stCxn id="75" idx="6"/>
              </p:cNvCxnSpPr>
              <p:nvPr/>
            </p:nvCxnSpPr>
            <p:spPr>
              <a:xfrm>
                <a:off x="1835286" y="2870117"/>
                <a:ext cx="1841769" cy="0"/>
              </a:xfrm>
              <a:prstGeom prst="straightConnector1">
                <a:avLst/>
              </a:prstGeom>
              <a:ln w="28575">
                <a:solidFill>
                  <a:schemeClr val="tx1"/>
                </a:solidFill>
                <a:headEnd type="none" w="med" len="med"/>
                <a:tailEnd type="arrow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8" name="Straight Arrow Connector 77">
                <a:extLst>
                  <a:ext uri="{FF2B5EF4-FFF2-40B4-BE49-F238E27FC236}">
                    <a16:creationId xmlns:a16="http://schemas.microsoft.com/office/drawing/2014/main" id="{38EC013E-052A-6F34-1EC4-373ED56D22FE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1847918" y="2137588"/>
                <a:ext cx="1166432" cy="739760"/>
              </a:xfrm>
              <a:prstGeom prst="straightConnector1">
                <a:avLst/>
              </a:prstGeom>
              <a:ln w="28575">
                <a:solidFill>
                  <a:schemeClr val="tx1"/>
                </a:solidFill>
                <a:headEnd type="none" w="med" len="med"/>
                <a:tailEnd type="arrow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79" name="TextBox 78">
                <a:extLst>
                  <a:ext uri="{FF2B5EF4-FFF2-40B4-BE49-F238E27FC236}">
                    <a16:creationId xmlns:a16="http://schemas.microsoft.com/office/drawing/2014/main" id="{633368A0-10DC-8223-5C54-FFDE438656BD}"/>
                  </a:ext>
                </a:extLst>
              </p:cNvPr>
              <p:cNvSpPr txBox="1"/>
              <p:nvPr/>
            </p:nvSpPr>
            <p:spPr>
              <a:xfrm>
                <a:off x="2431134" y="2594757"/>
                <a:ext cx="553357" cy="30777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dirty="0"/>
                  <a:t>Hold</a:t>
                </a:r>
              </a:p>
            </p:txBody>
          </p: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80" name="TextBox 79">
                    <a:extLst>
                      <a:ext uri="{FF2B5EF4-FFF2-40B4-BE49-F238E27FC236}">
                        <a16:creationId xmlns:a16="http://schemas.microsoft.com/office/drawing/2014/main" id="{2DDC9B6D-55AA-72C2-9059-5567996E6224}"/>
                      </a:ext>
                    </a:extLst>
                  </p:cNvPr>
                  <p:cNvSpPr txBox="1"/>
                  <p:nvPr/>
                </p:nvSpPr>
                <p:spPr>
                  <a:xfrm rot="19640672">
                    <a:off x="1786156" y="2273357"/>
                    <a:ext cx="909352" cy="307777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r>
                      <a:rPr lang="en-US" dirty="0"/>
                      <a:t>Sell at </a:t>
                    </a:r>
                    <a14:m>
                      <m:oMath xmlns:m="http://schemas.openxmlformats.org/officeDocument/2006/math"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𝑝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oMath>
                    </a14:m>
                    <a:endParaRPr lang="en-US" dirty="0"/>
                  </a:p>
                </p:txBody>
              </p:sp>
            </mc:Choice>
            <mc:Fallback xmlns="">
              <p:sp>
                <p:nvSpPr>
                  <p:cNvPr id="80" name="TextBox 79">
                    <a:extLst>
                      <a:ext uri="{FF2B5EF4-FFF2-40B4-BE49-F238E27FC236}">
                        <a16:creationId xmlns:a16="http://schemas.microsoft.com/office/drawing/2014/main" id="{8F9E8D89-B5C4-2686-521E-3BAF6B13DC90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 rot="19640672">
                    <a:off x="1786156" y="2273357"/>
                    <a:ext cx="909352" cy="307777"/>
                  </a:xfrm>
                  <a:prstGeom prst="rect">
                    <a:avLst/>
                  </a:prstGeom>
                  <a:blipFill>
                    <a:blip r:embed="rId4"/>
                    <a:stretch>
                      <a:fillRect l="-1948" b="-7258"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  <p:grpSp>
          <p:nvGrpSpPr>
            <p:cNvPr id="61" name="Group 60">
              <a:extLst>
                <a:ext uri="{FF2B5EF4-FFF2-40B4-BE49-F238E27FC236}">
                  <a16:creationId xmlns:a16="http://schemas.microsoft.com/office/drawing/2014/main" id="{5FA30C8F-DF7E-F90E-BFC9-8560C3B515BF}"/>
                </a:ext>
              </a:extLst>
            </p:cNvPr>
            <p:cNvGrpSpPr/>
            <p:nvPr/>
          </p:nvGrpSpPr>
          <p:grpSpPr>
            <a:xfrm>
              <a:off x="5783101" y="2140833"/>
              <a:ext cx="2138453" cy="887107"/>
              <a:chOff x="1538602" y="2137588"/>
              <a:chExt cx="2138453" cy="887107"/>
            </a:xfrm>
          </p:grpSpPr>
          <p:sp>
            <p:nvSpPr>
              <p:cNvPr id="69" name="Oval 68">
                <a:extLst>
                  <a:ext uri="{FF2B5EF4-FFF2-40B4-BE49-F238E27FC236}">
                    <a16:creationId xmlns:a16="http://schemas.microsoft.com/office/drawing/2014/main" id="{5EE90239-9C0C-A0D7-066D-5852D8E5B046}"/>
                  </a:ext>
                </a:extLst>
              </p:cNvPr>
              <p:cNvSpPr/>
              <p:nvPr/>
            </p:nvSpPr>
            <p:spPr>
              <a:xfrm>
                <a:off x="1544372" y="2724660"/>
                <a:ext cx="290914" cy="290914"/>
              </a:xfrm>
              <a:prstGeom prst="ellipse">
                <a:avLst/>
              </a:prstGeom>
              <a:solidFill>
                <a:schemeClr val="bg1"/>
              </a:solidFill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70" name="TextBox 69">
                <a:extLst>
                  <a:ext uri="{FF2B5EF4-FFF2-40B4-BE49-F238E27FC236}">
                    <a16:creationId xmlns:a16="http://schemas.microsoft.com/office/drawing/2014/main" id="{B018A7B2-D75B-7487-5D6A-9070A0D50E5E}"/>
                  </a:ext>
                </a:extLst>
              </p:cNvPr>
              <p:cNvSpPr txBox="1"/>
              <p:nvPr/>
            </p:nvSpPr>
            <p:spPr>
              <a:xfrm>
                <a:off x="1538602" y="2716918"/>
                <a:ext cx="284052" cy="30777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dirty="0"/>
                  <a:t>3</a:t>
                </a:r>
              </a:p>
            </p:txBody>
          </p:sp>
          <p:cxnSp>
            <p:nvCxnSpPr>
              <p:cNvPr id="71" name="Straight Arrow Connector 70">
                <a:extLst>
                  <a:ext uri="{FF2B5EF4-FFF2-40B4-BE49-F238E27FC236}">
                    <a16:creationId xmlns:a16="http://schemas.microsoft.com/office/drawing/2014/main" id="{E21FBD66-9707-4470-E207-D2DA886208FF}"/>
                  </a:ext>
                </a:extLst>
              </p:cNvPr>
              <p:cNvCxnSpPr>
                <a:stCxn id="69" idx="6"/>
              </p:cNvCxnSpPr>
              <p:nvPr/>
            </p:nvCxnSpPr>
            <p:spPr>
              <a:xfrm>
                <a:off x="1835286" y="2870117"/>
                <a:ext cx="1841769" cy="0"/>
              </a:xfrm>
              <a:prstGeom prst="straightConnector1">
                <a:avLst/>
              </a:prstGeom>
              <a:ln w="28575">
                <a:solidFill>
                  <a:schemeClr val="tx1"/>
                </a:solidFill>
                <a:headEnd type="none" w="med" len="med"/>
                <a:tailEnd type="arrow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2" name="Straight Arrow Connector 71">
                <a:extLst>
                  <a:ext uri="{FF2B5EF4-FFF2-40B4-BE49-F238E27FC236}">
                    <a16:creationId xmlns:a16="http://schemas.microsoft.com/office/drawing/2014/main" id="{43B22370-DF34-1D3D-D9F2-6B4A6F9D46E7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1847918" y="2137588"/>
                <a:ext cx="1166432" cy="739760"/>
              </a:xfrm>
              <a:prstGeom prst="straightConnector1">
                <a:avLst/>
              </a:prstGeom>
              <a:ln w="28575">
                <a:solidFill>
                  <a:schemeClr val="tx1"/>
                </a:solidFill>
                <a:headEnd type="none" w="med" len="med"/>
                <a:tailEnd type="arrow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73" name="TextBox 72">
                <a:extLst>
                  <a:ext uri="{FF2B5EF4-FFF2-40B4-BE49-F238E27FC236}">
                    <a16:creationId xmlns:a16="http://schemas.microsoft.com/office/drawing/2014/main" id="{DA8F1689-C9F5-44E0-B381-3C18E91C6C30}"/>
                  </a:ext>
                </a:extLst>
              </p:cNvPr>
              <p:cNvSpPr txBox="1"/>
              <p:nvPr/>
            </p:nvSpPr>
            <p:spPr>
              <a:xfrm>
                <a:off x="2431134" y="2594757"/>
                <a:ext cx="553357" cy="30777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dirty="0"/>
                  <a:t>Hold</a:t>
                </a:r>
              </a:p>
            </p:txBody>
          </p: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74" name="TextBox 73">
                    <a:extLst>
                      <a:ext uri="{FF2B5EF4-FFF2-40B4-BE49-F238E27FC236}">
                        <a16:creationId xmlns:a16="http://schemas.microsoft.com/office/drawing/2014/main" id="{AF8195A1-814C-8D92-BC31-041FE3ADB550}"/>
                      </a:ext>
                    </a:extLst>
                  </p:cNvPr>
                  <p:cNvSpPr txBox="1"/>
                  <p:nvPr/>
                </p:nvSpPr>
                <p:spPr>
                  <a:xfrm rot="19640672">
                    <a:off x="1786156" y="2273357"/>
                    <a:ext cx="909352" cy="307777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r>
                      <a:rPr lang="en-US" dirty="0"/>
                      <a:t>Sell at </a:t>
                    </a:r>
                    <a14:m>
                      <m:oMath xmlns:m="http://schemas.openxmlformats.org/officeDocument/2006/math"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𝑝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3</m:t>
                            </m:r>
                          </m:sub>
                        </m:sSub>
                      </m:oMath>
                    </a14:m>
                    <a:endParaRPr lang="en-US" dirty="0"/>
                  </a:p>
                </p:txBody>
              </p:sp>
            </mc:Choice>
            <mc:Fallback xmlns="">
              <p:sp>
                <p:nvSpPr>
                  <p:cNvPr id="74" name="TextBox 73">
                    <a:extLst>
                      <a:ext uri="{FF2B5EF4-FFF2-40B4-BE49-F238E27FC236}">
                        <a16:creationId xmlns:a16="http://schemas.microsoft.com/office/drawing/2014/main" id="{9474491E-B362-B7C4-1B10-B562F47662F2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 rot="19640672">
                    <a:off x="1786156" y="2273357"/>
                    <a:ext cx="909352" cy="307777"/>
                  </a:xfrm>
                  <a:prstGeom prst="rect">
                    <a:avLst/>
                  </a:prstGeom>
                  <a:blipFill>
                    <a:blip r:embed="rId5"/>
                    <a:stretch>
                      <a:fillRect l="-1948" b="-7258"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  <p:grpSp>
          <p:nvGrpSpPr>
            <p:cNvPr id="62" name="Group 61">
              <a:extLst>
                <a:ext uri="{FF2B5EF4-FFF2-40B4-BE49-F238E27FC236}">
                  <a16:creationId xmlns:a16="http://schemas.microsoft.com/office/drawing/2014/main" id="{0F3C6B11-9616-EBDD-A8D6-6BB1F5106412}"/>
                </a:ext>
              </a:extLst>
            </p:cNvPr>
            <p:cNvGrpSpPr/>
            <p:nvPr/>
          </p:nvGrpSpPr>
          <p:grpSpPr>
            <a:xfrm>
              <a:off x="7900490" y="2144078"/>
              <a:ext cx="2138453" cy="887107"/>
              <a:chOff x="1538602" y="2137588"/>
              <a:chExt cx="2138453" cy="887107"/>
            </a:xfrm>
          </p:grpSpPr>
          <p:sp>
            <p:nvSpPr>
              <p:cNvPr id="63" name="Oval 62">
                <a:extLst>
                  <a:ext uri="{FF2B5EF4-FFF2-40B4-BE49-F238E27FC236}">
                    <a16:creationId xmlns:a16="http://schemas.microsoft.com/office/drawing/2014/main" id="{D425783C-4259-04C7-2395-092352CE90B4}"/>
                  </a:ext>
                </a:extLst>
              </p:cNvPr>
              <p:cNvSpPr/>
              <p:nvPr/>
            </p:nvSpPr>
            <p:spPr>
              <a:xfrm>
                <a:off x="1544372" y="2724660"/>
                <a:ext cx="290914" cy="290914"/>
              </a:xfrm>
              <a:prstGeom prst="ellipse">
                <a:avLst/>
              </a:prstGeom>
              <a:solidFill>
                <a:schemeClr val="bg1"/>
              </a:solidFill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64" name="TextBox 63">
                <a:extLst>
                  <a:ext uri="{FF2B5EF4-FFF2-40B4-BE49-F238E27FC236}">
                    <a16:creationId xmlns:a16="http://schemas.microsoft.com/office/drawing/2014/main" id="{08A91BCA-6D21-8A44-4A16-60B51AC3E7A4}"/>
                  </a:ext>
                </a:extLst>
              </p:cNvPr>
              <p:cNvSpPr txBox="1"/>
              <p:nvPr/>
            </p:nvSpPr>
            <p:spPr>
              <a:xfrm>
                <a:off x="1538602" y="2716918"/>
                <a:ext cx="284052" cy="30777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dirty="0"/>
                  <a:t>4</a:t>
                </a:r>
              </a:p>
            </p:txBody>
          </p:sp>
          <p:cxnSp>
            <p:nvCxnSpPr>
              <p:cNvPr id="65" name="Straight Arrow Connector 64">
                <a:extLst>
                  <a:ext uri="{FF2B5EF4-FFF2-40B4-BE49-F238E27FC236}">
                    <a16:creationId xmlns:a16="http://schemas.microsoft.com/office/drawing/2014/main" id="{F8E83623-A788-9BD0-CFFD-D19B911D7AE9}"/>
                  </a:ext>
                </a:extLst>
              </p:cNvPr>
              <p:cNvCxnSpPr>
                <a:stCxn id="63" idx="6"/>
              </p:cNvCxnSpPr>
              <p:nvPr/>
            </p:nvCxnSpPr>
            <p:spPr>
              <a:xfrm>
                <a:off x="1835286" y="2870117"/>
                <a:ext cx="1841769" cy="0"/>
              </a:xfrm>
              <a:prstGeom prst="straightConnector1">
                <a:avLst/>
              </a:prstGeom>
              <a:ln w="28575">
                <a:solidFill>
                  <a:schemeClr val="tx1"/>
                </a:solidFill>
                <a:headEnd type="none" w="med" len="med"/>
                <a:tailEnd type="arrow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6" name="Straight Arrow Connector 65">
                <a:extLst>
                  <a:ext uri="{FF2B5EF4-FFF2-40B4-BE49-F238E27FC236}">
                    <a16:creationId xmlns:a16="http://schemas.microsoft.com/office/drawing/2014/main" id="{55FFCCCC-536F-7048-E6A5-D4B2EF3E73BE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1847918" y="2137588"/>
                <a:ext cx="1166432" cy="739760"/>
              </a:xfrm>
              <a:prstGeom prst="straightConnector1">
                <a:avLst/>
              </a:prstGeom>
              <a:ln w="28575">
                <a:solidFill>
                  <a:schemeClr val="tx1"/>
                </a:solidFill>
                <a:headEnd type="none" w="med" len="med"/>
                <a:tailEnd type="arrow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67" name="TextBox 66">
                <a:extLst>
                  <a:ext uri="{FF2B5EF4-FFF2-40B4-BE49-F238E27FC236}">
                    <a16:creationId xmlns:a16="http://schemas.microsoft.com/office/drawing/2014/main" id="{7ED921A6-BE11-DD7F-2DA0-282606C28FED}"/>
                  </a:ext>
                </a:extLst>
              </p:cNvPr>
              <p:cNvSpPr txBox="1"/>
              <p:nvPr/>
            </p:nvSpPr>
            <p:spPr>
              <a:xfrm>
                <a:off x="2431134" y="2594757"/>
                <a:ext cx="553357" cy="30777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dirty="0"/>
                  <a:t>Hold</a:t>
                </a:r>
              </a:p>
            </p:txBody>
          </p: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68" name="TextBox 67">
                    <a:extLst>
                      <a:ext uri="{FF2B5EF4-FFF2-40B4-BE49-F238E27FC236}">
                        <a16:creationId xmlns:a16="http://schemas.microsoft.com/office/drawing/2014/main" id="{85620BB4-B7FF-A7F3-FDC9-38F587FB51CF}"/>
                      </a:ext>
                    </a:extLst>
                  </p:cNvPr>
                  <p:cNvSpPr txBox="1"/>
                  <p:nvPr/>
                </p:nvSpPr>
                <p:spPr>
                  <a:xfrm rot="19640672">
                    <a:off x="1786798" y="2273357"/>
                    <a:ext cx="908069" cy="307777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r>
                      <a:rPr lang="en-US" dirty="0"/>
                      <a:t>Sell at </a:t>
                    </a:r>
                    <a14:m>
                      <m:oMath xmlns:m="http://schemas.openxmlformats.org/officeDocument/2006/math"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𝑝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4</m:t>
                            </m:r>
                          </m:sub>
                        </m:sSub>
                      </m:oMath>
                    </a14:m>
                    <a:endParaRPr lang="en-US" dirty="0"/>
                  </a:p>
                </p:txBody>
              </p:sp>
            </mc:Choice>
            <mc:Fallback xmlns="">
              <p:sp>
                <p:nvSpPr>
                  <p:cNvPr id="68" name="TextBox 67">
                    <a:extLst>
                      <a:ext uri="{FF2B5EF4-FFF2-40B4-BE49-F238E27FC236}">
                        <a16:creationId xmlns:a16="http://schemas.microsoft.com/office/drawing/2014/main" id="{A871009B-A45B-1571-5D69-4B1024723EC4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 rot="19640672">
                    <a:off x="1786798" y="2273357"/>
                    <a:ext cx="908069" cy="307777"/>
                  </a:xfrm>
                  <a:prstGeom prst="rect">
                    <a:avLst/>
                  </a:prstGeom>
                  <a:blipFill>
                    <a:blip r:embed="rId6"/>
                    <a:stretch>
                      <a:fillRect l="-1299" b="-7258"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</p:grpSp>
      <p:grpSp>
        <p:nvGrpSpPr>
          <p:cNvPr id="5" name="Group 4">
            <a:extLst>
              <a:ext uri="{FF2B5EF4-FFF2-40B4-BE49-F238E27FC236}">
                <a16:creationId xmlns:a16="http://schemas.microsoft.com/office/drawing/2014/main" id="{1CAB4022-FB0D-E7FA-E40D-4A998279D8F4}"/>
              </a:ext>
            </a:extLst>
          </p:cNvPr>
          <p:cNvGrpSpPr/>
          <p:nvPr/>
        </p:nvGrpSpPr>
        <p:grpSpPr>
          <a:xfrm>
            <a:off x="4506663" y="2787519"/>
            <a:ext cx="3629538" cy="2940096"/>
            <a:chOff x="2287338" y="2797044"/>
            <a:chExt cx="3629538" cy="2940096"/>
          </a:xfrm>
        </p:grpSpPr>
        <p:pic>
          <p:nvPicPr>
            <p:cNvPr id="6" name="Picture 5">
              <a:extLst>
                <a:ext uri="{FF2B5EF4-FFF2-40B4-BE49-F238E27FC236}">
                  <a16:creationId xmlns:a16="http://schemas.microsoft.com/office/drawing/2014/main" id="{1C7794FA-E635-A52B-4E01-ABE508747746}"/>
                </a:ext>
              </a:extLst>
            </p:cNvPr>
            <p:cNvPicPr>
              <a:picLocks noChangeAspect="1"/>
            </p:cNvPicPr>
            <p:nvPr/>
          </p:nvPicPr>
          <p:blipFill>
            <a:blip r:embed="rId7"/>
            <a:srcRect t="35271"/>
            <a:stretch/>
          </p:blipFill>
          <p:spPr>
            <a:xfrm>
              <a:off x="2287338" y="3382110"/>
              <a:ext cx="3629538" cy="2355030"/>
            </a:xfrm>
            <a:prstGeom prst="rect">
              <a:avLst/>
            </a:prstGeom>
          </p:spPr>
        </p:pic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16ABE1AB-E282-14F1-A9E8-00C03B3C634C}"/>
                </a:ext>
              </a:extLst>
            </p:cNvPr>
            <p:cNvSpPr txBox="1"/>
            <p:nvPr/>
          </p:nvSpPr>
          <p:spPr>
            <a:xfrm>
              <a:off x="2321079" y="3105111"/>
              <a:ext cx="2978701" cy="276999"/>
            </a:xfrm>
            <a:prstGeom prst="rect">
              <a:avLst/>
            </a:prstGeom>
            <a:solidFill>
              <a:schemeClr val="bg1"/>
            </a:solidFill>
          </p:spPr>
          <p:txBody>
            <a:bodyPr wrap="none" rtlCol="0">
              <a:spAutoFit/>
            </a:bodyPr>
            <a:lstStyle/>
            <a:p>
              <a:r>
                <a:rPr lang="en-US" sz="1200" dirty="0"/>
                <a:t>Outcome       Sell                          Hold    </a:t>
              </a:r>
            </a:p>
          </p:txBody>
        </p:sp>
        <p:cxnSp>
          <p:nvCxnSpPr>
            <p:cNvPr id="8" name="Straight Connector 7">
              <a:extLst>
                <a:ext uri="{FF2B5EF4-FFF2-40B4-BE49-F238E27FC236}">
                  <a16:creationId xmlns:a16="http://schemas.microsoft.com/office/drawing/2014/main" id="{C9BA5BA5-2B0C-8564-CFF0-4C283FB6BF3A}"/>
                </a:ext>
              </a:extLst>
            </p:cNvPr>
            <p:cNvCxnSpPr/>
            <p:nvPr/>
          </p:nvCxnSpPr>
          <p:spPr>
            <a:xfrm>
              <a:off x="3320376" y="3101871"/>
              <a:ext cx="2148927" cy="0"/>
            </a:xfrm>
            <a:prstGeom prst="line">
              <a:avLst/>
            </a:prstGeom>
            <a:ln w="19050">
              <a:solidFill>
                <a:schemeClr val="tx1"/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26DE3122-6B04-B2B4-5D62-96AA11B6552B}"/>
                </a:ext>
              </a:extLst>
            </p:cNvPr>
            <p:cNvSpPr txBox="1"/>
            <p:nvPr/>
          </p:nvSpPr>
          <p:spPr>
            <a:xfrm>
              <a:off x="4062937" y="2797044"/>
              <a:ext cx="814647" cy="276999"/>
            </a:xfrm>
            <a:prstGeom prst="rect">
              <a:avLst/>
            </a:prstGeom>
            <a:solidFill>
              <a:schemeClr val="bg1"/>
            </a:solidFill>
          </p:spPr>
          <p:txBody>
            <a:bodyPr wrap="none" rtlCol="0">
              <a:spAutoFit/>
            </a:bodyPr>
            <a:lstStyle/>
            <a:p>
              <a:r>
                <a:rPr lang="en-US" sz="1200" dirty="0"/>
                <a:t>Decision 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238362674"/>
      </p:ext>
    </p:extLst>
  </p:cSld>
  <p:clrMapOvr>
    <a:masterClrMapping/>
  </p:clrMapOvr>
</p:sld>
</file>

<file path=ppt/slides/slide1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0DEF285-0FD6-D008-842F-3070E8A4B79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0B4EFCD-40A5-2036-31EE-34D981B5788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3200" dirty="0"/>
              <a:t>Value iteration: Financial application</a:t>
            </a:r>
            <a:endParaRPr lang="en-US" dirty="0"/>
          </a:p>
        </p:txBody>
      </p:sp>
      <p:sp>
        <p:nvSpPr>
          <p:cNvPr id="18" name="Text Placeholder 2">
            <a:extLst>
              <a:ext uri="{FF2B5EF4-FFF2-40B4-BE49-F238E27FC236}">
                <a16:creationId xmlns:a16="http://schemas.microsoft.com/office/drawing/2014/main" id="{D03EFA90-54C9-0ACC-47CE-041B0D596D5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54997" y="1039544"/>
            <a:ext cx="10363200" cy="4401600"/>
          </a:xfrm>
        </p:spPr>
        <p:txBody>
          <a:bodyPr/>
          <a:lstStyle/>
          <a:p>
            <a:pPr marL="86360" indent="0">
              <a:buNone/>
            </a:pPr>
            <a:r>
              <a:rPr lang="en-US" dirty="0"/>
              <a:t>Longstaff and Schwartz - Pricing an American option</a:t>
            </a:r>
          </a:p>
        </p:txBody>
      </p:sp>
      <p:grpSp>
        <p:nvGrpSpPr>
          <p:cNvPr id="21" name="Group 20">
            <a:extLst>
              <a:ext uri="{FF2B5EF4-FFF2-40B4-BE49-F238E27FC236}">
                <a16:creationId xmlns:a16="http://schemas.microsoft.com/office/drawing/2014/main" id="{4D3AF2A4-368E-A0B7-A2A1-A8B7DB32534D}"/>
              </a:ext>
            </a:extLst>
          </p:cNvPr>
          <p:cNvGrpSpPr/>
          <p:nvPr/>
        </p:nvGrpSpPr>
        <p:grpSpPr>
          <a:xfrm>
            <a:off x="1532117" y="1670661"/>
            <a:ext cx="8500341" cy="893597"/>
            <a:chOff x="1538602" y="2137588"/>
            <a:chExt cx="8500341" cy="893597"/>
          </a:xfrm>
        </p:grpSpPr>
        <p:grpSp>
          <p:nvGrpSpPr>
            <p:cNvPr id="48" name="Group 47">
              <a:extLst>
                <a:ext uri="{FF2B5EF4-FFF2-40B4-BE49-F238E27FC236}">
                  <a16:creationId xmlns:a16="http://schemas.microsoft.com/office/drawing/2014/main" id="{2A90D58C-0DA1-BC06-5BF2-C22634E2B5A3}"/>
                </a:ext>
              </a:extLst>
            </p:cNvPr>
            <p:cNvGrpSpPr/>
            <p:nvPr/>
          </p:nvGrpSpPr>
          <p:grpSpPr>
            <a:xfrm>
              <a:off x="1538602" y="2137588"/>
              <a:ext cx="2138453" cy="887107"/>
              <a:chOff x="1538602" y="2137588"/>
              <a:chExt cx="2138453" cy="887107"/>
            </a:xfrm>
          </p:grpSpPr>
          <p:sp>
            <p:nvSpPr>
              <p:cNvPr id="81" name="Oval 80">
                <a:extLst>
                  <a:ext uri="{FF2B5EF4-FFF2-40B4-BE49-F238E27FC236}">
                    <a16:creationId xmlns:a16="http://schemas.microsoft.com/office/drawing/2014/main" id="{7DA8FA02-2F26-48DF-BABD-12745BC7379E}"/>
                  </a:ext>
                </a:extLst>
              </p:cNvPr>
              <p:cNvSpPr/>
              <p:nvPr/>
            </p:nvSpPr>
            <p:spPr>
              <a:xfrm>
                <a:off x="1544372" y="2724660"/>
                <a:ext cx="290914" cy="290914"/>
              </a:xfrm>
              <a:prstGeom prst="ellipse">
                <a:avLst/>
              </a:prstGeom>
              <a:solidFill>
                <a:schemeClr val="bg1"/>
              </a:solidFill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82" name="TextBox 81">
                <a:extLst>
                  <a:ext uri="{FF2B5EF4-FFF2-40B4-BE49-F238E27FC236}">
                    <a16:creationId xmlns:a16="http://schemas.microsoft.com/office/drawing/2014/main" id="{C76F4D70-7A4A-3856-C50F-727023940784}"/>
                  </a:ext>
                </a:extLst>
              </p:cNvPr>
              <p:cNvSpPr txBox="1"/>
              <p:nvPr/>
            </p:nvSpPr>
            <p:spPr>
              <a:xfrm>
                <a:off x="1538602" y="2716918"/>
                <a:ext cx="284052" cy="30777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dirty="0"/>
                  <a:t>1</a:t>
                </a:r>
              </a:p>
            </p:txBody>
          </p:sp>
          <p:cxnSp>
            <p:nvCxnSpPr>
              <p:cNvPr id="83" name="Straight Arrow Connector 82">
                <a:extLst>
                  <a:ext uri="{FF2B5EF4-FFF2-40B4-BE49-F238E27FC236}">
                    <a16:creationId xmlns:a16="http://schemas.microsoft.com/office/drawing/2014/main" id="{50943A58-A181-F5E4-7D09-28B0CA7CF2A0}"/>
                  </a:ext>
                </a:extLst>
              </p:cNvPr>
              <p:cNvCxnSpPr>
                <a:stCxn id="81" idx="6"/>
              </p:cNvCxnSpPr>
              <p:nvPr/>
            </p:nvCxnSpPr>
            <p:spPr>
              <a:xfrm>
                <a:off x="1835286" y="2870117"/>
                <a:ext cx="1841769" cy="0"/>
              </a:xfrm>
              <a:prstGeom prst="straightConnector1">
                <a:avLst/>
              </a:prstGeom>
              <a:ln w="28575">
                <a:solidFill>
                  <a:schemeClr val="tx1"/>
                </a:solidFill>
                <a:headEnd type="none" w="med" len="med"/>
                <a:tailEnd type="arrow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4" name="Straight Arrow Connector 83">
                <a:extLst>
                  <a:ext uri="{FF2B5EF4-FFF2-40B4-BE49-F238E27FC236}">
                    <a16:creationId xmlns:a16="http://schemas.microsoft.com/office/drawing/2014/main" id="{E099CC67-6D2E-883A-B169-38FC25EDF924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1847918" y="2137588"/>
                <a:ext cx="1166432" cy="739760"/>
              </a:xfrm>
              <a:prstGeom prst="straightConnector1">
                <a:avLst/>
              </a:prstGeom>
              <a:ln w="28575">
                <a:solidFill>
                  <a:schemeClr val="tx1"/>
                </a:solidFill>
                <a:headEnd type="none" w="med" len="med"/>
                <a:tailEnd type="arrow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85" name="TextBox 84">
                <a:extLst>
                  <a:ext uri="{FF2B5EF4-FFF2-40B4-BE49-F238E27FC236}">
                    <a16:creationId xmlns:a16="http://schemas.microsoft.com/office/drawing/2014/main" id="{CCF727B0-D055-4F74-3056-004741792119}"/>
                  </a:ext>
                </a:extLst>
              </p:cNvPr>
              <p:cNvSpPr txBox="1"/>
              <p:nvPr/>
            </p:nvSpPr>
            <p:spPr>
              <a:xfrm>
                <a:off x="2431134" y="2594757"/>
                <a:ext cx="553357" cy="30777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dirty="0"/>
                  <a:t>Hold</a:t>
                </a:r>
              </a:p>
            </p:txBody>
          </p: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86" name="TextBox 85">
                    <a:extLst>
                      <a:ext uri="{FF2B5EF4-FFF2-40B4-BE49-F238E27FC236}">
                        <a16:creationId xmlns:a16="http://schemas.microsoft.com/office/drawing/2014/main" id="{93FD7C02-8C0E-3D4F-E30E-FA2E1C2115CC}"/>
                      </a:ext>
                    </a:extLst>
                  </p:cNvPr>
                  <p:cNvSpPr txBox="1"/>
                  <p:nvPr/>
                </p:nvSpPr>
                <p:spPr>
                  <a:xfrm rot="19640672">
                    <a:off x="1788240" y="2273357"/>
                    <a:ext cx="905184" cy="307777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r>
                      <a:rPr lang="en-US" dirty="0"/>
                      <a:t>Sell at </a:t>
                    </a:r>
                    <a14:m>
                      <m:oMath xmlns:m="http://schemas.openxmlformats.org/officeDocument/2006/math"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𝑝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oMath>
                    </a14:m>
                    <a:endParaRPr lang="en-US" dirty="0"/>
                  </a:p>
                </p:txBody>
              </p:sp>
            </mc:Choice>
            <mc:Fallback xmlns="">
              <p:sp>
                <p:nvSpPr>
                  <p:cNvPr id="86" name="TextBox 85">
                    <a:extLst>
                      <a:ext uri="{FF2B5EF4-FFF2-40B4-BE49-F238E27FC236}">
                        <a16:creationId xmlns:a16="http://schemas.microsoft.com/office/drawing/2014/main" id="{51D2BF2A-95EE-6362-E7EA-3BD990E9840E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 rot="19640672">
                    <a:off x="1788240" y="2273357"/>
                    <a:ext cx="905184" cy="307777"/>
                  </a:xfrm>
                  <a:prstGeom prst="rect">
                    <a:avLst/>
                  </a:prstGeom>
                  <a:blipFill>
                    <a:blip r:embed="rId3"/>
                    <a:stretch>
                      <a:fillRect l="-1961" b="-8130"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  <p:grpSp>
          <p:nvGrpSpPr>
            <p:cNvPr id="60" name="Group 59">
              <a:extLst>
                <a:ext uri="{FF2B5EF4-FFF2-40B4-BE49-F238E27FC236}">
                  <a16:creationId xmlns:a16="http://schemas.microsoft.com/office/drawing/2014/main" id="{91C34DD4-E459-B126-38C4-0D4F3451CAB1}"/>
                </a:ext>
              </a:extLst>
            </p:cNvPr>
            <p:cNvGrpSpPr/>
            <p:nvPr/>
          </p:nvGrpSpPr>
          <p:grpSpPr>
            <a:xfrm>
              <a:off x="3655991" y="2140833"/>
              <a:ext cx="2138453" cy="887107"/>
              <a:chOff x="1538602" y="2137588"/>
              <a:chExt cx="2138453" cy="887107"/>
            </a:xfrm>
          </p:grpSpPr>
          <p:sp>
            <p:nvSpPr>
              <p:cNvPr id="75" name="Oval 74">
                <a:extLst>
                  <a:ext uri="{FF2B5EF4-FFF2-40B4-BE49-F238E27FC236}">
                    <a16:creationId xmlns:a16="http://schemas.microsoft.com/office/drawing/2014/main" id="{995A9740-BAF0-8254-D41A-3D3C7DC0CF2C}"/>
                  </a:ext>
                </a:extLst>
              </p:cNvPr>
              <p:cNvSpPr/>
              <p:nvPr/>
            </p:nvSpPr>
            <p:spPr>
              <a:xfrm>
                <a:off x="1544372" y="2724660"/>
                <a:ext cx="290914" cy="290914"/>
              </a:xfrm>
              <a:prstGeom prst="ellipse">
                <a:avLst/>
              </a:prstGeom>
              <a:solidFill>
                <a:schemeClr val="bg1"/>
              </a:solidFill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76" name="TextBox 75">
                <a:extLst>
                  <a:ext uri="{FF2B5EF4-FFF2-40B4-BE49-F238E27FC236}">
                    <a16:creationId xmlns:a16="http://schemas.microsoft.com/office/drawing/2014/main" id="{1936E0A0-87A3-5336-A8EE-6E8A1D92FC06}"/>
                  </a:ext>
                </a:extLst>
              </p:cNvPr>
              <p:cNvSpPr txBox="1"/>
              <p:nvPr/>
            </p:nvSpPr>
            <p:spPr>
              <a:xfrm>
                <a:off x="1538602" y="2716918"/>
                <a:ext cx="284052" cy="30777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dirty="0"/>
                  <a:t>2</a:t>
                </a:r>
              </a:p>
            </p:txBody>
          </p:sp>
          <p:cxnSp>
            <p:nvCxnSpPr>
              <p:cNvPr id="77" name="Straight Arrow Connector 76">
                <a:extLst>
                  <a:ext uri="{FF2B5EF4-FFF2-40B4-BE49-F238E27FC236}">
                    <a16:creationId xmlns:a16="http://schemas.microsoft.com/office/drawing/2014/main" id="{314EF721-D2B5-AD2C-A9A2-1AD8463CA9FB}"/>
                  </a:ext>
                </a:extLst>
              </p:cNvPr>
              <p:cNvCxnSpPr>
                <a:stCxn id="75" idx="6"/>
              </p:cNvCxnSpPr>
              <p:nvPr/>
            </p:nvCxnSpPr>
            <p:spPr>
              <a:xfrm>
                <a:off x="1835286" y="2870117"/>
                <a:ext cx="1841769" cy="0"/>
              </a:xfrm>
              <a:prstGeom prst="straightConnector1">
                <a:avLst/>
              </a:prstGeom>
              <a:ln w="28575">
                <a:solidFill>
                  <a:schemeClr val="tx1"/>
                </a:solidFill>
                <a:headEnd type="none" w="med" len="med"/>
                <a:tailEnd type="arrow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8" name="Straight Arrow Connector 77">
                <a:extLst>
                  <a:ext uri="{FF2B5EF4-FFF2-40B4-BE49-F238E27FC236}">
                    <a16:creationId xmlns:a16="http://schemas.microsoft.com/office/drawing/2014/main" id="{D7A508BF-8C43-866D-D13D-3386430329E7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1847918" y="2137588"/>
                <a:ext cx="1166432" cy="739760"/>
              </a:xfrm>
              <a:prstGeom prst="straightConnector1">
                <a:avLst/>
              </a:prstGeom>
              <a:ln w="28575">
                <a:solidFill>
                  <a:schemeClr val="tx1"/>
                </a:solidFill>
                <a:headEnd type="none" w="med" len="med"/>
                <a:tailEnd type="arrow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79" name="TextBox 78">
                <a:extLst>
                  <a:ext uri="{FF2B5EF4-FFF2-40B4-BE49-F238E27FC236}">
                    <a16:creationId xmlns:a16="http://schemas.microsoft.com/office/drawing/2014/main" id="{4EA9E123-4658-B3AC-1C09-46E129494D36}"/>
                  </a:ext>
                </a:extLst>
              </p:cNvPr>
              <p:cNvSpPr txBox="1"/>
              <p:nvPr/>
            </p:nvSpPr>
            <p:spPr>
              <a:xfrm>
                <a:off x="2431134" y="2594757"/>
                <a:ext cx="553357" cy="30777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dirty="0"/>
                  <a:t>Hold</a:t>
                </a:r>
              </a:p>
            </p:txBody>
          </p: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80" name="TextBox 79">
                    <a:extLst>
                      <a:ext uri="{FF2B5EF4-FFF2-40B4-BE49-F238E27FC236}">
                        <a16:creationId xmlns:a16="http://schemas.microsoft.com/office/drawing/2014/main" id="{D8592337-0614-AE26-CD8F-A39888454AE7}"/>
                      </a:ext>
                    </a:extLst>
                  </p:cNvPr>
                  <p:cNvSpPr txBox="1"/>
                  <p:nvPr/>
                </p:nvSpPr>
                <p:spPr>
                  <a:xfrm rot="19640672">
                    <a:off x="1786156" y="2273357"/>
                    <a:ext cx="909352" cy="307777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r>
                      <a:rPr lang="en-US" dirty="0"/>
                      <a:t>Sell at </a:t>
                    </a:r>
                    <a14:m>
                      <m:oMath xmlns:m="http://schemas.openxmlformats.org/officeDocument/2006/math"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𝑝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oMath>
                    </a14:m>
                    <a:endParaRPr lang="en-US" dirty="0"/>
                  </a:p>
                </p:txBody>
              </p:sp>
            </mc:Choice>
            <mc:Fallback xmlns="">
              <p:sp>
                <p:nvSpPr>
                  <p:cNvPr id="80" name="TextBox 79">
                    <a:extLst>
                      <a:ext uri="{FF2B5EF4-FFF2-40B4-BE49-F238E27FC236}">
                        <a16:creationId xmlns:a16="http://schemas.microsoft.com/office/drawing/2014/main" id="{8F9E8D89-B5C4-2686-521E-3BAF6B13DC90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 rot="19640672">
                    <a:off x="1786156" y="2273357"/>
                    <a:ext cx="909352" cy="307777"/>
                  </a:xfrm>
                  <a:prstGeom prst="rect">
                    <a:avLst/>
                  </a:prstGeom>
                  <a:blipFill>
                    <a:blip r:embed="rId4"/>
                    <a:stretch>
                      <a:fillRect l="-1948" b="-7258"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  <p:grpSp>
          <p:nvGrpSpPr>
            <p:cNvPr id="61" name="Group 60">
              <a:extLst>
                <a:ext uri="{FF2B5EF4-FFF2-40B4-BE49-F238E27FC236}">
                  <a16:creationId xmlns:a16="http://schemas.microsoft.com/office/drawing/2014/main" id="{2304A37D-FF84-7D41-8E90-D48B6C0C7AA4}"/>
                </a:ext>
              </a:extLst>
            </p:cNvPr>
            <p:cNvGrpSpPr/>
            <p:nvPr/>
          </p:nvGrpSpPr>
          <p:grpSpPr>
            <a:xfrm>
              <a:off x="5783101" y="2140833"/>
              <a:ext cx="2138453" cy="887107"/>
              <a:chOff x="1538602" y="2137588"/>
              <a:chExt cx="2138453" cy="887107"/>
            </a:xfrm>
          </p:grpSpPr>
          <p:sp>
            <p:nvSpPr>
              <p:cNvPr id="69" name="Oval 68">
                <a:extLst>
                  <a:ext uri="{FF2B5EF4-FFF2-40B4-BE49-F238E27FC236}">
                    <a16:creationId xmlns:a16="http://schemas.microsoft.com/office/drawing/2014/main" id="{DBEEC6C3-CAB9-A2DE-7C9E-5AAD2C872E14}"/>
                  </a:ext>
                </a:extLst>
              </p:cNvPr>
              <p:cNvSpPr/>
              <p:nvPr/>
            </p:nvSpPr>
            <p:spPr>
              <a:xfrm>
                <a:off x="1544372" y="2724660"/>
                <a:ext cx="290914" cy="290914"/>
              </a:xfrm>
              <a:prstGeom prst="ellipse">
                <a:avLst/>
              </a:prstGeom>
              <a:solidFill>
                <a:schemeClr val="bg1"/>
              </a:solidFill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70" name="TextBox 69">
                <a:extLst>
                  <a:ext uri="{FF2B5EF4-FFF2-40B4-BE49-F238E27FC236}">
                    <a16:creationId xmlns:a16="http://schemas.microsoft.com/office/drawing/2014/main" id="{EF9FF301-97D7-7E8F-12D8-A0BFA35C514A}"/>
                  </a:ext>
                </a:extLst>
              </p:cNvPr>
              <p:cNvSpPr txBox="1"/>
              <p:nvPr/>
            </p:nvSpPr>
            <p:spPr>
              <a:xfrm>
                <a:off x="1538602" y="2716918"/>
                <a:ext cx="284052" cy="30777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dirty="0"/>
                  <a:t>3</a:t>
                </a:r>
              </a:p>
            </p:txBody>
          </p:sp>
          <p:cxnSp>
            <p:nvCxnSpPr>
              <p:cNvPr id="71" name="Straight Arrow Connector 70">
                <a:extLst>
                  <a:ext uri="{FF2B5EF4-FFF2-40B4-BE49-F238E27FC236}">
                    <a16:creationId xmlns:a16="http://schemas.microsoft.com/office/drawing/2014/main" id="{4D2E588B-1F92-4721-9DA1-91E037028D66}"/>
                  </a:ext>
                </a:extLst>
              </p:cNvPr>
              <p:cNvCxnSpPr>
                <a:stCxn id="69" idx="6"/>
              </p:cNvCxnSpPr>
              <p:nvPr/>
            </p:nvCxnSpPr>
            <p:spPr>
              <a:xfrm>
                <a:off x="1835286" y="2870117"/>
                <a:ext cx="1841769" cy="0"/>
              </a:xfrm>
              <a:prstGeom prst="straightConnector1">
                <a:avLst/>
              </a:prstGeom>
              <a:ln w="28575">
                <a:solidFill>
                  <a:schemeClr val="tx1"/>
                </a:solidFill>
                <a:headEnd type="none" w="med" len="med"/>
                <a:tailEnd type="arrow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2" name="Straight Arrow Connector 71">
                <a:extLst>
                  <a:ext uri="{FF2B5EF4-FFF2-40B4-BE49-F238E27FC236}">
                    <a16:creationId xmlns:a16="http://schemas.microsoft.com/office/drawing/2014/main" id="{3D8A2B15-65E1-809C-7FA0-8B2206B3AF2A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1847918" y="2137588"/>
                <a:ext cx="1166432" cy="739760"/>
              </a:xfrm>
              <a:prstGeom prst="straightConnector1">
                <a:avLst/>
              </a:prstGeom>
              <a:ln w="28575">
                <a:solidFill>
                  <a:schemeClr val="tx1"/>
                </a:solidFill>
                <a:headEnd type="none" w="med" len="med"/>
                <a:tailEnd type="arrow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73" name="TextBox 72">
                <a:extLst>
                  <a:ext uri="{FF2B5EF4-FFF2-40B4-BE49-F238E27FC236}">
                    <a16:creationId xmlns:a16="http://schemas.microsoft.com/office/drawing/2014/main" id="{12C3BA53-1CBF-EEE3-DB0B-EFE76C93DECF}"/>
                  </a:ext>
                </a:extLst>
              </p:cNvPr>
              <p:cNvSpPr txBox="1"/>
              <p:nvPr/>
            </p:nvSpPr>
            <p:spPr>
              <a:xfrm>
                <a:off x="2431134" y="2594757"/>
                <a:ext cx="553357" cy="30777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dirty="0"/>
                  <a:t>Hold</a:t>
                </a:r>
              </a:p>
            </p:txBody>
          </p: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74" name="TextBox 73">
                    <a:extLst>
                      <a:ext uri="{FF2B5EF4-FFF2-40B4-BE49-F238E27FC236}">
                        <a16:creationId xmlns:a16="http://schemas.microsoft.com/office/drawing/2014/main" id="{8CC2720B-A4FF-5FDC-3518-ACA234CC0EE2}"/>
                      </a:ext>
                    </a:extLst>
                  </p:cNvPr>
                  <p:cNvSpPr txBox="1"/>
                  <p:nvPr/>
                </p:nvSpPr>
                <p:spPr>
                  <a:xfrm rot="19640672">
                    <a:off x="1786156" y="2273357"/>
                    <a:ext cx="909352" cy="307777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r>
                      <a:rPr lang="en-US" dirty="0"/>
                      <a:t>Sell at </a:t>
                    </a:r>
                    <a14:m>
                      <m:oMath xmlns:m="http://schemas.openxmlformats.org/officeDocument/2006/math"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𝑝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3</m:t>
                            </m:r>
                          </m:sub>
                        </m:sSub>
                      </m:oMath>
                    </a14:m>
                    <a:endParaRPr lang="en-US" dirty="0"/>
                  </a:p>
                </p:txBody>
              </p:sp>
            </mc:Choice>
            <mc:Fallback xmlns="">
              <p:sp>
                <p:nvSpPr>
                  <p:cNvPr id="74" name="TextBox 73">
                    <a:extLst>
                      <a:ext uri="{FF2B5EF4-FFF2-40B4-BE49-F238E27FC236}">
                        <a16:creationId xmlns:a16="http://schemas.microsoft.com/office/drawing/2014/main" id="{9474491E-B362-B7C4-1B10-B562F47662F2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 rot="19640672">
                    <a:off x="1786156" y="2273357"/>
                    <a:ext cx="909352" cy="307777"/>
                  </a:xfrm>
                  <a:prstGeom prst="rect">
                    <a:avLst/>
                  </a:prstGeom>
                  <a:blipFill>
                    <a:blip r:embed="rId5"/>
                    <a:stretch>
                      <a:fillRect l="-1948" b="-7258"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  <p:grpSp>
          <p:nvGrpSpPr>
            <p:cNvPr id="62" name="Group 61">
              <a:extLst>
                <a:ext uri="{FF2B5EF4-FFF2-40B4-BE49-F238E27FC236}">
                  <a16:creationId xmlns:a16="http://schemas.microsoft.com/office/drawing/2014/main" id="{55C0AD03-D9BB-4CFA-AB12-43CA896BBB19}"/>
                </a:ext>
              </a:extLst>
            </p:cNvPr>
            <p:cNvGrpSpPr/>
            <p:nvPr/>
          </p:nvGrpSpPr>
          <p:grpSpPr>
            <a:xfrm>
              <a:off x="7900490" y="2144078"/>
              <a:ext cx="2138453" cy="887107"/>
              <a:chOff x="1538602" y="2137588"/>
              <a:chExt cx="2138453" cy="887107"/>
            </a:xfrm>
          </p:grpSpPr>
          <p:sp>
            <p:nvSpPr>
              <p:cNvPr id="63" name="Oval 62">
                <a:extLst>
                  <a:ext uri="{FF2B5EF4-FFF2-40B4-BE49-F238E27FC236}">
                    <a16:creationId xmlns:a16="http://schemas.microsoft.com/office/drawing/2014/main" id="{042159BB-A88F-290D-2A30-4D44600FA4F8}"/>
                  </a:ext>
                </a:extLst>
              </p:cNvPr>
              <p:cNvSpPr/>
              <p:nvPr/>
            </p:nvSpPr>
            <p:spPr>
              <a:xfrm>
                <a:off x="1544372" y="2724660"/>
                <a:ext cx="290914" cy="290914"/>
              </a:xfrm>
              <a:prstGeom prst="ellipse">
                <a:avLst/>
              </a:prstGeom>
              <a:solidFill>
                <a:schemeClr val="bg1"/>
              </a:solidFill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64" name="TextBox 63">
                <a:extLst>
                  <a:ext uri="{FF2B5EF4-FFF2-40B4-BE49-F238E27FC236}">
                    <a16:creationId xmlns:a16="http://schemas.microsoft.com/office/drawing/2014/main" id="{12AE2A16-142F-927D-1290-513E7AD664B1}"/>
                  </a:ext>
                </a:extLst>
              </p:cNvPr>
              <p:cNvSpPr txBox="1"/>
              <p:nvPr/>
            </p:nvSpPr>
            <p:spPr>
              <a:xfrm>
                <a:off x="1538602" y="2716918"/>
                <a:ext cx="284052" cy="30777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dirty="0"/>
                  <a:t>4</a:t>
                </a:r>
              </a:p>
            </p:txBody>
          </p:sp>
          <p:cxnSp>
            <p:nvCxnSpPr>
              <p:cNvPr id="65" name="Straight Arrow Connector 64">
                <a:extLst>
                  <a:ext uri="{FF2B5EF4-FFF2-40B4-BE49-F238E27FC236}">
                    <a16:creationId xmlns:a16="http://schemas.microsoft.com/office/drawing/2014/main" id="{F982D382-BB72-146F-84FB-399ED81DAC94}"/>
                  </a:ext>
                </a:extLst>
              </p:cNvPr>
              <p:cNvCxnSpPr>
                <a:stCxn id="63" idx="6"/>
              </p:cNvCxnSpPr>
              <p:nvPr/>
            </p:nvCxnSpPr>
            <p:spPr>
              <a:xfrm>
                <a:off x="1835286" y="2870117"/>
                <a:ext cx="1841769" cy="0"/>
              </a:xfrm>
              <a:prstGeom prst="straightConnector1">
                <a:avLst/>
              </a:prstGeom>
              <a:ln w="28575">
                <a:solidFill>
                  <a:schemeClr val="tx1"/>
                </a:solidFill>
                <a:headEnd type="none" w="med" len="med"/>
                <a:tailEnd type="arrow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6" name="Straight Arrow Connector 65">
                <a:extLst>
                  <a:ext uri="{FF2B5EF4-FFF2-40B4-BE49-F238E27FC236}">
                    <a16:creationId xmlns:a16="http://schemas.microsoft.com/office/drawing/2014/main" id="{5982F7D1-F914-2F8F-8FEC-F27093CE0E15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1847918" y="2137588"/>
                <a:ext cx="1166432" cy="739760"/>
              </a:xfrm>
              <a:prstGeom prst="straightConnector1">
                <a:avLst/>
              </a:prstGeom>
              <a:ln w="28575">
                <a:solidFill>
                  <a:schemeClr val="tx1"/>
                </a:solidFill>
                <a:headEnd type="none" w="med" len="med"/>
                <a:tailEnd type="arrow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67" name="TextBox 66">
                <a:extLst>
                  <a:ext uri="{FF2B5EF4-FFF2-40B4-BE49-F238E27FC236}">
                    <a16:creationId xmlns:a16="http://schemas.microsoft.com/office/drawing/2014/main" id="{483C69C8-2619-5890-BB8A-82E75B06F76D}"/>
                  </a:ext>
                </a:extLst>
              </p:cNvPr>
              <p:cNvSpPr txBox="1"/>
              <p:nvPr/>
            </p:nvSpPr>
            <p:spPr>
              <a:xfrm>
                <a:off x="2431134" y="2594757"/>
                <a:ext cx="553357" cy="30777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dirty="0"/>
                  <a:t>Hold</a:t>
                </a:r>
              </a:p>
            </p:txBody>
          </p: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68" name="TextBox 67">
                    <a:extLst>
                      <a:ext uri="{FF2B5EF4-FFF2-40B4-BE49-F238E27FC236}">
                        <a16:creationId xmlns:a16="http://schemas.microsoft.com/office/drawing/2014/main" id="{6E5B413A-D090-ED96-84AE-8E37A35D9068}"/>
                      </a:ext>
                    </a:extLst>
                  </p:cNvPr>
                  <p:cNvSpPr txBox="1"/>
                  <p:nvPr/>
                </p:nvSpPr>
                <p:spPr>
                  <a:xfrm rot="19640672">
                    <a:off x="1786798" y="2273357"/>
                    <a:ext cx="908069" cy="307777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r>
                      <a:rPr lang="en-US" dirty="0"/>
                      <a:t>Sell at </a:t>
                    </a:r>
                    <a14:m>
                      <m:oMath xmlns:m="http://schemas.openxmlformats.org/officeDocument/2006/math"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𝑝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4</m:t>
                            </m:r>
                          </m:sub>
                        </m:sSub>
                      </m:oMath>
                    </a14:m>
                    <a:endParaRPr lang="en-US" dirty="0"/>
                  </a:p>
                </p:txBody>
              </p:sp>
            </mc:Choice>
            <mc:Fallback xmlns="">
              <p:sp>
                <p:nvSpPr>
                  <p:cNvPr id="68" name="TextBox 67">
                    <a:extLst>
                      <a:ext uri="{FF2B5EF4-FFF2-40B4-BE49-F238E27FC236}">
                        <a16:creationId xmlns:a16="http://schemas.microsoft.com/office/drawing/2014/main" id="{A871009B-A45B-1571-5D69-4B1024723EC4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 rot="19640672">
                    <a:off x="1786798" y="2273357"/>
                    <a:ext cx="908069" cy="307777"/>
                  </a:xfrm>
                  <a:prstGeom prst="rect">
                    <a:avLst/>
                  </a:prstGeom>
                  <a:blipFill>
                    <a:blip r:embed="rId6"/>
                    <a:stretch>
                      <a:fillRect l="-1299" b="-7258"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</p:grpSp>
      <p:grpSp>
        <p:nvGrpSpPr>
          <p:cNvPr id="5" name="Group 4">
            <a:extLst>
              <a:ext uri="{FF2B5EF4-FFF2-40B4-BE49-F238E27FC236}">
                <a16:creationId xmlns:a16="http://schemas.microsoft.com/office/drawing/2014/main" id="{955924C7-B6A6-7849-23A9-650FEDE20BF6}"/>
              </a:ext>
            </a:extLst>
          </p:cNvPr>
          <p:cNvGrpSpPr/>
          <p:nvPr/>
        </p:nvGrpSpPr>
        <p:grpSpPr>
          <a:xfrm>
            <a:off x="6659313" y="2787519"/>
            <a:ext cx="3629538" cy="2940096"/>
            <a:chOff x="2287338" y="2797044"/>
            <a:chExt cx="3629538" cy="2940096"/>
          </a:xfrm>
        </p:grpSpPr>
        <p:pic>
          <p:nvPicPr>
            <p:cNvPr id="6" name="Picture 5">
              <a:extLst>
                <a:ext uri="{FF2B5EF4-FFF2-40B4-BE49-F238E27FC236}">
                  <a16:creationId xmlns:a16="http://schemas.microsoft.com/office/drawing/2014/main" id="{81CA303B-DB63-4AC2-5328-7ED379D6FED3}"/>
                </a:ext>
              </a:extLst>
            </p:cNvPr>
            <p:cNvPicPr>
              <a:picLocks noChangeAspect="1"/>
            </p:cNvPicPr>
            <p:nvPr/>
          </p:nvPicPr>
          <p:blipFill>
            <a:blip r:embed="rId7"/>
            <a:srcRect t="35271"/>
            <a:stretch/>
          </p:blipFill>
          <p:spPr>
            <a:xfrm>
              <a:off x="2287338" y="3382110"/>
              <a:ext cx="3629538" cy="2355030"/>
            </a:xfrm>
            <a:prstGeom prst="rect">
              <a:avLst/>
            </a:prstGeom>
          </p:spPr>
        </p:pic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2093930F-267A-31F7-7170-B820737F51DD}"/>
                </a:ext>
              </a:extLst>
            </p:cNvPr>
            <p:cNvSpPr txBox="1"/>
            <p:nvPr/>
          </p:nvSpPr>
          <p:spPr>
            <a:xfrm>
              <a:off x="2321079" y="3105111"/>
              <a:ext cx="2978701" cy="276999"/>
            </a:xfrm>
            <a:prstGeom prst="rect">
              <a:avLst/>
            </a:prstGeom>
            <a:solidFill>
              <a:schemeClr val="bg1"/>
            </a:solidFill>
          </p:spPr>
          <p:txBody>
            <a:bodyPr wrap="none" rtlCol="0">
              <a:spAutoFit/>
            </a:bodyPr>
            <a:lstStyle/>
            <a:p>
              <a:r>
                <a:rPr lang="en-US" sz="1200" dirty="0"/>
                <a:t>Outcome       Sell                          Hold    </a:t>
              </a:r>
            </a:p>
          </p:txBody>
        </p:sp>
        <p:cxnSp>
          <p:nvCxnSpPr>
            <p:cNvPr id="8" name="Straight Connector 7">
              <a:extLst>
                <a:ext uri="{FF2B5EF4-FFF2-40B4-BE49-F238E27FC236}">
                  <a16:creationId xmlns:a16="http://schemas.microsoft.com/office/drawing/2014/main" id="{F4E4609E-EC87-C43F-B6BA-7B29C2257CB7}"/>
                </a:ext>
              </a:extLst>
            </p:cNvPr>
            <p:cNvCxnSpPr/>
            <p:nvPr/>
          </p:nvCxnSpPr>
          <p:spPr>
            <a:xfrm>
              <a:off x="3320376" y="3101871"/>
              <a:ext cx="2148927" cy="0"/>
            </a:xfrm>
            <a:prstGeom prst="line">
              <a:avLst/>
            </a:prstGeom>
            <a:ln w="19050">
              <a:solidFill>
                <a:schemeClr val="tx1"/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AAFB4EC1-ACA7-A859-8600-D472010C2050}"/>
                </a:ext>
              </a:extLst>
            </p:cNvPr>
            <p:cNvSpPr txBox="1"/>
            <p:nvPr/>
          </p:nvSpPr>
          <p:spPr>
            <a:xfrm>
              <a:off x="4062937" y="2797044"/>
              <a:ext cx="814647" cy="276999"/>
            </a:xfrm>
            <a:prstGeom prst="rect">
              <a:avLst/>
            </a:prstGeom>
            <a:solidFill>
              <a:schemeClr val="bg1"/>
            </a:solidFill>
          </p:spPr>
          <p:txBody>
            <a:bodyPr wrap="none" rtlCol="0">
              <a:spAutoFit/>
            </a:bodyPr>
            <a:lstStyle/>
            <a:p>
              <a:r>
                <a:rPr lang="en-US" sz="1200" dirty="0"/>
                <a:t>Decision 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2450116889"/>
      </p:ext>
    </p:extLst>
  </p:cSld>
  <p:clrMapOvr>
    <a:masterClrMapping/>
  </p:clrMapOvr>
</p:sld>
</file>

<file path=ppt/slides/slide1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9F80B79-4A49-A70A-38BB-78D1A341BD0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C93D9E6-10E9-CEBB-CD76-DEDAFB56356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3200" dirty="0"/>
              <a:t>Value iteration: Financial application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 Placeholder 2">
                <a:extLst>
                  <a:ext uri="{FF2B5EF4-FFF2-40B4-BE49-F238E27FC236}">
                    <a16:creationId xmlns:a16="http://schemas.microsoft.com/office/drawing/2014/main" id="{E19B2FF8-0573-6804-3272-CF5E6F604054}"/>
                  </a:ext>
                </a:extLst>
              </p:cNvPr>
              <p:cNvSpPr>
                <a:spLocks noGrp="1"/>
              </p:cNvSpPr>
              <p:nvPr>
                <p:ph type="body" idx="1"/>
              </p:nvPr>
            </p:nvSpPr>
            <p:spPr>
              <a:xfrm>
                <a:off x="479263" y="1119234"/>
                <a:ext cx="10363200" cy="4401600"/>
              </a:xfrm>
            </p:spPr>
            <p:txBody>
              <a:bodyPr/>
              <a:lstStyle/>
              <a:p>
                <a:pPr marL="86360" indent="0">
                  <a:buNone/>
                </a:pPr>
                <a:r>
                  <a:rPr lang="en-US" dirty="0"/>
                  <a:t>We can execute this logic in two ways:</a:t>
                </a:r>
              </a:p>
              <a:p>
                <a:pPr marL="86360" indent="0">
                  <a:buNone/>
                </a:pPr>
                <a:endParaRPr lang="en-US" sz="1600" dirty="0"/>
              </a:p>
              <a:p>
                <a:r>
                  <a:rPr lang="en-US" dirty="0">
                    <a:solidFill>
                      <a:schemeClr val="bg1">
                        <a:lumMod val="65000"/>
                      </a:schemeClr>
                    </a:solidFill>
                  </a:rPr>
                  <a:t>As a forward pass</a:t>
                </a:r>
              </a:p>
              <a:p>
                <a:pPr lvl="1"/>
                <a:r>
                  <a:rPr lang="en-US" dirty="0">
                    <a:solidFill>
                      <a:schemeClr val="bg1">
                        <a:lumMod val="65000"/>
                      </a:schemeClr>
                    </a:solidFill>
                  </a:rPr>
                  <a:t>We step forward in time, updating the previous VFA  (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en-US" i="1">
                            <a:solidFill>
                              <a:schemeClr val="bg1">
                                <a:lumMod val="65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acc>
                          <m:accPr>
                            <m:chr m:val="̅"/>
                            <m:ctrlPr>
                              <a:rPr lang="en-US" i="1">
                                <a:solidFill>
                                  <a:schemeClr val="bg1">
                                    <a:lumMod val="6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i="1">
                                <a:solidFill>
                                  <a:schemeClr val="bg1">
                                    <a:lumMod val="6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𝑉</m:t>
                            </m:r>
                          </m:e>
                        </m:acc>
                      </m:e>
                      <m:sub>
                        <m:r>
                          <a:rPr lang="en-US" i="1">
                            <a:solidFill>
                              <a:schemeClr val="bg1">
                                <a:lumMod val="6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  <m:r>
                          <a:rPr lang="en-US" i="1">
                            <a:solidFill>
                              <a:schemeClr val="bg1">
                                <a:lumMod val="6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−1</m:t>
                        </m:r>
                      </m:sub>
                      <m:sup>
                        <m:r>
                          <a:rPr lang="en-US" i="1">
                            <a:solidFill>
                              <a:schemeClr val="bg1">
                                <a:lumMod val="6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a:rPr lang="en-US" i="1">
                            <a:solidFill>
                              <a:schemeClr val="bg1">
                                <a:lumMod val="6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−1</m:t>
                        </m:r>
                      </m:sup>
                    </m:sSubSup>
                    <m:r>
                      <a:rPr lang="en-US" b="0" i="1" smtClean="0">
                        <a:solidFill>
                          <a:schemeClr val="bg1">
                            <a:lumMod val="65000"/>
                          </a:schemeClr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dirty="0">
                    <a:solidFill>
                      <a:schemeClr val="bg1">
                        <a:lumMod val="65000"/>
                      </a:schemeClr>
                    </a:solidFill>
                  </a:rPr>
                  <a:t> use what we just learned 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en-US" b="0" i="1" smtClean="0">
                            <a:solidFill>
                              <a:schemeClr val="bg1">
                                <a:lumMod val="65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b="0" i="1" smtClean="0">
                            <a:solidFill>
                              <a:schemeClr val="bg1">
                                <a:lumMod val="6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acc>
                          <m:accPr>
                            <m:chr m:val="̂"/>
                            <m:ctrlPr>
                              <a:rPr lang="en-US" i="1">
                                <a:solidFill>
                                  <a:schemeClr val="bg1">
                                    <a:lumMod val="6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i="1">
                                <a:solidFill>
                                  <a:schemeClr val="bg1">
                                    <a:lumMod val="6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𝑣</m:t>
                            </m:r>
                          </m:e>
                        </m:acc>
                      </m:e>
                      <m:sub>
                        <m:r>
                          <a:rPr lang="en-US" i="1">
                            <a:solidFill>
                              <a:schemeClr val="bg1">
                                <a:lumMod val="6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  <m:sup>
                        <m:r>
                          <a:rPr lang="en-US" i="1">
                            <a:solidFill>
                              <a:schemeClr val="bg1">
                                <a:lumMod val="6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</m:sSubSup>
                    <m:r>
                      <a:rPr lang="en-US" b="0" i="1" smtClean="0">
                        <a:solidFill>
                          <a:schemeClr val="bg1">
                            <a:lumMod val="65000"/>
                          </a:schemeClr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dirty="0">
                    <a:solidFill>
                      <a:schemeClr val="bg1">
                        <a:lumMod val="65000"/>
                      </a:schemeClr>
                    </a:solidFill>
                  </a:rPr>
                  <a:t> at time </a:t>
                </a:r>
                <a14:m>
                  <m:oMath xmlns:m="http://schemas.openxmlformats.org/officeDocument/2006/math">
                    <m:r>
                      <a:rPr lang="en-US" b="0" i="1" smtClean="0">
                        <a:solidFill>
                          <a:schemeClr val="bg1">
                            <a:lumMod val="65000"/>
                          </a:schemeClr>
                        </a:solidFill>
                        <a:latin typeface="Cambria Math" panose="02040503050406030204" pitchFamily="18" charset="0"/>
                      </a:rPr>
                      <m:t>𝑡</m:t>
                    </m:r>
                  </m:oMath>
                </a14:m>
                <a:r>
                  <a:rPr lang="en-US" dirty="0">
                    <a:solidFill>
                      <a:schemeClr val="bg1">
                        <a:lumMod val="65000"/>
                      </a:schemeClr>
                    </a:solidFill>
                  </a:rPr>
                  <a:t> in iteration </a:t>
                </a:r>
                <a14:m>
                  <m:oMath xmlns:m="http://schemas.openxmlformats.org/officeDocument/2006/math">
                    <m:r>
                      <a:rPr lang="en-US" b="0" i="1" smtClean="0">
                        <a:solidFill>
                          <a:schemeClr val="bg1">
                            <a:lumMod val="65000"/>
                          </a:schemeClr>
                        </a:solidFill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en-US" dirty="0">
                    <a:solidFill>
                      <a:schemeClr val="bg1">
                        <a:lumMod val="65000"/>
                      </a:schemeClr>
                    </a:solidFill>
                  </a:rPr>
                  <a:t>.</a:t>
                </a:r>
              </a:p>
              <a:p>
                <a:pPr lvl="2"/>
                <a:endParaRPr lang="en-US" dirty="0"/>
              </a:p>
              <a:p>
                <a:r>
                  <a:rPr lang="en-US" dirty="0">
                    <a:solidFill>
                      <a:schemeClr val="tx1"/>
                    </a:solidFill>
                  </a:rPr>
                  <a:t>As a backward pass </a:t>
                </a:r>
              </a:p>
              <a:p>
                <a:pPr lvl="1"/>
                <a:r>
                  <a:rPr lang="en-US" dirty="0">
                    <a:solidFill>
                      <a:schemeClr val="tx1"/>
                    </a:solidFill>
                  </a:rPr>
                  <a:t>We run a forward pass, making a decision at time </a:t>
                </a:r>
                <a14:m>
                  <m:oMath xmlns:m="http://schemas.openxmlformats.org/officeDocument/2006/math">
                    <m:r>
                      <a:rPr lang="en-US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𝑡</m:t>
                    </m:r>
                  </m:oMath>
                </a14:m>
                <a:r>
                  <a:rPr lang="en-US" dirty="0">
                    <a:solidFill>
                      <a:schemeClr val="tx1"/>
                    </a:solidFill>
                  </a:rPr>
                  <a:t>, using post-decision VFAs (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en-US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acc>
                          <m:accPr>
                            <m:chr m:val="̅"/>
                            <m:ctrlPr>
                              <a:rPr lang="en-US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𝑉</m:t>
                            </m:r>
                          </m:e>
                        </m:acc>
                      </m:e>
                      <m:sub>
                        <m:r>
                          <a:rPr lang="en-US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  <m:sup>
                        <m:r>
                          <a:rPr lang="en-US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lang="en-US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a:rPr lang="en-US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−1</m:t>
                        </m:r>
                      </m:sup>
                    </m:sSubSup>
                    <m:r>
                      <a:rPr lang="en-US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a:rPr lang="en-US" b="0" i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.</m:t>
                    </m:r>
                  </m:oMath>
                </a14:m>
                <a:endParaRPr lang="en-US" b="0" dirty="0">
                  <a:solidFill>
                    <a:schemeClr val="tx1"/>
                  </a:solidFill>
                </a:endParaRPr>
              </a:p>
              <a:p>
                <a:pPr lvl="1"/>
                <a:r>
                  <a:rPr lang="en-US" dirty="0">
                    <a:solidFill>
                      <a:schemeClr val="tx1"/>
                    </a:solidFill>
                  </a:rPr>
                  <a:t>Then run a backward pass, computing state values 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en-US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acc>
                          <m:accPr>
                            <m:chr m:val="̂"/>
                            <m:ctrlPr>
                              <a:rPr lang="en-US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𝑣</m:t>
                            </m:r>
                          </m:e>
                        </m:acc>
                      </m:e>
                      <m:sub>
                        <m:r>
                          <a:rPr lang="en-US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  <m:sup>
                        <m:r>
                          <a:rPr lang="en-US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</m:sSubSup>
                    <m:r>
                      <a:rPr lang="en-US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dirty="0">
                    <a:solidFill>
                      <a:schemeClr val="tx1"/>
                    </a:solidFill>
                  </a:rPr>
                  <a:t> that depend on downstream sample information, which we then use to update the post decision VFAs. </a:t>
                </a:r>
              </a:p>
            </p:txBody>
          </p:sp>
        </mc:Choice>
        <mc:Fallback xmlns="">
          <p:sp>
            <p:nvSpPr>
              <p:cNvPr id="3" name="Text Placeholder 2">
                <a:extLst>
                  <a:ext uri="{FF2B5EF4-FFF2-40B4-BE49-F238E27FC236}">
                    <a16:creationId xmlns:a16="http://schemas.microsoft.com/office/drawing/2014/main" id="{E19B2FF8-0573-6804-3272-CF5E6F604054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idx="1"/>
              </p:nvPr>
            </p:nvSpPr>
            <p:spPr>
              <a:xfrm>
                <a:off x="479263" y="1119234"/>
                <a:ext cx="10363200" cy="4401600"/>
              </a:xfrm>
              <a:blipFill>
                <a:blip r:embed="rId2"/>
                <a:stretch>
                  <a:fillRect l="-412" b="-1662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690312397"/>
      </p:ext>
    </p:extLst>
  </p:cSld>
  <p:clrMapOvr>
    <a:masterClrMapping/>
  </p:clrMapOvr>
</p:sld>
</file>

<file path=ppt/slides/slide1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480A35F-EFFF-5B57-8D83-A4B3BFD8F0D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A0A27DB-F4BA-9B29-B840-E30CB046ECC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3200" dirty="0"/>
              <a:t>Value iteration: Financial application</a:t>
            </a:r>
            <a:endParaRPr lang="en-US" dirty="0"/>
          </a:p>
        </p:txBody>
      </p:sp>
      <p:sp>
        <p:nvSpPr>
          <p:cNvPr id="18" name="Text Placeholder 2">
            <a:extLst>
              <a:ext uri="{FF2B5EF4-FFF2-40B4-BE49-F238E27FC236}">
                <a16:creationId xmlns:a16="http://schemas.microsoft.com/office/drawing/2014/main" id="{CA8B98E1-E7B9-85E6-D3A2-17637375EB2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54997" y="1039544"/>
            <a:ext cx="10363200" cy="4401600"/>
          </a:xfrm>
        </p:spPr>
        <p:txBody>
          <a:bodyPr/>
          <a:lstStyle/>
          <a:p>
            <a:pPr marL="86360" indent="0">
              <a:buNone/>
            </a:pPr>
            <a:r>
              <a:rPr lang="en-US" dirty="0"/>
              <a:t>Longstaff and Schwartz - Pricing an American option</a:t>
            </a:r>
          </a:p>
        </p:txBody>
      </p:sp>
      <p:grpSp>
        <p:nvGrpSpPr>
          <p:cNvPr id="21" name="Group 20">
            <a:extLst>
              <a:ext uri="{FF2B5EF4-FFF2-40B4-BE49-F238E27FC236}">
                <a16:creationId xmlns:a16="http://schemas.microsoft.com/office/drawing/2014/main" id="{41A933AF-8895-B08C-D17F-FD2ACBDAF9B4}"/>
              </a:ext>
            </a:extLst>
          </p:cNvPr>
          <p:cNvGrpSpPr/>
          <p:nvPr/>
        </p:nvGrpSpPr>
        <p:grpSpPr>
          <a:xfrm>
            <a:off x="1532117" y="1670661"/>
            <a:ext cx="8500341" cy="893597"/>
            <a:chOff x="1538602" y="2137588"/>
            <a:chExt cx="8500341" cy="893597"/>
          </a:xfrm>
        </p:grpSpPr>
        <p:grpSp>
          <p:nvGrpSpPr>
            <p:cNvPr id="48" name="Group 47">
              <a:extLst>
                <a:ext uri="{FF2B5EF4-FFF2-40B4-BE49-F238E27FC236}">
                  <a16:creationId xmlns:a16="http://schemas.microsoft.com/office/drawing/2014/main" id="{46759919-499B-B82F-DD03-3FDE785CB047}"/>
                </a:ext>
              </a:extLst>
            </p:cNvPr>
            <p:cNvGrpSpPr/>
            <p:nvPr/>
          </p:nvGrpSpPr>
          <p:grpSpPr>
            <a:xfrm>
              <a:off x="1538602" y="2137588"/>
              <a:ext cx="2138453" cy="887107"/>
              <a:chOff x="1538602" y="2137588"/>
              <a:chExt cx="2138453" cy="887107"/>
            </a:xfrm>
          </p:grpSpPr>
          <p:sp>
            <p:nvSpPr>
              <p:cNvPr id="81" name="Oval 80">
                <a:extLst>
                  <a:ext uri="{FF2B5EF4-FFF2-40B4-BE49-F238E27FC236}">
                    <a16:creationId xmlns:a16="http://schemas.microsoft.com/office/drawing/2014/main" id="{40C81C28-A5F5-7246-B47A-6CA21FB324E5}"/>
                  </a:ext>
                </a:extLst>
              </p:cNvPr>
              <p:cNvSpPr/>
              <p:nvPr/>
            </p:nvSpPr>
            <p:spPr>
              <a:xfrm>
                <a:off x="1544372" y="2724660"/>
                <a:ext cx="290914" cy="290914"/>
              </a:xfrm>
              <a:prstGeom prst="ellipse">
                <a:avLst/>
              </a:prstGeom>
              <a:solidFill>
                <a:schemeClr val="bg1"/>
              </a:solidFill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82" name="TextBox 81">
                <a:extLst>
                  <a:ext uri="{FF2B5EF4-FFF2-40B4-BE49-F238E27FC236}">
                    <a16:creationId xmlns:a16="http://schemas.microsoft.com/office/drawing/2014/main" id="{85EA283F-5BCD-1F9A-251E-E9FE05B7F985}"/>
                  </a:ext>
                </a:extLst>
              </p:cNvPr>
              <p:cNvSpPr txBox="1"/>
              <p:nvPr/>
            </p:nvSpPr>
            <p:spPr>
              <a:xfrm>
                <a:off x="1538602" y="2716918"/>
                <a:ext cx="284052" cy="30777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dirty="0"/>
                  <a:t>1</a:t>
                </a:r>
              </a:p>
            </p:txBody>
          </p:sp>
          <p:cxnSp>
            <p:nvCxnSpPr>
              <p:cNvPr id="83" name="Straight Arrow Connector 82">
                <a:extLst>
                  <a:ext uri="{FF2B5EF4-FFF2-40B4-BE49-F238E27FC236}">
                    <a16:creationId xmlns:a16="http://schemas.microsoft.com/office/drawing/2014/main" id="{993E40BB-5319-0698-ED12-35E2E2C65403}"/>
                  </a:ext>
                </a:extLst>
              </p:cNvPr>
              <p:cNvCxnSpPr>
                <a:stCxn id="81" idx="6"/>
              </p:cNvCxnSpPr>
              <p:nvPr/>
            </p:nvCxnSpPr>
            <p:spPr>
              <a:xfrm>
                <a:off x="1835286" y="2870117"/>
                <a:ext cx="1841769" cy="0"/>
              </a:xfrm>
              <a:prstGeom prst="straightConnector1">
                <a:avLst/>
              </a:prstGeom>
              <a:ln w="28575">
                <a:solidFill>
                  <a:schemeClr val="tx1"/>
                </a:solidFill>
                <a:headEnd type="none" w="med" len="med"/>
                <a:tailEnd type="arrow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4" name="Straight Arrow Connector 83">
                <a:extLst>
                  <a:ext uri="{FF2B5EF4-FFF2-40B4-BE49-F238E27FC236}">
                    <a16:creationId xmlns:a16="http://schemas.microsoft.com/office/drawing/2014/main" id="{9369E04D-EE70-B8CD-D5F9-3B3A5AD4B958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1847918" y="2137588"/>
                <a:ext cx="1166432" cy="739760"/>
              </a:xfrm>
              <a:prstGeom prst="straightConnector1">
                <a:avLst/>
              </a:prstGeom>
              <a:ln w="28575">
                <a:solidFill>
                  <a:schemeClr val="tx1"/>
                </a:solidFill>
                <a:headEnd type="none" w="med" len="med"/>
                <a:tailEnd type="arrow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85" name="TextBox 84">
                <a:extLst>
                  <a:ext uri="{FF2B5EF4-FFF2-40B4-BE49-F238E27FC236}">
                    <a16:creationId xmlns:a16="http://schemas.microsoft.com/office/drawing/2014/main" id="{6C10F129-CADF-19CC-C261-FAB8A5BE69C8}"/>
                  </a:ext>
                </a:extLst>
              </p:cNvPr>
              <p:cNvSpPr txBox="1"/>
              <p:nvPr/>
            </p:nvSpPr>
            <p:spPr>
              <a:xfrm>
                <a:off x="2431134" y="2594757"/>
                <a:ext cx="553357" cy="30777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dirty="0"/>
                  <a:t>Hold</a:t>
                </a:r>
              </a:p>
            </p:txBody>
          </p: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86" name="TextBox 85">
                    <a:extLst>
                      <a:ext uri="{FF2B5EF4-FFF2-40B4-BE49-F238E27FC236}">
                        <a16:creationId xmlns:a16="http://schemas.microsoft.com/office/drawing/2014/main" id="{66EB92A6-927B-95A7-9FA3-6BB988BD018D}"/>
                      </a:ext>
                    </a:extLst>
                  </p:cNvPr>
                  <p:cNvSpPr txBox="1"/>
                  <p:nvPr/>
                </p:nvSpPr>
                <p:spPr>
                  <a:xfrm rot="19640672">
                    <a:off x="1788240" y="2273357"/>
                    <a:ext cx="905184" cy="307777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r>
                      <a:rPr lang="en-US" dirty="0"/>
                      <a:t>Sell at </a:t>
                    </a:r>
                    <a14:m>
                      <m:oMath xmlns:m="http://schemas.openxmlformats.org/officeDocument/2006/math"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𝑝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oMath>
                    </a14:m>
                    <a:endParaRPr lang="en-US" dirty="0"/>
                  </a:p>
                </p:txBody>
              </p:sp>
            </mc:Choice>
            <mc:Fallback xmlns="">
              <p:sp>
                <p:nvSpPr>
                  <p:cNvPr id="86" name="TextBox 85">
                    <a:extLst>
                      <a:ext uri="{FF2B5EF4-FFF2-40B4-BE49-F238E27FC236}">
                        <a16:creationId xmlns:a16="http://schemas.microsoft.com/office/drawing/2014/main" id="{51D2BF2A-95EE-6362-E7EA-3BD990E9840E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 rot="19640672">
                    <a:off x="1788240" y="2273357"/>
                    <a:ext cx="905184" cy="307777"/>
                  </a:xfrm>
                  <a:prstGeom prst="rect">
                    <a:avLst/>
                  </a:prstGeom>
                  <a:blipFill>
                    <a:blip r:embed="rId3"/>
                    <a:stretch>
                      <a:fillRect l="-1961" b="-8130"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  <p:grpSp>
          <p:nvGrpSpPr>
            <p:cNvPr id="60" name="Group 59">
              <a:extLst>
                <a:ext uri="{FF2B5EF4-FFF2-40B4-BE49-F238E27FC236}">
                  <a16:creationId xmlns:a16="http://schemas.microsoft.com/office/drawing/2014/main" id="{6A99EEA5-15A9-6187-8BC1-EC4DE10B3C0A}"/>
                </a:ext>
              </a:extLst>
            </p:cNvPr>
            <p:cNvGrpSpPr/>
            <p:nvPr/>
          </p:nvGrpSpPr>
          <p:grpSpPr>
            <a:xfrm>
              <a:off x="3655991" y="2140833"/>
              <a:ext cx="2138453" cy="887107"/>
              <a:chOff x="1538602" y="2137588"/>
              <a:chExt cx="2138453" cy="887107"/>
            </a:xfrm>
          </p:grpSpPr>
          <p:sp>
            <p:nvSpPr>
              <p:cNvPr id="75" name="Oval 74">
                <a:extLst>
                  <a:ext uri="{FF2B5EF4-FFF2-40B4-BE49-F238E27FC236}">
                    <a16:creationId xmlns:a16="http://schemas.microsoft.com/office/drawing/2014/main" id="{63095777-4720-38AC-DEB7-6C71ECEEADC8}"/>
                  </a:ext>
                </a:extLst>
              </p:cNvPr>
              <p:cNvSpPr/>
              <p:nvPr/>
            </p:nvSpPr>
            <p:spPr>
              <a:xfrm>
                <a:off x="1544372" y="2724660"/>
                <a:ext cx="290914" cy="290914"/>
              </a:xfrm>
              <a:prstGeom prst="ellipse">
                <a:avLst/>
              </a:prstGeom>
              <a:solidFill>
                <a:schemeClr val="bg1"/>
              </a:solidFill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76" name="TextBox 75">
                <a:extLst>
                  <a:ext uri="{FF2B5EF4-FFF2-40B4-BE49-F238E27FC236}">
                    <a16:creationId xmlns:a16="http://schemas.microsoft.com/office/drawing/2014/main" id="{65EFD1C4-0643-6204-5B17-759C222E0A9E}"/>
                  </a:ext>
                </a:extLst>
              </p:cNvPr>
              <p:cNvSpPr txBox="1"/>
              <p:nvPr/>
            </p:nvSpPr>
            <p:spPr>
              <a:xfrm>
                <a:off x="1538602" y="2716918"/>
                <a:ext cx="284052" cy="30777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dirty="0"/>
                  <a:t>2</a:t>
                </a:r>
              </a:p>
            </p:txBody>
          </p:sp>
          <p:cxnSp>
            <p:nvCxnSpPr>
              <p:cNvPr id="77" name="Straight Arrow Connector 76">
                <a:extLst>
                  <a:ext uri="{FF2B5EF4-FFF2-40B4-BE49-F238E27FC236}">
                    <a16:creationId xmlns:a16="http://schemas.microsoft.com/office/drawing/2014/main" id="{A6729034-821C-933A-29E8-CECB6CFEC677}"/>
                  </a:ext>
                </a:extLst>
              </p:cNvPr>
              <p:cNvCxnSpPr>
                <a:stCxn id="75" idx="6"/>
              </p:cNvCxnSpPr>
              <p:nvPr/>
            </p:nvCxnSpPr>
            <p:spPr>
              <a:xfrm>
                <a:off x="1835286" y="2870117"/>
                <a:ext cx="1841769" cy="0"/>
              </a:xfrm>
              <a:prstGeom prst="straightConnector1">
                <a:avLst/>
              </a:prstGeom>
              <a:ln w="28575">
                <a:solidFill>
                  <a:schemeClr val="tx1"/>
                </a:solidFill>
                <a:headEnd type="none" w="med" len="med"/>
                <a:tailEnd type="arrow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8" name="Straight Arrow Connector 77">
                <a:extLst>
                  <a:ext uri="{FF2B5EF4-FFF2-40B4-BE49-F238E27FC236}">
                    <a16:creationId xmlns:a16="http://schemas.microsoft.com/office/drawing/2014/main" id="{53611ED7-E513-784F-413B-E3BF231ABD96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1847918" y="2137588"/>
                <a:ext cx="1166432" cy="739760"/>
              </a:xfrm>
              <a:prstGeom prst="straightConnector1">
                <a:avLst/>
              </a:prstGeom>
              <a:ln w="28575">
                <a:solidFill>
                  <a:schemeClr val="tx1"/>
                </a:solidFill>
                <a:headEnd type="none" w="med" len="med"/>
                <a:tailEnd type="arrow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79" name="TextBox 78">
                <a:extLst>
                  <a:ext uri="{FF2B5EF4-FFF2-40B4-BE49-F238E27FC236}">
                    <a16:creationId xmlns:a16="http://schemas.microsoft.com/office/drawing/2014/main" id="{96372997-E214-9DB5-3DA3-6BA8414960F6}"/>
                  </a:ext>
                </a:extLst>
              </p:cNvPr>
              <p:cNvSpPr txBox="1"/>
              <p:nvPr/>
            </p:nvSpPr>
            <p:spPr>
              <a:xfrm>
                <a:off x="2431134" y="2594757"/>
                <a:ext cx="553357" cy="30777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dirty="0"/>
                  <a:t>Hold</a:t>
                </a:r>
              </a:p>
            </p:txBody>
          </p: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80" name="TextBox 79">
                    <a:extLst>
                      <a:ext uri="{FF2B5EF4-FFF2-40B4-BE49-F238E27FC236}">
                        <a16:creationId xmlns:a16="http://schemas.microsoft.com/office/drawing/2014/main" id="{EA4DAA3F-B4EA-8BC4-7AA3-0381CE5F9B94}"/>
                      </a:ext>
                    </a:extLst>
                  </p:cNvPr>
                  <p:cNvSpPr txBox="1"/>
                  <p:nvPr/>
                </p:nvSpPr>
                <p:spPr>
                  <a:xfrm rot="19640672">
                    <a:off x="1786156" y="2273357"/>
                    <a:ext cx="909352" cy="307777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r>
                      <a:rPr lang="en-US" dirty="0"/>
                      <a:t>Sell at </a:t>
                    </a:r>
                    <a14:m>
                      <m:oMath xmlns:m="http://schemas.openxmlformats.org/officeDocument/2006/math"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𝑝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oMath>
                    </a14:m>
                    <a:endParaRPr lang="en-US" dirty="0"/>
                  </a:p>
                </p:txBody>
              </p:sp>
            </mc:Choice>
            <mc:Fallback xmlns="">
              <p:sp>
                <p:nvSpPr>
                  <p:cNvPr id="80" name="TextBox 79">
                    <a:extLst>
                      <a:ext uri="{FF2B5EF4-FFF2-40B4-BE49-F238E27FC236}">
                        <a16:creationId xmlns:a16="http://schemas.microsoft.com/office/drawing/2014/main" id="{8F9E8D89-B5C4-2686-521E-3BAF6B13DC90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 rot="19640672">
                    <a:off x="1786156" y="2273357"/>
                    <a:ext cx="909352" cy="307777"/>
                  </a:xfrm>
                  <a:prstGeom prst="rect">
                    <a:avLst/>
                  </a:prstGeom>
                  <a:blipFill>
                    <a:blip r:embed="rId4"/>
                    <a:stretch>
                      <a:fillRect l="-1948" b="-7258"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  <p:grpSp>
          <p:nvGrpSpPr>
            <p:cNvPr id="61" name="Group 60">
              <a:extLst>
                <a:ext uri="{FF2B5EF4-FFF2-40B4-BE49-F238E27FC236}">
                  <a16:creationId xmlns:a16="http://schemas.microsoft.com/office/drawing/2014/main" id="{5E5A46BC-B572-E776-0739-99588E2DB977}"/>
                </a:ext>
              </a:extLst>
            </p:cNvPr>
            <p:cNvGrpSpPr/>
            <p:nvPr/>
          </p:nvGrpSpPr>
          <p:grpSpPr>
            <a:xfrm>
              <a:off x="5783101" y="2140833"/>
              <a:ext cx="2138453" cy="887107"/>
              <a:chOff x="1538602" y="2137588"/>
              <a:chExt cx="2138453" cy="887107"/>
            </a:xfrm>
          </p:grpSpPr>
          <p:sp>
            <p:nvSpPr>
              <p:cNvPr id="69" name="Oval 68">
                <a:extLst>
                  <a:ext uri="{FF2B5EF4-FFF2-40B4-BE49-F238E27FC236}">
                    <a16:creationId xmlns:a16="http://schemas.microsoft.com/office/drawing/2014/main" id="{8A85436C-8B9D-6C36-4E5E-003633766FDC}"/>
                  </a:ext>
                </a:extLst>
              </p:cNvPr>
              <p:cNvSpPr/>
              <p:nvPr/>
            </p:nvSpPr>
            <p:spPr>
              <a:xfrm>
                <a:off x="1544372" y="2724660"/>
                <a:ext cx="290914" cy="290914"/>
              </a:xfrm>
              <a:prstGeom prst="ellipse">
                <a:avLst/>
              </a:prstGeom>
              <a:solidFill>
                <a:schemeClr val="bg1"/>
              </a:solidFill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70" name="TextBox 69">
                <a:extLst>
                  <a:ext uri="{FF2B5EF4-FFF2-40B4-BE49-F238E27FC236}">
                    <a16:creationId xmlns:a16="http://schemas.microsoft.com/office/drawing/2014/main" id="{6DD97BEF-D1F4-7B53-6A44-4F37ABA49635}"/>
                  </a:ext>
                </a:extLst>
              </p:cNvPr>
              <p:cNvSpPr txBox="1"/>
              <p:nvPr/>
            </p:nvSpPr>
            <p:spPr>
              <a:xfrm>
                <a:off x="1538602" y="2716918"/>
                <a:ext cx="284052" cy="30777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dirty="0"/>
                  <a:t>3</a:t>
                </a:r>
              </a:p>
            </p:txBody>
          </p:sp>
          <p:cxnSp>
            <p:nvCxnSpPr>
              <p:cNvPr id="71" name="Straight Arrow Connector 70">
                <a:extLst>
                  <a:ext uri="{FF2B5EF4-FFF2-40B4-BE49-F238E27FC236}">
                    <a16:creationId xmlns:a16="http://schemas.microsoft.com/office/drawing/2014/main" id="{ED50718B-DE33-A165-7DB6-EE364F72BF2C}"/>
                  </a:ext>
                </a:extLst>
              </p:cNvPr>
              <p:cNvCxnSpPr>
                <a:stCxn id="69" idx="6"/>
              </p:cNvCxnSpPr>
              <p:nvPr/>
            </p:nvCxnSpPr>
            <p:spPr>
              <a:xfrm>
                <a:off x="1835286" y="2870117"/>
                <a:ext cx="1841769" cy="0"/>
              </a:xfrm>
              <a:prstGeom prst="straightConnector1">
                <a:avLst/>
              </a:prstGeom>
              <a:ln w="28575">
                <a:solidFill>
                  <a:schemeClr val="tx1"/>
                </a:solidFill>
                <a:headEnd type="none" w="med" len="med"/>
                <a:tailEnd type="arrow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2" name="Straight Arrow Connector 71">
                <a:extLst>
                  <a:ext uri="{FF2B5EF4-FFF2-40B4-BE49-F238E27FC236}">
                    <a16:creationId xmlns:a16="http://schemas.microsoft.com/office/drawing/2014/main" id="{4A4D5390-1ED1-E59D-4DBF-65C67E3AA275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1847918" y="2137588"/>
                <a:ext cx="1166432" cy="739760"/>
              </a:xfrm>
              <a:prstGeom prst="straightConnector1">
                <a:avLst/>
              </a:prstGeom>
              <a:ln w="28575">
                <a:solidFill>
                  <a:schemeClr val="tx1"/>
                </a:solidFill>
                <a:headEnd type="none" w="med" len="med"/>
                <a:tailEnd type="arrow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73" name="TextBox 72">
                <a:extLst>
                  <a:ext uri="{FF2B5EF4-FFF2-40B4-BE49-F238E27FC236}">
                    <a16:creationId xmlns:a16="http://schemas.microsoft.com/office/drawing/2014/main" id="{ADA00652-C3D8-8258-5F4C-D149D1C7D9C0}"/>
                  </a:ext>
                </a:extLst>
              </p:cNvPr>
              <p:cNvSpPr txBox="1"/>
              <p:nvPr/>
            </p:nvSpPr>
            <p:spPr>
              <a:xfrm>
                <a:off x="2431134" y="2594757"/>
                <a:ext cx="553357" cy="30777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dirty="0"/>
                  <a:t>Hold</a:t>
                </a:r>
              </a:p>
            </p:txBody>
          </p: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74" name="TextBox 73">
                    <a:extLst>
                      <a:ext uri="{FF2B5EF4-FFF2-40B4-BE49-F238E27FC236}">
                        <a16:creationId xmlns:a16="http://schemas.microsoft.com/office/drawing/2014/main" id="{54E27F9A-4E70-0400-1C02-EFDB3EFD98C3}"/>
                      </a:ext>
                    </a:extLst>
                  </p:cNvPr>
                  <p:cNvSpPr txBox="1"/>
                  <p:nvPr/>
                </p:nvSpPr>
                <p:spPr>
                  <a:xfrm rot="19640672">
                    <a:off x="1786156" y="2273357"/>
                    <a:ext cx="909352" cy="307777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r>
                      <a:rPr lang="en-US" dirty="0"/>
                      <a:t>Sell at </a:t>
                    </a:r>
                    <a14:m>
                      <m:oMath xmlns:m="http://schemas.openxmlformats.org/officeDocument/2006/math"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𝑝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3</m:t>
                            </m:r>
                          </m:sub>
                        </m:sSub>
                      </m:oMath>
                    </a14:m>
                    <a:endParaRPr lang="en-US" dirty="0"/>
                  </a:p>
                </p:txBody>
              </p:sp>
            </mc:Choice>
            <mc:Fallback xmlns="">
              <p:sp>
                <p:nvSpPr>
                  <p:cNvPr id="74" name="TextBox 73">
                    <a:extLst>
                      <a:ext uri="{FF2B5EF4-FFF2-40B4-BE49-F238E27FC236}">
                        <a16:creationId xmlns:a16="http://schemas.microsoft.com/office/drawing/2014/main" id="{9474491E-B362-B7C4-1B10-B562F47662F2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 rot="19640672">
                    <a:off x="1786156" y="2273357"/>
                    <a:ext cx="909352" cy="307777"/>
                  </a:xfrm>
                  <a:prstGeom prst="rect">
                    <a:avLst/>
                  </a:prstGeom>
                  <a:blipFill>
                    <a:blip r:embed="rId5"/>
                    <a:stretch>
                      <a:fillRect l="-1948" b="-7258"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  <p:grpSp>
          <p:nvGrpSpPr>
            <p:cNvPr id="62" name="Group 61">
              <a:extLst>
                <a:ext uri="{FF2B5EF4-FFF2-40B4-BE49-F238E27FC236}">
                  <a16:creationId xmlns:a16="http://schemas.microsoft.com/office/drawing/2014/main" id="{A8594F8E-0110-7069-E4C8-09B403C4771D}"/>
                </a:ext>
              </a:extLst>
            </p:cNvPr>
            <p:cNvGrpSpPr/>
            <p:nvPr/>
          </p:nvGrpSpPr>
          <p:grpSpPr>
            <a:xfrm>
              <a:off x="7900490" y="2144078"/>
              <a:ext cx="2138453" cy="887107"/>
              <a:chOff x="1538602" y="2137588"/>
              <a:chExt cx="2138453" cy="887107"/>
            </a:xfrm>
          </p:grpSpPr>
          <p:sp>
            <p:nvSpPr>
              <p:cNvPr id="63" name="Oval 62">
                <a:extLst>
                  <a:ext uri="{FF2B5EF4-FFF2-40B4-BE49-F238E27FC236}">
                    <a16:creationId xmlns:a16="http://schemas.microsoft.com/office/drawing/2014/main" id="{2647D391-E1D0-F8F3-0A12-30E8E4088B4F}"/>
                  </a:ext>
                </a:extLst>
              </p:cNvPr>
              <p:cNvSpPr/>
              <p:nvPr/>
            </p:nvSpPr>
            <p:spPr>
              <a:xfrm>
                <a:off x="1544372" y="2724660"/>
                <a:ext cx="290914" cy="290914"/>
              </a:xfrm>
              <a:prstGeom prst="ellipse">
                <a:avLst/>
              </a:prstGeom>
              <a:solidFill>
                <a:schemeClr val="bg1"/>
              </a:solidFill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64" name="TextBox 63">
                <a:extLst>
                  <a:ext uri="{FF2B5EF4-FFF2-40B4-BE49-F238E27FC236}">
                    <a16:creationId xmlns:a16="http://schemas.microsoft.com/office/drawing/2014/main" id="{0D52BC24-B800-5387-2962-3ACB5D94D111}"/>
                  </a:ext>
                </a:extLst>
              </p:cNvPr>
              <p:cNvSpPr txBox="1"/>
              <p:nvPr/>
            </p:nvSpPr>
            <p:spPr>
              <a:xfrm>
                <a:off x="1538602" y="2716918"/>
                <a:ext cx="284052" cy="30777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dirty="0"/>
                  <a:t>4</a:t>
                </a:r>
              </a:p>
            </p:txBody>
          </p:sp>
          <p:cxnSp>
            <p:nvCxnSpPr>
              <p:cNvPr id="65" name="Straight Arrow Connector 64">
                <a:extLst>
                  <a:ext uri="{FF2B5EF4-FFF2-40B4-BE49-F238E27FC236}">
                    <a16:creationId xmlns:a16="http://schemas.microsoft.com/office/drawing/2014/main" id="{0FC267C9-0A98-020C-C867-048D1057FD54}"/>
                  </a:ext>
                </a:extLst>
              </p:cNvPr>
              <p:cNvCxnSpPr>
                <a:stCxn id="63" idx="6"/>
              </p:cNvCxnSpPr>
              <p:nvPr/>
            </p:nvCxnSpPr>
            <p:spPr>
              <a:xfrm>
                <a:off x="1835286" y="2870117"/>
                <a:ext cx="1841769" cy="0"/>
              </a:xfrm>
              <a:prstGeom prst="straightConnector1">
                <a:avLst/>
              </a:prstGeom>
              <a:ln w="28575">
                <a:solidFill>
                  <a:schemeClr val="tx1"/>
                </a:solidFill>
                <a:headEnd type="none" w="med" len="med"/>
                <a:tailEnd type="arrow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6" name="Straight Arrow Connector 65">
                <a:extLst>
                  <a:ext uri="{FF2B5EF4-FFF2-40B4-BE49-F238E27FC236}">
                    <a16:creationId xmlns:a16="http://schemas.microsoft.com/office/drawing/2014/main" id="{5B7A9019-C3EC-9B46-BE99-276BE8F38284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1847918" y="2137588"/>
                <a:ext cx="1166432" cy="739760"/>
              </a:xfrm>
              <a:prstGeom prst="straightConnector1">
                <a:avLst/>
              </a:prstGeom>
              <a:ln w="28575">
                <a:solidFill>
                  <a:schemeClr val="tx1"/>
                </a:solidFill>
                <a:headEnd type="none" w="med" len="med"/>
                <a:tailEnd type="arrow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67" name="TextBox 66">
                <a:extLst>
                  <a:ext uri="{FF2B5EF4-FFF2-40B4-BE49-F238E27FC236}">
                    <a16:creationId xmlns:a16="http://schemas.microsoft.com/office/drawing/2014/main" id="{F30AD8EE-B2CF-3B9D-97F4-A4C542CE0917}"/>
                  </a:ext>
                </a:extLst>
              </p:cNvPr>
              <p:cNvSpPr txBox="1"/>
              <p:nvPr/>
            </p:nvSpPr>
            <p:spPr>
              <a:xfrm>
                <a:off x="2431134" y="2594757"/>
                <a:ext cx="553357" cy="30777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dirty="0"/>
                  <a:t>Hold</a:t>
                </a:r>
              </a:p>
            </p:txBody>
          </p: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68" name="TextBox 67">
                    <a:extLst>
                      <a:ext uri="{FF2B5EF4-FFF2-40B4-BE49-F238E27FC236}">
                        <a16:creationId xmlns:a16="http://schemas.microsoft.com/office/drawing/2014/main" id="{407FFAC7-5F16-1FFE-6BC5-A56D76E369D9}"/>
                      </a:ext>
                    </a:extLst>
                  </p:cNvPr>
                  <p:cNvSpPr txBox="1"/>
                  <p:nvPr/>
                </p:nvSpPr>
                <p:spPr>
                  <a:xfrm rot="19640672">
                    <a:off x="1786798" y="2273357"/>
                    <a:ext cx="908069" cy="307777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r>
                      <a:rPr lang="en-US" dirty="0"/>
                      <a:t>Sell at </a:t>
                    </a:r>
                    <a14:m>
                      <m:oMath xmlns:m="http://schemas.openxmlformats.org/officeDocument/2006/math"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𝑝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4</m:t>
                            </m:r>
                          </m:sub>
                        </m:sSub>
                      </m:oMath>
                    </a14:m>
                    <a:endParaRPr lang="en-US" dirty="0"/>
                  </a:p>
                </p:txBody>
              </p:sp>
            </mc:Choice>
            <mc:Fallback xmlns="">
              <p:sp>
                <p:nvSpPr>
                  <p:cNvPr id="68" name="TextBox 67">
                    <a:extLst>
                      <a:ext uri="{FF2B5EF4-FFF2-40B4-BE49-F238E27FC236}">
                        <a16:creationId xmlns:a16="http://schemas.microsoft.com/office/drawing/2014/main" id="{A871009B-A45B-1571-5D69-4B1024723EC4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 rot="19640672">
                    <a:off x="1786798" y="2273357"/>
                    <a:ext cx="908069" cy="307777"/>
                  </a:xfrm>
                  <a:prstGeom prst="rect">
                    <a:avLst/>
                  </a:prstGeom>
                  <a:blipFill>
                    <a:blip r:embed="rId6"/>
                    <a:stretch>
                      <a:fillRect l="-1299" b="-7258"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25" name="TextBox 24">
                <a:extLst>
                  <a:ext uri="{FF2B5EF4-FFF2-40B4-BE49-F238E27FC236}">
                    <a16:creationId xmlns:a16="http://schemas.microsoft.com/office/drawing/2014/main" id="{BFADE7A2-57B8-75D9-7DAB-DA37DAE61073}"/>
                  </a:ext>
                </a:extLst>
              </p:cNvPr>
              <p:cNvSpPr txBox="1"/>
              <p:nvPr/>
            </p:nvSpPr>
            <p:spPr>
              <a:xfrm>
                <a:off x="176874" y="3864268"/>
                <a:ext cx="4107989" cy="120032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1800" dirty="0">
                    <a:solidFill>
                      <a:schemeClr val="accent2">
                        <a:lumMod val="75000"/>
                      </a:schemeClr>
                    </a:solidFill>
                    <a:latin typeface="Raleway" pitchFamily="2" charset="0"/>
                  </a:rPr>
                  <a:t>Step backward in time, computing the VFAs as you progress. We only care about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800" b="0" i="1" smtClean="0">
                            <a:solidFill>
                              <a:schemeClr val="accent2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800" b="0" i="1" smtClean="0">
                            <a:solidFill>
                              <a:schemeClr val="accent2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  <m:sub>
                        <m:r>
                          <a:rPr lang="en-US" sz="1800" b="0" i="1" smtClean="0">
                            <a:solidFill>
                              <a:schemeClr val="accent2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</m:sSub>
                    <m:r>
                      <a:rPr lang="en-US" sz="1800" b="0" i="1" smtClean="0">
                        <a:solidFill>
                          <a:schemeClr val="accent2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=1</m:t>
                    </m:r>
                  </m:oMath>
                </a14:m>
                <a:r>
                  <a:rPr lang="en-US" sz="1800" dirty="0">
                    <a:solidFill>
                      <a:schemeClr val="accent2">
                        <a:lumMod val="75000"/>
                      </a:schemeClr>
                    </a:solidFill>
                    <a:latin typeface="Raleway" pitchFamily="2" charset="0"/>
                  </a:rPr>
                  <a:t>, so the VFA is purely a function of the prices. </a:t>
                </a:r>
              </a:p>
            </p:txBody>
          </p:sp>
        </mc:Choice>
        <mc:Fallback xmlns="">
          <p:sp>
            <p:nvSpPr>
              <p:cNvPr id="25" name="TextBox 24">
                <a:extLst>
                  <a:ext uri="{FF2B5EF4-FFF2-40B4-BE49-F238E27FC236}">
                    <a16:creationId xmlns:a16="http://schemas.microsoft.com/office/drawing/2014/main" id="{BFADE7A2-57B8-75D9-7DAB-DA37DAE6107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6874" y="3864268"/>
                <a:ext cx="4107989" cy="1200329"/>
              </a:xfrm>
              <a:prstGeom prst="rect">
                <a:avLst/>
              </a:prstGeom>
              <a:blipFill>
                <a:blip r:embed="rId7"/>
                <a:stretch>
                  <a:fillRect l="-1187" t="-3046" b="-710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5" name="Group 4">
            <a:extLst>
              <a:ext uri="{FF2B5EF4-FFF2-40B4-BE49-F238E27FC236}">
                <a16:creationId xmlns:a16="http://schemas.microsoft.com/office/drawing/2014/main" id="{5D6B8C5A-081A-4CAB-6291-4C427E311951}"/>
              </a:ext>
            </a:extLst>
          </p:cNvPr>
          <p:cNvGrpSpPr/>
          <p:nvPr/>
        </p:nvGrpSpPr>
        <p:grpSpPr>
          <a:xfrm>
            <a:off x="6659313" y="2787519"/>
            <a:ext cx="3629538" cy="2940096"/>
            <a:chOff x="2287338" y="2797044"/>
            <a:chExt cx="3629538" cy="2940096"/>
          </a:xfrm>
        </p:grpSpPr>
        <p:pic>
          <p:nvPicPr>
            <p:cNvPr id="6" name="Picture 5">
              <a:extLst>
                <a:ext uri="{FF2B5EF4-FFF2-40B4-BE49-F238E27FC236}">
                  <a16:creationId xmlns:a16="http://schemas.microsoft.com/office/drawing/2014/main" id="{BB215AB8-9C1D-0902-B066-33167E36FBBA}"/>
                </a:ext>
              </a:extLst>
            </p:cNvPr>
            <p:cNvPicPr>
              <a:picLocks noChangeAspect="1"/>
            </p:cNvPicPr>
            <p:nvPr/>
          </p:nvPicPr>
          <p:blipFill>
            <a:blip r:embed="rId8"/>
            <a:srcRect t="35271"/>
            <a:stretch/>
          </p:blipFill>
          <p:spPr>
            <a:xfrm>
              <a:off x="2287338" y="3382110"/>
              <a:ext cx="3629538" cy="2355030"/>
            </a:xfrm>
            <a:prstGeom prst="rect">
              <a:avLst/>
            </a:prstGeom>
          </p:spPr>
        </p:pic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A9143C0B-6AFC-357F-863E-2FFCE9EEBF1C}"/>
                </a:ext>
              </a:extLst>
            </p:cNvPr>
            <p:cNvSpPr txBox="1"/>
            <p:nvPr/>
          </p:nvSpPr>
          <p:spPr>
            <a:xfrm>
              <a:off x="2321079" y="3105111"/>
              <a:ext cx="2978701" cy="276999"/>
            </a:xfrm>
            <a:prstGeom prst="rect">
              <a:avLst/>
            </a:prstGeom>
            <a:solidFill>
              <a:schemeClr val="bg1"/>
            </a:solidFill>
          </p:spPr>
          <p:txBody>
            <a:bodyPr wrap="none" rtlCol="0">
              <a:spAutoFit/>
            </a:bodyPr>
            <a:lstStyle/>
            <a:p>
              <a:r>
                <a:rPr lang="en-US" sz="1200" dirty="0"/>
                <a:t>Outcome       Sell                          Hold    </a:t>
              </a:r>
            </a:p>
          </p:txBody>
        </p:sp>
        <p:cxnSp>
          <p:nvCxnSpPr>
            <p:cNvPr id="8" name="Straight Connector 7">
              <a:extLst>
                <a:ext uri="{FF2B5EF4-FFF2-40B4-BE49-F238E27FC236}">
                  <a16:creationId xmlns:a16="http://schemas.microsoft.com/office/drawing/2014/main" id="{E5E369CC-B36B-A0D8-2FBF-E7A55A92AD4E}"/>
                </a:ext>
              </a:extLst>
            </p:cNvPr>
            <p:cNvCxnSpPr/>
            <p:nvPr/>
          </p:nvCxnSpPr>
          <p:spPr>
            <a:xfrm>
              <a:off x="3320376" y="3101871"/>
              <a:ext cx="2148927" cy="0"/>
            </a:xfrm>
            <a:prstGeom prst="line">
              <a:avLst/>
            </a:prstGeom>
            <a:ln w="19050">
              <a:solidFill>
                <a:schemeClr val="tx1"/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0A435760-D505-4126-1FAB-34DF61A0AFCB}"/>
                </a:ext>
              </a:extLst>
            </p:cNvPr>
            <p:cNvSpPr txBox="1"/>
            <p:nvPr/>
          </p:nvSpPr>
          <p:spPr>
            <a:xfrm>
              <a:off x="4062937" y="2797044"/>
              <a:ext cx="814647" cy="276999"/>
            </a:xfrm>
            <a:prstGeom prst="rect">
              <a:avLst/>
            </a:prstGeom>
            <a:solidFill>
              <a:schemeClr val="bg1"/>
            </a:solidFill>
          </p:spPr>
          <p:txBody>
            <a:bodyPr wrap="none" rtlCol="0">
              <a:spAutoFit/>
            </a:bodyPr>
            <a:lstStyle/>
            <a:p>
              <a:r>
                <a:rPr lang="en-US" sz="1200" dirty="0"/>
                <a:t>Decision 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365250577"/>
      </p:ext>
    </p:extLst>
  </p:cSld>
  <p:clrMapOvr>
    <a:masterClrMapping/>
  </p:clrMapOvr>
</p:sld>
</file>

<file path=ppt/slides/slide1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BB4DB21-DE3F-51C6-6788-1247939B197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869964A-AC82-472F-F34D-2DE2CD66C8E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3200" dirty="0"/>
              <a:t>Value iteration: Financial application</a:t>
            </a:r>
            <a:endParaRPr lang="en-US" dirty="0"/>
          </a:p>
        </p:txBody>
      </p:sp>
      <p:sp>
        <p:nvSpPr>
          <p:cNvPr id="18" name="Text Placeholder 2">
            <a:extLst>
              <a:ext uri="{FF2B5EF4-FFF2-40B4-BE49-F238E27FC236}">
                <a16:creationId xmlns:a16="http://schemas.microsoft.com/office/drawing/2014/main" id="{65362C1B-05B1-9E04-1D3C-6C9DA4F9A8A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54997" y="1039544"/>
            <a:ext cx="10363200" cy="4401600"/>
          </a:xfrm>
        </p:spPr>
        <p:txBody>
          <a:bodyPr/>
          <a:lstStyle/>
          <a:p>
            <a:pPr marL="86360" indent="0">
              <a:buNone/>
            </a:pPr>
            <a:r>
              <a:rPr lang="en-US" dirty="0"/>
              <a:t>Longstaff and Schwartz - Pricing an American option</a:t>
            </a:r>
          </a:p>
        </p:txBody>
      </p:sp>
      <p:grpSp>
        <p:nvGrpSpPr>
          <p:cNvPr id="21" name="Group 20">
            <a:extLst>
              <a:ext uri="{FF2B5EF4-FFF2-40B4-BE49-F238E27FC236}">
                <a16:creationId xmlns:a16="http://schemas.microsoft.com/office/drawing/2014/main" id="{2088A906-52AB-9709-DC07-0DD78E5FDB1C}"/>
              </a:ext>
            </a:extLst>
          </p:cNvPr>
          <p:cNvGrpSpPr/>
          <p:nvPr/>
        </p:nvGrpSpPr>
        <p:grpSpPr>
          <a:xfrm>
            <a:off x="1532117" y="1670661"/>
            <a:ext cx="8500341" cy="893597"/>
            <a:chOff x="1538602" y="2137588"/>
            <a:chExt cx="8500341" cy="893597"/>
          </a:xfrm>
        </p:grpSpPr>
        <p:grpSp>
          <p:nvGrpSpPr>
            <p:cNvPr id="48" name="Group 47">
              <a:extLst>
                <a:ext uri="{FF2B5EF4-FFF2-40B4-BE49-F238E27FC236}">
                  <a16:creationId xmlns:a16="http://schemas.microsoft.com/office/drawing/2014/main" id="{D12C680C-CE70-EE51-D11D-0C6FF276F866}"/>
                </a:ext>
              </a:extLst>
            </p:cNvPr>
            <p:cNvGrpSpPr/>
            <p:nvPr/>
          </p:nvGrpSpPr>
          <p:grpSpPr>
            <a:xfrm>
              <a:off x="1538602" y="2137588"/>
              <a:ext cx="2138453" cy="887107"/>
              <a:chOff x="1538602" y="2137588"/>
              <a:chExt cx="2138453" cy="887107"/>
            </a:xfrm>
          </p:grpSpPr>
          <p:sp>
            <p:nvSpPr>
              <p:cNvPr id="81" name="Oval 80">
                <a:extLst>
                  <a:ext uri="{FF2B5EF4-FFF2-40B4-BE49-F238E27FC236}">
                    <a16:creationId xmlns:a16="http://schemas.microsoft.com/office/drawing/2014/main" id="{887900A5-1957-BB47-B9E5-54AC0D2D75E4}"/>
                  </a:ext>
                </a:extLst>
              </p:cNvPr>
              <p:cNvSpPr/>
              <p:nvPr/>
            </p:nvSpPr>
            <p:spPr>
              <a:xfrm>
                <a:off x="1544372" y="2724660"/>
                <a:ext cx="290914" cy="290914"/>
              </a:xfrm>
              <a:prstGeom prst="ellipse">
                <a:avLst/>
              </a:prstGeom>
              <a:solidFill>
                <a:schemeClr val="bg1"/>
              </a:solidFill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82" name="TextBox 81">
                <a:extLst>
                  <a:ext uri="{FF2B5EF4-FFF2-40B4-BE49-F238E27FC236}">
                    <a16:creationId xmlns:a16="http://schemas.microsoft.com/office/drawing/2014/main" id="{E187359D-2525-8D34-42C5-17E517BD48C5}"/>
                  </a:ext>
                </a:extLst>
              </p:cNvPr>
              <p:cNvSpPr txBox="1"/>
              <p:nvPr/>
            </p:nvSpPr>
            <p:spPr>
              <a:xfrm>
                <a:off x="1538602" y="2716918"/>
                <a:ext cx="284052" cy="30777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dirty="0"/>
                  <a:t>1</a:t>
                </a:r>
              </a:p>
            </p:txBody>
          </p:sp>
          <p:cxnSp>
            <p:nvCxnSpPr>
              <p:cNvPr id="83" name="Straight Arrow Connector 82">
                <a:extLst>
                  <a:ext uri="{FF2B5EF4-FFF2-40B4-BE49-F238E27FC236}">
                    <a16:creationId xmlns:a16="http://schemas.microsoft.com/office/drawing/2014/main" id="{7F13E62E-7557-977F-30E3-9B459A6C32E1}"/>
                  </a:ext>
                </a:extLst>
              </p:cNvPr>
              <p:cNvCxnSpPr>
                <a:stCxn id="81" idx="6"/>
              </p:cNvCxnSpPr>
              <p:nvPr/>
            </p:nvCxnSpPr>
            <p:spPr>
              <a:xfrm>
                <a:off x="1835286" y="2870117"/>
                <a:ext cx="1841769" cy="0"/>
              </a:xfrm>
              <a:prstGeom prst="straightConnector1">
                <a:avLst/>
              </a:prstGeom>
              <a:ln w="28575">
                <a:solidFill>
                  <a:schemeClr val="tx1"/>
                </a:solidFill>
                <a:headEnd type="none" w="med" len="med"/>
                <a:tailEnd type="arrow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4" name="Straight Arrow Connector 83">
                <a:extLst>
                  <a:ext uri="{FF2B5EF4-FFF2-40B4-BE49-F238E27FC236}">
                    <a16:creationId xmlns:a16="http://schemas.microsoft.com/office/drawing/2014/main" id="{92B5FCE1-929F-3275-9D1A-2CE5F04D1C63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1847918" y="2137588"/>
                <a:ext cx="1166432" cy="739760"/>
              </a:xfrm>
              <a:prstGeom prst="straightConnector1">
                <a:avLst/>
              </a:prstGeom>
              <a:ln w="28575">
                <a:solidFill>
                  <a:schemeClr val="tx1"/>
                </a:solidFill>
                <a:headEnd type="none" w="med" len="med"/>
                <a:tailEnd type="arrow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85" name="TextBox 84">
                <a:extLst>
                  <a:ext uri="{FF2B5EF4-FFF2-40B4-BE49-F238E27FC236}">
                    <a16:creationId xmlns:a16="http://schemas.microsoft.com/office/drawing/2014/main" id="{7DC3782E-61DC-BB8A-C8EC-6BFBACD54149}"/>
                  </a:ext>
                </a:extLst>
              </p:cNvPr>
              <p:cNvSpPr txBox="1"/>
              <p:nvPr/>
            </p:nvSpPr>
            <p:spPr>
              <a:xfrm>
                <a:off x="2431134" y="2594757"/>
                <a:ext cx="553357" cy="30777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dirty="0"/>
                  <a:t>Hold</a:t>
                </a:r>
              </a:p>
            </p:txBody>
          </p: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86" name="TextBox 85">
                    <a:extLst>
                      <a:ext uri="{FF2B5EF4-FFF2-40B4-BE49-F238E27FC236}">
                        <a16:creationId xmlns:a16="http://schemas.microsoft.com/office/drawing/2014/main" id="{FF230DE5-AEBC-3C67-45AF-C284F0875F7C}"/>
                      </a:ext>
                    </a:extLst>
                  </p:cNvPr>
                  <p:cNvSpPr txBox="1"/>
                  <p:nvPr/>
                </p:nvSpPr>
                <p:spPr>
                  <a:xfrm rot="19640672">
                    <a:off x="1788240" y="2273357"/>
                    <a:ext cx="905184" cy="307777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r>
                      <a:rPr lang="en-US" dirty="0"/>
                      <a:t>Sell at </a:t>
                    </a:r>
                    <a14:m>
                      <m:oMath xmlns:m="http://schemas.openxmlformats.org/officeDocument/2006/math"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𝑝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oMath>
                    </a14:m>
                    <a:endParaRPr lang="en-US" dirty="0"/>
                  </a:p>
                </p:txBody>
              </p:sp>
            </mc:Choice>
            <mc:Fallback xmlns="">
              <p:sp>
                <p:nvSpPr>
                  <p:cNvPr id="86" name="TextBox 85">
                    <a:extLst>
                      <a:ext uri="{FF2B5EF4-FFF2-40B4-BE49-F238E27FC236}">
                        <a16:creationId xmlns:a16="http://schemas.microsoft.com/office/drawing/2014/main" id="{51D2BF2A-95EE-6362-E7EA-3BD990E9840E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 rot="19640672">
                    <a:off x="1788240" y="2273357"/>
                    <a:ext cx="905184" cy="307777"/>
                  </a:xfrm>
                  <a:prstGeom prst="rect">
                    <a:avLst/>
                  </a:prstGeom>
                  <a:blipFill>
                    <a:blip r:embed="rId3"/>
                    <a:stretch>
                      <a:fillRect l="-1961" b="-8130"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  <p:grpSp>
          <p:nvGrpSpPr>
            <p:cNvPr id="60" name="Group 59">
              <a:extLst>
                <a:ext uri="{FF2B5EF4-FFF2-40B4-BE49-F238E27FC236}">
                  <a16:creationId xmlns:a16="http://schemas.microsoft.com/office/drawing/2014/main" id="{6847BE9F-1389-E15D-5CE7-614608D31FBE}"/>
                </a:ext>
              </a:extLst>
            </p:cNvPr>
            <p:cNvGrpSpPr/>
            <p:nvPr/>
          </p:nvGrpSpPr>
          <p:grpSpPr>
            <a:xfrm>
              <a:off x="3655991" y="2140833"/>
              <a:ext cx="2138453" cy="887107"/>
              <a:chOff x="1538602" y="2137588"/>
              <a:chExt cx="2138453" cy="887107"/>
            </a:xfrm>
          </p:grpSpPr>
          <p:sp>
            <p:nvSpPr>
              <p:cNvPr id="75" name="Oval 74">
                <a:extLst>
                  <a:ext uri="{FF2B5EF4-FFF2-40B4-BE49-F238E27FC236}">
                    <a16:creationId xmlns:a16="http://schemas.microsoft.com/office/drawing/2014/main" id="{8DDB99AF-0D4C-D1B3-0C03-1DB1FE1B82EB}"/>
                  </a:ext>
                </a:extLst>
              </p:cNvPr>
              <p:cNvSpPr/>
              <p:nvPr/>
            </p:nvSpPr>
            <p:spPr>
              <a:xfrm>
                <a:off x="1544372" y="2724660"/>
                <a:ext cx="290914" cy="290914"/>
              </a:xfrm>
              <a:prstGeom prst="ellipse">
                <a:avLst/>
              </a:prstGeom>
              <a:solidFill>
                <a:schemeClr val="bg1"/>
              </a:solidFill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76" name="TextBox 75">
                <a:extLst>
                  <a:ext uri="{FF2B5EF4-FFF2-40B4-BE49-F238E27FC236}">
                    <a16:creationId xmlns:a16="http://schemas.microsoft.com/office/drawing/2014/main" id="{B09926EA-765F-0C39-E9F5-A794482AA498}"/>
                  </a:ext>
                </a:extLst>
              </p:cNvPr>
              <p:cNvSpPr txBox="1"/>
              <p:nvPr/>
            </p:nvSpPr>
            <p:spPr>
              <a:xfrm>
                <a:off x="1538602" y="2716918"/>
                <a:ext cx="284052" cy="30777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dirty="0"/>
                  <a:t>2</a:t>
                </a:r>
              </a:p>
            </p:txBody>
          </p:sp>
          <p:cxnSp>
            <p:nvCxnSpPr>
              <p:cNvPr id="77" name="Straight Arrow Connector 76">
                <a:extLst>
                  <a:ext uri="{FF2B5EF4-FFF2-40B4-BE49-F238E27FC236}">
                    <a16:creationId xmlns:a16="http://schemas.microsoft.com/office/drawing/2014/main" id="{CEB123C0-397E-07CB-C3F1-9FACA96F3094}"/>
                  </a:ext>
                </a:extLst>
              </p:cNvPr>
              <p:cNvCxnSpPr>
                <a:stCxn id="75" idx="6"/>
              </p:cNvCxnSpPr>
              <p:nvPr/>
            </p:nvCxnSpPr>
            <p:spPr>
              <a:xfrm>
                <a:off x="1835286" y="2870117"/>
                <a:ext cx="1841769" cy="0"/>
              </a:xfrm>
              <a:prstGeom prst="straightConnector1">
                <a:avLst/>
              </a:prstGeom>
              <a:ln w="28575">
                <a:solidFill>
                  <a:schemeClr val="tx1"/>
                </a:solidFill>
                <a:headEnd type="none" w="med" len="med"/>
                <a:tailEnd type="arrow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8" name="Straight Arrow Connector 77">
                <a:extLst>
                  <a:ext uri="{FF2B5EF4-FFF2-40B4-BE49-F238E27FC236}">
                    <a16:creationId xmlns:a16="http://schemas.microsoft.com/office/drawing/2014/main" id="{4A666104-C6AF-7B7F-82B8-B49EAA708E0F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1847918" y="2137588"/>
                <a:ext cx="1166432" cy="739760"/>
              </a:xfrm>
              <a:prstGeom prst="straightConnector1">
                <a:avLst/>
              </a:prstGeom>
              <a:ln w="28575">
                <a:solidFill>
                  <a:schemeClr val="tx1"/>
                </a:solidFill>
                <a:headEnd type="none" w="med" len="med"/>
                <a:tailEnd type="arrow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79" name="TextBox 78">
                <a:extLst>
                  <a:ext uri="{FF2B5EF4-FFF2-40B4-BE49-F238E27FC236}">
                    <a16:creationId xmlns:a16="http://schemas.microsoft.com/office/drawing/2014/main" id="{BE6C0B83-7DDB-1AC3-01C2-A31E4CCCAE48}"/>
                  </a:ext>
                </a:extLst>
              </p:cNvPr>
              <p:cNvSpPr txBox="1"/>
              <p:nvPr/>
            </p:nvSpPr>
            <p:spPr>
              <a:xfrm>
                <a:off x="2431134" y="2594757"/>
                <a:ext cx="553357" cy="30777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dirty="0"/>
                  <a:t>Hold</a:t>
                </a:r>
              </a:p>
            </p:txBody>
          </p: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80" name="TextBox 79">
                    <a:extLst>
                      <a:ext uri="{FF2B5EF4-FFF2-40B4-BE49-F238E27FC236}">
                        <a16:creationId xmlns:a16="http://schemas.microsoft.com/office/drawing/2014/main" id="{68719FA8-2E07-62AD-5248-7C4EB945D3C4}"/>
                      </a:ext>
                    </a:extLst>
                  </p:cNvPr>
                  <p:cNvSpPr txBox="1"/>
                  <p:nvPr/>
                </p:nvSpPr>
                <p:spPr>
                  <a:xfrm rot="19640672">
                    <a:off x="1786156" y="2273357"/>
                    <a:ext cx="909352" cy="307777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r>
                      <a:rPr lang="en-US" dirty="0"/>
                      <a:t>Sell at </a:t>
                    </a:r>
                    <a14:m>
                      <m:oMath xmlns:m="http://schemas.openxmlformats.org/officeDocument/2006/math"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𝑝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oMath>
                    </a14:m>
                    <a:endParaRPr lang="en-US" dirty="0"/>
                  </a:p>
                </p:txBody>
              </p:sp>
            </mc:Choice>
            <mc:Fallback xmlns="">
              <p:sp>
                <p:nvSpPr>
                  <p:cNvPr id="80" name="TextBox 79">
                    <a:extLst>
                      <a:ext uri="{FF2B5EF4-FFF2-40B4-BE49-F238E27FC236}">
                        <a16:creationId xmlns:a16="http://schemas.microsoft.com/office/drawing/2014/main" id="{8F9E8D89-B5C4-2686-521E-3BAF6B13DC90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 rot="19640672">
                    <a:off x="1786156" y="2273357"/>
                    <a:ext cx="909352" cy="307777"/>
                  </a:xfrm>
                  <a:prstGeom prst="rect">
                    <a:avLst/>
                  </a:prstGeom>
                  <a:blipFill>
                    <a:blip r:embed="rId4"/>
                    <a:stretch>
                      <a:fillRect l="-1948" b="-7258"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  <p:grpSp>
          <p:nvGrpSpPr>
            <p:cNvPr id="61" name="Group 60">
              <a:extLst>
                <a:ext uri="{FF2B5EF4-FFF2-40B4-BE49-F238E27FC236}">
                  <a16:creationId xmlns:a16="http://schemas.microsoft.com/office/drawing/2014/main" id="{83C8701C-1189-AE03-8B53-6D3482C341AF}"/>
                </a:ext>
              </a:extLst>
            </p:cNvPr>
            <p:cNvGrpSpPr/>
            <p:nvPr/>
          </p:nvGrpSpPr>
          <p:grpSpPr>
            <a:xfrm>
              <a:off x="5783101" y="2140833"/>
              <a:ext cx="2138453" cy="887107"/>
              <a:chOff x="1538602" y="2137588"/>
              <a:chExt cx="2138453" cy="887107"/>
            </a:xfrm>
          </p:grpSpPr>
          <p:sp>
            <p:nvSpPr>
              <p:cNvPr id="69" name="Oval 68">
                <a:extLst>
                  <a:ext uri="{FF2B5EF4-FFF2-40B4-BE49-F238E27FC236}">
                    <a16:creationId xmlns:a16="http://schemas.microsoft.com/office/drawing/2014/main" id="{CB3EAEA3-8559-FE23-B20B-931F2B44588A}"/>
                  </a:ext>
                </a:extLst>
              </p:cNvPr>
              <p:cNvSpPr/>
              <p:nvPr/>
            </p:nvSpPr>
            <p:spPr>
              <a:xfrm>
                <a:off x="1544372" y="2724660"/>
                <a:ext cx="290914" cy="290914"/>
              </a:xfrm>
              <a:prstGeom prst="ellipse">
                <a:avLst/>
              </a:prstGeom>
              <a:solidFill>
                <a:schemeClr val="bg1"/>
              </a:solidFill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70" name="TextBox 69">
                <a:extLst>
                  <a:ext uri="{FF2B5EF4-FFF2-40B4-BE49-F238E27FC236}">
                    <a16:creationId xmlns:a16="http://schemas.microsoft.com/office/drawing/2014/main" id="{26F48F33-B2B4-C8EE-72D9-EF9C18F4BE05}"/>
                  </a:ext>
                </a:extLst>
              </p:cNvPr>
              <p:cNvSpPr txBox="1"/>
              <p:nvPr/>
            </p:nvSpPr>
            <p:spPr>
              <a:xfrm>
                <a:off x="1538602" y="2716918"/>
                <a:ext cx="284052" cy="30777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dirty="0"/>
                  <a:t>3</a:t>
                </a:r>
              </a:p>
            </p:txBody>
          </p:sp>
          <p:cxnSp>
            <p:nvCxnSpPr>
              <p:cNvPr id="71" name="Straight Arrow Connector 70">
                <a:extLst>
                  <a:ext uri="{FF2B5EF4-FFF2-40B4-BE49-F238E27FC236}">
                    <a16:creationId xmlns:a16="http://schemas.microsoft.com/office/drawing/2014/main" id="{501F84A4-44FD-B135-A11A-87242D43F06E}"/>
                  </a:ext>
                </a:extLst>
              </p:cNvPr>
              <p:cNvCxnSpPr>
                <a:stCxn id="69" idx="6"/>
              </p:cNvCxnSpPr>
              <p:nvPr/>
            </p:nvCxnSpPr>
            <p:spPr>
              <a:xfrm>
                <a:off x="1835286" y="2870117"/>
                <a:ext cx="1841769" cy="0"/>
              </a:xfrm>
              <a:prstGeom prst="straightConnector1">
                <a:avLst/>
              </a:prstGeom>
              <a:ln w="28575">
                <a:solidFill>
                  <a:schemeClr val="tx1"/>
                </a:solidFill>
                <a:headEnd type="none" w="med" len="med"/>
                <a:tailEnd type="arrow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2" name="Straight Arrow Connector 71">
                <a:extLst>
                  <a:ext uri="{FF2B5EF4-FFF2-40B4-BE49-F238E27FC236}">
                    <a16:creationId xmlns:a16="http://schemas.microsoft.com/office/drawing/2014/main" id="{78D8DA1C-22D6-6DBE-3F54-BC26F3299333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1847918" y="2137588"/>
                <a:ext cx="1166432" cy="739760"/>
              </a:xfrm>
              <a:prstGeom prst="straightConnector1">
                <a:avLst/>
              </a:prstGeom>
              <a:ln w="28575">
                <a:solidFill>
                  <a:schemeClr val="tx1"/>
                </a:solidFill>
                <a:headEnd type="none" w="med" len="med"/>
                <a:tailEnd type="arrow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73" name="TextBox 72">
                <a:extLst>
                  <a:ext uri="{FF2B5EF4-FFF2-40B4-BE49-F238E27FC236}">
                    <a16:creationId xmlns:a16="http://schemas.microsoft.com/office/drawing/2014/main" id="{6410DCFE-7EE7-52A0-9882-C158DD961F49}"/>
                  </a:ext>
                </a:extLst>
              </p:cNvPr>
              <p:cNvSpPr txBox="1"/>
              <p:nvPr/>
            </p:nvSpPr>
            <p:spPr>
              <a:xfrm>
                <a:off x="2431134" y="2594757"/>
                <a:ext cx="553357" cy="30777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dirty="0"/>
                  <a:t>Hold</a:t>
                </a:r>
              </a:p>
            </p:txBody>
          </p: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74" name="TextBox 73">
                    <a:extLst>
                      <a:ext uri="{FF2B5EF4-FFF2-40B4-BE49-F238E27FC236}">
                        <a16:creationId xmlns:a16="http://schemas.microsoft.com/office/drawing/2014/main" id="{E5874540-F298-5D85-01BD-038D4C2E444E}"/>
                      </a:ext>
                    </a:extLst>
                  </p:cNvPr>
                  <p:cNvSpPr txBox="1"/>
                  <p:nvPr/>
                </p:nvSpPr>
                <p:spPr>
                  <a:xfrm rot="19640672">
                    <a:off x="1786156" y="2273357"/>
                    <a:ext cx="909352" cy="307777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r>
                      <a:rPr lang="en-US" dirty="0"/>
                      <a:t>Sell at </a:t>
                    </a:r>
                    <a14:m>
                      <m:oMath xmlns:m="http://schemas.openxmlformats.org/officeDocument/2006/math"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𝑝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3</m:t>
                            </m:r>
                          </m:sub>
                        </m:sSub>
                      </m:oMath>
                    </a14:m>
                    <a:endParaRPr lang="en-US" dirty="0"/>
                  </a:p>
                </p:txBody>
              </p:sp>
            </mc:Choice>
            <mc:Fallback xmlns="">
              <p:sp>
                <p:nvSpPr>
                  <p:cNvPr id="74" name="TextBox 73">
                    <a:extLst>
                      <a:ext uri="{FF2B5EF4-FFF2-40B4-BE49-F238E27FC236}">
                        <a16:creationId xmlns:a16="http://schemas.microsoft.com/office/drawing/2014/main" id="{9474491E-B362-B7C4-1B10-B562F47662F2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 rot="19640672">
                    <a:off x="1786156" y="2273357"/>
                    <a:ext cx="909352" cy="307777"/>
                  </a:xfrm>
                  <a:prstGeom prst="rect">
                    <a:avLst/>
                  </a:prstGeom>
                  <a:blipFill>
                    <a:blip r:embed="rId5"/>
                    <a:stretch>
                      <a:fillRect l="-1948" b="-7258"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  <p:grpSp>
          <p:nvGrpSpPr>
            <p:cNvPr id="62" name="Group 61">
              <a:extLst>
                <a:ext uri="{FF2B5EF4-FFF2-40B4-BE49-F238E27FC236}">
                  <a16:creationId xmlns:a16="http://schemas.microsoft.com/office/drawing/2014/main" id="{57E598A9-3AAA-5E2D-8AEA-3BD74E9A4771}"/>
                </a:ext>
              </a:extLst>
            </p:cNvPr>
            <p:cNvGrpSpPr/>
            <p:nvPr/>
          </p:nvGrpSpPr>
          <p:grpSpPr>
            <a:xfrm>
              <a:off x="7900490" y="2144078"/>
              <a:ext cx="2138453" cy="887107"/>
              <a:chOff x="1538602" y="2137588"/>
              <a:chExt cx="2138453" cy="887107"/>
            </a:xfrm>
          </p:grpSpPr>
          <p:sp>
            <p:nvSpPr>
              <p:cNvPr id="63" name="Oval 62">
                <a:extLst>
                  <a:ext uri="{FF2B5EF4-FFF2-40B4-BE49-F238E27FC236}">
                    <a16:creationId xmlns:a16="http://schemas.microsoft.com/office/drawing/2014/main" id="{44A7CF6A-7BA6-A622-F469-00F71905293E}"/>
                  </a:ext>
                </a:extLst>
              </p:cNvPr>
              <p:cNvSpPr/>
              <p:nvPr/>
            </p:nvSpPr>
            <p:spPr>
              <a:xfrm>
                <a:off x="1544372" y="2724660"/>
                <a:ext cx="290914" cy="290914"/>
              </a:xfrm>
              <a:prstGeom prst="ellipse">
                <a:avLst/>
              </a:prstGeom>
              <a:solidFill>
                <a:schemeClr val="bg1"/>
              </a:solidFill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64" name="TextBox 63">
                <a:extLst>
                  <a:ext uri="{FF2B5EF4-FFF2-40B4-BE49-F238E27FC236}">
                    <a16:creationId xmlns:a16="http://schemas.microsoft.com/office/drawing/2014/main" id="{F85A6316-0483-ADE6-857B-3AFBA29D095D}"/>
                  </a:ext>
                </a:extLst>
              </p:cNvPr>
              <p:cNvSpPr txBox="1"/>
              <p:nvPr/>
            </p:nvSpPr>
            <p:spPr>
              <a:xfrm>
                <a:off x="1538602" y="2716918"/>
                <a:ext cx="284052" cy="30777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dirty="0"/>
                  <a:t>4</a:t>
                </a:r>
              </a:p>
            </p:txBody>
          </p:sp>
          <p:cxnSp>
            <p:nvCxnSpPr>
              <p:cNvPr id="65" name="Straight Arrow Connector 64">
                <a:extLst>
                  <a:ext uri="{FF2B5EF4-FFF2-40B4-BE49-F238E27FC236}">
                    <a16:creationId xmlns:a16="http://schemas.microsoft.com/office/drawing/2014/main" id="{EEBED5F3-027C-E325-C61F-E73CFE921E4D}"/>
                  </a:ext>
                </a:extLst>
              </p:cNvPr>
              <p:cNvCxnSpPr>
                <a:stCxn id="63" idx="6"/>
              </p:cNvCxnSpPr>
              <p:nvPr/>
            </p:nvCxnSpPr>
            <p:spPr>
              <a:xfrm>
                <a:off x="1835286" y="2870117"/>
                <a:ext cx="1841769" cy="0"/>
              </a:xfrm>
              <a:prstGeom prst="straightConnector1">
                <a:avLst/>
              </a:prstGeom>
              <a:ln w="28575">
                <a:solidFill>
                  <a:schemeClr val="tx1"/>
                </a:solidFill>
                <a:headEnd type="none" w="med" len="med"/>
                <a:tailEnd type="arrow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6" name="Straight Arrow Connector 65">
                <a:extLst>
                  <a:ext uri="{FF2B5EF4-FFF2-40B4-BE49-F238E27FC236}">
                    <a16:creationId xmlns:a16="http://schemas.microsoft.com/office/drawing/2014/main" id="{DA856405-970F-D462-6499-8F93783EB4B8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1847918" y="2137588"/>
                <a:ext cx="1166432" cy="739760"/>
              </a:xfrm>
              <a:prstGeom prst="straightConnector1">
                <a:avLst/>
              </a:prstGeom>
              <a:ln w="28575">
                <a:solidFill>
                  <a:schemeClr val="tx1"/>
                </a:solidFill>
                <a:headEnd type="none" w="med" len="med"/>
                <a:tailEnd type="arrow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67" name="TextBox 66">
                <a:extLst>
                  <a:ext uri="{FF2B5EF4-FFF2-40B4-BE49-F238E27FC236}">
                    <a16:creationId xmlns:a16="http://schemas.microsoft.com/office/drawing/2014/main" id="{2AAD41EB-7734-5F5A-ED87-BDE8399CF532}"/>
                  </a:ext>
                </a:extLst>
              </p:cNvPr>
              <p:cNvSpPr txBox="1"/>
              <p:nvPr/>
            </p:nvSpPr>
            <p:spPr>
              <a:xfrm>
                <a:off x="2431134" y="2594757"/>
                <a:ext cx="553357" cy="30777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dirty="0"/>
                  <a:t>Hold</a:t>
                </a:r>
              </a:p>
            </p:txBody>
          </p: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68" name="TextBox 67">
                    <a:extLst>
                      <a:ext uri="{FF2B5EF4-FFF2-40B4-BE49-F238E27FC236}">
                        <a16:creationId xmlns:a16="http://schemas.microsoft.com/office/drawing/2014/main" id="{840EDBED-0AAE-8A9C-6AD4-91549692CB48}"/>
                      </a:ext>
                    </a:extLst>
                  </p:cNvPr>
                  <p:cNvSpPr txBox="1"/>
                  <p:nvPr/>
                </p:nvSpPr>
                <p:spPr>
                  <a:xfrm rot="19640672">
                    <a:off x="1786798" y="2273357"/>
                    <a:ext cx="908069" cy="307777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r>
                      <a:rPr lang="en-US" dirty="0"/>
                      <a:t>Sell at </a:t>
                    </a:r>
                    <a14:m>
                      <m:oMath xmlns:m="http://schemas.openxmlformats.org/officeDocument/2006/math"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𝑝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4</m:t>
                            </m:r>
                          </m:sub>
                        </m:sSub>
                      </m:oMath>
                    </a14:m>
                    <a:endParaRPr lang="en-US" dirty="0"/>
                  </a:p>
                </p:txBody>
              </p:sp>
            </mc:Choice>
            <mc:Fallback xmlns="">
              <p:sp>
                <p:nvSpPr>
                  <p:cNvPr id="68" name="TextBox 67">
                    <a:extLst>
                      <a:ext uri="{FF2B5EF4-FFF2-40B4-BE49-F238E27FC236}">
                        <a16:creationId xmlns:a16="http://schemas.microsoft.com/office/drawing/2014/main" id="{A871009B-A45B-1571-5D69-4B1024723EC4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 rot="19640672">
                    <a:off x="1786798" y="2273357"/>
                    <a:ext cx="908069" cy="307777"/>
                  </a:xfrm>
                  <a:prstGeom prst="rect">
                    <a:avLst/>
                  </a:prstGeom>
                  <a:blipFill>
                    <a:blip r:embed="rId6"/>
                    <a:stretch>
                      <a:fillRect l="-1299" b="-7258"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</p:grpSp>
      <p:grpSp>
        <p:nvGrpSpPr>
          <p:cNvPr id="5" name="Group 4">
            <a:extLst>
              <a:ext uri="{FF2B5EF4-FFF2-40B4-BE49-F238E27FC236}">
                <a16:creationId xmlns:a16="http://schemas.microsoft.com/office/drawing/2014/main" id="{1A463F42-4F3C-CDED-29D2-ECC1508853D7}"/>
              </a:ext>
            </a:extLst>
          </p:cNvPr>
          <p:cNvGrpSpPr/>
          <p:nvPr/>
        </p:nvGrpSpPr>
        <p:grpSpPr>
          <a:xfrm>
            <a:off x="4506663" y="2787519"/>
            <a:ext cx="3629538" cy="2940096"/>
            <a:chOff x="2287338" y="2797044"/>
            <a:chExt cx="3629538" cy="2940096"/>
          </a:xfrm>
        </p:grpSpPr>
        <p:pic>
          <p:nvPicPr>
            <p:cNvPr id="6" name="Picture 5">
              <a:extLst>
                <a:ext uri="{FF2B5EF4-FFF2-40B4-BE49-F238E27FC236}">
                  <a16:creationId xmlns:a16="http://schemas.microsoft.com/office/drawing/2014/main" id="{0F2ED406-B9AC-83CC-1225-5B08906A0366}"/>
                </a:ext>
              </a:extLst>
            </p:cNvPr>
            <p:cNvPicPr>
              <a:picLocks noChangeAspect="1"/>
            </p:cNvPicPr>
            <p:nvPr/>
          </p:nvPicPr>
          <p:blipFill>
            <a:blip r:embed="rId7"/>
            <a:srcRect t="35271"/>
            <a:stretch/>
          </p:blipFill>
          <p:spPr>
            <a:xfrm>
              <a:off x="2287338" y="3382110"/>
              <a:ext cx="3629538" cy="2355030"/>
            </a:xfrm>
            <a:prstGeom prst="rect">
              <a:avLst/>
            </a:prstGeom>
          </p:spPr>
        </p:pic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D4BBC98A-451B-09A7-884C-168038547F7D}"/>
                </a:ext>
              </a:extLst>
            </p:cNvPr>
            <p:cNvSpPr txBox="1"/>
            <p:nvPr/>
          </p:nvSpPr>
          <p:spPr>
            <a:xfrm>
              <a:off x="2321079" y="3105111"/>
              <a:ext cx="2978701" cy="276999"/>
            </a:xfrm>
            <a:prstGeom prst="rect">
              <a:avLst/>
            </a:prstGeom>
            <a:solidFill>
              <a:schemeClr val="bg1"/>
            </a:solidFill>
          </p:spPr>
          <p:txBody>
            <a:bodyPr wrap="none" rtlCol="0">
              <a:spAutoFit/>
            </a:bodyPr>
            <a:lstStyle/>
            <a:p>
              <a:r>
                <a:rPr lang="en-US" sz="1200" dirty="0"/>
                <a:t>Outcome       Sell                          Hold    </a:t>
              </a:r>
            </a:p>
          </p:txBody>
        </p:sp>
        <p:cxnSp>
          <p:nvCxnSpPr>
            <p:cNvPr id="8" name="Straight Connector 7">
              <a:extLst>
                <a:ext uri="{FF2B5EF4-FFF2-40B4-BE49-F238E27FC236}">
                  <a16:creationId xmlns:a16="http://schemas.microsoft.com/office/drawing/2014/main" id="{E310B0A5-7D5B-245B-299D-1798DBFBB434}"/>
                </a:ext>
              </a:extLst>
            </p:cNvPr>
            <p:cNvCxnSpPr/>
            <p:nvPr/>
          </p:nvCxnSpPr>
          <p:spPr>
            <a:xfrm>
              <a:off x="3320376" y="3101871"/>
              <a:ext cx="2148927" cy="0"/>
            </a:xfrm>
            <a:prstGeom prst="line">
              <a:avLst/>
            </a:prstGeom>
            <a:ln w="19050">
              <a:solidFill>
                <a:schemeClr val="tx1"/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4D1FB3E2-AE2B-1068-FC97-D7413E80E46F}"/>
                </a:ext>
              </a:extLst>
            </p:cNvPr>
            <p:cNvSpPr txBox="1"/>
            <p:nvPr/>
          </p:nvSpPr>
          <p:spPr>
            <a:xfrm>
              <a:off x="4062937" y="2797044"/>
              <a:ext cx="814647" cy="276999"/>
            </a:xfrm>
            <a:prstGeom prst="rect">
              <a:avLst/>
            </a:prstGeom>
            <a:solidFill>
              <a:schemeClr val="bg1"/>
            </a:solidFill>
          </p:spPr>
          <p:txBody>
            <a:bodyPr wrap="none" rtlCol="0">
              <a:spAutoFit/>
            </a:bodyPr>
            <a:lstStyle/>
            <a:p>
              <a:r>
                <a:rPr lang="en-US" sz="1200" dirty="0"/>
                <a:t>Decision 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396252209"/>
      </p:ext>
    </p:extLst>
  </p:cSld>
  <p:clrMapOvr>
    <a:masterClrMapping/>
  </p:clrMapOvr>
</p:sld>
</file>

<file path=ppt/slides/slide1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BFC222F-5E1B-C01E-3EB2-DA584F0822F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8A8F5BF-130E-36FC-7A53-6DB4F7F8835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3200" dirty="0"/>
              <a:t>Value iteration: Financial application</a:t>
            </a:r>
            <a:endParaRPr lang="en-US" dirty="0"/>
          </a:p>
        </p:txBody>
      </p:sp>
      <p:sp>
        <p:nvSpPr>
          <p:cNvPr id="18" name="Text Placeholder 2">
            <a:extLst>
              <a:ext uri="{FF2B5EF4-FFF2-40B4-BE49-F238E27FC236}">
                <a16:creationId xmlns:a16="http://schemas.microsoft.com/office/drawing/2014/main" id="{A84D075C-42D2-5C72-448C-1BD894D2F08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54997" y="1039544"/>
            <a:ext cx="10363200" cy="4401600"/>
          </a:xfrm>
        </p:spPr>
        <p:txBody>
          <a:bodyPr/>
          <a:lstStyle/>
          <a:p>
            <a:pPr marL="86360" indent="0">
              <a:buNone/>
            </a:pPr>
            <a:r>
              <a:rPr lang="en-US" dirty="0"/>
              <a:t>Longstaff and Schwartz - Pricing an American option</a:t>
            </a:r>
          </a:p>
        </p:txBody>
      </p:sp>
      <p:grpSp>
        <p:nvGrpSpPr>
          <p:cNvPr id="21" name="Group 20">
            <a:extLst>
              <a:ext uri="{FF2B5EF4-FFF2-40B4-BE49-F238E27FC236}">
                <a16:creationId xmlns:a16="http://schemas.microsoft.com/office/drawing/2014/main" id="{33D57644-9797-1CAE-D5D4-D81EFCE244DC}"/>
              </a:ext>
            </a:extLst>
          </p:cNvPr>
          <p:cNvGrpSpPr/>
          <p:nvPr/>
        </p:nvGrpSpPr>
        <p:grpSpPr>
          <a:xfrm>
            <a:off x="1532117" y="1670661"/>
            <a:ext cx="8500341" cy="893597"/>
            <a:chOff x="1538602" y="2137588"/>
            <a:chExt cx="8500341" cy="893597"/>
          </a:xfrm>
        </p:grpSpPr>
        <p:grpSp>
          <p:nvGrpSpPr>
            <p:cNvPr id="48" name="Group 47">
              <a:extLst>
                <a:ext uri="{FF2B5EF4-FFF2-40B4-BE49-F238E27FC236}">
                  <a16:creationId xmlns:a16="http://schemas.microsoft.com/office/drawing/2014/main" id="{6D005CE3-052D-4FFB-704C-1AD96BD32699}"/>
                </a:ext>
              </a:extLst>
            </p:cNvPr>
            <p:cNvGrpSpPr/>
            <p:nvPr/>
          </p:nvGrpSpPr>
          <p:grpSpPr>
            <a:xfrm>
              <a:off x="1538602" y="2137588"/>
              <a:ext cx="2138453" cy="887107"/>
              <a:chOff x="1538602" y="2137588"/>
              <a:chExt cx="2138453" cy="887107"/>
            </a:xfrm>
          </p:grpSpPr>
          <p:sp>
            <p:nvSpPr>
              <p:cNvPr id="81" name="Oval 80">
                <a:extLst>
                  <a:ext uri="{FF2B5EF4-FFF2-40B4-BE49-F238E27FC236}">
                    <a16:creationId xmlns:a16="http://schemas.microsoft.com/office/drawing/2014/main" id="{ABCFA826-D3CA-283E-EC7A-F275A27FB5F5}"/>
                  </a:ext>
                </a:extLst>
              </p:cNvPr>
              <p:cNvSpPr/>
              <p:nvPr/>
            </p:nvSpPr>
            <p:spPr>
              <a:xfrm>
                <a:off x="1544372" y="2724660"/>
                <a:ext cx="290914" cy="290914"/>
              </a:xfrm>
              <a:prstGeom prst="ellipse">
                <a:avLst/>
              </a:prstGeom>
              <a:solidFill>
                <a:schemeClr val="bg1"/>
              </a:solidFill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82" name="TextBox 81">
                <a:extLst>
                  <a:ext uri="{FF2B5EF4-FFF2-40B4-BE49-F238E27FC236}">
                    <a16:creationId xmlns:a16="http://schemas.microsoft.com/office/drawing/2014/main" id="{F74C8661-B64A-D2B5-DF39-3B4BC2BD6679}"/>
                  </a:ext>
                </a:extLst>
              </p:cNvPr>
              <p:cNvSpPr txBox="1"/>
              <p:nvPr/>
            </p:nvSpPr>
            <p:spPr>
              <a:xfrm>
                <a:off x="1538602" y="2716918"/>
                <a:ext cx="284052" cy="30777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dirty="0"/>
                  <a:t>1</a:t>
                </a:r>
              </a:p>
            </p:txBody>
          </p:sp>
          <p:cxnSp>
            <p:nvCxnSpPr>
              <p:cNvPr id="83" name="Straight Arrow Connector 82">
                <a:extLst>
                  <a:ext uri="{FF2B5EF4-FFF2-40B4-BE49-F238E27FC236}">
                    <a16:creationId xmlns:a16="http://schemas.microsoft.com/office/drawing/2014/main" id="{1C12364B-24ED-23E1-CEC0-82B92EF9DA8C}"/>
                  </a:ext>
                </a:extLst>
              </p:cNvPr>
              <p:cNvCxnSpPr>
                <a:stCxn id="81" idx="6"/>
              </p:cNvCxnSpPr>
              <p:nvPr/>
            </p:nvCxnSpPr>
            <p:spPr>
              <a:xfrm>
                <a:off x="1835286" y="2870117"/>
                <a:ext cx="1841769" cy="0"/>
              </a:xfrm>
              <a:prstGeom prst="straightConnector1">
                <a:avLst/>
              </a:prstGeom>
              <a:ln w="28575">
                <a:solidFill>
                  <a:schemeClr val="tx1"/>
                </a:solidFill>
                <a:headEnd type="none" w="med" len="med"/>
                <a:tailEnd type="arrow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4" name="Straight Arrow Connector 83">
                <a:extLst>
                  <a:ext uri="{FF2B5EF4-FFF2-40B4-BE49-F238E27FC236}">
                    <a16:creationId xmlns:a16="http://schemas.microsoft.com/office/drawing/2014/main" id="{DA77C7A2-1FB7-E2BF-1B0A-50DFFC763BA8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1847918" y="2137588"/>
                <a:ext cx="1166432" cy="739760"/>
              </a:xfrm>
              <a:prstGeom prst="straightConnector1">
                <a:avLst/>
              </a:prstGeom>
              <a:ln w="28575">
                <a:solidFill>
                  <a:schemeClr val="tx1"/>
                </a:solidFill>
                <a:headEnd type="none" w="med" len="med"/>
                <a:tailEnd type="arrow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85" name="TextBox 84">
                <a:extLst>
                  <a:ext uri="{FF2B5EF4-FFF2-40B4-BE49-F238E27FC236}">
                    <a16:creationId xmlns:a16="http://schemas.microsoft.com/office/drawing/2014/main" id="{56F1686F-DE5D-AE56-15D3-890BD7AFF61C}"/>
                  </a:ext>
                </a:extLst>
              </p:cNvPr>
              <p:cNvSpPr txBox="1"/>
              <p:nvPr/>
            </p:nvSpPr>
            <p:spPr>
              <a:xfrm>
                <a:off x="2431134" y="2594757"/>
                <a:ext cx="553357" cy="30777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dirty="0"/>
                  <a:t>Hold</a:t>
                </a:r>
              </a:p>
            </p:txBody>
          </p: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86" name="TextBox 85">
                    <a:extLst>
                      <a:ext uri="{FF2B5EF4-FFF2-40B4-BE49-F238E27FC236}">
                        <a16:creationId xmlns:a16="http://schemas.microsoft.com/office/drawing/2014/main" id="{366BFA2C-E442-ABEA-7765-D9DE0C8054C1}"/>
                      </a:ext>
                    </a:extLst>
                  </p:cNvPr>
                  <p:cNvSpPr txBox="1"/>
                  <p:nvPr/>
                </p:nvSpPr>
                <p:spPr>
                  <a:xfrm rot="19640672">
                    <a:off x="1788240" y="2273357"/>
                    <a:ext cx="905184" cy="307777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r>
                      <a:rPr lang="en-US" dirty="0"/>
                      <a:t>Sell at </a:t>
                    </a:r>
                    <a14:m>
                      <m:oMath xmlns:m="http://schemas.openxmlformats.org/officeDocument/2006/math"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𝑝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oMath>
                    </a14:m>
                    <a:endParaRPr lang="en-US" dirty="0"/>
                  </a:p>
                </p:txBody>
              </p:sp>
            </mc:Choice>
            <mc:Fallback xmlns="">
              <p:sp>
                <p:nvSpPr>
                  <p:cNvPr id="86" name="TextBox 85">
                    <a:extLst>
                      <a:ext uri="{FF2B5EF4-FFF2-40B4-BE49-F238E27FC236}">
                        <a16:creationId xmlns:a16="http://schemas.microsoft.com/office/drawing/2014/main" id="{51D2BF2A-95EE-6362-E7EA-3BD990E9840E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 rot="19640672">
                    <a:off x="1788240" y="2273357"/>
                    <a:ext cx="905184" cy="307777"/>
                  </a:xfrm>
                  <a:prstGeom prst="rect">
                    <a:avLst/>
                  </a:prstGeom>
                  <a:blipFill>
                    <a:blip r:embed="rId3"/>
                    <a:stretch>
                      <a:fillRect l="-1961" b="-8130"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  <p:grpSp>
          <p:nvGrpSpPr>
            <p:cNvPr id="60" name="Group 59">
              <a:extLst>
                <a:ext uri="{FF2B5EF4-FFF2-40B4-BE49-F238E27FC236}">
                  <a16:creationId xmlns:a16="http://schemas.microsoft.com/office/drawing/2014/main" id="{E0C27957-E2A2-FCB0-269D-9CDF36167965}"/>
                </a:ext>
              </a:extLst>
            </p:cNvPr>
            <p:cNvGrpSpPr/>
            <p:nvPr/>
          </p:nvGrpSpPr>
          <p:grpSpPr>
            <a:xfrm>
              <a:off x="3655991" y="2140833"/>
              <a:ext cx="2138453" cy="887107"/>
              <a:chOff x="1538602" y="2137588"/>
              <a:chExt cx="2138453" cy="887107"/>
            </a:xfrm>
          </p:grpSpPr>
          <p:sp>
            <p:nvSpPr>
              <p:cNvPr id="75" name="Oval 74">
                <a:extLst>
                  <a:ext uri="{FF2B5EF4-FFF2-40B4-BE49-F238E27FC236}">
                    <a16:creationId xmlns:a16="http://schemas.microsoft.com/office/drawing/2014/main" id="{72536230-3393-943A-4CD7-4412FFC7E415}"/>
                  </a:ext>
                </a:extLst>
              </p:cNvPr>
              <p:cNvSpPr/>
              <p:nvPr/>
            </p:nvSpPr>
            <p:spPr>
              <a:xfrm>
                <a:off x="1544372" y="2724660"/>
                <a:ext cx="290914" cy="290914"/>
              </a:xfrm>
              <a:prstGeom prst="ellipse">
                <a:avLst/>
              </a:prstGeom>
              <a:solidFill>
                <a:schemeClr val="bg1"/>
              </a:solidFill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76" name="TextBox 75">
                <a:extLst>
                  <a:ext uri="{FF2B5EF4-FFF2-40B4-BE49-F238E27FC236}">
                    <a16:creationId xmlns:a16="http://schemas.microsoft.com/office/drawing/2014/main" id="{7670F414-8C86-46BD-6BCF-D230E5818443}"/>
                  </a:ext>
                </a:extLst>
              </p:cNvPr>
              <p:cNvSpPr txBox="1"/>
              <p:nvPr/>
            </p:nvSpPr>
            <p:spPr>
              <a:xfrm>
                <a:off x="1538602" y="2716918"/>
                <a:ext cx="284052" cy="30777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dirty="0"/>
                  <a:t>2</a:t>
                </a:r>
              </a:p>
            </p:txBody>
          </p:sp>
          <p:cxnSp>
            <p:nvCxnSpPr>
              <p:cNvPr id="77" name="Straight Arrow Connector 76">
                <a:extLst>
                  <a:ext uri="{FF2B5EF4-FFF2-40B4-BE49-F238E27FC236}">
                    <a16:creationId xmlns:a16="http://schemas.microsoft.com/office/drawing/2014/main" id="{A9DA4C7B-9F9A-7767-64B6-2FCB716A95A3}"/>
                  </a:ext>
                </a:extLst>
              </p:cNvPr>
              <p:cNvCxnSpPr>
                <a:stCxn id="75" idx="6"/>
              </p:cNvCxnSpPr>
              <p:nvPr/>
            </p:nvCxnSpPr>
            <p:spPr>
              <a:xfrm>
                <a:off x="1835286" y="2870117"/>
                <a:ext cx="1841769" cy="0"/>
              </a:xfrm>
              <a:prstGeom prst="straightConnector1">
                <a:avLst/>
              </a:prstGeom>
              <a:ln w="28575">
                <a:solidFill>
                  <a:schemeClr val="tx1"/>
                </a:solidFill>
                <a:headEnd type="none" w="med" len="med"/>
                <a:tailEnd type="arrow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8" name="Straight Arrow Connector 77">
                <a:extLst>
                  <a:ext uri="{FF2B5EF4-FFF2-40B4-BE49-F238E27FC236}">
                    <a16:creationId xmlns:a16="http://schemas.microsoft.com/office/drawing/2014/main" id="{565374AC-E8C5-E990-D4B0-C2CF6D57E9B2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1847918" y="2137588"/>
                <a:ext cx="1166432" cy="739760"/>
              </a:xfrm>
              <a:prstGeom prst="straightConnector1">
                <a:avLst/>
              </a:prstGeom>
              <a:ln w="28575">
                <a:solidFill>
                  <a:schemeClr val="tx1"/>
                </a:solidFill>
                <a:headEnd type="none" w="med" len="med"/>
                <a:tailEnd type="arrow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79" name="TextBox 78">
                <a:extLst>
                  <a:ext uri="{FF2B5EF4-FFF2-40B4-BE49-F238E27FC236}">
                    <a16:creationId xmlns:a16="http://schemas.microsoft.com/office/drawing/2014/main" id="{D147A406-50C7-08AD-B562-BA086E8B33E1}"/>
                  </a:ext>
                </a:extLst>
              </p:cNvPr>
              <p:cNvSpPr txBox="1"/>
              <p:nvPr/>
            </p:nvSpPr>
            <p:spPr>
              <a:xfrm>
                <a:off x="2431134" y="2594757"/>
                <a:ext cx="553357" cy="30777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dirty="0"/>
                  <a:t>Hold</a:t>
                </a:r>
              </a:p>
            </p:txBody>
          </p: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80" name="TextBox 79">
                    <a:extLst>
                      <a:ext uri="{FF2B5EF4-FFF2-40B4-BE49-F238E27FC236}">
                        <a16:creationId xmlns:a16="http://schemas.microsoft.com/office/drawing/2014/main" id="{9E0846A8-3A68-360A-1211-165DF9AC1D39}"/>
                      </a:ext>
                    </a:extLst>
                  </p:cNvPr>
                  <p:cNvSpPr txBox="1"/>
                  <p:nvPr/>
                </p:nvSpPr>
                <p:spPr>
                  <a:xfrm rot="19640672">
                    <a:off x="1786156" y="2273357"/>
                    <a:ext cx="909352" cy="307777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r>
                      <a:rPr lang="en-US" dirty="0"/>
                      <a:t>Sell at </a:t>
                    </a:r>
                    <a14:m>
                      <m:oMath xmlns:m="http://schemas.openxmlformats.org/officeDocument/2006/math"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𝑝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oMath>
                    </a14:m>
                    <a:endParaRPr lang="en-US" dirty="0"/>
                  </a:p>
                </p:txBody>
              </p:sp>
            </mc:Choice>
            <mc:Fallback xmlns="">
              <p:sp>
                <p:nvSpPr>
                  <p:cNvPr id="80" name="TextBox 79">
                    <a:extLst>
                      <a:ext uri="{FF2B5EF4-FFF2-40B4-BE49-F238E27FC236}">
                        <a16:creationId xmlns:a16="http://schemas.microsoft.com/office/drawing/2014/main" id="{8F9E8D89-B5C4-2686-521E-3BAF6B13DC90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 rot="19640672">
                    <a:off x="1786156" y="2273357"/>
                    <a:ext cx="909352" cy="307777"/>
                  </a:xfrm>
                  <a:prstGeom prst="rect">
                    <a:avLst/>
                  </a:prstGeom>
                  <a:blipFill>
                    <a:blip r:embed="rId4"/>
                    <a:stretch>
                      <a:fillRect l="-1948" b="-7258"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  <p:grpSp>
          <p:nvGrpSpPr>
            <p:cNvPr id="61" name="Group 60">
              <a:extLst>
                <a:ext uri="{FF2B5EF4-FFF2-40B4-BE49-F238E27FC236}">
                  <a16:creationId xmlns:a16="http://schemas.microsoft.com/office/drawing/2014/main" id="{ECB6AF23-E696-B3B3-54AF-9C3B7ADC4059}"/>
                </a:ext>
              </a:extLst>
            </p:cNvPr>
            <p:cNvGrpSpPr/>
            <p:nvPr/>
          </p:nvGrpSpPr>
          <p:grpSpPr>
            <a:xfrm>
              <a:off x="5783101" y="2140833"/>
              <a:ext cx="2138453" cy="887107"/>
              <a:chOff x="1538602" y="2137588"/>
              <a:chExt cx="2138453" cy="887107"/>
            </a:xfrm>
          </p:grpSpPr>
          <p:sp>
            <p:nvSpPr>
              <p:cNvPr id="69" name="Oval 68">
                <a:extLst>
                  <a:ext uri="{FF2B5EF4-FFF2-40B4-BE49-F238E27FC236}">
                    <a16:creationId xmlns:a16="http://schemas.microsoft.com/office/drawing/2014/main" id="{E96231A7-A3EC-861A-89BF-1881EA01C07F}"/>
                  </a:ext>
                </a:extLst>
              </p:cNvPr>
              <p:cNvSpPr/>
              <p:nvPr/>
            </p:nvSpPr>
            <p:spPr>
              <a:xfrm>
                <a:off x="1544372" y="2724660"/>
                <a:ext cx="290914" cy="290914"/>
              </a:xfrm>
              <a:prstGeom prst="ellipse">
                <a:avLst/>
              </a:prstGeom>
              <a:solidFill>
                <a:schemeClr val="bg1"/>
              </a:solidFill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70" name="TextBox 69">
                <a:extLst>
                  <a:ext uri="{FF2B5EF4-FFF2-40B4-BE49-F238E27FC236}">
                    <a16:creationId xmlns:a16="http://schemas.microsoft.com/office/drawing/2014/main" id="{11399D1A-806F-3818-4995-6408EE81E1F8}"/>
                  </a:ext>
                </a:extLst>
              </p:cNvPr>
              <p:cNvSpPr txBox="1"/>
              <p:nvPr/>
            </p:nvSpPr>
            <p:spPr>
              <a:xfrm>
                <a:off x="1538602" y="2716918"/>
                <a:ext cx="284052" cy="30777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dirty="0"/>
                  <a:t>3</a:t>
                </a:r>
              </a:p>
            </p:txBody>
          </p:sp>
          <p:cxnSp>
            <p:nvCxnSpPr>
              <p:cNvPr id="71" name="Straight Arrow Connector 70">
                <a:extLst>
                  <a:ext uri="{FF2B5EF4-FFF2-40B4-BE49-F238E27FC236}">
                    <a16:creationId xmlns:a16="http://schemas.microsoft.com/office/drawing/2014/main" id="{B2433B81-5DA4-0F15-C98F-3F4B54319003}"/>
                  </a:ext>
                </a:extLst>
              </p:cNvPr>
              <p:cNvCxnSpPr>
                <a:stCxn id="69" idx="6"/>
              </p:cNvCxnSpPr>
              <p:nvPr/>
            </p:nvCxnSpPr>
            <p:spPr>
              <a:xfrm>
                <a:off x="1835286" y="2870117"/>
                <a:ext cx="1841769" cy="0"/>
              </a:xfrm>
              <a:prstGeom prst="straightConnector1">
                <a:avLst/>
              </a:prstGeom>
              <a:ln w="28575">
                <a:solidFill>
                  <a:schemeClr val="tx1"/>
                </a:solidFill>
                <a:headEnd type="none" w="med" len="med"/>
                <a:tailEnd type="arrow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2" name="Straight Arrow Connector 71">
                <a:extLst>
                  <a:ext uri="{FF2B5EF4-FFF2-40B4-BE49-F238E27FC236}">
                    <a16:creationId xmlns:a16="http://schemas.microsoft.com/office/drawing/2014/main" id="{1A1D8AE1-2DD4-15CD-0AC7-F4A9824F5AFA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1847918" y="2137588"/>
                <a:ext cx="1166432" cy="739760"/>
              </a:xfrm>
              <a:prstGeom prst="straightConnector1">
                <a:avLst/>
              </a:prstGeom>
              <a:ln w="28575">
                <a:solidFill>
                  <a:schemeClr val="tx1"/>
                </a:solidFill>
                <a:headEnd type="none" w="med" len="med"/>
                <a:tailEnd type="arrow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73" name="TextBox 72">
                <a:extLst>
                  <a:ext uri="{FF2B5EF4-FFF2-40B4-BE49-F238E27FC236}">
                    <a16:creationId xmlns:a16="http://schemas.microsoft.com/office/drawing/2014/main" id="{C5E7FF6D-AFD9-5294-8781-FFE2E65A477A}"/>
                  </a:ext>
                </a:extLst>
              </p:cNvPr>
              <p:cNvSpPr txBox="1"/>
              <p:nvPr/>
            </p:nvSpPr>
            <p:spPr>
              <a:xfrm>
                <a:off x="2431134" y="2594757"/>
                <a:ext cx="553357" cy="30777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dirty="0"/>
                  <a:t>Hold</a:t>
                </a:r>
              </a:p>
            </p:txBody>
          </p: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74" name="TextBox 73">
                    <a:extLst>
                      <a:ext uri="{FF2B5EF4-FFF2-40B4-BE49-F238E27FC236}">
                        <a16:creationId xmlns:a16="http://schemas.microsoft.com/office/drawing/2014/main" id="{26483625-2896-5068-1087-51EE0CCBEEAC}"/>
                      </a:ext>
                    </a:extLst>
                  </p:cNvPr>
                  <p:cNvSpPr txBox="1"/>
                  <p:nvPr/>
                </p:nvSpPr>
                <p:spPr>
                  <a:xfrm rot="19640672">
                    <a:off x="1786156" y="2273357"/>
                    <a:ext cx="909352" cy="307777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r>
                      <a:rPr lang="en-US" dirty="0"/>
                      <a:t>Sell at </a:t>
                    </a:r>
                    <a14:m>
                      <m:oMath xmlns:m="http://schemas.openxmlformats.org/officeDocument/2006/math"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𝑝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3</m:t>
                            </m:r>
                          </m:sub>
                        </m:sSub>
                      </m:oMath>
                    </a14:m>
                    <a:endParaRPr lang="en-US" dirty="0"/>
                  </a:p>
                </p:txBody>
              </p:sp>
            </mc:Choice>
            <mc:Fallback xmlns="">
              <p:sp>
                <p:nvSpPr>
                  <p:cNvPr id="74" name="TextBox 73">
                    <a:extLst>
                      <a:ext uri="{FF2B5EF4-FFF2-40B4-BE49-F238E27FC236}">
                        <a16:creationId xmlns:a16="http://schemas.microsoft.com/office/drawing/2014/main" id="{9474491E-B362-B7C4-1B10-B562F47662F2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 rot="19640672">
                    <a:off x="1786156" y="2273357"/>
                    <a:ext cx="909352" cy="307777"/>
                  </a:xfrm>
                  <a:prstGeom prst="rect">
                    <a:avLst/>
                  </a:prstGeom>
                  <a:blipFill>
                    <a:blip r:embed="rId5"/>
                    <a:stretch>
                      <a:fillRect l="-1948" b="-7258"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  <p:grpSp>
          <p:nvGrpSpPr>
            <p:cNvPr id="62" name="Group 61">
              <a:extLst>
                <a:ext uri="{FF2B5EF4-FFF2-40B4-BE49-F238E27FC236}">
                  <a16:creationId xmlns:a16="http://schemas.microsoft.com/office/drawing/2014/main" id="{2B125219-BAA7-EEBF-3D17-6771C36B2C92}"/>
                </a:ext>
              </a:extLst>
            </p:cNvPr>
            <p:cNvGrpSpPr/>
            <p:nvPr/>
          </p:nvGrpSpPr>
          <p:grpSpPr>
            <a:xfrm>
              <a:off x="7900490" y="2144078"/>
              <a:ext cx="2138453" cy="887107"/>
              <a:chOff x="1538602" y="2137588"/>
              <a:chExt cx="2138453" cy="887107"/>
            </a:xfrm>
          </p:grpSpPr>
          <p:sp>
            <p:nvSpPr>
              <p:cNvPr id="63" name="Oval 62">
                <a:extLst>
                  <a:ext uri="{FF2B5EF4-FFF2-40B4-BE49-F238E27FC236}">
                    <a16:creationId xmlns:a16="http://schemas.microsoft.com/office/drawing/2014/main" id="{11BCA576-48D3-BA72-66E8-EE9DB104BC1F}"/>
                  </a:ext>
                </a:extLst>
              </p:cNvPr>
              <p:cNvSpPr/>
              <p:nvPr/>
            </p:nvSpPr>
            <p:spPr>
              <a:xfrm>
                <a:off x="1544372" y="2724660"/>
                <a:ext cx="290914" cy="290914"/>
              </a:xfrm>
              <a:prstGeom prst="ellipse">
                <a:avLst/>
              </a:prstGeom>
              <a:solidFill>
                <a:schemeClr val="bg1"/>
              </a:solidFill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64" name="TextBox 63">
                <a:extLst>
                  <a:ext uri="{FF2B5EF4-FFF2-40B4-BE49-F238E27FC236}">
                    <a16:creationId xmlns:a16="http://schemas.microsoft.com/office/drawing/2014/main" id="{BC168E62-B67C-2858-6CA9-6D6D053A2273}"/>
                  </a:ext>
                </a:extLst>
              </p:cNvPr>
              <p:cNvSpPr txBox="1"/>
              <p:nvPr/>
            </p:nvSpPr>
            <p:spPr>
              <a:xfrm>
                <a:off x="1538602" y="2716918"/>
                <a:ext cx="284052" cy="30777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dirty="0"/>
                  <a:t>4</a:t>
                </a:r>
              </a:p>
            </p:txBody>
          </p:sp>
          <p:cxnSp>
            <p:nvCxnSpPr>
              <p:cNvPr id="65" name="Straight Arrow Connector 64">
                <a:extLst>
                  <a:ext uri="{FF2B5EF4-FFF2-40B4-BE49-F238E27FC236}">
                    <a16:creationId xmlns:a16="http://schemas.microsoft.com/office/drawing/2014/main" id="{0A50643C-092A-859E-DF32-2B51F866EB47}"/>
                  </a:ext>
                </a:extLst>
              </p:cNvPr>
              <p:cNvCxnSpPr>
                <a:stCxn id="63" idx="6"/>
              </p:cNvCxnSpPr>
              <p:nvPr/>
            </p:nvCxnSpPr>
            <p:spPr>
              <a:xfrm>
                <a:off x="1835286" y="2870117"/>
                <a:ext cx="1841769" cy="0"/>
              </a:xfrm>
              <a:prstGeom prst="straightConnector1">
                <a:avLst/>
              </a:prstGeom>
              <a:ln w="28575">
                <a:solidFill>
                  <a:schemeClr val="tx1"/>
                </a:solidFill>
                <a:headEnd type="none" w="med" len="med"/>
                <a:tailEnd type="arrow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6" name="Straight Arrow Connector 65">
                <a:extLst>
                  <a:ext uri="{FF2B5EF4-FFF2-40B4-BE49-F238E27FC236}">
                    <a16:creationId xmlns:a16="http://schemas.microsoft.com/office/drawing/2014/main" id="{344B217E-2B9D-42AE-3745-AB571621B93F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1847918" y="2137588"/>
                <a:ext cx="1166432" cy="739760"/>
              </a:xfrm>
              <a:prstGeom prst="straightConnector1">
                <a:avLst/>
              </a:prstGeom>
              <a:ln w="28575">
                <a:solidFill>
                  <a:schemeClr val="tx1"/>
                </a:solidFill>
                <a:headEnd type="none" w="med" len="med"/>
                <a:tailEnd type="arrow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67" name="TextBox 66">
                <a:extLst>
                  <a:ext uri="{FF2B5EF4-FFF2-40B4-BE49-F238E27FC236}">
                    <a16:creationId xmlns:a16="http://schemas.microsoft.com/office/drawing/2014/main" id="{D1F5045D-861F-56D9-1CC3-B1BC5A1A4F63}"/>
                  </a:ext>
                </a:extLst>
              </p:cNvPr>
              <p:cNvSpPr txBox="1"/>
              <p:nvPr/>
            </p:nvSpPr>
            <p:spPr>
              <a:xfrm>
                <a:off x="2431134" y="2594757"/>
                <a:ext cx="553357" cy="30777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dirty="0"/>
                  <a:t>Hold</a:t>
                </a:r>
              </a:p>
            </p:txBody>
          </p: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68" name="TextBox 67">
                    <a:extLst>
                      <a:ext uri="{FF2B5EF4-FFF2-40B4-BE49-F238E27FC236}">
                        <a16:creationId xmlns:a16="http://schemas.microsoft.com/office/drawing/2014/main" id="{70296B02-048F-C4A8-B4E4-23448BAD70DA}"/>
                      </a:ext>
                    </a:extLst>
                  </p:cNvPr>
                  <p:cNvSpPr txBox="1"/>
                  <p:nvPr/>
                </p:nvSpPr>
                <p:spPr>
                  <a:xfrm rot="19640672">
                    <a:off x="1786798" y="2273357"/>
                    <a:ext cx="908069" cy="307777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r>
                      <a:rPr lang="en-US" dirty="0"/>
                      <a:t>Sell at </a:t>
                    </a:r>
                    <a14:m>
                      <m:oMath xmlns:m="http://schemas.openxmlformats.org/officeDocument/2006/math"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𝑝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4</m:t>
                            </m:r>
                          </m:sub>
                        </m:sSub>
                      </m:oMath>
                    </a14:m>
                    <a:endParaRPr lang="en-US" dirty="0"/>
                  </a:p>
                </p:txBody>
              </p:sp>
            </mc:Choice>
            <mc:Fallback xmlns="">
              <p:sp>
                <p:nvSpPr>
                  <p:cNvPr id="68" name="TextBox 67">
                    <a:extLst>
                      <a:ext uri="{FF2B5EF4-FFF2-40B4-BE49-F238E27FC236}">
                        <a16:creationId xmlns:a16="http://schemas.microsoft.com/office/drawing/2014/main" id="{A871009B-A45B-1571-5D69-4B1024723EC4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 rot="19640672">
                    <a:off x="1786798" y="2273357"/>
                    <a:ext cx="908069" cy="307777"/>
                  </a:xfrm>
                  <a:prstGeom prst="rect">
                    <a:avLst/>
                  </a:prstGeom>
                  <a:blipFill>
                    <a:blip r:embed="rId6"/>
                    <a:stretch>
                      <a:fillRect l="-1299" b="-7258"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</p:grpSp>
      <p:grpSp>
        <p:nvGrpSpPr>
          <p:cNvPr id="5" name="Group 4">
            <a:extLst>
              <a:ext uri="{FF2B5EF4-FFF2-40B4-BE49-F238E27FC236}">
                <a16:creationId xmlns:a16="http://schemas.microsoft.com/office/drawing/2014/main" id="{62E7DD03-33AE-47C5-DF6D-8F7E8D89B5E9}"/>
              </a:ext>
            </a:extLst>
          </p:cNvPr>
          <p:cNvGrpSpPr/>
          <p:nvPr/>
        </p:nvGrpSpPr>
        <p:grpSpPr>
          <a:xfrm>
            <a:off x="2392113" y="2787519"/>
            <a:ext cx="3629538" cy="2940096"/>
            <a:chOff x="2287338" y="2797044"/>
            <a:chExt cx="3629538" cy="2940096"/>
          </a:xfrm>
        </p:grpSpPr>
        <p:pic>
          <p:nvPicPr>
            <p:cNvPr id="6" name="Picture 5">
              <a:extLst>
                <a:ext uri="{FF2B5EF4-FFF2-40B4-BE49-F238E27FC236}">
                  <a16:creationId xmlns:a16="http://schemas.microsoft.com/office/drawing/2014/main" id="{68294D9C-FDB7-3EBD-23C1-28400D675D0A}"/>
                </a:ext>
              </a:extLst>
            </p:cNvPr>
            <p:cNvPicPr>
              <a:picLocks noChangeAspect="1"/>
            </p:cNvPicPr>
            <p:nvPr/>
          </p:nvPicPr>
          <p:blipFill>
            <a:blip r:embed="rId7"/>
            <a:srcRect t="35271"/>
            <a:stretch/>
          </p:blipFill>
          <p:spPr>
            <a:xfrm>
              <a:off x="2287338" y="3382110"/>
              <a:ext cx="3629538" cy="2355030"/>
            </a:xfrm>
            <a:prstGeom prst="rect">
              <a:avLst/>
            </a:prstGeom>
          </p:spPr>
        </p:pic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8870923B-A8FF-4C3A-9A88-25595B273B9E}"/>
                </a:ext>
              </a:extLst>
            </p:cNvPr>
            <p:cNvSpPr txBox="1"/>
            <p:nvPr/>
          </p:nvSpPr>
          <p:spPr>
            <a:xfrm>
              <a:off x="2321079" y="3105111"/>
              <a:ext cx="2978701" cy="276999"/>
            </a:xfrm>
            <a:prstGeom prst="rect">
              <a:avLst/>
            </a:prstGeom>
            <a:solidFill>
              <a:schemeClr val="bg1"/>
            </a:solidFill>
          </p:spPr>
          <p:txBody>
            <a:bodyPr wrap="none" rtlCol="0">
              <a:spAutoFit/>
            </a:bodyPr>
            <a:lstStyle/>
            <a:p>
              <a:r>
                <a:rPr lang="en-US" sz="1200" dirty="0"/>
                <a:t>Outcome       Sell                          Hold    </a:t>
              </a:r>
            </a:p>
          </p:txBody>
        </p:sp>
        <p:cxnSp>
          <p:nvCxnSpPr>
            <p:cNvPr id="8" name="Straight Connector 7">
              <a:extLst>
                <a:ext uri="{FF2B5EF4-FFF2-40B4-BE49-F238E27FC236}">
                  <a16:creationId xmlns:a16="http://schemas.microsoft.com/office/drawing/2014/main" id="{2CA9F808-FE2E-9308-E922-DA47F4EC068E}"/>
                </a:ext>
              </a:extLst>
            </p:cNvPr>
            <p:cNvCxnSpPr/>
            <p:nvPr/>
          </p:nvCxnSpPr>
          <p:spPr>
            <a:xfrm>
              <a:off x="3320376" y="3101871"/>
              <a:ext cx="2148927" cy="0"/>
            </a:xfrm>
            <a:prstGeom prst="line">
              <a:avLst/>
            </a:prstGeom>
            <a:ln w="19050">
              <a:solidFill>
                <a:schemeClr val="tx1"/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FC551F21-5C7C-F750-822A-6D92C2390230}"/>
                </a:ext>
              </a:extLst>
            </p:cNvPr>
            <p:cNvSpPr txBox="1"/>
            <p:nvPr/>
          </p:nvSpPr>
          <p:spPr>
            <a:xfrm>
              <a:off x="4062937" y="2797044"/>
              <a:ext cx="814647" cy="276999"/>
            </a:xfrm>
            <a:prstGeom prst="rect">
              <a:avLst/>
            </a:prstGeom>
            <a:solidFill>
              <a:schemeClr val="bg1"/>
            </a:solidFill>
          </p:spPr>
          <p:txBody>
            <a:bodyPr wrap="none" rtlCol="0">
              <a:spAutoFit/>
            </a:bodyPr>
            <a:lstStyle/>
            <a:p>
              <a:r>
                <a:rPr lang="en-US" sz="1200" dirty="0"/>
                <a:t>Decision 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801063765"/>
      </p:ext>
    </p:extLst>
  </p:cSld>
  <p:clrMapOvr>
    <a:masterClrMapping/>
  </p:clrMapOvr>
</p:sld>
</file>

<file path=ppt/slides/slide1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7180234-E1EC-1574-ED9D-EFE304F0458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0A720B2-4C42-4581-45F2-84E93818E6F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3200" dirty="0"/>
              <a:t>Value iteration: Financial application</a:t>
            </a:r>
            <a:endParaRPr lang="en-US" dirty="0"/>
          </a:p>
        </p:txBody>
      </p:sp>
      <p:sp>
        <p:nvSpPr>
          <p:cNvPr id="18" name="Text Placeholder 2">
            <a:extLst>
              <a:ext uri="{FF2B5EF4-FFF2-40B4-BE49-F238E27FC236}">
                <a16:creationId xmlns:a16="http://schemas.microsoft.com/office/drawing/2014/main" id="{C4F85743-1825-1101-5F5E-D3B93BD8462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54997" y="1039544"/>
            <a:ext cx="10363200" cy="4401600"/>
          </a:xfrm>
        </p:spPr>
        <p:txBody>
          <a:bodyPr/>
          <a:lstStyle/>
          <a:p>
            <a:pPr marL="86360" indent="0">
              <a:buNone/>
            </a:pPr>
            <a:r>
              <a:rPr lang="en-US" dirty="0"/>
              <a:t>Longstaff and Schwartz - Pricing an American option</a:t>
            </a:r>
          </a:p>
        </p:txBody>
      </p:sp>
      <p:grpSp>
        <p:nvGrpSpPr>
          <p:cNvPr id="21" name="Group 20">
            <a:extLst>
              <a:ext uri="{FF2B5EF4-FFF2-40B4-BE49-F238E27FC236}">
                <a16:creationId xmlns:a16="http://schemas.microsoft.com/office/drawing/2014/main" id="{3230026B-DBD1-3089-EF4D-1024FC215266}"/>
              </a:ext>
            </a:extLst>
          </p:cNvPr>
          <p:cNvGrpSpPr/>
          <p:nvPr/>
        </p:nvGrpSpPr>
        <p:grpSpPr>
          <a:xfrm>
            <a:off x="1532117" y="1670661"/>
            <a:ext cx="8500341" cy="893597"/>
            <a:chOff x="1538602" y="2137588"/>
            <a:chExt cx="8500341" cy="893597"/>
          </a:xfrm>
        </p:grpSpPr>
        <p:grpSp>
          <p:nvGrpSpPr>
            <p:cNvPr id="48" name="Group 47">
              <a:extLst>
                <a:ext uri="{FF2B5EF4-FFF2-40B4-BE49-F238E27FC236}">
                  <a16:creationId xmlns:a16="http://schemas.microsoft.com/office/drawing/2014/main" id="{3357D976-D7C5-EE58-6ACD-7A8DE361C69B}"/>
                </a:ext>
              </a:extLst>
            </p:cNvPr>
            <p:cNvGrpSpPr/>
            <p:nvPr/>
          </p:nvGrpSpPr>
          <p:grpSpPr>
            <a:xfrm>
              <a:off x="1538602" y="2137588"/>
              <a:ext cx="2138453" cy="887107"/>
              <a:chOff x="1538602" y="2137588"/>
              <a:chExt cx="2138453" cy="887107"/>
            </a:xfrm>
          </p:grpSpPr>
          <p:sp>
            <p:nvSpPr>
              <p:cNvPr id="81" name="Oval 80">
                <a:extLst>
                  <a:ext uri="{FF2B5EF4-FFF2-40B4-BE49-F238E27FC236}">
                    <a16:creationId xmlns:a16="http://schemas.microsoft.com/office/drawing/2014/main" id="{03D48CD6-3689-69F0-2E27-BB540A669EF3}"/>
                  </a:ext>
                </a:extLst>
              </p:cNvPr>
              <p:cNvSpPr/>
              <p:nvPr/>
            </p:nvSpPr>
            <p:spPr>
              <a:xfrm>
                <a:off x="1544372" y="2724660"/>
                <a:ext cx="290914" cy="290914"/>
              </a:xfrm>
              <a:prstGeom prst="ellipse">
                <a:avLst/>
              </a:prstGeom>
              <a:solidFill>
                <a:schemeClr val="bg1"/>
              </a:solidFill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82" name="TextBox 81">
                <a:extLst>
                  <a:ext uri="{FF2B5EF4-FFF2-40B4-BE49-F238E27FC236}">
                    <a16:creationId xmlns:a16="http://schemas.microsoft.com/office/drawing/2014/main" id="{F8300CE2-287D-69C9-DF18-87A2DB4E2CA8}"/>
                  </a:ext>
                </a:extLst>
              </p:cNvPr>
              <p:cNvSpPr txBox="1"/>
              <p:nvPr/>
            </p:nvSpPr>
            <p:spPr>
              <a:xfrm>
                <a:off x="1538602" y="2716918"/>
                <a:ext cx="284052" cy="30777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dirty="0"/>
                  <a:t>1</a:t>
                </a:r>
              </a:p>
            </p:txBody>
          </p:sp>
          <p:cxnSp>
            <p:nvCxnSpPr>
              <p:cNvPr id="83" name="Straight Arrow Connector 82">
                <a:extLst>
                  <a:ext uri="{FF2B5EF4-FFF2-40B4-BE49-F238E27FC236}">
                    <a16:creationId xmlns:a16="http://schemas.microsoft.com/office/drawing/2014/main" id="{927F24D5-1D30-C55F-81BF-8C7807A21C8E}"/>
                  </a:ext>
                </a:extLst>
              </p:cNvPr>
              <p:cNvCxnSpPr>
                <a:stCxn id="81" idx="6"/>
              </p:cNvCxnSpPr>
              <p:nvPr/>
            </p:nvCxnSpPr>
            <p:spPr>
              <a:xfrm>
                <a:off x="1835286" y="2870117"/>
                <a:ext cx="1841769" cy="0"/>
              </a:xfrm>
              <a:prstGeom prst="straightConnector1">
                <a:avLst/>
              </a:prstGeom>
              <a:ln w="28575">
                <a:solidFill>
                  <a:schemeClr val="tx1"/>
                </a:solidFill>
                <a:headEnd type="none" w="med" len="med"/>
                <a:tailEnd type="arrow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4" name="Straight Arrow Connector 83">
                <a:extLst>
                  <a:ext uri="{FF2B5EF4-FFF2-40B4-BE49-F238E27FC236}">
                    <a16:creationId xmlns:a16="http://schemas.microsoft.com/office/drawing/2014/main" id="{21190B19-3835-5F94-46F8-185EE1978C8A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1847918" y="2137588"/>
                <a:ext cx="1166432" cy="739760"/>
              </a:xfrm>
              <a:prstGeom prst="straightConnector1">
                <a:avLst/>
              </a:prstGeom>
              <a:ln w="28575">
                <a:solidFill>
                  <a:schemeClr val="tx1"/>
                </a:solidFill>
                <a:headEnd type="none" w="med" len="med"/>
                <a:tailEnd type="arrow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85" name="TextBox 84">
                <a:extLst>
                  <a:ext uri="{FF2B5EF4-FFF2-40B4-BE49-F238E27FC236}">
                    <a16:creationId xmlns:a16="http://schemas.microsoft.com/office/drawing/2014/main" id="{4C745EC8-E75C-2D8B-82D2-B1D971E1AF27}"/>
                  </a:ext>
                </a:extLst>
              </p:cNvPr>
              <p:cNvSpPr txBox="1"/>
              <p:nvPr/>
            </p:nvSpPr>
            <p:spPr>
              <a:xfrm>
                <a:off x="2431134" y="2594757"/>
                <a:ext cx="553357" cy="30777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dirty="0"/>
                  <a:t>Hold</a:t>
                </a:r>
              </a:p>
            </p:txBody>
          </p: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86" name="TextBox 85">
                    <a:extLst>
                      <a:ext uri="{FF2B5EF4-FFF2-40B4-BE49-F238E27FC236}">
                        <a16:creationId xmlns:a16="http://schemas.microsoft.com/office/drawing/2014/main" id="{B31E5358-B8E1-34F9-351D-56CDCBFA9A15}"/>
                      </a:ext>
                    </a:extLst>
                  </p:cNvPr>
                  <p:cNvSpPr txBox="1"/>
                  <p:nvPr/>
                </p:nvSpPr>
                <p:spPr>
                  <a:xfrm rot="19640672">
                    <a:off x="1788240" y="2273357"/>
                    <a:ext cx="905184" cy="307777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r>
                      <a:rPr lang="en-US" dirty="0"/>
                      <a:t>Sell at </a:t>
                    </a:r>
                    <a14:m>
                      <m:oMath xmlns:m="http://schemas.openxmlformats.org/officeDocument/2006/math"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𝑝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oMath>
                    </a14:m>
                    <a:endParaRPr lang="en-US" dirty="0"/>
                  </a:p>
                </p:txBody>
              </p:sp>
            </mc:Choice>
            <mc:Fallback xmlns="">
              <p:sp>
                <p:nvSpPr>
                  <p:cNvPr id="86" name="TextBox 85">
                    <a:extLst>
                      <a:ext uri="{FF2B5EF4-FFF2-40B4-BE49-F238E27FC236}">
                        <a16:creationId xmlns:a16="http://schemas.microsoft.com/office/drawing/2014/main" id="{51D2BF2A-95EE-6362-E7EA-3BD990E9840E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 rot="19640672">
                    <a:off x="1788240" y="2273357"/>
                    <a:ext cx="905184" cy="307777"/>
                  </a:xfrm>
                  <a:prstGeom prst="rect">
                    <a:avLst/>
                  </a:prstGeom>
                  <a:blipFill>
                    <a:blip r:embed="rId3"/>
                    <a:stretch>
                      <a:fillRect l="-1961" b="-8130"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  <p:grpSp>
          <p:nvGrpSpPr>
            <p:cNvPr id="60" name="Group 59">
              <a:extLst>
                <a:ext uri="{FF2B5EF4-FFF2-40B4-BE49-F238E27FC236}">
                  <a16:creationId xmlns:a16="http://schemas.microsoft.com/office/drawing/2014/main" id="{1AF08441-8F2D-34E4-796C-B36961F033E4}"/>
                </a:ext>
              </a:extLst>
            </p:cNvPr>
            <p:cNvGrpSpPr/>
            <p:nvPr/>
          </p:nvGrpSpPr>
          <p:grpSpPr>
            <a:xfrm>
              <a:off x="3655991" y="2140833"/>
              <a:ext cx="2138453" cy="887107"/>
              <a:chOff x="1538602" y="2137588"/>
              <a:chExt cx="2138453" cy="887107"/>
            </a:xfrm>
          </p:grpSpPr>
          <p:sp>
            <p:nvSpPr>
              <p:cNvPr id="75" name="Oval 74">
                <a:extLst>
                  <a:ext uri="{FF2B5EF4-FFF2-40B4-BE49-F238E27FC236}">
                    <a16:creationId xmlns:a16="http://schemas.microsoft.com/office/drawing/2014/main" id="{12B4951E-22CE-CF3D-EC66-735EE08314CA}"/>
                  </a:ext>
                </a:extLst>
              </p:cNvPr>
              <p:cNvSpPr/>
              <p:nvPr/>
            </p:nvSpPr>
            <p:spPr>
              <a:xfrm>
                <a:off x="1544372" y="2724660"/>
                <a:ext cx="290914" cy="290914"/>
              </a:xfrm>
              <a:prstGeom prst="ellipse">
                <a:avLst/>
              </a:prstGeom>
              <a:solidFill>
                <a:schemeClr val="bg1"/>
              </a:solidFill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76" name="TextBox 75">
                <a:extLst>
                  <a:ext uri="{FF2B5EF4-FFF2-40B4-BE49-F238E27FC236}">
                    <a16:creationId xmlns:a16="http://schemas.microsoft.com/office/drawing/2014/main" id="{848AB60C-35E0-8899-DFC3-64261A976F64}"/>
                  </a:ext>
                </a:extLst>
              </p:cNvPr>
              <p:cNvSpPr txBox="1"/>
              <p:nvPr/>
            </p:nvSpPr>
            <p:spPr>
              <a:xfrm>
                <a:off x="1538602" y="2716918"/>
                <a:ext cx="284052" cy="30777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dirty="0"/>
                  <a:t>2</a:t>
                </a:r>
              </a:p>
            </p:txBody>
          </p:sp>
          <p:cxnSp>
            <p:nvCxnSpPr>
              <p:cNvPr id="77" name="Straight Arrow Connector 76">
                <a:extLst>
                  <a:ext uri="{FF2B5EF4-FFF2-40B4-BE49-F238E27FC236}">
                    <a16:creationId xmlns:a16="http://schemas.microsoft.com/office/drawing/2014/main" id="{6AF9BBAE-32BA-4939-C805-E99785EC2FEC}"/>
                  </a:ext>
                </a:extLst>
              </p:cNvPr>
              <p:cNvCxnSpPr>
                <a:stCxn id="75" idx="6"/>
              </p:cNvCxnSpPr>
              <p:nvPr/>
            </p:nvCxnSpPr>
            <p:spPr>
              <a:xfrm>
                <a:off x="1835286" y="2870117"/>
                <a:ext cx="1841769" cy="0"/>
              </a:xfrm>
              <a:prstGeom prst="straightConnector1">
                <a:avLst/>
              </a:prstGeom>
              <a:ln w="28575">
                <a:solidFill>
                  <a:schemeClr val="tx1"/>
                </a:solidFill>
                <a:headEnd type="none" w="med" len="med"/>
                <a:tailEnd type="arrow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8" name="Straight Arrow Connector 77">
                <a:extLst>
                  <a:ext uri="{FF2B5EF4-FFF2-40B4-BE49-F238E27FC236}">
                    <a16:creationId xmlns:a16="http://schemas.microsoft.com/office/drawing/2014/main" id="{EC62F769-1877-3B04-B798-1CC86C2B8415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1847918" y="2137588"/>
                <a:ext cx="1166432" cy="739760"/>
              </a:xfrm>
              <a:prstGeom prst="straightConnector1">
                <a:avLst/>
              </a:prstGeom>
              <a:ln w="28575">
                <a:solidFill>
                  <a:schemeClr val="tx1"/>
                </a:solidFill>
                <a:headEnd type="none" w="med" len="med"/>
                <a:tailEnd type="arrow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79" name="TextBox 78">
                <a:extLst>
                  <a:ext uri="{FF2B5EF4-FFF2-40B4-BE49-F238E27FC236}">
                    <a16:creationId xmlns:a16="http://schemas.microsoft.com/office/drawing/2014/main" id="{E40D692D-A4AA-9C38-5593-36DB51E1FED2}"/>
                  </a:ext>
                </a:extLst>
              </p:cNvPr>
              <p:cNvSpPr txBox="1"/>
              <p:nvPr/>
            </p:nvSpPr>
            <p:spPr>
              <a:xfrm>
                <a:off x="2431134" y="2594757"/>
                <a:ext cx="553357" cy="30777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dirty="0"/>
                  <a:t>Hold</a:t>
                </a:r>
              </a:p>
            </p:txBody>
          </p: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80" name="TextBox 79">
                    <a:extLst>
                      <a:ext uri="{FF2B5EF4-FFF2-40B4-BE49-F238E27FC236}">
                        <a16:creationId xmlns:a16="http://schemas.microsoft.com/office/drawing/2014/main" id="{B017D67F-FE3F-4F74-AC68-AD676A26BA11}"/>
                      </a:ext>
                    </a:extLst>
                  </p:cNvPr>
                  <p:cNvSpPr txBox="1"/>
                  <p:nvPr/>
                </p:nvSpPr>
                <p:spPr>
                  <a:xfrm rot="19640672">
                    <a:off x="1786156" y="2273357"/>
                    <a:ext cx="909352" cy="307777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r>
                      <a:rPr lang="en-US" dirty="0"/>
                      <a:t>Sell at </a:t>
                    </a:r>
                    <a14:m>
                      <m:oMath xmlns:m="http://schemas.openxmlformats.org/officeDocument/2006/math"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𝑝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oMath>
                    </a14:m>
                    <a:endParaRPr lang="en-US" dirty="0"/>
                  </a:p>
                </p:txBody>
              </p:sp>
            </mc:Choice>
            <mc:Fallback xmlns="">
              <p:sp>
                <p:nvSpPr>
                  <p:cNvPr id="80" name="TextBox 79">
                    <a:extLst>
                      <a:ext uri="{FF2B5EF4-FFF2-40B4-BE49-F238E27FC236}">
                        <a16:creationId xmlns:a16="http://schemas.microsoft.com/office/drawing/2014/main" id="{8F9E8D89-B5C4-2686-521E-3BAF6B13DC90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 rot="19640672">
                    <a:off x="1786156" y="2273357"/>
                    <a:ext cx="909352" cy="307777"/>
                  </a:xfrm>
                  <a:prstGeom prst="rect">
                    <a:avLst/>
                  </a:prstGeom>
                  <a:blipFill>
                    <a:blip r:embed="rId4"/>
                    <a:stretch>
                      <a:fillRect l="-1948" b="-7258"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  <p:grpSp>
          <p:nvGrpSpPr>
            <p:cNvPr id="61" name="Group 60">
              <a:extLst>
                <a:ext uri="{FF2B5EF4-FFF2-40B4-BE49-F238E27FC236}">
                  <a16:creationId xmlns:a16="http://schemas.microsoft.com/office/drawing/2014/main" id="{5204E6A7-9410-4B3B-7878-E08FBD1063D4}"/>
                </a:ext>
              </a:extLst>
            </p:cNvPr>
            <p:cNvGrpSpPr/>
            <p:nvPr/>
          </p:nvGrpSpPr>
          <p:grpSpPr>
            <a:xfrm>
              <a:off x="5783101" y="2140833"/>
              <a:ext cx="2138453" cy="887107"/>
              <a:chOff x="1538602" y="2137588"/>
              <a:chExt cx="2138453" cy="887107"/>
            </a:xfrm>
          </p:grpSpPr>
          <p:sp>
            <p:nvSpPr>
              <p:cNvPr id="69" name="Oval 68">
                <a:extLst>
                  <a:ext uri="{FF2B5EF4-FFF2-40B4-BE49-F238E27FC236}">
                    <a16:creationId xmlns:a16="http://schemas.microsoft.com/office/drawing/2014/main" id="{9CB75647-6B56-ACBE-9B09-3D462C8A942E}"/>
                  </a:ext>
                </a:extLst>
              </p:cNvPr>
              <p:cNvSpPr/>
              <p:nvPr/>
            </p:nvSpPr>
            <p:spPr>
              <a:xfrm>
                <a:off x="1544372" y="2724660"/>
                <a:ext cx="290914" cy="290914"/>
              </a:xfrm>
              <a:prstGeom prst="ellipse">
                <a:avLst/>
              </a:prstGeom>
              <a:solidFill>
                <a:schemeClr val="bg1"/>
              </a:solidFill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70" name="TextBox 69">
                <a:extLst>
                  <a:ext uri="{FF2B5EF4-FFF2-40B4-BE49-F238E27FC236}">
                    <a16:creationId xmlns:a16="http://schemas.microsoft.com/office/drawing/2014/main" id="{A2204A6B-DC85-93BD-56DB-51282DF48AE1}"/>
                  </a:ext>
                </a:extLst>
              </p:cNvPr>
              <p:cNvSpPr txBox="1"/>
              <p:nvPr/>
            </p:nvSpPr>
            <p:spPr>
              <a:xfrm>
                <a:off x="1538602" y="2716918"/>
                <a:ext cx="284052" cy="30777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dirty="0"/>
                  <a:t>3</a:t>
                </a:r>
              </a:p>
            </p:txBody>
          </p:sp>
          <p:cxnSp>
            <p:nvCxnSpPr>
              <p:cNvPr id="71" name="Straight Arrow Connector 70">
                <a:extLst>
                  <a:ext uri="{FF2B5EF4-FFF2-40B4-BE49-F238E27FC236}">
                    <a16:creationId xmlns:a16="http://schemas.microsoft.com/office/drawing/2014/main" id="{CFC049F8-EE8C-C72D-1631-AD9CDE4AAF4D}"/>
                  </a:ext>
                </a:extLst>
              </p:cNvPr>
              <p:cNvCxnSpPr>
                <a:stCxn id="69" idx="6"/>
              </p:cNvCxnSpPr>
              <p:nvPr/>
            </p:nvCxnSpPr>
            <p:spPr>
              <a:xfrm>
                <a:off x="1835286" y="2870117"/>
                <a:ext cx="1841769" cy="0"/>
              </a:xfrm>
              <a:prstGeom prst="straightConnector1">
                <a:avLst/>
              </a:prstGeom>
              <a:ln w="28575">
                <a:solidFill>
                  <a:schemeClr val="tx1"/>
                </a:solidFill>
                <a:headEnd type="none" w="med" len="med"/>
                <a:tailEnd type="arrow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2" name="Straight Arrow Connector 71">
                <a:extLst>
                  <a:ext uri="{FF2B5EF4-FFF2-40B4-BE49-F238E27FC236}">
                    <a16:creationId xmlns:a16="http://schemas.microsoft.com/office/drawing/2014/main" id="{A83A53F6-9E21-1E7A-505D-5CC4B2C6A28F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1847918" y="2137588"/>
                <a:ext cx="1166432" cy="739760"/>
              </a:xfrm>
              <a:prstGeom prst="straightConnector1">
                <a:avLst/>
              </a:prstGeom>
              <a:ln w="28575">
                <a:solidFill>
                  <a:schemeClr val="tx1"/>
                </a:solidFill>
                <a:headEnd type="none" w="med" len="med"/>
                <a:tailEnd type="arrow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73" name="TextBox 72">
                <a:extLst>
                  <a:ext uri="{FF2B5EF4-FFF2-40B4-BE49-F238E27FC236}">
                    <a16:creationId xmlns:a16="http://schemas.microsoft.com/office/drawing/2014/main" id="{7528264D-2083-2447-C342-8195655F5AB0}"/>
                  </a:ext>
                </a:extLst>
              </p:cNvPr>
              <p:cNvSpPr txBox="1"/>
              <p:nvPr/>
            </p:nvSpPr>
            <p:spPr>
              <a:xfrm>
                <a:off x="2431134" y="2594757"/>
                <a:ext cx="553357" cy="30777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dirty="0"/>
                  <a:t>Hold</a:t>
                </a:r>
              </a:p>
            </p:txBody>
          </p: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74" name="TextBox 73">
                    <a:extLst>
                      <a:ext uri="{FF2B5EF4-FFF2-40B4-BE49-F238E27FC236}">
                        <a16:creationId xmlns:a16="http://schemas.microsoft.com/office/drawing/2014/main" id="{951F57FB-AB96-985F-B834-A283081A50B5}"/>
                      </a:ext>
                    </a:extLst>
                  </p:cNvPr>
                  <p:cNvSpPr txBox="1"/>
                  <p:nvPr/>
                </p:nvSpPr>
                <p:spPr>
                  <a:xfrm rot="19640672">
                    <a:off x="1786156" y="2273357"/>
                    <a:ext cx="909352" cy="307777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r>
                      <a:rPr lang="en-US" dirty="0"/>
                      <a:t>Sell at </a:t>
                    </a:r>
                    <a14:m>
                      <m:oMath xmlns:m="http://schemas.openxmlformats.org/officeDocument/2006/math"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𝑝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3</m:t>
                            </m:r>
                          </m:sub>
                        </m:sSub>
                      </m:oMath>
                    </a14:m>
                    <a:endParaRPr lang="en-US" dirty="0"/>
                  </a:p>
                </p:txBody>
              </p:sp>
            </mc:Choice>
            <mc:Fallback xmlns="">
              <p:sp>
                <p:nvSpPr>
                  <p:cNvPr id="74" name="TextBox 73">
                    <a:extLst>
                      <a:ext uri="{FF2B5EF4-FFF2-40B4-BE49-F238E27FC236}">
                        <a16:creationId xmlns:a16="http://schemas.microsoft.com/office/drawing/2014/main" id="{9474491E-B362-B7C4-1B10-B562F47662F2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 rot="19640672">
                    <a:off x="1786156" y="2273357"/>
                    <a:ext cx="909352" cy="307777"/>
                  </a:xfrm>
                  <a:prstGeom prst="rect">
                    <a:avLst/>
                  </a:prstGeom>
                  <a:blipFill>
                    <a:blip r:embed="rId5"/>
                    <a:stretch>
                      <a:fillRect l="-1948" b="-7258"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  <p:grpSp>
          <p:nvGrpSpPr>
            <p:cNvPr id="62" name="Group 61">
              <a:extLst>
                <a:ext uri="{FF2B5EF4-FFF2-40B4-BE49-F238E27FC236}">
                  <a16:creationId xmlns:a16="http://schemas.microsoft.com/office/drawing/2014/main" id="{6906F824-D0D9-E566-9A6D-488F05FD57FD}"/>
                </a:ext>
              </a:extLst>
            </p:cNvPr>
            <p:cNvGrpSpPr/>
            <p:nvPr/>
          </p:nvGrpSpPr>
          <p:grpSpPr>
            <a:xfrm>
              <a:off x="7900490" y="2144078"/>
              <a:ext cx="2138453" cy="887107"/>
              <a:chOff x="1538602" y="2137588"/>
              <a:chExt cx="2138453" cy="887107"/>
            </a:xfrm>
          </p:grpSpPr>
          <p:sp>
            <p:nvSpPr>
              <p:cNvPr id="63" name="Oval 62">
                <a:extLst>
                  <a:ext uri="{FF2B5EF4-FFF2-40B4-BE49-F238E27FC236}">
                    <a16:creationId xmlns:a16="http://schemas.microsoft.com/office/drawing/2014/main" id="{36620A5F-BC7F-55FD-7096-23AA3ABBA889}"/>
                  </a:ext>
                </a:extLst>
              </p:cNvPr>
              <p:cNvSpPr/>
              <p:nvPr/>
            </p:nvSpPr>
            <p:spPr>
              <a:xfrm>
                <a:off x="1544372" y="2724660"/>
                <a:ext cx="290914" cy="290914"/>
              </a:xfrm>
              <a:prstGeom prst="ellipse">
                <a:avLst/>
              </a:prstGeom>
              <a:solidFill>
                <a:schemeClr val="bg1"/>
              </a:solidFill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64" name="TextBox 63">
                <a:extLst>
                  <a:ext uri="{FF2B5EF4-FFF2-40B4-BE49-F238E27FC236}">
                    <a16:creationId xmlns:a16="http://schemas.microsoft.com/office/drawing/2014/main" id="{4FBC6933-5ECB-1C09-E835-C1FACA171F06}"/>
                  </a:ext>
                </a:extLst>
              </p:cNvPr>
              <p:cNvSpPr txBox="1"/>
              <p:nvPr/>
            </p:nvSpPr>
            <p:spPr>
              <a:xfrm>
                <a:off x="1538602" y="2716918"/>
                <a:ext cx="284052" cy="30777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dirty="0"/>
                  <a:t>4</a:t>
                </a:r>
              </a:p>
            </p:txBody>
          </p:sp>
          <p:cxnSp>
            <p:nvCxnSpPr>
              <p:cNvPr id="65" name="Straight Arrow Connector 64">
                <a:extLst>
                  <a:ext uri="{FF2B5EF4-FFF2-40B4-BE49-F238E27FC236}">
                    <a16:creationId xmlns:a16="http://schemas.microsoft.com/office/drawing/2014/main" id="{AC234DFA-3F8E-6E1F-C21C-ED5F5A58A75E}"/>
                  </a:ext>
                </a:extLst>
              </p:cNvPr>
              <p:cNvCxnSpPr>
                <a:stCxn id="63" idx="6"/>
              </p:cNvCxnSpPr>
              <p:nvPr/>
            </p:nvCxnSpPr>
            <p:spPr>
              <a:xfrm>
                <a:off x="1835286" y="2870117"/>
                <a:ext cx="1841769" cy="0"/>
              </a:xfrm>
              <a:prstGeom prst="straightConnector1">
                <a:avLst/>
              </a:prstGeom>
              <a:ln w="28575">
                <a:solidFill>
                  <a:schemeClr val="tx1"/>
                </a:solidFill>
                <a:headEnd type="none" w="med" len="med"/>
                <a:tailEnd type="arrow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6" name="Straight Arrow Connector 65">
                <a:extLst>
                  <a:ext uri="{FF2B5EF4-FFF2-40B4-BE49-F238E27FC236}">
                    <a16:creationId xmlns:a16="http://schemas.microsoft.com/office/drawing/2014/main" id="{7DBD16F2-1AE1-DDF4-3CAF-828106F33664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1847918" y="2137588"/>
                <a:ext cx="1166432" cy="739760"/>
              </a:xfrm>
              <a:prstGeom prst="straightConnector1">
                <a:avLst/>
              </a:prstGeom>
              <a:ln w="28575">
                <a:solidFill>
                  <a:schemeClr val="tx1"/>
                </a:solidFill>
                <a:headEnd type="none" w="med" len="med"/>
                <a:tailEnd type="arrow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67" name="TextBox 66">
                <a:extLst>
                  <a:ext uri="{FF2B5EF4-FFF2-40B4-BE49-F238E27FC236}">
                    <a16:creationId xmlns:a16="http://schemas.microsoft.com/office/drawing/2014/main" id="{BA52481F-BD4A-85F7-BC45-33F5DC1C94BE}"/>
                  </a:ext>
                </a:extLst>
              </p:cNvPr>
              <p:cNvSpPr txBox="1"/>
              <p:nvPr/>
            </p:nvSpPr>
            <p:spPr>
              <a:xfrm>
                <a:off x="2431134" y="2594757"/>
                <a:ext cx="553357" cy="30777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dirty="0"/>
                  <a:t>Hold</a:t>
                </a:r>
              </a:p>
            </p:txBody>
          </p: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68" name="TextBox 67">
                    <a:extLst>
                      <a:ext uri="{FF2B5EF4-FFF2-40B4-BE49-F238E27FC236}">
                        <a16:creationId xmlns:a16="http://schemas.microsoft.com/office/drawing/2014/main" id="{C1F6BB01-A8FA-901B-5DD2-F8D47078FDF0}"/>
                      </a:ext>
                    </a:extLst>
                  </p:cNvPr>
                  <p:cNvSpPr txBox="1"/>
                  <p:nvPr/>
                </p:nvSpPr>
                <p:spPr>
                  <a:xfrm rot="19640672">
                    <a:off x="1786798" y="2273357"/>
                    <a:ext cx="908069" cy="307777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r>
                      <a:rPr lang="en-US" dirty="0"/>
                      <a:t>Sell at </a:t>
                    </a:r>
                    <a14:m>
                      <m:oMath xmlns:m="http://schemas.openxmlformats.org/officeDocument/2006/math"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𝑝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4</m:t>
                            </m:r>
                          </m:sub>
                        </m:sSub>
                      </m:oMath>
                    </a14:m>
                    <a:endParaRPr lang="en-US" dirty="0"/>
                  </a:p>
                </p:txBody>
              </p:sp>
            </mc:Choice>
            <mc:Fallback xmlns="">
              <p:sp>
                <p:nvSpPr>
                  <p:cNvPr id="68" name="TextBox 67">
                    <a:extLst>
                      <a:ext uri="{FF2B5EF4-FFF2-40B4-BE49-F238E27FC236}">
                        <a16:creationId xmlns:a16="http://schemas.microsoft.com/office/drawing/2014/main" id="{A871009B-A45B-1571-5D69-4B1024723EC4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 rot="19640672">
                    <a:off x="1786798" y="2273357"/>
                    <a:ext cx="908069" cy="307777"/>
                  </a:xfrm>
                  <a:prstGeom prst="rect">
                    <a:avLst/>
                  </a:prstGeom>
                  <a:blipFill>
                    <a:blip r:embed="rId6"/>
                    <a:stretch>
                      <a:fillRect l="-1299" b="-7258"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</p:grpSp>
      <p:grpSp>
        <p:nvGrpSpPr>
          <p:cNvPr id="5" name="Group 4">
            <a:extLst>
              <a:ext uri="{FF2B5EF4-FFF2-40B4-BE49-F238E27FC236}">
                <a16:creationId xmlns:a16="http://schemas.microsoft.com/office/drawing/2014/main" id="{BCB4AAAD-577D-9AFD-D8B8-D731224F2C65}"/>
              </a:ext>
            </a:extLst>
          </p:cNvPr>
          <p:cNvGrpSpPr/>
          <p:nvPr/>
        </p:nvGrpSpPr>
        <p:grpSpPr>
          <a:xfrm>
            <a:off x="229938" y="2787519"/>
            <a:ext cx="3629538" cy="2940096"/>
            <a:chOff x="2287338" y="2797044"/>
            <a:chExt cx="3629538" cy="2940096"/>
          </a:xfrm>
        </p:grpSpPr>
        <p:pic>
          <p:nvPicPr>
            <p:cNvPr id="6" name="Picture 5">
              <a:extLst>
                <a:ext uri="{FF2B5EF4-FFF2-40B4-BE49-F238E27FC236}">
                  <a16:creationId xmlns:a16="http://schemas.microsoft.com/office/drawing/2014/main" id="{C654B295-B0F4-1792-C562-0FA4B0C78494}"/>
                </a:ext>
              </a:extLst>
            </p:cNvPr>
            <p:cNvPicPr>
              <a:picLocks noChangeAspect="1"/>
            </p:cNvPicPr>
            <p:nvPr/>
          </p:nvPicPr>
          <p:blipFill>
            <a:blip r:embed="rId7"/>
            <a:srcRect t="35271"/>
            <a:stretch/>
          </p:blipFill>
          <p:spPr>
            <a:xfrm>
              <a:off x="2287338" y="3382110"/>
              <a:ext cx="3629538" cy="2355030"/>
            </a:xfrm>
            <a:prstGeom prst="rect">
              <a:avLst/>
            </a:prstGeom>
          </p:spPr>
        </p:pic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C63FA5A6-11B3-C08C-EE68-8B7CCF3DB8FA}"/>
                </a:ext>
              </a:extLst>
            </p:cNvPr>
            <p:cNvSpPr txBox="1"/>
            <p:nvPr/>
          </p:nvSpPr>
          <p:spPr>
            <a:xfrm>
              <a:off x="2321079" y="3105111"/>
              <a:ext cx="2978701" cy="276999"/>
            </a:xfrm>
            <a:prstGeom prst="rect">
              <a:avLst/>
            </a:prstGeom>
            <a:solidFill>
              <a:schemeClr val="bg1"/>
            </a:solidFill>
          </p:spPr>
          <p:txBody>
            <a:bodyPr wrap="none" rtlCol="0">
              <a:spAutoFit/>
            </a:bodyPr>
            <a:lstStyle/>
            <a:p>
              <a:r>
                <a:rPr lang="en-US" sz="1200" dirty="0"/>
                <a:t>Outcome       Sell                          Hold    </a:t>
              </a:r>
            </a:p>
          </p:txBody>
        </p:sp>
        <p:cxnSp>
          <p:nvCxnSpPr>
            <p:cNvPr id="8" name="Straight Connector 7">
              <a:extLst>
                <a:ext uri="{FF2B5EF4-FFF2-40B4-BE49-F238E27FC236}">
                  <a16:creationId xmlns:a16="http://schemas.microsoft.com/office/drawing/2014/main" id="{C1B4161D-2791-189F-40E0-AD006EF169B0}"/>
                </a:ext>
              </a:extLst>
            </p:cNvPr>
            <p:cNvCxnSpPr/>
            <p:nvPr/>
          </p:nvCxnSpPr>
          <p:spPr>
            <a:xfrm>
              <a:off x="3320376" y="3101871"/>
              <a:ext cx="2148927" cy="0"/>
            </a:xfrm>
            <a:prstGeom prst="line">
              <a:avLst/>
            </a:prstGeom>
            <a:ln w="19050">
              <a:solidFill>
                <a:schemeClr val="tx1"/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D1FD380F-41F3-1985-482F-FF4D71466C8B}"/>
                </a:ext>
              </a:extLst>
            </p:cNvPr>
            <p:cNvSpPr txBox="1"/>
            <p:nvPr/>
          </p:nvSpPr>
          <p:spPr>
            <a:xfrm>
              <a:off x="4062937" y="2797044"/>
              <a:ext cx="814647" cy="276999"/>
            </a:xfrm>
            <a:prstGeom prst="rect">
              <a:avLst/>
            </a:prstGeom>
            <a:solidFill>
              <a:schemeClr val="bg1"/>
            </a:solidFill>
          </p:spPr>
          <p:txBody>
            <a:bodyPr wrap="none" rtlCol="0">
              <a:spAutoFit/>
            </a:bodyPr>
            <a:lstStyle/>
            <a:p>
              <a:r>
                <a:rPr lang="en-US" sz="1200" dirty="0"/>
                <a:t>Decision 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385127400"/>
      </p:ext>
    </p:extLst>
  </p:cSld>
  <p:clrMapOvr>
    <a:masterClrMapping/>
  </p:clrMapOvr>
</p:sld>
</file>

<file path=ppt/slides/slide1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3E95CC0-2394-300F-D38F-63E2C92D169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77E3AEC-898F-0B06-D25C-F0D2DB257D8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3200" dirty="0"/>
              <a:t>Value iteration: Financial application</a:t>
            </a:r>
            <a:endParaRPr lang="en-US" dirty="0"/>
          </a:p>
        </p:txBody>
      </p:sp>
      <p:sp>
        <p:nvSpPr>
          <p:cNvPr id="18" name="Text Placeholder 2">
            <a:extLst>
              <a:ext uri="{FF2B5EF4-FFF2-40B4-BE49-F238E27FC236}">
                <a16:creationId xmlns:a16="http://schemas.microsoft.com/office/drawing/2014/main" id="{E99EF60C-98E0-AFAE-02B7-39D277E7F87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54997" y="1039544"/>
            <a:ext cx="10363200" cy="4401600"/>
          </a:xfrm>
        </p:spPr>
        <p:txBody>
          <a:bodyPr/>
          <a:lstStyle/>
          <a:p>
            <a:pPr marL="86360" indent="0">
              <a:buNone/>
            </a:pPr>
            <a:r>
              <a:rPr lang="en-US" dirty="0"/>
              <a:t>Longstaff and Schwartz - Pricing an American option</a:t>
            </a:r>
          </a:p>
          <a:p>
            <a:pPr marL="86360" indent="0">
              <a:buNone/>
            </a:pPr>
            <a:endParaRPr lang="en-US" dirty="0"/>
          </a:p>
          <a:p>
            <a:pPr marL="86360" indent="0">
              <a:buNone/>
            </a:pPr>
            <a:endParaRPr lang="en-US" dirty="0"/>
          </a:p>
          <a:p>
            <a:pPr marL="86360" indent="0">
              <a:buNone/>
            </a:pPr>
            <a:endParaRPr lang="en-US" dirty="0"/>
          </a:p>
          <a:p>
            <a:pPr marL="914400" indent="-369888">
              <a:buSzPct val="80000"/>
              <a:buFont typeface="Wingdings" panose="05000000000000000000" pitchFamily="2" charset="2"/>
              <a:buChar char="Ø"/>
            </a:pPr>
            <a:r>
              <a:rPr lang="en-US" sz="2400" dirty="0"/>
              <a:t>Longstaff-Schwartz is widely used in practice for pricing and valuation, but not real-time trading.</a:t>
            </a:r>
          </a:p>
          <a:p>
            <a:pPr marL="914400" indent="-369888">
              <a:buSzPct val="80000"/>
              <a:buFont typeface="Wingdings" panose="05000000000000000000" pitchFamily="2" charset="2"/>
              <a:buChar char="Ø"/>
            </a:pPr>
            <a:endParaRPr lang="en-US" sz="2400" dirty="0"/>
          </a:p>
          <a:p>
            <a:pPr marL="914400" indent="-369888">
              <a:buSzPct val="80000"/>
              <a:buFont typeface="Wingdings" panose="05000000000000000000" pitchFamily="2" charset="2"/>
              <a:buChar char="Ø"/>
            </a:pPr>
            <a:r>
              <a:rPr lang="en-US" sz="2400" dirty="0"/>
              <a:t>The success in the use of linear approximations is largely because the state variable is the past history of prices, which does not depend on past decisions.</a:t>
            </a:r>
          </a:p>
        </p:txBody>
      </p:sp>
      <p:grpSp>
        <p:nvGrpSpPr>
          <p:cNvPr id="21" name="Group 20">
            <a:extLst>
              <a:ext uri="{FF2B5EF4-FFF2-40B4-BE49-F238E27FC236}">
                <a16:creationId xmlns:a16="http://schemas.microsoft.com/office/drawing/2014/main" id="{C1754F02-8BA9-E288-E8A2-17DFAA9CE310}"/>
              </a:ext>
            </a:extLst>
          </p:cNvPr>
          <p:cNvGrpSpPr/>
          <p:nvPr/>
        </p:nvGrpSpPr>
        <p:grpSpPr>
          <a:xfrm>
            <a:off x="1532117" y="1670661"/>
            <a:ext cx="8500341" cy="893597"/>
            <a:chOff x="1538602" y="2137588"/>
            <a:chExt cx="8500341" cy="893597"/>
          </a:xfrm>
        </p:grpSpPr>
        <p:grpSp>
          <p:nvGrpSpPr>
            <p:cNvPr id="48" name="Group 47">
              <a:extLst>
                <a:ext uri="{FF2B5EF4-FFF2-40B4-BE49-F238E27FC236}">
                  <a16:creationId xmlns:a16="http://schemas.microsoft.com/office/drawing/2014/main" id="{F35DCAC6-254F-8FE0-4082-7BFA30534F2E}"/>
                </a:ext>
              </a:extLst>
            </p:cNvPr>
            <p:cNvGrpSpPr/>
            <p:nvPr/>
          </p:nvGrpSpPr>
          <p:grpSpPr>
            <a:xfrm>
              <a:off x="1538602" y="2137588"/>
              <a:ext cx="2138453" cy="887107"/>
              <a:chOff x="1538602" y="2137588"/>
              <a:chExt cx="2138453" cy="887107"/>
            </a:xfrm>
          </p:grpSpPr>
          <p:sp>
            <p:nvSpPr>
              <p:cNvPr id="81" name="Oval 80">
                <a:extLst>
                  <a:ext uri="{FF2B5EF4-FFF2-40B4-BE49-F238E27FC236}">
                    <a16:creationId xmlns:a16="http://schemas.microsoft.com/office/drawing/2014/main" id="{8AC8271A-6296-096A-51B9-BC2D6DCE2CD6}"/>
                  </a:ext>
                </a:extLst>
              </p:cNvPr>
              <p:cNvSpPr/>
              <p:nvPr/>
            </p:nvSpPr>
            <p:spPr>
              <a:xfrm>
                <a:off x="1544372" y="2724660"/>
                <a:ext cx="290914" cy="290914"/>
              </a:xfrm>
              <a:prstGeom prst="ellipse">
                <a:avLst/>
              </a:prstGeom>
              <a:solidFill>
                <a:schemeClr val="bg1"/>
              </a:solidFill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82" name="TextBox 81">
                <a:extLst>
                  <a:ext uri="{FF2B5EF4-FFF2-40B4-BE49-F238E27FC236}">
                    <a16:creationId xmlns:a16="http://schemas.microsoft.com/office/drawing/2014/main" id="{D29D5DFD-ADB4-F82D-5712-B3EE87B91016}"/>
                  </a:ext>
                </a:extLst>
              </p:cNvPr>
              <p:cNvSpPr txBox="1"/>
              <p:nvPr/>
            </p:nvSpPr>
            <p:spPr>
              <a:xfrm>
                <a:off x="1538602" y="2716918"/>
                <a:ext cx="284052" cy="30777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dirty="0"/>
                  <a:t>1</a:t>
                </a:r>
              </a:p>
            </p:txBody>
          </p:sp>
          <p:cxnSp>
            <p:nvCxnSpPr>
              <p:cNvPr id="83" name="Straight Arrow Connector 82">
                <a:extLst>
                  <a:ext uri="{FF2B5EF4-FFF2-40B4-BE49-F238E27FC236}">
                    <a16:creationId xmlns:a16="http://schemas.microsoft.com/office/drawing/2014/main" id="{FD45AAB6-E1AB-9799-67D8-472EFFDEFC84}"/>
                  </a:ext>
                </a:extLst>
              </p:cNvPr>
              <p:cNvCxnSpPr>
                <a:stCxn id="81" idx="6"/>
              </p:cNvCxnSpPr>
              <p:nvPr/>
            </p:nvCxnSpPr>
            <p:spPr>
              <a:xfrm>
                <a:off x="1835286" y="2870117"/>
                <a:ext cx="1841769" cy="0"/>
              </a:xfrm>
              <a:prstGeom prst="straightConnector1">
                <a:avLst/>
              </a:prstGeom>
              <a:ln w="28575">
                <a:solidFill>
                  <a:schemeClr val="tx1"/>
                </a:solidFill>
                <a:headEnd type="none" w="med" len="med"/>
                <a:tailEnd type="arrow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4" name="Straight Arrow Connector 83">
                <a:extLst>
                  <a:ext uri="{FF2B5EF4-FFF2-40B4-BE49-F238E27FC236}">
                    <a16:creationId xmlns:a16="http://schemas.microsoft.com/office/drawing/2014/main" id="{1811507F-0512-4223-ABE3-688A14F2D7DA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1847918" y="2137588"/>
                <a:ext cx="1166432" cy="739760"/>
              </a:xfrm>
              <a:prstGeom prst="straightConnector1">
                <a:avLst/>
              </a:prstGeom>
              <a:ln w="28575">
                <a:solidFill>
                  <a:schemeClr val="tx1"/>
                </a:solidFill>
                <a:headEnd type="none" w="med" len="med"/>
                <a:tailEnd type="arrow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85" name="TextBox 84">
                <a:extLst>
                  <a:ext uri="{FF2B5EF4-FFF2-40B4-BE49-F238E27FC236}">
                    <a16:creationId xmlns:a16="http://schemas.microsoft.com/office/drawing/2014/main" id="{035BFECE-8B07-B4CB-4674-2B680F1C35A4}"/>
                  </a:ext>
                </a:extLst>
              </p:cNvPr>
              <p:cNvSpPr txBox="1"/>
              <p:nvPr/>
            </p:nvSpPr>
            <p:spPr>
              <a:xfrm>
                <a:off x="2431134" y="2594757"/>
                <a:ext cx="553357" cy="30777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dirty="0"/>
                  <a:t>Hold</a:t>
                </a:r>
              </a:p>
            </p:txBody>
          </p: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86" name="TextBox 85">
                    <a:extLst>
                      <a:ext uri="{FF2B5EF4-FFF2-40B4-BE49-F238E27FC236}">
                        <a16:creationId xmlns:a16="http://schemas.microsoft.com/office/drawing/2014/main" id="{5E5618DB-57C6-DEEF-3BDD-DCDBF7F60E55}"/>
                      </a:ext>
                    </a:extLst>
                  </p:cNvPr>
                  <p:cNvSpPr txBox="1"/>
                  <p:nvPr/>
                </p:nvSpPr>
                <p:spPr>
                  <a:xfrm rot="19640672">
                    <a:off x="1788240" y="2273357"/>
                    <a:ext cx="905184" cy="307777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r>
                      <a:rPr lang="en-US" dirty="0"/>
                      <a:t>Sell at </a:t>
                    </a:r>
                    <a14:m>
                      <m:oMath xmlns:m="http://schemas.openxmlformats.org/officeDocument/2006/math"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𝑝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oMath>
                    </a14:m>
                    <a:endParaRPr lang="en-US" dirty="0"/>
                  </a:p>
                </p:txBody>
              </p:sp>
            </mc:Choice>
            <mc:Fallback xmlns="">
              <p:sp>
                <p:nvSpPr>
                  <p:cNvPr id="86" name="TextBox 85">
                    <a:extLst>
                      <a:ext uri="{FF2B5EF4-FFF2-40B4-BE49-F238E27FC236}">
                        <a16:creationId xmlns:a16="http://schemas.microsoft.com/office/drawing/2014/main" id="{51D2BF2A-95EE-6362-E7EA-3BD990E9840E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 rot="19640672">
                    <a:off x="1788240" y="2273357"/>
                    <a:ext cx="905184" cy="307777"/>
                  </a:xfrm>
                  <a:prstGeom prst="rect">
                    <a:avLst/>
                  </a:prstGeom>
                  <a:blipFill>
                    <a:blip r:embed="rId3"/>
                    <a:stretch>
                      <a:fillRect l="-1961" b="-8130"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  <p:grpSp>
          <p:nvGrpSpPr>
            <p:cNvPr id="60" name="Group 59">
              <a:extLst>
                <a:ext uri="{FF2B5EF4-FFF2-40B4-BE49-F238E27FC236}">
                  <a16:creationId xmlns:a16="http://schemas.microsoft.com/office/drawing/2014/main" id="{64868636-2D59-407B-4BBE-62DBB462BEA2}"/>
                </a:ext>
              </a:extLst>
            </p:cNvPr>
            <p:cNvGrpSpPr/>
            <p:nvPr/>
          </p:nvGrpSpPr>
          <p:grpSpPr>
            <a:xfrm>
              <a:off x="3655991" y="2140833"/>
              <a:ext cx="2138453" cy="887107"/>
              <a:chOff x="1538602" y="2137588"/>
              <a:chExt cx="2138453" cy="887107"/>
            </a:xfrm>
          </p:grpSpPr>
          <p:sp>
            <p:nvSpPr>
              <p:cNvPr id="75" name="Oval 74">
                <a:extLst>
                  <a:ext uri="{FF2B5EF4-FFF2-40B4-BE49-F238E27FC236}">
                    <a16:creationId xmlns:a16="http://schemas.microsoft.com/office/drawing/2014/main" id="{9906C8B1-0304-4C28-31E8-5E1F811FED8A}"/>
                  </a:ext>
                </a:extLst>
              </p:cNvPr>
              <p:cNvSpPr/>
              <p:nvPr/>
            </p:nvSpPr>
            <p:spPr>
              <a:xfrm>
                <a:off x="1544372" y="2724660"/>
                <a:ext cx="290914" cy="290914"/>
              </a:xfrm>
              <a:prstGeom prst="ellipse">
                <a:avLst/>
              </a:prstGeom>
              <a:solidFill>
                <a:schemeClr val="bg1"/>
              </a:solidFill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76" name="TextBox 75">
                <a:extLst>
                  <a:ext uri="{FF2B5EF4-FFF2-40B4-BE49-F238E27FC236}">
                    <a16:creationId xmlns:a16="http://schemas.microsoft.com/office/drawing/2014/main" id="{75EBF146-70BA-3F67-9B67-9FE397E137DC}"/>
                  </a:ext>
                </a:extLst>
              </p:cNvPr>
              <p:cNvSpPr txBox="1"/>
              <p:nvPr/>
            </p:nvSpPr>
            <p:spPr>
              <a:xfrm>
                <a:off x="1538602" y="2716918"/>
                <a:ext cx="284052" cy="30777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dirty="0"/>
                  <a:t>2</a:t>
                </a:r>
              </a:p>
            </p:txBody>
          </p:sp>
          <p:cxnSp>
            <p:nvCxnSpPr>
              <p:cNvPr id="77" name="Straight Arrow Connector 76">
                <a:extLst>
                  <a:ext uri="{FF2B5EF4-FFF2-40B4-BE49-F238E27FC236}">
                    <a16:creationId xmlns:a16="http://schemas.microsoft.com/office/drawing/2014/main" id="{D48F932C-7A4C-6D70-401B-51DA03A6B88C}"/>
                  </a:ext>
                </a:extLst>
              </p:cNvPr>
              <p:cNvCxnSpPr>
                <a:stCxn id="75" idx="6"/>
              </p:cNvCxnSpPr>
              <p:nvPr/>
            </p:nvCxnSpPr>
            <p:spPr>
              <a:xfrm>
                <a:off x="1835286" y="2870117"/>
                <a:ext cx="1841769" cy="0"/>
              </a:xfrm>
              <a:prstGeom prst="straightConnector1">
                <a:avLst/>
              </a:prstGeom>
              <a:ln w="28575">
                <a:solidFill>
                  <a:schemeClr val="tx1"/>
                </a:solidFill>
                <a:headEnd type="none" w="med" len="med"/>
                <a:tailEnd type="arrow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8" name="Straight Arrow Connector 77">
                <a:extLst>
                  <a:ext uri="{FF2B5EF4-FFF2-40B4-BE49-F238E27FC236}">
                    <a16:creationId xmlns:a16="http://schemas.microsoft.com/office/drawing/2014/main" id="{2EA2914E-B9E7-FBD4-56FA-522BF801453C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1847918" y="2137588"/>
                <a:ext cx="1166432" cy="739760"/>
              </a:xfrm>
              <a:prstGeom prst="straightConnector1">
                <a:avLst/>
              </a:prstGeom>
              <a:ln w="28575">
                <a:solidFill>
                  <a:schemeClr val="tx1"/>
                </a:solidFill>
                <a:headEnd type="none" w="med" len="med"/>
                <a:tailEnd type="arrow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79" name="TextBox 78">
                <a:extLst>
                  <a:ext uri="{FF2B5EF4-FFF2-40B4-BE49-F238E27FC236}">
                    <a16:creationId xmlns:a16="http://schemas.microsoft.com/office/drawing/2014/main" id="{54D175D4-C670-9998-4C1A-4E27AFACF864}"/>
                  </a:ext>
                </a:extLst>
              </p:cNvPr>
              <p:cNvSpPr txBox="1"/>
              <p:nvPr/>
            </p:nvSpPr>
            <p:spPr>
              <a:xfrm>
                <a:off x="2431134" y="2594757"/>
                <a:ext cx="553357" cy="30777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dirty="0"/>
                  <a:t>Hold</a:t>
                </a:r>
              </a:p>
            </p:txBody>
          </p: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80" name="TextBox 79">
                    <a:extLst>
                      <a:ext uri="{FF2B5EF4-FFF2-40B4-BE49-F238E27FC236}">
                        <a16:creationId xmlns:a16="http://schemas.microsoft.com/office/drawing/2014/main" id="{263AD78C-3631-22BE-8203-934A2BF88B5D}"/>
                      </a:ext>
                    </a:extLst>
                  </p:cNvPr>
                  <p:cNvSpPr txBox="1"/>
                  <p:nvPr/>
                </p:nvSpPr>
                <p:spPr>
                  <a:xfrm rot="19640672">
                    <a:off x="1786156" y="2273357"/>
                    <a:ext cx="909352" cy="307777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r>
                      <a:rPr lang="en-US" dirty="0"/>
                      <a:t>Sell at </a:t>
                    </a:r>
                    <a14:m>
                      <m:oMath xmlns:m="http://schemas.openxmlformats.org/officeDocument/2006/math"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𝑝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oMath>
                    </a14:m>
                    <a:endParaRPr lang="en-US" dirty="0"/>
                  </a:p>
                </p:txBody>
              </p:sp>
            </mc:Choice>
            <mc:Fallback xmlns="">
              <p:sp>
                <p:nvSpPr>
                  <p:cNvPr id="80" name="TextBox 79">
                    <a:extLst>
                      <a:ext uri="{FF2B5EF4-FFF2-40B4-BE49-F238E27FC236}">
                        <a16:creationId xmlns:a16="http://schemas.microsoft.com/office/drawing/2014/main" id="{8F9E8D89-B5C4-2686-521E-3BAF6B13DC90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 rot="19640672">
                    <a:off x="1786156" y="2273357"/>
                    <a:ext cx="909352" cy="307777"/>
                  </a:xfrm>
                  <a:prstGeom prst="rect">
                    <a:avLst/>
                  </a:prstGeom>
                  <a:blipFill>
                    <a:blip r:embed="rId4"/>
                    <a:stretch>
                      <a:fillRect l="-1948" b="-7258"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  <p:grpSp>
          <p:nvGrpSpPr>
            <p:cNvPr id="61" name="Group 60">
              <a:extLst>
                <a:ext uri="{FF2B5EF4-FFF2-40B4-BE49-F238E27FC236}">
                  <a16:creationId xmlns:a16="http://schemas.microsoft.com/office/drawing/2014/main" id="{5A2E52FB-9A16-01C9-2D69-18AF91F303D5}"/>
                </a:ext>
              </a:extLst>
            </p:cNvPr>
            <p:cNvGrpSpPr/>
            <p:nvPr/>
          </p:nvGrpSpPr>
          <p:grpSpPr>
            <a:xfrm>
              <a:off x="5783101" y="2140833"/>
              <a:ext cx="2138453" cy="887107"/>
              <a:chOff x="1538602" y="2137588"/>
              <a:chExt cx="2138453" cy="887107"/>
            </a:xfrm>
          </p:grpSpPr>
          <p:sp>
            <p:nvSpPr>
              <p:cNvPr id="69" name="Oval 68">
                <a:extLst>
                  <a:ext uri="{FF2B5EF4-FFF2-40B4-BE49-F238E27FC236}">
                    <a16:creationId xmlns:a16="http://schemas.microsoft.com/office/drawing/2014/main" id="{385BEDA3-BD15-8F5C-8966-9230116FA094}"/>
                  </a:ext>
                </a:extLst>
              </p:cNvPr>
              <p:cNvSpPr/>
              <p:nvPr/>
            </p:nvSpPr>
            <p:spPr>
              <a:xfrm>
                <a:off x="1544372" y="2724660"/>
                <a:ext cx="290914" cy="290914"/>
              </a:xfrm>
              <a:prstGeom prst="ellipse">
                <a:avLst/>
              </a:prstGeom>
              <a:solidFill>
                <a:schemeClr val="bg1"/>
              </a:solidFill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70" name="TextBox 69">
                <a:extLst>
                  <a:ext uri="{FF2B5EF4-FFF2-40B4-BE49-F238E27FC236}">
                    <a16:creationId xmlns:a16="http://schemas.microsoft.com/office/drawing/2014/main" id="{8649E763-2B90-52C1-4FEF-54F4C750E86B}"/>
                  </a:ext>
                </a:extLst>
              </p:cNvPr>
              <p:cNvSpPr txBox="1"/>
              <p:nvPr/>
            </p:nvSpPr>
            <p:spPr>
              <a:xfrm>
                <a:off x="1538602" y="2716918"/>
                <a:ext cx="284052" cy="30777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dirty="0"/>
                  <a:t>3</a:t>
                </a:r>
              </a:p>
            </p:txBody>
          </p:sp>
          <p:cxnSp>
            <p:nvCxnSpPr>
              <p:cNvPr id="71" name="Straight Arrow Connector 70">
                <a:extLst>
                  <a:ext uri="{FF2B5EF4-FFF2-40B4-BE49-F238E27FC236}">
                    <a16:creationId xmlns:a16="http://schemas.microsoft.com/office/drawing/2014/main" id="{5768B02D-7BDF-F1A2-930C-71C82FBD34C1}"/>
                  </a:ext>
                </a:extLst>
              </p:cNvPr>
              <p:cNvCxnSpPr>
                <a:stCxn id="69" idx="6"/>
              </p:cNvCxnSpPr>
              <p:nvPr/>
            </p:nvCxnSpPr>
            <p:spPr>
              <a:xfrm>
                <a:off x="1835286" y="2870117"/>
                <a:ext cx="1841769" cy="0"/>
              </a:xfrm>
              <a:prstGeom prst="straightConnector1">
                <a:avLst/>
              </a:prstGeom>
              <a:ln w="28575">
                <a:solidFill>
                  <a:schemeClr val="tx1"/>
                </a:solidFill>
                <a:headEnd type="none" w="med" len="med"/>
                <a:tailEnd type="arrow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2" name="Straight Arrow Connector 71">
                <a:extLst>
                  <a:ext uri="{FF2B5EF4-FFF2-40B4-BE49-F238E27FC236}">
                    <a16:creationId xmlns:a16="http://schemas.microsoft.com/office/drawing/2014/main" id="{9062F381-303E-BF65-31D3-8913CF6E872C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1847918" y="2137588"/>
                <a:ext cx="1166432" cy="739760"/>
              </a:xfrm>
              <a:prstGeom prst="straightConnector1">
                <a:avLst/>
              </a:prstGeom>
              <a:ln w="28575">
                <a:solidFill>
                  <a:schemeClr val="tx1"/>
                </a:solidFill>
                <a:headEnd type="none" w="med" len="med"/>
                <a:tailEnd type="arrow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73" name="TextBox 72">
                <a:extLst>
                  <a:ext uri="{FF2B5EF4-FFF2-40B4-BE49-F238E27FC236}">
                    <a16:creationId xmlns:a16="http://schemas.microsoft.com/office/drawing/2014/main" id="{BF9EC082-7F99-65B1-57A3-4F70735D2977}"/>
                  </a:ext>
                </a:extLst>
              </p:cNvPr>
              <p:cNvSpPr txBox="1"/>
              <p:nvPr/>
            </p:nvSpPr>
            <p:spPr>
              <a:xfrm>
                <a:off x="2431134" y="2594757"/>
                <a:ext cx="553357" cy="30777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dirty="0"/>
                  <a:t>Hold</a:t>
                </a:r>
              </a:p>
            </p:txBody>
          </p: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74" name="TextBox 73">
                    <a:extLst>
                      <a:ext uri="{FF2B5EF4-FFF2-40B4-BE49-F238E27FC236}">
                        <a16:creationId xmlns:a16="http://schemas.microsoft.com/office/drawing/2014/main" id="{173D0513-AD62-EEBF-703D-D3449424420A}"/>
                      </a:ext>
                    </a:extLst>
                  </p:cNvPr>
                  <p:cNvSpPr txBox="1"/>
                  <p:nvPr/>
                </p:nvSpPr>
                <p:spPr>
                  <a:xfrm rot="19640672">
                    <a:off x="1786156" y="2273357"/>
                    <a:ext cx="909352" cy="307777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r>
                      <a:rPr lang="en-US" dirty="0"/>
                      <a:t>Sell at </a:t>
                    </a:r>
                    <a14:m>
                      <m:oMath xmlns:m="http://schemas.openxmlformats.org/officeDocument/2006/math"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𝑝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3</m:t>
                            </m:r>
                          </m:sub>
                        </m:sSub>
                      </m:oMath>
                    </a14:m>
                    <a:endParaRPr lang="en-US" dirty="0"/>
                  </a:p>
                </p:txBody>
              </p:sp>
            </mc:Choice>
            <mc:Fallback xmlns="">
              <p:sp>
                <p:nvSpPr>
                  <p:cNvPr id="74" name="TextBox 73">
                    <a:extLst>
                      <a:ext uri="{FF2B5EF4-FFF2-40B4-BE49-F238E27FC236}">
                        <a16:creationId xmlns:a16="http://schemas.microsoft.com/office/drawing/2014/main" id="{9474491E-B362-B7C4-1B10-B562F47662F2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 rot="19640672">
                    <a:off x="1786156" y="2273357"/>
                    <a:ext cx="909352" cy="307777"/>
                  </a:xfrm>
                  <a:prstGeom prst="rect">
                    <a:avLst/>
                  </a:prstGeom>
                  <a:blipFill>
                    <a:blip r:embed="rId5"/>
                    <a:stretch>
                      <a:fillRect l="-1948" b="-7258"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  <p:grpSp>
          <p:nvGrpSpPr>
            <p:cNvPr id="62" name="Group 61">
              <a:extLst>
                <a:ext uri="{FF2B5EF4-FFF2-40B4-BE49-F238E27FC236}">
                  <a16:creationId xmlns:a16="http://schemas.microsoft.com/office/drawing/2014/main" id="{891E8E0B-28BF-B7A7-4D90-F353961790D0}"/>
                </a:ext>
              </a:extLst>
            </p:cNvPr>
            <p:cNvGrpSpPr/>
            <p:nvPr/>
          </p:nvGrpSpPr>
          <p:grpSpPr>
            <a:xfrm>
              <a:off x="7900490" y="2144078"/>
              <a:ext cx="2138453" cy="887107"/>
              <a:chOff x="1538602" y="2137588"/>
              <a:chExt cx="2138453" cy="887107"/>
            </a:xfrm>
          </p:grpSpPr>
          <p:sp>
            <p:nvSpPr>
              <p:cNvPr id="63" name="Oval 62">
                <a:extLst>
                  <a:ext uri="{FF2B5EF4-FFF2-40B4-BE49-F238E27FC236}">
                    <a16:creationId xmlns:a16="http://schemas.microsoft.com/office/drawing/2014/main" id="{A7F4799E-B642-B2EE-201A-2735FCA16693}"/>
                  </a:ext>
                </a:extLst>
              </p:cNvPr>
              <p:cNvSpPr/>
              <p:nvPr/>
            </p:nvSpPr>
            <p:spPr>
              <a:xfrm>
                <a:off x="1544372" y="2724660"/>
                <a:ext cx="290914" cy="290914"/>
              </a:xfrm>
              <a:prstGeom prst="ellipse">
                <a:avLst/>
              </a:prstGeom>
              <a:solidFill>
                <a:schemeClr val="bg1"/>
              </a:solidFill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64" name="TextBox 63">
                <a:extLst>
                  <a:ext uri="{FF2B5EF4-FFF2-40B4-BE49-F238E27FC236}">
                    <a16:creationId xmlns:a16="http://schemas.microsoft.com/office/drawing/2014/main" id="{53253021-5E0D-85B4-F0C3-DE4CDE276036}"/>
                  </a:ext>
                </a:extLst>
              </p:cNvPr>
              <p:cNvSpPr txBox="1"/>
              <p:nvPr/>
            </p:nvSpPr>
            <p:spPr>
              <a:xfrm>
                <a:off x="1538602" y="2716918"/>
                <a:ext cx="284052" cy="30777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dirty="0"/>
                  <a:t>4</a:t>
                </a:r>
              </a:p>
            </p:txBody>
          </p:sp>
          <p:cxnSp>
            <p:nvCxnSpPr>
              <p:cNvPr id="65" name="Straight Arrow Connector 64">
                <a:extLst>
                  <a:ext uri="{FF2B5EF4-FFF2-40B4-BE49-F238E27FC236}">
                    <a16:creationId xmlns:a16="http://schemas.microsoft.com/office/drawing/2014/main" id="{32D5CD3C-04E8-7C8F-CE26-E36B7E9755CD}"/>
                  </a:ext>
                </a:extLst>
              </p:cNvPr>
              <p:cNvCxnSpPr>
                <a:stCxn id="63" idx="6"/>
              </p:cNvCxnSpPr>
              <p:nvPr/>
            </p:nvCxnSpPr>
            <p:spPr>
              <a:xfrm>
                <a:off x="1835286" y="2870117"/>
                <a:ext cx="1841769" cy="0"/>
              </a:xfrm>
              <a:prstGeom prst="straightConnector1">
                <a:avLst/>
              </a:prstGeom>
              <a:ln w="28575">
                <a:solidFill>
                  <a:schemeClr val="tx1"/>
                </a:solidFill>
                <a:headEnd type="none" w="med" len="med"/>
                <a:tailEnd type="arrow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6" name="Straight Arrow Connector 65">
                <a:extLst>
                  <a:ext uri="{FF2B5EF4-FFF2-40B4-BE49-F238E27FC236}">
                    <a16:creationId xmlns:a16="http://schemas.microsoft.com/office/drawing/2014/main" id="{DD64D901-7609-7CBD-EEDD-AB509B64BA0B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1847918" y="2137588"/>
                <a:ext cx="1166432" cy="739760"/>
              </a:xfrm>
              <a:prstGeom prst="straightConnector1">
                <a:avLst/>
              </a:prstGeom>
              <a:ln w="28575">
                <a:solidFill>
                  <a:schemeClr val="tx1"/>
                </a:solidFill>
                <a:headEnd type="none" w="med" len="med"/>
                <a:tailEnd type="arrow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67" name="TextBox 66">
                <a:extLst>
                  <a:ext uri="{FF2B5EF4-FFF2-40B4-BE49-F238E27FC236}">
                    <a16:creationId xmlns:a16="http://schemas.microsoft.com/office/drawing/2014/main" id="{35C78B44-BA76-C84E-3457-CB64D2B181A0}"/>
                  </a:ext>
                </a:extLst>
              </p:cNvPr>
              <p:cNvSpPr txBox="1"/>
              <p:nvPr/>
            </p:nvSpPr>
            <p:spPr>
              <a:xfrm>
                <a:off x="2431134" y="2594757"/>
                <a:ext cx="553357" cy="30777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dirty="0"/>
                  <a:t>Hold</a:t>
                </a:r>
              </a:p>
            </p:txBody>
          </p: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68" name="TextBox 67">
                    <a:extLst>
                      <a:ext uri="{FF2B5EF4-FFF2-40B4-BE49-F238E27FC236}">
                        <a16:creationId xmlns:a16="http://schemas.microsoft.com/office/drawing/2014/main" id="{71E0C482-4995-8B30-06F8-C8E05154DC9A}"/>
                      </a:ext>
                    </a:extLst>
                  </p:cNvPr>
                  <p:cNvSpPr txBox="1"/>
                  <p:nvPr/>
                </p:nvSpPr>
                <p:spPr>
                  <a:xfrm rot="19640672">
                    <a:off x="1786798" y="2273357"/>
                    <a:ext cx="908069" cy="307777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r>
                      <a:rPr lang="en-US" dirty="0"/>
                      <a:t>Sell at </a:t>
                    </a:r>
                    <a14:m>
                      <m:oMath xmlns:m="http://schemas.openxmlformats.org/officeDocument/2006/math"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𝑝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4</m:t>
                            </m:r>
                          </m:sub>
                        </m:sSub>
                      </m:oMath>
                    </a14:m>
                    <a:endParaRPr lang="en-US" dirty="0"/>
                  </a:p>
                </p:txBody>
              </p:sp>
            </mc:Choice>
            <mc:Fallback xmlns="">
              <p:sp>
                <p:nvSpPr>
                  <p:cNvPr id="68" name="TextBox 67">
                    <a:extLst>
                      <a:ext uri="{FF2B5EF4-FFF2-40B4-BE49-F238E27FC236}">
                        <a16:creationId xmlns:a16="http://schemas.microsoft.com/office/drawing/2014/main" id="{A871009B-A45B-1571-5D69-4B1024723EC4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 rot="19640672">
                    <a:off x="1786798" y="2273357"/>
                    <a:ext cx="908069" cy="307777"/>
                  </a:xfrm>
                  <a:prstGeom prst="rect">
                    <a:avLst/>
                  </a:prstGeom>
                  <a:blipFill>
                    <a:blip r:embed="rId6"/>
                    <a:stretch>
                      <a:fillRect l="-1299" b="-7258"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</p:grpSp>
    </p:spTree>
    <p:extLst>
      <p:ext uri="{BB962C8B-B14F-4D97-AF65-F5344CB8AC3E}">
        <p14:creationId xmlns:p14="http://schemas.microsoft.com/office/powerpoint/2010/main" val="2143615510"/>
      </p:ext>
    </p:extLst>
  </p:cSld>
  <p:clrMapOvr>
    <a:masterClrMapping/>
  </p:clrMapOvr>
</p:sld>
</file>

<file path=ppt/slides/slide1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54F2C7C-4358-A648-413A-E39A9752131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>
            <a:extLst>
              <a:ext uri="{FF2B5EF4-FFF2-40B4-BE49-F238E27FC236}">
                <a16:creationId xmlns:a16="http://schemas.microsoft.com/office/drawing/2014/main" id="{26E36A10-0598-0132-B56D-443C47531DC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30611" y="0"/>
            <a:ext cx="12251492" cy="6858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7930127C-56D3-7662-0507-EB49089DFB7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017270" y="353850"/>
            <a:ext cx="4838905" cy="550500"/>
          </a:xfrm>
        </p:spPr>
        <p:txBody>
          <a:bodyPr/>
          <a:lstStyle/>
          <a:p>
            <a:r>
              <a:rPr lang="en-US" i="1" dirty="0">
                <a:solidFill>
                  <a:schemeClr val="tx1"/>
                </a:solidFill>
              </a:rPr>
              <a:t>Thank you!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6D744F74-2806-8793-9BFE-9280D7303D1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32137" y="797340"/>
            <a:ext cx="2316681" cy="2591025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E37B918C-0580-D62A-C289-E6C1CDFF91A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725757" y="770669"/>
            <a:ext cx="2286198" cy="2644369"/>
          </a:xfrm>
          <a:prstGeom prst="rect">
            <a:avLst/>
          </a:prstGeom>
        </p:spPr>
      </p:pic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0FD369A-81E2-944D-962D-3503615B286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765426" y="807631"/>
            <a:ext cx="5352185" cy="4401600"/>
          </a:xfrm>
        </p:spPr>
        <p:txBody>
          <a:bodyPr/>
          <a:lstStyle/>
          <a:p>
            <a:pPr marL="0" lvl="2" indent="0" algn="ctr"/>
            <a:endParaRPr lang="en-US" dirty="0">
              <a:solidFill>
                <a:schemeClr val="tx1"/>
              </a:solidFill>
            </a:endParaRPr>
          </a:p>
          <a:p>
            <a:pPr marL="0" lvl="1" indent="0" algn="ctr">
              <a:buNone/>
            </a:pPr>
            <a:r>
              <a:rPr lang="en-US" dirty="0">
                <a:solidFill>
                  <a:schemeClr val="tx1"/>
                </a:solidFill>
              </a:rPr>
              <a:t>For more information see the </a:t>
            </a:r>
            <a:r>
              <a:rPr lang="en-US" i="1" dirty="0">
                <a:solidFill>
                  <a:schemeClr val="tx1"/>
                </a:solidFill>
              </a:rPr>
              <a:t>Sequential Decision Analytics </a:t>
            </a:r>
            <a:r>
              <a:rPr lang="en-US" dirty="0">
                <a:solidFill>
                  <a:schemeClr val="tx1"/>
                </a:solidFill>
              </a:rPr>
              <a:t>website at</a:t>
            </a:r>
          </a:p>
          <a:p>
            <a:pPr marL="0" lvl="2" indent="0" algn="ctr">
              <a:buNone/>
            </a:pPr>
            <a:endParaRPr lang="en-US" dirty="0">
              <a:solidFill>
                <a:schemeClr val="tx1"/>
              </a:solidFill>
            </a:endParaRPr>
          </a:p>
          <a:p>
            <a:pPr marL="0" lvl="2" indent="0" algn="ctr">
              <a:buNone/>
            </a:pPr>
            <a:r>
              <a:rPr lang="en-US" sz="2800" dirty="0">
                <a:solidFill>
                  <a:schemeClr val="accent2">
                    <a:lumMod val="50000"/>
                  </a:schemeClr>
                </a:solidFill>
              </a:rPr>
              <a:t>warrenpowell.org</a:t>
            </a:r>
          </a:p>
          <a:p>
            <a:pPr marL="0" lvl="2" indent="0" algn="ctr">
              <a:buNone/>
            </a:pPr>
            <a:endParaRPr lang="en-US" sz="2800" dirty="0">
              <a:solidFill>
                <a:schemeClr val="tx1"/>
              </a:solidFill>
            </a:endParaRPr>
          </a:p>
          <a:p>
            <a:pPr marL="0" lvl="1" indent="0" algn="ctr"/>
            <a:endParaRPr lang="en-US" sz="1400" dirty="0">
              <a:solidFill>
                <a:schemeClr val="tx1"/>
              </a:solidFill>
            </a:endParaRPr>
          </a:p>
          <a:p>
            <a:pPr marL="0" lvl="1" indent="0" algn="ctr"/>
            <a:endParaRPr lang="en-US" dirty="0">
              <a:solidFill>
                <a:schemeClr val="tx1"/>
              </a:solidFill>
            </a:endParaRPr>
          </a:p>
        </p:txBody>
      </p:sp>
      <p:pic>
        <p:nvPicPr>
          <p:cNvPr id="16" name="Picture 15">
            <a:extLst>
              <a:ext uri="{FF2B5EF4-FFF2-40B4-BE49-F238E27FC236}">
                <a16:creationId xmlns:a16="http://schemas.microsoft.com/office/drawing/2014/main" id="{2CFA3DEF-ABCB-CD64-A87F-C8809B5EA91B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86600" y="629100"/>
            <a:ext cx="2270957" cy="5616427"/>
          </a:xfrm>
          <a:prstGeom prst="rect">
            <a:avLst/>
          </a:prstGeom>
        </p:spPr>
      </p:pic>
      <p:pic>
        <p:nvPicPr>
          <p:cNvPr id="18" name="Picture 17">
            <a:extLst>
              <a:ext uri="{FF2B5EF4-FFF2-40B4-BE49-F238E27FC236}">
                <a16:creationId xmlns:a16="http://schemas.microsoft.com/office/drawing/2014/main" id="{AFB89685-4FD6-49B9-A238-EE9EE990D5D1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854573" y="5523402"/>
            <a:ext cx="7552074" cy="563929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EB938BD4-9930-F4A2-E557-507989FF4AC7}"/>
              </a:ext>
            </a:extLst>
          </p:cNvPr>
          <p:cNvSpPr txBox="1"/>
          <p:nvPr/>
        </p:nvSpPr>
        <p:spPr>
          <a:xfrm>
            <a:off x="3854573" y="3563240"/>
            <a:ext cx="8063166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800" dirty="0">
                <a:solidFill>
                  <a:schemeClr val="tx1"/>
                </a:solidFill>
              </a:rPr>
              <a:t>For more on value function approximations go to:</a:t>
            </a:r>
          </a:p>
          <a:p>
            <a:r>
              <a:rPr lang="en-US" sz="1800" dirty="0">
                <a:solidFill>
                  <a:schemeClr val="tx1"/>
                </a:solidFill>
              </a:rPr>
              <a:t> </a:t>
            </a:r>
          </a:p>
          <a:p>
            <a:r>
              <a:rPr lang="en-US" sz="1800" dirty="0">
                <a:solidFill>
                  <a:schemeClr val="tx1"/>
                </a:solidFill>
              </a:rPr>
              <a:t>warrenpowell.org → Policies → Value function approximations</a:t>
            </a:r>
          </a:p>
          <a:p>
            <a:r>
              <a:rPr lang="en-US" sz="1800" dirty="0">
                <a:solidFill>
                  <a:schemeClr val="tx1"/>
                </a:solidFill>
              </a:rPr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2136895865"/>
      </p:ext>
    </p:extLst>
  </p:cSld>
  <p:clrMapOvr>
    <a:masterClrMapping/>
  </p:clrMapOvr>
</p:sld>
</file>

<file path=ppt/theme/theme1.xml><?xml version="1.0" encoding="utf-8"?>
<a:theme xmlns:a="http://schemas.openxmlformats.org/drawingml/2006/main" name="CIV 411 11 Intro and overview">
  <a:themeElements>
    <a:clrScheme name="CIV 411 11 Intro and overview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lnDef>
      <a:spPr>
        <a:ln w="28575">
          <a:solidFill>
            <a:schemeClr val="tx1"/>
          </a:solidFill>
          <a:headEnd type="none" w="med" len="med"/>
          <a:tailEnd type="arrow" w="med" len="med"/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activity xmlns="b9a67f89-7d7d-48be-9399-9713d9f7587c" xsi:nil="true"/>
  </documentManagement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0CA48227E3DE37419A418C60F2D64C15" ma:contentTypeVersion="6" ma:contentTypeDescription="Create a new document." ma:contentTypeScope="" ma:versionID="6a273f09d10aeeee6a70496a6e8b3e1f">
  <xsd:schema xmlns:xsd="http://www.w3.org/2001/XMLSchema" xmlns:xs="http://www.w3.org/2001/XMLSchema" xmlns:p="http://schemas.microsoft.com/office/2006/metadata/properties" xmlns:ns3="b9a67f89-7d7d-48be-9399-9713d9f7587c" targetNamespace="http://schemas.microsoft.com/office/2006/metadata/properties" ma:root="true" ma:fieldsID="55a4f175a1c67e7eff53bb36c6c03921" ns3:_="">
    <xsd:import namespace="b9a67f89-7d7d-48be-9399-9713d9f7587c"/>
    <xsd:element name="properties">
      <xsd:complexType>
        <xsd:sequence>
          <xsd:element name="documentManagement">
            <xsd:complexType>
              <xsd:all>
                <xsd:element ref="ns3:MediaServiceMetadata" minOccurs="0"/>
                <xsd:element ref="ns3:MediaServiceFastMetadata" minOccurs="0"/>
                <xsd:element ref="ns3:MediaServiceObjectDetectorVersions" minOccurs="0"/>
                <xsd:element ref="ns3:MediaServiceSearchProperties" minOccurs="0"/>
                <xsd:element ref="ns3:MediaServiceDateTaken" minOccurs="0"/>
                <xsd:element ref="ns3:_activity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b9a67f89-7d7d-48be-9399-9713d9f7587c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bjectDetectorVersions" ma:index="10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SearchProperties" ma:index="11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ateTaken" ma:index="12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_activity" ma:index="13" nillable="true" ma:displayName="_activity" ma:hidden="true" ma:internalName="_activity">
      <xsd:simpleType>
        <xsd:restriction base="dms:Note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8F0C8D23-C824-4069-9D96-A056B9C750B2}">
  <ds:schemaRefs>
    <ds:schemaRef ds:uri="http://purl.org/dc/elements/1.1/"/>
    <ds:schemaRef ds:uri="http://schemas.microsoft.com/office/2006/metadata/properties"/>
    <ds:schemaRef ds:uri="http://purl.org/dc/terms/"/>
    <ds:schemaRef ds:uri="http://schemas.microsoft.com/office/2006/documentManagement/types"/>
    <ds:schemaRef ds:uri="http://purl.org/dc/dcmitype/"/>
    <ds:schemaRef ds:uri="http://schemas.microsoft.com/office/infopath/2007/PartnerControls"/>
    <ds:schemaRef ds:uri="http://schemas.openxmlformats.org/package/2006/metadata/core-properties"/>
    <ds:schemaRef ds:uri="b9a67f89-7d7d-48be-9399-9713d9f7587c"/>
    <ds:schemaRef ds:uri="http://www.w3.org/XML/1998/namespace"/>
  </ds:schemaRefs>
</ds:datastoreItem>
</file>

<file path=customXml/itemProps2.xml><?xml version="1.0" encoding="utf-8"?>
<ds:datastoreItem xmlns:ds="http://schemas.openxmlformats.org/officeDocument/2006/customXml" ds:itemID="{899611F8-1974-4A8A-AF09-CB23287D66B9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4565DD70-CE85-45EB-8875-37DB516A696A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b9a67f89-7d7d-48be-9399-9713d9f7587c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469097</TotalTime>
  <Words>17887</Words>
  <Application>Microsoft Office PowerPoint</Application>
  <PresentationFormat>Widescreen</PresentationFormat>
  <Paragraphs>4380</Paragraphs>
  <Slides>386</Slides>
  <Notes>216</Notes>
  <HiddenSlides>0</HiddenSlides>
  <MMClips>3</MMClips>
  <ScaleCrop>false</ScaleCrop>
  <HeadingPairs>
    <vt:vector size="8" baseType="variant">
      <vt:variant>
        <vt:lpstr>Fonts Used</vt:lpstr>
      </vt:variant>
      <vt:variant>
        <vt:i4>10</vt:i4>
      </vt:variant>
      <vt:variant>
        <vt:lpstr>Theme</vt:lpstr>
      </vt:variant>
      <vt:variant>
        <vt:i4>1</vt:i4>
      </vt:variant>
      <vt:variant>
        <vt:lpstr>Embedded OLE Servers</vt:lpstr>
      </vt:variant>
      <vt:variant>
        <vt:i4>3</vt:i4>
      </vt:variant>
      <vt:variant>
        <vt:lpstr>Slide Titles</vt:lpstr>
      </vt:variant>
      <vt:variant>
        <vt:i4>386</vt:i4>
      </vt:variant>
    </vt:vector>
  </HeadingPairs>
  <TitlesOfParts>
    <vt:vector size="400" baseType="lpstr">
      <vt:lpstr>Oswald Regular</vt:lpstr>
      <vt:lpstr>Cambria Math</vt:lpstr>
      <vt:lpstr>Wingdings</vt:lpstr>
      <vt:lpstr>Oswald</vt:lpstr>
      <vt:lpstr>Raleway</vt:lpstr>
      <vt:lpstr>Symbol</vt:lpstr>
      <vt:lpstr>Raleway Thin</vt:lpstr>
      <vt:lpstr>Playfair Display</vt:lpstr>
      <vt:lpstr>Times New Roman</vt:lpstr>
      <vt:lpstr>Arial</vt:lpstr>
      <vt:lpstr>CIV 411 11 Intro and overview</vt:lpstr>
      <vt:lpstr>Equation</vt:lpstr>
      <vt:lpstr>Clip</vt:lpstr>
      <vt:lpstr>Chart</vt:lpstr>
      <vt:lpstr>PowerPoint Presentation</vt:lpstr>
      <vt:lpstr>OUTLINE</vt:lpstr>
      <vt:lpstr>Policy function approximations</vt:lpstr>
      <vt:lpstr>Policy function approximations</vt:lpstr>
      <vt:lpstr>Policy function approximations</vt:lpstr>
      <vt:lpstr>Policy function approximations</vt:lpstr>
      <vt:lpstr>Policy function approximations</vt:lpstr>
      <vt:lpstr>Policy function approximations</vt:lpstr>
      <vt:lpstr>Policy function approximations</vt:lpstr>
      <vt:lpstr>Policy function approximations</vt:lpstr>
      <vt:lpstr>Policy function approximations</vt:lpstr>
      <vt:lpstr>OUTLINE</vt:lpstr>
      <vt:lpstr>Bridging Machine Learning and Sequential Decision Problems</vt:lpstr>
      <vt:lpstr>OUTLINE</vt:lpstr>
      <vt:lpstr>Policy evaluation</vt:lpstr>
      <vt:lpstr>Policy evaluation</vt:lpstr>
      <vt:lpstr>Thank you!</vt:lpstr>
      <vt:lpstr>PowerPoint Presentation</vt:lpstr>
      <vt:lpstr>OUTLINE</vt:lpstr>
      <vt:lpstr>OUTLINE</vt:lpstr>
      <vt:lpstr>Cost function approximations: Discrete choices</vt:lpstr>
      <vt:lpstr>PowerPoint Presentation</vt:lpstr>
      <vt:lpstr>Cost function approximations: Discrete choices</vt:lpstr>
      <vt:lpstr>Cost function approximations: Discrete choices</vt:lpstr>
      <vt:lpstr>Cost function approximations: Discrete choices</vt:lpstr>
      <vt:lpstr>Cost function approximations: Discrete choices</vt:lpstr>
      <vt:lpstr>Cost function approximations: Discrete choices</vt:lpstr>
      <vt:lpstr>Cost function approximations: Discrete choices</vt:lpstr>
      <vt:lpstr>Cost function approximations: Discrete choices</vt:lpstr>
      <vt:lpstr>OUTLINE</vt:lpstr>
      <vt:lpstr>Cost function approximations</vt:lpstr>
      <vt:lpstr>Cost function approximations: Continuous vectors</vt:lpstr>
      <vt:lpstr>Cost function approximations: Continuous vectors</vt:lpstr>
      <vt:lpstr>Cost function approximations: Continuous vectors</vt:lpstr>
      <vt:lpstr>Cost function approximations: Continuous vectors</vt:lpstr>
      <vt:lpstr>Cost function approximations: Continuous vectors</vt:lpstr>
      <vt:lpstr>Thank you!</vt:lpstr>
      <vt:lpstr>OUTLINE</vt:lpstr>
      <vt:lpstr>PowerPoint Presentation</vt:lpstr>
      <vt:lpstr>OUTLINE</vt:lpstr>
      <vt:lpstr>OUTLINE</vt:lpstr>
      <vt:lpstr>OUTLINE</vt:lpstr>
      <vt:lpstr>VFA policies: Exact dynamic programming</vt:lpstr>
      <vt:lpstr>VFA policies: Exact dynamic programming</vt:lpstr>
      <vt:lpstr>PowerPoint Presentation</vt:lpstr>
      <vt:lpstr>VFA policies: Exact dynamic programming</vt:lpstr>
      <vt:lpstr>VFA policies: Exact dynamic programming</vt:lpstr>
      <vt:lpstr>VFA policies: Exact dynamic programming</vt:lpstr>
      <vt:lpstr>OUTLINE</vt:lpstr>
      <vt:lpstr>VFA policies: Backward MDP and curses of dimensionality</vt:lpstr>
      <vt:lpstr>VFA policies: Backward MDP and curses of dimensionality</vt:lpstr>
      <vt:lpstr>VFA policies: Backward MDP and curses of dimensionality</vt:lpstr>
      <vt:lpstr>VFA policies: Backward MDP and curses of dimensionality</vt:lpstr>
      <vt:lpstr>OUTLINE</vt:lpstr>
      <vt:lpstr>VFA policies: Exact dynamic programming</vt:lpstr>
      <vt:lpstr>VFA policies: Exact dynamic programming</vt:lpstr>
      <vt:lpstr>VFA policies: Exact dynamic programming</vt:lpstr>
      <vt:lpstr>VFA policies: Exact dynamic programming</vt:lpstr>
      <vt:lpstr>Thank you!</vt:lpstr>
      <vt:lpstr>PowerPoint Presentation</vt:lpstr>
      <vt:lpstr>OUTLINE</vt:lpstr>
      <vt:lpstr>OUTLINE</vt:lpstr>
      <vt:lpstr>VFA policies</vt:lpstr>
      <vt:lpstr>VFA policies</vt:lpstr>
      <vt:lpstr>VFA policies</vt:lpstr>
      <vt:lpstr>VFA policies</vt:lpstr>
      <vt:lpstr>VFA policies</vt:lpstr>
      <vt:lpstr>OUTLINE</vt:lpstr>
      <vt:lpstr>Value iteration: The nomadic trucker</vt:lpstr>
      <vt:lpstr>Value iteration: The nomadic trucker</vt:lpstr>
      <vt:lpstr>Value iteration: The nomadic trucker</vt:lpstr>
      <vt:lpstr>Value iteration: The nomadic trucker</vt:lpstr>
      <vt:lpstr>Value iteration: The nomadic trucker</vt:lpstr>
      <vt:lpstr>Value iteration: The nomadic trucker</vt:lpstr>
      <vt:lpstr>Value iteration: The nomadic trucker</vt:lpstr>
      <vt:lpstr>Value iteration: The nomadic trucker</vt:lpstr>
      <vt:lpstr>Value iteration: The nomadic trucker</vt:lpstr>
      <vt:lpstr>Value iteration: The nomadic trucker</vt:lpstr>
      <vt:lpstr>Value iteration: The nomadic trucker</vt:lpstr>
      <vt:lpstr>Value iteration: The nomadic trucker</vt:lpstr>
      <vt:lpstr>Value iteration: The nomadic trucker</vt:lpstr>
      <vt:lpstr>Value iteration: The nomadic trucker</vt:lpstr>
      <vt:lpstr>Value iteration: The nomadic trucker</vt:lpstr>
      <vt:lpstr>OUTLINE</vt:lpstr>
      <vt:lpstr>Value iteration: The nomadic trucker</vt:lpstr>
      <vt:lpstr>Value iteration: Exploration vs. exploitation</vt:lpstr>
      <vt:lpstr>Value iteration: Exploration vs. exploitation</vt:lpstr>
      <vt:lpstr>Value iteration: Exploration vs. exploitation</vt:lpstr>
      <vt:lpstr>PowerPoint Presentation</vt:lpstr>
      <vt:lpstr>PowerPoint Presentation</vt:lpstr>
      <vt:lpstr>Value iteration: Exploration vs. exploitation</vt:lpstr>
      <vt:lpstr>OUTLINE</vt:lpstr>
      <vt:lpstr>Backward approximate dynamic programming</vt:lpstr>
      <vt:lpstr>Backward approximate dynamic programming</vt:lpstr>
      <vt:lpstr>Backward approximate dynamic programming</vt:lpstr>
      <vt:lpstr>Backward approximate dynamic programming</vt:lpstr>
      <vt:lpstr>Thank you!</vt:lpstr>
      <vt:lpstr>PowerPoint Presentation</vt:lpstr>
      <vt:lpstr>OUTLINE</vt:lpstr>
      <vt:lpstr>OUTLINE</vt:lpstr>
      <vt:lpstr>Reinforcement learning: TD learning</vt:lpstr>
      <vt:lpstr>Reinforcement learning: TD learning</vt:lpstr>
      <vt:lpstr>Reinforcement learning: TD learning</vt:lpstr>
      <vt:lpstr>OUTLINE</vt:lpstr>
      <vt:lpstr>Reinforcement learning: Q-learning</vt:lpstr>
      <vt:lpstr>Reinforcement learning: Q-learning</vt:lpstr>
      <vt:lpstr>Reinforcement learning: Q-learning</vt:lpstr>
      <vt:lpstr>Reinforcement learning: Q-learning</vt:lpstr>
      <vt:lpstr>Reinforcement learning: Q-learning</vt:lpstr>
      <vt:lpstr>Reinforcement learning: Q-learning</vt:lpstr>
      <vt:lpstr>OUTLINE</vt:lpstr>
      <vt:lpstr>VFA: The deadly triad </vt:lpstr>
      <vt:lpstr>VFA: The deadly triad </vt:lpstr>
      <vt:lpstr>Thank you!</vt:lpstr>
      <vt:lpstr>PowerPoint Presentation</vt:lpstr>
      <vt:lpstr>OUTLINE</vt:lpstr>
      <vt:lpstr>OUTLINE</vt:lpstr>
      <vt:lpstr>OUTLINE</vt:lpstr>
      <vt:lpstr>VFAs: Linear value function approximations</vt:lpstr>
      <vt:lpstr>VFAs: Linear value function approximations</vt:lpstr>
      <vt:lpstr>VFAs: Linear value function approximations</vt:lpstr>
      <vt:lpstr>VFAs: Linear value function approximations</vt:lpstr>
      <vt:lpstr>VFAs: Linear value function approximations</vt:lpstr>
      <vt:lpstr>VFAs: Linear value function approximations</vt:lpstr>
      <vt:lpstr>VFAs: Linear value function approximations</vt:lpstr>
      <vt:lpstr>VFAs: Linear value function approximations</vt:lpstr>
      <vt:lpstr>VFAs: Linear value function approximations</vt:lpstr>
      <vt:lpstr>OUTLINE</vt:lpstr>
      <vt:lpstr>PowerPoint Presentation</vt:lpstr>
      <vt:lpstr>VFAs: Stepsizes</vt:lpstr>
      <vt:lpstr>VFAs: Stepsizes</vt:lpstr>
      <vt:lpstr>VFAs: Stepsizes</vt:lpstr>
      <vt:lpstr>VFAs: Stepsizes</vt:lpstr>
      <vt:lpstr>VFAs: Stepsizes</vt:lpstr>
      <vt:lpstr>VFAs: Stepsizes</vt:lpstr>
      <vt:lpstr>VFAs: Stepsizes</vt:lpstr>
      <vt:lpstr>OUTLINE</vt:lpstr>
      <vt:lpstr>Value iteration: Financial application</vt:lpstr>
      <vt:lpstr>Value iteration: Financial application</vt:lpstr>
      <vt:lpstr>Value iteration: Financial application</vt:lpstr>
      <vt:lpstr>Value iteration: Financial application</vt:lpstr>
      <vt:lpstr>Value iteration: Financial application</vt:lpstr>
      <vt:lpstr>Value iteration: Financial application</vt:lpstr>
      <vt:lpstr>Value iteration: Financial application</vt:lpstr>
      <vt:lpstr>Value iteration: Financial application</vt:lpstr>
      <vt:lpstr>Value iteration: Financial application</vt:lpstr>
      <vt:lpstr>Value iteration: Financial application</vt:lpstr>
      <vt:lpstr>Value iteration: Financial application</vt:lpstr>
      <vt:lpstr>Value iteration: Financial application</vt:lpstr>
      <vt:lpstr>Value iteration: Financial application</vt:lpstr>
      <vt:lpstr>Value iteration: Financial application</vt:lpstr>
      <vt:lpstr>Value iteration: Financial application</vt:lpstr>
      <vt:lpstr>Thank you!</vt:lpstr>
      <vt:lpstr>PowerPoint Presentation</vt:lpstr>
      <vt:lpstr>OUTLINE</vt:lpstr>
      <vt:lpstr>OUTLINE</vt:lpstr>
      <vt:lpstr>OUTLINE</vt:lpstr>
      <vt:lpstr>Blood management</vt:lpstr>
      <vt:lpstr>Blood management</vt:lpstr>
      <vt:lpstr>Blood management</vt:lpstr>
      <vt:lpstr>Blood management</vt:lpstr>
      <vt:lpstr>Blood management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Blood management</vt:lpstr>
      <vt:lpstr>Blood management</vt:lpstr>
      <vt:lpstr>Blood management</vt:lpstr>
      <vt:lpstr>Blood management</vt:lpstr>
      <vt:lpstr>Blood management</vt:lpstr>
      <vt:lpstr>Blood management</vt:lpstr>
      <vt:lpstr>Blood management</vt:lpstr>
      <vt:lpstr>Blood management</vt:lpstr>
      <vt:lpstr>Blood management</vt:lpstr>
      <vt:lpstr>Blood management</vt:lpstr>
      <vt:lpstr>OUTLINE</vt:lpstr>
      <vt:lpstr>Grid level storage</vt:lpstr>
      <vt:lpstr>Grid level energy storage</vt:lpstr>
      <vt:lpstr>Grid level energy storage</vt:lpstr>
      <vt:lpstr>Grid level energy storage</vt:lpstr>
      <vt:lpstr>Grid level energy storage</vt:lpstr>
      <vt:lpstr>Grid level energy storage</vt:lpstr>
      <vt:lpstr>Grid level energy storage</vt:lpstr>
      <vt:lpstr>Grid level energy storage</vt:lpstr>
      <vt:lpstr>Grid level energy storage</vt:lpstr>
      <vt:lpstr>Grid level energy storage</vt:lpstr>
      <vt:lpstr>OUTLINE</vt:lpstr>
      <vt:lpstr>PowerPoint Presentation</vt:lpstr>
      <vt:lpstr>Truckload fleet planning at Schneider National</vt:lpstr>
      <vt:lpstr>Truckload fleet planning at Schneider National</vt:lpstr>
      <vt:lpstr>Truckload fleet planning at Schneider National</vt:lpstr>
      <vt:lpstr>Truckload fleet planning at Schneider National</vt:lpstr>
      <vt:lpstr>Truckload fleet planning at Schneider National</vt:lpstr>
      <vt:lpstr>Truckload fleet planning at Schneider National</vt:lpstr>
      <vt:lpstr>Truckload fleet planning at Schneider National</vt:lpstr>
      <vt:lpstr>Truckload fleet planning at Schneider National</vt:lpstr>
      <vt:lpstr>Truckload fleet planning at Schneider National</vt:lpstr>
      <vt:lpstr>PowerPoint Presentation</vt:lpstr>
      <vt:lpstr>Truckload fleet planning at Schneider National</vt:lpstr>
      <vt:lpstr>Truckload fleet planning at Schneider National</vt:lpstr>
      <vt:lpstr>Truckload fleet planning at Schneider National</vt:lpstr>
      <vt:lpstr>Truckload fleet planning at Schneider National</vt:lpstr>
      <vt:lpstr>Truckload fleet planning at Schneider National</vt:lpstr>
      <vt:lpstr>Truckload fleet planning at Schneider National</vt:lpstr>
      <vt:lpstr>Truckload fleet planning at Schneider National</vt:lpstr>
      <vt:lpstr>OUTLINE</vt:lpstr>
      <vt:lpstr>Locomotive planning at Norfolk Southern</vt:lpstr>
      <vt:lpstr>PowerPoint Presentation</vt:lpstr>
      <vt:lpstr>PowerPoint Presentation</vt:lpstr>
      <vt:lpstr>PowerPoint Presentation</vt:lpstr>
      <vt:lpstr>PowerPoint Presentation</vt:lpstr>
      <vt:lpstr>Locomotive planning at Norfolk Southern</vt:lpstr>
      <vt:lpstr>Locomotive planning at Norfolk Southern</vt:lpstr>
      <vt:lpstr>Locomotive planning at Norfolk Southern</vt:lpstr>
      <vt:lpstr>Locomotive planning at Norfolk Southern</vt:lpstr>
      <vt:lpstr>Locomotive planning at Norfolk Southern</vt:lpstr>
      <vt:lpstr>Locomotive planning at Norfolk Southern</vt:lpstr>
      <vt:lpstr>Locomotive planning at Norfolk Southern</vt:lpstr>
      <vt:lpstr>Locomotive planning at Norfolk Southern</vt:lpstr>
      <vt:lpstr>Locomotive planning at Norfolk Southern</vt:lpstr>
      <vt:lpstr>Locomotive planning at Norfolk Southern</vt:lpstr>
      <vt:lpstr>Locomotive planning at Norfolk Southern</vt:lpstr>
      <vt:lpstr>Locomotive planning at Norfolk Southern</vt:lpstr>
      <vt:lpstr>Locomotive planning at Norfolk Southern</vt:lpstr>
      <vt:lpstr>Locomotive planning at Norfolk Southern</vt:lpstr>
      <vt:lpstr>Locomotive planning at Norfolk Southern</vt:lpstr>
      <vt:lpstr>Locomotive planning at Norfolk Southern</vt:lpstr>
      <vt:lpstr>Locomotive planning at Norfolk Southern</vt:lpstr>
      <vt:lpstr>Thank you!</vt:lpstr>
      <vt:lpstr>OUTLINE</vt:lpstr>
      <vt:lpstr>PowerPoint Presentation</vt:lpstr>
      <vt:lpstr>OUTLINE</vt:lpstr>
      <vt:lpstr>OUTLINE</vt:lpstr>
      <vt:lpstr>OUTLINE</vt:lpstr>
      <vt:lpstr>Base models vs. lookahead models</vt:lpstr>
      <vt:lpstr>Base models vs. lookahead models</vt:lpstr>
      <vt:lpstr>Base models vs. lookahead models</vt:lpstr>
      <vt:lpstr>Base models vs. lookahead models</vt:lpstr>
      <vt:lpstr>Base models vs. lookahead models</vt:lpstr>
      <vt:lpstr>Base models vs. lookahead models</vt:lpstr>
      <vt:lpstr>Base models vs. lookahead models</vt:lpstr>
      <vt:lpstr>Base models vs. lookahead models</vt:lpstr>
      <vt:lpstr>Base models vs. lookahead models</vt:lpstr>
      <vt:lpstr>Base models vs. lookahead models</vt:lpstr>
      <vt:lpstr>OUTLINE</vt:lpstr>
      <vt:lpstr>The policy-within-a-policy</vt:lpstr>
      <vt:lpstr>The policy-within-a-policy</vt:lpstr>
      <vt:lpstr>The policy-within-a-policy</vt:lpstr>
      <vt:lpstr>Thank you!</vt:lpstr>
      <vt:lpstr>PowerPoint Presentation</vt:lpstr>
      <vt:lpstr>OUTLINE</vt:lpstr>
      <vt:lpstr>Deterministic lookahead: Parameterized LP</vt:lpstr>
      <vt:lpstr>Deterministic lookahead: Parameterized LP</vt:lpstr>
      <vt:lpstr>Deterministic lookahead: Parameterized LP</vt:lpstr>
      <vt:lpstr>Deterministic lookahead: Parameterized LP</vt:lpstr>
      <vt:lpstr>Deterministic lookahead: Parameterized LP</vt:lpstr>
      <vt:lpstr>Deterministic lookahead: Parameterized LP</vt:lpstr>
      <vt:lpstr>Deterministic lookahead: Parameterized LP</vt:lpstr>
      <vt:lpstr>Deterministic lookahead: Parameterized LP</vt:lpstr>
      <vt:lpstr>Deterministic lookahead: Parameterized LP</vt:lpstr>
      <vt:lpstr>Deterministic lookahead: Parameterized LP</vt:lpstr>
      <vt:lpstr>Deterministic lookahead: Parameterized LP</vt:lpstr>
      <vt:lpstr>Deterministic lookahead: Parameterized LP</vt:lpstr>
      <vt:lpstr>Deterministic lookahead: Parameterized LP</vt:lpstr>
      <vt:lpstr>Cost function approximations: Parameterized LP</vt:lpstr>
      <vt:lpstr>Cost function approximations: Parameterized LP</vt:lpstr>
      <vt:lpstr>Thank you!</vt:lpstr>
      <vt:lpstr>PowerPoint Presentation</vt:lpstr>
      <vt:lpstr>OUTLINE</vt:lpstr>
      <vt:lpstr>OUTLINE</vt:lpstr>
      <vt:lpstr>PFA-based lookahead policy</vt:lpstr>
      <vt:lpstr>PFA-based lookahead policy</vt:lpstr>
      <vt:lpstr>PFA-based lookahead policy</vt:lpstr>
      <vt:lpstr>PFA-based lookahead policy</vt:lpstr>
      <vt:lpstr>PFA-based lookahead policy</vt:lpstr>
      <vt:lpstr>PFA-based lookahead policy</vt:lpstr>
      <vt:lpstr>PFA-based lookahead policy</vt:lpstr>
      <vt:lpstr>PFA-based lookahead policy</vt:lpstr>
      <vt:lpstr>PFA-based lookahead policy</vt:lpstr>
      <vt:lpstr>PFA-based lookahead policy</vt:lpstr>
      <vt:lpstr>PFA-based lookahead policy</vt:lpstr>
      <vt:lpstr>PFA-based lookahead policy</vt:lpstr>
      <vt:lpstr>OUTLINE</vt:lpstr>
      <vt:lpstr>Direct lookahead policies</vt:lpstr>
      <vt:lpstr>Dynamic shortest paths</vt:lpstr>
      <vt:lpstr>Dynamic shortest paths</vt:lpstr>
      <vt:lpstr>Parameterized deterministic lookahead</vt:lpstr>
      <vt:lpstr>Dynamic shortest paths</vt:lpstr>
      <vt:lpstr>Dynamic shortest paths</vt:lpstr>
      <vt:lpstr>Dynamic shortest paths</vt:lpstr>
      <vt:lpstr>Dynamic shortest paths</vt:lpstr>
      <vt:lpstr>Designing policies</vt:lpstr>
      <vt:lpstr>Policy search</vt:lpstr>
      <vt:lpstr>OUTLINE</vt:lpstr>
      <vt:lpstr>VFA-based lookahead policy</vt:lpstr>
      <vt:lpstr>VFA-based lookahead policy</vt:lpstr>
      <vt:lpstr>VFA-based lookahead policy</vt:lpstr>
      <vt:lpstr>VFA-based lookahead policy</vt:lpstr>
      <vt:lpstr>VFA-based lookahead policy</vt:lpstr>
      <vt:lpstr>VFA-based lookahead policy</vt:lpstr>
      <vt:lpstr>VFA-based lookahead policy</vt:lpstr>
      <vt:lpstr>VFA-based lookahead policy</vt:lpstr>
      <vt:lpstr>VFA-based lookahead policy</vt:lpstr>
      <vt:lpstr>VFA-based lookahead policy</vt:lpstr>
      <vt:lpstr>Thank you!</vt:lpstr>
      <vt:lpstr>PowerPoint Presentation</vt:lpstr>
      <vt:lpstr>OUTLINE</vt:lpstr>
      <vt:lpstr>OUTLINE</vt:lpstr>
      <vt:lpstr>DLA policy: Decision trees</vt:lpstr>
      <vt:lpstr>DLA policy: Decision trees</vt:lpstr>
      <vt:lpstr>DLA policy: Decision trees</vt:lpstr>
      <vt:lpstr>DLA policy: Decision trees</vt:lpstr>
      <vt:lpstr>DLA policy: Decision trees</vt:lpstr>
      <vt:lpstr>DLA policy: Decision trees</vt:lpstr>
      <vt:lpstr>DLA policy: Decision trees</vt:lpstr>
      <vt:lpstr>PowerPoint Presentation</vt:lpstr>
      <vt:lpstr>PowerPoint Presentation</vt:lpstr>
      <vt:lpstr>PowerPoint Presentation</vt:lpstr>
      <vt:lpstr>PowerPoint Presentation</vt:lpstr>
      <vt:lpstr>OUTLINE</vt:lpstr>
      <vt:lpstr>DLA policies: MCTS</vt:lpstr>
      <vt:lpstr>DLA policies: MCTS</vt:lpstr>
      <vt:lpstr>DLA policies: MCTS</vt:lpstr>
      <vt:lpstr>DLA policies: MCTS</vt:lpstr>
      <vt:lpstr>DLA policies: MCTS</vt:lpstr>
      <vt:lpstr>DLA policies: MCTS</vt:lpstr>
      <vt:lpstr>DLA policies: MCTS</vt:lpstr>
      <vt:lpstr>DLA policies: MCTS</vt:lpstr>
      <vt:lpstr>DLA policies: MCTS</vt:lpstr>
      <vt:lpstr>DLA policies: MCTS</vt:lpstr>
      <vt:lpstr>Thank you!</vt:lpstr>
      <vt:lpstr>PowerPoint Presentation</vt:lpstr>
      <vt:lpstr>OUTLINE</vt:lpstr>
      <vt:lpstr>OUTLINE</vt:lpstr>
      <vt:lpstr>PowerPoint Presentation</vt:lpstr>
      <vt:lpstr>PowerPoint Presentation</vt:lpstr>
      <vt:lpstr>The timing of decisions</vt:lpstr>
      <vt:lpstr>The timing of decisions</vt:lpstr>
      <vt:lpstr>The timing of decisions</vt:lpstr>
      <vt:lpstr>PowerPoint Presentation</vt:lpstr>
      <vt:lpstr>DLA-based lookahead policy: two stage</vt:lpstr>
      <vt:lpstr>DLA-based lookahead policy: two stage</vt:lpstr>
      <vt:lpstr>DLA-based lookahead policy: two stage</vt:lpstr>
      <vt:lpstr>DLA-based lookahead policy: two stage</vt:lpstr>
      <vt:lpstr>DLA-based lookahead policy: two stage</vt:lpstr>
      <vt:lpstr>DLA-based lookahead policy: two stage</vt:lpstr>
      <vt:lpstr>DLA-based lookahead policy: two stage</vt:lpstr>
      <vt:lpstr>DLA-based lookahead policy: two stage</vt:lpstr>
      <vt:lpstr>DLA-based lookahead policy: two stage</vt:lpstr>
      <vt:lpstr>DLA-based lookahead policy: two stage</vt:lpstr>
      <vt:lpstr>DLA-based lookahead policy: two stage</vt:lpstr>
      <vt:lpstr>DLA-based lookahead policy: two stage</vt:lpstr>
      <vt:lpstr>OUTLINE</vt:lpstr>
      <vt:lpstr>DLA-Stochastic search</vt:lpstr>
      <vt:lpstr>DLA-Stochastic search</vt:lpstr>
      <vt:lpstr>Thank you!</vt:lpstr>
      <vt:lpstr>PowerPoint Presentation</vt:lpstr>
      <vt:lpstr>OUTLINE</vt:lpstr>
      <vt:lpstr>OUTLINE</vt:lpstr>
      <vt:lpstr>Policy search: Derivative-based</vt:lpstr>
      <vt:lpstr>Policy search: Derivative-based</vt:lpstr>
      <vt:lpstr>Policy search: Derivative-based</vt:lpstr>
      <vt:lpstr>Policy search: Derivative-based</vt:lpstr>
      <vt:lpstr>OUTLINE</vt:lpstr>
      <vt:lpstr>Policy search: Derivative-based</vt:lpstr>
      <vt:lpstr>Policy search: Derivative-based</vt:lpstr>
      <vt:lpstr>Policy search: Derivative-based</vt:lpstr>
      <vt:lpstr>Policy search: Derivative-based</vt:lpstr>
      <vt:lpstr>Policy search: Derivative-based</vt:lpstr>
      <vt:lpstr>Policy search: Derivative-based</vt:lpstr>
      <vt:lpstr>OUTLINE</vt:lpstr>
      <vt:lpstr>Policy search: Derivative-free</vt:lpstr>
      <vt:lpstr>Policy search: Derivative-free</vt:lpstr>
      <vt:lpstr>Policy search: Derivative-free</vt:lpstr>
      <vt:lpstr>OUTLINE</vt:lpstr>
      <vt:lpstr>Policy search: Derivative-based</vt:lpstr>
      <vt:lpstr>The universal modeling framework</vt:lpstr>
      <vt:lpstr>Policy search: as a SDP</vt:lpstr>
      <vt:lpstr>OUTLINE</vt:lpstr>
      <vt:lpstr>PowerPoint Presentation</vt:lpstr>
      <vt:lpstr>PowerPoint Presentation</vt:lpstr>
      <vt:lpstr>Policy search: Derivative-free</vt:lpstr>
      <vt:lpstr>Policy search: Derivative-free</vt:lpstr>
      <vt:lpstr>Thank you!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Warren B. Powell</dc:creator>
  <cp:lastModifiedBy>Warren Powell</cp:lastModifiedBy>
  <cp:revision>801</cp:revision>
  <cp:lastPrinted>2025-05-20T14:08:40Z</cp:lastPrinted>
  <dcterms:modified xsi:type="dcterms:W3CDTF">2026-09-06T14:28:49Z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0x0101000CA48227E3DE37419A418C60F2D64C15</vt:lpwstr>
  </property>
</Properties>
</file>