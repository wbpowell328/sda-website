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30"/>
  </p:notesMasterIdLst>
  <p:sldIdLst>
    <p:sldId id="10748" r:id="rId285"/>
    <p:sldId id="7834" r:id="rId286"/>
    <p:sldId id="7835" r:id="rId287"/>
    <p:sldId id="307" r:id="rId288"/>
    <p:sldId id="9747" r:id="rId289"/>
    <p:sldId id="9748" r:id="rId290"/>
    <p:sldId id="10504" r:id="rId291"/>
    <p:sldId id="9767" r:id="rId292"/>
    <p:sldId id="9856" r:id="rId293"/>
    <p:sldId id="9750" r:id="rId294"/>
    <p:sldId id="9751" r:id="rId295"/>
    <p:sldId id="10669" r:id="rId296"/>
    <p:sldId id="10672" r:id="rId297"/>
    <p:sldId id="9763" r:id="rId298"/>
    <p:sldId id="10040" r:id="rId299"/>
    <p:sldId id="9873" r:id="rId300"/>
    <p:sldId id="10391" r:id="rId301"/>
    <p:sldId id="10392" r:id="rId302"/>
    <p:sldId id="10393" r:id="rId303"/>
    <p:sldId id="10394" r:id="rId304"/>
    <p:sldId id="9836" r:id="rId305"/>
    <p:sldId id="9758" r:id="rId306"/>
    <p:sldId id="10041" r:id="rId307"/>
    <p:sldId id="9760" r:id="rId308"/>
    <p:sldId id="9768" r:id="rId309"/>
    <p:sldId id="9950" r:id="rId310"/>
    <p:sldId id="10686" r:id="rId311"/>
    <p:sldId id="10726" r:id="rId312"/>
    <p:sldId id="10687" r:id="rId313"/>
    <p:sldId id="8862" r:id="rId314"/>
    <p:sldId id="10189" r:id="rId315"/>
    <p:sldId id="5775" r:id="rId316"/>
    <p:sldId id="10971" r:id="rId317"/>
  </p:sldIdLst>
  <p:sldSz cx="12192000" cy="6858000"/>
  <p:notesSz cx="7102475" cy="9388475"/>
  <p:embeddedFontLst>
    <p:embeddedFont>
      <p:font typeface="Cambria Math" panose="02040503050406030204" pitchFamily="18" charset="0"/>
      <p:regular r:id="rId331"/>
    </p:embeddedFont>
    <p:embeddedFont>
      <p:font typeface="Oswald" panose="00000500000000000000" pitchFamily="2" charset="0"/>
      <p:regular r:id="rId332"/>
      <p:bold r:id="rId333"/>
    </p:embeddedFont>
    <p:embeddedFont>
      <p:font typeface="Oswald Regular" panose="00000500000000000000" charset="0"/>
      <p:regular r:id="rId334"/>
      <p:bold r:id="rId335"/>
    </p:embeddedFont>
    <p:embeddedFont>
      <p:font typeface="Playfair Display" panose="00000500000000000000" pitchFamily="2" charset="0"/>
      <p:regular r:id="rId336"/>
      <p:bold r:id="rId337"/>
      <p:italic r:id="rId338"/>
      <p:boldItalic r:id="rId339"/>
    </p:embeddedFont>
    <p:embeddedFont>
      <p:font typeface="Raleway" pitchFamily="2" charset="0"/>
      <p:regular r:id="rId340"/>
      <p:bold r:id="rId341"/>
      <p:italic r:id="rId342"/>
      <p:boldItalic r:id="rId343"/>
    </p:embeddedFont>
    <p:embeddedFont>
      <p:font typeface="Raleway Thin" pitchFamily="2" charset="0"/>
      <p:regular r:id="rId344"/>
      <p:bold r:id="rId345"/>
      <p:italic r:id="rId346"/>
      <p:boldItalic r:id="rId3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ening" id="{15E8A6E9-652B-44EF-A433-602AA2C0CF1D}">
          <p14:sldIdLst/>
        </p14:section>
        <p14:section name="Background for this tutorial" id="{9E777E73-11DD-4A73-81F1-368F6E4B7E85}">
          <p14:sldIdLst>
            <p14:sldId id="10779"/>
            <p14:sldId id="9124"/>
            <p14:sldId id="8947"/>
            <p14:sldId id="9364"/>
            <p14:sldId id="8505"/>
            <p14:sldId id="258"/>
            <p14:sldId id="7813"/>
            <p14:sldId id="9228"/>
            <p14:sldId id="9227"/>
            <p14:sldId id="10645"/>
            <p14:sldId id="10330"/>
            <p14:sldId id="9922"/>
            <p14:sldId id="10477"/>
            <p14:sldId id="10174"/>
            <p14:sldId id="10022"/>
            <p14:sldId id="10173"/>
            <p14:sldId id="10172"/>
            <p14:sldId id="10419"/>
            <p14:sldId id="10907"/>
          </p14:sldIdLst>
        </p14:section>
        <p14:section name="History of RL (short)" id="{A11ABB24-D8C5-421E-8D7B-89403AEF34B0}">
          <p14:sldIdLst>
            <p14:sldId id="10742"/>
            <p14:sldId id="10530"/>
            <p14:sldId id="10481"/>
            <p14:sldId id="8657"/>
            <p14:sldId id="10483"/>
            <p14:sldId id="10657"/>
            <p14:sldId id="10531"/>
            <p14:sldId id="10679"/>
            <p14:sldId id="10488"/>
            <p14:sldId id="10489"/>
            <p14:sldId id="10654"/>
            <p14:sldId id="10491"/>
            <p14:sldId id="10492"/>
            <p14:sldId id="10658"/>
            <p14:sldId id="10494"/>
            <p14:sldId id="10721"/>
            <p14:sldId id="10577"/>
            <p14:sldId id="10660"/>
            <p14:sldId id="10838"/>
            <p14:sldId id="10840"/>
            <p14:sldId id="10499"/>
            <p14:sldId id="10500"/>
            <p14:sldId id="10576"/>
            <p14:sldId id="10501"/>
            <p14:sldId id="10502"/>
            <p14:sldId id="10503"/>
            <p14:sldId id="10575"/>
            <p14:sldId id="10963"/>
          </p14:sldIdLst>
        </p14:section>
        <p14:section name="Sequential decision problems" id="{ACC58C93-CA30-44E4-A6F7-33A7A138D8CC}">
          <p14:sldIdLst>
            <p14:sldId id="10743"/>
            <p14:sldId id="8053"/>
            <p14:sldId id="8621"/>
            <p14:sldId id="8630"/>
            <p14:sldId id="9224"/>
            <p14:sldId id="8650"/>
            <p14:sldId id="8284"/>
            <p14:sldId id="294"/>
            <p14:sldId id="293"/>
            <p14:sldId id="10064"/>
            <p14:sldId id="10065"/>
            <p14:sldId id="4727"/>
            <p14:sldId id="4732"/>
            <p14:sldId id="4600"/>
            <p14:sldId id="10451"/>
            <p14:sldId id="10714"/>
            <p14:sldId id="10465"/>
            <p14:sldId id="10591"/>
            <p14:sldId id="10728"/>
            <p14:sldId id="10729"/>
            <p14:sldId id="10964"/>
          </p14:sldIdLst>
        </p14:section>
        <p14:section name="Framing the problem" id="{D8CB74C6-BADA-4949-8842-1630826271F0}">
          <p14:sldIdLst>
            <p14:sldId id="10870"/>
            <p14:sldId id="10872"/>
            <p14:sldId id="10873"/>
            <p14:sldId id="10843"/>
            <p14:sldId id="10844"/>
            <p14:sldId id="10845"/>
            <p14:sldId id="10846"/>
            <p14:sldId id="10847"/>
            <p14:sldId id="10874"/>
            <p14:sldId id="10852"/>
            <p14:sldId id="10853"/>
            <p14:sldId id="10882"/>
            <p14:sldId id="10854"/>
            <p14:sldId id="10855"/>
            <p14:sldId id="9931"/>
            <p14:sldId id="9946"/>
            <p14:sldId id="10875"/>
            <p14:sldId id="10541"/>
            <p14:sldId id="10639"/>
            <p14:sldId id="9559"/>
            <p14:sldId id="10661"/>
            <p14:sldId id="10655"/>
            <p14:sldId id="10533"/>
            <p14:sldId id="10656"/>
            <p14:sldId id="10581"/>
            <p14:sldId id="10364"/>
            <p14:sldId id="10858"/>
            <p14:sldId id="9791"/>
            <p14:sldId id="9935"/>
            <p14:sldId id="10876"/>
            <p14:sldId id="10863"/>
            <p14:sldId id="10864"/>
            <p14:sldId id="10347"/>
            <p14:sldId id="10663"/>
            <p14:sldId id="10662"/>
            <p14:sldId id="10582"/>
            <p14:sldId id="10583"/>
            <p14:sldId id="10349"/>
            <p14:sldId id="10879"/>
            <p14:sldId id="10848"/>
            <p14:sldId id="10849"/>
            <p14:sldId id="10850"/>
            <p14:sldId id="10135"/>
            <p14:sldId id="10118"/>
            <p14:sldId id="10119"/>
            <p14:sldId id="10880"/>
            <p14:sldId id="10883"/>
            <p14:sldId id="10881"/>
            <p14:sldId id="10859"/>
            <p14:sldId id="10860"/>
            <p14:sldId id="10861"/>
            <p14:sldId id="10868"/>
            <p14:sldId id="10869"/>
            <p14:sldId id="10965"/>
          </p14:sldIdLst>
        </p14:section>
        <p14:section name="The universal modeling framework (high level)" id="{B4EDCA7E-9BFF-4C15-9330-9A564F4DF9C2}">
          <p14:sldIdLst>
            <p14:sldId id="10744"/>
            <p14:sldId id="10185"/>
            <p14:sldId id="10070"/>
            <p14:sldId id="10071"/>
            <p14:sldId id="10166"/>
            <p14:sldId id="10887"/>
            <p14:sldId id="10888"/>
            <p14:sldId id="10176"/>
            <p14:sldId id="10685"/>
            <p14:sldId id="9586"/>
            <p14:sldId id="10696"/>
            <p14:sldId id="10966"/>
          </p14:sldIdLst>
        </p14:section>
        <p14:section name="Estimation methods" id="{DD45CA11-C71B-4DFB-931F-CCF5075140C5}">
          <p14:sldIdLst>
            <p14:sldId id="10745"/>
            <p14:sldId id="10555"/>
            <p14:sldId id="10841"/>
            <p14:sldId id="5161"/>
            <p14:sldId id="10556"/>
            <p14:sldId id="10731"/>
            <p14:sldId id="3326"/>
            <p14:sldId id="3327"/>
            <p14:sldId id="3328"/>
            <p14:sldId id="10402"/>
            <p14:sldId id="7482"/>
            <p14:sldId id="7492"/>
            <p14:sldId id="10557"/>
            <p14:sldId id="6635"/>
            <p14:sldId id="6636"/>
            <p14:sldId id="6651"/>
            <p14:sldId id="6641"/>
            <p14:sldId id="6642"/>
            <p14:sldId id="6643"/>
            <p14:sldId id="6644"/>
            <p14:sldId id="6645"/>
            <p14:sldId id="6646"/>
            <p14:sldId id="6647"/>
            <p14:sldId id="6599"/>
            <p14:sldId id="6600"/>
            <p14:sldId id="6601"/>
            <p14:sldId id="5763"/>
            <p14:sldId id="10579"/>
            <p14:sldId id="10580"/>
            <p14:sldId id="10558"/>
            <p14:sldId id="10682"/>
            <p14:sldId id="5435"/>
            <p14:sldId id="10681"/>
            <p14:sldId id="10967"/>
          </p14:sldIdLst>
        </p14:section>
        <p14:section name="The universal modeling framework (detailed)" id="{821755DE-5A4C-4C1D-9ABA-B5A3E99D2088}">
          <p14:sldIdLst>
            <p14:sldId id="10746"/>
            <p14:sldId id="10345"/>
            <p14:sldId id="10698"/>
            <p14:sldId id="10703"/>
            <p14:sldId id="10706"/>
            <p14:sldId id="10704"/>
            <p14:sldId id="10697"/>
            <p14:sldId id="10471"/>
            <p14:sldId id="10562"/>
            <p14:sldId id="6101"/>
            <p14:sldId id="5410"/>
            <p14:sldId id="10724"/>
            <p14:sldId id="10563"/>
            <p14:sldId id="5354"/>
            <p14:sldId id="10885"/>
            <p14:sldId id="10564"/>
            <p14:sldId id="5355"/>
            <p14:sldId id="5356"/>
            <p14:sldId id="10565"/>
            <p14:sldId id="5357"/>
            <p14:sldId id="10346"/>
            <p14:sldId id="10886"/>
            <p14:sldId id="10386"/>
            <p14:sldId id="10566"/>
            <p14:sldId id="5358"/>
            <p14:sldId id="10584"/>
            <p14:sldId id="10567"/>
            <p14:sldId id="5359"/>
            <p14:sldId id="10192"/>
            <p14:sldId id="10585"/>
            <p14:sldId id="10249"/>
            <p14:sldId id="10193"/>
            <p14:sldId id="10194"/>
            <p14:sldId id="10195"/>
            <p14:sldId id="10570"/>
            <p14:sldId id="10367"/>
            <p14:sldId id="10191"/>
            <p14:sldId id="10969"/>
          </p14:sldIdLst>
        </p14:section>
        <p14:section name="State variables" id="{EF92328B-1E57-457D-B684-87CD0E42401A}">
          <p14:sldIdLst>
            <p14:sldId id="10747"/>
            <p14:sldId id="9925"/>
            <p14:sldId id="10442"/>
            <p14:sldId id="10707"/>
            <p14:sldId id="10231"/>
            <p14:sldId id="5340"/>
            <p14:sldId id="5341"/>
            <p14:sldId id="5343"/>
            <p14:sldId id="10359"/>
            <p14:sldId id="10713"/>
            <p14:sldId id="10411"/>
            <p14:sldId id="10537"/>
            <p14:sldId id="10587"/>
            <p14:sldId id="8003"/>
            <p14:sldId id="5345"/>
            <p14:sldId id="5346"/>
            <p14:sldId id="5347"/>
            <p14:sldId id="5806"/>
            <p14:sldId id="5348"/>
            <p14:sldId id="5349"/>
            <p14:sldId id="10538"/>
            <p14:sldId id="5397"/>
            <p14:sldId id="10708"/>
            <p14:sldId id="10709"/>
            <p14:sldId id="6049"/>
            <p14:sldId id="6050"/>
            <p14:sldId id="6040"/>
            <p14:sldId id="10390"/>
            <p14:sldId id="10539"/>
            <p14:sldId id="10444"/>
            <p14:sldId id="5386"/>
            <p14:sldId id="10445"/>
            <p14:sldId id="5389"/>
            <p14:sldId id="5390"/>
            <p14:sldId id="5391"/>
            <p14:sldId id="5373"/>
            <p14:sldId id="10970"/>
          </p14:sldIdLst>
        </p14:section>
        <p14:section name="Modeling uncertainty" id="{273EC5AA-4BFE-49D9-AEE9-6F0DCC951FB4}">
          <p14:sldIdLst>
            <p14:sldId id="10973"/>
            <p14:sldId id="10975"/>
            <p14:sldId id="11002"/>
            <p14:sldId id="10992"/>
            <p14:sldId id="10976"/>
            <p14:sldId id="10997"/>
            <p14:sldId id="10990"/>
            <p14:sldId id="10980"/>
            <p14:sldId id="11020"/>
            <p14:sldId id="11003"/>
            <p14:sldId id="10977"/>
            <p14:sldId id="10981"/>
            <p14:sldId id="10982"/>
            <p14:sldId id="10983"/>
            <p14:sldId id="10984"/>
            <p14:sldId id="10985"/>
            <p14:sldId id="11004"/>
            <p14:sldId id="10986"/>
            <p14:sldId id="10998"/>
            <p14:sldId id="10999"/>
            <p14:sldId id="11000"/>
            <p14:sldId id="11005"/>
            <p14:sldId id="10979"/>
            <p14:sldId id="11007"/>
            <p14:sldId id="11008"/>
            <p14:sldId id="11013"/>
            <p14:sldId id="11014"/>
            <p14:sldId id="11016"/>
            <p14:sldId id="11017"/>
            <p14:sldId id="11009"/>
            <p14:sldId id="6048"/>
            <p14:sldId id="11015"/>
            <p14:sldId id="5487"/>
            <p14:sldId id="11018"/>
            <p14:sldId id="11021"/>
            <p14:sldId id="11019"/>
            <p14:sldId id="10974"/>
          </p14:sldIdLst>
        </p14:section>
        <p14:section name="Designing policies - overview" id="{41540112-45D0-49AB-B584-51A2771BCDA9}">
          <p14:sldIdLst>
            <p14:sldId id="10748"/>
            <p14:sldId id="7834"/>
            <p14:sldId id="7835"/>
            <p14:sldId id="307"/>
            <p14:sldId id="9747"/>
            <p14:sldId id="9748"/>
            <p14:sldId id="10504"/>
            <p14:sldId id="9767"/>
            <p14:sldId id="9856"/>
            <p14:sldId id="9750"/>
            <p14:sldId id="9751"/>
            <p14:sldId id="10669"/>
            <p14:sldId id="10672"/>
            <p14:sldId id="9763"/>
            <p14:sldId id="10040"/>
            <p14:sldId id="9873"/>
            <p14:sldId id="10391"/>
            <p14:sldId id="10392"/>
            <p14:sldId id="10393"/>
            <p14:sldId id="10394"/>
            <p14:sldId id="9836"/>
            <p14:sldId id="9758"/>
            <p14:sldId id="10041"/>
            <p14:sldId id="9760"/>
            <p14:sldId id="9768"/>
            <p14:sldId id="9950"/>
            <p14:sldId id="10686"/>
            <p14:sldId id="10726"/>
            <p14:sldId id="10687"/>
            <p14:sldId id="8862"/>
            <p14:sldId id="10189"/>
            <p14:sldId id="5775"/>
            <p14:sldId id="10971"/>
          </p14:sldIdLst>
        </p14:section>
        <p14:section name="Choosing policies" id="{E08E9834-D518-4D97-8BC2-73F067E8DD93}">
          <p14:sldIdLst>
            <p14:sldId id="10780"/>
            <p14:sldId id="10890"/>
            <p14:sldId id="10889"/>
            <p14:sldId id="10099"/>
            <p14:sldId id="10100"/>
            <p14:sldId id="10110"/>
            <p14:sldId id="9548"/>
            <p14:sldId id="9837"/>
            <p14:sldId id="7930"/>
            <p14:sldId id="8043"/>
            <p14:sldId id="9284"/>
            <p14:sldId id="10972"/>
          </p14:sldIdLst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187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99" Type="http://schemas.openxmlformats.org/officeDocument/2006/relationships/slide" Target="slides/slide295.xml"/><Relationship Id="rId335" Type="http://schemas.openxmlformats.org/officeDocument/2006/relationships/font" Target="fonts/font5.fntdata"/><Relationship Id="rId290" Type="http://schemas.openxmlformats.org/officeDocument/2006/relationships/slide" Target="slides/slide286.xml"/><Relationship Id="rId304" Type="http://schemas.openxmlformats.org/officeDocument/2006/relationships/slide" Target="slides/slide300.xml"/><Relationship Id="rId346" Type="http://schemas.openxmlformats.org/officeDocument/2006/relationships/font" Target="fonts/font16.fntdata"/><Relationship Id="rId315" Type="http://schemas.openxmlformats.org/officeDocument/2006/relationships/slide" Target="slides/slide311.xml"/><Relationship Id="rId337" Type="http://schemas.openxmlformats.org/officeDocument/2006/relationships/font" Target="fonts/font7.fntdata"/><Relationship Id="rId292" Type="http://schemas.openxmlformats.org/officeDocument/2006/relationships/slide" Target="slides/slide288.xml"/><Relationship Id="rId306" Type="http://schemas.openxmlformats.org/officeDocument/2006/relationships/slide" Target="slides/slide302.xml"/><Relationship Id="rId348" Type="http://schemas.openxmlformats.org/officeDocument/2006/relationships/presProps" Target="presProps.xml"/><Relationship Id="rId317" Type="http://schemas.openxmlformats.org/officeDocument/2006/relationships/slide" Target="slides/slide313.xml"/><Relationship Id="rId293" Type="http://schemas.openxmlformats.org/officeDocument/2006/relationships/slide" Target="slides/slide289.xml"/><Relationship Id="rId307" Type="http://schemas.openxmlformats.org/officeDocument/2006/relationships/slide" Target="slides/slide303.xml"/><Relationship Id="rId349" Type="http://schemas.openxmlformats.org/officeDocument/2006/relationships/viewProps" Target="viewProps.xml"/><Relationship Id="rId339" Type="http://schemas.openxmlformats.org/officeDocument/2006/relationships/font" Target="fonts/font9.fntdata"/><Relationship Id="rId350" Type="http://schemas.openxmlformats.org/officeDocument/2006/relationships/theme" Target="theme/theme1.xml"/><Relationship Id="rId294" Type="http://schemas.openxmlformats.org/officeDocument/2006/relationships/slide" Target="slides/slide290.xml"/><Relationship Id="rId308" Type="http://schemas.openxmlformats.org/officeDocument/2006/relationships/slide" Target="slides/slide304.xml"/><Relationship Id="rId340" Type="http://schemas.openxmlformats.org/officeDocument/2006/relationships/font" Target="fonts/font10.fntdata"/><Relationship Id="rId330" Type="http://schemas.openxmlformats.org/officeDocument/2006/relationships/notesMaster" Target="notesMasters/notesMaster1.xml"/><Relationship Id="rId351" Type="http://schemas.openxmlformats.org/officeDocument/2006/relationships/tableStyles" Target="tableStyles.xml"/><Relationship Id="rId295" Type="http://schemas.openxmlformats.org/officeDocument/2006/relationships/slide" Target="slides/slide291.xml"/><Relationship Id="rId309" Type="http://schemas.openxmlformats.org/officeDocument/2006/relationships/slide" Target="slides/slide305.xml"/><Relationship Id="rId341" Type="http://schemas.openxmlformats.org/officeDocument/2006/relationships/font" Target="fonts/font11.fntdata"/><Relationship Id="rId285" Type="http://schemas.openxmlformats.org/officeDocument/2006/relationships/slide" Target="slides/slide281.xml"/><Relationship Id="rId310" Type="http://schemas.openxmlformats.org/officeDocument/2006/relationships/slide" Target="slides/slide306.xml"/><Relationship Id="rId331" Type="http://schemas.openxmlformats.org/officeDocument/2006/relationships/font" Target="fonts/font1.fntdata"/><Relationship Id="rId1" Type="http://schemas.openxmlformats.org/officeDocument/2006/relationships/customXml" Target="../customXml/item1.xml"/><Relationship Id="rId296" Type="http://schemas.openxmlformats.org/officeDocument/2006/relationships/slide" Target="slides/slide292.xml"/><Relationship Id="rId300" Type="http://schemas.openxmlformats.org/officeDocument/2006/relationships/slide" Target="slides/slide296.xml"/><Relationship Id="rId342" Type="http://schemas.openxmlformats.org/officeDocument/2006/relationships/font" Target="fonts/font12.fntdata"/><Relationship Id="rId286" Type="http://schemas.openxmlformats.org/officeDocument/2006/relationships/slide" Target="slides/slide282.xml"/><Relationship Id="rId311" Type="http://schemas.openxmlformats.org/officeDocument/2006/relationships/slide" Target="slides/slide307.xml"/><Relationship Id="rId332" Type="http://schemas.openxmlformats.org/officeDocument/2006/relationships/font" Target="fonts/font2.fntdata"/><Relationship Id="rId2" Type="http://schemas.openxmlformats.org/officeDocument/2006/relationships/customXml" Target="../customXml/item2.xml"/><Relationship Id="rId297" Type="http://schemas.openxmlformats.org/officeDocument/2006/relationships/slide" Target="slides/slide293.xml"/><Relationship Id="rId301" Type="http://schemas.openxmlformats.org/officeDocument/2006/relationships/slide" Target="slides/slide297.xml"/><Relationship Id="rId343" Type="http://schemas.openxmlformats.org/officeDocument/2006/relationships/font" Target="fonts/font13.fntdata"/><Relationship Id="rId287" Type="http://schemas.openxmlformats.org/officeDocument/2006/relationships/slide" Target="slides/slide283.xml"/><Relationship Id="rId312" Type="http://schemas.openxmlformats.org/officeDocument/2006/relationships/slide" Target="slides/slide308.xml"/><Relationship Id="rId333" Type="http://schemas.openxmlformats.org/officeDocument/2006/relationships/font" Target="fonts/font3.fntdata"/><Relationship Id="rId3" Type="http://schemas.openxmlformats.org/officeDocument/2006/relationships/customXml" Target="../customXml/item3.xml"/><Relationship Id="rId298" Type="http://schemas.openxmlformats.org/officeDocument/2006/relationships/slide" Target="slides/slide294.xml"/><Relationship Id="rId302" Type="http://schemas.openxmlformats.org/officeDocument/2006/relationships/slide" Target="slides/slide298.xml"/><Relationship Id="rId344" Type="http://schemas.openxmlformats.org/officeDocument/2006/relationships/font" Target="fonts/font14.fntdata"/><Relationship Id="rId288" Type="http://schemas.openxmlformats.org/officeDocument/2006/relationships/slide" Target="slides/slide284.xml"/><Relationship Id="rId313" Type="http://schemas.openxmlformats.org/officeDocument/2006/relationships/slide" Target="slides/slide309.xml"/><Relationship Id="rId33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303" Type="http://schemas.openxmlformats.org/officeDocument/2006/relationships/slide" Target="slides/slide299.xml"/><Relationship Id="rId345" Type="http://schemas.openxmlformats.org/officeDocument/2006/relationships/font" Target="fonts/font15.fntdata"/><Relationship Id="rId289" Type="http://schemas.openxmlformats.org/officeDocument/2006/relationships/slide" Target="slides/slide285.xml"/><Relationship Id="rId314" Type="http://schemas.openxmlformats.org/officeDocument/2006/relationships/slide" Target="slides/slide310.xml"/><Relationship Id="rId336" Type="http://schemas.openxmlformats.org/officeDocument/2006/relationships/font" Target="fonts/font6.fntdata"/><Relationship Id="rId291" Type="http://schemas.openxmlformats.org/officeDocument/2006/relationships/slide" Target="slides/slide287.xml"/><Relationship Id="rId305" Type="http://schemas.openxmlformats.org/officeDocument/2006/relationships/slide" Target="slides/slide301.xml"/><Relationship Id="rId347" Type="http://schemas.openxmlformats.org/officeDocument/2006/relationships/font" Target="fonts/font17.fntdata"/><Relationship Id="rId316" Type="http://schemas.openxmlformats.org/officeDocument/2006/relationships/slide" Target="slides/slide312.xml"/><Relationship Id="rId3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0.xml"/><Relationship Id="rId1" Type="http://schemas.openxmlformats.org/officeDocument/2006/relationships/notesMaster" Target="../notesMasters/notesMaster1.xml"/></Relationship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p58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2800">
                <a:latin typeface="Raleway"/>
                <a:ea typeface="Raleway"/>
                <a:cs typeface="Raleway"/>
                <a:sym typeface="Raleway"/>
              </a:rPr>
              <a:t>We have to start by describing what we mean by a policy.</a:t>
            </a:r>
            <a:endParaRPr/>
          </a:p>
        </p:txBody>
      </p:sp>
      <p:sp>
        <p:nvSpPr>
          <p:cNvPr id="3409" name="Google Shape;340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Google Shape;3417;p59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418" name="Google Shape;341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43651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gc57c5674f7_2_149:notes"/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371" name="Google Shape;3371;gc57c5674f7_2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791085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p60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3427" name="Google Shape;342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49539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gc0e4cac984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4" name="Google Shape;3434;gc0e4cac984_2_120:notes"/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3435" name="Google Shape;3435;gc0e4cac984_2_120:notes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90" cy="498159"/>
          </a:xfrm>
          <a:prstGeom prst="rect">
            <a:avLst/>
          </a:prstGeom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286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930931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>
          <a:extLst>
            <a:ext uri="{FF2B5EF4-FFF2-40B4-BE49-F238E27FC236}">
              <a16:creationId xmlns:a16="http://schemas.microsoft.com/office/drawing/2014/main" id="{797FB17A-1C40-DC66-3A5F-D3CD0D2B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c0e4cac984_2_135:notes">
            <a:extLst>
              <a:ext uri="{FF2B5EF4-FFF2-40B4-BE49-F238E27FC236}">
                <a16:creationId xmlns:a16="http://schemas.microsoft.com/office/drawing/2014/main" id="{35E08219-0B04-96B4-C613-D9D1920B4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c0e4cac984_2_135:notes">
            <a:extLst>
              <a:ext uri="{FF2B5EF4-FFF2-40B4-BE49-F238E27FC236}">
                <a16:creationId xmlns:a16="http://schemas.microsoft.com/office/drawing/2014/main" id="{3BD1C7F7-77D8-90FB-EF7E-517B44D87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3452" name="Google Shape;3452;gc0e4cac984_2_135:notes">
            <a:extLst>
              <a:ext uri="{FF2B5EF4-FFF2-40B4-BE49-F238E27FC236}">
                <a16:creationId xmlns:a16="http://schemas.microsoft.com/office/drawing/2014/main" id="{EC88F135-1AB9-6C1F-43DA-652583AA2A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90" cy="498159"/>
          </a:xfrm>
          <a:prstGeom prst="rect">
            <a:avLst/>
          </a:prstGeom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287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345036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p60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3427" name="Google Shape;342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325550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8">
          <a:extLst>
            <a:ext uri="{FF2B5EF4-FFF2-40B4-BE49-F238E27FC236}">
              <a16:creationId xmlns:a16="http://schemas.microsoft.com/office/drawing/2014/main" id="{6DA5A952-D338-6B06-FC2B-00936BA0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p63:notes">
            <a:extLst>
              <a:ext uri="{FF2B5EF4-FFF2-40B4-BE49-F238E27FC236}">
                <a16:creationId xmlns:a16="http://schemas.microsoft.com/office/drawing/2014/main" id="{72E7C2E1-F03B-35FE-D854-B0E79D3F1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460" name="Google Shape;3460;p63:notes">
            <a:extLst>
              <a:ext uri="{FF2B5EF4-FFF2-40B4-BE49-F238E27FC236}">
                <a16:creationId xmlns:a16="http://schemas.microsoft.com/office/drawing/2014/main" id="{244F3989-9276-A37A-C27F-8505CB1D1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367045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9">
          <a:extLst>
            <a:ext uri="{FF2B5EF4-FFF2-40B4-BE49-F238E27FC236}">
              <a16:creationId xmlns:a16="http://schemas.microsoft.com/office/drawing/2014/main" id="{FAE24B3F-176F-1003-36F8-AB0BD338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0" name="Google Shape;3980;gc57c5674f7_2_281:notes">
            <a:extLst>
              <a:ext uri="{FF2B5EF4-FFF2-40B4-BE49-F238E27FC236}">
                <a16:creationId xmlns:a16="http://schemas.microsoft.com/office/drawing/2014/main" id="{139EC1B7-1070-F05B-3AEB-A9A5C3F7D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981" name="Google Shape;3981;gc57c5674f7_2_281:notes">
            <a:extLst>
              <a:ext uri="{FF2B5EF4-FFF2-40B4-BE49-F238E27FC236}">
                <a16:creationId xmlns:a16="http://schemas.microsoft.com/office/drawing/2014/main" id="{BECE908E-187F-33B4-D5EC-FE61F0828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84042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9" name="Google Shape;4349;p78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4350" name="Google Shape;435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32006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3127-95AA-C977-7433-F3B0C186B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Slide Image Placeholder 1">
            <a:extLst>
              <a:ext uri="{FF2B5EF4-FFF2-40B4-BE49-F238E27FC236}">
                <a16:creationId xmlns:a16="http://schemas.microsoft.com/office/drawing/2014/main" id="{D09FE2C4-E852-9364-FBF1-9DAA03410C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8755" name="Notes Placeholder 2">
            <a:extLst>
              <a:ext uri="{FF2B5EF4-FFF2-40B4-BE49-F238E27FC236}">
                <a16:creationId xmlns:a16="http://schemas.microsoft.com/office/drawing/2014/main" id="{45D36B97-9418-21F2-346E-BDFE2AC4E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6" name="Slide Number Placeholder 3">
            <a:extLst>
              <a:ext uri="{FF2B5EF4-FFF2-40B4-BE49-F238E27FC236}">
                <a16:creationId xmlns:a16="http://schemas.microsoft.com/office/drawing/2014/main" id="{1E3EBE1E-6FB3-0A6C-4009-F1FE68B98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841" indent="-28570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833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965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099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364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8498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94A292-EF4B-4F9C-960A-4F929477EF5E}" type="slidenum">
              <a:rPr lang="en-US" altLang="en-US" smtClean="0"/>
              <a:pPr/>
              <a:t>297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39692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32A44-FC79-D141-643A-DC53F6C3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Slide Image Placeholder 1">
            <a:extLst>
              <a:ext uri="{FF2B5EF4-FFF2-40B4-BE49-F238E27FC236}">
                <a16:creationId xmlns:a16="http://schemas.microsoft.com/office/drawing/2014/main" id="{5988C0E2-60E4-91BC-367B-F0AF365125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8755" name="Notes Placeholder 2">
            <a:extLst>
              <a:ext uri="{FF2B5EF4-FFF2-40B4-BE49-F238E27FC236}">
                <a16:creationId xmlns:a16="http://schemas.microsoft.com/office/drawing/2014/main" id="{D8FC5D35-56DE-4672-E2BD-5DF442AC9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6" name="Slide Number Placeholder 3">
            <a:extLst>
              <a:ext uri="{FF2B5EF4-FFF2-40B4-BE49-F238E27FC236}">
                <a16:creationId xmlns:a16="http://schemas.microsoft.com/office/drawing/2014/main" id="{1355211C-A440-8D96-C78D-D4AD35021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841" indent="-28570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833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965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099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364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8498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94A292-EF4B-4F9C-960A-4F929477EF5E}" type="slidenum">
              <a:rPr lang="en-US" altLang="en-US" smtClean="0"/>
              <a:pPr/>
              <a:t>298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893762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44E9-B703-DA8A-8C31-E6D42100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Slide Image Placeholder 1">
            <a:extLst>
              <a:ext uri="{FF2B5EF4-FFF2-40B4-BE49-F238E27FC236}">
                <a16:creationId xmlns:a16="http://schemas.microsoft.com/office/drawing/2014/main" id="{9CFAB4CA-2923-935F-490D-E70D99F17E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8755" name="Notes Placeholder 2">
            <a:extLst>
              <a:ext uri="{FF2B5EF4-FFF2-40B4-BE49-F238E27FC236}">
                <a16:creationId xmlns:a16="http://schemas.microsoft.com/office/drawing/2014/main" id="{40CAB3BC-4635-8256-5AEC-2059928E1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6" name="Slide Number Placeholder 3">
            <a:extLst>
              <a:ext uri="{FF2B5EF4-FFF2-40B4-BE49-F238E27FC236}">
                <a16:creationId xmlns:a16="http://schemas.microsoft.com/office/drawing/2014/main" id="{F04A0062-E0E4-6C80-E363-1B30E3964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841" indent="-28570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833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965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099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364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8498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94A292-EF4B-4F9C-960A-4F929477EF5E}" type="slidenum">
              <a:rPr lang="en-US" altLang="en-US" smtClean="0"/>
              <a:pPr/>
              <a:t>299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620501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8">
          <a:extLst>
            <a:ext uri="{FF2B5EF4-FFF2-40B4-BE49-F238E27FC236}">
              <a16:creationId xmlns:a16="http://schemas.microsoft.com/office/drawing/2014/main" id="{5739EF60-D78F-0CC1-3255-84705B6A4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9" name="Google Shape;4349;p78:notes">
            <a:extLst>
              <a:ext uri="{FF2B5EF4-FFF2-40B4-BE49-F238E27FC236}">
                <a16:creationId xmlns:a16="http://schemas.microsoft.com/office/drawing/2014/main" id="{68B5F366-EC89-477E-E1B1-B94EE6E58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4350" name="Google Shape;4350;p78:notes">
            <a:extLst>
              <a:ext uri="{FF2B5EF4-FFF2-40B4-BE49-F238E27FC236}">
                <a16:creationId xmlns:a16="http://schemas.microsoft.com/office/drawing/2014/main" id="{012BDBBF-B0DE-CED7-DC46-2E0A7985F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691856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4" name="Google Shape;4364;p79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4365" name="Google Shape;4365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379502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3">
          <a:extLst>
            <a:ext uri="{FF2B5EF4-FFF2-40B4-BE49-F238E27FC236}">
              <a16:creationId xmlns:a16="http://schemas.microsoft.com/office/drawing/2014/main" id="{059688A5-AB84-D3BA-E409-5C9A6721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4" name="Google Shape;4364;p79:notes">
            <a:extLst>
              <a:ext uri="{FF2B5EF4-FFF2-40B4-BE49-F238E27FC236}">
                <a16:creationId xmlns:a16="http://schemas.microsoft.com/office/drawing/2014/main" id="{22DA130A-79BE-4AD5-528A-9F1F6A34D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4365" name="Google Shape;4365;p79:notes">
            <a:extLst>
              <a:ext uri="{FF2B5EF4-FFF2-40B4-BE49-F238E27FC236}">
                <a16:creationId xmlns:a16="http://schemas.microsoft.com/office/drawing/2014/main" id="{19322DE8-4E19-39EE-0D84-2107925566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374510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3">
          <a:extLst>
            <a:ext uri="{FF2B5EF4-FFF2-40B4-BE49-F238E27FC236}">
              <a16:creationId xmlns:a16="http://schemas.microsoft.com/office/drawing/2014/main" id="{B9DB91CF-143B-A53C-4796-DDF26F32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4" name="Google Shape;4364;p79:notes">
            <a:extLst>
              <a:ext uri="{FF2B5EF4-FFF2-40B4-BE49-F238E27FC236}">
                <a16:creationId xmlns:a16="http://schemas.microsoft.com/office/drawing/2014/main" id="{122E2EC7-100C-1F33-2282-163E4031B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4365" name="Google Shape;4365;p79:notes">
            <a:extLst>
              <a:ext uri="{FF2B5EF4-FFF2-40B4-BE49-F238E27FC236}">
                <a16:creationId xmlns:a16="http://schemas.microsoft.com/office/drawing/2014/main" id="{5D51FBB8-AF73-E624-F6C6-6E91CAF79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630455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3">
          <a:extLst>
            <a:ext uri="{FF2B5EF4-FFF2-40B4-BE49-F238E27FC236}">
              <a16:creationId xmlns:a16="http://schemas.microsoft.com/office/drawing/2014/main" id="{87E0D8BD-C2A9-6113-0CD1-56C1F68F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4" name="Google Shape;4364;p79:notes">
            <a:extLst>
              <a:ext uri="{FF2B5EF4-FFF2-40B4-BE49-F238E27FC236}">
                <a16:creationId xmlns:a16="http://schemas.microsoft.com/office/drawing/2014/main" id="{D5853E4F-DBEC-8C38-D187-2FA0D15C7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4365" name="Google Shape;4365;p79:notes">
            <a:extLst>
              <a:ext uri="{FF2B5EF4-FFF2-40B4-BE49-F238E27FC236}">
                <a16:creationId xmlns:a16="http://schemas.microsoft.com/office/drawing/2014/main" id="{9982F384-9150-A3FE-7210-DDAB5A132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910833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4" name="Google Shape;4494;gc5bdb8f4c9_0_193:notes"/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4495" name="Google Shape;4495;gc5bdb8f4c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8722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57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hyperlink" Target="http://tinyurl.com/policiesanddecisions" TargetMode="Externa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9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7" Type="http://schemas.openxmlformats.org/officeDocument/2006/relationships/image" Target="../media/image177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2.png"/><Relationship Id="rId4" Type="http://schemas.openxmlformats.org/officeDocument/2006/relationships/image" Target="../media/image431.png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147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3.png"/><Relationship Id="rId4" Type="http://schemas.openxmlformats.org/officeDocument/2006/relationships/image" Target="../media/image158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950.png"/><Relationship Id="rId4" Type="http://schemas.openxmlformats.org/officeDocument/2006/relationships/image" Target="../media/image1951.png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4.png"/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5.png"/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3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6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02.png"/><Relationship Id="rId4" Type="http://schemas.openxmlformats.org/officeDocument/2006/relationships/image" Target="../media/image437.jpg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0.jpg"/><Relationship Id="rId4" Type="http://schemas.openxmlformats.org/officeDocument/2006/relationships/image" Target="../media/image439.png"/></Relationships>
</file>

<file path=ppt/slides/_rels/slide2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0.png"/><Relationship Id="rId3" Type="http://schemas.openxmlformats.org/officeDocument/2006/relationships/image" Target="../media/image441.png"/><Relationship Id="rId7" Type="http://schemas.openxmlformats.org/officeDocument/2006/relationships/image" Target="../media/image2212.png"/><Relationship Id="rId12" Type="http://schemas.openxmlformats.org/officeDocument/2006/relationships/image" Target="../media/image226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1.png"/><Relationship Id="rId11" Type="http://schemas.openxmlformats.org/officeDocument/2006/relationships/image" Target="../media/image2251.png"/><Relationship Id="rId5" Type="http://schemas.openxmlformats.org/officeDocument/2006/relationships/image" Target="../media/image2190.png"/><Relationship Id="rId10" Type="http://schemas.openxmlformats.org/officeDocument/2006/relationships/image" Target="../media/image2242.png"/><Relationship Id="rId4" Type="http://schemas.openxmlformats.org/officeDocument/2006/relationships/image" Target="../media/image2180.png"/><Relationship Id="rId9" Type="http://schemas.openxmlformats.org/officeDocument/2006/relationships/image" Target="../media/image2232.png"/></Relationships>
</file>

<file path=ppt/slides/_rels/slide2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0.png"/><Relationship Id="rId3" Type="http://schemas.openxmlformats.org/officeDocument/2006/relationships/image" Target="../media/image441.png"/><Relationship Id="rId7" Type="http://schemas.openxmlformats.org/officeDocument/2006/relationships/image" Target="../media/image2212.png"/><Relationship Id="rId12" Type="http://schemas.openxmlformats.org/officeDocument/2006/relationships/image" Target="../media/image226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1.png"/><Relationship Id="rId11" Type="http://schemas.openxmlformats.org/officeDocument/2006/relationships/image" Target="../media/image2251.png"/><Relationship Id="rId5" Type="http://schemas.openxmlformats.org/officeDocument/2006/relationships/image" Target="../media/image2190.png"/><Relationship Id="rId10" Type="http://schemas.openxmlformats.org/officeDocument/2006/relationships/image" Target="../media/image2242.png"/><Relationship Id="rId4" Type="http://schemas.openxmlformats.org/officeDocument/2006/relationships/image" Target="../media/image2180.png"/><Relationship Id="rId9" Type="http://schemas.openxmlformats.org/officeDocument/2006/relationships/image" Target="../media/image2232.png"/></Relationships>
</file>

<file path=ppt/slides/_rels/slide2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0.png"/><Relationship Id="rId3" Type="http://schemas.openxmlformats.org/officeDocument/2006/relationships/image" Target="../media/image441.png"/><Relationship Id="rId7" Type="http://schemas.openxmlformats.org/officeDocument/2006/relationships/image" Target="../media/image2212.png"/><Relationship Id="rId12" Type="http://schemas.openxmlformats.org/officeDocument/2006/relationships/image" Target="../media/image226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1.png"/><Relationship Id="rId11" Type="http://schemas.openxmlformats.org/officeDocument/2006/relationships/image" Target="../media/image2251.png"/><Relationship Id="rId5" Type="http://schemas.openxmlformats.org/officeDocument/2006/relationships/image" Target="../media/image2190.png"/><Relationship Id="rId10" Type="http://schemas.openxmlformats.org/officeDocument/2006/relationships/image" Target="../media/image2242.png"/><Relationship Id="rId4" Type="http://schemas.openxmlformats.org/officeDocument/2006/relationships/image" Target="../media/image2180.png"/><Relationship Id="rId9" Type="http://schemas.openxmlformats.org/officeDocument/2006/relationships/image" Target="../media/image2232.png"/></Relationships>
</file>

<file path=ppt/slides/_rels/slide3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jpg"/><Relationship Id="rId3" Type="http://schemas.openxmlformats.org/officeDocument/2006/relationships/image" Target="../media/image438.png"/><Relationship Id="rId7" Type="http://schemas.openxmlformats.org/officeDocument/2006/relationships/image" Target="../media/image443.jp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2.jpg"/><Relationship Id="rId5" Type="http://schemas.openxmlformats.org/officeDocument/2006/relationships/image" Target="../media/image440.jpg"/><Relationship Id="rId4" Type="http://schemas.openxmlformats.org/officeDocument/2006/relationships/image" Target="../media/image439.png"/><Relationship Id="rId9" Type="http://schemas.openxmlformats.org/officeDocument/2006/relationships/image" Target="../media/image40.png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8.png"/><Relationship Id="rId5" Type="http://schemas.openxmlformats.org/officeDocument/2006/relationships/image" Target="../media/image447.png"/><Relationship Id="rId4" Type="http://schemas.openxmlformats.org/officeDocument/2006/relationships/image" Target="../media/image446.png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440.png"/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70.png"/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2.png"/><Relationship Id="rId2" Type="http://schemas.openxmlformats.org/officeDocument/2006/relationships/image" Target="../media/image3470.png"/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hyperlink" Target="http://castlelab.princeton.edu/sda" TargetMode="Externa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png"/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02731-DB3B-1E5D-C6A2-9B16E792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0C0FC2-B36A-5394-4272-F30603B37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82458BF-2C7A-500C-BD76-2974E24E5DC6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7500088-8BB3-C12A-36B3-539BAA11764E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D7144D-4DD7-8BB2-DCA7-C9801152D83C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F3D59E-3988-0660-421D-DC748B324C34}"/>
              </a:ext>
            </a:extLst>
          </p:cNvPr>
          <p:cNvSpPr txBox="1">
            <a:spLocks/>
          </p:cNvSpPr>
          <p:nvPr/>
        </p:nvSpPr>
        <p:spPr>
          <a:xfrm>
            <a:off x="1212348" y="2751400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</a:rPr>
              <a:t>Designing policies (overview) – This is a high level overview of the four classes of policies.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9C9BCA-5731-5E60-13C9-1DCEB8B022AB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462C0-42DE-061A-F690-17C84919C727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Introduction to sequential decision problems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universal modeling framework – High level or detailed.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brief reference to material in estimation methods.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602B7B-03AF-8348-A332-FC36C6F20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03462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1" name="Google Shape;3411;p71"/>
          <p:cNvSpPr/>
          <p:nvPr/>
        </p:nvSpPr>
        <p:spPr>
          <a:xfrm rot="10800000">
            <a:off x="-3" y="1378037"/>
            <a:ext cx="12178925" cy="3940937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2" name="Google Shape;3412;p71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3413" name="Google Shape;3413;p71"/>
          <p:cNvSpPr txBox="1">
            <a:spLocks noGrp="1"/>
          </p:cNvSpPr>
          <p:nvPr>
            <p:ph type="body" idx="1"/>
          </p:nvPr>
        </p:nvSpPr>
        <p:spPr>
          <a:xfrm>
            <a:off x="545222" y="1859630"/>
            <a:ext cx="7485595" cy="25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b="1" dirty="0">
                <a:latin typeface="Raleway" pitchFamily="2" charset="0"/>
              </a:rPr>
              <a:t>What is a policy?</a:t>
            </a:r>
            <a:b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</a:br>
            <a:endParaRPr lang="en-US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0" lvl="0" indent="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A policy is a method that makes a decision using the information in the state variable. </a:t>
            </a:r>
          </a:p>
          <a:p>
            <a:pPr marL="0" lvl="0" indent="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    …</a:t>
            </a:r>
            <a:r>
              <a:rPr lang="en-US" sz="2600" i="1" dirty="0">
                <a:latin typeface="Raleway" pitchFamily="2" charset="0"/>
                <a:ea typeface="Raleway Thin"/>
                <a:cs typeface="Raleway Thin"/>
                <a:sym typeface="Raleway Thin"/>
              </a:rPr>
              <a:t> any method.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3414" name="Google Shape;3414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3099" y="1705830"/>
            <a:ext cx="2988285" cy="282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72"/>
          <p:cNvSpPr/>
          <p:nvPr/>
        </p:nvSpPr>
        <p:spPr>
          <a:xfrm rot="10800000">
            <a:off x="-8150" y="1620450"/>
            <a:ext cx="12206400" cy="46332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2" name="Google Shape;3422;p72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3423" name="Google Shape;3423;p72"/>
          <p:cNvSpPr txBox="1">
            <a:spLocks noGrp="1"/>
          </p:cNvSpPr>
          <p:nvPr>
            <p:ph type="body" idx="1"/>
          </p:nvPr>
        </p:nvSpPr>
        <p:spPr>
          <a:xfrm>
            <a:off x="751633" y="1089250"/>
            <a:ext cx="1036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Policies and the English language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424" name="Google Shape;3424;p72"/>
          <p:cNvSpPr txBox="1"/>
          <p:nvPr/>
        </p:nvSpPr>
        <p:spPr>
          <a:xfrm>
            <a:off x="2841250" y="6290375"/>
            <a:ext cx="6507600" cy="4617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sng">
                <a:solidFill>
                  <a:srgbClr val="FFFFFF"/>
                </a:solidFill>
                <a:latin typeface="Raleway" pitchFamily="2" charset="0"/>
                <a:ea typeface="Raleway Thin"/>
                <a:cs typeface="Raleway Thin"/>
                <a:sym typeface="Raleway Th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http://tinyurl.com/policiesanddecisions</a:t>
            </a:r>
            <a:endParaRPr>
              <a:solidFill>
                <a:srgbClr val="FFFFFF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104175-EDED-D15A-E2A5-62A10D3CA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596" y="1625289"/>
            <a:ext cx="4968671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9453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p69"/>
          <p:cNvSpPr/>
          <p:nvPr/>
        </p:nvSpPr>
        <p:spPr>
          <a:xfrm rot="10800000">
            <a:off x="-8150" y="1783923"/>
            <a:ext cx="12206400" cy="22875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74" name="Google Shape;337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0549" y="1954730"/>
            <a:ext cx="3621978" cy="893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5" name="Google Shape;337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93065" y="1898269"/>
            <a:ext cx="4711702" cy="938213"/>
          </a:xfrm>
          <a:prstGeom prst="rect">
            <a:avLst/>
          </a:prstGeom>
          <a:noFill/>
          <a:ln>
            <a:noFill/>
          </a:ln>
        </p:spPr>
      </p:pic>
      <p:sp>
        <p:nvSpPr>
          <p:cNvPr id="3376" name="Google Shape;3376;p69"/>
          <p:cNvSpPr txBox="1"/>
          <p:nvPr/>
        </p:nvSpPr>
        <p:spPr>
          <a:xfrm flipH="1">
            <a:off x="1839326" y="1235950"/>
            <a:ext cx="3129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dirty="0">
                <a:solidFill>
                  <a:schemeClr val="dk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Machine learning</a:t>
            </a:r>
            <a:endParaRPr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377" name="Google Shape;3377;p69"/>
          <p:cNvSpPr txBox="1"/>
          <p:nvPr/>
        </p:nvSpPr>
        <p:spPr>
          <a:xfrm flipH="1">
            <a:off x="6624309" y="1235956"/>
            <a:ext cx="39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>
                <a:solidFill>
                  <a:schemeClr val="dk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Sequential decisions</a:t>
            </a:r>
            <a:endParaRPr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378" name="Google Shape;3378;p69"/>
          <p:cNvSpPr txBox="1">
            <a:spLocks noGrp="1"/>
          </p:cNvSpPr>
          <p:nvPr>
            <p:ph type="body" idx="1"/>
          </p:nvPr>
        </p:nvSpPr>
        <p:spPr>
          <a:xfrm>
            <a:off x="5094175" y="4878475"/>
            <a:ext cx="59517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  <a:t>How do we search over policies?</a:t>
            </a:r>
            <a:endParaRPr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3379" name="Google Shape;3379;p69"/>
          <p:cNvPicPr preferRelativeResize="0"/>
          <p:nvPr/>
        </p:nvPicPr>
        <p:blipFill rotWithShape="1">
          <a:blip r:embed="rId5">
            <a:alphaModFix/>
          </a:blip>
          <a:srcRect t="455" b="465"/>
          <a:stretch/>
        </p:blipFill>
        <p:spPr>
          <a:xfrm>
            <a:off x="873884" y="4093750"/>
            <a:ext cx="2107563" cy="2019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5" name="Google Shape;3385;p69"/>
          <p:cNvGrpSpPr/>
          <p:nvPr/>
        </p:nvGrpSpPr>
        <p:grpSpPr>
          <a:xfrm>
            <a:off x="267147" y="2454508"/>
            <a:ext cx="3259200" cy="1431240"/>
            <a:chOff x="-301043" y="3407427"/>
            <a:chExt cx="3259200" cy="1431240"/>
          </a:xfrm>
        </p:grpSpPr>
        <p:sp>
          <p:nvSpPr>
            <p:cNvPr id="3386" name="Google Shape;3386;p69"/>
            <p:cNvSpPr/>
            <p:nvPr/>
          </p:nvSpPr>
          <p:spPr>
            <a:xfrm>
              <a:off x="1375292" y="3407427"/>
              <a:ext cx="933900" cy="462600"/>
            </a:xfrm>
            <a:prstGeom prst="ellipse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7" name="Google Shape;3387;p69"/>
            <p:cNvSpPr txBox="1"/>
            <p:nvPr/>
          </p:nvSpPr>
          <p:spPr>
            <a:xfrm>
              <a:off x="-301043" y="4407867"/>
              <a:ext cx="32592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Searching over functions</a:t>
              </a:r>
              <a:endParaRPr sz="1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3388" name="Google Shape;3388;p69"/>
            <p:cNvCxnSpPr>
              <a:stCxn id="3387" idx="0"/>
              <a:endCxn id="3386" idx="4"/>
            </p:cNvCxnSpPr>
            <p:nvPr/>
          </p:nvCxnSpPr>
          <p:spPr>
            <a:xfrm rot="10800000" flipH="1">
              <a:off x="1328557" y="3869967"/>
              <a:ext cx="513600" cy="537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389" name="Google Shape;3389;p69"/>
          <p:cNvGrpSpPr/>
          <p:nvPr/>
        </p:nvGrpSpPr>
        <p:grpSpPr>
          <a:xfrm>
            <a:off x="5836230" y="2430814"/>
            <a:ext cx="3070200" cy="1482632"/>
            <a:chOff x="5066362" y="1469982"/>
            <a:chExt cx="3070200" cy="1482632"/>
          </a:xfrm>
        </p:grpSpPr>
        <p:sp>
          <p:nvSpPr>
            <p:cNvPr id="3390" name="Google Shape;3390;p69"/>
            <p:cNvSpPr/>
            <p:nvPr/>
          </p:nvSpPr>
          <p:spPr>
            <a:xfrm>
              <a:off x="5941613" y="1469982"/>
              <a:ext cx="1458000" cy="462600"/>
            </a:xfrm>
            <a:prstGeom prst="ellipse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1" name="Google Shape;3391;p69"/>
            <p:cNvSpPr txBox="1"/>
            <p:nvPr/>
          </p:nvSpPr>
          <p:spPr>
            <a:xfrm>
              <a:off x="5066362" y="2521814"/>
              <a:ext cx="30702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Searching over policies</a:t>
              </a:r>
              <a:endParaRPr sz="2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3392" name="Google Shape;3392;p69"/>
            <p:cNvCxnSpPr>
              <a:stCxn id="3391" idx="0"/>
              <a:endCxn id="3390" idx="4"/>
            </p:cNvCxnSpPr>
            <p:nvPr/>
          </p:nvCxnSpPr>
          <p:spPr>
            <a:xfrm rot="10800000" flipH="1">
              <a:off x="6601462" y="1932614"/>
              <a:ext cx="69300" cy="5892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3393" name="Google Shape;3393;p69"/>
          <p:cNvSpPr txBox="1">
            <a:spLocks noGrp="1"/>
          </p:cNvSpPr>
          <p:nvPr>
            <p:ph type="title"/>
          </p:nvPr>
        </p:nvSpPr>
        <p:spPr>
          <a:xfrm>
            <a:off x="1587360" y="353850"/>
            <a:ext cx="90201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dirty="0"/>
              <a:t>Designing policies I - Overview</a:t>
            </a:r>
            <a:endParaRPr sz="3200" dirty="0"/>
          </a:p>
        </p:txBody>
      </p:sp>
      <p:grpSp>
        <p:nvGrpSpPr>
          <p:cNvPr id="3394" name="Google Shape;3394;p69"/>
          <p:cNvGrpSpPr/>
          <p:nvPr/>
        </p:nvGrpSpPr>
        <p:grpSpPr>
          <a:xfrm>
            <a:off x="3576268" y="2004332"/>
            <a:ext cx="2032585" cy="1890647"/>
            <a:chOff x="3576268" y="2004332"/>
            <a:chExt cx="2032585" cy="1890647"/>
          </a:xfrm>
        </p:grpSpPr>
        <p:grpSp>
          <p:nvGrpSpPr>
            <p:cNvPr id="3395" name="Google Shape;3395;p69"/>
            <p:cNvGrpSpPr/>
            <p:nvPr/>
          </p:nvGrpSpPr>
          <p:grpSpPr>
            <a:xfrm>
              <a:off x="3576268" y="2004332"/>
              <a:ext cx="2032585" cy="1890647"/>
              <a:chOff x="1386444" y="3213683"/>
              <a:chExt cx="2032585" cy="1890647"/>
            </a:xfrm>
          </p:grpSpPr>
          <p:sp>
            <p:nvSpPr>
              <p:cNvPr id="3396" name="Google Shape;3396;p69"/>
              <p:cNvSpPr/>
              <p:nvPr/>
            </p:nvSpPr>
            <p:spPr>
              <a:xfrm>
                <a:off x="1386444" y="3213683"/>
                <a:ext cx="424500" cy="710400"/>
              </a:xfrm>
              <a:prstGeom prst="ellipse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97" name="Google Shape;3397;p69"/>
              <p:cNvSpPr txBox="1"/>
              <p:nvPr/>
            </p:nvSpPr>
            <p:spPr>
              <a:xfrm>
                <a:off x="1588129" y="4673530"/>
                <a:ext cx="1830900" cy="430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i="0" dirty="0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“Big dataset”</a:t>
                </a:r>
                <a:endParaRPr sz="120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cxnSp>
            <p:nvCxnSpPr>
              <p:cNvPr id="3398" name="Google Shape;3398;p69"/>
              <p:cNvCxnSpPr>
                <a:stCxn id="3397" idx="0"/>
                <a:endCxn id="3396" idx="4"/>
              </p:cNvCxnSpPr>
              <p:nvPr/>
            </p:nvCxnSpPr>
            <p:spPr>
              <a:xfrm rot="10800000">
                <a:off x="1598779" y="3924130"/>
                <a:ext cx="904800" cy="749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399" name="Google Shape;3399;p69"/>
            <p:cNvSpPr/>
            <p:nvPr/>
          </p:nvSpPr>
          <p:spPr>
            <a:xfrm>
              <a:off x="4490668" y="2004332"/>
              <a:ext cx="424500" cy="710400"/>
            </a:xfrm>
            <a:prstGeom prst="ellipse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00" name="Google Shape;3400;p69"/>
            <p:cNvCxnSpPr>
              <a:stCxn id="3397" idx="0"/>
              <a:endCxn id="3399" idx="4"/>
            </p:cNvCxnSpPr>
            <p:nvPr/>
          </p:nvCxnSpPr>
          <p:spPr>
            <a:xfrm rot="10800000" flipH="1">
              <a:off x="4693403" y="2714779"/>
              <a:ext cx="9600" cy="7494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526838-A7D0-4E74-9D24-D32BC11AB71B}"/>
                  </a:ext>
                </a:extLst>
              </p:cNvPr>
              <p:cNvSpPr txBox="1"/>
              <p:nvPr/>
            </p:nvSpPr>
            <p:spPr>
              <a:xfrm>
                <a:off x="7982772" y="2871554"/>
                <a:ext cx="2392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526838-A7D0-4E74-9D24-D32BC11AB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772" y="2871554"/>
                <a:ext cx="2392567" cy="338554"/>
              </a:xfrm>
              <a:prstGeom prst="rect">
                <a:avLst/>
              </a:prstGeom>
              <a:blipFill>
                <a:blip r:embed="rId7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E3CAB8D-F8D4-4192-9A13-7C88323980F5}"/>
              </a:ext>
            </a:extLst>
          </p:cNvPr>
          <p:cNvGrpSpPr/>
          <p:nvPr/>
        </p:nvGrpSpPr>
        <p:grpSpPr>
          <a:xfrm>
            <a:off x="8062799" y="1898285"/>
            <a:ext cx="3927729" cy="2020745"/>
            <a:chOff x="8062799" y="1898285"/>
            <a:chExt cx="3927729" cy="2020745"/>
          </a:xfrm>
        </p:grpSpPr>
        <p:grpSp>
          <p:nvGrpSpPr>
            <p:cNvPr id="3381" name="Google Shape;3381;p69"/>
            <p:cNvGrpSpPr/>
            <p:nvPr/>
          </p:nvGrpSpPr>
          <p:grpSpPr>
            <a:xfrm>
              <a:off x="9133628" y="1898285"/>
              <a:ext cx="2856900" cy="2020745"/>
              <a:chOff x="6399908" y="1221904"/>
              <a:chExt cx="2856900" cy="2020745"/>
            </a:xfrm>
          </p:grpSpPr>
          <p:sp>
            <p:nvSpPr>
              <p:cNvPr id="3382" name="Google Shape;3382;p69"/>
              <p:cNvSpPr/>
              <p:nvPr/>
            </p:nvSpPr>
            <p:spPr>
              <a:xfrm>
                <a:off x="6415194" y="1221904"/>
                <a:ext cx="2385600" cy="853800"/>
              </a:xfrm>
              <a:prstGeom prst="ellipse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83" name="Google Shape;3383;p69"/>
              <p:cNvSpPr txBox="1"/>
              <p:nvPr/>
            </p:nvSpPr>
            <p:spPr>
              <a:xfrm>
                <a:off x="6399908" y="2811849"/>
                <a:ext cx="2856900" cy="430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i="0" dirty="0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System model</a:t>
                </a:r>
                <a:endParaRPr lang="en-US" sz="220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cxnSp>
            <p:nvCxnSpPr>
              <p:cNvPr id="3384" name="Google Shape;3384;p69"/>
              <p:cNvCxnSpPr>
                <a:stCxn id="3383" idx="0"/>
                <a:endCxn id="3382" idx="4"/>
              </p:cNvCxnSpPr>
              <p:nvPr/>
            </p:nvCxnSpPr>
            <p:spPr>
              <a:xfrm rot="10800000">
                <a:off x="7607858" y="2075649"/>
                <a:ext cx="220500" cy="736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1" name="Google Shape;4471;p99">
              <a:extLst>
                <a:ext uri="{FF2B5EF4-FFF2-40B4-BE49-F238E27FC236}">
                  <a16:creationId xmlns:a16="http://schemas.microsoft.com/office/drawing/2014/main" id="{24DD1C76-E895-4FEC-AC4A-3A276CDF5E7E}"/>
                </a:ext>
              </a:extLst>
            </p:cNvPr>
            <p:cNvSpPr/>
            <p:nvPr/>
          </p:nvSpPr>
          <p:spPr>
            <a:xfrm>
              <a:off x="8062799" y="2794422"/>
              <a:ext cx="2198652" cy="50760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" name="Google Shape;4473;p99">
              <a:extLst>
                <a:ext uri="{FF2B5EF4-FFF2-40B4-BE49-F238E27FC236}">
                  <a16:creationId xmlns:a16="http://schemas.microsoft.com/office/drawing/2014/main" id="{8FC68B16-8061-44C6-A6A2-F7B674E003E2}"/>
                </a:ext>
              </a:extLst>
            </p:cNvPr>
            <p:cNvCxnSpPr>
              <a:cxnSpLocks/>
              <a:endCxn id="31" idx="5"/>
            </p:cNvCxnSpPr>
            <p:nvPr/>
          </p:nvCxnSpPr>
          <p:spPr>
            <a:xfrm flipH="1" flipV="1">
              <a:off x="9939466" y="3227690"/>
              <a:ext cx="622612" cy="26054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17392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8" grpId="0" build="p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7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3430" name="Google Shape;3430;p73"/>
          <p:cNvSpPr txBox="1">
            <a:spLocks noGrp="1"/>
          </p:cNvSpPr>
          <p:nvPr>
            <p:ph type="body" idx="1"/>
          </p:nvPr>
        </p:nvSpPr>
        <p:spPr>
          <a:xfrm>
            <a:off x="1530150" y="1904625"/>
            <a:ext cx="91317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Policy search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2200" dirty="0">
                <a:latin typeface="Raleway" pitchFamily="2" charset="0"/>
                <a:ea typeface="Raleway Thin"/>
                <a:cs typeface="Raleway Thin"/>
                <a:sym typeface="Raleway Thin"/>
              </a:rPr>
              <a:t>– Search over a class of methods for making decisions to optimize some metric over time.</a:t>
            </a:r>
            <a:endParaRPr sz="22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684213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42D2FF"/>
                </a:solidFill>
                <a:latin typeface="Raleway" pitchFamily="2" charset="0"/>
                <a:ea typeface="Times New Roman"/>
                <a:cs typeface="Times New Roman"/>
                <a:sym typeface="Times New Roman"/>
              </a:rPr>
              <a:t>»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 Finding the best class of policy.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684213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42D2FF"/>
                </a:solidFill>
                <a:latin typeface="Raleway" pitchFamily="2" charset="0"/>
                <a:ea typeface="Times New Roman"/>
                <a:cs typeface="Times New Roman"/>
                <a:sym typeface="Times New Roman"/>
              </a:rPr>
              <a:t>»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 Finding the best policy within the class.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96012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0" lvl="1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Lookahead approximations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2200" dirty="0">
                <a:latin typeface="Raleway" pitchFamily="2" charset="0"/>
                <a:ea typeface="Raleway Thin"/>
                <a:cs typeface="Raleway Thin"/>
                <a:sym typeface="Raleway Thin"/>
              </a:rPr>
              <a:t>– Approximate the impact of a decision now on the future. </a:t>
            </a:r>
            <a:endParaRPr sz="22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2D2FF"/>
                </a:solidFill>
                <a:latin typeface="Raleway" pitchFamily="2" charset="0"/>
                <a:ea typeface="Times New Roman"/>
                <a:cs typeface="Times New Roman"/>
                <a:sym typeface="Times New Roman"/>
              </a:rPr>
              <a:t>»</a:t>
            </a:r>
            <a:r>
              <a:rPr lang="en-US" sz="2200" dirty="0"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contribution from the first period, plus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630238" lvl="0" indent="-173038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2D2FF"/>
                </a:solidFill>
                <a:latin typeface="Raleway" pitchFamily="2" charset="0"/>
                <a:ea typeface="Times New Roman"/>
                <a:cs typeface="Times New Roman"/>
                <a:sym typeface="Times New Roman"/>
              </a:rPr>
              <a:t>»</a:t>
            </a:r>
            <a:r>
              <a:rPr lang="en-US" sz="2200" dirty="0"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An approximation of the sum of contributions in future time periods resulting from the first decision.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45720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2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431" name="Google Shape;3431;p73"/>
          <p:cNvSpPr txBox="1">
            <a:spLocks noGrp="1"/>
          </p:cNvSpPr>
          <p:nvPr>
            <p:ph type="body" idx="1"/>
          </p:nvPr>
        </p:nvSpPr>
        <p:spPr>
          <a:xfrm>
            <a:off x="752300" y="1089250"/>
            <a:ext cx="1036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There are two fundamental strategies for designing policies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5" name="Google Shape;3373;p69">
            <a:extLst>
              <a:ext uri="{FF2B5EF4-FFF2-40B4-BE49-F238E27FC236}">
                <a16:creationId xmlns:a16="http://schemas.microsoft.com/office/drawing/2014/main" id="{19B46F71-2CF1-4EF7-A818-FE932D5C36F7}"/>
              </a:ext>
            </a:extLst>
          </p:cNvPr>
          <p:cNvSpPr/>
          <p:nvPr/>
        </p:nvSpPr>
        <p:spPr>
          <a:xfrm rot="10800000">
            <a:off x="-8150" y="1783923"/>
            <a:ext cx="12206400" cy="2076234"/>
          </a:xfrm>
          <a:prstGeom prst="rect">
            <a:avLst/>
          </a:prstGeom>
          <a:solidFill>
            <a:srgbClr val="8585E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722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74"/>
          <p:cNvSpPr/>
          <p:nvPr/>
        </p:nvSpPr>
        <p:spPr>
          <a:xfrm rot="10800000">
            <a:off x="-32342" y="1253157"/>
            <a:ext cx="12206400" cy="6378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66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37" name="Google Shape;3437;p7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56539" y="507585"/>
                <a:ext cx="9792459" cy="44016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ctr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endParaRPr lang="en-US" sz="2900" dirty="0">
                  <a:latin typeface="Raleway" pitchFamily="2" charset="0"/>
                  <a:ea typeface="Raleway Thin"/>
                  <a:cs typeface="Raleway Thin"/>
                  <a:sym typeface="Raleway Thin"/>
                </a:endParaRPr>
              </a:p>
              <a:p>
                <a:pPr marL="0" lvl="0" indent="0" algn="ctr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endParaRPr lang="en-US" sz="1050" dirty="0">
                  <a:latin typeface="Raleway" pitchFamily="2" charset="0"/>
                  <a:ea typeface="Raleway Thin"/>
                  <a:cs typeface="Raleway Thin"/>
                  <a:sym typeface="Raleway Thin"/>
                </a:endParaRPr>
              </a:p>
              <a:p>
                <a:pPr marL="48260" lvl="0" indent="0" algn="l" rtl="0">
                  <a:spcBef>
                    <a:spcPts val="560"/>
                  </a:spcBef>
                  <a:spcAft>
                    <a:spcPts val="0"/>
                  </a:spcAft>
                  <a:buClr>
                    <a:srgbClr val="04A7DA"/>
                  </a:buClr>
                  <a:buSzPts val="2840"/>
                  <a:buNone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1) Policy function approximation (PFA)  </a:t>
                </a:r>
              </a:p>
              <a:p>
                <a:pPr marL="457200" lvl="0" indent="0" algn="l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latin typeface="Raleway" pitchFamily="2" charset="0"/>
                    <a:ea typeface="Raleway Thin"/>
                    <a:cs typeface="Raleway Thin"/>
                    <a:sym typeface="Raleway Thin"/>
                  </a:rPr>
                  <a:t>These are analytical functions that specify what to do given what we know. </a:t>
                </a:r>
              </a:p>
              <a:p>
                <a:pPr marL="457200" lvl="0" indent="0" algn="l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r>
                  <a:rPr lang="en-US" sz="1800" i="1" dirty="0">
                    <a:latin typeface="Raleway" pitchFamily="2" charset="0"/>
                    <a:ea typeface="Raleway Thin"/>
                    <a:cs typeface="Raleway Thin"/>
                    <a:sym typeface="Raleway Thin"/>
                  </a:rPr>
                  <a:t>Examples:</a:t>
                </a:r>
              </a:p>
              <a:p>
                <a:pPr marL="1374775" lvl="0" indent="-346075" algn="l" rtl="0">
                  <a:spcBef>
                    <a:spcPts val="560"/>
                  </a:spcBef>
                  <a:spcAft>
                    <a:spcPts val="0"/>
                  </a:spcAft>
                  <a:buClr>
                    <a:srgbClr val="04A7DA"/>
                  </a:buClr>
                  <a:buSzPts val="1800"/>
                  <a:buNone/>
                </a:pPr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a) Order-up-to inventory policy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endParaRPr>
              </a:p>
              <a:p>
                <a:pPr marL="1374775" lvl="0" indent="-346075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sz="1800" dirty="0">
                  <a:solidFill>
                    <a:srgbClr val="04A7DA"/>
                  </a:solidFill>
                  <a:latin typeface="Raleway" pitchFamily="2" charset="0"/>
                </a:endParaRPr>
              </a:p>
              <a:p>
                <a:pPr marL="1374775" lvl="0" indent="-346075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sz="1800" dirty="0">
                  <a:solidFill>
                    <a:srgbClr val="04A7DA"/>
                  </a:solidFill>
                  <a:latin typeface="Raleway" pitchFamily="2" charset="0"/>
                </a:endParaRPr>
              </a:p>
              <a:p>
                <a:pPr marL="1374775" lvl="0" indent="-346075" algn="l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rgbClr val="04A7DA"/>
                  </a:solidFill>
                  <a:latin typeface="Raleway" pitchFamily="2" charset="0"/>
                </a:endParaRPr>
              </a:p>
              <a:p>
                <a:pPr marL="1374775" lvl="0" indent="-346075" algn="l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rgbClr val="04A7DA"/>
                  </a:solidFill>
                  <a:latin typeface="Raleway" pitchFamily="2" charset="0"/>
                </a:endParaRPr>
              </a:p>
              <a:p>
                <a:pPr marL="1374775" lvl="0" indent="-346075" algn="l" rtl="0">
                  <a:spcBef>
                    <a:spcPts val="560"/>
                  </a:spcBef>
                  <a:spcAft>
                    <a:spcPts val="0"/>
                  </a:spcAft>
                  <a:buClr>
                    <a:srgbClr val="04A7DA"/>
                  </a:buClr>
                  <a:buSzPts val="1800"/>
                  <a:buNone/>
                </a:pPr>
                <a:endParaRPr lang="en-US" sz="18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endParaRPr>
              </a:p>
              <a:p>
                <a:pPr marL="1374775" lvl="0" indent="-346075" algn="l" rtl="0">
                  <a:spcBef>
                    <a:spcPts val="560"/>
                  </a:spcBef>
                  <a:spcAft>
                    <a:spcPts val="0"/>
                  </a:spcAft>
                  <a:buClr>
                    <a:srgbClr val="04A7DA"/>
                  </a:buClr>
                  <a:buSzPts val="1800"/>
                  <a:buNone/>
                </a:pPr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b)  Buy when the price goes </a:t>
                </a:r>
                <a:r>
                  <a:rPr lang="en-US" sz="1800" b="1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below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𝒎𝒊𝒏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          </a:t>
                </a:r>
                <a:b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</a:br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and sell when it goes </a:t>
                </a:r>
                <a:r>
                  <a:rPr lang="en-US" sz="1800" b="1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above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p>
                    </m:sSup>
                  </m:oMath>
                </a14:m>
                <a:endParaRPr lang="en-US" sz="1800" b="1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endParaRPr>
              </a:p>
              <a:p>
                <a:pPr marL="1374775" lvl="0" indent="-344488" algn="l" rtl="0">
                  <a:spcBef>
                    <a:spcPts val="560"/>
                  </a:spcBef>
                  <a:spcAft>
                    <a:spcPts val="0"/>
                  </a:spcAft>
                  <a:buClr>
                    <a:srgbClr val="04A7DA"/>
                  </a:buClr>
                  <a:buSzPts val="1800"/>
                  <a:buNone/>
                </a:pPr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c)	Large language models trained to diagnose patients.</a:t>
                </a:r>
              </a:p>
              <a:p>
                <a:pPr marL="1374775" lvl="0" indent="-344488" algn="l" rtl="0">
                  <a:spcBef>
                    <a:spcPts val="560"/>
                  </a:spcBef>
                  <a:spcAft>
                    <a:spcPts val="0"/>
                  </a:spcAft>
                  <a:buClr>
                    <a:srgbClr val="04A7DA"/>
                  </a:buClr>
                  <a:buSzPts val="1800"/>
                  <a:buNone/>
                </a:pPr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d)	Lookup tables, linear/nonlinear models, neural networks, nonparametric models, … any function we might use in machine learning.</a:t>
                </a:r>
                <a:endParaRPr sz="18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3437" name="Google Shape;3437;p7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56539" y="507585"/>
                <a:ext cx="9792459" cy="4401600"/>
              </a:xfrm>
              <a:prstGeom prst="rect">
                <a:avLst/>
              </a:prstGeom>
              <a:blipFill>
                <a:blip r:embed="rId3"/>
                <a:stretch>
                  <a:fillRect l="-747" b="-31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39" name="Google Shape;3439;p74"/>
          <p:cNvCxnSpPr/>
          <p:nvPr/>
        </p:nvCxnSpPr>
        <p:spPr>
          <a:xfrm rot="10800000">
            <a:off x="2577846" y="2950580"/>
            <a:ext cx="0" cy="1399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40" name="Google Shape;3440;p74"/>
          <p:cNvCxnSpPr/>
          <p:nvPr/>
        </p:nvCxnSpPr>
        <p:spPr>
          <a:xfrm>
            <a:off x="1968234" y="4326541"/>
            <a:ext cx="7114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41" name="Google Shape;3441;p74"/>
              <p:cNvSpPr txBox="1"/>
              <p:nvPr/>
            </p:nvSpPr>
            <p:spPr>
              <a:xfrm>
                <a:off x="2029379" y="2973579"/>
                <a:ext cx="327300" cy="1207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400" i="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i="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41" name="Google Shape;3441;p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379" y="2973579"/>
                <a:ext cx="327300" cy="1207213"/>
              </a:xfrm>
              <a:prstGeom prst="rect">
                <a:avLst/>
              </a:prstGeom>
              <a:blipFill>
                <a:blip r:embed="rId4"/>
                <a:stretch>
                  <a:fillRect r="-537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42" name="Google Shape;3442;p74"/>
          <p:cNvCxnSpPr/>
          <p:nvPr/>
        </p:nvCxnSpPr>
        <p:spPr>
          <a:xfrm>
            <a:off x="2577834" y="4041090"/>
            <a:ext cx="7114800" cy="0"/>
          </a:xfrm>
          <a:prstGeom prst="straightConnector1">
            <a:avLst/>
          </a:prstGeom>
          <a:noFill/>
          <a:ln w="12700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43" name="Google Shape;3443;p74"/>
          <p:cNvCxnSpPr/>
          <p:nvPr/>
        </p:nvCxnSpPr>
        <p:spPr>
          <a:xfrm>
            <a:off x="2589083" y="3151241"/>
            <a:ext cx="7114800" cy="0"/>
          </a:xfrm>
          <a:prstGeom prst="straightConnector1">
            <a:avLst/>
          </a:prstGeom>
          <a:noFill/>
          <a:ln w="12700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44" name="Google Shape;3444;p74"/>
          <p:cNvSpPr/>
          <p:nvPr/>
        </p:nvSpPr>
        <p:spPr>
          <a:xfrm>
            <a:off x="2764517" y="3147085"/>
            <a:ext cx="6330950" cy="1006475"/>
          </a:xfrm>
          <a:custGeom>
            <a:avLst/>
            <a:gdLst/>
            <a:ahLst/>
            <a:cxnLst/>
            <a:rect l="l" t="t" r="r" b="b"/>
            <a:pathLst>
              <a:path w="6330950" h="1006475" extrusionOk="0">
                <a:moveTo>
                  <a:pt x="0" y="161925"/>
                </a:moveTo>
                <a:lnTo>
                  <a:pt x="117475" y="161925"/>
                </a:lnTo>
                <a:lnTo>
                  <a:pt x="117475" y="304800"/>
                </a:lnTo>
                <a:lnTo>
                  <a:pt x="327025" y="304800"/>
                </a:lnTo>
                <a:lnTo>
                  <a:pt x="327025" y="377825"/>
                </a:lnTo>
                <a:lnTo>
                  <a:pt x="454025" y="377825"/>
                </a:lnTo>
                <a:lnTo>
                  <a:pt x="454025" y="584200"/>
                </a:lnTo>
                <a:lnTo>
                  <a:pt x="561975" y="584200"/>
                </a:lnTo>
                <a:lnTo>
                  <a:pt x="561975" y="679450"/>
                </a:lnTo>
                <a:lnTo>
                  <a:pt x="1006475" y="679450"/>
                </a:lnTo>
                <a:lnTo>
                  <a:pt x="1006475" y="822325"/>
                </a:lnTo>
                <a:lnTo>
                  <a:pt x="1149350" y="822325"/>
                </a:lnTo>
                <a:lnTo>
                  <a:pt x="1149350" y="15875"/>
                </a:lnTo>
                <a:lnTo>
                  <a:pt x="1381125" y="15875"/>
                </a:lnTo>
                <a:lnTo>
                  <a:pt x="1381125" y="66675"/>
                </a:lnTo>
                <a:lnTo>
                  <a:pt x="1562100" y="66675"/>
                </a:lnTo>
                <a:lnTo>
                  <a:pt x="1562100" y="222250"/>
                </a:lnTo>
                <a:lnTo>
                  <a:pt x="1838325" y="222250"/>
                </a:lnTo>
                <a:lnTo>
                  <a:pt x="1838325" y="314325"/>
                </a:lnTo>
                <a:lnTo>
                  <a:pt x="1981200" y="314325"/>
                </a:lnTo>
                <a:lnTo>
                  <a:pt x="1981200" y="498475"/>
                </a:lnTo>
                <a:lnTo>
                  <a:pt x="1981200" y="511175"/>
                </a:lnTo>
                <a:lnTo>
                  <a:pt x="2057400" y="511175"/>
                </a:lnTo>
                <a:lnTo>
                  <a:pt x="2057400" y="571500"/>
                </a:lnTo>
                <a:lnTo>
                  <a:pt x="2508250" y="571500"/>
                </a:lnTo>
                <a:lnTo>
                  <a:pt x="2508250" y="593725"/>
                </a:lnTo>
                <a:lnTo>
                  <a:pt x="2771775" y="593725"/>
                </a:lnTo>
                <a:lnTo>
                  <a:pt x="2771775" y="873125"/>
                </a:lnTo>
                <a:lnTo>
                  <a:pt x="2886075" y="873125"/>
                </a:lnTo>
                <a:lnTo>
                  <a:pt x="2886075" y="6350"/>
                </a:lnTo>
                <a:lnTo>
                  <a:pt x="3006725" y="6350"/>
                </a:lnTo>
                <a:lnTo>
                  <a:pt x="3006725" y="76200"/>
                </a:lnTo>
                <a:lnTo>
                  <a:pt x="3286125" y="76200"/>
                </a:lnTo>
                <a:lnTo>
                  <a:pt x="3286125" y="130175"/>
                </a:lnTo>
                <a:lnTo>
                  <a:pt x="3575050" y="130175"/>
                </a:lnTo>
                <a:lnTo>
                  <a:pt x="3575050" y="180975"/>
                </a:lnTo>
                <a:lnTo>
                  <a:pt x="3632200" y="180975"/>
                </a:lnTo>
                <a:lnTo>
                  <a:pt x="3632200" y="257175"/>
                </a:lnTo>
                <a:lnTo>
                  <a:pt x="3730625" y="257175"/>
                </a:lnTo>
                <a:lnTo>
                  <a:pt x="3730625" y="355600"/>
                </a:lnTo>
                <a:lnTo>
                  <a:pt x="4038600" y="355600"/>
                </a:lnTo>
                <a:lnTo>
                  <a:pt x="4038600" y="447675"/>
                </a:lnTo>
                <a:lnTo>
                  <a:pt x="4105275" y="447675"/>
                </a:lnTo>
                <a:lnTo>
                  <a:pt x="4105275" y="584200"/>
                </a:lnTo>
                <a:lnTo>
                  <a:pt x="4286250" y="584200"/>
                </a:lnTo>
                <a:lnTo>
                  <a:pt x="4286250" y="720725"/>
                </a:lnTo>
                <a:lnTo>
                  <a:pt x="4549775" y="720725"/>
                </a:lnTo>
                <a:lnTo>
                  <a:pt x="4549775" y="1006475"/>
                </a:lnTo>
                <a:lnTo>
                  <a:pt x="4784725" y="1006475"/>
                </a:lnTo>
                <a:lnTo>
                  <a:pt x="4784725" y="0"/>
                </a:lnTo>
                <a:lnTo>
                  <a:pt x="4918075" y="0"/>
                </a:lnTo>
                <a:lnTo>
                  <a:pt x="4918075" y="104775"/>
                </a:lnTo>
                <a:lnTo>
                  <a:pt x="5045075" y="104775"/>
                </a:lnTo>
                <a:lnTo>
                  <a:pt x="5045075" y="200025"/>
                </a:lnTo>
                <a:lnTo>
                  <a:pt x="5327650" y="200025"/>
                </a:lnTo>
                <a:lnTo>
                  <a:pt x="5327650" y="263525"/>
                </a:lnTo>
                <a:lnTo>
                  <a:pt x="5464175" y="263525"/>
                </a:lnTo>
                <a:lnTo>
                  <a:pt x="5464175" y="539750"/>
                </a:lnTo>
                <a:lnTo>
                  <a:pt x="5597525" y="539750"/>
                </a:lnTo>
                <a:lnTo>
                  <a:pt x="5597525" y="606425"/>
                </a:lnTo>
                <a:lnTo>
                  <a:pt x="5959475" y="606425"/>
                </a:lnTo>
                <a:lnTo>
                  <a:pt x="5959475" y="660400"/>
                </a:lnTo>
                <a:lnTo>
                  <a:pt x="6149975" y="660400"/>
                </a:lnTo>
                <a:lnTo>
                  <a:pt x="6149975" y="841375"/>
                </a:lnTo>
                <a:lnTo>
                  <a:pt x="6330950" y="841375"/>
                </a:lnTo>
                <a:lnTo>
                  <a:pt x="6330950" y="12700"/>
                </a:ln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3422;p72">
            <a:extLst>
              <a:ext uri="{FF2B5EF4-FFF2-40B4-BE49-F238E27FC236}">
                <a16:creationId xmlns:a16="http://schemas.microsoft.com/office/drawing/2014/main" id="{F2D34DD3-165E-581F-1C2F-4CF3775D1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4A1AC7-AD2E-A214-1DDB-1A570E52C88F}"/>
              </a:ext>
            </a:extLst>
          </p:cNvPr>
          <p:cNvGrpSpPr/>
          <p:nvPr/>
        </p:nvGrpSpPr>
        <p:grpSpPr>
          <a:xfrm>
            <a:off x="9989325" y="2463642"/>
            <a:ext cx="1952013" cy="2761674"/>
            <a:chOff x="10095558" y="3833347"/>
            <a:chExt cx="1952013" cy="27616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2E0B1C0-E608-367D-5954-FF65882ABA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6230"/>
            <a:stretch/>
          </p:blipFill>
          <p:spPr>
            <a:xfrm>
              <a:off x="10095558" y="3833347"/>
              <a:ext cx="1952013" cy="276167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F78D25-00C4-13C1-45FD-F5F7F415C9B2}"/>
                </a:ext>
              </a:extLst>
            </p:cNvPr>
            <p:cNvSpPr txBox="1"/>
            <p:nvPr/>
          </p:nvSpPr>
          <p:spPr>
            <a:xfrm>
              <a:off x="10237196" y="5657498"/>
              <a:ext cx="1452642" cy="400110"/>
            </a:xfrm>
            <a:prstGeom prst="rect">
              <a:avLst/>
            </a:prstGeom>
            <a:solidFill>
              <a:srgbClr val="200D25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Chapter 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4134194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3">
          <a:extLst>
            <a:ext uri="{FF2B5EF4-FFF2-40B4-BE49-F238E27FC236}">
              <a16:creationId xmlns:a16="http://schemas.microsoft.com/office/drawing/2014/main" id="{D7E8999C-E2D1-6689-8C6D-ECD5A5E72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55" name="Google Shape;3455;p75">
                <a:extLst>
                  <a:ext uri="{FF2B5EF4-FFF2-40B4-BE49-F238E27FC236}">
                    <a16:creationId xmlns:a16="http://schemas.microsoft.com/office/drawing/2014/main" id="{FA37EE3A-895D-5684-73B6-A059E77F327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66743" y="481904"/>
                <a:ext cx="10678514" cy="2588642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ctr" rtl="0"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sz="2900" dirty="0">
                  <a:latin typeface="Raleway" pitchFamily="2" charset="0"/>
                  <a:ea typeface="Raleway Thin"/>
                  <a:cs typeface="Raleway Thin"/>
                  <a:sym typeface="Raleway Thin"/>
                </a:endParaRPr>
              </a:p>
              <a:p>
                <a:pPr marL="0" lvl="0" indent="0" algn="ctr" rtl="0"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sz="1050" dirty="0">
                  <a:latin typeface="Raleway" pitchFamily="2" charset="0"/>
                  <a:ea typeface="Raleway Thin"/>
                  <a:cs typeface="Raleway Thin"/>
                  <a:sym typeface="Raleway Thin"/>
                </a:endParaRPr>
              </a:p>
              <a:p>
                <a:pPr marL="0" lvl="0" indent="0" algn="l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2) Cost function approximations (CFAs)</a:t>
                </a:r>
              </a:p>
              <a:p>
                <a:pPr marL="365760" lvl="0" indent="0" algn="l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endParaRPr lang="en-US" sz="1100" dirty="0">
                  <a:latin typeface="Raleway" pitchFamily="2" charset="0"/>
                  <a:ea typeface="Raleway Thin"/>
                  <a:cs typeface="Raleway Thin"/>
                  <a:sym typeface="Raleway Thin"/>
                </a:endParaRPr>
              </a:p>
              <a:p>
                <a:pPr marL="365760" lvl="0" indent="0" algn="l" rtl="0">
                  <a:spcBef>
                    <a:spcPts val="56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latin typeface="Raleway" pitchFamily="2" charset="0"/>
                    <a:ea typeface="Raleway Thin"/>
                    <a:cs typeface="Raleway Thin"/>
                    <a:sym typeface="Raleway Thin"/>
                  </a:rPr>
                  <a:t> a) Discrete actions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Raleway Thin"/>
                        <a:cs typeface="Raleway Thin"/>
                        <a:sym typeface="Raleway Thin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Raleway Thin"/>
                        <a:cs typeface="Raleway Thin"/>
                        <a:sym typeface="Raleway Thin"/>
                      </a:rPr>
                      <m:t>:</m:t>
                    </m:r>
                  </m:oMath>
                </a14:m>
                <a:endParaRPr lang="en-US" sz="2400" dirty="0">
                  <a:latin typeface="Raleway" pitchFamily="2" charset="0"/>
                  <a:ea typeface="Raleway Thin"/>
                  <a:cs typeface="Raleway Thin"/>
                  <a:sym typeface="Raleway Thin"/>
                </a:endParaRPr>
              </a:p>
              <a:p>
                <a:pPr marL="571500" lvl="0" indent="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1800" dirty="0">
                    <a:latin typeface="Raleway" pitchFamily="2" charset="0"/>
                    <a:ea typeface="Raleway Thin"/>
                    <a:cs typeface="Raleway Thin"/>
                    <a:sym typeface="Raleway Thin"/>
                  </a:rPr>
                  <a:t>Run experiment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Raleway Thin"/>
                        <a:cs typeface="Raleway Thin"/>
                        <a:sym typeface="Raleway Thin"/>
                      </a:rPr>
                      <m:t>𝑥</m:t>
                    </m:r>
                  </m:oMath>
                </a14:m>
                <a:r>
                  <a:rPr lang="en-US" sz="1800" dirty="0">
                    <a:latin typeface="Raleway" pitchFamily="2" charset="0"/>
                    <a:ea typeface="Raleway Thin"/>
                    <a:cs typeface="Raleway Thin"/>
                    <a:sym typeface="Raleway Thin"/>
                  </a:rPr>
                  <a:t> that solves:</a:t>
                </a:r>
              </a:p>
              <a:p>
                <a:pPr marL="571500" lvl="0" indent="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1800" dirty="0">
                    <a:latin typeface="Raleway" pitchFamily="2" charset="0"/>
                    <a:ea typeface="Raleway Thin"/>
                    <a:cs typeface="Raleway Thin"/>
                    <a:sym typeface="Raleway Thin"/>
                  </a:rPr>
                  <a:t>          </a:t>
                </a:r>
                <a:r>
                  <a:rPr lang="en-US" sz="1000" dirty="0">
                    <a:latin typeface="Raleway" pitchFamily="2" charset="0"/>
                    <a:ea typeface="Raleway Thin"/>
                    <a:cs typeface="Raleway Thin"/>
                    <a:sym typeface="Raleway Thin"/>
                  </a:rPr>
                  <a:t> </a:t>
                </a:r>
                <a:endParaRPr lang="en-US" sz="1100" dirty="0">
                  <a:latin typeface="Raleway" pitchFamily="2" charset="0"/>
                  <a:sym typeface="Raleway Thin"/>
                </a:endParaRPr>
              </a:p>
            </p:txBody>
          </p:sp>
        </mc:Choice>
        <mc:Fallback xmlns="">
          <p:sp>
            <p:nvSpPr>
              <p:cNvPr id="3455" name="Google Shape;3455;p7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66743" y="481904"/>
                <a:ext cx="10678514" cy="2588642"/>
              </a:xfrm>
              <a:prstGeom prst="rect">
                <a:avLst/>
              </a:prstGeom>
              <a:blipFill>
                <a:blip r:embed="rId3"/>
                <a:stretch>
                  <a:fillRect l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3422;p72">
            <a:extLst>
              <a:ext uri="{FF2B5EF4-FFF2-40B4-BE49-F238E27FC236}">
                <a16:creationId xmlns:a16="http://schemas.microsoft.com/office/drawing/2014/main" id="{04C264D2-FF20-881B-8B1A-34C17B3676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790228-A8A0-5FB3-2352-C8936FF5F7E6}"/>
                  </a:ext>
                </a:extLst>
              </p:cNvPr>
              <p:cNvSpPr txBox="1"/>
              <p:nvPr/>
            </p:nvSpPr>
            <p:spPr>
              <a:xfrm>
                <a:off x="1847038" y="3139418"/>
                <a:ext cx="6305550" cy="510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𝑈𝐶𝐵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Raleway Thin"/>
                                      <a:cs typeface="Raleway Thin"/>
                                      <a:sym typeface="Raleway Thin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Raleway Thin"/>
                                      <a:cs typeface="Raleway Thin"/>
                                      <a:sym typeface="Raleway Thin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Raleway Thin"/>
                                      <a:cs typeface="Raleway Thin"/>
                                      <a:sym typeface="Raleway Thin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|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sz="180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arg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𝐸𝑠𝑡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.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𝑣𝑎𝑙𝑢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+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𝜃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⋅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𝑆𝑡𝑑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𝑑𝑒</m:t>
                          </m:r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Raleway Thin"/>
                                  <a:cs typeface="Raleway Thin"/>
                                  <a:sym typeface="Raleway Thin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  <a:ea typeface="Raleway Thin"/>
                              <a:cs typeface="Raleway Thin"/>
                              <a:sym typeface="Raleway Thin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800" dirty="0">
                  <a:latin typeface="Raleway" pitchFamily="2" charset="0"/>
                  <a:ea typeface="Raleway Thin"/>
                  <a:cs typeface="Raleway Thin"/>
                  <a:sym typeface="Raleway Thi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C1088F-2FC0-2D48-61E6-831A3B7B3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038" y="3139418"/>
                <a:ext cx="6305550" cy="5105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0285A26-AE4D-607E-C0C1-56CEF0902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1989" y="3902830"/>
            <a:ext cx="4951946" cy="23105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022FA7-1BBF-8438-40B8-5C9F92104A14}"/>
              </a:ext>
            </a:extLst>
          </p:cNvPr>
          <p:cNvSpPr txBox="1"/>
          <p:nvPr/>
        </p:nvSpPr>
        <p:spPr>
          <a:xfrm>
            <a:off x="8639810" y="2454663"/>
            <a:ext cx="283443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Raleway" pitchFamily="2" charset="0"/>
              </a:rPr>
              <a:t>Discrete actions:</a:t>
            </a:r>
          </a:p>
          <a:p>
            <a:endParaRPr lang="en-US" sz="1600" dirty="0">
              <a:latin typeface="Raleway" pitchFamily="2" charset="0"/>
            </a:endParaRP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Type of drug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Supplier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Trading policy (finance)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Product design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Battery technology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Price (discretized)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Web page design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Product to advertise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Location for a clinic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Diameter of silicon wafer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Financial trading policy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Advertising channel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Choice of manager</a:t>
            </a:r>
          </a:p>
        </p:txBody>
      </p:sp>
      <p:sp>
        <p:nvSpPr>
          <p:cNvPr id="7" name="Google Shape;3448;p74">
            <a:extLst>
              <a:ext uri="{FF2B5EF4-FFF2-40B4-BE49-F238E27FC236}">
                <a16:creationId xmlns:a16="http://schemas.microsoft.com/office/drawing/2014/main" id="{3D021F17-8CEB-DACC-9DB0-508ED9A437DE}"/>
              </a:ext>
            </a:extLst>
          </p:cNvPr>
          <p:cNvSpPr/>
          <p:nvPr/>
        </p:nvSpPr>
        <p:spPr>
          <a:xfrm rot="10800000">
            <a:off x="316" y="1271863"/>
            <a:ext cx="12206400" cy="6378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6699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D7C09-EC60-A97A-7D46-17AEEAED5C77}"/>
              </a:ext>
            </a:extLst>
          </p:cNvPr>
          <p:cNvSpPr/>
          <p:nvPr/>
        </p:nvSpPr>
        <p:spPr>
          <a:xfrm>
            <a:off x="4819650" y="3139418"/>
            <a:ext cx="1172076" cy="397866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58FEB3-DC27-E116-EE1B-DBA49875AE9C}"/>
              </a:ext>
            </a:extLst>
          </p:cNvPr>
          <p:cNvSpPr/>
          <p:nvPr/>
        </p:nvSpPr>
        <p:spPr>
          <a:xfrm>
            <a:off x="6328610" y="4632158"/>
            <a:ext cx="228601" cy="9463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71517A-D694-E7DA-96E2-8247FF03A31C}"/>
              </a:ext>
            </a:extLst>
          </p:cNvPr>
          <p:cNvSpPr/>
          <p:nvPr/>
        </p:nvSpPr>
        <p:spPr>
          <a:xfrm>
            <a:off x="6328610" y="4141812"/>
            <a:ext cx="1089143" cy="519430"/>
          </a:xfrm>
          <a:prstGeom prst="rect">
            <a:avLst/>
          </a:prstGeom>
          <a:solidFill>
            <a:srgbClr val="262699">
              <a:alpha val="10196"/>
            </a:srgb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86FE3E-35D1-52FC-89DF-9BFDD05F623E}"/>
              </a:ext>
            </a:extLst>
          </p:cNvPr>
          <p:cNvGrpSpPr/>
          <p:nvPr/>
        </p:nvGrpSpPr>
        <p:grpSpPr>
          <a:xfrm>
            <a:off x="5798484" y="2669599"/>
            <a:ext cx="1975221" cy="856800"/>
            <a:chOff x="5798484" y="2669599"/>
            <a:chExt cx="1975221" cy="85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226B5E-320B-79CD-3554-38C96176AF88}"/>
                </a:ext>
              </a:extLst>
            </p:cNvPr>
            <p:cNvSpPr/>
            <p:nvPr/>
          </p:nvSpPr>
          <p:spPr>
            <a:xfrm>
              <a:off x="6184582" y="3128533"/>
              <a:ext cx="1263315" cy="397866"/>
            </a:xfrm>
            <a:prstGeom prst="rect">
              <a:avLst/>
            </a:prstGeom>
            <a:solidFill>
              <a:srgbClr val="262699">
                <a:alpha val="10196"/>
              </a:srgb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15A130-3A74-7E92-C151-6A92493C9872}"/>
                </a:ext>
              </a:extLst>
            </p:cNvPr>
            <p:cNvSpPr txBox="1"/>
            <p:nvPr/>
          </p:nvSpPr>
          <p:spPr>
            <a:xfrm>
              <a:off x="5798484" y="2669599"/>
              <a:ext cx="19752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“Uncertainty bonus”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E6FA62-7359-A9C6-2073-460C2603A057}"/>
              </a:ext>
            </a:extLst>
          </p:cNvPr>
          <p:cNvGrpSpPr/>
          <p:nvPr/>
        </p:nvGrpSpPr>
        <p:grpSpPr>
          <a:xfrm>
            <a:off x="1574279" y="3148845"/>
            <a:ext cx="3273652" cy="689285"/>
            <a:chOff x="1574279" y="3148845"/>
            <a:chExt cx="3273652" cy="68928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A30F08E-5472-236A-7744-B1F24DB5364F}"/>
                </a:ext>
              </a:extLst>
            </p:cNvPr>
            <p:cNvSpPr/>
            <p:nvPr/>
          </p:nvSpPr>
          <p:spPr>
            <a:xfrm>
              <a:off x="3780149" y="3148845"/>
              <a:ext cx="1067782" cy="510589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D3B740-D92B-CDDB-4648-A8ECBDB7CDD9}"/>
                </a:ext>
              </a:extLst>
            </p:cNvPr>
            <p:cNvSpPr txBox="1"/>
            <p:nvPr/>
          </p:nvSpPr>
          <p:spPr>
            <a:xfrm>
              <a:off x="1574279" y="3499576"/>
              <a:ext cx="2247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Optimization problem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023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801CA-C320-576B-310B-853D4F6F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BA24DB-FEB5-50E0-863D-9414E5A18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0627" y="1973983"/>
                <a:ext cx="10158818" cy="43025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Raleway" pitchFamily="2" charset="0"/>
                    <a:ea typeface="Raleway Thin"/>
                    <a:cs typeface="Raleway Thin"/>
                    <a:sym typeface="Raleway Thin"/>
                  </a:rPr>
                  <a:t>b)  Vector decisions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Raleway Thin"/>
                        <a:cs typeface="Raleway Thin"/>
                        <a:sym typeface="Raleway Thin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400" dirty="0"/>
                  <a:t>- Our policy is a parameterized LP/MILP/NLP</a:t>
                </a:r>
                <a:r>
                  <a:rPr lang="en-US" sz="2000" dirty="0"/>
                  <a:t>: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BA24DB-FEB5-50E0-863D-9414E5A18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0627" y="1973983"/>
                <a:ext cx="10158818" cy="4302529"/>
              </a:xfrm>
              <a:blipFill>
                <a:blip r:embed="rId2"/>
                <a:stretch>
                  <a:fillRect l="-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CEC73C6-D21E-6AB9-846B-21E16536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policies I - Overview</a:t>
            </a:r>
          </a:p>
        </p:txBody>
      </p:sp>
      <p:sp>
        <p:nvSpPr>
          <p:cNvPr id="11" name="Google Shape;3448;p74">
            <a:extLst>
              <a:ext uri="{FF2B5EF4-FFF2-40B4-BE49-F238E27FC236}">
                <a16:creationId xmlns:a16="http://schemas.microsoft.com/office/drawing/2014/main" id="{40264702-69FD-2F7D-F0AA-2D2381AAAA91}"/>
              </a:ext>
            </a:extLst>
          </p:cNvPr>
          <p:cNvSpPr/>
          <p:nvPr/>
        </p:nvSpPr>
        <p:spPr>
          <a:xfrm rot="10800000">
            <a:off x="316" y="1271863"/>
            <a:ext cx="12206400" cy="6378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6699"/>
              </a:solidFill>
            </a:endParaRPr>
          </a:p>
        </p:txBody>
      </p:sp>
      <p:sp>
        <p:nvSpPr>
          <p:cNvPr id="12" name="Google Shape;3455;p75">
            <a:extLst>
              <a:ext uri="{FF2B5EF4-FFF2-40B4-BE49-F238E27FC236}">
                <a16:creationId xmlns:a16="http://schemas.microsoft.com/office/drawing/2014/main" id="{F4AC9397-3560-3565-3259-51EF26E5E261}"/>
              </a:ext>
            </a:extLst>
          </p:cNvPr>
          <p:cNvSpPr txBox="1">
            <a:spLocks/>
          </p:cNvSpPr>
          <p:nvPr/>
        </p:nvSpPr>
        <p:spPr>
          <a:xfrm>
            <a:off x="1266743" y="678730"/>
            <a:ext cx="10678514" cy="117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endParaRPr lang="en-US" sz="29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0" indent="0">
              <a:buFont typeface="Raleway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2) Cost function approximations (CFAs)</a:t>
            </a:r>
          </a:p>
        </p:txBody>
      </p:sp>
      <p:pic>
        <p:nvPicPr>
          <p:cNvPr id="5" name="Google Shape;2007;p54">
            <a:extLst>
              <a:ext uri="{FF2B5EF4-FFF2-40B4-BE49-F238E27FC236}">
                <a16:creationId xmlns:a16="http://schemas.microsoft.com/office/drawing/2014/main" id="{357D0C14-7F25-89B0-A316-D6BA9DEF6A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153" y="2725743"/>
            <a:ext cx="2113416" cy="31729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F8BA0D-0E1C-6EB6-4306-E4D337BB9D04}"/>
              </a:ext>
            </a:extLst>
          </p:cNvPr>
          <p:cNvSpPr txBox="1"/>
          <p:nvPr/>
        </p:nvSpPr>
        <p:spPr>
          <a:xfrm>
            <a:off x="2158740" y="5786594"/>
            <a:ext cx="8322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Deterministic optimization models can be parameterized to work well over time, under uncertainty.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D1F60A-F337-1E30-DE86-12864DD29031}"/>
              </a:ext>
            </a:extLst>
          </p:cNvPr>
          <p:cNvSpPr/>
          <p:nvPr/>
        </p:nvSpPr>
        <p:spPr>
          <a:xfrm>
            <a:off x="2390775" y="2868618"/>
            <a:ext cx="4174989" cy="2636832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6A3857-05C2-6377-DABA-02C4F63FE526}"/>
                  </a:ext>
                </a:extLst>
              </p:cNvPr>
              <p:cNvSpPr txBox="1"/>
              <p:nvPr/>
            </p:nvSpPr>
            <p:spPr>
              <a:xfrm>
                <a:off x="2756672" y="3157948"/>
                <a:ext cx="3439018" cy="21899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sSup>
                                <m:sSupPr>
                                  <m:ctrl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smtClean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limLow>
                                <m:limLow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𝑎𝑟𝑔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e>
                            <m:lim/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𝑐𝑥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6A3857-05C2-6377-DABA-02C4F63FE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672" y="3157948"/>
                <a:ext cx="3439018" cy="21899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E1DA1DD-D11A-F0E1-2194-9FF46DEBD7D6}"/>
              </a:ext>
            </a:extLst>
          </p:cNvPr>
          <p:cNvGrpSpPr/>
          <p:nvPr/>
        </p:nvGrpSpPr>
        <p:grpSpPr>
          <a:xfrm>
            <a:off x="2341912" y="2868620"/>
            <a:ext cx="4228145" cy="2636832"/>
            <a:chOff x="1894237" y="2706693"/>
            <a:chExt cx="4228145" cy="26368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F2A6B4-44CA-A627-FD22-3F9563E85F95}"/>
                </a:ext>
              </a:extLst>
            </p:cNvPr>
            <p:cNvSpPr/>
            <p:nvPr/>
          </p:nvSpPr>
          <p:spPr>
            <a:xfrm>
              <a:off x="1955025" y="2706693"/>
              <a:ext cx="4163064" cy="263683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4FA7C7B-31DF-D4AB-5FDA-7A54E020D73E}"/>
                    </a:ext>
                  </a:extLst>
                </p:cNvPr>
                <p:cNvSpPr txBox="1"/>
                <p:nvPr/>
              </p:nvSpPr>
              <p:spPr>
                <a:xfrm>
                  <a:off x="1894237" y="2996023"/>
                  <a:ext cx="4228145" cy="21731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sSup>
                                  <m:sSupPr>
                                    <m:ctrl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limLow>
                                  <m:limLowPr>
                                    <m:ctrl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lim>
                                </m:limLow>
                              </m:e>
                              <m:lim/>
                            </m:limLow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lang="en-US" sz="2800" dirty="0"/>
                </a:p>
                <a:p>
                  <a:endParaRPr lang="en-US" sz="280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4FA7C7B-31DF-D4AB-5FDA-7A54E020D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4237" y="2996023"/>
                  <a:ext cx="4228145" cy="21731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4C9AD84-A644-5B4A-CC34-6FB38450158C}"/>
              </a:ext>
            </a:extLst>
          </p:cNvPr>
          <p:cNvGrpSpPr/>
          <p:nvPr/>
        </p:nvGrpSpPr>
        <p:grpSpPr>
          <a:xfrm>
            <a:off x="9789300" y="2863692"/>
            <a:ext cx="1952013" cy="2761674"/>
            <a:chOff x="10095558" y="3833347"/>
            <a:chExt cx="1952013" cy="276167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8172B19-0035-2012-823B-B68FE068D0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6230"/>
            <a:stretch/>
          </p:blipFill>
          <p:spPr>
            <a:xfrm>
              <a:off x="10095558" y="3833347"/>
              <a:ext cx="1952013" cy="276167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BBA0B6-44B3-08A8-AFE2-CF0D92C69E6A}"/>
                </a:ext>
              </a:extLst>
            </p:cNvPr>
            <p:cNvSpPr txBox="1"/>
            <p:nvPr/>
          </p:nvSpPr>
          <p:spPr>
            <a:xfrm>
              <a:off x="10237196" y="5657498"/>
              <a:ext cx="1452642" cy="400110"/>
            </a:xfrm>
            <a:prstGeom prst="rect">
              <a:avLst/>
            </a:prstGeom>
            <a:solidFill>
              <a:srgbClr val="200D25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Chapter 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356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8FF6-209A-4F49-D685-E429414D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9EAD-9BCB-9F98-70BF-5E1837E3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policies I - Overview</a:t>
            </a:r>
          </a:p>
        </p:txBody>
      </p:sp>
      <p:sp>
        <p:nvSpPr>
          <p:cNvPr id="11" name="Google Shape;3448;p74">
            <a:extLst>
              <a:ext uri="{FF2B5EF4-FFF2-40B4-BE49-F238E27FC236}">
                <a16:creationId xmlns:a16="http://schemas.microsoft.com/office/drawing/2014/main" id="{F3FBA5B1-17B2-9692-B581-B6589DD8B2EB}"/>
              </a:ext>
            </a:extLst>
          </p:cNvPr>
          <p:cNvSpPr/>
          <p:nvPr/>
        </p:nvSpPr>
        <p:spPr>
          <a:xfrm rot="10800000">
            <a:off x="316" y="1271863"/>
            <a:ext cx="12206400" cy="6378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6699"/>
              </a:solidFill>
            </a:endParaRPr>
          </a:p>
        </p:txBody>
      </p:sp>
      <p:sp>
        <p:nvSpPr>
          <p:cNvPr id="12" name="Google Shape;3455;p75">
            <a:extLst>
              <a:ext uri="{FF2B5EF4-FFF2-40B4-BE49-F238E27FC236}">
                <a16:creationId xmlns:a16="http://schemas.microsoft.com/office/drawing/2014/main" id="{1A4EADB0-DC49-DF90-B081-2A2E51496AE6}"/>
              </a:ext>
            </a:extLst>
          </p:cNvPr>
          <p:cNvSpPr txBox="1">
            <a:spLocks/>
          </p:cNvSpPr>
          <p:nvPr/>
        </p:nvSpPr>
        <p:spPr>
          <a:xfrm>
            <a:off x="1266743" y="481904"/>
            <a:ext cx="10678514" cy="136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endParaRPr lang="en-US" sz="29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0" indent="0" algn="ctr">
              <a:buSzPts val="1100"/>
              <a:buFont typeface="Arial"/>
              <a:buNone/>
            </a:pPr>
            <a:endParaRPr lang="en-US" sz="105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0" indent="0">
              <a:buFont typeface="Raleway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2) Cost function approximations (CFAs)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F6F5F5B-89DA-6186-A51C-88D5CA5A98C5}"/>
              </a:ext>
            </a:extLst>
          </p:cNvPr>
          <p:cNvSpPr txBox="1">
            <a:spLocks/>
          </p:cNvSpPr>
          <p:nvPr/>
        </p:nvSpPr>
        <p:spPr>
          <a:xfrm>
            <a:off x="1348119" y="2019850"/>
            <a:ext cx="7195806" cy="430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365760" indent="0">
              <a:buFont typeface="Raleway"/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b)  CFA policies in industry:</a:t>
            </a:r>
          </a:p>
          <a:p>
            <a:pPr lvl="2"/>
            <a:endParaRPr lang="en-US" sz="1400" dirty="0"/>
          </a:p>
          <a:p>
            <a:pPr lvl="1"/>
            <a:r>
              <a:rPr lang="en-US" sz="1800" dirty="0"/>
              <a:t>Airlines optimizing schedules with schedule slack to handle weather uncertainty.</a:t>
            </a:r>
          </a:p>
          <a:p>
            <a:pPr lvl="1"/>
            <a:r>
              <a:rPr lang="en-US" sz="1800" dirty="0"/>
              <a:t>Manufacturers using buffer stocks to hedge against production delays and quality problems.</a:t>
            </a:r>
          </a:p>
          <a:p>
            <a:pPr lvl="1"/>
            <a:r>
              <a:rPr lang="en-US" sz="1800" dirty="0"/>
              <a:t>Grid operators scheduling extra generation capacity in case of outages.</a:t>
            </a:r>
          </a:p>
          <a:p>
            <a:pPr lvl="1"/>
            <a:endParaRPr lang="en-US" sz="1800" dirty="0"/>
          </a:p>
          <a:p>
            <a:pPr marL="86360" indent="0">
              <a:buFont typeface="Raleway"/>
              <a:buNone/>
            </a:pPr>
            <a:r>
              <a:rPr lang="en-US" sz="2000" dirty="0"/>
              <a:t>These are all parameterized versions of deterministic optimization models introduced earlier. </a:t>
            </a:r>
          </a:p>
          <a:p>
            <a:pPr marL="571500" lvl="1" indent="0">
              <a:buFont typeface="Raleway"/>
              <a:buNone/>
            </a:pPr>
            <a:endParaRPr lang="en-US" sz="1800" dirty="0"/>
          </a:p>
          <a:p>
            <a:pPr marL="115888" lvl="1" indent="0">
              <a:buFont typeface="Raleway"/>
              <a:buNone/>
            </a:pPr>
            <a:r>
              <a:rPr lang="en-US" sz="1800" dirty="0"/>
              <a:t>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C21E0-C35C-699E-2EDD-0095166DD6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00" b="10833"/>
          <a:stretch>
            <a:fillRect/>
          </a:stretch>
        </p:blipFill>
        <p:spPr>
          <a:xfrm>
            <a:off x="8935458" y="2066925"/>
            <a:ext cx="2613273" cy="40138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8390753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7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3430" name="Google Shape;3430;p73"/>
          <p:cNvSpPr txBox="1">
            <a:spLocks noGrp="1"/>
          </p:cNvSpPr>
          <p:nvPr>
            <p:ph type="body" idx="1"/>
          </p:nvPr>
        </p:nvSpPr>
        <p:spPr>
          <a:xfrm>
            <a:off x="1530150" y="1904625"/>
            <a:ext cx="91317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Policy search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2200" dirty="0">
                <a:latin typeface="Raleway" pitchFamily="2" charset="0"/>
                <a:ea typeface="Raleway Thin"/>
                <a:cs typeface="Raleway Thin"/>
                <a:sym typeface="Raleway Thin"/>
              </a:rPr>
              <a:t>– Search over a class of methods for making decisions to optimize some metric over time.</a:t>
            </a:r>
            <a:endParaRPr sz="22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684213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42D2FF"/>
                </a:solidFill>
                <a:latin typeface="Raleway" pitchFamily="2" charset="0"/>
                <a:ea typeface="Times New Roman"/>
                <a:cs typeface="Times New Roman"/>
                <a:sym typeface="Times New Roman"/>
              </a:rPr>
              <a:t>»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 Finding the best class of policy.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684213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42D2FF"/>
                </a:solidFill>
                <a:latin typeface="Raleway" pitchFamily="2" charset="0"/>
                <a:ea typeface="Times New Roman"/>
                <a:cs typeface="Times New Roman"/>
                <a:sym typeface="Times New Roman"/>
              </a:rPr>
              <a:t>»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 Finding the best policy within the class.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96012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0" lvl="1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Lookahead approximations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2200" dirty="0">
                <a:latin typeface="Raleway" pitchFamily="2" charset="0"/>
                <a:ea typeface="Raleway Thin"/>
                <a:cs typeface="Raleway Thin"/>
                <a:sym typeface="Raleway Thin"/>
              </a:rPr>
              <a:t>– Approximate the impact of a decision now on the future. </a:t>
            </a:r>
            <a:endParaRPr sz="22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2D2FF"/>
                </a:solidFill>
                <a:latin typeface="Raleway" pitchFamily="2" charset="0"/>
                <a:ea typeface="Times New Roman"/>
                <a:cs typeface="Times New Roman"/>
                <a:sym typeface="Times New Roman"/>
              </a:rPr>
              <a:t>»</a:t>
            </a:r>
            <a:r>
              <a:rPr lang="en-US" sz="2200" dirty="0"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contribution from the first period, plus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630238" lvl="0" indent="-173038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2D2FF"/>
                </a:solidFill>
                <a:latin typeface="Raleway" pitchFamily="2" charset="0"/>
                <a:ea typeface="Times New Roman"/>
                <a:cs typeface="Times New Roman"/>
                <a:sym typeface="Times New Roman"/>
              </a:rPr>
              <a:t>»</a:t>
            </a:r>
            <a:r>
              <a:rPr lang="en-US" sz="2200" dirty="0"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An approximation of the sum of contributions in future time periods resulting from the first decision.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45720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2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431" name="Google Shape;3431;p73"/>
          <p:cNvSpPr txBox="1">
            <a:spLocks noGrp="1"/>
          </p:cNvSpPr>
          <p:nvPr>
            <p:ph type="body" idx="1"/>
          </p:nvPr>
        </p:nvSpPr>
        <p:spPr>
          <a:xfrm>
            <a:off x="752300" y="1089250"/>
            <a:ext cx="1036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There are two fundamental strategies for designing policies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5" name="Google Shape;3373;p69">
            <a:extLst>
              <a:ext uri="{FF2B5EF4-FFF2-40B4-BE49-F238E27FC236}">
                <a16:creationId xmlns:a16="http://schemas.microsoft.com/office/drawing/2014/main" id="{19B46F71-2CF1-4EF7-A818-FE932D5C36F7}"/>
              </a:ext>
            </a:extLst>
          </p:cNvPr>
          <p:cNvSpPr/>
          <p:nvPr/>
        </p:nvSpPr>
        <p:spPr>
          <a:xfrm rot="10800000">
            <a:off x="-8150" y="3971526"/>
            <a:ext cx="12206400" cy="2076234"/>
          </a:xfrm>
          <a:prstGeom prst="rect">
            <a:avLst/>
          </a:prstGeom>
          <a:solidFill>
            <a:srgbClr val="8585E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197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5B711-45D8-4E4C-BF70-681FEAF69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Lookahead approximations combine:</a:t>
            </a:r>
          </a:p>
          <a:p>
            <a:pPr lvl="1"/>
            <a:r>
              <a:rPr lang="en-US" dirty="0"/>
              <a:t>The immediate contribution (or cost) of a decision made now…</a:t>
            </a:r>
          </a:p>
          <a:p>
            <a:pPr lvl="1"/>
            <a:r>
              <a:rPr lang="en-US" dirty="0"/>
              <a:t>… and an approximation of future contributions (or costs)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2BE38-F46A-42D4-A6C0-B88DFE698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369" y="2892425"/>
            <a:ext cx="6900263" cy="3398765"/>
          </a:xfrm>
          <a:prstGeom prst="rect">
            <a:avLst/>
          </a:prstGeom>
        </p:spPr>
      </p:pic>
      <p:sp>
        <p:nvSpPr>
          <p:cNvPr id="7" name="Google Shape;3422;p72">
            <a:extLst>
              <a:ext uri="{FF2B5EF4-FFF2-40B4-BE49-F238E27FC236}">
                <a16:creationId xmlns:a16="http://schemas.microsoft.com/office/drawing/2014/main" id="{16EE6F1E-9C7D-18C1-5F8D-CCE1057AEC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8747486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1">
          <a:extLst>
            <a:ext uri="{FF2B5EF4-FFF2-40B4-BE49-F238E27FC236}">
              <a16:creationId xmlns:a16="http://schemas.microsoft.com/office/drawing/2014/main" id="{738E495F-FDCE-A0A0-DCE5-B39D5533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p76">
            <a:extLst>
              <a:ext uri="{FF2B5EF4-FFF2-40B4-BE49-F238E27FC236}">
                <a16:creationId xmlns:a16="http://schemas.microsoft.com/office/drawing/2014/main" id="{3058B206-A640-8A19-09EA-10BA79526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5004" y="4740018"/>
            <a:ext cx="10576525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47650" algn="l" rtl="0">
              <a:spcBef>
                <a:spcPts val="48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Times New Roman"/>
              <a:buChar char="»"/>
            </a:pPr>
            <a:r>
              <a:rPr lang="en-US" sz="1800" dirty="0"/>
              <a:t>This policy simply states that we want to make the best decision to optimize over the horizon, assuming that we also use optimal policies in the future.</a:t>
            </a:r>
          </a:p>
          <a:p>
            <a:pPr marL="742950" lvl="1" indent="-247650" algn="l" rtl="0">
              <a:spcBef>
                <a:spcPts val="48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Times New Roman"/>
              <a:buChar char="»"/>
            </a:pPr>
            <a:r>
              <a:rPr lang="en-US" sz="1800" dirty="0"/>
              <a:t>We would be done if we could compute this.</a:t>
            </a:r>
            <a:endParaRPr sz="1800" dirty="0"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</a:pPr>
            <a:endParaRPr sz="1800" dirty="0"/>
          </a:p>
        </p:txBody>
      </p:sp>
      <p:sp>
        <p:nvSpPr>
          <p:cNvPr id="3472" name="Google Shape;3472;p76">
            <a:extLst>
              <a:ext uri="{FF2B5EF4-FFF2-40B4-BE49-F238E27FC236}">
                <a16:creationId xmlns:a16="http://schemas.microsoft.com/office/drawing/2014/main" id="{DD2FBC8D-7B73-279A-DF04-84DA00154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3473" name="Google Shape;3473;p76">
            <a:extLst>
              <a:ext uri="{FF2B5EF4-FFF2-40B4-BE49-F238E27FC236}">
                <a16:creationId xmlns:a16="http://schemas.microsoft.com/office/drawing/2014/main" id="{99407EE7-6158-3761-EFFF-AFCAE38F1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312089"/>
            <a:ext cx="10363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A formal statement of a “lookahead policy”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grpSp>
        <p:nvGrpSpPr>
          <p:cNvPr id="2" name="Google Shape;3464;p76">
            <a:extLst>
              <a:ext uri="{FF2B5EF4-FFF2-40B4-BE49-F238E27FC236}">
                <a16:creationId xmlns:a16="http://schemas.microsoft.com/office/drawing/2014/main" id="{6D85AC43-0D6F-792E-FD46-DC385DDDF294}"/>
              </a:ext>
            </a:extLst>
          </p:cNvPr>
          <p:cNvGrpSpPr/>
          <p:nvPr/>
        </p:nvGrpSpPr>
        <p:grpSpPr>
          <a:xfrm>
            <a:off x="2066079" y="2366752"/>
            <a:ext cx="3166251" cy="1996982"/>
            <a:chOff x="2239766" y="1762777"/>
            <a:chExt cx="3166251" cy="1996982"/>
          </a:xfrm>
        </p:grpSpPr>
        <p:sp>
          <p:nvSpPr>
            <p:cNvPr id="3" name="Google Shape;3465;p76">
              <a:extLst>
                <a:ext uri="{FF2B5EF4-FFF2-40B4-BE49-F238E27FC236}">
                  <a16:creationId xmlns:a16="http://schemas.microsoft.com/office/drawing/2014/main" id="{97C96793-5FFE-66CE-8BF2-CCFF9A21A5E6}"/>
                </a:ext>
              </a:extLst>
            </p:cNvPr>
            <p:cNvSpPr/>
            <p:nvPr/>
          </p:nvSpPr>
          <p:spPr>
            <a:xfrm>
              <a:off x="4089114" y="1762777"/>
              <a:ext cx="1068513" cy="785973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" name="Google Shape;3466;p76">
              <a:extLst>
                <a:ext uri="{FF2B5EF4-FFF2-40B4-BE49-F238E27FC236}">
                  <a16:creationId xmlns:a16="http://schemas.microsoft.com/office/drawing/2014/main" id="{B10E0FA4-25E7-FB37-80F4-91437C2A866E}"/>
                </a:ext>
              </a:extLst>
            </p:cNvPr>
            <p:cNvSpPr txBox="1"/>
            <p:nvPr/>
          </p:nvSpPr>
          <p:spPr>
            <a:xfrm>
              <a:off x="2239766" y="3359649"/>
              <a:ext cx="3166251" cy="40011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Contribution we receive now</a:t>
              </a:r>
              <a:endParaRPr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5" name="Google Shape;3467;p76">
              <a:extLst>
                <a:ext uri="{FF2B5EF4-FFF2-40B4-BE49-F238E27FC236}">
                  <a16:creationId xmlns:a16="http://schemas.microsoft.com/office/drawing/2014/main" id="{939BFBC7-B6F9-8342-F809-06EDC4A16974}"/>
                </a:ext>
              </a:extLst>
            </p:cNvPr>
            <p:cNvCxnSpPr>
              <a:stCxn id="4" idx="0"/>
              <a:endCxn id="3" idx="4"/>
            </p:cNvCxnSpPr>
            <p:nvPr/>
          </p:nvCxnSpPr>
          <p:spPr>
            <a:xfrm rot="10800000" flipH="1">
              <a:off x="3822891" y="2548749"/>
              <a:ext cx="800400" cy="810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6" name="Google Shape;3468;p76">
            <a:extLst>
              <a:ext uri="{FF2B5EF4-FFF2-40B4-BE49-F238E27FC236}">
                <a16:creationId xmlns:a16="http://schemas.microsoft.com/office/drawing/2014/main" id="{3BA6D11C-06A7-7A2C-CFB6-B20783313FEF}"/>
              </a:ext>
            </a:extLst>
          </p:cNvPr>
          <p:cNvGrpSpPr/>
          <p:nvPr/>
        </p:nvGrpSpPr>
        <p:grpSpPr>
          <a:xfrm>
            <a:off x="5095242" y="2359905"/>
            <a:ext cx="5290370" cy="2003829"/>
            <a:chOff x="4089114" y="1762777"/>
            <a:chExt cx="5290370" cy="2003829"/>
          </a:xfrm>
        </p:grpSpPr>
        <p:sp>
          <p:nvSpPr>
            <p:cNvPr id="7" name="Google Shape;3469;p76">
              <a:extLst>
                <a:ext uri="{FF2B5EF4-FFF2-40B4-BE49-F238E27FC236}">
                  <a16:creationId xmlns:a16="http://schemas.microsoft.com/office/drawing/2014/main" id="{C2BF30F7-B88E-D702-69A0-B8922FC5A69C}"/>
                </a:ext>
              </a:extLst>
            </p:cNvPr>
            <p:cNvSpPr/>
            <p:nvPr/>
          </p:nvSpPr>
          <p:spPr>
            <a:xfrm>
              <a:off x="4089114" y="1762777"/>
              <a:ext cx="5290370" cy="785973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" name="Google Shape;3470;p76">
              <a:extLst>
                <a:ext uri="{FF2B5EF4-FFF2-40B4-BE49-F238E27FC236}">
                  <a16:creationId xmlns:a16="http://schemas.microsoft.com/office/drawing/2014/main" id="{81D4403B-81DD-A7BF-2ED6-0E532976F88F}"/>
                </a:ext>
              </a:extLst>
            </p:cNvPr>
            <p:cNvSpPr txBox="1"/>
            <p:nvPr/>
          </p:nvSpPr>
          <p:spPr>
            <a:xfrm>
              <a:off x="5775789" y="3366496"/>
              <a:ext cx="2266967" cy="40011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Future contributions</a:t>
              </a:r>
              <a:endParaRPr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9" name="Google Shape;3471;p76">
              <a:extLst>
                <a:ext uri="{FF2B5EF4-FFF2-40B4-BE49-F238E27FC236}">
                  <a16:creationId xmlns:a16="http://schemas.microsoft.com/office/drawing/2014/main" id="{78E72851-382C-C901-6BBB-B47522F042DE}"/>
                </a:ext>
              </a:extLst>
            </p:cNvPr>
            <p:cNvCxnSpPr>
              <a:stCxn id="8" idx="0"/>
              <a:endCxn id="7" idx="4"/>
            </p:cNvCxnSpPr>
            <p:nvPr/>
          </p:nvCxnSpPr>
          <p:spPr>
            <a:xfrm rot="10800000">
              <a:off x="6734373" y="2548696"/>
              <a:ext cx="174900" cy="8178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1FC69D-1B42-433B-A6E5-8B8157068FFE}"/>
                  </a:ext>
                </a:extLst>
              </p:cNvPr>
              <p:cNvSpPr txBox="1"/>
              <p:nvPr/>
            </p:nvSpPr>
            <p:spPr>
              <a:xfrm>
                <a:off x="1506150" y="2193805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1FC69D-1B42-433B-A6E5-8B8157068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150" y="2193805"/>
                <a:ext cx="9130821" cy="1083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64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2">
          <a:extLst>
            <a:ext uri="{FF2B5EF4-FFF2-40B4-BE49-F238E27FC236}">
              <a16:creationId xmlns:a16="http://schemas.microsoft.com/office/drawing/2014/main" id="{ED8A33D8-B766-94F3-9160-4BC44BF2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" name="Google Shape;3991;p81">
            <a:extLst>
              <a:ext uri="{FF2B5EF4-FFF2-40B4-BE49-F238E27FC236}">
                <a16:creationId xmlns:a16="http://schemas.microsoft.com/office/drawing/2014/main" id="{5F5DEAB1-C1E8-67E0-6EB2-15CE8FDDB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237225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62699"/>
                </a:solidFill>
                <a:latin typeface="Raleway" pitchFamily="2" charset="0"/>
              </a:rPr>
              <a:t> </a:t>
            </a:r>
            <a:endParaRPr lang="en-US"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342900" lvl="0" indent="-22098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</a:pPr>
            <a:endParaRPr sz="2400" dirty="0">
              <a:latin typeface="Raleway" pitchFamily="2" charset="0"/>
            </a:endParaRPr>
          </a:p>
        </p:txBody>
      </p:sp>
      <p:pic>
        <p:nvPicPr>
          <p:cNvPr id="3983" name="Google Shape;3983;p81">
            <a:extLst>
              <a:ext uri="{FF2B5EF4-FFF2-40B4-BE49-F238E27FC236}">
                <a16:creationId xmlns:a16="http://schemas.microsoft.com/office/drawing/2014/main" id="{5B89C99F-2AE4-9E94-8451-E9FB2C790A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3578" y="4117280"/>
            <a:ext cx="5851526" cy="2151062"/>
          </a:xfrm>
          <a:prstGeom prst="rect">
            <a:avLst/>
          </a:prstGeom>
          <a:noFill/>
          <a:ln>
            <a:noFill/>
          </a:ln>
        </p:spPr>
      </p:pic>
      <p:sp>
        <p:nvSpPr>
          <p:cNvPr id="3985" name="Google Shape;3985;p81">
            <a:extLst>
              <a:ext uri="{FF2B5EF4-FFF2-40B4-BE49-F238E27FC236}">
                <a16:creationId xmlns:a16="http://schemas.microsoft.com/office/drawing/2014/main" id="{0CB3F80C-E56C-41B0-69E4-7880D83AA648}"/>
              </a:ext>
            </a:extLst>
          </p:cNvPr>
          <p:cNvSpPr/>
          <p:nvPr/>
        </p:nvSpPr>
        <p:spPr>
          <a:xfrm>
            <a:off x="5139475" y="2175871"/>
            <a:ext cx="5321400" cy="11529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86" name="Google Shape;3986;p81">
            <a:extLst>
              <a:ext uri="{FF2B5EF4-FFF2-40B4-BE49-F238E27FC236}">
                <a16:creationId xmlns:a16="http://schemas.microsoft.com/office/drawing/2014/main" id="{D4AAF2EF-AD9F-0B98-8118-76BD354951CA}"/>
              </a:ext>
            </a:extLst>
          </p:cNvPr>
          <p:cNvCxnSpPr>
            <a:stCxn id="3985" idx="4"/>
            <a:endCxn id="3987" idx="0"/>
          </p:cNvCxnSpPr>
          <p:nvPr/>
        </p:nvCxnSpPr>
        <p:spPr>
          <a:xfrm flipH="1">
            <a:off x="7276203" y="3328771"/>
            <a:ext cx="523972" cy="1874037"/>
          </a:xfrm>
          <a:prstGeom prst="straightConnector1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987" name="Google Shape;3987;p81">
            <a:extLst>
              <a:ext uri="{FF2B5EF4-FFF2-40B4-BE49-F238E27FC236}">
                <a16:creationId xmlns:a16="http://schemas.microsoft.com/office/drawing/2014/main" id="{D5B50977-A6AB-3281-9498-044A873CC112}"/>
              </a:ext>
            </a:extLst>
          </p:cNvPr>
          <p:cNvSpPr/>
          <p:nvPr/>
        </p:nvSpPr>
        <p:spPr>
          <a:xfrm>
            <a:off x="6694803" y="5202808"/>
            <a:ext cx="1162800" cy="5937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8" name="Google Shape;3988;p81">
            <a:extLst>
              <a:ext uri="{FF2B5EF4-FFF2-40B4-BE49-F238E27FC236}">
                <a16:creationId xmlns:a16="http://schemas.microsoft.com/office/drawing/2014/main" id="{4345F71B-E1B0-D758-B5B8-BD74784FC6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VFA policies</a:t>
            </a:r>
            <a:endParaRPr dirty="0"/>
          </a:p>
        </p:txBody>
      </p:sp>
      <p:pic>
        <p:nvPicPr>
          <p:cNvPr id="3989" name="Google Shape;3989;p81" descr="http://ecx.images-amazon.com/images/I/41AIbgU%2BR5L.jpg">
            <a:extLst>
              <a:ext uri="{FF2B5EF4-FFF2-40B4-BE49-F238E27FC236}">
                <a16:creationId xmlns:a16="http://schemas.microsoft.com/office/drawing/2014/main" id="{93DF6BAD-3008-E518-87DC-2C60DA9ED91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6675" y="4548850"/>
            <a:ext cx="1323325" cy="1767675"/>
          </a:xfrm>
          <a:prstGeom prst="rect">
            <a:avLst/>
          </a:prstGeom>
          <a:noFill/>
          <a:ln>
            <a:noFill/>
          </a:ln>
          <a:effectLst>
            <a:outerShdw blurRad="214313" dist="85725" dir="654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070096-1918-2BCA-CA29-10D6ADDDEFF5}"/>
                  </a:ext>
                </a:extLst>
              </p:cNvPr>
              <p:cNvSpPr txBox="1"/>
              <p:nvPr/>
            </p:nvSpPr>
            <p:spPr>
              <a:xfrm>
                <a:off x="1510159" y="2191909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FDE3B-50AF-426B-88D5-285B08EDE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59" y="2191909"/>
                <a:ext cx="9130821" cy="1083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3473;p76">
            <a:extLst>
              <a:ext uri="{FF2B5EF4-FFF2-40B4-BE49-F238E27FC236}">
                <a16:creationId xmlns:a16="http://schemas.microsoft.com/office/drawing/2014/main" id="{2C9CCD66-347C-3DA1-D712-27CB236D3274}"/>
              </a:ext>
            </a:extLst>
          </p:cNvPr>
          <p:cNvSpPr txBox="1">
            <a:spLocks/>
          </p:cNvSpPr>
          <p:nvPr/>
        </p:nvSpPr>
        <p:spPr>
          <a:xfrm>
            <a:off x="914400" y="1312089"/>
            <a:ext cx="10363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spcBef>
                <a:spcPts val="0"/>
              </a:spcBef>
              <a:buFont typeface="Raleway"/>
              <a:buNone/>
            </a:pPr>
            <a:r>
              <a:rPr lang="en-US" sz="2600">
                <a:latin typeface="Raleway" pitchFamily="2" charset="0"/>
                <a:ea typeface="Raleway Thin"/>
                <a:cs typeface="Raleway Thin"/>
                <a:sym typeface="Raleway Thin"/>
              </a:rPr>
              <a:t>A formal statement of a “lookahead policy”</a:t>
            </a:r>
            <a:endParaRPr lang="en-US"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286245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AAD1-DB47-FFCD-BF27-249EF66B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01C5FFB-B75B-C0D8-A701-A5B3E051C9F7}"/>
              </a:ext>
            </a:extLst>
          </p:cNvPr>
          <p:cNvGrpSpPr/>
          <p:nvPr/>
        </p:nvGrpSpPr>
        <p:grpSpPr>
          <a:xfrm>
            <a:off x="0" y="-7392"/>
            <a:ext cx="12221333" cy="6894080"/>
            <a:chOff x="0" y="-7392"/>
            <a:chExt cx="12221333" cy="689408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881D8D2-79A8-D0C5-2426-A9DC42DD0FA8}"/>
                </a:ext>
              </a:extLst>
            </p:cNvPr>
            <p:cNvSpPr/>
            <p:nvPr/>
          </p:nvSpPr>
          <p:spPr>
            <a:xfrm>
              <a:off x="0" y="0"/>
              <a:ext cx="12221333" cy="6880485"/>
            </a:xfrm>
            <a:prstGeom prst="rect">
              <a:avLst/>
            </a:prstGeom>
            <a:solidFill>
              <a:srgbClr val="9EC7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2357F9-FE70-2835-90A7-65BDB68A7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506" y="-7392"/>
              <a:ext cx="11150359" cy="6894080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1C07EF0-CED0-1CE3-DBC9-DB6237466AD4}"/>
              </a:ext>
            </a:extLst>
          </p:cNvPr>
          <p:cNvSpPr/>
          <p:nvPr/>
        </p:nvSpPr>
        <p:spPr>
          <a:xfrm>
            <a:off x="3247394" y="5236062"/>
            <a:ext cx="226828" cy="226828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90BB87-505D-6ECA-AA5D-687CC56CE178}"/>
              </a:ext>
            </a:extLst>
          </p:cNvPr>
          <p:cNvCxnSpPr>
            <a:cxnSpLocks/>
            <a:stCxn id="9" idx="3"/>
            <a:endCxn id="77" idx="3"/>
          </p:cNvCxnSpPr>
          <p:nvPr/>
        </p:nvCxnSpPr>
        <p:spPr>
          <a:xfrm flipV="1">
            <a:off x="3474222" y="4358452"/>
            <a:ext cx="4644899" cy="9910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4371B5-A214-D6AC-CB5B-630413E69237}"/>
              </a:ext>
            </a:extLst>
          </p:cNvPr>
          <p:cNvCxnSpPr>
            <a:cxnSpLocks/>
            <a:stCxn id="9" idx="0"/>
            <a:endCxn id="74" idx="3"/>
          </p:cNvCxnSpPr>
          <p:nvPr/>
        </p:nvCxnSpPr>
        <p:spPr>
          <a:xfrm flipH="1" flipV="1">
            <a:off x="1835887" y="3167702"/>
            <a:ext cx="1524921" cy="20683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42FA48-264B-D8F4-CF63-942D56B7A8F1}"/>
              </a:ext>
            </a:extLst>
          </p:cNvPr>
          <p:cNvCxnSpPr>
            <a:cxnSpLocks/>
            <a:stCxn id="9" idx="1"/>
            <a:endCxn id="47" idx="2"/>
          </p:cNvCxnSpPr>
          <p:nvPr/>
        </p:nvCxnSpPr>
        <p:spPr>
          <a:xfrm flipH="1" flipV="1">
            <a:off x="1765578" y="3923171"/>
            <a:ext cx="1481816" cy="14263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2F70F6-5978-8F84-0C06-E143A86E0705}"/>
              </a:ext>
            </a:extLst>
          </p:cNvPr>
          <p:cNvCxnSpPr>
            <a:cxnSpLocks/>
            <a:stCxn id="9" idx="3"/>
            <a:endCxn id="75" idx="1"/>
          </p:cNvCxnSpPr>
          <p:nvPr/>
        </p:nvCxnSpPr>
        <p:spPr>
          <a:xfrm>
            <a:off x="3474222" y="5349476"/>
            <a:ext cx="1773405" cy="8797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0DD6BB6-FEC0-4783-B070-676D03FD2336}"/>
              </a:ext>
            </a:extLst>
          </p:cNvPr>
          <p:cNvGrpSpPr/>
          <p:nvPr/>
        </p:nvGrpSpPr>
        <p:grpSpPr>
          <a:xfrm>
            <a:off x="5914033" y="1266989"/>
            <a:ext cx="700392" cy="622040"/>
            <a:chOff x="5047748" y="1501150"/>
            <a:chExt cx="1071858" cy="951950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A738B8F-0E75-FD5B-E6F4-CFF7EC0199CB}"/>
                </a:ext>
              </a:extLst>
            </p:cNvPr>
            <p:cNvCxnSpPr>
              <a:cxnSpLocks/>
              <a:stCxn id="4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E4357A2-A20B-7FE3-EE46-3CE29E700667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48F6830-6382-872C-189A-F50890BC55F2}"/>
                </a:ext>
              </a:extLst>
            </p:cNvPr>
            <p:cNvCxnSpPr>
              <a:cxnSpLocks/>
              <a:stCxn id="4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F2C1CE7-5E4F-E697-C1A2-25D342C849ED}"/>
                </a:ext>
              </a:extLst>
            </p:cNvPr>
            <p:cNvCxnSpPr>
              <a:cxnSpLocks/>
              <a:stCxn id="4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A657CC0-CAF0-CB24-B2D4-D2FE00FBE6BB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6A1C771-CE5B-E00B-340C-815679A9D940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FBE3E67-F22A-EADF-03BE-7467439FF4FF}"/>
                </a:ext>
              </a:extLst>
            </p:cNvPr>
            <p:cNvCxnSpPr>
              <a:cxnSpLocks/>
              <a:stCxn id="4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E2F2E76-CA8F-C38F-08BE-CB801ACE2AA8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36D3A350-0F0C-0B44-6E20-CEA8E74F79D3}"/>
              </a:ext>
            </a:extLst>
          </p:cNvPr>
          <p:cNvSpPr/>
          <p:nvPr/>
        </p:nvSpPr>
        <p:spPr>
          <a:xfrm>
            <a:off x="1692746" y="3777508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9EE44D-EDDD-DF65-5EEB-57724C3AEA0A}"/>
              </a:ext>
            </a:extLst>
          </p:cNvPr>
          <p:cNvSpPr/>
          <p:nvPr/>
        </p:nvSpPr>
        <p:spPr>
          <a:xfrm>
            <a:off x="1690224" y="309487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3CB9AFB-2BC4-D01D-A69C-DFD2021931A9}"/>
              </a:ext>
            </a:extLst>
          </p:cNvPr>
          <p:cNvSpPr/>
          <p:nvPr/>
        </p:nvSpPr>
        <p:spPr>
          <a:xfrm>
            <a:off x="5247627" y="536462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51AEE44-DABB-0D21-37C0-0B09E9545AE1}"/>
              </a:ext>
            </a:extLst>
          </p:cNvPr>
          <p:cNvSpPr/>
          <p:nvPr/>
        </p:nvSpPr>
        <p:spPr>
          <a:xfrm>
            <a:off x="6221932" y="2670968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1C756FE-E2DD-0BF8-5783-25C9BF945838}"/>
              </a:ext>
            </a:extLst>
          </p:cNvPr>
          <p:cNvSpPr/>
          <p:nvPr/>
        </p:nvSpPr>
        <p:spPr>
          <a:xfrm>
            <a:off x="7973458" y="428562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6C610D7-AA15-DCFD-7540-3231F968FB01}"/>
              </a:ext>
            </a:extLst>
          </p:cNvPr>
          <p:cNvSpPr/>
          <p:nvPr/>
        </p:nvSpPr>
        <p:spPr>
          <a:xfrm>
            <a:off x="7607051" y="2790805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C77E8D3-D92C-CB34-D25B-9B33800BBD1D}"/>
              </a:ext>
            </a:extLst>
          </p:cNvPr>
          <p:cNvSpPr/>
          <p:nvPr/>
        </p:nvSpPr>
        <p:spPr>
          <a:xfrm>
            <a:off x="9384121" y="2644155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D553B2C-4739-6881-7C25-AC1EF8B21019}"/>
              </a:ext>
            </a:extLst>
          </p:cNvPr>
          <p:cNvCxnSpPr>
            <a:cxnSpLocks/>
            <a:stCxn id="9" idx="0"/>
            <a:endCxn id="76" idx="2"/>
          </p:cNvCxnSpPr>
          <p:nvPr/>
        </p:nvCxnSpPr>
        <p:spPr>
          <a:xfrm flipV="1">
            <a:off x="3360808" y="2816631"/>
            <a:ext cx="2933956" cy="24194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04887937-E7C6-6B9A-B467-681126784388}"/>
              </a:ext>
            </a:extLst>
          </p:cNvPr>
          <p:cNvSpPr/>
          <p:nvPr/>
        </p:nvSpPr>
        <p:spPr>
          <a:xfrm>
            <a:off x="3657832" y="3460304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2C11B61-DC95-BA06-F5F0-D600EBC7936A}"/>
              </a:ext>
            </a:extLst>
          </p:cNvPr>
          <p:cNvCxnSpPr>
            <a:cxnSpLocks/>
            <a:stCxn id="9" idx="0"/>
            <a:endCxn id="88" idx="2"/>
          </p:cNvCxnSpPr>
          <p:nvPr/>
        </p:nvCxnSpPr>
        <p:spPr>
          <a:xfrm flipV="1">
            <a:off x="3360808" y="3605967"/>
            <a:ext cx="369856" cy="163009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2839A4E-88AC-211E-3ECB-F198E4D3E093}"/>
              </a:ext>
            </a:extLst>
          </p:cNvPr>
          <p:cNvCxnSpPr>
            <a:cxnSpLocks/>
            <a:stCxn id="9" idx="3"/>
            <a:endCxn id="78" idx="1"/>
          </p:cNvCxnSpPr>
          <p:nvPr/>
        </p:nvCxnSpPr>
        <p:spPr>
          <a:xfrm flipV="1">
            <a:off x="3474222" y="2863637"/>
            <a:ext cx="4132829" cy="248583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555F963-A745-9C86-C27C-20FF9C563E6C}"/>
              </a:ext>
            </a:extLst>
          </p:cNvPr>
          <p:cNvCxnSpPr>
            <a:cxnSpLocks/>
            <a:stCxn id="9" idx="3"/>
            <a:endCxn id="80" idx="1"/>
          </p:cNvCxnSpPr>
          <p:nvPr/>
        </p:nvCxnSpPr>
        <p:spPr>
          <a:xfrm flipV="1">
            <a:off x="3474222" y="2716987"/>
            <a:ext cx="5909899" cy="263248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B98AF09-051C-8C78-D29B-3A8853984463}"/>
              </a:ext>
            </a:extLst>
          </p:cNvPr>
          <p:cNvGrpSpPr/>
          <p:nvPr/>
        </p:nvGrpSpPr>
        <p:grpSpPr>
          <a:xfrm>
            <a:off x="6636241" y="2052596"/>
            <a:ext cx="700392" cy="622040"/>
            <a:chOff x="5047748" y="1501150"/>
            <a:chExt cx="1071858" cy="951950"/>
          </a:xfrm>
        </p:grpSpPr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BCEB1A6-F1AD-803D-6A8B-54EEF7284ADE}"/>
                </a:ext>
              </a:extLst>
            </p:cNvPr>
            <p:cNvCxnSpPr>
              <a:cxnSpLocks/>
              <a:stCxn id="10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133DAC05-046B-A949-3697-D4710B17BEE8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ACC431B-1B6A-47F4-2577-A1ABCC987114}"/>
                </a:ext>
              </a:extLst>
            </p:cNvPr>
            <p:cNvCxnSpPr>
              <a:cxnSpLocks/>
              <a:stCxn id="10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19A6471-D748-E9ED-E105-EC17CCF3FBA6}"/>
                </a:ext>
              </a:extLst>
            </p:cNvPr>
            <p:cNvCxnSpPr>
              <a:cxnSpLocks/>
              <a:stCxn id="10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20B98871-960E-977E-80EF-DD7C0B47C8F6}"/>
                </a:ext>
              </a:extLst>
            </p:cNvPr>
            <p:cNvCxnSpPr>
              <a:cxnSpLocks/>
              <a:stCxn id="10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1F84D7F-186B-F742-6019-6AC6B2B244E2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9EEDA0-3FDE-F430-DE4C-20EBA96D4876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48A05E6A-15FB-14BE-735B-2177F250D358}"/>
                </a:ext>
              </a:extLst>
            </p:cNvPr>
            <p:cNvCxnSpPr>
              <a:cxnSpLocks/>
              <a:stCxn id="10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DB9A09B-D9B0-C43D-BAA2-0E4C863A8D66}"/>
              </a:ext>
            </a:extLst>
          </p:cNvPr>
          <p:cNvGrpSpPr/>
          <p:nvPr/>
        </p:nvGrpSpPr>
        <p:grpSpPr>
          <a:xfrm>
            <a:off x="7883862" y="4685855"/>
            <a:ext cx="1170372" cy="1184365"/>
            <a:chOff x="4436305" y="1496693"/>
            <a:chExt cx="1791100" cy="1812513"/>
          </a:xfrm>
        </p:grpSpPr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3F96E3D8-CCBC-58F0-D338-E25C2FEFE10F}"/>
                </a:ext>
              </a:extLst>
            </p:cNvPr>
            <p:cNvCxnSpPr>
              <a:cxnSpLocks/>
              <a:stCxn id="109" idx="7"/>
            </p:cNvCxnSpPr>
            <p:nvPr/>
          </p:nvCxnSpPr>
          <p:spPr>
            <a:xfrm flipV="1">
              <a:off x="5571659" y="1496693"/>
              <a:ext cx="144549" cy="45141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2B78F6B-7B44-4A20-E0B4-7D4E1A58F16E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97A988E-2CBA-9B51-DAAA-0DE93F55271B}"/>
                </a:ext>
              </a:extLst>
            </p:cNvPr>
            <p:cNvCxnSpPr>
              <a:cxnSpLocks/>
              <a:stCxn id="109" idx="6"/>
            </p:cNvCxnSpPr>
            <p:nvPr/>
          </p:nvCxnSpPr>
          <p:spPr>
            <a:xfrm flipV="1">
              <a:off x="5583677" y="1956607"/>
              <a:ext cx="154586" cy="2051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56D5834-7A7A-335A-0F5A-458441B8A89F}"/>
                </a:ext>
              </a:extLst>
            </p:cNvPr>
            <p:cNvCxnSpPr>
              <a:cxnSpLocks/>
              <a:stCxn id="109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9C3002D-3CC1-98AD-AAC5-D023B8C09810}"/>
                </a:ext>
              </a:extLst>
            </p:cNvPr>
            <p:cNvCxnSpPr>
              <a:cxnSpLocks/>
              <a:stCxn id="109" idx="4"/>
            </p:cNvCxnSpPr>
            <p:nvPr/>
          </p:nvCxnSpPr>
          <p:spPr>
            <a:xfrm>
              <a:off x="5542643" y="2018159"/>
              <a:ext cx="684762" cy="129104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023F258-54E4-787F-C0C1-815E98A2C675}"/>
                </a:ext>
              </a:extLst>
            </p:cNvPr>
            <p:cNvCxnSpPr>
              <a:cxnSpLocks/>
              <a:stCxn id="109" idx="3"/>
            </p:cNvCxnSpPr>
            <p:nvPr/>
          </p:nvCxnSpPr>
          <p:spPr>
            <a:xfrm>
              <a:off x="5513627" y="2006141"/>
              <a:ext cx="70050" cy="6331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6B0F6F4-F4C6-4E32-0988-5A189E590630}"/>
                </a:ext>
              </a:extLst>
            </p:cNvPr>
            <p:cNvCxnSpPr>
              <a:cxnSpLocks/>
              <a:stCxn id="109" idx="0"/>
            </p:cNvCxnSpPr>
            <p:nvPr/>
          </p:nvCxnSpPr>
          <p:spPr>
            <a:xfrm flipH="1" flipV="1">
              <a:off x="5115464" y="1695615"/>
              <a:ext cx="427179" cy="24047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E1E27025-7D28-5B04-A852-CD5634F0E791}"/>
                </a:ext>
              </a:extLst>
            </p:cNvPr>
            <p:cNvCxnSpPr>
              <a:cxnSpLocks/>
              <a:stCxn id="109" idx="1"/>
            </p:cNvCxnSpPr>
            <p:nvPr/>
          </p:nvCxnSpPr>
          <p:spPr>
            <a:xfrm flipH="1">
              <a:off x="4436305" y="1948109"/>
              <a:ext cx="107732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55B58E5-33D3-C6C1-5744-95EDEA25EE8E}"/>
              </a:ext>
            </a:extLst>
          </p:cNvPr>
          <p:cNvGrpSpPr/>
          <p:nvPr/>
        </p:nvGrpSpPr>
        <p:grpSpPr>
          <a:xfrm>
            <a:off x="1342550" y="411043"/>
            <a:ext cx="700392" cy="622040"/>
            <a:chOff x="5047748" y="1501150"/>
            <a:chExt cx="1071858" cy="951950"/>
          </a:xfrm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1D76075C-32BB-057C-5541-1A7D3B3919AA}"/>
                </a:ext>
              </a:extLst>
            </p:cNvPr>
            <p:cNvCxnSpPr>
              <a:cxnSpLocks/>
              <a:stCxn id="124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1708BF6-59B4-D51C-B57F-78DDFA147945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EF82D27D-A2FA-D45F-2440-57250538224D}"/>
                </a:ext>
              </a:extLst>
            </p:cNvPr>
            <p:cNvCxnSpPr>
              <a:cxnSpLocks/>
              <a:stCxn id="124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95CB8A2-0DD5-30DC-03EF-60613DB43B0D}"/>
                </a:ext>
              </a:extLst>
            </p:cNvPr>
            <p:cNvCxnSpPr>
              <a:cxnSpLocks/>
              <a:stCxn id="124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D82370C4-EFF2-FE0E-AAFB-A462837CDC19}"/>
                </a:ext>
              </a:extLst>
            </p:cNvPr>
            <p:cNvCxnSpPr>
              <a:cxnSpLocks/>
              <a:stCxn id="124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583005EA-49C5-9785-7695-B2F3C652C471}"/>
                </a:ext>
              </a:extLst>
            </p:cNvPr>
            <p:cNvCxnSpPr>
              <a:cxnSpLocks/>
              <a:stCxn id="124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6AAF681A-1E89-1622-C872-A3013BF4AF57}"/>
                </a:ext>
              </a:extLst>
            </p:cNvPr>
            <p:cNvCxnSpPr>
              <a:cxnSpLocks/>
              <a:stCxn id="124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779ED939-8934-C367-A398-0571E870FD9A}"/>
                </a:ext>
              </a:extLst>
            </p:cNvPr>
            <p:cNvCxnSpPr>
              <a:cxnSpLocks/>
              <a:stCxn id="124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5F0E60B-2737-5E61-C986-AE4D1C59C03A}"/>
              </a:ext>
            </a:extLst>
          </p:cNvPr>
          <p:cNvGrpSpPr/>
          <p:nvPr/>
        </p:nvGrpSpPr>
        <p:grpSpPr>
          <a:xfrm>
            <a:off x="808703" y="1372018"/>
            <a:ext cx="583478" cy="622040"/>
            <a:chOff x="5226669" y="1501150"/>
            <a:chExt cx="892937" cy="951950"/>
          </a:xfrm>
        </p:grpSpPr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09821AFB-5381-8E35-4168-F6DE3F3FF20C}"/>
                </a:ext>
              </a:extLst>
            </p:cNvPr>
            <p:cNvCxnSpPr>
              <a:cxnSpLocks/>
              <a:stCxn id="133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E653329-DFB2-05D0-15E2-15E00A582538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EC741FCA-DF17-9C38-3463-FF65AD1A8152}"/>
                </a:ext>
              </a:extLst>
            </p:cNvPr>
            <p:cNvCxnSpPr>
              <a:cxnSpLocks/>
              <a:stCxn id="133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3B012B3E-2B32-C495-65FE-B5EBF9028280}"/>
                </a:ext>
              </a:extLst>
            </p:cNvPr>
            <p:cNvCxnSpPr>
              <a:cxnSpLocks/>
              <a:stCxn id="133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8A175350-3BB3-7445-7B77-ACF42E837956}"/>
                </a:ext>
              </a:extLst>
            </p:cNvPr>
            <p:cNvCxnSpPr>
              <a:cxnSpLocks/>
              <a:stCxn id="133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37DC82CD-D6D2-74A7-D2C4-0FBA5604624E}"/>
                </a:ext>
              </a:extLst>
            </p:cNvPr>
            <p:cNvCxnSpPr>
              <a:cxnSpLocks/>
              <a:stCxn id="133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03911FF9-3036-195B-FF1F-499BE71B0D50}"/>
                </a:ext>
              </a:extLst>
            </p:cNvPr>
            <p:cNvCxnSpPr>
              <a:cxnSpLocks/>
              <a:stCxn id="133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6111839B-7CCA-9601-D019-AA515A57DABD}"/>
                </a:ext>
              </a:extLst>
            </p:cNvPr>
            <p:cNvCxnSpPr>
              <a:cxnSpLocks/>
              <a:stCxn id="133" idx="1"/>
            </p:cNvCxnSpPr>
            <p:nvPr/>
          </p:nvCxnSpPr>
          <p:spPr>
            <a:xfrm flipH="1" flipV="1">
              <a:off x="5344728" y="1787318"/>
              <a:ext cx="168899" cy="1607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436251C-E793-84F8-9B6E-0F06DD1AFEDD}"/>
              </a:ext>
            </a:extLst>
          </p:cNvPr>
          <p:cNvGrpSpPr/>
          <p:nvPr/>
        </p:nvGrpSpPr>
        <p:grpSpPr>
          <a:xfrm>
            <a:off x="1392181" y="4140045"/>
            <a:ext cx="506334" cy="359833"/>
            <a:chOff x="5344728" y="1666672"/>
            <a:chExt cx="774878" cy="550677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F39BA39-6A89-B88C-559C-50C4BCB318D8}"/>
                </a:ext>
              </a:extLst>
            </p:cNvPr>
            <p:cNvCxnSpPr>
              <a:cxnSpLocks/>
              <a:stCxn id="144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D5C8F19-3A1D-F753-4FB6-9C6FEDAB227D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CA5FFDDA-FFA5-D478-F281-F18481FDBAD4}"/>
                </a:ext>
              </a:extLst>
            </p:cNvPr>
            <p:cNvCxnSpPr>
              <a:cxnSpLocks/>
              <a:stCxn id="144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D5002016-E408-7CB7-C5F7-084883910CCC}"/>
                </a:ext>
              </a:extLst>
            </p:cNvPr>
            <p:cNvCxnSpPr>
              <a:cxnSpLocks/>
              <a:stCxn id="144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051F09D-ABD5-B9EB-CD3C-61B25C220F3F}"/>
                </a:ext>
              </a:extLst>
            </p:cNvPr>
            <p:cNvCxnSpPr>
              <a:cxnSpLocks/>
              <a:stCxn id="144" idx="4"/>
            </p:cNvCxnSpPr>
            <p:nvPr/>
          </p:nvCxnSpPr>
          <p:spPr>
            <a:xfrm>
              <a:off x="5542643" y="2018159"/>
              <a:ext cx="29014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5A44485F-B93F-6975-82C2-90FD0B0CB716}"/>
                </a:ext>
              </a:extLst>
            </p:cNvPr>
            <p:cNvCxnSpPr>
              <a:cxnSpLocks/>
              <a:stCxn id="144" idx="1"/>
            </p:cNvCxnSpPr>
            <p:nvPr/>
          </p:nvCxnSpPr>
          <p:spPr>
            <a:xfrm flipH="1" flipV="1">
              <a:off x="5344728" y="1787318"/>
              <a:ext cx="168899" cy="1607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1018540-20F0-68ED-E524-B51B08DF6873}"/>
              </a:ext>
            </a:extLst>
          </p:cNvPr>
          <p:cNvGrpSpPr/>
          <p:nvPr/>
        </p:nvGrpSpPr>
        <p:grpSpPr>
          <a:xfrm>
            <a:off x="896772" y="3399845"/>
            <a:ext cx="522036" cy="521735"/>
            <a:chOff x="5320698" y="1501150"/>
            <a:chExt cx="798908" cy="798447"/>
          </a:xfrm>
        </p:grpSpPr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6C955CC-A235-9479-D39E-A70002F1E0C1}"/>
                </a:ext>
              </a:extLst>
            </p:cNvPr>
            <p:cNvCxnSpPr>
              <a:cxnSpLocks/>
              <a:stCxn id="155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C28FEBB8-94FD-A43E-FB76-E46877E556A0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C902849C-21C8-82FC-E9ED-225FF530414A}"/>
                </a:ext>
              </a:extLst>
            </p:cNvPr>
            <p:cNvCxnSpPr>
              <a:cxnSpLocks/>
              <a:stCxn id="155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B5FDF2C0-CFD3-EC21-A54F-8BBED18F6DBB}"/>
                </a:ext>
              </a:extLst>
            </p:cNvPr>
            <p:cNvCxnSpPr>
              <a:cxnSpLocks/>
              <a:stCxn id="155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3A1E98E9-178B-BD1C-6DD7-0AC8627F4DAE}"/>
                </a:ext>
              </a:extLst>
            </p:cNvPr>
            <p:cNvCxnSpPr>
              <a:cxnSpLocks/>
              <a:stCxn id="155" idx="4"/>
            </p:cNvCxnSpPr>
            <p:nvPr/>
          </p:nvCxnSpPr>
          <p:spPr>
            <a:xfrm>
              <a:off x="5542643" y="2018159"/>
              <a:ext cx="259901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6CFA248D-6B0D-AFCD-8B95-B27A64F43329}"/>
                </a:ext>
              </a:extLst>
            </p:cNvPr>
            <p:cNvCxnSpPr>
              <a:cxnSpLocks/>
              <a:stCxn id="155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E785DBB0-F775-09DA-F1DB-23DBCB700B57}"/>
                </a:ext>
              </a:extLst>
            </p:cNvPr>
            <p:cNvCxnSpPr>
              <a:cxnSpLocks/>
              <a:stCxn id="155" idx="1"/>
            </p:cNvCxnSpPr>
            <p:nvPr/>
          </p:nvCxnSpPr>
          <p:spPr>
            <a:xfrm flipH="1" flipV="1">
              <a:off x="5320698" y="1621347"/>
              <a:ext cx="192929" cy="32676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6D7851C-40D5-317F-53AC-53C38E7E0D12}"/>
              </a:ext>
            </a:extLst>
          </p:cNvPr>
          <p:cNvGrpSpPr/>
          <p:nvPr/>
        </p:nvGrpSpPr>
        <p:grpSpPr>
          <a:xfrm>
            <a:off x="749056" y="2492703"/>
            <a:ext cx="485164" cy="795388"/>
            <a:chOff x="5377126" y="1235864"/>
            <a:chExt cx="742480" cy="1217236"/>
          </a:xfrm>
        </p:grpSpPr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EEA206B0-73FB-7701-45F3-483F66911E0A}"/>
                </a:ext>
              </a:extLst>
            </p:cNvPr>
            <p:cNvCxnSpPr>
              <a:cxnSpLocks/>
              <a:stCxn id="166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1B9A26F9-E5B6-596E-172E-ED19FBE73506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A9C64961-9251-AC30-7CD0-AF67EF84AD65}"/>
                </a:ext>
              </a:extLst>
            </p:cNvPr>
            <p:cNvCxnSpPr>
              <a:cxnSpLocks/>
              <a:stCxn id="166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34131548-D551-4673-51D6-A2D32C02FE21}"/>
                </a:ext>
              </a:extLst>
            </p:cNvPr>
            <p:cNvCxnSpPr>
              <a:cxnSpLocks/>
              <a:stCxn id="166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7143BB5E-6F63-EFCA-4E17-E9EA1AA8C3AB}"/>
                </a:ext>
              </a:extLst>
            </p:cNvPr>
            <p:cNvCxnSpPr>
              <a:cxnSpLocks/>
              <a:stCxn id="166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F08B2AE6-63D4-4ADF-A1D3-AB214AA065E8}"/>
                </a:ext>
              </a:extLst>
            </p:cNvPr>
            <p:cNvCxnSpPr>
              <a:cxnSpLocks/>
              <a:stCxn id="166" idx="3"/>
            </p:cNvCxnSpPr>
            <p:nvPr/>
          </p:nvCxnSpPr>
          <p:spPr>
            <a:xfrm flipH="1">
              <a:off x="5384655" y="2006141"/>
              <a:ext cx="128972" cy="21041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0367E613-10AA-4A7E-2F0B-2CAFE569961E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H="1" flipV="1">
              <a:off x="5485242" y="1235864"/>
              <a:ext cx="57401" cy="70022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4EB86484-DDF9-F523-F273-3F9148D93798}"/>
                </a:ext>
              </a:extLst>
            </p:cNvPr>
            <p:cNvCxnSpPr>
              <a:cxnSpLocks/>
              <a:stCxn id="166" idx="1"/>
            </p:cNvCxnSpPr>
            <p:nvPr/>
          </p:nvCxnSpPr>
          <p:spPr>
            <a:xfrm flipH="1" flipV="1">
              <a:off x="5377126" y="1694455"/>
              <a:ext cx="136501" cy="2536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4D8CED7-6AFD-396B-A169-F3C92768985E}"/>
              </a:ext>
            </a:extLst>
          </p:cNvPr>
          <p:cNvCxnSpPr>
            <a:cxnSpLocks/>
            <a:stCxn id="74" idx="0"/>
            <a:endCxn id="124" idx="0"/>
          </p:cNvCxnSpPr>
          <p:nvPr/>
        </p:nvCxnSpPr>
        <p:spPr>
          <a:xfrm flipH="1" flipV="1">
            <a:off x="1665933" y="695250"/>
            <a:ext cx="97123" cy="2399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FB69DB34-B03C-CC6E-06E4-28088F38FCE6}"/>
              </a:ext>
            </a:extLst>
          </p:cNvPr>
          <p:cNvCxnSpPr>
            <a:cxnSpLocks/>
            <a:stCxn id="74" idx="0"/>
            <a:endCxn id="133" idx="6"/>
          </p:cNvCxnSpPr>
          <p:nvPr/>
        </p:nvCxnSpPr>
        <p:spPr>
          <a:xfrm flipH="1" flipV="1">
            <a:off x="1041985" y="1683038"/>
            <a:ext cx="721071" cy="14118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D7F627FC-A25A-3B0B-809E-C28C849AFA1A}"/>
              </a:ext>
            </a:extLst>
          </p:cNvPr>
          <p:cNvCxnSpPr>
            <a:cxnSpLocks/>
            <a:stCxn id="47" idx="1"/>
            <a:endCxn id="155" idx="5"/>
          </p:cNvCxnSpPr>
          <p:nvPr/>
        </p:nvCxnSpPr>
        <p:spPr>
          <a:xfrm flipH="1" flipV="1">
            <a:off x="1060759" y="3729825"/>
            <a:ext cx="631987" cy="1205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5DEC9E67-DCE3-D04E-25FF-1883C53E7B7E}"/>
              </a:ext>
            </a:extLst>
          </p:cNvPr>
          <p:cNvCxnSpPr>
            <a:cxnSpLocks/>
            <a:stCxn id="47" idx="2"/>
            <a:endCxn id="144" idx="2"/>
          </p:cNvCxnSpPr>
          <p:nvPr/>
        </p:nvCxnSpPr>
        <p:spPr>
          <a:xfrm flipH="1">
            <a:off x="1494693" y="3923171"/>
            <a:ext cx="270885" cy="41973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9CD085C-C7FF-AD3F-128B-429E142531D3}"/>
              </a:ext>
            </a:extLst>
          </p:cNvPr>
          <p:cNvGrpSpPr/>
          <p:nvPr/>
        </p:nvGrpSpPr>
        <p:grpSpPr>
          <a:xfrm>
            <a:off x="4013374" y="3251092"/>
            <a:ext cx="700392" cy="622040"/>
            <a:chOff x="5047748" y="1501150"/>
            <a:chExt cx="1071858" cy="951950"/>
          </a:xfrm>
        </p:grpSpPr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7CF783E3-694A-7F89-5911-17F60D9C6D58}"/>
                </a:ext>
              </a:extLst>
            </p:cNvPr>
            <p:cNvCxnSpPr>
              <a:cxnSpLocks/>
              <a:stCxn id="19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E7E8E663-5D35-BEDD-DCEA-4D91958C7828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A8E91B48-8C45-A8D4-C44E-F30D9BAB88FC}"/>
                </a:ext>
              </a:extLst>
            </p:cNvPr>
            <p:cNvCxnSpPr>
              <a:cxnSpLocks/>
              <a:stCxn id="19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00A1C6C5-D67C-F567-9148-716A9F307C12}"/>
                </a:ext>
              </a:extLst>
            </p:cNvPr>
            <p:cNvCxnSpPr>
              <a:cxnSpLocks/>
              <a:stCxn id="19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26A7D7E5-255D-ABC0-E7AC-7FC998B6E7CA}"/>
                </a:ext>
              </a:extLst>
            </p:cNvPr>
            <p:cNvCxnSpPr>
              <a:cxnSpLocks/>
              <a:stCxn id="19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00EBC81F-1DEF-B60F-7A27-ED101FA99A8D}"/>
                </a:ext>
              </a:extLst>
            </p:cNvPr>
            <p:cNvCxnSpPr>
              <a:cxnSpLocks/>
              <a:stCxn id="19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D5EA471F-48B0-AEFD-5630-FD3A524C8B25}"/>
                </a:ext>
              </a:extLst>
            </p:cNvPr>
            <p:cNvCxnSpPr>
              <a:cxnSpLocks/>
              <a:stCxn id="19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C1CE937E-D513-6069-D035-5C08BE30C7D1}"/>
                </a:ext>
              </a:extLst>
            </p:cNvPr>
            <p:cNvCxnSpPr>
              <a:cxnSpLocks/>
              <a:stCxn id="19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541A004-0FF2-AD57-7C13-5C0CD6255B78}"/>
              </a:ext>
            </a:extLst>
          </p:cNvPr>
          <p:cNvGrpSpPr/>
          <p:nvPr/>
        </p:nvGrpSpPr>
        <p:grpSpPr>
          <a:xfrm>
            <a:off x="3322011" y="2637689"/>
            <a:ext cx="700392" cy="622040"/>
            <a:chOff x="5047748" y="1501150"/>
            <a:chExt cx="1071858" cy="951950"/>
          </a:xfrm>
        </p:grpSpPr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5447AA4C-BC7E-E5E1-7D0B-E3D5C1951DE7}"/>
                </a:ext>
              </a:extLst>
            </p:cNvPr>
            <p:cNvCxnSpPr>
              <a:cxnSpLocks/>
              <a:stCxn id="199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7203C6BD-A9E7-221D-C14B-42C45ED03E62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8FCE6B6F-C93A-AB4C-D504-8DD5B7CFDE33}"/>
                </a:ext>
              </a:extLst>
            </p:cNvPr>
            <p:cNvCxnSpPr>
              <a:cxnSpLocks/>
              <a:stCxn id="199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98DA79CD-9DF7-AC28-5D42-DA68A157C01C}"/>
                </a:ext>
              </a:extLst>
            </p:cNvPr>
            <p:cNvCxnSpPr>
              <a:cxnSpLocks/>
              <a:stCxn id="199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6F0B85F6-371F-39CC-4164-89FD960D78F4}"/>
                </a:ext>
              </a:extLst>
            </p:cNvPr>
            <p:cNvCxnSpPr>
              <a:cxnSpLocks/>
              <a:stCxn id="199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F6781EE-E4D4-5FB4-3B61-2D2A7E1E30EF}"/>
                </a:ext>
              </a:extLst>
            </p:cNvPr>
            <p:cNvCxnSpPr>
              <a:cxnSpLocks/>
              <a:stCxn id="199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754A7247-F7FE-AA06-38D7-D99C2543F274}"/>
                </a:ext>
              </a:extLst>
            </p:cNvPr>
            <p:cNvCxnSpPr>
              <a:cxnSpLocks/>
              <a:stCxn id="199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3BB6F74E-B141-1234-FCD7-7AA6656C95EA}"/>
                </a:ext>
              </a:extLst>
            </p:cNvPr>
            <p:cNvCxnSpPr>
              <a:cxnSpLocks/>
              <a:stCxn id="199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4B7618E-B483-368E-A3C9-86EC32D69661}"/>
              </a:ext>
            </a:extLst>
          </p:cNvPr>
          <p:cNvGrpSpPr/>
          <p:nvPr/>
        </p:nvGrpSpPr>
        <p:grpSpPr>
          <a:xfrm>
            <a:off x="2205149" y="1423490"/>
            <a:ext cx="1180845" cy="891612"/>
            <a:chOff x="4604054" y="1088606"/>
            <a:chExt cx="1807129" cy="1364494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8C3A69A-C596-3914-9C56-69CB2E2EE348}"/>
                </a:ext>
              </a:extLst>
            </p:cNvPr>
            <p:cNvCxnSpPr>
              <a:cxnSpLocks/>
              <a:stCxn id="208" idx="7"/>
            </p:cNvCxnSpPr>
            <p:nvPr/>
          </p:nvCxnSpPr>
          <p:spPr>
            <a:xfrm flipV="1">
              <a:off x="5571659" y="1520744"/>
              <a:ext cx="839524" cy="42736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64FB7B3-F758-44F0-2C17-5EEA85D5C318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30C3F02A-8402-3A90-C3B5-F0BCE8F86D87}"/>
                </a:ext>
              </a:extLst>
            </p:cNvPr>
            <p:cNvCxnSpPr>
              <a:cxnSpLocks/>
              <a:stCxn id="208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2880DAC6-E65E-9ADC-DCEC-FFCF40D6B5BD}"/>
                </a:ext>
              </a:extLst>
            </p:cNvPr>
            <p:cNvCxnSpPr>
              <a:cxnSpLocks/>
              <a:stCxn id="208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69212C82-74AA-DA4A-4862-97A82E358E9B}"/>
                </a:ext>
              </a:extLst>
            </p:cNvPr>
            <p:cNvCxnSpPr>
              <a:cxnSpLocks/>
              <a:stCxn id="208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C5742FB1-0A52-C3C8-F0EC-A0B7EB597479}"/>
                </a:ext>
              </a:extLst>
            </p:cNvPr>
            <p:cNvCxnSpPr>
              <a:cxnSpLocks/>
              <a:stCxn id="208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72356D69-CA4D-846F-7C57-FBF37CEDEF04}"/>
                </a:ext>
              </a:extLst>
            </p:cNvPr>
            <p:cNvCxnSpPr>
              <a:cxnSpLocks/>
              <a:stCxn id="208" idx="0"/>
            </p:cNvCxnSpPr>
            <p:nvPr/>
          </p:nvCxnSpPr>
          <p:spPr>
            <a:xfrm flipV="1">
              <a:off x="5542643" y="1088606"/>
              <a:ext cx="640346" cy="84748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870222AC-54E2-E20C-F7DC-7B985A164C6C}"/>
                </a:ext>
              </a:extLst>
            </p:cNvPr>
            <p:cNvCxnSpPr>
              <a:cxnSpLocks/>
              <a:stCxn id="208" idx="1"/>
            </p:cNvCxnSpPr>
            <p:nvPr/>
          </p:nvCxnSpPr>
          <p:spPr>
            <a:xfrm flipH="1" flipV="1">
              <a:off x="4604054" y="1436091"/>
              <a:ext cx="909573" cy="51201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57794B60-7BAB-B38B-DC81-B1BADFE5163F}"/>
              </a:ext>
            </a:extLst>
          </p:cNvPr>
          <p:cNvGrpSpPr/>
          <p:nvPr/>
        </p:nvGrpSpPr>
        <p:grpSpPr>
          <a:xfrm>
            <a:off x="5417855" y="4746140"/>
            <a:ext cx="700392" cy="622040"/>
            <a:chOff x="5047748" y="1501150"/>
            <a:chExt cx="1071858" cy="951950"/>
          </a:xfrm>
        </p:grpSpPr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39E75889-0216-37E3-4ADC-F8C3FBB0EC8D}"/>
                </a:ext>
              </a:extLst>
            </p:cNvPr>
            <p:cNvCxnSpPr>
              <a:cxnSpLocks/>
              <a:stCxn id="221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D755AB0B-8D40-32D0-A7DB-DCF7977D2C74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0512E93B-F7DC-EFC9-0956-2D09B78A3176}"/>
                </a:ext>
              </a:extLst>
            </p:cNvPr>
            <p:cNvCxnSpPr>
              <a:cxnSpLocks/>
              <a:stCxn id="221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C36709D0-951C-0F03-929C-07515CCBF22B}"/>
                </a:ext>
              </a:extLst>
            </p:cNvPr>
            <p:cNvCxnSpPr>
              <a:cxnSpLocks/>
              <a:stCxn id="221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179F7062-B198-6DDE-1994-759F3F0DE661}"/>
                </a:ext>
              </a:extLst>
            </p:cNvPr>
            <p:cNvCxnSpPr>
              <a:cxnSpLocks/>
              <a:stCxn id="221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83AB6D9F-2D2A-7BFF-D9A2-C6DD3BDDF8C4}"/>
                </a:ext>
              </a:extLst>
            </p:cNvPr>
            <p:cNvCxnSpPr>
              <a:cxnSpLocks/>
              <a:stCxn id="221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C6527266-7E43-7A58-F852-ACD4FF5B3338}"/>
                </a:ext>
              </a:extLst>
            </p:cNvPr>
            <p:cNvCxnSpPr>
              <a:cxnSpLocks/>
              <a:stCxn id="221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84F665B2-5AE2-84C2-6AF5-BAFC2E51BE54}"/>
                </a:ext>
              </a:extLst>
            </p:cNvPr>
            <p:cNvCxnSpPr>
              <a:cxnSpLocks/>
              <a:stCxn id="221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433D650-01B1-355E-5FA0-A7BBAC67A228}"/>
              </a:ext>
            </a:extLst>
          </p:cNvPr>
          <p:cNvGrpSpPr/>
          <p:nvPr/>
        </p:nvGrpSpPr>
        <p:grpSpPr>
          <a:xfrm>
            <a:off x="4921996" y="4746140"/>
            <a:ext cx="700392" cy="622040"/>
            <a:chOff x="5047748" y="1501150"/>
            <a:chExt cx="1071858" cy="951950"/>
          </a:xfrm>
        </p:grpSpPr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49255FF1-509D-63DF-2F01-DA1E5C62386F}"/>
                </a:ext>
              </a:extLst>
            </p:cNvPr>
            <p:cNvCxnSpPr>
              <a:cxnSpLocks/>
              <a:stCxn id="23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26E3D34B-896E-FC3F-C10B-41BA970C491C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4E243799-C015-4B07-5A54-37E147076990}"/>
                </a:ext>
              </a:extLst>
            </p:cNvPr>
            <p:cNvCxnSpPr>
              <a:cxnSpLocks/>
              <a:stCxn id="23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3C01F887-B817-FAA0-4095-98E06288A618}"/>
                </a:ext>
              </a:extLst>
            </p:cNvPr>
            <p:cNvCxnSpPr>
              <a:cxnSpLocks/>
              <a:stCxn id="23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BEFC793C-FAFF-6834-3104-965038F39C7A}"/>
                </a:ext>
              </a:extLst>
            </p:cNvPr>
            <p:cNvCxnSpPr>
              <a:cxnSpLocks/>
              <a:stCxn id="23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E00691D6-CF1B-51BC-DFAD-CF6EA0A4D693}"/>
                </a:ext>
              </a:extLst>
            </p:cNvPr>
            <p:cNvCxnSpPr>
              <a:cxnSpLocks/>
              <a:stCxn id="23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098D99F6-A772-7BC1-975E-A6AA044645EC}"/>
                </a:ext>
              </a:extLst>
            </p:cNvPr>
            <p:cNvCxnSpPr>
              <a:cxnSpLocks/>
              <a:stCxn id="23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AAA60198-A76A-0832-0860-2A27B6F2164D}"/>
                </a:ext>
              </a:extLst>
            </p:cNvPr>
            <p:cNvCxnSpPr>
              <a:cxnSpLocks/>
              <a:stCxn id="23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D74CA3E-7CC9-6DB0-29FE-84F56DBF6663}"/>
              </a:ext>
            </a:extLst>
          </p:cNvPr>
          <p:cNvGrpSpPr/>
          <p:nvPr/>
        </p:nvGrpSpPr>
        <p:grpSpPr>
          <a:xfrm>
            <a:off x="5028221" y="5646187"/>
            <a:ext cx="573268" cy="624775"/>
            <a:chOff x="5047748" y="1496964"/>
            <a:chExt cx="877311" cy="956136"/>
          </a:xfrm>
        </p:grpSpPr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E016DDE9-5ECA-BDEE-5960-F5610C1D5901}"/>
                </a:ext>
              </a:extLst>
            </p:cNvPr>
            <p:cNvCxnSpPr>
              <a:cxnSpLocks/>
              <a:stCxn id="239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35E9F309-2080-269A-9252-DBFE090FF697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943E5CDC-8574-1DFC-F169-A09BD862FED6}"/>
                </a:ext>
              </a:extLst>
            </p:cNvPr>
            <p:cNvCxnSpPr>
              <a:cxnSpLocks/>
              <a:stCxn id="239" idx="6"/>
            </p:cNvCxnSpPr>
            <p:nvPr/>
          </p:nvCxnSpPr>
          <p:spPr>
            <a:xfrm flipV="1">
              <a:off x="5583677" y="1848894"/>
              <a:ext cx="341382" cy="12823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C5EEC7C3-AD20-5971-26E7-5B5896C7F098}"/>
                </a:ext>
              </a:extLst>
            </p:cNvPr>
            <p:cNvCxnSpPr>
              <a:cxnSpLocks/>
              <a:stCxn id="239" idx="5"/>
            </p:cNvCxnSpPr>
            <p:nvPr/>
          </p:nvCxnSpPr>
          <p:spPr>
            <a:xfrm>
              <a:off x="5571659" y="2006141"/>
              <a:ext cx="177220" cy="14653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1C265CE4-5154-7145-F66D-033F126A2B5C}"/>
                </a:ext>
              </a:extLst>
            </p:cNvPr>
            <p:cNvCxnSpPr>
              <a:cxnSpLocks/>
              <a:stCxn id="239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100FA709-978A-CFC3-2F45-5B54D1364F9C}"/>
                </a:ext>
              </a:extLst>
            </p:cNvPr>
            <p:cNvCxnSpPr>
              <a:cxnSpLocks/>
              <a:stCxn id="239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C4FDBBCC-98EE-527C-8D43-16C84925DDFD}"/>
                </a:ext>
              </a:extLst>
            </p:cNvPr>
            <p:cNvCxnSpPr>
              <a:cxnSpLocks/>
              <a:stCxn id="239" idx="0"/>
            </p:cNvCxnSpPr>
            <p:nvPr/>
          </p:nvCxnSpPr>
          <p:spPr>
            <a:xfrm flipV="1">
              <a:off x="5542643" y="1496964"/>
              <a:ext cx="284117" cy="43912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6694C54C-F341-9B2A-D8F4-F0C07A959F31}"/>
                </a:ext>
              </a:extLst>
            </p:cNvPr>
            <p:cNvCxnSpPr>
              <a:cxnSpLocks/>
              <a:stCxn id="239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CBBB29-AEF0-0F89-90B7-EE22C69E4F09}"/>
              </a:ext>
            </a:extLst>
          </p:cNvPr>
          <p:cNvGrpSpPr/>
          <p:nvPr/>
        </p:nvGrpSpPr>
        <p:grpSpPr>
          <a:xfrm>
            <a:off x="8581866" y="4051195"/>
            <a:ext cx="700392" cy="622040"/>
            <a:chOff x="5047748" y="1501150"/>
            <a:chExt cx="1071858" cy="951950"/>
          </a:xfrm>
        </p:grpSpPr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A817C6DF-BBF8-3418-A2A2-ED499FE7E9C1}"/>
                </a:ext>
              </a:extLst>
            </p:cNvPr>
            <p:cNvCxnSpPr>
              <a:cxnSpLocks/>
              <a:stCxn id="25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A884E582-72B2-63A4-DC92-12104CD9B4ED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8726966E-99C8-AC14-EEAC-95391510B235}"/>
                </a:ext>
              </a:extLst>
            </p:cNvPr>
            <p:cNvCxnSpPr>
              <a:cxnSpLocks/>
              <a:stCxn id="25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33A2614C-409B-EA98-971F-B762467D0698}"/>
                </a:ext>
              </a:extLst>
            </p:cNvPr>
            <p:cNvCxnSpPr>
              <a:cxnSpLocks/>
              <a:stCxn id="25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83612838-D3E6-BE1E-D67E-A7DFA60EAF4F}"/>
                </a:ext>
              </a:extLst>
            </p:cNvPr>
            <p:cNvCxnSpPr>
              <a:cxnSpLocks/>
              <a:stCxn id="25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0F580404-C1E4-83BD-CA0A-A6479A25E045}"/>
                </a:ext>
              </a:extLst>
            </p:cNvPr>
            <p:cNvCxnSpPr>
              <a:cxnSpLocks/>
              <a:stCxn id="25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D29EF728-AB95-B383-0C65-35CB7C2BD36A}"/>
                </a:ext>
              </a:extLst>
            </p:cNvPr>
            <p:cNvCxnSpPr>
              <a:cxnSpLocks/>
              <a:stCxn id="25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5002C04C-B710-5CA1-CA71-5333CCC78116}"/>
                </a:ext>
              </a:extLst>
            </p:cNvPr>
            <p:cNvCxnSpPr>
              <a:cxnSpLocks/>
              <a:stCxn id="25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72E7B559-FC98-18A5-EB12-739E11ADD2CA}"/>
              </a:ext>
            </a:extLst>
          </p:cNvPr>
          <p:cNvGrpSpPr/>
          <p:nvPr/>
        </p:nvGrpSpPr>
        <p:grpSpPr>
          <a:xfrm>
            <a:off x="7556680" y="3591601"/>
            <a:ext cx="700392" cy="622040"/>
            <a:chOff x="5047748" y="1501150"/>
            <a:chExt cx="1071858" cy="951950"/>
          </a:xfrm>
        </p:grpSpPr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C691411C-4F9B-0F67-389B-B54CBA0F9B18}"/>
                </a:ext>
              </a:extLst>
            </p:cNvPr>
            <p:cNvCxnSpPr>
              <a:cxnSpLocks/>
              <a:stCxn id="259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7DCE365C-BDED-291D-C3AE-0E633D45999C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32EB3200-6B71-FF8C-ACCD-965E57F89F2B}"/>
                </a:ext>
              </a:extLst>
            </p:cNvPr>
            <p:cNvCxnSpPr>
              <a:cxnSpLocks/>
              <a:stCxn id="259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632F44E4-AE8F-B81F-9F05-4F07F0D0DE75}"/>
                </a:ext>
              </a:extLst>
            </p:cNvPr>
            <p:cNvCxnSpPr>
              <a:cxnSpLocks/>
              <a:stCxn id="259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>
              <a:extLst>
                <a:ext uri="{FF2B5EF4-FFF2-40B4-BE49-F238E27FC236}">
                  <a16:creationId xmlns:a16="http://schemas.microsoft.com/office/drawing/2014/main" id="{1217B2B4-A6E9-7218-AEE6-5BE55B75DEFA}"/>
                </a:ext>
              </a:extLst>
            </p:cNvPr>
            <p:cNvCxnSpPr>
              <a:cxnSpLocks/>
              <a:stCxn id="259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270BF343-F765-6795-7E25-719D288FC34F}"/>
                </a:ext>
              </a:extLst>
            </p:cNvPr>
            <p:cNvCxnSpPr>
              <a:cxnSpLocks/>
              <a:stCxn id="259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7C62DDA4-E022-53BA-8C5D-F9B5033AAF55}"/>
                </a:ext>
              </a:extLst>
            </p:cNvPr>
            <p:cNvCxnSpPr>
              <a:cxnSpLocks/>
              <a:stCxn id="259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695B2ACD-26CE-ED3B-39FA-634D69EC73B3}"/>
                </a:ext>
              </a:extLst>
            </p:cNvPr>
            <p:cNvCxnSpPr>
              <a:cxnSpLocks/>
              <a:stCxn id="259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84CF306E-358E-2E6A-5B94-6A3ADA7C5C1E}"/>
              </a:ext>
            </a:extLst>
          </p:cNvPr>
          <p:cNvGrpSpPr/>
          <p:nvPr/>
        </p:nvGrpSpPr>
        <p:grpSpPr>
          <a:xfrm>
            <a:off x="7229687" y="4406064"/>
            <a:ext cx="700392" cy="622040"/>
            <a:chOff x="5047748" y="1501150"/>
            <a:chExt cx="1071858" cy="951950"/>
          </a:xfrm>
        </p:grpSpPr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8AB23C55-250B-87C6-2D26-5C2AD0EFAEDD}"/>
                </a:ext>
              </a:extLst>
            </p:cNvPr>
            <p:cNvCxnSpPr>
              <a:cxnSpLocks/>
              <a:stCxn id="268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D7782EF7-4BCF-CF50-C2A3-AD778E207B1E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5C04C90B-06E0-360B-F29F-8126D278043A}"/>
                </a:ext>
              </a:extLst>
            </p:cNvPr>
            <p:cNvCxnSpPr>
              <a:cxnSpLocks/>
              <a:stCxn id="268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>
              <a:extLst>
                <a:ext uri="{FF2B5EF4-FFF2-40B4-BE49-F238E27FC236}">
                  <a16:creationId xmlns:a16="http://schemas.microsoft.com/office/drawing/2014/main" id="{165E5069-CDA3-F4E3-1A91-FE05B436D7A8}"/>
                </a:ext>
              </a:extLst>
            </p:cNvPr>
            <p:cNvCxnSpPr>
              <a:cxnSpLocks/>
              <a:stCxn id="268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ED76F008-62B0-D3E5-4645-A0583E2A9490}"/>
                </a:ext>
              </a:extLst>
            </p:cNvPr>
            <p:cNvCxnSpPr>
              <a:cxnSpLocks/>
              <a:stCxn id="268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2CF1DBD1-2C48-0606-A833-69CAEDD528D8}"/>
                </a:ext>
              </a:extLst>
            </p:cNvPr>
            <p:cNvCxnSpPr>
              <a:cxnSpLocks/>
              <a:stCxn id="268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C7A77983-568D-F262-E14C-D37494D4EDAC}"/>
                </a:ext>
              </a:extLst>
            </p:cNvPr>
            <p:cNvCxnSpPr>
              <a:cxnSpLocks/>
              <a:stCxn id="268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1E7B3014-DE7D-0DBB-E089-309C0550690C}"/>
                </a:ext>
              </a:extLst>
            </p:cNvPr>
            <p:cNvCxnSpPr>
              <a:cxnSpLocks/>
              <a:stCxn id="268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C25B7433-72A3-A80A-DF1C-16D014B7331F}"/>
              </a:ext>
            </a:extLst>
          </p:cNvPr>
          <p:cNvGrpSpPr/>
          <p:nvPr/>
        </p:nvGrpSpPr>
        <p:grpSpPr>
          <a:xfrm>
            <a:off x="6590468" y="5107015"/>
            <a:ext cx="700392" cy="622040"/>
            <a:chOff x="5047748" y="1501150"/>
            <a:chExt cx="1071858" cy="951950"/>
          </a:xfrm>
        </p:grpSpPr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F4320660-E867-182A-28C7-890D167144E0}"/>
                </a:ext>
              </a:extLst>
            </p:cNvPr>
            <p:cNvCxnSpPr>
              <a:cxnSpLocks/>
              <a:stCxn id="277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92EB07C1-BC0D-613D-31AD-B2491D7FD66F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8A20318E-2E51-9604-FFD5-0153E20BA56A}"/>
                </a:ext>
              </a:extLst>
            </p:cNvPr>
            <p:cNvCxnSpPr>
              <a:cxnSpLocks/>
              <a:stCxn id="277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3267A9BD-2CE0-5F3A-50C4-5825585183F3}"/>
                </a:ext>
              </a:extLst>
            </p:cNvPr>
            <p:cNvCxnSpPr>
              <a:cxnSpLocks/>
              <a:stCxn id="277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5BB21426-F5FC-2E23-F94F-AE11B9E9F039}"/>
                </a:ext>
              </a:extLst>
            </p:cNvPr>
            <p:cNvCxnSpPr>
              <a:cxnSpLocks/>
              <a:stCxn id="277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BF5B7611-4BF8-7A43-A109-48B09E49AAAA}"/>
                </a:ext>
              </a:extLst>
            </p:cNvPr>
            <p:cNvCxnSpPr>
              <a:cxnSpLocks/>
              <a:stCxn id="277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11E8AE8C-1564-DAF5-1612-3FE11DE31B97}"/>
                </a:ext>
              </a:extLst>
            </p:cNvPr>
            <p:cNvCxnSpPr>
              <a:cxnSpLocks/>
              <a:stCxn id="277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AEDF7FA-911F-4D1F-AA10-7888B4986DC0}"/>
                </a:ext>
              </a:extLst>
            </p:cNvPr>
            <p:cNvCxnSpPr>
              <a:cxnSpLocks/>
              <a:stCxn id="277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3E234C7-D2A5-53B1-0783-EFD615F0B3C7}"/>
              </a:ext>
            </a:extLst>
          </p:cNvPr>
          <p:cNvGrpSpPr/>
          <p:nvPr/>
        </p:nvGrpSpPr>
        <p:grpSpPr>
          <a:xfrm>
            <a:off x="6486933" y="2597620"/>
            <a:ext cx="700392" cy="622040"/>
            <a:chOff x="5047748" y="1501150"/>
            <a:chExt cx="1071858" cy="951950"/>
          </a:xfrm>
        </p:grpSpPr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75393B6-ABD0-F1AF-C095-BB4B414BF571}"/>
                </a:ext>
              </a:extLst>
            </p:cNvPr>
            <p:cNvCxnSpPr>
              <a:cxnSpLocks/>
              <a:stCxn id="286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DEC1FA63-7B5F-3AD4-AD0B-2A631ACAF45B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C13C1177-795D-8CF2-BDCB-3B072CD898BF}"/>
                </a:ext>
              </a:extLst>
            </p:cNvPr>
            <p:cNvCxnSpPr>
              <a:cxnSpLocks/>
              <a:stCxn id="286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9419CE56-35CB-9F1F-9C71-36E51C10EE73}"/>
                </a:ext>
              </a:extLst>
            </p:cNvPr>
            <p:cNvCxnSpPr>
              <a:cxnSpLocks/>
              <a:stCxn id="286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CF5C38C6-04B2-96B2-59E6-A5A0C03E12B3}"/>
                </a:ext>
              </a:extLst>
            </p:cNvPr>
            <p:cNvCxnSpPr>
              <a:cxnSpLocks/>
              <a:stCxn id="286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E5F6AC49-625E-06C0-1998-CE20814C37F4}"/>
                </a:ext>
              </a:extLst>
            </p:cNvPr>
            <p:cNvCxnSpPr>
              <a:cxnSpLocks/>
              <a:stCxn id="286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69406B10-A908-CE08-45F4-E458B3FFD330}"/>
                </a:ext>
              </a:extLst>
            </p:cNvPr>
            <p:cNvCxnSpPr>
              <a:cxnSpLocks/>
              <a:stCxn id="286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2C8597BB-724F-9E06-ED9A-D83E76CC7D61}"/>
                </a:ext>
              </a:extLst>
            </p:cNvPr>
            <p:cNvCxnSpPr>
              <a:cxnSpLocks/>
              <a:stCxn id="286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E8D514F4-22A4-9454-F72C-A445CBC6869F}"/>
              </a:ext>
            </a:extLst>
          </p:cNvPr>
          <p:cNvGrpSpPr/>
          <p:nvPr/>
        </p:nvGrpSpPr>
        <p:grpSpPr>
          <a:xfrm>
            <a:off x="7878384" y="2580890"/>
            <a:ext cx="716354" cy="585489"/>
            <a:chOff x="5023320" y="1576886"/>
            <a:chExt cx="1096286" cy="896014"/>
          </a:xfrm>
        </p:grpSpPr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F10949D1-EDB9-DAEF-1EE9-5130CF5BD0E9}"/>
                </a:ext>
              </a:extLst>
            </p:cNvPr>
            <p:cNvCxnSpPr>
              <a:cxnSpLocks/>
              <a:stCxn id="295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A969FE83-25A8-535B-F3DC-A3E33C344617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003E7C8B-33DF-2FD8-5E54-4B8175C4DC87}"/>
                </a:ext>
              </a:extLst>
            </p:cNvPr>
            <p:cNvCxnSpPr>
              <a:cxnSpLocks/>
              <a:stCxn id="295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Arrow Connector 296">
              <a:extLst>
                <a:ext uri="{FF2B5EF4-FFF2-40B4-BE49-F238E27FC236}">
                  <a16:creationId xmlns:a16="http://schemas.microsoft.com/office/drawing/2014/main" id="{BE215F63-630E-4C99-615B-58437E142854}"/>
                </a:ext>
              </a:extLst>
            </p:cNvPr>
            <p:cNvCxnSpPr>
              <a:cxnSpLocks/>
              <a:stCxn id="295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48E02CD2-83D1-98CF-FDB9-844ED49809E0}"/>
                </a:ext>
              </a:extLst>
            </p:cNvPr>
            <p:cNvCxnSpPr>
              <a:cxnSpLocks/>
              <a:stCxn id="295" idx="4"/>
            </p:cNvCxnSpPr>
            <p:nvPr/>
          </p:nvCxnSpPr>
          <p:spPr>
            <a:xfrm>
              <a:off x="5542643" y="2018159"/>
              <a:ext cx="361577" cy="4547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FB97E8AC-AB4C-EE42-E135-D8CF2BA867BA}"/>
                </a:ext>
              </a:extLst>
            </p:cNvPr>
            <p:cNvCxnSpPr>
              <a:cxnSpLocks/>
              <a:stCxn id="295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Arrow Connector 299">
              <a:extLst>
                <a:ext uri="{FF2B5EF4-FFF2-40B4-BE49-F238E27FC236}">
                  <a16:creationId xmlns:a16="http://schemas.microsoft.com/office/drawing/2014/main" id="{9005EA42-0053-8CD3-05E3-9EC8C82F6160}"/>
                </a:ext>
              </a:extLst>
            </p:cNvPr>
            <p:cNvCxnSpPr>
              <a:cxnSpLocks/>
              <a:stCxn id="295" idx="0"/>
            </p:cNvCxnSpPr>
            <p:nvPr/>
          </p:nvCxnSpPr>
          <p:spPr>
            <a:xfrm flipV="1">
              <a:off x="5542643" y="1576886"/>
              <a:ext cx="152494" cy="3592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Arrow Connector 300">
              <a:extLst>
                <a:ext uri="{FF2B5EF4-FFF2-40B4-BE49-F238E27FC236}">
                  <a16:creationId xmlns:a16="http://schemas.microsoft.com/office/drawing/2014/main" id="{7839978B-9E95-E6CB-C6B2-7ACEA1A12A69}"/>
                </a:ext>
              </a:extLst>
            </p:cNvPr>
            <p:cNvCxnSpPr>
              <a:cxnSpLocks/>
              <a:stCxn id="295" idx="1"/>
            </p:cNvCxnSpPr>
            <p:nvPr/>
          </p:nvCxnSpPr>
          <p:spPr>
            <a:xfrm flipH="1" flipV="1">
              <a:off x="5023320" y="1839127"/>
              <a:ext cx="490307" cy="10898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EAD44BB-2B07-CCED-1964-61B6450DAF66}"/>
              </a:ext>
            </a:extLst>
          </p:cNvPr>
          <p:cNvGrpSpPr/>
          <p:nvPr/>
        </p:nvGrpSpPr>
        <p:grpSpPr>
          <a:xfrm>
            <a:off x="9811484" y="1434963"/>
            <a:ext cx="583478" cy="726729"/>
            <a:chOff x="5226669" y="1083785"/>
            <a:chExt cx="892937" cy="1112163"/>
          </a:xfrm>
        </p:grpSpPr>
        <p:cxnSp>
          <p:nvCxnSpPr>
            <p:cNvPr id="303" name="Straight Arrow Connector 302">
              <a:extLst>
                <a:ext uri="{FF2B5EF4-FFF2-40B4-BE49-F238E27FC236}">
                  <a16:creationId xmlns:a16="http://schemas.microsoft.com/office/drawing/2014/main" id="{09835325-7C03-A5BE-1B92-631877F597E5}"/>
                </a:ext>
              </a:extLst>
            </p:cNvPr>
            <p:cNvCxnSpPr>
              <a:cxnSpLocks/>
              <a:stCxn id="304" idx="7"/>
            </p:cNvCxnSpPr>
            <p:nvPr/>
          </p:nvCxnSpPr>
          <p:spPr>
            <a:xfrm flipV="1">
              <a:off x="5571659" y="1799338"/>
              <a:ext cx="166604" cy="14877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3AF789DD-93AC-84DE-DFB3-B65448E2C0A0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2F301243-13A6-4B2E-CBBB-5514CFB26A5B}"/>
                </a:ext>
              </a:extLst>
            </p:cNvPr>
            <p:cNvCxnSpPr>
              <a:cxnSpLocks/>
              <a:stCxn id="304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E818D0E3-88AF-93BF-345D-1B9FDD2E9B53}"/>
                </a:ext>
              </a:extLst>
            </p:cNvPr>
            <p:cNvCxnSpPr>
              <a:cxnSpLocks/>
              <a:stCxn id="304" idx="5"/>
            </p:cNvCxnSpPr>
            <p:nvPr/>
          </p:nvCxnSpPr>
          <p:spPr>
            <a:xfrm>
              <a:off x="5571659" y="2006141"/>
              <a:ext cx="279982" cy="7872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3A884C57-DFE5-A3F4-6BE4-487F0AB3B383}"/>
                </a:ext>
              </a:extLst>
            </p:cNvPr>
            <p:cNvCxnSpPr>
              <a:cxnSpLocks/>
              <a:stCxn id="304" idx="4"/>
            </p:cNvCxnSpPr>
            <p:nvPr/>
          </p:nvCxnSpPr>
          <p:spPr>
            <a:xfrm>
              <a:off x="5542643" y="2018159"/>
              <a:ext cx="150339" cy="17778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73003A25-A850-F118-CDA4-41F0BB402250}"/>
                </a:ext>
              </a:extLst>
            </p:cNvPr>
            <p:cNvCxnSpPr>
              <a:cxnSpLocks/>
              <a:stCxn id="304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Arrow Connector 308">
              <a:extLst>
                <a:ext uri="{FF2B5EF4-FFF2-40B4-BE49-F238E27FC236}">
                  <a16:creationId xmlns:a16="http://schemas.microsoft.com/office/drawing/2014/main" id="{93BC7378-72E9-EADD-26C6-4F7BB5A2BCBB}"/>
                </a:ext>
              </a:extLst>
            </p:cNvPr>
            <p:cNvCxnSpPr>
              <a:cxnSpLocks/>
              <a:stCxn id="304" idx="0"/>
            </p:cNvCxnSpPr>
            <p:nvPr/>
          </p:nvCxnSpPr>
          <p:spPr>
            <a:xfrm flipV="1">
              <a:off x="5542643" y="1083785"/>
              <a:ext cx="358708" cy="85230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Arrow Connector 309">
              <a:extLst>
                <a:ext uri="{FF2B5EF4-FFF2-40B4-BE49-F238E27FC236}">
                  <a16:creationId xmlns:a16="http://schemas.microsoft.com/office/drawing/2014/main" id="{BD202D8E-65CB-C905-AB53-E75964D3E4A7}"/>
                </a:ext>
              </a:extLst>
            </p:cNvPr>
            <p:cNvCxnSpPr>
              <a:cxnSpLocks/>
              <a:stCxn id="304" idx="1"/>
            </p:cNvCxnSpPr>
            <p:nvPr/>
          </p:nvCxnSpPr>
          <p:spPr>
            <a:xfrm flipH="1" flipV="1">
              <a:off x="5274679" y="1541363"/>
              <a:ext cx="238949" cy="40674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9B4F06D0-098B-2CBD-9A51-C9D3EAC5F8D9}"/>
              </a:ext>
            </a:extLst>
          </p:cNvPr>
          <p:cNvCxnSpPr>
            <a:cxnSpLocks/>
            <a:stCxn id="304" idx="4"/>
          </p:cNvCxnSpPr>
          <p:nvPr/>
        </p:nvCxnSpPr>
        <p:spPr>
          <a:xfrm flipH="1" flipV="1">
            <a:off x="9979407" y="1713427"/>
            <a:ext cx="38546" cy="3320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7C858997-2D2A-BDD6-8D69-B6E93141770F}"/>
              </a:ext>
            </a:extLst>
          </p:cNvPr>
          <p:cNvCxnSpPr>
            <a:cxnSpLocks/>
            <a:stCxn id="88" idx="0"/>
            <a:endCxn id="208" idx="4"/>
          </p:cNvCxnSpPr>
          <p:nvPr/>
        </p:nvCxnSpPr>
        <p:spPr>
          <a:xfrm flipH="1" flipV="1">
            <a:off x="2818458" y="2030895"/>
            <a:ext cx="912206" cy="142940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BF92A9B1-AE94-8FDC-19F5-375BA2877B00}"/>
              </a:ext>
            </a:extLst>
          </p:cNvPr>
          <p:cNvCxnSpPr>
            <a:cxnSpLocks/>
            <a:stCxn id="88" idx="1"/>
            <a:endCxn id="199" idx="4"/>
          </p:cNvCxnSpPr>
          <p:nvPr/>
        </p:nvCxnSpPr>
        <p:spPr>
          <a:xfrm flipH="1" flipV="1">
            <a:off x="3645394" y="2975522"/>
            <a:ext cx="12438" cy="55761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A451880-5D42-914F-12FC-1D7BF014D47E}"/>
              </a:ext>
            </a:extLst>
          </p:cNvPr>
          <p:cNvCxnSpPr>
            <a:cxnSpLocks/>
            <a:stCxn id="76" idx="0"/>
            <a:endCxn id="40" idx="4"/>
          </p:cNvCxnSpPr>
          <p:nvPr/>
        </p:nvCxnSpPr>
        <p:spPr>
          <a:xfrm flipH="1" flipV="1">
            <a:off x="6237416" y="1604822"/>
            <a:ext cx="57348" cy="106614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45D4C79C-3F5C-2610-063A-E6F13A7C86F1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6294764" y="2816631"/>
            <a:ext cx="118604" cy="3088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E12EEC4B-9900-253B-8BEC-94F1B0170B1B}"/>
              </a:ext>
            </a:extLst>
          </p:cNvPr>
          <p:cNvGrpSpPr/>
          <p:nvPr/>
        </p:nvGrpSpPr>
        <p:grpSpPr>
          <a:xfrm rot="20735741">
            <a:off x="4500561" y="2297399"/>
            <a:ext cx="700392" cy="622040"/>
            <a:chOff x="5047748" y="1501150"/>
            <a:chExt cx="1071858" cy="951950"/>
          </a:xfrm>
        </p:grpSpPr>
        <p:cxnSp>
          <p:nvCxnSpPr>
            <p:cNvPr id="332" name="Straight Arrow Connector 331">
              <a:extLst>
                <a:ext uri="{FF2B5EF4-FFF2-40B4-BE49-F238E27FC236}">
                  <a16:creationId xmlns:a16="http://schemas.microsoft.com/office/drawing/2014/main" id="{16598CDA-A122-155D-6A76-C627B753857B}"/>
                </a:ext>
              </a:extLst>
            </p:cNvPr>
            <p:cNvCxnSpPr>
              <a:cxnSpLocks/>
              <a:stCxn id="333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58832B2B-EF88-9CBA-0A92-155C9F532079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4" name="Straight Arrow Connector 333">
              <a:extLst>
                <a:ext uri="{FF2B5EF4-FFF2-40B4-BE49-F238E27FC236}">
                  <a16:creationId xmlns:a16="http://schemas.microsoft.com/office/drawing/2014/main" id="{C6560828-FE29-B6F1-6D19-6F60F0BA2E8D}"/>
                </a:ext>
              </a:extLst>
            </p:cNvPr>
            <p:cNvCxnSpPr>
              <a:cxnSpLocks/>
              <a:stCxn id="333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2B8F5E09-AA43-4722-AD1B-6A74BEF156D8}"/>
                </a:ext>
              </a:extLst>
            </p:cNvPr>
            <p:cNvCxnSpPr>
              <a:cxnSpLocks/>
              <a:stCxn id="333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Arrow Connector 335">
              <a:extLst>
                <a:ext uri="{FF2B5EF4-FFF2-40B4-BE49-F238E27FC236}">
                  <a16:creationId xmlns:a16="http://schemas.microsoft.com/office/drawing/2014/main" id="{4D1E223B-AF8E-AD6F-460F-DC253A429710}"/>
                </a:ext>
              </a:extLst>
            </p:cNvPr>
            <p:cNvCxnSpPr>
              <a:cxnSpLocks/>
              <a:stCxn id="333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D3B4F2AE-8780-CCDB-49A2-2F7004891C5F}"/>
                </a:ext>
              </a:extLst>
            </p:cNvPr>
            <p:cNvCxnSpPr>
              <a:cxnSpLocks/>
              <a:stCxn id="333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Arrow Connector 337">
              <a:extLst>
                <a:ext uri="{FF2B5EF4-FFF2-40B4-BE49-F238E27FC236}">
                  <a16:creationId xmlns:a16="http://schemas.microsoft.com/office/drawing/2014/main" id="{5FAA5B5D-7EDC-A1A0-2A4D-880AE57216B4}"/>
                </a:ext>
              </a:extLst>
            </p:cNvPr>
            <p:cNvCxnSpPr>
              <a:cxnSpLocks/>
              <a:stCxn id="333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CA5ABE85-A900-04DD-54AB-0BA159A0A7C0}"/>
                </a:ext>
              </a:extLst>
            </p:cNvPr>
            <p:cNvCxnSpPr>
              <a:cxnSpLocks/>
              <a:stCxn id="333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C8E8574F-5490-85A9-7BE7-4948F64D44D0}"/>
              </a:ext>
            </a:extLst>
          </p:cNvPr>
          <p:cNvCxnSpPr>
            <a:cxnSpLocks/>
            <a:stCxn id="76" idx="1"/>
            <a:endCxn id="333" idx="2"/>
          </p:cNvCxnSpPr>
          <p:nvPr/>
        </p:nvCxnSpPr>
        <p:spPr>
          <a:xfrm flipH="1" flipV="1">
            <a:off x="4798817" y="2621759"/>
            <a:ext cx="1423115" cy="12204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384B052F-769D-8AD3-A6D2-FD94959FDC91}"/>
              </a:ext>
            </a:extLst>
          </p:cNvPr>
          <p:cNvCxnSpPr>
            <a:cxnSpLocks/>
            <a:stCxn id="78" idx="1"/>
            <a:endCxn id="100" idx="4"/>
          </p:cNvCxnSpPr>
          <p:nvPr/>
        </p:nvCxnSpPr>
        <p:spPr>
          <a:xfrm flipH="1" flipV="1">
            <a:off x="6959624" y="2390429"/>
            <a:ext cx="647427" cy="4732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1E68210D-A546-E2E5-39BD-7E39F6351497}"/>
              </a:ext>
            </a:extLst>
          </p:cNvPr>
          <p:cNvCxnSpPr>
            <a:cxnSpLocks/>
            <a:stCxn id="78" idx="3"/>
            <a:endCxn id="295" idx="6"/>
          </p:cNvCxnSpPr>
          <p:nvPr/>
        </p:nvCxnSpPr>
        <p:spPr>
          <a:xfrm flipV="1">
            <a:off x="7752714" y="2842422"/>
            <a:ext cx="491829" cy="212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7B54CF94-CF01-6AE8-3D10-36D8722279A7}"/>
              </a:ext>
            </a:extLst>
          </p:cNvPr>
          <p:cNvCxnSpPr>
            <a:cxnSpLocks/>
            <a:stCxn id="77" idx="0"/>
            <a:endCxn id="259" idx="6"/>
          </p:cNvCxnSpPr>
          <p:nvPr/>
        </p:nvCxnSpPr>
        <p:spPr>
          <a:xfrm flipH="1" flipV="1">
            <a:off x="7906876" y="3902621"/>
            <a:ext cx="139414" cy="38299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99F42F42-483A-7960-CFDE-D78F89C42CB5}"/>
              </a:ext>
            </a:extLst>
          </p:cNvPr>
          <p:cNvCxnSpPr>
            <a:cxnSpLocks/>
            <a:stCxn id="77" idx="3"/>
            <a:endCxn id="250" idx="1"/>
          </p:cNvCxnSpPr>
          <p:nvPr/>
        </p:nvCxnSpPr>
        <p:spPr>
          <a:xfrm flipV="1">
            <a:off x="8119121" y="4343255"/>
            <a:ext cx="767168" cy="151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45DB44C7-7ADA-F281-A524-EC0B440FEF78}"/>
              </a:ext>
            </a:extLst>
          </p:cNvPr>
          <p:cNvCxnSpPr>
            <a:cxnSpLocks/>
            <a:stCxn id="77" idx="2"/>
            <a:endCxn id="109" idx="4"/>
          </p:cNvCxnSpPr>
          <p:nvPr/>
        </p:nvCxnSpPr>
        <p:spPr>
          <a:xfrm>
            <a:off x="8046290" y="4431283"/>
            <a:ext cx="560495" cy="5953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EE7EE756-97C5-F0F6-6B93-7C070556DA24}"/>
              </a:ext>
            </a:extLst>
          </p:cNvPr>
          <p:cNvCxnSpPr>
            <a:cxnSpLocks/>
            <a:stCxn id="80" idx="3"/>
            <a:endCxn id="304" idx="4"/>
          </p:cNvCxnSpPr>
          <p:nvPr/>
        </p:nvCxnSpPr>
        <p:spPr>
          <a:xfrm flipV="1">
            <a:off x="9529784" y="2045518"/>
            <a:ext cx="488169" cy="67146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E1FBECFB-8BF0-9ABA-6518-984842162B73}"/>
              </a:ext>
            </a:extLst>
          </p:cNvPr>
          <p:cNvGrpSpPr/>
          <p:nvPr/>
        </p:nvGrpSpPr>
        <p:grpSpPr>
          <a:xfrm>
            <a:off x="8483326" y="3510437"/>
            <a:ext cx="700392" cy="622040"/>
            <a:chOff x="5047748" y="1501150"/>
            <a:chExt cx="1071858" cy="951950"/>
          </a:xfrm>
        </p:grpSpPr>
        <p:cxnSp>
          <p:nvCxnSpPr>
            <p:cNvPr id="371" name="Straight Arrow Connector 370">
              <a:extLst>
                <a:ext uri="{FF2B5EF4-FFF2-40B4-BE49-F238E27FC236}">
                  <a16:creationId xmlns:a16="http://schemas.microsoft.com/office/drawing/2014/main" id="{95A1C279-A320-3276-4261-0B132156AB86}"/>
                </a:ext>
              </a:extLst>
            </p:cNvPr>
            <p:cNvCxnSpPr>
              <a:cxnSpLocks/>
              <a:stCxn id="372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32206422-5A05-0D2F-FE9E-A5A3FA7AA944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3" name="Straight Arrow Connector 372">
              <a:extLst>
                <a:ext uri="{FF2B5EF4-FFF2-40B4-BE49-F238E27FC236}">
                  <a16:creationId xmlns:a16="http://schemas.microsoft.com/office/drawing/2014/main" id="{411DCE9D-48F1-B951-2417-658F46462C48}"/>
                </a:ext>
              </a:extLst>
            </p:cNvPr>
            <p:cNvCxnSpPr>
              <a:cxnSpLocks/>
              <a:stCxn id="372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CD3F70BA-2CC2-57DB-B4DD-CF6EB907806C}"/>
                </a:ext>
              </a:extLst>
            </p:cNvPr>
            <p:cNvCxnSpPr>
              <a:cxnSpLocks/>
              <a:stCxn id="372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E7313C1D-79EB-11F0-BBF7-691C911A6502}"/>
                </a:ext>
              </a:extLst>
            </p:cNvPr>
            <p:cNvCxnSpPr>
              <a:cxnSpLocks/>
              <a:stCxn id="372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Arrow Connector 375">
              <a:extLst>
                <a:ext uri="{FF2B5EF4-FFF2-40B4-BE49-F238E27FC236}">
                  <a16:creationId xmlns:a16="http://schemas.microsoft.com/office/drawing/2014/main" id="{98047428-3324-CFD9-EFA8-15A1F134962C}"/>
                </a:ext>
              </a:extLst>
            </p:cNvPr>
            <p:cNvCxnSpPr>
              <a:cxnSpLocks/>
              <a:stCxn id="372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8A4533E3-F901-394D-9FE5-B41CA19FD034}"/>
                </a:ext>
              </a:extLst>
            </p:cNvPr>
            <p:cNvCxnSpPr>
              <a:cxnSpLocks/>
              <a:stCxn id="372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D8760352-EE68-F57B-A14A-038E46930A98}"/>
                </a:ext>
              </a:extLst>
            </p:cNvPr>
            <p:cNvCxnSpPr>
              <a:cxnSpLocks/>
              <a:stCxn id="372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E229DE99-E8E7-B67E-BDA9-6528A0286214}"/>
              </a:ext>
            </a:extLst>
          </p:cNvPr>
          <p:cNvGrpSpPr/>
          <p:nvPr/>
        </p:nvGrpSpPr>
        <p:grpSpPr>
          <a:xfrm>
            <a:off x="8825668" y="2928094"/>
            <a:ext cx="700392" cy="622040"/>
            <a:chOff x="5047748" y="1501150"/>
            <a:chExt cx="1071858" cy="951950"/>
          </a:xfrm>
        </p:grpSpPr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8C4D2C9D-DC01-F3CB-8553-EC57B21C333E}"/>
                </a:ext>
              </a:extLst>
            </p:cNvPr>
            <p:cNvCxnSpPr>
              <a:cxnSpLocks/>
              <a:stCxn id="381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DBA8FE06-F019-B178-B153-277979D5A551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3C7665FA-1B4E-F8DA-AEE5-01DE4338EEE2}"/>
                </a:ext>
              </a:extLst>
            </p:cNvPr>
            <p:cNvCxnSpPr>
              <a:cxnSpLocks/>
              <a:stCxn id="381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7EC81106-8ACA-CB8A-160D-4231F7145FA2}"/>
                </a:ext>
              </a:extLst>
            </p:cNvPr>
            <p:cNvCxnSpPr>
              <a:cxnSpLocks/>
              <a:stCxn id="381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Arrow Connector 383">
              <a:extLst>
                <a:ext uri="{FF2B5EF4-FFF2-40B4-BE49-F238E27FC236}">
                  <a16:creationId xmlns:a16="http://schemas.microsoft.com/office/drawing/2014/main" id="{571BA72F-20B9-0F3A-277F-83DF340AF690}"/>
                </a:ext>
              </a:extLst>
            </p:cNvPr>
            <p:cNvCxnSpPr>
              <a:cxnSpLocks/>
              <a:stCxn id="381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57D64021-C52B-7E90-83AD-22AC1D9E74AF}"/>
                </a:ext>
              </a:extLst>
            </p:cNvPr>
            <p:cNvCxnSpPr>
              <a:cxnSpLocks/>
              <a:stCxn id="381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Arrow Connector 385">
              <a:extLst>
                <a:ext uri="{FF2B5EF4-FFF2-40B4-BE49-F238E27FC236}">
                  <a16:creationId xmlns:a16="http://schemas.microsoft.com/office/drawing/2014/main" id="{31D69ACA-54FD-F7DA-C62A-B2D260ED0998}"/>
                </a:ext>
              </a:extLst>
            </p:cNvPr>
            <p:cNvCxnSpPr>
              <a:cxnSpLocks/>
              <a:stCxn id="381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8FE8A736-574D-BD4B-EEA1-2375BBF0AA0E}"/>
                </a:ext>
              </a:extLst>
            </p:cNvPr>
            <p:cNvCxnSpPr>
              <a:cxnSpLocks/>
              <a:stCxn id="381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D31F75EF-0182-B535-6033-A082DD7AB39D}"/>
              </a:ext>
            </a:extLst>
          </p:cNvPr>
          <p:cNvGrpSpPr/>
          <p:nvPr/>
        </p:nvGrpSpPr>
        <p:grpSpPr>
          <a:xfrm>
            <a:off x="8555053" y="2166251"/>
            <a:ext cx="700392" cy="622040"/>
            <a:chOff x="5047748" y="1501150"/>
            <a:chExt cx="1071858" cy="951950"/>
          </a:xfrm>
        </p:grpSpPr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69D5C1F0-00DB-17FD-2A6B-903B9563AD42}"/>
                </a:ext>
              </a:extLst>
            </p:cNvPr>
            <p:cNvCxnSpPr>
              <a:cxnSpLocks/>
              <a:stCxn id="390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E984F1A8-46BD-ED96-2775-0520ECCD4832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1" name="Straight Arrow Connector 390">
              <a:extLst>
                <a:ext uri="{FF2B5EF4-FFF2-40B4-BE49-F238E27FC236}">
                  <a16:creationId xmlns:a16="http://schemas.microsoft.com/office/drawing/2014/main" id="{7F83FE49-F42E-8511-B5B8-A406EC674C65}"/>
                </a:ext>
              </a:extLst>
            </p:cNvPr>
            <p:cNvCxnSpPr>
              <a:cxnSpLocks/>
              <a:stCxn id="390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Arrow Connector 391">
              <a:extLst>
                <a:ext uri="{FF2B5EF4-FFF2-40B4-BE49-F238E27FC236}">
                  <a16:creationId xmlns:a16="http://schemas.microsoft.com/office/drawing/2014/main" id="{869A1331-7DCF-C628-B5D4-B304CB8388CF}"/>
                </a:ext>
              </a:extLst>
            </p:cNvPr>
            <p:cNvCxnSpPr>
              <a:cxnSpLocks/>
              <a:stCxn id="390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04CDB16C-C068-1D62-70DC-F51C6D18BB9D}"/>
                </a:ext>
              </a:extLst>
            </p:cNvPr>
            <p:cNvCxnSpPr>
              <a:cxnSpLocks/>
              <a:stCxn id="390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C8378958-465F-E6E9-24A2-7E10F37884B7}"/>
                </a:ext>
              </a:extLst>
            </p:cNvPr>
            <p:cNvCxnSpPr>
              <a:cxnSpLocks/>
              <a:stCxn id="390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>
              <a:extLst>
                <a:ext uri="{FF2B5EF4-FFF2-40B4-BE49-F238E27FC236}">
                  <a16:creationId xmlns:a16="http://schemas.microsoft.com/office/drawing/2014/main" id="{B1C7BF96-945D-E7F6-8E23-EDF1BD0775F3}"/>
                </a:ext>
              </a:extLst>
            </p:cNvPr>
            <p:cNvCxnSpPr>
              <a:cxnSpLocks/>
              <a:stCxn id="390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Arrow Connector 395">
              <a:extLst>
                <a:ext uri="{FF2B5EF4-FFF2-40B4-BE49-F238E27FC236}">
                  <a16:creationId xmlns:a16="http://schemas.microsoft.com/office/drawing/2014/main" id="{FD7231E2-B23B-28CC-E7BD-76D14579556B}"/>
                </a:ext>
              </a:extLst>
            </p:cNvPr>
            <p:cNvCxnSpPr>
              <a:cxnSpLocks/>
              <a:stCxn id="390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C5B71999-C95F-F01A-43DB-E3FACD98A8B6}"/>
              </a:ext>
            </a:extLst>
          </p:cNvPr>
          <p:cNvGrpSpPr/>
          <p:nvPr/>
        </p:nvGrpSpPr>
        <p:grpSpPr>
          <a:xfrm>
            <a:off x="6635313" y="3777508"/>
            <a:ext cx="700392" cy="622040"/>
            <a:chOff x="5047748" y="1501150"/>
            <a:chExt cx="1071858" cy="951950"/>
          </a:xfrm>
        </p:grpSpPr>
        <p:cxnSp>
          <p:nvCxnSpPr>
            <p:cNvPr id="398" name="Straight Arrow Connector 397">
              <a:extLst>
                <a:ext uri="{FF2B5EF4-FFF2-40B4-BE49-F238E27FC236}">
                  <a16:creationId xmlns:a16="http://schemas.microsoft.com/office/drawing/2014/main" id="{82EF2ED2-1F15-A625-D05A-E8E671389622}"/>
                </a:ext>
              </a:extLst>
            </p:cNvPr>
            <p:cNvCxnSpPr>
              <a:cxnSpLocks/>
              <a:stCxn id="399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FF6FB73E-277A-B02B-07EA-9734C2505BA3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0" name="Straight Arrow Connector 399">
              <a:extLst>
                <a:ext uri="{FF2B5EF4-FFF2-40B4-BE49-F238E27FC236}">
                  <a16:creationId xmlns:a16="http://schemas.microsoft.com/office/drawing/2014/main" id="{2A9ED007-395E-867C-53D7-927CCC4070B7}"/>
                </a:ext>
              </a:extLst>
            </p:cNvPr>
            <p:cNvCxnSpPr>
              <a:cxnSpLocks/>
              <a:stCxn id="399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Arrow Connector 400">
              <a:extLst>
                <a:ext uri="{FF2B5EF4-FFF2-40B4-BE49-F238E27FC236}">
                  <a16:creationId xmlns:a16="http://schemas.microsoft.com/office/drawing/2014/main" id="{D5A3EC90-0869-3087-0559-8E16101343E3}"/>
                </a:ext>
              </a:extLst>
            </p:cNvPr>
            <p:cNvCxnSpPr>
              <a:cxnSpLocks/>
              <a:stCxn id="399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DE3CECB5-E81F-9304-F66E-7C5050BA895B}"/>
                </a:ext>
              </a:extLst>
            </p:cNvPr>
            <p:cNvCxnSpPr>
              <a:cxnSpLocks/>
              <a:stCxn id="399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6635685A-0925-E7A0-8267-3A5A7AE54339}"/>
                </a:ext>
              </a:extLst>
            </p:cNvPr>
            <p:cNvCxnSpPr>
              <a:cxnSpLocks/>
              <a:stCxn id="399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Arrow Connector 403">
              <a:extLst>
                <a:ext uri="{FF2B5EF4-FFF2-40B4-BE49-F238E27FC236}">
                  <a16:creationId xmlns:a16="http://schemas.microsoft.com/office/drawing/2014/main" id="{C730D445-1C10-032C-F1FA-16D1124601A8}"/>
                </a:ext>
              </a:extLst>
            </p:cNvPr>
            <p:cNvCxnSpPr>
              <a:cxnSpLocks/>
              <a:stCxn id="399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FF961AA3-EF57-7ABB-9865-C12DD16E494E}"/>
                </a:ext>
              </a:extLst>
            </p:cNvPr>
            <p:cNvCxnSpPr>
              <a:cxnSpLocks/>
              <a:stCxn id="399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526B26D4-F120-F3DE-E424-5539F1DE1A92}"/>
              </a:ext>
            </a:extLst>
          </p:cNvPr>
          <p:cNvGrpSpPr/>
          <p:nvPr/>
        </p:nvGrpSpPr>
        <p:grpSpPr>
          <a:xfrm>
            <a:off x="5521849" y="3413385"/>
            <a:ext cx="700392" cy="622040"/>
            <a:chOff x="5047748" y="1501150"/>
            <a:chExt cx="1071858" cy="951950"/>
          </a:xfrm>
        </p:grpSpPr>
        <p:cxnSp>
          <p:nvCxnSpPr>
            <p:cNvPr id="407" name="Straight Arrow Connector 406">
              <a:extLst>
                <a:ext uri="{FF2B5EF4-FFF2-40B4-BE49-F238E27FC236}">
                  <a16:creationId xmlns:a16="http://schemas.microsoft.com/office/drawing/2014/main" id="{A2363599-FA7F-DC69-BB4A-ABDD0DAA94A3}"/>
                </a:ext>
              </a:extLst>
            </p:cNvPr>
            <p:cNvCxnSpPr>
              <a:cxnSpLocks/>
              <a:stCxn id="408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DB2AE4D4-554B-E7F2-2CC4-DEC885B6AFF2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9" name="Straight Arrow Connector 408">
              <a:extLst>
                <a:ext uri="{FF2B5EF4-FFF2-40B4-BE49-F238E27FC236}">
                  <a16:creationId xmlns:a16="http://schemas.microsoft.com/office/drawing/2014/main" id="{8AE57134-C5B8-7B22-3CC8-97197953C620}"/>
                </a:ext>
              </a:extLst>
            </p:cNvPr>
            <p:cNvCxnSpPr>
              <a:cxnSpLocks/>
              <a:stCxn id="408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Arrow Connector 409">
              <a:extLst>
                <a:ext uri="{FF2B5EF4-FFF2-40B4-BE49-F238E27FC236}">
                  <a16:creationId xmlns:a16="http://schemas.microsoft.com/office/drawing/2014/main" id="{B42A41A1-9AAB-9F03-2A12-6AB9ABBC08BA}"/>
                </a:ext>
              </a:extLst>
            </p:cNvPr>
            <p:cNvCxnSpPr>
              <a:cxnSpLocks/>
              <a:stCxn id="408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id="{6BF74464-A5D3-CF71-C4FA-B5A658F5A806}"/>
                </a:ext>
              </a:extLst>
            </p:cNvPr>
            <p:cNvCxnSpPr>
              <a:cxnSpLocks/>
              <a:stCxn id="408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ACEB5B2C-BF23-04BE-2D00-B52C8ADE18DB}"/>
                </a:ext>
              </a:extLst>
            </p:cNvPr>
            <p:cNvCxnSpPr>
              <a:cxnSpLocks/>
              <a:stCxn id="408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D1A3BEFD-92C9-4914-A03F-CBD9BABB4FEE}"/>
                </a:ext>
              </a:extLst>
            </p:cNvPr>
            <p:cNvCxnSpPr>
              <a:cxnSpLocks/>
              <a:stCxn id="408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FFB07E79-D1C9-6B0D-CC47-1B2EAA1F5AA9}"/>
                </a:ext>
              </a:extLst>
            </p:cNvPr>
            <p:cNvCxnSpPr>
              <a:cxnSpLocks/>
              <a:stCxn id="408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6D33B651-C504-B2EC-88F6-0054704B9692}"/>
              </a:ext>
            </a:extLst>
          </p:cNvPr>
          <p:cNvGrpSpPr/>
          <p:nvPr/>
        </p:nvGrpSpPr>
        <p:grpSpPr>
          <a:xfrm>
            <a:off x="2260855" y="2514518"/>
            <a:ext cx="700392" cy="622040"/>
            <a:chOff x="5047748" y="1501150"/>
            <a:chExt cx="1071858" cy="951950"/>
          </a:xfrm>
        </p:grpSpPr>
        <p:cxnSp>
          <p:nvCxnSpPr>
            <p:cNvPr id="416" name="Straight Arrow Connector 415">
              <a:extLst>
                <a:ext uri="{FF2B5EF4-FFF2-40B4-BE49-F238E27FC236}">
                  <a16:creationId xmlns:a16="http://schemas.microsoft.com/office/drawing/2014/main" id="{5D9B9499-4A3E-8997-5B1B-183E7AC82D2F}"/>
                </a:ext>
              </a:extLst>
            </p:cNvPr>
            <p:cNvCxnSpPr>
              <a:cxnSpLocks/>
              <a:stCxn id="417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152E08A1-25D1-229D-5B06-FFC8D25D17AD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8" name="Straight Arrow Connector 417">
              <a:extLst>
                <a:ext uri="{FF2B5EF4-FFF2-40B4-BE49-F238E27FC236}">
                  <a16:creationId xmlns:a16="http://schemas.microsoft.com/office/drawing/2014/main" id="{B99E3874-478B-5390-AA38-9305EA794E2B}"/>
                </a:ext>
              </a:extLst>
            </p:cNvPr>
            <p:cNvCxnSpPr>
              <a:cxnSpLocks/>
              <a:stCxn id="417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9642579F-B8E3-AED3-7363-0AB57EA171FF}"/>
                </a:ext>
              </a:extLst>
            </p:cNvPr>
            <p:cNvCxnSpPr>
              <a:cxnSpLocks/>
              <a:stCxn id="417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>
              <a:extLst>
                <a:ext uri="{FF2B5EF4-FFF2-40B4-BE49-F238E27FC236}">
                  <a16:creationId xmlns:a16="http://schemas.microsoft.com/office/drawing/2014/main" id="{FB401D20-ABC1-1A80-FFED-21E9E0558C32}"/>
                </a:ext>
              </a:extLst>
            </p:cNvPr>
            <p:cNvCxnSpPr>
              <a:cxnSpLocks/>
              <a:stCxn id="417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2ACF21A5-849A-A851-AD36-D24BD6FE89D1}"/>
                </a:ext>
              </a:extLst>
            </p:cNvPr>
            <p:cNvCxnSpPr>
              <a:cxnSpLocks/>
              <a:stCxn id="417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AB21B4D2-BDE6-6A58-9BC2-A4B7CE6C4887}"/>
                </a:ext>
              </a:extLst>
            </p:cNvPr>
            <p:cNvCxnSpPr>
              <a:cxnSpLocks/>
              <a:stCxn id="417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Arrow Connector 422">
              <a:extLst>
                <a:ext uri="{FF2B5EF4-FFF2-40B4-BE49-F238E27FC236}">
                  <a16:creationId xmlns:a16="http://schemas.microsoft.com/office/drawing/2014/main" id="{D4D9F636-D231-704D-15D4-DFC2A52CABBA}"/>
                </a:ext>
              </a:extLst>
            </p:cNvPr>
            <p:cNvCxnSpPr>
              <a:cxnSpLocks/>
              <a:stCxn id="417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06829FE1-C95E-95AF-4D27-1B2D0119BF69}"/>
              </a:ext>
            </a:extLst>
          </p:cNvPr>
          <p:cNvGrpSpPr/>
          <p:nvPr/>
        </p:nvGrpSpPr>
        <p:grpSpPr>
          <a:xfrm>
            <a:off x="2231343" y="4253253"/>
            <a:ext cx="700392" cy="622040"/>
            <a:chOff x="5047748" y="1501150"/>
            <a:chExt cx="1071858" cy="951950"/>
          </a:xfrm>
        </p:grpSpPr>
        <p:cxnSp>
          <p:nvCxnSpPr>
            <p:cNvPr id="425" name="Straight Arrow Connector 424">
              <a:extLst>
                <a:ext uri="{FF2B5EF4-FFF2-40B4-BE49-F238E27FC236}">
                  <a16:creationId xmlns:a16="http://schemas.microsoft.com/office/drawing/2014/main" id="{A51A32D5-BBCC-12A7-7B44-61C31048A6BC}"/>
                </a:ext>
              </a:extLst>
            </p:cNvPr>
            <p:cNvCxnSpPr>
              <a:cxnSpLocks/>
              <a:stCxn id="426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79A875A6-7905-4514-44E7-34ADFF04D166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7" name="Straight Arrow Connector 426">
              <a:extLst>
                <a:ext uri="{FF2B5EF4-FFF2-40B4-BE49-F238E27FC236}">
                  <a16:creationId xmlns:a16="http://schemas.microsoft.com/office/drawing/2014/main" id="{3B05F17F-5B0B-49AC-47E0-360EE6881002}"/>
                </a:ext>
              </a:extLst>
            </p:cNvPr>
            <p:cNvCxnSpPr>
              <a:cxnSpLocks/>
              <a:stCxn id="426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>
              <a:extLst>
                <a:ext uri="{FF2B5EF4-FFF2-40B4-BE49-F238E27FC236}">
                  <a16:creationId xmlns:a16="http://schemas.microsoft.com/office/drawing/2014/main" id="{E0ACD1E4-71D6-3DFC-022B-A955A8214DDA}"/>
                </a:ext>
              </a:extLst>
            </p:cNvPr>
            <p:cNvCxnSpPr>
              <a:cxnSpLocks/>
              <a:stCxn id="426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Arrow Connector 428">
              <a:extLst>
                <a:ext uri="{FF2B5EF4-FFF2-40B4-BE49-F238E27FC236}">
                  <a16:creationId xmlns:a16="http://schemas.microsoft.com/office/drawing/2014/main" id="{70DF40FE-D53C-8B31-BE52-5FAF6F07236F}"/>
                </a:ext>
              </a:extLst>
            </p:cNvPr>
            <p:cNvCxnSpPr>
              <a:cxnSpLocks/>
              <a:stCxn id="426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1367C51A-6399-552F-90B9-466A806185CA}"/>
                </a:ext>
              </a:extLst>
            </p:cNvPr>
            <p:cNvCxnSpPr>
              <a:cxnSpLocks/>
              <a:stCxn id="426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Arrow Connector 430">
              <a:extLst>
                <a:ext uri="{FF2B5EF4-FFF2-40B4-BE49-F238E27FC236}">
                  <a16:creationId xmlns:a16="http://schemas.microsoft.com/office/drawing/2014/main" id="{3B941F5B-07FA-EB42-EC6C-C450EA3D89B9}"/>
                </a:ext>
              </a:extLst>
            </p:cNvPr>
            <p:cNvCxnSpPr>
              <a:cxnSpLocks/>
              <a:stCxn id="426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Arrow Connector 431">
              <a:extLst>
                <a:ext uri="{FF2B5EF4-FFF2-40B4-BE49-F238E27FC236}">
                  <a16:creationId xmlns:a16="http://schemas.microsoft.com/office/drawing/2014/main" id="{DD269856-82CE-6345-9282-774853905488}"/>
                </a:ext>
              </a:extLst>
            </p:cNvPr>
            <p:cNvCxnSpPr>
              <a:cxnSpLocks/>
              <a:stCxn id="426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516379BC-4CA1-BF36-AC76-5BFC2EE408F0}"/>
              </a:ext>
            </a:extLst>
          </p:cNvPr>
          <p:cNvGrpSpPr/>
          <p:nvPr/>
        </p:nvGrpSpPr>
        <p:grpSpPr>
          <a:xfrm>
            <a:off x="7309683" y="3013059"/>
            <a:ext cx="700392" cy="622040"/>
            <a:chOff x="5047748" y="1501150"/>
            <a:chExt cx="1071858" cy="951950"/>
          </a:xfrm>
        </p:grpSpPr>
        <p:cxnSp>
          <p:nvCxnSpPr>
            <p:cNvPr id="434" name="Straight Arrow Connector 433">
              <a:extLst>
                <a:ext uri="{FF2B5EF4-FFF2-40B4-BE49-F238E27FC236}">
                  <a16:creationId xmlns:a16="http://schemas.microsoft.com/office/drawing/2014/main" id="{C37572DA-2090-4AFF-17DA-767EA4BD275E}"/>
                </a:ext>
              </a:extLst>
            </p:cNvPr>
            <p:cNvCxnSpPr>
              <a:cxnSpLocks/>
              <a:stCxn id="435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0A447B0C-2E23-F012-01C6-62EBD6DA420B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3806CD89-CE04-C591-67C7-146A2EB4CAB7}"/>
                </a:ext>
              </a:extLst>
            </p:cNvPr>
            <p:cNvCxnSpPr>
              <a:cxnSpLocks/>
              <a:stCxn id="435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Arrow Connector 436">
              <a:extLst>
                <a:ext uri="{FF2B5EF4-FFF2-40B4-BE49-F238E27FC236}">
                  <a16:creationId xmlns:a16="http://schemas.microsoft.com/office/drawing/2014/main" id="{87F8959F-3F48-D6A1-D8D9-06AB13A3C6BD}"/>
                </a:ext>
              </a:extLst>
            </p:cNvPr>
            <p:cNvCxnSpPr>
              <a:cxnSpLocks/>
              <a:stCxn id="435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Arrow Connector 437">
              <a:extLst>
                <a:ext uri="{FF2B5EF4-FFF2-40B4-BE49-F238E27FC236}">
                  <a16:creationId xmlns:a16="http://schemas.microsoft.com/office/drawing/2014/main" id="{4640454B-3BC5-1CA2-515C-14F92814834B}"/>
                </a:ext>
              </a:extLst>
            </p:cNvPr>
            <p:cNvCxnSpPr>
              <a:cxnSpLocks/>
              <a:stCxn id="435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Arrow Connector 438">
              <a:extLst>
                <a:ext uri="{FF2B5EF4-FFF2-40B4-BE49-F238E27FC236}">
                  <a16:creationId xmlns:a16="http://schemas.microsoft.com/office/drawing/2014/main" id="{692773EC-CFAC-8CDC-AC9C-E0EE02ECF99D}"/>
                </a:ext>
              </a:extLst>
            </p:cNvPr>
            <p:cNvCxnSpPr>
              <a:cxnSpLocks/>
              <a:stCxn id="435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Arrow Connector 439">
              <a:extLst>
                <a:ext uri="{FF2B5EF4-FFF2-40B4-BE49-F238E27FC236}">
                  <a16:creationId xmlns:a16="http://schemas.microsoft.com/office/drawing/2014/main" id="{DA044E50-69B9-19AF-3D18-F266E82C0AF6}"/>
                </a:ext>
              </a:extLst>
            </p:cNvPr>
            <p:cNvCxnSpPr>
              <a:cxnSpLocks/>
              <a:stCxn id="435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3CCDD795-59E7-A279-ABD4-5B4A4B8D6111}"/>
                </a:ext>
              </a:extLst>
            </p:cNvPr>
            <p:cNvCxnSpPr>
              <a:cxnSpLocks/>
              <a:stCxn id="435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89478C52-FAAA-B642-22F5-0A42BBE503E0}"/>
              </a:ext>
            </a:extLst>
          </p:cNvPr>
          <p:cNvCxnSpPr>
            <a:cxnSpLocks/>
            <a:stCxn id="88" idx="3"/>
            <a:endCxn id="190" idx="5"/>
          </p:cNvCxnSpPr>
          <p:nvPr/>
        </p:nvCxnSpPr>
        <p:spPr>
          <a:xfrm>
            <a:off x="3803495" y="3533136"/>
            <a:ext cx="552222" cy="4793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9536A8AD-E06F-7002-F10D-F8A126EFC2D4}"/>
              </a:ext>
            </a:extLst>
          </p:cNvPr>
          <p:cNvCxnSpPr>
            <a:cxnSpLocks/>
            <a:stCxn id="88" idx="1"/>
            <a:endCxn id="426" idx="7"/>
          </p:cNvCxnSpPr>
          <p:nvPr/>
        </p:nvCxnSpPr>
        <p:spPr>
          <a:xfrm flipH="1">
            <a:off x="2573686" y="3533136"/>
            <a:ext cx="1084146" cy="10121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E398AC5-2610-4BDA-4B4E-B6405FF94D88}"/>
              </a:ext>
            </a:extLst>
          </p:cNvPr>
          <p:cNvCxnSpPr>
            <a:cxnSpLocks/>
            <a:stCxn id="88" idx="1"/>
            <a:endCxn id="417" idx="5"/>
          </p:cNvCxnSpPr>
          <p:nvPr/>
        </p:nvCxnSpPr>
        <p:spPr>
          <a:xfrm flipH="1" flipV="1">
            <a:off x="2603198" y="2844498"/>
            <a:ext cx="1054634" cy="68863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F1DE74B-4282-A373-F291-0AACF1940686}"/>
              </a:ext>
            </a:extLst>
          </p:cNvPr>
          <p:cNvCxnSpPr>
            <a:cxnSpLocks/>
            <a:stCxn id="77" idx="2"/>
            <a:endCxn id="277" idx="6"/>
          </p:cNvCxnSpPr>
          <p:nvPr/>
        </p:nvCxnSpPr>
        <p:spPr>
          <a:xfrm flipH="1">
            <a:off x="6940664" y="4431283"/>
            <a:ext cx="1105626" cy="98675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733480AA-7462-B167-77B2-A77B9A154006}"/>
              </a:ext>
            </a:extLst>
          </p:cNvPr>
          <p:cNvCxnSpPr>
            <a:cxnSpLocks/>
            <a:stCxn id="77" idx="1"/>
            <a:endCxn id="268" idx="6"/>
          </p:cNvCxnSpPr>
          <p:nvPr/>
        </p:nvCxnSpPr>
        <p:spPr>
          <a:xfrm flipH="1">
            <a:off x="7579883" y="4358452"/>
            <a:ext cx="393575" cy="3586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BF037C6-E4BA-5D5F-0A1B-97D096E8FDC9}"/>
              </a:ext>
            </a:extLst>
          </p:cNvPr>
          <p:cNvCxnSpPr>
            <a:cxnSpLocks/>
            <a:stCxn id="77" idx="1"/>
            <a:endCxn id="399" idx="7"/>
          </p:cNvCxnSpPr>
          <p:nvPr/>
        </p:nvCxnSpPr>
        <p:spPr>
          <a:xfrm flipH="1" flipV="1">
            <a:off x="6977656" y="4069568"/>
            <a:ext cx="995802" cy="28888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05F30914-9845-399D-43EE-F3872DE998C5}"/>
              </a:ext>
            </a:extLst>
          </p:cNvPr>
          <p:cNvCxnSpPr>
            <a:cxnSpLocks/>
            <a:stCxn id="78" idx="2"/>
            <a:endCxn id="435" idx="6"/>
          </p:cNvCxnSpPr>
          <p:nvPr/>
        </p:nvCxnSpPr>
        <p:spPr>
          <a:xfrm flipH="1">
            <a:off x="7659879" y="2936468"/>
            <a:ext cx="20004" cy="3876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97E0C7D4-8ECC-1993-2BAF-E63E4F47025A}"/>
              </a:ext>
            </a:extLst>
          </p:cNvPr>
          <p:cNvCxnSpPr>
            <a:cxnSpLocks/>
            <a:stCxn id="76" idx="2"/>
            <a:endCxn id="408" idx="0"/>
          </p:cNvCxnSpPr>
          <p:nvPr/>
        </p:nvCxnSpPr>
        <p:spPr>
          <a:xfrm flipH="1">
            <a:off x="5845232" y="2816631"/>
            <a:ext cx="449532" cy="88096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>
            <a:extLst>
              <a:ext uri="{FF2B5EF4-FFF2-40B4-BE49-F238E27FC236}">
                <a16:creationId xmlns:a16="http://schemas.microsoft.com/office/drawing/2014/main" id="{08654C78-85DE-7613-F71A-B7691C0895FB}"/>
              </a:ext>
            </a:extLst>
          </p:cNvPr>
          <p:cNvCxnSpPr>
            <a:cxnSpLocks/>
            <a:stCxn id="80" idx="0"/>
            <a:endCxn id="390" idx="5"/>
          </p:cNvCxnSpPr>
          <p:nvPr/>
        </p:nvCxnSpPr>
        <p:spPr>
          <a:xfrm flipH="1" flipV="1">
            <a:off x="8897396" y="2496231"/>
            <a:ext cx="559557" cy="14792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A21009EB-3027-878B-17C3-0457ED0F6B12}"/>
              </a:ext>
            </a:extLst>
          </p:cNvPr>
          <p:cNvCxnSpPr>
            <a:cxnSpLocks/>
            <a:stCxn id="80" idx="2"/>
            <a:endCxn id="381" idx="2"/>
          </p:cNvCxnSpPr>
          <p:nvPr/>
        </p:nvCxnSpPr>
        <p:spPr>
          <a:xfrm flipH="1">
            <a:off x="9122238" y="2789818"/>
            <a:ext cx="334715" cy="44929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20FD4718-45C8-2267-F525-0CE591E18D0A}"/>
              </a:ext>
            </a:extLst>
          </p:cNvPr>
          <p:cNvCxnSpPr>
            <a:cxnSpLocks/>
            <a:stCxn id="80" idx="2"/>
          </p:cNvCxnSpPr>
          <p:nvPr/>
        </p:nvCxnSpPr>
        <p:spPr>
          <a:xfrm flipH="1">
            <a:off x="9406964" y="2789818"/>
            <a:ext cx="49989" cy="101138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>
            <a:extLst>
              <a:ext uri="{FF2B5EF4-FFF2-40B4-BE49-F238E27FC236}">
                <a16:creationId xmlns:a16="http://schemas.microsoft.com/office/drawing/2014/main" id="{41D449BB-9BE4-4ACB-6F86-23B8D80C6418}"/>
              </a:ext>
            </a:extLst>
          </p:cNvPr>
          <p:cNvCxnSpPr>
            <a:cxnSpLocks/>
            <a:stCxn id="75" idx="2"/>
            <a:endCxn id="239" idx="1"/>
          </p:cNvCxnSpPr>
          <p:nvPr/>
        </p:nvCxnSpPr>
        <p:spPr>
          <a:xfrm>
            <a:off x="5320459" y="5510283"/>
            <a:ext cx="12185" cy="43069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Arrow Connector 485">
            <a:extLst>
              <a:ext uri="{FF2B5EF4-FFF2-40B4-BE49-F238E27FC236}">
                <a16:creationId xmlns:a16="http://schemas.microsoft.com/office/drawing/2014/main" id="{CC3702E9-EDE8-C947-E0B1-740F59E52BA3}"/>
              </a:ext>
            </a:extLst>
          </p:cNvPr>
          <p:cNvCxnSpPr>
            <a:cxnSpLocks/>
            <a:stCxn id="75" idx="3"/>
            <a:endCxn id="221" idx="5"/>
          </p:cNvCxnSpPr>
          <p:nvPr/>
        </p:nvCxnSpPr>
        <p:spPr>
          <a:xfrm flipV="1">
            <a:off x="5393290" y="5076120"/>
            <a:ext cx="366908" cy="3613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C9D87FB9-0EAB-3F7A-BB33-D94AF0FCF34F}"/>
              </a:ext>
            </a:extLst>
          </p:cNvPr>
          <p:cNvCxnSpPr>
            <a:cxnSpLocks/>
            <a:stCxn id="75" idx="1"/>
            <a:endCxn id="230" idx="4"/>
          </p:cNvCxnSpPr>
          <p:nvPr/>
        </p:nvCxnSpPr>
        <p:spPr>
          <a:xfrm flipH="1" flipV="1">
            <a:off x="5245379" y="5083973"/>
            <a:ext cx="2248" cy="3534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08E080C-C9DC-B3AB-9029-4B7647EE8B81}"/>
              </a:ext>
            </a:extLst>
          </p:cNvPr>
          <p:cNvSpPr/>
          <p:nvPr/>
        </p:nvSpPr>
        <p:spPr>
          <a:xfrm>
            <a:off x="427220" y="4909279"/>
            <a:ext cx="4144779" cy="1960545"/>
          </a:xfrm>
          <a:custGeom>
            <a:avLst/>
            <a:gdLst>
              <a:gd name="connsiteX0" fmla="*/ 37475 w 4144779"/>
              <a:gd name="connsiteY0" fmla="*/ 0 h 1843790"/>
              <a:gd name="connsiteX1" fmla="*/ 1723869 w 4144779"/>
              <a:gd name="connsiteY1" fmla="*/ 0 h 1843790"/>
              <a:gd name="connsiteX2" fmla="*/ 1723869 w 4144779"/>
              <a:gd name="connsiteY2" fmla="*/ 7495 h 1843790"/>
              <a:gd name="connsiteX3" fmla="*/ 2488367 w 4144779"/>
              <a:gd name="connsiteY3" fmla="*/ 824459 h 1843790"/>
              <a:gd name="connsiteX4" fmla="*/ 3522688 w 4144779"/>
              <a:gd name="connsiteY4" fmla="*/ 824459 h 1843790"/>
              <a:gd name="connsiteX5" fmla="*/ 4144779 w 4144779"/>
              <a:gd name="connsiteY5" fmla="*/ 1446550 h 1843790"/>
              <a:gd name="connsiteX6" fmla="*/ 4144779 w 4144779"/>
              <a:gd name="connsiteY6" fmla="*/ 1843790 h 1843790"/>
              <a:gd name="connsiteX7" fmla="*/ 0 w 4144779"/>
              <a:gd name="connsiteY7" fmla="*/ 1843790 h 1843790"/>
              <a:gd name="connsiteX8" fmla="*/ 0 w 4144779"/>
              <a:gd name="connsiteY8" fmla="*/ 0 h 184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4779" h="1843790">
                <a:moveTo>
                  <a:pt x="37475" y="0"/>
                </a:moveTo>
                <a:lnTo>
                  <a:pt x="1723869" y="0"/>
                </a:lnTo>
                <a:lnTo>
                  <a:pt x="1723869" y="7495"/>
                </a:lnTo>
                <a:lnTo>
                  <a:pt x="2488367" y="824459"/>
                </a:lnTo>
                <a:lnTo>
                  <a:pt x="3522688" y="824459"/>
                </a:lnTo>
                <a:lnTo>
                  <a:pt x="4144779" y="1446550"/>
                </a:lnTo>
                <a:lnTo>
                  <a:pt x="4144779" y="1843790"/>
                </a:lnTo>
                <a:lnTo>
                  <a:pt x="0" y="1843790"/>
                </a:lnTo>
                <a:lnTo>
                  <a:pt x="0" y="0"/>
                </a:lnTo>
              </a:path>
            </a:pathLst>
          </a:custGeom>
          <a:solidFill>
            <a:srgbClr val="9EC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0CAA019-6D16-5851-3F82-3BAD35DC2DEE}"/>
              </a:ext>
            </a:extLst>
          </p:cNvPr>
          <p:cNvGrpSpPr/>
          <p:nvPr/>
        </p:nvGrpSpPr>
        <p:grpSpPr>
          <a:xfrm>
            <a:off x="6519463" y="3259702"/>
            <a:ext cx="700392" cy="622040"/>
            <a:chOff x="5047748" y="1501150"/>
            <a:chExt cx="1071858" cy="951950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5B37ECF-D419-B357-6FDA-AE970C38A5D2}"/>
                </a:ext>
              </a:extLst>
            </p:cNvPr>
            <p:cNvCxnSpPr>
              <a:cxnSpLocks/>
              <a:stCxn id="34" idx="7"/>
            </p:cNvCxnSpPr>
            <p:nvPr/>
          </p:nvCxnSpPr>
          <p:spPr>
            <a:xfrm flipV="1">
              <a:off x="5571658" y="1666672"/>
              <a:ext cx="333212" cy="2814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260602C-7CAA-CD87-A6A6-94C4A69FBD35}"/>
                </a:ext>
              </a:extLst>
            </p:cNvPr>
            <p:cNvSpPr/>
            <p:nvPr/>
          </p:nvSpPr>
          <p:spPr>
            <a:xfrm>
              <a:off x="5501609" y="1936091"/>
              <a:ext cx="82068" cy="82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5E9BC28-4A97-43BB-34C7-CCD081A3B03D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 flipV="1">
              <a:off x="5583677" y="1948110"/>
              <a:ext cx="535929" cy="2901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7C51F77-CE9F-0854-8BCF-5D54C2339054}"/>
                </a:ext>
              </a:extLst>
            </p:cNvPr>
            <p:cNvCxnSpPr>
              <a:cxnSpLocks/>
              <a:stCxn id="34" idx="5"/>
            </p:cNvCxnSpPr>
            <p:nvPr/>
          </p:nvCxnSpPr>
          <p:spPr>
            <a:xfrm>
              <a:off x="5571658" y="2006140"/>
              <a:ext cx="333212" cy="1991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2F85516-06EF-05A8-582B-B01DF8F92BF1}"/>
                </a:ext>
              </a:extLst>
            </p:cNvPr>
            <p:cNvCxnSpPr>
              <a:cxnSpLocks/>
              <a:stCxn id="34" idx="4"/>
            </p:cNvCxnSpPr>
            <p:nvPr/>
          </p:nvCxnSpPr>
          <p:spPr>
            <a:xfrm>
              <a:off x="5542643" y="2018159"/>
              <a:ext cx="177221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E597C92-EDAC-0DA6-3005-7C21550369BF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flipH="1">
              <a:off x="5226669" y="2006140"/>
              <a:ext cx="286959" cy="160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F6773C92-2955-3C25-BC0E-CAA631254BE2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5542643" y="1501150"/>
              <a:ext cx="82068" cy="434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8614A15-3791-8DF3-395D-BB556632FBD2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 flipV="1">
              <a:off x="5047748" y="1731523"/>
              <a:ext cx="465880" cy="21658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E3A5CBF-E0A2-B13F-5A6A-BA58C01F0C79}"/>
              </a:ext>
            </a:extLst>
          </p:cNvPr>
          <p:cNvCxnSpPr>
            <a:cxnSpLocks/>
            <a:stCxn id="78" idx="2"/>
            <a:endCxn id="34" idx="6"/>
          </p:cNvCxnSpPr>
          <p:nvPr/>
        </p:nvCxnSpPr>
        <p:spPr>
          <a:xfrm flipH="1">
            <a:off x="6869659" y="2936468"/>
            <a:ext cx="810224" cy="6342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C0B613-DA18-579F-7658-EDFE3842D52F}"/>
              </a:ext>
            </a:extLst>
          </p:cNvPr>
          <p:cNvSpPr txBox="1"/>
          <p:nvPr/>
        </p:nvSpPr>
        <p:spPr>
          <a:xfrm>
            <a:off x="2956769" y="301417"/>
            <a:ext cx="6282385" cy="369332"/>
          </a:xfrm>
          <a:prstGeom prst="rect">
            <a:avLst/>
          </a:prstGeom>
          <a:solidFill>
            <a:srgbClr val="F7D3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How much inventory to send to each distribution center?           </a:t>
            </a:r>
          </a:p>
        </p:txBody>
      </p:sp>
      <p:sp>
        <p:nvSpPr>
          <p:cNvPr id="6" name="Google Shape;3455;p75">
            <a:extLst>
              <a:ext uri="{FF2B5EF4-FFF2-40B4-BE49-F238E27FC236}">
                <a16:creationId xmlns:a16="http://schemas.microsoft.com/office/drawing/2014/main" id="{4E746B28-6AB7-254F-483F-47884F01B325}"/>
              </a:ext>
            </a:extLst>
          </p:cNvPr>
          <p:cNvSpPr txBox="1">
            <a:spLocks/>
          </p:cNvSpPr>
          <p:nvPr/>
        </p:nvSpPr>
        <p:spPr>
          <a:xfrm>
            <a:off x="2452991" y="179819"/>
            <a:ext cx="7019445" cy="645146"/>
          </a:xfrm>
          <a:prstGeom prst="rect">
            <a:avLst/>
          </a:prstGeom>
          <a:solidFill>
            <a:srgbClr val="F7D3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buFont typeface="Raleway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3) Value function approximations (VFAs)</a:t>
            </a:r>
          </a:p>
        </p:txBody>
      </p:sp>
    </p:spTree>
    <p:extLst>
      <p:ext uri="{BB962C8B-B14F-4D97-AF65-F5344CB8AC3E}">
        <p14:creationId xmlns:p14="http://schemas.microsoft.com/office/powerpoint/2010/main" val="1012385251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779D-4F6C-2C50-E614-B099C133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AA9DFAF-837D-5801-0ACC-A3E13D140BA5}"/>
              </a:ext>
            </a:extLst>
          </p:cNvPr>
          <p:cNvGrpSpPr/>
          <p:nvPr/>
        </p:nvGrpSpPr>
        <p:grpSpPr>
          <a:xfrm>
            <a:off x="0" y="-7392"/>
            <a:ext cx="12221333" cy="6894080"/>
            <a:chOff x="0" y="-7392"/>
            <a:chExt cx="12221333" cy="689408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23A3FA2-D65E-5786-4D45-999E42841FC1}"/>
                </a:ext>
              </a:extLst>
            </p:cNvPr>
            <p:cNvSpPr/>
            <p:nvPr/>
          </p:nvSpPr>
          <p:spPr>
            <a:xfrm>
              <a:off x="0" y="0"/>
              <a:ext cx="12221333" cy="6880485"/>
            </a:xfrm>
            <a:prstGeom prst="rect">
              <a:avLst/>
            </a:prstGeom>
            <a:solidFill>
              <a:srgbClr val="9EC7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0C86BB-E213-225C-3988-8F3821094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506" y="-7392"/>
              <a:ext cx="11150359" cy="6894080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18C0CB1-267C-D2B7-3C5C-A3F8751AAE1A}"/>
              </a:ext>
            </a:extLst>
          </p:cNvPr>
          <p:cNvSpPr/>
          <p:nvPr/>
        </p:nvSpPr>
        <p:spPr>
          <a:xfrm>
            <a:off x="3247394" y="5236062"/>
            <a:ext cx="226828" cy="226828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DC3C96-F31F-60F9-0B5A-069BCD3803B1}"/>
              </a:ext>
            </a:extLst>
          </p:cNvPr>
          <p:cNvCxnSpPr>
            <a:cxnSpLocks/>
            <a:stCxn id="9" idx="3"/>
            <a:endCxn id="77" idx="3"/>
          </p:cNvCxnSpPr>
          <p:nvPr/>
        </p:nvCxnSpPr>
        <p:spPr>
          <a:xfrm flipV="1">
            <a:off x="3474222" y="4358452"/>
            <a:ext cx="4644899" cy="9910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C4E2DC-B9A9-2655-EE01-0C815826558C}"/>
              </a:ext>
            </a:extLst>
          </p:cNvPr>
          <p:cNvCxnSpPr>
            <a:cxnSpLocks/>
            <a:stCxn id="9" idx="0"/>
            <a:endCxn id="74" idx="3"/>
          </p:cNvCxnSpPr>
          <p:nvPr/>
        </p:nvCxnSpPr>
        <p:spPr>
          <a:xfrm flipH="1" flipV="1">
            <a:off x="1835887" y="3167702"/>
            <a:ext cx="1524921" cy="20683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7CA2BC-C89A-0B74-E13F-6EB870EAD650}"/>
              </a:ext>
            </a:extLst>
          </p:cNvPr>
          <p:cNvCxnSpPr>
            <a:cxnSpLocks/>
            <a:stCxn id="9" idx="1"/>
            <a:endCxn id="47" idx="2"/>
          </p:cNvCxnSpPr>
          <p:nvPr/>
        </p:nvCxnSpPr>
        <p:spPr>
          <a:xfrm flipH="1" flipV="1">
            <a:off x="1765578" y="3923171"/>
            <a:ext cx="1481816" cy="14263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0AFF62-8FDA-84F5-73BA-90E7C5130E65}"/>
              </a:ext>
            </a:extLst>
          </p:cNvPr>
          <p:cNvCxnSpPr>
            <a:cxnSpLocks/>
            <a:stCxn id="9" idx="3"/>
            <a:endCxn id="75" idx="1"/>
          </p:cNvCxnSpPr>
          <p:nvPr/>
        </p:nvCxnSpPr>
        <p:spPr>
          <a:xfrm>
            <a:off x="3474222" y="5349476"/>
            <a:ext cx="1773405" cy="8797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0F773E12-DA43-DD41-10A8-3F4DDF144704}"/>
              </a:ext>
            </a:extLst>
          </p:cNvPr>
          <p:cNvSpPr/>
          <p:nvPr/>
        </p:nvSpPr>
        <p:spPr>
          <a:xfrm>
            <a:off x="1692746" y="3777508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C4D6ADA-B212-5DFE-D609-48AEE25F540A}"/>
              </a:ext>
            </a:extLst>
          </p:cNvPr>
          <p:cNvSpPr/>
          <p:nvPr/>
        </p:nvSpPr>
        <p:spPr>
          <a:xfrm>
            <a:off x="1690224" y="309487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CD2D3D3-A8FC-BE3B-0AEB-3D25E10B787A}"/>
              </a:ext>
            </a:extLst>
          </p:cNvPr>
          <p:cNvSpPr/>
          <p:nvPr/>
        </p:nvSpPr>
        <p:spPr>
          <a:xfrm>
            <a:off x="5247627" y="536462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A759C38-5209-2195-BAF1-9160609278DE}"/>
              </a:ext>
            </a:extLst>
          </p:cNvPr>
          <p:cNvSpPr/>
          <p:nvPr/>
        </p:nvSpPr>
        <p:spPr>
          <a:xfrm>
            <a:off x="6221932" y="2670968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D7BC932-2C3C-D9F2-CE83-CF4805342832}"/>
              </a:ext>
            </a:extLst>
          </p:cNvPr>
          <p:cNvSpPr/>
          <p:nvPr/>
        </p:nvSpPr>
        <p:spPr>
          <a:xfrm>
            <a:off x="7973458" y="4285620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B1B7405-30F2-2F04-AA30-AAC6D257652D}"/>
              </a:ext>
            </a:extLst>
          </p:cNvPr>
          <p:cNvSpPr/>
          <p:nvPr/>
        </p:nvSpPr>
        <p:spPr>
          <a:xfrm>
            <a:off x="7607051" y="2790805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A016244-B6AA-5E91-9237-9C624C712E35}"/>
              </a:ext>
            </a:extLst>
          </p:cNvPr>
          <p:cNvSpPr/>
          <p:nvPr/>
        </p:nvSpPr>
        <p:spPr>
          <a:xfrm>
            <a:off x="9384121" y="2644155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1F77E09-F9E3-BBA2-EDE6-C3B1E79FBA95}"/>
              </a:ext>
            </a:extLst>
          </p:cNvPr>
          <p:cNvCxnSpPr>
            <a:cxnSpLocks/>
            <a:stCxn id="9" idx="0"/>
            <a:endCxn id="76" idx="2"/>
          </p:cNvCxnSpPr>
          <p:nvPr/>
        </p:nvCxnSpPr>
        <p:spPr>
          <a:xfrm flipV="1">
            <a:off x="3360808" y="2816631"/>
            <a:ext cx="2933956" cy="24194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EB58867F-B43C-CC06-E8C3-94889E8EDA22}"/>
              </a:ext>
            </a:extLst>
          </p:cNvPr>
          <p:cNvSpPr/>
          <p:nvPr/>
        </p:nvSpPr>
        <p:spPr>
          <a:xfrm>
            <a:off x="3657832" y="3460304"/>
            <a:ext cx="145663" cy="14566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BDCBB0A-2095-0987-93CB-7122D2DFBB8B}"/>
              </a:ext>
            </a:extLst>
          </p:cNvPr>
          <p:cNvCxnSpPr>
            <a:cxnSpLocks/>
            <a:stCxn id="9" idx="0"/>
            <a:endCxn id="88" idx="2"/>
          </p:cNvCxnSpPr>
          <p:nvPr/>
        </p:nvCxnSpPr>
        <p:spPr>
          <a:xfrm flipV="1">
            <a:off x="3360808" y="3605967"/>
            <a:ext cx="369856" cy="163009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B030E8A-6EA6-2B3F-2E60-439DA32BDBB0}"/>
              </a:ext>
            </a:extLst>
          </p:cNvPr>
          <p:cNvCxnSpPr>
            <a:cxnSpLocks/>
            <a:stCxn id="9" idx="3"/>
            <a:endCxn id="78" idx="1"/>
          </p:cNvCxnSpPr>
          <p:nvPr/>
        </p:nvCxnSpPr>
        <p:spPr>
          <a:xfrm flipV="1">
            <a:off x="3474222" y="2863637"/>
            <a:ext cx="4132829" cy="248583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0F89687-FA38-CD7D-0DC7-339BAD099309}"/>
              </a:ext>
            </a:extLst>
          </p:cNvPr>
          <p:cNvCxnSpPr>
            <a:cxnSpLocks/>
            <a:stCxn id="9" idx="3"/>
            <a:endCxn id="80" idx="1"/>
          </p:cNvCxnSpPr>
          <p:nvPr/>
        </p:nvCxnSpPr>
        <p:spPr>
          <a:xfrm flipV="1">
            <a:off x="3474222" y="2716987"/>
            <a:ext cx="5909899" cy="263248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EB69FF07-42B3-169F-56EB-EBEB386C402A}"/>
              </a:ext>
            </a:extLst>
          </p:cNvPr>
          <p:cNvCxnSpPr>
            <a:cxnSpLocks/>
          </p:cNvCxnSpPr>
          <p:nvPr/>
        </p:nvCxnSpPr>
        <p:spPr>
          <a:xfrm flipH="1" flipV="1">
            <a:off x="9979407" y="1713427"/>
            <a:ext cx="38546" cy="3320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543E990-59A2-9DA6-730D-D10C15445F14}"/>
              </a:ext>
            </a:extLst>
          </p:cNvPr>
          <p:cNvSpPr/>
          <p:nvPr/>
        </p:nvSpPr>
        <p:spPr>
          <a:xfrm>
            <a:off x="427220" y="4909279"/>
            <a:ext cx="4144779" cy="1960545"/>
          </a:xfrm>
          <a:custGeom>
            <a:avLst/>
            <a:gdLst>
              <a:gd name="connsiteX0" fmla="*/ 37475 w 4144779"/>
              <a:gd name="connsiteY0" fmla="*/ 0 h 1843790"/>
              <a:gd name="connsiteX1" fmla="*/ 1723869 w 4144779"/>
              <a:gd name="connsiteY1" fmla="*/ 0 h 1843790"/>
              <a:gd name="connsiteX2" fmla="*/ 1723869 w 4144779"/>
              <a:gd name="connsiteY2" fmla="*/ 7495 h 1843790"/>
              <a:gd name="connsiteX3" fmla="*/ 2488367 w 4144779"/>
              <a:gd name="connsiteY3" fmla="*/ 824459 h 1843790"/>
              <a:gd name="connsiteX4" fmla="*/ 3522688 w 4144779"/>
              <a:gd name="connsiteY4" fmla="*/ 824459 h 1843790"/>
              <a:gd name="connsiteX5" fmla="*/ 4144779 w 4144779"/>
              <a:gd name="connsiteY5" fmla="*/ 1446550 h 1843790"/>
              <a:gd name="connsiteX6" fmla="*/ 4144779 w 4144779"/>
              <a:gd name="connsiteY6" fmla="*/ 1843790 h 1843790"/>
              <a:gd name="connsiteX7" fmla="*/ 0 w 4144779"/>
              <a:gd name="connsiteY7" fmla="*/ 1843790 h 1843790"/>
              <a:gd name="connsiteX8" fmla="*/ 0 w 4144779"/>
              <a:gd name="connsiteY8" fmla="*/ 0 h 184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4779" h="1843790">
                <a:moveTo>
                  <a:pt x="37475" y="0"/>
                </a:moveTo>
                <a:lnTo>
                  <a:pt x="1723869" y="0"/>
                </a:lnTo>
                <a:lnTo>
                  <a:pt x="1723869" y="7495"/>
                </a:lnTo>
                <a:lnTo>
                  <a:pt x="2488367" y="824459"/>
                </a:lnTo>
                <a:lnTo>
                  <a:pt x="3522688" y="824459"/>
                </a:lnTo>
                <a:lnTo>
                  <a:pt x="4144779" y="1446550"/>
                </a:lnTo>
                <a:lnTo>
                  <a:pt x="4144779" y="1843790"/>
                </a:lnTo>
                <a:lnTo>
                  <a:pt x="0" y="1843790"/>
                </a:lnTo>
                <a:lnTo>
                  <a:pt x="0" y="0"/>
                </a:lnTo>
              </a:path>
            </a:pathLst>
          </a:custGeom>
          <a:solidFill>
            <a:srgbClr val="9EC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682E75-1539-FA27-0C54-4F5ACBE8BEB3}"/>
              </a:ext>
            </a:extLst>
          </p:cNvPr>
          <p:cNvGrpSpPr/>
          <p:nvPr/>
        </p:nvGrpSpPr>
        <p:grpSpPr>
          <a:xfrm>
            <a:off x="1337032" y="2447811"/>
            <a:ext cx="6664862" cy="1911037"/>
            <a:chOff x="1337032" y="2447811"/>
            <a:chExt cx="6664862" cy="191103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144885C-5D07-051D-55FA-46068E19EA82}"/>
                </a:ext>
              </a:extLst>
            </p:cNvPr>
            <p:cNvSpPr txBox="1"/>
            <p:nvPr/>
          </p:nvSpPr>
          <p:spPr>
            <a:xfrm>
              <a:off x="1337032" y="3197132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4400" dirty="0">
                <a:latin typeface="+mn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AED990-AC05-4970-A253-E8CD8C0EA373}"/>
                </a:ext>
              </a:extLst>
            </p:cNvPr>
            <p:cNvSpPr txBox="1"/>
            <p:nvPr/>
          </p:nvSpPr>
          <p:spPr>
            <a:xfrm>
              <a:off x="1349207" y="2447811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4400" dirty="0">
                <a:latin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028789-0FC3-ADB0-4093-02F363015BD0}"/>
                </a:ext>
              </a:extLst>
            </p:cNvPr>
            <p:cNvSpPr txBox="1"/>
            <p:nvPr/>
          </p:nvSpPr>
          <p:spPr>
            <a:xfrm>
              <a:off x="3431117" y="2748550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4400" dirty="0">
                <a:latin typeface="+mn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C95C51-0F65-33AD-0C4A-E6B54327D3CC}"/>
                </a:ext>
              </a:extLst>
            </p:cNvPr>
            <p:cNvSpPr txBox="1"/>
            <p:nvPr/>
          </p:nvSpPr>
          <p:spPr>
            <a:xfrm>
              <a:off x="7817163" y="3589407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4400" dirty="0">
                <a:latin typeface="+mn-lt"/>
              </a:endParaRPr>
            </a:p>
          </p:txBody>
        </p:sp>
      </p:grpSp>
      <p:sp>
        <p:nvSpPr>
          <p:cNvPr id="492" name="TextBox 491">
            <a:extLst>
              <a:ext uri="{FF2B5EF4-FFF2-40B4-BE49-F238E27FC236}">
                <a16:creationId xmlns:a16="http://schemas.microsoft.com/office/drawing/2014/main" id="{1D7BEF97-E63E-AD11-3D7D-5A4CDF8EC5FA}"/>
              </a:ext>
            </a:extLst>
          </p:cNvPr>
          <p:cNvSpPr txBox="1"/>
          <p:nvPr/>
        </p:nvSpPr>
        <p:spPr>
          <a:xfrm>
            <a:off x="295394" y="981151"/>
            <a:ext cx="6611045" cy="338554"/>
          </a:xfrm>
          <a:prstGeom prst="rect">
            <a:avLst/>
          </a:prstGeom>
          <a:solidFill>
            <a:srgbClr val="FFFFD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Value function approximations capture the marginal value of inventory.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1A00937E-12A0-F8B1-2A58-BAC739BB72CE}"/>
              </a:ext>
            </a:extLst>
          </p:cNvPr>
          <p:cNvSpPr txBox="1"/>
          <p:nvPr/>
        </p:nvSpPr>
        <p:spPr>
          <a:xfrm>
            <a:off x="2956769" y="301417"/>
            <a:ext cx="6282385" cy="369332"/>
          </a:xfrm>
          <a:prstGeom prst="rect">
            <a:avLst/>
          </a:prstGeom>
          <a:solidFill>
            <a:srgbClr val="F7D3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How much inventory to send to each distribution center?           </a:t>
            </a:r>
          </a:p>
        </p:txBody>
      </p:sp>
      <p:sp>
        <p:nvSpPr>
          <p:cNvPr id="20" name="Google Shape;3455;p75">
            <a:extLst>
              <a:ext uri="{FF2B5EF4-FFF2-40B4-BE49-F238E27FC236}">
                <a16:creationId xmlns:a16="http://schemas.microsoft.com/office/drawing/2014/main" id="{0D402EB1-495D-141C-DB95-8D910D9BEDBD}"/>
              </a:ext>
            </a:extLst>
          </p:cNvPr>
          <p:cNvSpPr txBox="1">
            <a:spLocks/>
          </p:cNvSpPr>
          <p:nvPr/>
        </p:nvSpPr>
        <p:spPr>
          <a:xfrm>
            <a:off x="2452991" y="179819"/>
            <a:ext cx="7019445" cy="645146"/>
          </a:xfrm>
          <a:prstGeom prst="rect">
            <a:avLst/>
          </a:prstGeom>
          <a:solidFill>
            <a:srgbClr val="F7D3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buFont typeface="Raleway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3) Value function approximations (VFAs)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A2385D-F36D-22B5-BD87-6B2A4DFF66D3}"/>
              </a:ext>
            </a:extLst>
          </p:cNvPr>
          <p:cNvGrpSpPr/>
          <p:nvPr/>
        </p:nvGrpSpPr>
        <p:grpSpPr>
          <a:xfrm>
            <a:off x="835916" y="1763862"/>
            <a:ext cx="9328804" cy="3826603"/>
            <a:chOff x="835916" y="1763862"/>
            <a:chExt cx="9328804" cy="382660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5760E40-58EC-C152-D5E4-1A674AB69B4F}"/>
                </a:ext>
              </a:extLst>
            </p:cNvPr>
            <p:cNvGrpSpPr/>
            <p:nvPr/>
          </p:nvGrpSpPr>
          <p:grpSpPr>
            <a:xfrm>
              <a:off x="835916" y="3544955"/>
              <a:ext cx="954947" cy="772341"/>
              <a:chOff x="4345780" y="3202172"/>
              <a:chExt cx="954947" cy="772341"/>
            </a:xfrm>
          </p:grpSpPr>
          <p:cxnSp>
            <p:nvCxnSpPr>
              <p:cNvPr id="463" name="Straight Arrow Connector 462">
                <a:extLst>
                  <a:ext uri="{FF2B5EF4-FFF2-40B4-BE49-F238E27FC236}">
                    <a16:creationId xmlns:a16="http://schemas.microsoft.com/office/drawing/2014/main" id="{A5E11523-2D49-B407-8199-9134DFF16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Straight Arrow Connector 465">
                <a:extLst>
                  <a:ext uri="{FF2B5EF4-FFF2-40B4-BE49-F238E27FC236}">
                    <a16:creationId xmlns:a16="http://schemas.microsoft.com/office/drawing/2014/main" id="{41F65436-ACD1-C06F-4AED-E87AC2360F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7C48959B-A254-669F-FD47-66F6C1EAEC7D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9EC1AE76-221A-F0A5-12C2-A7AE619C849D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7C03EB2-95F1-11FB-FAF1-4BF898530679}"/>
                </a:ext>
              </a:extLst>
            </p:cNvPr>
            <p:cNvGrpSpPr/>
            <p:nvPr/>
          </p:nvGrpSpPr>
          <p:grpSpPr>
            <a:xfrm>
              <a:off x="1413694" y="2636876"/>
              <a:ext cx="770444" cy="415506"/>
              <a:chOff x="4345780" y="3202172"/>
              <a:chExt cx="954947" cy="772341"/>
            </a:xfrm>
          </p:grpSpPr>
          <p:cxnSp>
            <p:nvCxnSpPr>
              <p:cNvPr id="448" name="Straight Arrow Connector 447">
                <a:extLst>
                  <a:ext uri="{FF2B5EF4-FFF2-40B4-BE49-F238E27FC236}">
                    <a16:creationId xmlns:a16="http://schemas.microsoft.com/office/drawing/2014/main" id="{91BD0592-BEFB-C915-A206-71BADCA272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Arrow Connector 451">
                <a:extLst>
                  <a:ext uri="{FF2B5EF4-FFF2-40B4-BE49-F238E27FC236}">
                    <a16:creationId xmlns:a16="http://schemas.microsoft.com/office/drawing/2014/main" id="{98377C10-07C8-5665-4282-C5BAF7D4C4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6AA22E84-77BB-615B-8D82-CA83FCD0165B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26082AF2-166C-D013-84FB-9621F924F045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6E8387A-AAAE-ACF9-C83D-3822B4C12347}"/>
                </a:ext>
              </a:extLst>
            </p:cNvPr>
            <p:cNvGrpSpPr/>
            <p:nvPr/>
          </p:nvGrpSpPr>
          <p:grpSpPr>
            <a:xfrm>
              <a:off x="3429148" y="2915419"/>
              <a:ext cx="770444" cy="415506"/>
              <a:chOff x="4345780" y="3202172"/>
              <a:chExt cx="954947" cy="772341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2FBAF55F-FBF3-914A-761D-9363F3EE9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86E6C3C9-8692-B183-AC97-CE6F430E08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C1CF51-2823-02CD-CFF4-1E714B014539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5E83F774-8D20-DF8C-97D1-54B8495F79E0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FA19F21-910B-FA32-5521-DCA815510F5D}"/>
                </a:ext>
              </a:extLst>
            </p:cNvPr>
            <p:cNvGrpSpPr/>
            <p:nvPr/>
          </p:nvGrpSpPr>
          <p:grpSpPr>
            <a:xfrm>
              <a:off x="5449998" y="4909279"/>
              <a:ext cx="1071594" cy="681186"/>
              <a:chOff x="4345780" y="3202172"/>
              <a:chExt cx="954947" cy="772341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9E1FF7A-A55E-338D-6011-107429C4BA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D040D018-8504-4EFC-0586-B212593E36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CB3F2C7-175D-B3DE-2E33-E3C8ACA64F35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F2A9E29-6223-B2BB-23D3-CC81645C236B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1DA7677-92BE-C437-97FD-1563D25C23F2}"/>
                </a:ext>
              </a:extLst>
            </p:cNvPr>
            <p:cNvGrpSpPr/>
            <p:nvPr/>
          </p:nvGrpSpPr>
          <p:grpSpPr>
            <a:xfrm>
              <a:off x="5893374" y="1991833"/>
              <a:ext cx="940612" cy="611740"/>
              <a:chOff x="4345780" y="3202172"/>
              <a:chExt cx="954947" cy="772341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744A98D-63C0-5CBB-2ACE-0B3DA1AADD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FA5FF0B0-AA44-2D6C-0968-4D1B1952F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103ABA4-3333-FAE1-A93B-EADCB9BC4CE8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46E356C-5361-8E9B-B4D2-679F570E9E52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385C605-8136-DB2F-A1EC-157098CE5792}"/>
                </a:ext>
              </a:extLst>
            </p:cNvPr>
            <p:cNvGrpSpPr/>
            <p:nvPr/>
          </p:nvGrpSpPr>
          <p:grpSpPr>
            <a:xfrm>
              <a:off x="7313066" y="2078857"/>
              <a:ext cx="1079568" cy="620681"/>
              <a:chOff x="4345780" y="3202172"/>
              <a:chExt cx="954947" cy="772341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5BFBC48-EBE9-11F5-61F9-2C0AEDE620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2888A17-3528-5185-7B4F-9B7FB9C351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E1DA90E4-873E-1AB8-1191-12520801EE69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910B444-D0F0-6193-391A-895DA962DB4D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67EAD71-F0DB-4D8D-8630-10AA703B1509}"/>
                </a:ext>
              </a:extLst>
            </p:cNvPr>
            <p:cNvGrpSpPr/>
            <p:nvPr/>
          </p:nvGrpSpPr>
          <p:grpSpPr>
            <a:xfrm>
              <a:off x="7607577" y="3890969"/>
              <a:ext cx="863028" cy="428850"/>
              <a:chOff x="4345780" y="3202172"/>
              <a:chExt cx="954947" cy="772341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E1352CD-87F1-A8BF-C9BA-7121F270C8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8B80504-F629-E7F1-3E58-32A894771E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AA3110B-AB13-07CE-C5B0-1B4B803769C3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DC22F0D-FCE3-2BD0-702D-6D12B44ACFD5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DCCE094-23F0-DEEC-6745-80F0E2350E90}"/>
                </a:ext>
              </a:extLst>
            </p:cNvPr>
            <p:cNvGrpSpPr/>
            <p:nvPr/>
          </p:nvGrpSpPr>
          <p:grpSpPr>
            <a:xfrm>
              <a:off x="8992167" y="1763862"/>
              <a:ext cx="1172553" cy="773568"/>
              <a:chOff x="4345780" y="3202172"/>
              <a:chExt cx="954947" cy="772341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2FA8AF63-9125-F9FB-1384-71C9B89EBE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780" y="3974513"/>
                <a:ext cx="9549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C8A8280E-B8BA-AD07-D9EA-1278B9F218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5781" y="3202172"/>
                <a:ext cx="0" cy="7723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9686078-BD0B-E257-6714-D196B3C1BDAE}"/>
                  </a:ext>
                </a:extLst>
              </p:cNvPr>
              <p:cNvSpPr/>
              <p:nvPr/>
            </p:nvSpPr>
            <p:spPr>
              <a:xfrm>
                <a:off x="4356100" y="3244850"/>
                <a:ext cx="612775" cy="717550"/>
              </a:xfrm>
              <a:custGeom>
                <a:avLst/>
                <a:gdLst>
                  <a:gd name="connsiteX0" fmla="*/ 0 w 606425"/>
                  <a:gd name="connsiteY0" fmla="*/ 717550 h 717550"/>
                  <a:gd name="connsiteX1" fmla="*/ 117475 w 606425"/>
                  <a:gd name="connsiteY1" fmla="*/ 365125 h 717550"/>
                  <a:gd name="connsiteX2" fmla="*/ 304800 w 606425"/>
                  <a:gd name="connsiteY2" fmla="*/ 133350 h 717550"/>
                  <a:gd name="connsiteX3" fmla="*/ 606425 w 606425"/>
                  <a:gd name="connsiteY3" fmla="*/ 0 h 717550"/>
                  <a:gd name="connsiteX4" fmla="*/ 606425 w 606425"/>
                  <a:gd name="connsiteY4" fmla="*/ 714375 h 717550"/>
                  <a:gd name="connsiteX5" fmla="*/ 0 w 606425"/>
                  <a:gd name="connsiteY5" fmla="*/ 717550 h 717550"/>
                  <a:gd name="connsiteX0" fmla="*/ 0 w 612775"/>
                  <a:gd name="connsiteY0" fmla="*/ 717550 h 717550"/>
                  <a:gd name="connsiteX1" fmla="*/ 117475 w 612775"/>
                  <a:gd name="connsiteY1" fmla="*/ 36512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  <a:gd name="connsiteX0" fmla="*/ 0 w 612775"/>
                  <a:gd name="connsiteY0" fmla="*/ 717550 h 717550"/>
                  <a:gd name="connsiteX1" fmla="*/ 92075 w 612775"/>
                  <a:gd name="connsiteY1" fmla="*/ 396875 h 717550"/>
                  <a:gd name="connsiteX2" fmla="*/ 304800 w 612775"/>
                  <a:gd name="connsiteY2" fmla="*/ 133350 h 717550"/>
                  <a:gd name="connsiteX3" fmla="*/ 606425 w 612775"/>
                  <a:gd name="connsiteY3" fmla="*/ 0 h 717550"/>
                  <a:gd name="connsiteX4" fmla="*/ 612775 w 612775"/>
                  <a:gd name="connsiteY4" fmla="*/ 717550 h 717550"/>
                  <a:gd name="connsiteX5" fmla="*/ 0 w 612775"/>
                  <a:gd name="connsiteY5" fmla="*/ 717550 h 71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2775" h="717550">
                    <a:moveTo>
                      <a:pt x="0" y="717550"/>
                    </a:moveTo>
                    <a:lnTo>
                      <a:pt x="92075" y="396875"/>
                    </a:lnTo>
                    <a:lnTo>
                      <a:pt x="304800" y="133350"/>
                    </a:lnTo>
                    <a:lnTo>
                      <a:pt x="606425" y="0"/>
                    </a:lnTo>
                    <a:cubicBezTo>
                      <a:pt x="608542" y="239183"/>
                      <a:pt x="610658" y="478367"/>
                      <a:pt x="612775" y="717550"/>
                    </a:cubicBezTo>
                    <a:lnTo>
                      <a:pt x="0" y="7175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CAD2E7A-C148-2F54-FE17-0C46A9D60015}"/>
                  </a:ext>
                </a:extLst>
              </p:cNvPr>
              <p:cNvSpPr/>
              <p:nvPr/>
            </p:nvSpPr>
            <p:spPr>
              <a:xfrm>
                <a:off x="4352907" y="3235081"/>
                <a:ext cx="933567" cy="728207"/>
              </a:xfrm>
              <a:custGeom>
                <a:avLst/>
                <a:gdLst>
                  <a:gd name="connsiteX0" fmla="*/ 0 w 887306"/>
                  <a:gd name="connsiteY0" fmla="*/ 670560 h 670560"/>
                  <a:gd name="connsiteX1" fmla="*/ 101600 w 887306"/>
                  <a:gd name="connsiteY1" fmla="*/ 358986 h 670560"/>
                  <a:gd name="connsiteX2" fmla="*/ 284480 w 887306"/>
                  <a:gd name="connsiteY2" fmla="*/ 142240 h 670560"/>
                  <a:gd name="connsiteX3" fmla="*/ 568960 w 887306"/>
                  <a:gd name="connsiteY3" fmla="*/ 13546 h 670560"/>
                  <a:gd name="connsiteX4" fmla="*/ 887306 w 887306"/>
                  <a:gd name="connsiteY4" fmla="*/ 0 h 670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7306" h="670560">
                    <a:moveTo>
                      <a:pt x="0" y="670560"/>
                    </a:moveTo>
                    <a:lnTo>
                      <a:pt x="101600" y="358986"/>
                    </a:lnTo>
                    <a:lnTo>
                      <a:pt x="284480" y="142240"/>
                    </a:lnTo>
                    <a:lnTo>
                      <a:pt x="568960" y="13546"/>
                    </a:lnTo>
                    <a:lnTo>
                      <a:pt x="887306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BC5AC2-C1C1-8CE2-A63C-F31441D9C0FD}"/>
              </a:ext>
            </a:extLst>
          </p:cNvPr>
          <p:cNvGrpSpPr/>
          <p:nvPr/>
        </p:nvGrpSpPr>
        <p:grpSpPr>
          <a:xfrm>
            <a:off x="10042294" y="3757988"/>
            <a:ext cx="2005278" cy="2837033"/>
            <a:chOff x="10042294" y="3757988"/>
            <a:chExt cx="2005278" cy="28370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1E4DCD0-BD3F-25A5-DED1-4F0E688FF2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30"/>
            <a:stretch/>
          </p:blipFill>
          <p:spPr>
            <a:xfrm>
              <a:off x="10042294" y="3757988"/>
              <a:ext cx="2005278" cy="283703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8FB79F-E743-5ADD-C02C-CDC93F352BB5}"/>
                </a:ext>
              </a:extLst>
            </p:cNvPr>
            <p:cNvSpPr txBox="1"/>
            <p:nvPr/>
          </p:nvSpPr>
          <p:spPr>
            <a:xfrm>
              <a:off x="10151471" y="5638448"/>
              <a:ext cx="1774845" cy="369332"/>
            </a:xfrm>
            <a:prstGeom prst="rect">
              <a:avLst/>
            </a:prstGeom>
            <a:solidFill>
              <a:srgbClr val="200D25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Chapters 14-18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9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3" name="Google Shape;4353;p93"/>
          <p:cNvSpPr txBox="1">
            <a:spLocks noGrp="1"/>
          </p:cNvSpPr>
          <p:nvPr>
            <p:ph type="body" idx="1"/>
          </p:nvPr>
        </p:nvSpPr>
        <p:spPr>
          <a:xfrm>
            <a:off x="2787113" y="2304523"/>
            <a:ext cx="50601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1" indent="-251459" algn="l" rtl="0">
              <a:spcBef>
                <a:spcPts val="48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The deterministic lookahead model</a:t>
            </a:r>
            <a:endParaRPr sz="1800" b="1" dirty="0">
              <a:solidFill>
                <a:schemeClr val="accent2">
                  <a:lumMod val="75000"/>
                </a:schemeClr>
              </a:solidFill>
              <a:latin typeface="Raleway" pitchFamily="2" charset="0"/>
            </a:endParaRPr>
          </a:p>
          <a:p>
            <a:pPr marL="502919" lvl="2" indent="-2260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This is what is most widely used in practice.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02919" lvl="2" indent="-2260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Standard approach is to use a “best estimate” (which means deterministic) of travel times in the future.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02919" lvl="2" indent="-2260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This is often referred to as “model predictive control”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28600" lvl="1" indent="-251459">
              <a:spcBef>
                <a:spcPts val="1000"/>
              </a:spcBef>
              <a:buClr>
                <a:srgbClr val="42D2FF"/>
              </a:buClr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Robust optimization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- We could use the 90</a:t>
            </a:r>
            <a:r>
              <a:rPr lang="en-US" sz="1800" baseline="30000" dirty="0">
                <a:latin typeface="Raleway" pitchFamily="2" charset="0"/>
                <a:ea typeface="Raleway Thin"/>
                <a:cs typeface="Raleway Thin"/>
                <a:sym typeface="Raleway Thin"/>
              </a:rPr>
              <a:t>th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 percentile of travel times.</a:t>
            </a:r>
          </a:p>
          <a:p>
            <a:pPr marL="228600" lvl="1" indent="-251459">
              <a:spcBef>
                <a:spcPts val="1000"/>
              </a:spcBef>
              <a:buClr>
                <a:srgbClr val="42D2FF"/>
              </a:buClr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Decision trees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–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 Popular with decision analysis community</a:t>
            </a:r>
          </a:p>
          <a:p>
            <a:pPr marL="228600" lvl="1" indent="-251459">
              <a:spcBef>
                <a:spcPts val="1000"/>
              </a:spcBef>
              <a:buClr>
                <a:srgbClr val="42D2FF"/>
              </a:buClr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Approximate dynamic programming applied to approximate lookahead model</a:t>
            </a:r>
          </a:p>
          <a:p>
            <a:pPr marL="228600" lvl="1" indent="-251459">
              <a:spcBef>
                <a:spcPts val="1000"/>
              </a:spcBef>
              <a:buClr>
                <a:srgbClr val="42D2FF"/>
              </a:buClr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Stochastic programming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– We represent the future using, say, 20 samples.</a:t>
            </a:r>
          </a:p>
          <a:p>
            <a:pPr marL="228600" lvl="1" indent="-13716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200" dirty="0">
              <a:latin typeface="Raleway" pitchFamily="2" charset="0"/>
            </a:endParaRPr>
          </a:p>
        </p:txBody>
      </p:sp>
      <p:pic>
        <p:nvPicPr>
          <p:cNvPr id="4354" name="Google Shape;4354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6485" y="1143000"/>
            <a:ext cx="3185910" cy="2847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5" name="Google Shape;4355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96485" y="4025815"/>
            <a:ext cx="3185910" cy="2743994"/>
          </a:xfrm>
          <a:prstGeom prst="rect">
            <a:avLst/>
          </a:prstGeom>
          <a:noFill/>
          <a:ln>
            <a:noFill/>
          </a:ln>
        </p:spPr>
      </p:pic>
      <p:sp>
        <p:nvSpPr>
          <p:cNvPr id="4356" name="Google Shape;4356;p93"/>
          <p:cNvSpPr/>
          <p:nvPr/>
        </p:nvSpPr>
        <p:spPr>
          <a:xfrm>
            <a:off x="9232067" y="2645009"/>
            <a:ext cx="564600" cy="576900"/>
          </a:xfrm>
          <a:prstGeom prst="ellipse">
            <a:avLst/>
          </a:prstGeom>
          <a:noFill/>
          <a:ln w="38100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dist="38100" dir="5640000" algn="bl" rotWithShape="0">
              <a:srgbClr val="000000">
                <a:alpha val="76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7" name="Google Shape;4357;p93"/>
          <p:cNvSpPr/>
          <p:nvPr/>
        </p:nvSpPr>
        <p:spPr>
          <a:xfrm>
            <a:off x="9316960" y="5221488"/>
            <a:ext cx="564600" cy="576900"/>
          </a:xfrm>
          <a:prstGeom prst="ellipse">
            <a:avLst/>
          </a:prstGeom>
          <a:noFill/>
          <a:ln w="38100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dist="28575" dir="5400000" algn="bl" rotWithShape="0">
              <a:srgbClr val="000000">
                <a:alpha val="72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58" name="Google Shape;4358;p93" descr="http://ecx.images-amazon.com/images/I/41GFdOeVAGL.jpg"/>
          <p:cNvPicPr preferRelativeResize="0"/>
          <p:nvPr/>
        </p:nvPicPr>
        <p:blipFill rotWithShape="1">
          <a:blip r:embed="rId5">
            <a:alphaModFix/>
          </a:blip>
          <a:srcRect l="-2542"/>
          <a:stretch/>
        </p:blipFill>
        <p:spPr>
          <a:xfrm>
            <a:off x="958617" y="1143000"/>
            <a:ext cx="1032833" cy="1224022"/>
          </a:xfrm>
          <a:prstGeom prst="rect">
            <a:avLst/>
          </a:prstGeom>
          <a:noFill/>
          <a:ln>
            <a:noFill/>
          </a:ln>
        </p:spPr>
      </p:pic>
      <p:sp>
        <p:nvSpPr>
          <p:cNvPr id="4362" name="Google Shape;4362;p93"/>
          <p:cNvSpPr txBox="1">
            <a:spLocks noGrp="1"/>
          </p:cNvSpPr>
          <p:nvPr>
            <p:ph type="body" idx="1"/>
          </p:nvPr>
        </p:nvSpPr>
        <p:spPr>
          <a:xfrm>
            <a:off x="1749669" y="1133463"/>
            <a:ext cx="6304085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4)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Direct lookahead policies (DLAs)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>
                <a:latin typeface="Raleway Thin"/>
                <a:ea typeface="Raleway Thin"/>
                <a:cs typeface="Raleway Thin"/>
                <a:sym typeface="Raleway Thin"/>
              </a:rPr>
              <a:t>– </a:t>
            </a:r>
            <a:r>
              <a:rPr lang="en-US" sz="2000" dirty="0">
                <a:latin typeface="Raleway" pitchFamily="2" charset="0"/>
                <a:ea typeface="Raleway Thin"/>
                <a:cs typeface="Raleway Thin"/>
                <a:sym typeface="Raleway Thin"/>
              </a:rPr>
              <a:t>We plan into the future to make a decision now:</a:t>
            </a:r>
            <a:endParaRPr lang="en-US" sz="2000" i="1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" name="Google Shape;3422;p72">
            <a:extLst>
              <a:ext uri="{FF2B5EF4-FFF2-40B4-BE49-F238E27FC236}">
                <a16:creationId xmlns:a16="http://schemas.microsoft.com/office/drawing/2014/main" id="{EFB322EC-75EE-9A6F-D540-2B3C8EAB5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8672891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6731-C191-B661-C5D0-F7A540F45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0D8D74-56F0-2E10-D98E-64D70B07581D}"/>
              </a:ext>
            </a:extLst>
          </p:cNvPr>
          <p:cNvSpPr txBox="1">
            <a:spLocks/>
          </p:cNvSpPr>
          <p:nvPr/>
        </p:nvSpPr>
        <p:spPr>
          <a:xfrm>
            <a:off x="151202" y="1143000"/>
            <a:ext cx="9317177" cy="6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400" dirty="0"/>
              <a:t>Shortest path as a lookahead policy: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3B4135-3330-5939-36E6-1E2EC7583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05325">
            <a:off x="2030162" y="3048782"/>
            <a:ext cx="5778395" cy="1368496"/>
          </a:xfrm>
          <a:prstGeom prst="rect">
            <a:avLst/>
          </a:prstGeom>
        </p:spPr>
      </p:pic>
      <p:cxnSp>
        <p:nvCxnSpPr>
          <p:cNvPr id="457731" name="Straight Arrow Connector 4">
            <a:extLst>
              <a:ext uri="{FF2B5EF4-FFF2-40B4-BE49-F238E27FC236}">
                <a16:creationId xmlns:a16="http://schemas.microsoft.com/office/drawing/2014/main" id="{543D6EAD-15A8-DA57-9A75-4C18F6F1AF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3851" y="5313433"/>
            <a:ext cx="5867400" cy="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2" name="Straight Connector 8">
            <a:extLst>
              <a:ext uri="{FF2B5EF4-FFF2-40B4-BE49-F238E27FC236}">
                <a16:creationId xmlns:a16="http://schemas.microsoft.com/office/drawing/2014/main" id="{2CCB569E-FCB7-3C99-A918-A63983D528F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1219" y="5251987"/>
            <a:ext cx="1463" cy="17526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3" name="Straight Connector 9">
            <a:extLst>
              <a:ext uri="{FF2B5EF4-FFF2-40B4-BE49-F238E27FC236}">
                <a16:creationId xmlns:a16="http://schemas.microsoft.com/office/drawing/2014/main" id="{E6B9A3AD-AB64-034A-AB66-2CF754BD16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8613" y="5209849"/>
            <a:ext cx="0" cy="217884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4" name="Straight Connector 11">
            <a:extLst>
              <a:ext uri="{FF2B5EF4-FFF2-40B4-BE49-F238E27FC236}">
                <a16:creationId xmlns:a16="http://schemas.microsoft.com/office/drawing/2014/main" id="{84A56A78-483E-5F07-3A0C-5919171B73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5224732"/>
            <a:ext cx="0" cy="21788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5" name="Straight Connector 19">
            <a:extLst>
              <a:ext uri="{FF2B5EF4-FFF2-40B4-BE49-F238E27FC236}">
                <a16:creationId xmlns:a16="http://schemas.microsoft.com/office/drawing/2014/main" id="{BB32FB90-BCD8-A011-A1FE-5FD77B8821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86280" y="5209850"/>
            <a:ext cx="2137" cy="1885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8" name="Straight Arrow Connector 29">
            <a:extLst>
              <a:ext uri="{FF2B5EF4-FFF2-40B4-BE49-F238E27FC236}">
                <a16:creationId xmlns:a16="http://schemas.microsoft.com/office/drawing/2014/main" id="{D8EBC5BB-B1BD-FA97-A08D-D16E6907C50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27612" y="2205593"/>
            <a:ext cx="3963082" cy="310724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39" name="TextBox 30">
            <a:extLst>
              <a:ext uri="{FF2B5EF4-FFF2-40B4-BE49-F238E27FC236}">
                <a16:creationId xmlns:a16="http://schemas.microsoft.com/office/drawing/2014/main" id="{0F26ECF0-614D-AA0E-E7DA-78E00A7EF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471" y="5801590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The base model</a:t>
            </a:r>
          </a:p>
        </p:txBody>
      </p:sp>
      <p:cxnSp>
        <p:nvCxnSpPr>
          <p:cNvPr id="457740" name="Straight Arrow Connector 32">
            <a:extLst>
              <a:ext uri="{FF2B5EF4-FFF2-40B4-BE49-F238E27FC236}">
                <a16:creationId xmlns:a16="http://schemas.microsoft.com/office/drawing/2014/main" id="{322BE41E-0BB9-E5CD-98D4-0BB94A424C5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26097" y="2304470"/>
            <a:ext cx="3861207" cy="3014321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1" name="Straight Arrow Connector 33">
            <a:extLst>
              <a:ext uri="{FF2B5EF4-FFF2-40B4-BE49-F238E27FC236}">
                <a16:creationId xmlns:a16="http://schemas.microsoft.com/office/drawing/2014/main" id="{D7CFDA22-AE57-320B-0CCA-8037E29AAD0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94825" y="2380740"/>
            <a:ext cx="3627691" cy="293290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2" name="Straight Arrow Connector 37">
            <a:extLst>
              <a:ext uri="{FF2B5EF4-FFF2-40B4-BE49-F238E27FC236}">
                <a16:creationId xmlns:a16="http://schemas.microsoft.com/office/drawing/2014/main" id="{290B751B-23C6-54A4-C713-7D45151100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4449" y="4789205"/>
            <a:ext cx="0" cy="6143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43" name="TextBox 42">
            <a:extLst>
              <a:ext uri="{FF2B5EF4-FFF2-40B4-BE49-F238E27FC236}">
                <a16:creationId xmlns:a16="http://schemas.microsoft.com/office/drawing/2014/main" id="{F58030DE-63AC-F912-7A04-54C9B908BD8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75090" y="4066934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</a:t>
            </a:r>
            <a:r>
              <a:rPr lang="en-US" altLang="en-US" sz="1800" dirty="0" err="1"/>
              <a:t>lookahead</a:t>
            </a:r>
            <a:r>
              <a:rPr lang="en-US" altLang="en-US" sz="1800" dirty="0"/>
              <a:t> model</a:t>
            </a:r>
          </a:p>
        </p:txBody>
      </p:sp>
      <p:cxnSp>
        <p:nvCxnSpPr>
          <p:cNvPr id="457744" name="Straight Arrow Connector 44">
            <a:extLst>
              <a:ext uri="{FF2B5EF4-FFF2-40B4-BE49-F238E27FC236}">
                <a16:creationId xmlns:a16="http://schemas.microsoft.com/office/drawing/2014/main" id="{5784157C-AC6F-45CC-DEF6-0C133B1B4FE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920846" y="3242003"/>
            <a:ext cx="6767" cy="215358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7224FC70-5617-0BB2-8FD6-3CFF79634EB9}"/>
                  </a:ext>
                </a:extLst>
              </p:cNvPr>
              <p:cNvSpPr txBox="1"/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5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blipFill>
                <a:blip r:embed="rId4"/>
                <a:stretch>
                  <a:fillRect r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D58A467D-190B-000C-6F5A-02CA0EDF597E}"/>
                  </a:ext>
                </a:extLst>
              </p:cNvPr>
              <p:cNvSpPr txBox="1"/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6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66A9EC6E-207C-6EEC-4A69-427D786697BF}"/>
                  </a:ext>
                </a:extLst>
              </p:cNvPr>
              <p:cNvSpPr txBox="1"/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7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1B596235-94DB-623F-730C-D635FA3A7DC5}"/>
                  </a:ext>
                </a:extLst>
              </p:cNvPr>
              <p:cNvSpPr txBox="1"/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8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7749" name="Straight Arrow Connector 38">
            <a:extLst>
              <a:ext uri="{FF2B5EF4-FFF2-40B4-BE49-F238E27FC236}">
                <a16:creationId xmlns:a16="http://schemas.microsoft.com/office/drawing/2014/main" id="{7464EBB7-212D-8E02-6F6C-54D2C59BEF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4146924"/>
            <a:ext cx="0" cy="121443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50" name="TextBox 26">
            <a:extLst>
              <a:ext uri="{FF2B5EF4-FFF2-40B4-BE49-F238E27FC236}">
                <a16:creationId xmlns:a16="http://schemas.microsoft.com/office/drawing/2014/main" id="{42798AE0-8BC5-5B05-894E-46AE42723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081" y="4256150"/>
            <a:ext cx="10342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.  .  .  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E59904-842B-B6FD-6A38-A182A8045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29B07E36-3415-E9B9-72D5-D1784D259870}"/>
                  </a:ext>
                </a:extLst>
              </p:cNvPr>
              <p:cNvSpPr txBox="1"/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1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C544C44B-497D-A20D-7266-A2D6308D5788}"/>
                  </a:ext>
                </a:extLst>
              </p:cNvPr>
              <p:cNvSpPr txBox="1"/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06C3F88D-B64E-41CB-427E-B9FAAB8590C2}"/>
                  </a:ext>
                </a:extLst>
              </p:cNvPr>
              <p:cNvSpPr txBox="1"/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3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0CE981D5-38EF-7F6A-E566-61C160B90A04}"/>
                  </a:ext>
                </a:extLst>
              </p:cNvPr>
              <p:cNvSpPr txBox="1"/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C6332654-6C68-5FC3-3795-F997EB37923D}"/>
                  </a:ext>
                </a:extLst>
              </p:cNvPr>
              <p:cNvSpPr txBox="1"/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5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3E41741-0BEB-CDDD-6020-EB1BA4D5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policies I - Overview</a:t>
            </a:r>
          </a:p>
        </p:txBody>
      </p:sp>
    </p:spTree>
    <p:extLst>
      <p:ext uri="{BB962C8B-B14F-4D97-AF65-F5344CB8AC3E}">
        <p14:creationId xmlns:p14="http://schemas.microsoft.com/office/powerpoint/2010/main" val="3207910936"/>
      </p:ext>
    </p:extLst>
  </p:cSld>
  <p:clrMapOvr>
    <a:masterClrMapping/>
  </p:clrMapOvr>
  <p:transition spd="slow">
    <p:wipe dir="r"/>
  </p:transition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2CBD-02F2-D965-C721-89D26DBDA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93BAB9-4CE9-A22B-EF85-4AE665039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05325">
            <a:off x="3533382" y="3048782"/>
            <a:ext cx="5778395" cy="1368496"/>
          </a:xfrm>
          <a:prstGeom prst="rect">
            <a:avLst/>
          </a:prstGeom>
        </p:spPr>
      </p:pic>
      <p:cxnSp>
        <p:nvCxnSpPr>
          <p:cNvPr id="457731" name="Straight Arrow Connector 4">
            <a:extLst>
              <a:ext uri="{FF2B5EF4-FFF2-40B4-BE49-F238E27FC236}">
                <a16:creationId xmlns:a16="http://schemas.microsoft.com/office/drawing/2014/main" id="{D6D3CFEF-9650-4ECB-02F8-0FA9D5E480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3851" y="5313433"/>
            <a:ext cx="5867400" cy="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2" name="Straight Connector 8">
            <a:extLst>
              <a:ext uri="{FF2B5EF4-FFF2-40B4-BE49-F238E27FC236}">
                <a16:creationId xmlns:a16="http://schemas.microsoft.com/office/drawing/2014/main" id="{F860C655-DE4E-8DC5-FD93-D84F770258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1219" y="5251987"/>
            <a:ext cx="1463" cy="17526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3" name="Straight Connector 9">
            <a:extLst>
              <a:ext uri="{FF2B5EF4-FFF2-40B4-BE49-F238E27FC236}">
                <a16:creationId xmlns:a16="http://schemas.microsoft.com/office/drawing/2014/main" id="{DC780A66-937E-E691-F76F-A0B985BE9E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8613" y="5209849"/>
            <a:ext cx="0" cy="217884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4" name="Straight Connector 11">
            <a:extLst>
              <a:ext uri="{FF2B5EF4-FFF2-40B4-BE49-F238E27FC236}">
                <a16:creationId xmlns:a16="http://schemas.microsoft.com/office/drawing/2014/main" id="{DBD647C1-F775-82A5-A6AB-03176CF77F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5224732"/>
            <a:ext cx="0" cy="21788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5" name="Straight Connector 19">
            <a:extLst>
              <a:ext uri="{FF2B5EF4-FFF2-40B4-BE49-F238E27FC236}">
                <a16:creationId xmlns:a16="http://schemas.microsoft.com/office/drawing/2014/main" id="{55041388-4AAA-7269-9750-AF776B143E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86280" y="5209850"/>
            <a:ext cx="2137" cy="1885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8" name="Straight Arrow Connector 29">
            <a:extLst>
              <a:ext uri="{FF2B5EF4-FFF2-40B4-BE49-F238E27FC236}">
                <a16:creationId xmlns:a16="http://schemas.microsoft.com/office/drawing/2014/main" id="{42754485-9974-7F8B-DBC2-5181C3F2F00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27612" y="2205593"/>
            <a:ext cx="3963082" cy="310724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39" name="TextBox 30">
            <a:extLst>
              <a:ext uri="{FF2B5EF4-FFF2-40B4-BE49-F238E27FC236}">
                <a16:creationId xmlns:a16="http://schemas.microsoft.com/office/drawing/2014/main" id="{446AFB71-67D3-E2C1-5AAE-9748DE28E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471" y="5801590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The base model</a:t>
            </a:r>
          </a:p>
        </p:txBody>
      </p:sp>
      <p:cxnSp>
        <p:nvCxnSpPr>
          <p:cNvPr id="457740" name="Straight Arrow Connector 32">
            <a:extLst>
              <a:ext uri="{FF2B5EF4-FFF2-40B4-BE49-F238E27FC236}">
                <a16:creationId xmlns:a16="http://schemas.microsoft.com/office/drawing/2014/main" id="{1574AF08-CA07-5479-0761-78EA8CD19B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26097" y="2304470"/>
            <a:ext cx="3861207" cy="3014321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1" name="Straight Arrow Connector 33">
            <a:extLst>
              <a:ext uri="{FF2B5EF4-FFF2-40B4-BE49-F238E27FC236}">
                <a16:creationId xmlns:a16="http://schemas.microsoft.com/office/drawing/2014/main" id="{46ED4B8C-84E9-59CC-456C-9A0504EEBB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94825" y="2380740"/>
            <a:ext cx="3627691" cy="293290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2" name="Straight Arrow Connector 37">
            <a:extLst>
              <a:ext uri="{FF2B5EF4-FFF2-40B4-BE49-F238E27FC236}">
                <a16:creationId xmlns:a16="http://schemas.microsoft.com/office/drawing/2014/main" id="{CADB10FF-9296-342D-7B09-90EC89C763C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4449" y="4789205"/>
            <a:ext cx="0" cy="6143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43" name="TextBox 42">
            <a:extLst>
              <a:ext uri="{FF2B5EF4-FFF2-40B4-BE49-F238E27FC236}">
                <a16:creationId xmlns:a16="http://schemas.microsoft.com/office/drawing/2014/main" id="{1641C30C-8BE8-4A6B-C712-C1D187488E8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75090" y="4066934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</a:t>
            </a:r>
            <a:r>
              <a:rPr lang="en-US" altLang="en-US" sz="1800" dirty="0" err="1"/>
              <a:t>lookahead</a:t>
            </a:r>
            <a:r>
              <a:rPr lang="en-US" altLang="en-US" sz="1800" dirty="0"/>
              <a:t> model</a:t>
            </a:r>
          </a:p>
        </p:txBody>
      </p:sp>
      <p:cxnSp>
        <p:nvCxnSpPr>
          <p:cNvPr id="457744" name="Straight Arrow Connector 44">
            <a:extLst>
              <a:ext uri="{FF2B5EF4-FFF2-40B4-BE49-F238E27FC236}">
                <a16:creationId xmlns:a16="http://schemas.microsoft.com/office/drawing/2014/main" id="{3E514D1D-13D5-5C1C-539F-52233E37D77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920846" y="3242003"/>
            <a:ext cx="6767" cy="215358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6EF9018F-D769-8554-BCD3-F0E319E6E7DC}"/>
                  </a:ext>
                </a:extLst>
              </p:cNvPr>
              <p:cNvSpPr txBox="1"/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A5C2773C-195E-B964-38BF-F74A50151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blipFill>
                <a:blip r:embed="rId4"/>
                <a:stretch>
                  <a:fillRect r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FFD822A2-8C3E-0E3B-7C43-FC3D3B46B17D}"/>
                  </a:ext>
                </a:extLst>
              </p:cNvPr>
              <p:cNvSpPr txBox="1"/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84ACD6DD-B0FD-BCF1-B84C-7971A639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D1E0E1A3-D6B6-773E-9714-6D73957D696D}"/>
                  </a:ext>
                </a:extLst>
              </p:cNvPr>
              <p:cNvSpPr txBox="1"/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4B0CA41A-A0CA-EFD9-4742-39BCA5BA2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79A1BF35-7E2F-FD3C-D3B3-769B938D2320}"/>
                  </a:ext>
                </a:extLst>
              </p:cNvPr>
              <p:cNvSpPr txBox="1"/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8303AD4C-1524-773C-1386-C11C77400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7749" name="Straight Arrow Connector 38">
            <a:extLst>
              <a:ext uri="{FF2B5EF4-FFF2-40B4-BE49-F238E27FC236}">
                <a16:creationId xmlns:a16="http://schemas.microsoft.com/office/drawing/2014/main" id="{E0DAC093-D51A-A9BF-F1D8-02159761C11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4146924"/>
            <a:ext cx="0" cy="121443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50" name="TextBox 26">
            <a:extLst>
              <a:ext uri="{FF2B5EF4-FFF2-40B4-BE49-F238E27FC236}">
                <a16:creationId xmlns:a16="http://schemas.microsoft.com/office/drawing/2014/main" id="{79D7F64E-E01F-38D7-AF25-1DBA58CB8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081" y="4256150"/>
            <a:ext cx="10342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.  .  .  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B9E768-5DFA-F263-971E-B7EDE6E9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D956CB88-31D4-A306-7856-03D4BAC7F447}"/>
                  </a:ext>
                </a:extLst>
              </p:cNvPr>
              <p:cNvSpPr txBox="1"/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BFA5D50F-7B51-DAC6-B4BF-A90DB7636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9673D397-7A6A-8F8B-A396-05DDE911ED0D}"/>
                  </a:ext>
                </a:extLst>
              </p:cNvPr>
              <p:cNvSpPr txBox="1"/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99227BD0-7457-ED36-E313-8592B5ABD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51292C4C-1AAD-4F6A-5452-3CDF0F6787DE}"/>
                  </a:ext>
                </a:extLst>
              </p:cNvPr>
              <p:cNvSpPr txBox="1"/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3E5C2137-054B-AC8A-B84D-83F82A3D9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C7F9D2C1-239A-07CB-FDE0-802461C529A6}"/>
                  </a:ext>
                </a:extLst>
              </p:cNvPr>
              <p:cNvSpPr txBox="1"/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1DDEE4BA-83CA-91B4-A2A0-4CB0017F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BF12E159-5309-064F-BB2E-7E7342FC5B7D}"/>
                  </a:ext>
                </a:extLst>
              </p:cNvPr>
              <p:cNvSpPr txBox="1"/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273FD2B2-69EF-4751-7B2F-03B9A2339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3F94CD6-E508-A2E0-A80E-5CFEF02B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policies I - Overview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4EE7C5-0B65-FD3A-3C27-7D223EA35374}"/>
              </a:ext>
            </a:extLst>
          </p:cNvPr>
          <p:cNvSpPr txBox="1">
            <a:spLocks/>
          </p:cNvSpPr>
          <p:nvPr/>
        </p:nvSpPr>
        <p:spPr>
          <a:xfrm>
            <a:off x="151202" y="1143000"/>
            <a:ext cx="9317177" cy="6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400" dirty="0"/>
              <a:t>Shortest path as a lookahead policy:</a:t>
            </a:r>
          </a:p>
        </p:txBody>
      </p:sp>
    </p:spTree>
    <p:extLst>
      <p:ext uri="{BB962C8B-B14F-4D97-AF65-F5344CB8AC3E}">
        <p14:creationId xmlns:p14="http://schemas.microsoft.com/office/powerpoint/2010/main" val="2526531032"/>
      </p:ext>
    </p:extLst>
  </p:cSld>
  <p:clrMapOvr>
    <a:masterClrMapping/>
  </p:clrMapOvr>
  <p:transition spd="slow">
    <p:wipe dir="r"/>
  </p:transition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F326-8A1D-0058-A6BA-38ECDE730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65091F8-F2BC-025B-07C1-741D60203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05325">
            <a:off x="5147437" y="3048782"/>
            <a:ext cx="5778395" cy="1368496"/>
          </a:xfrm>
          <a:prstGeom prst="rect">
            <a:avLst/>
          </a:prstGeom>
        </p:spPr>
      </p:pic>
      <p:cxnSp>
        <p:nvCxnSpPr>
          <p:cNvPr id="457731" name="Straight Arrow Connector 4">
            <a:extLst>
              <a:ext uri="{FF2B5EF4-FFF2-40B4-BE49-F238E27FC236}">
                <a16:creationId xmlns:a16="http://schemas.microsoft.com/office/drawing/2014/main" id="{DFFF06D3-C1BE-2047-AC29-391044BC73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3851" y="5313433"/>
            <a:ext cx="5867400" cy="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2" name="Straight Connector 8">
            <a:extLst>
              <a:ext uri="{FF2B5EF4-FFF2-40B4-BE49-F238E27FC236}">
                <a16:creationId xmlns:a16="http://schemas.microsoft.com/office/drawing/2014/main" id="{C6EFD0FB-6CAC-7515-08F0-DE7A4E0634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1219" y="5251987"/>
            <a:ext cx="1463" cy="17526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3" name="Straight Connector 9">
            <a:extLst>
              <a:ext uri="{FF2B5EF4-FFF2-40B4-BE49-F238E27FC236}">
                <a16:creationId xmlns:a16="http://schemas.microsoft.com/office/drawing/2014/main" id="{F7BF2939-64C9-5692-2B76-827820D29A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8613" y="5209849"/>
            <a:ext cx="0" cy="217884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4" name="Straight Connector 11">
            <a:extLst>
              <a:ext uri="{FF2B5EF4-FFF2-40B4-BE49-F238E27FC236}">
                <a16:creationId xmlns:a16="http://schemas.microsoft.com/office/drawing/2014/main" id="{9EF8B5DD-5E55-6677-CEC3-3A10B00B93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5224732"/>
            <a:ext cx="0" cy="21788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5" name="Straight Connector 19">
            <a:extLst>
              <a:ext uri="{FF2B5EF4-FFF2-40B4-BE49-F238E27FC236}">
                <a16:creationId xmlns:a16="http://schemas.microsoft.com/office/drawing/2014/main" id="{F6C10B45-E5C8-4FC4-CAE5-16FECC13F0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86280" y="5209850"/>
            <a:ext cx="2137" cy="1885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8" name="Straight Arrow Connector 29">
            <a:extLst>
              <a:ext uri="{FF2B5EF4-FFF2-40B4-BE49-F238E27FC236}">
                <a16:creationId xmlns:a16="http://schemas.microsoft.com/office/drawing/2014/main" id="{5994D916-07C1-8B22-6CD8-731D6EB4C3B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27612" y="2205593"/>
            <a:ext cx="3963082" cy="310724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39" name="TextBox 30">
            <a:extLst>
              <a:ext uri="{FF2B5EF4-FFF2-40B4-BE49-F238E27FC236}">
                <a16:creationId xmlns:a16="http://schemas.microsoft.com/office/drawing/2014/main" id="{68BF45CB-C4F4-106F-7504-505A24636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471" y="5801590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The base model</a:t>
            </a:r>
          </a:p>
        </p:txBody>
      </p:sp>
      <p:cxnSp>
        <p:nvCxnSpPr>
          <p:cNvPr id="457740" name="Straight Arrow Connector 32">
            <a:extLst>
              <a:ext uri="{FF2B5EF4-FFF2-40B4-BE49-F238E27FC236}">
                <a16:creationId xmlns:a16="http://schemas.microsoft.com/office/drawing/2014/main" id="{E104BCB5-5D1C-7763-F9CC-3F23846DC41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26097" y="2304470"/>
            <a:ext cx="3861207" cy="3014321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1" name="Straight Arrow Connector 33">
            <a:extLst>
              <a:ext uri="{FF2B5EF4-FFF2-40B4-BE49-F238E27FC236}">
                <a16:creationId xmlns:a16="http://schemas.microsoft.com/office/drawing/2014/main" id="{AB60A75D-3B7B-536F-FAA5-2C78541E5B8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94825" y="2380740"/>
            <a:ext cx="3627691" cy="293290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2" name="Straight Arrow Connector 37">
            <a:extLst>
              <a:ext uri="{FF2B5EF4-FFF2-40B4-BE49-F238E27FC236}">
                <a16:creationId xmlns:a16="http://schemas.microsoft.com/office/drawing/2014/main" id="{EC1FDA23-AAFC-6D4A-8BE4-C05BB92544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4449" y="4789205"/>
            <a:ext cx="0" cy="6143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43" name="TextBox 42">
            <a:extLst>
              <a:ext uri="{FF2B5EF4-FFF2-40B4-BE49-F238E27FC236}">
                <a16:creationId xmlns:a16="http://schemas.microsoft.com/office/drawing/2014/main" id="{52E584CD-82BF-0652-7C89-AE79CD0D52C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75090" y="4066934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</a:t>
            </a:r>
            <a:r>
              <a:rPr lang="en-US" altLang="en-US" sz="1800" dirty="0" err="1"/>
              <a:t>lookahead</a:t>
            </a:r>
            <a:r>
              <a:rPr lang="en-US" altLang="en-US" sz="1800" dirty="0"/>
              <a:t> model</a:t>
            </a:r>
          </a:p>
        </p:txBody>
      </p:sp>
      <p:cxnSp>
        <p:nvCxnSpPr>
          <p:cNvPr id="457744" name="Straight Arrow Connector 44">
            <a:extLst>
              <a:ext uri="{FF2B5EF4-FFF2-40B4-BE49-F238E27FC236}">
                <a16:creationId xmlns:a16="http://schemas.microsoft.com/office/drawing/2014/main" id="{8ACC059F-5075-D406-6BA7-4027C784FB9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920846" y="3242003"/>
            <a:ext cx="6767" cy="215358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D1D40549-13D2-5A9C-1EDF-077254BB6A6B}"/>
                  </a:ext>
                </a:extLst>
              </p:cNvPr>
              <p:cNvSpPr txBox="1"/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91825A25-C5C4-B844-7019-C7E3E8B1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blipFill>
                <a:blip r:embed="rId4"/>
                <a:stretch>
                  <a:fillRect r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3BA44D7E-9F9A-5478-9683-8657AEFA707C}"/>
                  </a:ext>
                </a:extLst>
              </p:cNvPr>
              <p:cNvSpPr txBox="1"/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DC830CC1-A254-0509-E885-BBD25BDA7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DF0B9CD3-EF0D-BC4F-FD13-74888A64028A}"/>
                  </a:ext>
                </a:extLst>
              </p:cNvPr>
              <p:cNvSpPr txBox="1"/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89B52BD4-CBE5-DA64-2A9A-467C1A1F5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3525A192-D628-BA60-E2F6-0744067C6A5C}"/>
                  </a:ext>
                </a:extLst>
              </p:cNvPr>
              <p:cNvSpPr txBox="1"/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44A157C6-8E57-75E7-5A68-340CB9F3E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7749" name="Straight Arrow Connector 38">
            <a:extLst>
              <a:ext uri="{FF2B5EF4-FFF2-40B4-BE49-F238E27FC236}">
                <a16:creationId xmlns:a16="http://schemas.microsoft.com/office/drawing/2014/main" id="{6270C11F-2B50-908C-F84A-FED695D83B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4146924"/>
            <a:ext cx="0" cy="121443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50" name="TextBox 26">
            <a:extLst>
              <a:ext uri="{FF2B5EF4-FFF2-40B4-BE49-F238E27FC236}">
                <a16:creationId xmlns:a16="http://schemas.microsoft.com/office/drawing/2014/main" id="{D1CE9CDD-101D-87AB-6921-627D16674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081" y="4256150"/>
            <a:ext cx="10342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.  .  .  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3214B8-2871-A85A-DEB2-3CCC3F63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DA1F3608-1898-F8C4-224A-E1376A3E44F2}"/>
                  </a:ext>
                </a:extLst>
              </p:cNvPr>
              <p:cNvSpPr txBox="1"/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2C0E9718-313D-FD5B-1549-75F5CD12B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62370F21-1B0B-C3F4-87DE-154387352DDC}"/>
                  </a:ext>
                </a:extLst>
              </p:cNvPr>
              <p:cNvSpPr txBox="1"/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F41B79DC-9565-B523-3E3F-6CE438FB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42F30528-C661-F311-D930-04835B4C7163}"/>
                  </a:ext>
                </a:extLst>
              </p:cNvPr>
              <p:cNvSpPr txBox="1"/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A7810EF3-3FD0-2BF6-8E55-A5A988189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2179A7B1-1D03-6629-2607-39C4B3473A9B}"/>
                  </a:ext>
                </a:extLst>
              </p:cNvPr>
              <p:cNvSpPr txBox="1"/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C5E19F36-3ABB-D832-ADF7-9DFBD8558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FC2E7D95-7BA5-C3FB-A621-96B24C8CDEE4}"/>
                  </a:ext>
                </a:extLst>
              </p:cNvPr>
              <p:cNvSpPr txBox="1"/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C1B28880-B2AA-F3E1-23C7-E581D92B1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462B44C-D098-CD2F-6976-847EBFDFB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policies I - Overview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9F0C09-4BE7-49E7-653E-593A08098D55}"/>
              </a:ext>
            </a:extLst>
          </p:cNvPr>
          <p:cNvSpPr txBox="1">
            <a:spLocks/>
          </p:cNvSpPr>
          <p:nvPr/>
        </p:nvSpPr>
        <p:spPr>
          <a:xfrm>
            <a:off x="151202" y="1143000"/>
            <a:ext cx="9317177" cy="6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400" dirty="0"/>
              <a:t>Shortest path as a lookahead policy:</a:t>
            </a:r>
          </a:p>
        </p:txBody>
      </p:sp>
    </p:spTree>
    <p:extLst>
      <p:ext uri="{BB962C8B-B14F-4D97-AF65-F5344CB8AC3E}">
        <p14:creationId xmlns:p14="http://schemas.microsoft.com/office/powerpoint/2010/main" val="2605679633"/>
      </p:ext>
    </p:extLst>
  </p:cSld>
  <p:clrMapOvr>
    <a:masterClrMapping/>
  </p:clrMapOvr>
  <p:transition spd="slow">
    <p:wipe dir="r"/>
  </p:transition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1">
          <a:extLst>
            <a:ext uri="{FF2B5EF4-FFF2-40B4-BE49-F238E27FC236}">
              <a16:creationId xmlns:a16="http://schemas.microsoft.com/office/drawing/2014/main" id="{FA5C5E64-161A-8D1E-345A-02E2509F9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3" name="Google Shape;4353;p93">
            <a:extLst>
              <a:ext uri="{FF2B5EF4-FFF2-40B4-BE49-F238E27FC236}">
                <a16:creationId xmlns:a16="http://schemas.microsoft.com/office/drawing/2014/main" id="{A458706A-74C2-DCE8-9FB7-D45E55998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7113" y="2304523"/>
            <a:ext cx="50601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1" indent="-251459" algn="l" rtl="0">
              <a:spcBef>
                <a:spcPts val="48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The deterministic lookahead model</a:t>
            </a:r>
            <a:endParaRPr sz="1800" b="1" dirty="0">
              <a:solidFill>
                <a:schemeClr val="accent2">
                  <a:lumMod val="75000"/>
                </a:schemeClr>
              </a:solidFill>
              <a:latin typeface="Raleway" pitchFamily="2" charset="0"/>
            </a:endParaRPr>
          </a:p>
          <a:p>
            <a:pPr marL="502919" lvl="2" indent="-2260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This is what is most widely used in practice.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02919" lvl="2" indent="-2260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Standard approach is to use a “best estimate” (which means deterministic) of travel times in the future.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02919" lvl="2" indent="-2260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This is often referred to as “model predictive control”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28600" lvl="1" indent="-251459">
              <a:spcBef>
                <a:spcPts val="1000"/>
              </a:spcBef>
              <a:buClr>
                <a:srgbClr val="42D2FF"/>
              </a:buClr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Robust optimization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- We could use the 90</a:t>
            </a:r>
            <a:r>
              <a:rPr lang="en-US" sz="1800" baseline="30000" dirty="0">
                <a:latin typeface="Raleway" pitchFamily="2" charset="0"/>
                <a:ea typeface="Raleway Thin"/>
                <a:cs typeface="Raleway Thin"/>
                <a:sym typeface="Raleway Thin"/>
              </a:rPr>
              <a:t>th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 percentile of travel times.</a:t>
            </a:r>
          </a:p>
          <a:p>
            <a:pPr marL="228600" lvl="1" indent="-251459">
              <a:spcBef>
                <a:spcPts val="1000"/>
              </a:spcBef>
              <a:buClr>
                <a:srgbClr val="42D2FF"/>
              </a:buClr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Decision trees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–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 Popular with decision analysis community</a:t>
            </a:r>
          </a:p>
          <a:p>
            <a:pPr marL="228600" lvl="1" indent="-251459">
              <a:spcBef>
                <a:spcPts val="1000"/>
              </a:spcBef>
              <a:buClr>
                <a:srgbClr val="42D2FF"/>
              </a:buClr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Approximate dynamic programming applied to approximate lookahead model</a:t>
            </a:r>
          </a:p>
          <a:p>
            <a:pPr marL="228600" lvl="1" indent="-251459">
              <a:spcBef>
                <a:spcPts val="1000"/>
              </a:spcBef>
              <a:buClr>
                <a:srgbClr val="42D2FF"/>
              </a:buClr>
              <a:buFont typeface="Times New Roman"/>
              <a:buChar char="»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Stochastic programming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 </a:t>
            </a: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– We represent the future using, say, 20 samples.</a:t>
            </a:r>
          </a:p>
          <a:p>
            <a:pPr marL="228600" lvl="1" indent="-13716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200" dirty="0">
              <a:latin typeface="Raleway" pitchFamily="2" charset="0"/>
            </a:endParaRPr>
          </a:p>
        </p:txBody>
      </p:sp>
      <p:pic>
        <p:nvPicPr>
          <p:cNvPr id="4354" name="Google Shape;4354;p93">
            <a:extLst>
              <a:ext uri="{FF2B5EF4-FFF2-40B4-BE49-F238E27FC236}">
                <a16:creationId xmlns:a16="http://schemas.microsoft.com/office/drawing/2014/main" id="{2246070D-6D32-C4A1-173B-B2D2205BD0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6485" y="1143000"/>
            <a:ext cx="3185910" cy="2847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5" name="Google Shape;4355;p93">
            <a:extLst>
              <a:ext uri="{FF2B5EF4-FFF2-40B4-BE49-F238E27FC236}">
                <a16:creationId xmlns:a16="http://schemas.microsoft.com/office/drawing/2014/main" id="{E7B55B88-C0AB-22C4-931D-41A5D42F88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96485" y="4025815"/>
            <a:ext cx="3185910" cy="2743994"/>
          </a:xfrm>
          <a:prstGeom prst="rect">
            <a:avLst/>
          </a:prstGeom>
          <a:noFill/>
          <a:ln>
            <a:noFill/>
          </a:ln>
        </p:spPr>
      </p:pic>
      <p:sp>
        <p:nvSpPr>
          <p:cNvPr id="4356" name="Google Shape;4356;p93">
            <a:extLst>
              <a:ext uri="{FF2B5EF4-FFF2-40B4-BE49-F238E27FC236}">
                <a16:creationId xmlns:a16="http://schemas.microsoft.com/office/drawing/2014/main" id="{0C16F7E7-B52C-7B6E-007B-14AC9634911B}"/>
              </a:ext>
            </a:extLst>
          </p:cNvPr>
          <p:cNvSpPr/>
          <p:nvPr/>
        </p:nvSpPr>
        <p:spPr>
          <a:xfrm>
            <a:off x="9232067" y="2645009"/>
            <a:ext cx="564600" cy="576900"/>
          </a:xfrm>
          <a:prstGeom prst="ellipse">
            <a:avLst/>
          </a:prstGeom>
          <a:noFill/>
          <a:ln w="38100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dist="38100" dir="5640000" algn="bl" rotWithShape="0">
              <a:srgbClr val="000000">
                <a:alpha val="76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7" name="Google Shape;4357;p93">
            <a:extLst>
              <a:ext uri="{FF2B5EF4-FFF2-40B4-BE49-F238E27FC236}">
                <a16:creationId xmlns:a16="http://schemas.microsoft.com/office/drawing/2014/main" id="{0B9FC3F3-B5CC-191A-C9E5-73C7388A8DD1}"/>
              </a:ext>
            </a:extLst>
          </p:cNvPr>
          <p:cNvSpPr/>
          <p:nvPr/>
        </p:nvSpPr>
        <p:spPr>
          <a:xfrm>
            <a:off x="9316960" y="5221488"/>
            <a:ext cx="564600" cy="576900"/>
          </a:xfrm>
          <a:prstGeom prst="ellipse">
            <a:avLst/>
          </a:prstGeom>
          <a:noFill/>
          <a:ln w="38100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dist="28575" dir="5400000" algn="bl" rotWithShape="0">
              <a:srgbClr val="000000">
                <a:alpha val="72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58" name="Google Shape;4358;p93" descr="http://ecx.images-amazon.com/images/I/41GFdOeVAGL.jpg">
            <a:extLst>
              <a:ext uri="{FF2B5EF4-FFF2-40B4-BE49-F238E27FC236}">
                <a16:creationId xmlns:a16="http://schemas.microsoft.com/office/drawing/2014/main" id="{A3110AB0-D002-D057-15AF-3333E00DFA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-2542"/>
          <a:stretch/>
        </p:blipFill>
        <p:spPr>
          <a:xfrm>
            <a:off x="958617" y="1143000"/>
            <a:ext cx="1032833" cy="122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9" name="Google Shape;4359;p93" descr="http://ecx.images-amazon.com/images/I/41QmA4q%2BV7L.jpg">
            <a:extLst>
              <a:ext uri="{FF2B5EF4-FFF2-40B4-BE49-F238E27FC236}">
                <a16:creationId xmlns:a16="http://schemas.microsoft.com/office/drawing/2014/main" id="{F6DE874F-017C-D145-C46C-AD781D45D93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7976" y="2574730"/>
            <a:ext cx="1029201" cy="134412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360" name="Google Shape;4360;p93" descr="http://ecx.images-amazon.com/images/I/41UHTnB7yrL.jpg">
            <a:extLst>
              <a:ext uri="{FF2B5EF4-FFF2-40B4-BE49-F238E27FC236}">
                <a16:creationId xmlns:a16="http://schemas.microsoft.com/office/drawing/2014/main" id="{9F7CAE26-AEFF-ADEB-FA12-836D2A253BE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63747" y="5145931"/>
            <a:ext cx="948730" cy="122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1" name="Google Shape;4361;p93" descr="http://ecx.images-amazon.com/images/I/41AIbgU%2BR5L.jpg">
            <a:extLst>
              <a:ext uri="{FF2B5EF4-FFF2-40B4-BE49-F238E27FC236}">
                <a16:creationId xmlns:a16="http://schemas.microsoft.com/office/drawing/2014/main" id="{E194052C-5889-AB3A-3768-9BB8176B6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7976" y="4382867"/>
            <a:ext cx="1029201" cy="1192386"/>
          </a:xfrm>
          <a:prstGeom prst="rect">
            <a:avLst/>
          </a:prstGeom>
          <a:noFill/>
          <a:ln>
            <a:noFill/>
          </a:ln>
        </p:spPr>
      </p:pic>
      <p:sp>
        <p:nvSpPr>
          <p:cNvPr id="4362" name="Google Shape;4362;p93">
            <a:extLst>
              <a:ext uri="{FF2B5EF4-FFF2-40B4-BE49-F238E27FC236}">
                <a16:creationId xmlns:a16="http://schemas.microsoft.com/office/drawing/2014/main" id="{692F3A8C-5CAA-CE47-1D0B-102B7489F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49669" y="1133463"/>
            <a:ext cx="6304085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4)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Direct lookahead policies (DLAs)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>
                <a:latin typeface="Raleway Thin"/>
                <a:ea typeface="Raleway Thin"/>
                <a:cs typeface="Raleway Thin"/>
                <a:sym typeface="Raleway Thin"/>
              </a:rPr>
              <a:t>– </a:t>
            </a:r>
            <a:r>
              <a:rPr lang="en-US" sz="2000" dirty="0">
                <a:latin typeface="Raleway" pitchFamily="2" charset="0"/>
                <a:ea typeface="Raleway Thin"/>
                <a:cs typeface="Raleway Thin"/>
                <a:sym typeface="Raleway Thin"/>
              </a:rPr>
              <a:t>We plan into the future to make a decision now:</a:t>
            </a:r>
            <a:endParaRPr lang="en-US" sz="2000" i="1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" name="Google Shape;3422;p72">
            <a:extLst>
              <a:ext uri="{FF2B5EF4-FFF2-40B4-BE49-F238E27FC236}">
                <a16:creationId xmlns:a16="http://schemas.microsoft.com/office/drawing/2014/main" id="{0A32D7FE-2A35-F167-A471-76BFA597C8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21E4F9E-1CFC-8E98-8791-FD157ED69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033" y="3041427"/>
            <a:ext cx="948730" cy="166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616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7" name="Google Shape;4367;p94"/>
          <p:cNvSpPr/>
          <p:nvPr/>
        </p:nvSpPr>
        <p:spPr>
          <a:xfrm>
            <a:off x="6266159" y="1634966"/>
            <a:ext cx="5449200" cy="2034300"/>
          </a:xfrm>
          <a:prstGeom prst="rect">
            <a:avLst/>
          </a:prstGeom>
          <a:solidFill>
            <a:srgbClr val="FF099D">
              <a:alpha val="8430"/>
            </a:srgbClr>
          </a:solidFill>
          <a:ln w="9525" cap="flat" cmpd="sng">
            <a:solidFill>
              <a:srgbClr val="FF0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8" name="Google Shape;4368;p94"/>
          <p:cNvSpPr/>
          <p:nvPr/>
        </p:nvSpPr>
        <p:spPr>
          <a:xfrm>
            <a:off x="6274723" y="3765146"/>
            <a:ext cx="5449200" cy="2034300"/>
          </a:xfrm>
          <a:prstGeom prst="rect">
            <a:avLst/>
          </a:prstGeom>
          <a:solidFill>
            <a:srgbClr val="FF099D">
              <a:alpha val="8430"/>
            </a:srgbClr>
          </a:solidFill>
          <a:ln w="9525" cap="flat" cmpd="sng">
            <a:solidFill>
              <a:srgbClr val="FF0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9" name="Google Shape;4369;p94"/>
          <p:cNvSpPr/>
          <p:nvPr/>
        </p:nvSpPr>
        <p:spPr>
          <a:xfrm>
            <a:off x="468094" y="1641813"/>
            <a:ext cx="5449200" cy="20343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 w="9525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0" name="Google Shape;4370;p94"/>
          <p:cNvSpPr/>
          <p:nvPr/>
        </p:nvSpPr>
        <p:spPr>
          <a:xfrm>
            <a:off x="476658" y="3771993"/>
            <a:ext cx="5449200" cy="20343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 w="9525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1" name="Google Shape;4371;p94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4372" name="Google Shape;4372;p94"/>
          <p:cNvSpPr txBox="1">
            <a:spLocks noGrp="1"/>
          </p:cNvSpPr>
          <p:nvPr>
            <p:ph type="body" idx="1"/>
          </p:nvPr>
        </p:nvSpPr>
        <p:spPr>
          <a:xfrm>
            <a:off x="468088" y="1070800"/>
            <a:ext cx="5449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Policy search policies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3" name="Google Shape;4373;p94"/>
          <p:cNvSpPr txBox="1"/>
          <p:nvPr/>
        </p:nvSpPr>
        <p:spPr>
          <a:xfrm>
            <a:off x="233700" y="5956175"/>
            <a:ext cx="11724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These four classes cover </a:t>
            </a:r>
            <a:r>
              <a:rPr lang="en-US" sz="1600" b="1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any</a:t>
            </a: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 method for making decisions that has been studied in the research literature or used in practice. The framework is </a:t>
            </a:r>
            <a:r>
              <a:rPr lang="en-US" sz="1600" b="1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universal</a:t>
            </a: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6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74" name="Google Shape;4374;p94"/>
          <p:cNvSpPr txBox="1">
            <a:spLocks noGrp="1"/>
          </p:cNvSpPr>
          <p:nvPr>
            <p:ph type="body" idx="1"/>
          </p:nvPr>
        </p:nvSpPr>
        <p:spPr>
          <a:xfrm>
            <a:off x="686263" y="1773088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latin typeface="Raleway" pitchFamily="2" charset="0"/>
              </a:rPr>
              <a:t>Policy function approximations (PFAs)</a:t>
            </a:r>
            <a:endParaRPr sz="2000" b="1" dirty="0">
              <a:latin typeface="Raleway" pitchFamily="2" charset="0"/>
            </a:endParaRPr>
          </a:p>
          <a:p>
            <a:pPr marL="292608" lvl="1" indent="-288036" algn="l" rtl="0">
              <a:spcBef>
                <a:spcPts val="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Simple rules, functions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88036" algn="l" rtl="0">
              <a:spcBef>
                <a:spcPts val="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Order up to inventory policies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Buy low, sell high</a:t>
            </a: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Linear/nonlinear decision rules</a:t>
            </a:r>
          </a:p>
        </p:txBody>
      </p:sp>
      <p:sp>
        <p:nvSpPr>
          <p:cNvPr id="4375" name="Google Shape;4375;p94"/>
          <p:cNvSpPr txBox="1">
            <a:spLocks noGrp="1"/>
          </p:cNvSpPr>
          <p:nvPr>
            <p:ph type="body" idx="1"/>
          </p:nvPr>
        </p:nvSpPr>
        <p:spPr>
          <a:xfrm>
            <a:off x="642838" y="3903263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Cost function approximations (CFAs)</a:t>
            </a:r>
            <a:endParaRPr sz="2000" b="1" dirty="0">
              <a:latin typeface="Raleway" pitchFamily="2" charset="0"/>
            </a:endParaRPr>
          </a:p>
          <a:p>
            <a:pPr marL="292608" lvl="1" indent="-288036" algn="l" rtl="0">
              <a:spcBef>
                <a:spcPts val="36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Parameterized optimization models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88036" algn="l" rtl="0">
              <a:spcBef>
                <a:spcPts val="36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7546" algn="l" rtl="0">
              <a:spcBef>
                <a:spcPts val="0"/>
              </a:spcBef>
              <a:spcAft>
                <a:spcPts val="0"/>
              </a:spcAft>
              <a:buSzPts val="15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Schedule slack for scheduling models</a:t>
            </a:r>
            <a:endParaRPr sz="15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52146" algn="l" rtl="0">
              <a:spcBef>
                <a:spcPts val="0"/>
              </a:spcBef>
              <a:spcAft>
                <a:spcPts val="0"/>
              </a:spcAft>
              <a:buSzPts val="11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Buffer stocks in supply chain models</a:t>
            </a:r>
          </a:p>
          <a:p>
            <a:pPr marL="566928" lvl="2" indent="-152146" algn="l" rtl="0">
              <a:spcBef>
                <a:spcPts val="0"/>
              </a:spcBef>
              <a:spcAft>
                <a:spcPts val="0"/>
              </a:spcAft>
              <a:buSzPts val="11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Power reserves for energy planning</a:t>
            </a:r>
            <a:endParaRPr sz="15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6" name="Google Shape;4376;p94"/>
          <p:cNvSpPr txBox="1">
            <a:spLocks noGrp="1"/>
          </p:cNvSpPr>
          <p:nvPr>
            <p:ph type="body" idx="1"/>
          </p:nvPr>
        </p:nvSpPr>
        <p:spPr>
          <a:xfrm>
            <a:off x="6266163" y="1070800"/>
            <a:ext cx="5449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Lookahead policies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7" name="Google Shape;4377;p94"/>
          <p:cNvSpPr txBox="1">
            <a:spLocks noGrp="1"/>
          </p:cNvSpPr>
          <p:nvPr>
            <p:ph type="body" idx="1"/>
          </p:nvPr>
        </p:nvSpPr>
        <p:spPr>
          <a:xfrm>
            <a:off x="6449475" y="1773088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Value function approximations (VFAs)</a:t>
            </a:r>
            <a:endParaRPr sz="2000" b="1" dirty="0">
              <a:latin typeface="Raleway" pitchFamily="2" charset="0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Making a decision now using the value of being in a future state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value of a truck driver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value of holding an asset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8" name="Google Shape;4378;p94"/>
          <p:cNvSpPr txBox="1">
            <a:spLocks noGrp="1"/>
          </p:cNvSpPr>
          <p:nvPr>
            <p:ph type="body" idx="1"/>
          </p:nvPr>
        </p:nvSpPr>
        <p:spPr>
          <a:xfrm>
            <a:off x="6449475" y="3903263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Direct lookaheads (DLAs)</a:t>
            </a:r>
            <a:endParaRPr sz="2000" b="1" dirty="0">
              <a:latin typeface="Raleway" pitchFamily="2" charset="0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Models that optimize over a planning horizon (deterministically/stochastically)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Deterministic lookahead: Google maps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Stochastic lookahead: Decision trees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1976600704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6">
          <a:extLst>
            <a:ext uri="{FF2B5EF4-FFF2-40B4-BE49-F238E27FC236}">
              <a16:creationId xmlns:a16="http://schemas.microsoft.com/office/drawing/2014/main" id="{3CEABDB3-A762-7C41-A7BC-1A6E4E3C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7" name="Google Shape;4367;p94">
            <a:extLst>
              <a:ext uri="{FF2B5EF4-FFF2-40B4-BE49-F238E27FC236}">
                <a16:creationId xmlns:a16="http://schemas.microsoft.com/office/drawing/2014/main" id="{17297DE5-8944-CBEA-8685-C2164CAB28C9}"/>
              </a:ext>
            </a:extLst>
          </p:cNvPr>
          <p:cNvSpPr/>
          <p:nvPr/>
        </p:nvSpPr>
        <p:spPr>
          <a:xfrm>
            <a:off x="6266159" y="1634966"/>
            <a:ext cx="5449200" cy="2034300"/>
          </a:xfrm>
          <a:prstGeom prst="rect">
            <a:avLst/>
          </a:prstGeom>
          <a:solidFill>
            <a:srgbClr val="FF099D">
              <a:alpha val="8430"/>
            </a:srgbClr>
          </a:solidFill>
          <a:ln w="9525" cap="flat" cmpd="sng">
            <a:solidFill>
              <a:srgbClr val="FF0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8" name="Google Shape;4368;p94">
            <a:extLst>
              <a:ext uri="{FF2B5EF4-FFF2-40B4-BE49-F238E27FC236}">
                <a16:creationId xmlns:a16="http://schemas.microsoft.com/office/drawing/2014/main" id="{FA31CF2C-9001-F817-AA2F-D8E4F2862A03}"/>
              </a:ext>
            </a:extLst>
          </p:cNvPr>
          <p:cNvSpPr/>
          <p:nvPr/>
        </p:nvSpPr>
        <p:spPr>
          <a:xfrm>
            <a:off x="6274723" y="3765146"/>
            <a:ext cx="5449200" cy="2034300"/>
          </a:xfrm>
          <a:prstGeom prst="rect">
            <a:avLst/>
          </a:prstGeom>
          <a:solidFill>
            <a:srgbClr val="FF099D">
              <a:alpha val="8430"/>
            </a:srgbClr>
          </a:solidFill>
          <a:ln w="9525" cap="flat" cmpd="sng">
            <a:solidFill>
              <a:srgbClr val="FF0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9" name="Google Shape;4369;p94">
            <a:extLst>
              <a:ext uri="{FF2B5EF4-FFF2-40B4-BE49-F238E27FC236}">
                <a16:creationId xmlns:a16="http://schemas.microsoft.com/office/drawing/2014/main" id="{6D52BF7F-FD0E-7B13-684A-8447CEDAF59B}"/>
              </a:ext>
            </a:extLst>
          </p:cNvPr>
          <p:cNvSpPr/>
          <p:nvPr/>
        </p:nvSpPr>
        <p:spPr>
          <a:xfrm>
            <a:off x="468094" y="1641813"/>
            <a:ext cx="5449200" cy="20343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 w="9525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0" name="Google Shape;4370;p94">
            <a:extLst>
              <a:ext uri="{FF2B5EF4-FFF2-40B4-BE49-F238E27FC236}">
                <a16:creationId xmlns:a16="http://schemas.microsoft.com/office/drawing/2014/main" id="{56C6F6D8-28FF-0DCB-8502-4BDA6862E4C3}"/>
              </a:ext>
            </a:extLst>
          </p:cNvPr>
          <p:cNvSpPr/>
          <p:nvPr/>
        </p:nvSpPr>
        <p:spPr>
          <a:xfrm>
            <a:off x="476658" y="3771993"/>
            <a:ext cx="5449200" cy="20343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 w="9525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1" name="Google Shape;4371;p94">
            <a:extLst>
              <a:ext uri="{FF2B5EF4-FFF2-40B4-BE49-F238E27FC236}">
                <a16:creationId xmlns:a16="http://schemas.microsoft.com/office/drawing/2014/main" id="{9856E479-D81F-8429-A0A8-5457980C1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4372" name="Google Shape;4372;p94">
            <a:extLst>
              <a:ext uri="{FF2B5EF4-FFF2-40B4-BE49-F238E27FC236}">
                <a16:creationId xmlns:a16="http://schemas.microsoft.com/office/drawing/2014/main" id="{0198AB55-9BF3-8AC9-92B2-C00D9F8F7F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88" y="1070800"/>
            <a:ext cx="5449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Policy search policies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3" name="Google Shape;4373;p94">
            <a:extLst>
              <a:ext uri="{FF2B5EF4-FFF2-40B4-BE49-F238E27FC236}">
                <a16:creationId xmlns:a16="http://schemas.microsoft.com/office/drawing/2014/main" id="{8E3911B3-1679-3187-BFCD-5D2A49735DD8}"/>
              </a:ext>
            </a:extLst>
          </p:cNvPr>
          <p:cNvSpPr txBox="1"/>
          <p:nvPr/>
        </p:nvSpPr>
        <p:spPr>
          <a:xfrm>
            <a:off x="233700" y="5956175"/>
            <a:ext cx="11724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These four classes cover </a:t>
            </a:r>
            <a:r>
              <a:rPr lang="en-US" sz="1600" b="1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any</a:t>
            </a: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 method for making decisions that has been studied in the research literature or used in practice. The framework is </a:t>
            </a:r>
            <a:r>
              <a:rPr lang="en-US" sz="1600" b="1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universal</a:t>
            </a: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6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74" name="Google Shape;4374;p94">
            <a:extLst>
              <a:ext uri="{FF2B5EF4-FFF2-40B4-BE49-F238E27FC236}">
                <a16:creationId xmlns:a16="http://schemas.microsoft.com/office/drawing/2014/main" id="{856C330D-709D-FA22-2AF2-317D3D0EF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263" y="1773088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latin typeface="Raleway" pitchFamily="2" charset="0"/>
              </a:rPr>
              <a:t>Policy function approximations (PFAs)</a:t>
            </a:r>
            <a:endParaRPr sz="2000" b="1" dirty="0">
              <a:latin typeface="Raleway" pitchFamily="2" charset="0"/>
            </a:endParaRPr>
          </a:p>
          <a:p>
            <a:pPr marL="292608" lvl="1" indent="-288036" algn="l" rtl="0">
              <a:spcBef>
                <a:spcPts val="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Simple rules, functions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88036" algn="l" rtl="0">
              <a:spcBef>
                <a:spcPts val="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Order up to inventory policies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Buy low, sell high</a:t>
            </a: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Linear/nonlinear decision rules</a:t>
            </a:r>
          </a:p>
        </p:txBody>
      </p:sp>
      <p:sp>
        <p:nvSpPr>
          <p:cNvPr id="4375" name="Google Shape;4375;p94">
            <a:extLst>
              <a:ext uri="{FF2B5EF4-FFF2-40B4-BE49-F238E27FC236}">
                <a16:creationId xmlns:a16="http://schemas.microsoft.com/office/drawing/2014/main" id="{A5941AC1-5253-5CDB-B10A-8CDC78132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2838" y="3903263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Cost function approximations (CFAs)</a:t>
            </a:r>
            <a:endParaRPr sz="2000" b="1" dirty="0">
              <a:latin typeface="Raleway" pitchFamily="2" charset="0"/>
            </a:endParaRPr>
          </a:p>
          <a:p>
            <a:pPr marL="292608" lvl="1" indent="-288036" algn="l" rtl="0">
              <a:spcBef>
                <a:spcPts val="36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Parameterized optimization models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88036" algn="l" rtl="0">
              <a:spcBef>
                <a:spcPts val="36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7546" algn="l" rtl="0">
              <a:spcBef>
                <a:spcPts val="0"/>
              </a:spcBef>
              <a:spcAft>
                <a:spcPts val="0"/>
              </a:spcAft>
              <a:buSzPts val="15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Schedule slack for scheduling models</a:t>
            </a:r>
            <a:endParaRPr sz="15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52146" algn="l" rtl="0">
              <a:spcBef>
                <a:spcPts val="0"/>
              </a:spcBef>
              <a:spcAft>
                <a:spcPts val="0"/>
              </a:spcAft>
              <a:buSzPts val="11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Buffer stocks in supply chain models</a:t>
            </a:r>
          </a:p>
          <a:p>
            <a:pPr marL="566928" lvl="2" indent="-152146" algn="l" rtl="0">
              <a:spcBef>
                <a:spcPts val="0"/>
              </a:spcBef>
              <a:spcAft>
                <a:spcPts val="0"/>
              </a:spcAft>
              <a:buSzPts val="11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Power reserves for energy planning</a:t>
            </a:r>
            <a:endParaRPr sz="15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6" name="Google Shape;4376;p94">
            <a:extLst>
              <a:ext uri="{FF2B5EF4-FFF2-40B4-BE49-F238E27FC236}">
                <a16:creationId xmlns:a16="http://schemas.microsoft.com/office/drawing/2014/main" id="{293B75A0-FF00-DE15-F9E7-72FB6BB71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66163" y="1070800"/>
            <a:ext cx="5449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Lookahead policies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7" name="Google Shape;4377;p94">
            <a:extLst>
              <a:ext uri="{FF2B5EF4-FFF2-40B4-BE49-F238E27FC236}">
                <a16:creationId xmlns:a16="http://schemas.microsoft.com/office/drawing/2014/main" id="{6139CB08-73B1-20D9-8339-84459903C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49475" y="1773088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Value function approximations (VFAs)</a:t>
            </a:r>
            <a:endParaRPr sz="2000" b="1" dirty="0">
              <a:latin typeface="Raleway" pitchFamily="2" charset="0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Making a decision now using the value of being in a future state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value of a truck driver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value of holding an asset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8" name="Google Shape;4378;p94">
            <a:extLst>
              <a:ext uri="{FF2B5EF4-FFF2-40B4-BE49-F238E27FC236}">
                <a16:creationId xmlns:a16="http://schemas.microsoft.com/office/drawing/2014/main" id="{57D970A1-698B-6EBB-5477-80BC17415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49475" y="3903263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Direct lookaheads (DLAs)</a:t>
            </a:r>
            <a:endParaRPr sz="2000" b="1" dirty="0">
              <a:latin typeface="Raleway" pitchFamily="2" charset="0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Models that optimize over a planning horizon (deterministically/stochastically)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Deterministic lookahead: Google maps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Stochastic lookahead: Decision trees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96AFA1-3FC6-69DC-1D87-DCBAD3263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0" y="1693912"/>
            <a:ext cx="5405773" cy="1974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A3B3D4-4CD4-AF81-F207-65E9DFE8E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2" y="3768148"/>
            <a:ext cx="5396976" cy="20469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5C83EE-413F-EF00-28A0-239D02128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42" y="3765145"/>
            <a:ext cx="5440636" cy="20499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CF778E-9772-2A64-E5C6-970CA5303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52" y="1641813"/>
            <a:ext cx="5414554" cy="199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1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6">
          <a:extLst>
            <a:ext uri="{FF2B5EF4-FFF2-40B4-BE49-F238E27FC236}">
              <a16:creationId xmlns:a16="http://schemas.microsoft.com/office/drawing/2014/main" id="{8BFC6818-CC4B-342B-DD87-0698F2B4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7" name="Google Shape;4367;p94">
            <a:extLst>
              <a:ext uri="{FF2B5EF4-FFF2-40B4-BE49-F238E27FC236}">
                <a16:creationId xmlns:a16="http://schemas.microsoft.com/office/drawing/2014/main" id="{02639B90-6DC3-BE65-9985-E13EF585CA66}"/>
              </a:ext>
            </a:extLst>
          </p:cNvPr>
          <p:cNvSpPr/>
          <p:nvPr/>
        </p:nvSpPr>
        <p:spPr>
          <a:xfrm>
            <a:off x="6266159" y="1634966"/>
            <a:ext cx="5449200" cy="2034300"/>
          </a:xfrm>
          <a:prstGeom prst="rect">
            <a:avLst/>
          </a:prstGeom>
          <a:solidFill>
            <a:srgbClr val="FF099D">
              <a:alpha val="8430"/>
            </a:srgbClr>
          </a:solidFill>
          <a:ln w="9525" cap="flat" cmpd="sng">
            <a:solidFill>
              <a:srgbClr val="FF0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8" name="Google Shape;4368;p94">
            <a:extLst>
              <a:ext uri="{FF2B5EF4-FFF2-40B4-BE49-F238E27FC236}">
                <a16:creationId xmlns:a16="http://schemas.microsoft.com/office/drawing/2014/main" id="{F30F2A9F-ECF6-3E58-2FA5-FDC3D26BD57A}"/>
              </a:ext>
            </a:extLst>
          </p:cNvPr>
          <p:cNvSpPr/>
          <p:nvPr/>
        </p:nvSpPr>
        <p:spPr>
          <a:xfrm>
            <a:off x="6274723" y="3765146"/>
            <a:ext cx="5449200" cy="2034300"/>
          </a:xfrm>
          <a:prstGeom prst="rect">
            <a:avLst/>
          </a:prstGeom>
          <a:solidFill>
            <a:srgbClr val="FF099D">
              <a:alpha val="8430"/>
            </a:srgbClr>
          </a:solidFill>
          <a:ln w="9525" cap="flat" cmpd="sng">
            <a:solidFill>
              <a:srgbClr val="FF0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9" name="Google Shape;4369;p94">
            <a:extLst>
              <a:ext uri="{FF2B5EF4-FFF2-40B4-BE49-F238E27FC236}">
                <a16:creationId xmlns:a16="http://schemas.microsoft.com/office/drawing/2014/main" id="{10265020-C403-2481-E249-0763FFA31D32}"/>
              </a:ext>
            </a:extLst>
          </p:cNvPr>
          <p:cNvSpPr/>
          <p:nvPr/>
        </p:nvSpPr>
        <p:spPr>
          <a:xfrm>
            <a:off x="468094" y="1641813"/>
            <a:ext cx="5449200" cy="20343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 w="9525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0" name="Google Shape;4370;p94">
            <a:extLst>
              <a:ext uri="{FF2B5EF4-FFF2-40B4-BE49-F238E27FC236}">
                <a16:creationId xmlns:a16="http://schemas.microsoft.com/office/drawing/2014/main" id="{08D60958-8978-F130-F6E3-7AB93FCAEBCE}"/>
              </a:ext>
            </a:extLst>
          </p:cNvPr>
          <p:cNvSpPr/>
          <p:nvPr/>
        </p:nvSpPr>
        <p:spPr>
          <a:xfrm>
            <a:off x="476658" y="3771993"/>
            <a:ext cx="5449200" cy="20343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 w="9525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1" name="Google Shape;4371;p94">
            <a:extLst>
              <a:ext uri="{FF2B5EF4-FFF2-40B4-BE49-F238E27FC236}">
                <a16:creationId xmlns:a16="http://schemas.microsoft.com/office/drawing/2014/main" id="{D5D4E673-9110-E730-91E8-AC1E4DC524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4372" name="Google Shape;4372;p94">
            <a:extLst>
              <a:ext uri="{FF2B5EF4-FFF2-40B4-BE49-F238E27FC236}">
                <a16:creationId xmlns:a16="http://schemas.microsoft.com/office/drawing/2014/main" id="{94DA5D0F-4137-4448-EA55-28E43FA06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88" y="1070800"/>
            <a:ext cx="5449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Policy search policies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3" name="Google Shape;4373;p94">
            <a:extLst>
              <a:ext uri="{FF2B5EF4-FFF2-40B4-BE49-F238E27FC236}">
                <a16:creationId xmlns:a16="http://schemas.microsoft.com/office/drawing/2014/main" id="{ABEF4B80-5B83-15CE-B2F4-AD56D12BA5CB}"/>
              </a:ext>
            </a:extLst>
          </p:cNvPr>
          <p:cNvSpPr txBox="1"/>
          <p:nvPr/>
        </p:nvSpPr>
        <p:spPr>
          <a:xfrm>
            <a:off x="233700" y="5956175"/>
            <a:ext cx="11724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These four classes cover </a:t>
            </a:r>
            <a:r>
              <a:rPr lang="en-US" sz="1600" b="1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any</a:t>
            </a: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 method for making decisions that has been studied in the research literature or used in practice. The framework is </a:t>
            </a:r>
            <a:r>
              <a:rPr lang="en-US" sz="1600" b="1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universal</a:t>
            </a: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6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74" name="Google Shape;4374;p94">
            <a:extLst>
              <a:ext uri="{FF2B5EF4-FFF2-40B4-BE49-F238E27FC236}">
                <a16:creationId xmlns:a16="http://schemas.microsoft.com/office/drawing/2014/main" id="{74BE2693-191A-E73F-E2FF-7A6201705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263" y="1773088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latin typeface="Raleway" pitchFamily="2" charset="0"/>
              </a:rPr>
              <a:t>Policy function approximations (PFAs)</a:t>
            </a:r>
            <a:endParaRPr sz="2000" b="1" dirty="0">
              <a:latin typeface="Raleway" pitchFamily="2" charset="0"/>
            </a:endParaRPr>
          </a:p>
          <a:p>
            <a:pPr marL="292608" lvl="1" indent="-288036" algn="l" rtl="0">
              <a:spcBef>
                <a:spcPts val="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Simple rules, functions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88036" algn="l" rtl="0">
              <a:spcBef>
                <a:spcPts val="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Order up to inventory policies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Buy low, sell high</a:t>
            </a: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Linear/nonlinear decision rules</a:t>
            </a:r>
          </a:p>
        </p:txBody>
      </p:sp>
      <p:sp>
        <p:nvSpPr>
          <p:cNvPr id="4375" name="Google Shape;4375;p94">
            <a:extLst>
              <a:ext uri="{FF2B5EF4-FFF2-40B4-BE49-F238E27FC236}">
                <a16:creationId xmlns:a16="http://schemas.microsoft.com/office/drawing/2014/main" id="{CB30B34A-3649-92DC-CC0E-279D49D63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2838" y="3903263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Cost function approximations (CFAs)</a:t>
            </a:r>
            <a:endParaRPr sz="2000" b="1" dirty="0">
              <a:latin typeface="Raleway" pitchFamily="2" charset="0"/>
            </a:endParaRPr>
          </a:p>
          <a:p>
            <a:pPr marL="292608" lvl="1" indent="-288036" algn="l" rtl="0">
              <a:spcBef>
                <a:spcPts val="36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Parameterized optimization models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88036" algn="l" rtl="0">
              <a:spcBef>
                <a:spcPts val="36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7546" algn="l" rtl="0">
              <a:spcBef>
                <a:spcPts val="0"/>
              </a:spcBef>
              <a:spcAft>
                <a:spcPts val="0"/>
              </a:spcAft>
              <a:buSzPts val="15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Schedule slack for scheduling models</a:t>
            </a:r>
            <a:endParaRPr sz="15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52146" algn="l" rtl="0">
              <a:spcBef>
                <a:spcPts val="0"/>
              </a:spcBef>
              <a:spcAft>
                <a:spcPts val="0"/>
              </a:spcAft>
              <a:buSzPts val="11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Buffer stocks in supply chain models</a:t>
            </a:r>
          </a:p>
          <a:p>
            <a:pPr marL="566928" lvl="2" indent="-152146" algn="l" rtl="0">
              <a:spcBef>
                <a:spcPts val="0"/>
              </a:spcBef>
              <a:spcAft>
                <a:spcPts val="0"/>
              </a:spcAft>
              <a:buSzPts val="11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Power reserves for energy planning</a:t>
            </a:r>
            <a:endParaRPr sz="15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6" name="Google Shape;4376;p94">
            <a:extLst>
              <a:ext uri="{FF2B5EF4-FFF2-40B4-BE49-F238E27FC236}">
                <a16:creationId xmlns:a16="http://schemas.microsoft.com/office/drawing/2014/main" id="{AD32D79B-CD2B-2C44-7B03-B033F405B1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66163" y="1070800"/>
            <a:ext cx="5449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Lookahead policies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7" name="Google Shape;4377;p94">
            <a:extLst>
              <a:ext uri="{FF2B5EF4-FFF2-40B4-BE49-F238E27FC236}">
                <a16:creationId xmlns:a16="http://schemas.microsoft.com/office/drawing/2014/main" id="{8CA56941-B2BD-DD7A-C591-66904E723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49475" y="1773088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Value function approximations (VFAs)</a:t>
            </a:r>
            <a:endParaRPr sz="2000" b="1" dirty="0">
              <a:latin typeface="Raleway" pitchFamily="2" charset="0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Making a decision now using the value of being in a future state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value of a truck driver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value of holding an asset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8" name="Google Shape;4378;p94">
            <a:extLst>
              <a:ext uri="{FF2B5EF4-FFF2-40B4-BE49-F238E27FC236}">
                <a16:creationId xmlns:a16="http://schemas.microsoft.com/office/drawing/2014/main" id="{3E33EB23-1686-5E8F-9DE1-AE6660B6E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49475" y="3903263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Direct lookaheads (DLAs)</a:t>
            </a:r>
            <a:endParaRPr sz="2000" b="1" dirty="0">
              <a:latin typeface="Raleway" pitchFamily="2" charset="0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Models that optimize over a planning horizon (deterministically/stochastically)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Deterministic lookahead: Google maps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Stochastic lookahead: Decision trees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224584176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6">
          <a:extLst>
            <a:ext uri="{FF2B5EF4-FFF2-40B4-BE49-F238E27FC236}">
              <a16:creationId xmlns:a16="http://schemas.microsoft.com/office/drawing/2014/main" id="{46BE01BE-FBC4-4A47-42E6-1C149E51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7" name="Google Shape;4367;p94">
            <a:extLst>
              <a:ext uri="{FF2B5EF4-FFF2-40B4-BE49-F238E27FC236}">
                <a16:creationId xmlns:a16="http://schemas.microsoft.com/office/drawing/2014/main" id="{B55799B9-4922-48EF-911D-3D480A095F3F}"/>
              </a:ext>
            </a:extLst>
          </p:cNvPr>
          <p:cNvSpPr/>
          <p:nvPr/>
        </p:nvSpPr>
        <p:spPr>
          <a:xfrm>
            <a:off x="6266159" y="1634966"/>
            <a:ext cx="5449200" cy="2034300"/>
          </a:xfrm>
          <a:prstGeom prst="rect">
            <a:avLst/>
          </a:prstGeom>
          <a:solidFill>
            <a:srgbClr val="FF099D">
              <a:alpha val="69804"/>
            </a:srgbClr>
          </a:solidFill>
          <a:ln w="9525" cap="flat" cmpd="sng">
            <a:solidFill>
              <a:srgbClr val="FF0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8" name="Google Shape;4368;p94">
            <a:extLst>
              <a:ext uri="{FF2B5EF4-FFF2-40B4-BE49-F238E27FC236}">
                <a16:creationId xmlns:a16="http://schemas.microsoft.com/office/drawing/2014/main" id="{AACDB457-3585-38B3-3B97-4FBE4141E6BE}"/>
              </a:ext>
            </a:extLst>
          </p:cNvPr>
          <p:cNvSpPr/>
          <p:nvPr/>
        </p:nvSpPr>
        <p:spPr>
          <a:xfrm>
            <a:off x="6274723" y="3765146"/>
            <a:ext cx="5449200" cy="2034300"/>
          </a:xfrm>
          <a:prstGeom prst="rect">
            <a:avLst/>
          </a:prstGeom>
          <a:solidFill>
            <a:srgbClr val="FF099D">
              <a:alpha val="69804"/>
            </a:srgbClr>
          </a:solidFill>
          <a:ln w="9525" cap="flat" cmpd="sng">
            <a:solidFill>
              <a:srgbClr val="FF0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9" name="Google Shape;4369;p94">
            <a:extLst>
              <a:ext uri="{FF2B5EF4-FFF2-40B4-BE49-F238E27FC236}">
                <a16:creationId xmlns:a16="http://schemas.microsoft.com/office/drawing/2014/main" id="{948A50D4-B820-8FAD-9B77-DA0D92497558}"/>
              </a:ext>
            </a:extLst>
          </p:cNvPr>
          <p:cNvSpPr/>
          <p:nvPr/>
        </p:nvSpPr>
        <p:spPr>
          <a:xfrm>
            <a:off x="468094" y="1641813"/>
            <a:ext cx="5449200" cy="20343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 w="9525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0" name="Google Shape;4370;p94">
            <a:extLst>
              <a:ext uri="{FF2B5EF4-FFF2-40B4-BE49-F238E27FC236}">
                <a16:creationId xmlns:a16="http://schemas.microsoft.com/office/drawing/2014/main" id="{51C82563-750E-E926-55C0-EEE95916BD0C}"/>
              </a:ext>
            </a:extLst>
          </p:cNvPr>
          <p:cNvSpPr/>
          <p:nvPr/>
        </p:nvSpPr>
        <p:spPr>
          <a:xfrm>
            <a:off x="476658" y="3771993"/>
            <a:ext cx="5449200" cy="2034300"/>
          </a:xfrm>
          <a:prstGeom prst="rect">
            <a:avLst/>
          </a:prstGeom>
          <a:solidFill>
            <a:srgbClr val="8585E0">
              <a:alpha val="69804"/>
            </a:srgbClr>
          </a:solidFill>
          <a:ln w="9525" cap="flat" cmpd="sng">
            <a:solidFill>
              <a:srgbClr val="42D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1" name="Google Shape;4371;p94">
            <a:extLst>
              <a:ext uri="{FF2B5EF4-FFF2-40B4-BE49-F238E27FC236}">
                <a16:creationId xmlns:a16="http://schemas.microsoft.com/office/drawing/2014/main" id="{EB3E553C-AF21-662F-2965-980FEDD5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4372" name="Google Shape;4372;p94">
            <a:extLst>
              <a:ext uri="{FF2B5EF4-FFF2-40B4-BE49-F238E27FC236}">
                <a16:creationId xmlns:a16="http://schemas.microsoft.com/office/drawing/2014/main" id="{4F652BDD-FA19-FFD2-3F28-8B2B6E5D1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88" y="1070800"/>
            <a:ext cx="5449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Policy search policies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3" name="Google Shape;4373;p94">
            <a:extLst>
              <a:ext uri="{FF2B5EF4-FFF2-40B4-BE49-F238E27FC236}">
                <a16:creationId xmlns:a16="http://schemas.microsoft.com/office/drawing/2014/main" id="{EFDF5941-0A08-4110-96AE-C4FA6DAB5995}"/>
              </a:ext>
            </a:extLst>
          </p:cNvPr>
          <p:cNvSpPr txBox="1"/>
          <p:nvPr/>
        </p:nvSpPr>
        <p:spPr>
          <a:xfrm>
            <a:off x="233700" y="5956175"/>
            <a:ext cx="11724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These four classes cover </a:t>
            </a:r>
            <a:r>
              <a:rPr lang="en-US" sz="1600" b="1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any</a:t>
            </a: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 method for making decisions that has been studied in the research literature or used in practice. The framework is </a:t>
            </a:r>
            <a:r>
              <a:rPr lang="en-US" sz="1600" b="1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universal</a:t>
            </a:r>
            <a:r>
              <a:rPr lang="en-US" sz="1600" i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6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74" name="Google Shape;4374;p94">
            <a:extLst>
              <a:ext uri="{FF2B5EF4-FFF2-40B4-BE49-F238E27FC236}">
                <a16:creationId xmlns:a16="http://schemas.microsoft.com/office/drawing/2014/main" id="{1DEC7AAA-5124-82E0-17C2-51A5713CF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263" y="1773088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latin typeface="Raleway" pitchFamily="2" charset="0"/>
              </a:rPr>
              <a:t>Policy function approximations (PFAs)</a:t>
            </a:r>
            <a:endParaRPr sz="2000" b="1" dirty="0">
              <a:latin typeface="Raleway" pitchFamily="2" charset="0"/>
            </a:endParaRPr>
          </a:p>
          <a:p>
            <a:pPr marL="292608" lvl="1" indent="-288036" algn="l" rtl="0">
              <a:spcBef>
                <a:spcPts val="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Simple rules, functions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88036" algn="l" rtl="0">
              <a:spcBef>
                <a:spcPts val="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Order up to inventory policies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Buy low, sell high</a:t>
            </a:r>
          </a:p>
          <a:p>
            <a:pPr marL="566928" lvl="2" indent="-171196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Linear/nonlinear decision rules</a:t>
            </a:r>
            <a:endParaRPr sz="22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5" name="Google Shape;4375;p94">
            <a:extLst>
              <a:ext uri="{FF2B5EF4-FFF2-40B4-BE49-F238E27FC236}">
                <a16:creationId xmlns:a16="http://schemas.microsoft.com/office/drawing/2014/main" id="{7CF31E24-1D42-7434-8E80-92322919E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2838" y="3903263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Cost function approximations (CFAs)</a:t>
            </a:r>
            <a:endParaRPr sz="2000" b="1" dirty="0">
              <a:latin typeface="Raleway" pitchFamily="2" charset="0"/>
            </a:endParaRPr>
          </a:p>
          <a:p>
            <a:pPr marL="292608" lvl="1" indent="-288036" algn="l" rtl="0">
              <a:spcBef>
                <a:spcPts val="36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Parameterized optimization models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88036" algn="l" rtl="0">
              <a:spcBef>
                <a:spcPts val="36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77546" algn="l" rtl="0">
              <a:spcBef>
                <a:spcPts val="0"/>
              </a:spcBef>
              <a:spcAft>
                <a:spcPts val="0"/>
              </a:spcAft>
              <a:buSzPts val="15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Schedule slack for scheduling models</a:t>
            </a:r>
            <a:endParaRPr sz="15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66928" lvl="2" indent="-152146" algn="l" rtl="0">
              <a:spcBef>
                <a:spcPts val="0"/>
              </a:spcBef>
              <a:spcAft>
                <a:spcPts val="0"/>
              </a:spcAft>
              <a:buSzPts val="11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Buffer stocks in supply chain models</a:t>
            </a:r>
          </a:p>
          <a:p>
            <a:pPr marL="566928" lvl="2" indent="-152146" algn="l" rtl="0">
              <a:spcBef>
                <a:spcPts val="0"/>
              </a:spcBef>
              <a:spcAft>
                <a:spcPts val="0"/>
              </a:spcAft>
              <a:buSzPts val="1100"/>
              <a:buFont typeface="Raleway Thin"/>
              <a:buChar char="•"/>
            </a:pPr>
            <a:r>
              <a:rPr lang="en-US" sz="1500" dirty="0">
                <a:latin typeface="Raleway" pitchFamily="2" charset="0"/>
                <a:ea typeface="Raleway Thin"/>
                <a:cs typeface="Raleway Thin"/>
                <a:sym typeface="Raleway Thin"/>
              </a:rPr>
              <a:t>Power reserves for energy planning</a:t>
            </a:r>
            <a:endParaRPr sz="15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6" name="Google Shape;4376;p94">
            <a:extLst>
              <a:ext uri="{FF2B5EF4-FFF2-40B4-BE49-F238E27FC236}">
                <a16:creationId xmlns:a16="http://schemas.microsoft.com/office/drawing/2014/main" id="{24D9053F-6206-991D-117D-56613B98D5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66163" y="1070800"/>
            <a:ext cx="5449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Lookahead policies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7" name="Google Shape;4377;p94">
            <a:extLst>
              <a:ext uri="{FF2B5EF4-FFF2-40B4-BE49-F238E27FC236}">
                <a16:creationId xmlns:a16="http://schemas.microsoft.com/office/drawing/2014/main" id="{36623088-7087-E678-C542-80FA99C61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49475" y="1773088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Value function approximations (VFAs)</a:t>
            </a:r>
            <a:endParaRPr sz="2000" b="1" dirty="0">
              <a:latin typeface="Raleway" pitchFamily="2" charset="0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Making a decision now using the value of being in a future state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value of a truck driver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The value of holding an asset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378" name="Google Shape;4378;p94">
            <a:extLst>
              <a:ext uri="{FF2B5EF4-FFF2-40B4-BE49-F238E27FC236}">
                <a16:creationId xmlns:a16="http://schemas.microsoft.com/office/drawing/2014/main" id="{575189FF-24C2-D54D-9887-ED3F25A26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49475" y="3903263"/>
            <a:ext cx="50997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>
                <a:latin typeface="Raleway" pitchFamily="2" charset="0"/>
              </a:rPr>
              <a:t>Direct lookaheads (DLAs)</a:t>
            </a:r>
            <a:endParaRPr sz="2000" b="1" dirty="0">
              <a:latin typeface="Raleway" pitchFamily="2" charset="0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Models that optimize over a planning horizon (deterministically/stochastically)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37743" lvl="1" indent="-233172" algn="l" rtl="0">
              <a:spcBef>
                <a:spcPts val="360"/>
              </a:spcBef>
              <a:spcAft>
                <a:spcPts val="0"/>
              </a:spcAft>
              <a:buClr>
                <a:srgbClr val="FF00AC"/>
              </a:buClr>
              <a:buSzPts val="1800"/>
              <a:buFont typeface="Times New Roman"/>
              <a:buChar char="»"/>
            </a:pP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Examples:</a:t>
            </a: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Deterministic lookahead: Google maps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512064" lvl="2" indent="-207772" algn="l" rtl="0">
              <a:spcBef>
                <a:spcPts val="0"/>
              </a:spcBef>
              <a:spcAft>
                <a:spcPts val="0"/>
              </a:spcAft>
              <a:buSzPts val="1400"/>
              <a:buFont typeface="Raleway Thin"/>
              <a:buChar char="•"/>
            </a:pPr>
            <a:r>
              <a:rPr lang="en-US" sz="1400" dirty="0">
                <a:latin typeface="Raleway" pitchFamily="2" charset="0"/>
                <a:ea typeface="Raleway Thin"/>
                <a:cs typeface="Raleway Thin"/>
                <a:sym typeface="Raleway Thin"/>
              </a:rPr>
              <a:t>Stochastic lookahead: Decision trees</a:t>
            </a:r>
            <a:endParaRPr sz="1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74171-D95D-0930-23AF-313C5E9D28F4}"/>
              </a:ext>
            </a:extLst>
          </p:cNvPr>
          <p:cNvSpPr txBox="1"/>
          <p:nvPr/>
        </p:nvSpPr>
        <p:spPr>
          <a:xfrm>
            <a:off x="2260600" y="5975350"/>
            <a:ext cx="775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Three of the four classes of policies involve solving optimization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13590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C104-2839-D0A9-3820-C23405957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46BE5A-51E8-40B1-4274-17D8066B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944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CA7AE-A900-CB36-D0BF-D33AE9F9C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577" y="241334"/>
            <a:ext cx="5465908" cy="2247484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The four classes of policies are </a:t>
            </a:r>
            <a:r>
              <a:rPr lang="en-US" sz="2400" i="1" dirty="0">
                <a:solidFill>
                  <a:schemeClr val="bg1"/>
                </a:solidFill>
              </a:rPr>
              <a:t>universal</a:t>
            </a:r>
            <a:r>
              <a:rPr lang="en-US" sz="2400" dirty="0">
                <a:solidFill>
                  <a:schemeClr val="bg1"/>
                </a:solidFill>
              </a:rPr>
              <a:t> – they cover every method for making decisions.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A33A0DB-0D3D-E157-0C76-9E83CE84EC8D}"/>
              </a:ext>
            </a:extLst>
          </p:cNvPr>
          <p:cNvSpPr txBox="1">
            <a:spLocks/>
          </p:cNvSpPr>
          <p:nvPr/>
        </p:nvSpPr>
        <p:spPr>
          <a:xfrm>
            <a:off x="6622087" y="5378378"/>
            <a:ext cx="5465908" cy="1365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This means you are already using one of the four classes of policies (or a hybrid) in your own decisions.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86D3D9-4E9C-D503-094E-07B6682BB3C0}"/>
              </a:ext>
            </a:extLst>
          </p:cNvPr>
          <p:cNvSpPr txBox="1">
            <a:spLocks/>
          </p:cNvSpPr>
          <p:nvPr/>
        </p:nvSpPr>
        <p:spPr>
          <a:xfrm>
            <a:off x="107577" y="2010762"/>
            <a:ext cx="4148737" cy="166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It covers every method described in the research literature or used in practice.</a:t>
            </a:r>
          </a:p>
        </p:txBody>
      </p:sp>
    </p:spTree>
    <p:extLst>
      <p:ext uri="{BB962C8B-B14F-4D97-AF65-F5344CB8AC3E}">
        <p14:creationId xmlns:p14="http://schemas.microsoft.com/office/powerpoint/2010/main" val="168572114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8A5A-9650-9B50-CBF8-9578A5CB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5274-BA88-3714-C02C-3E89A047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policies I -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28FF24E-3E90-4935-30F5-45FAAC061D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46314" y="1048263"/>
                <a:ext cx="8398294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From the four classes, we can create hybrids: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CFAs with PFAs</a:t>
                </a:r>
              </a:p>
              <a:p>
                <a:pPr lvl="1">
                  <a:buSzPct val="90000"/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Choosing least cost supplier, but with rules to exclude high-risk companies.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Lookahead (DLA) with VFA</a:t>
                </a:r>
              </a:p>
              <a:p>
                <a:pPr lvl="1">
                  <a:buSzPct val="90000"/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Optimize seasonal production plan, with functions capturing value of ending inventories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Parameterized deterministic direct lookaheads (DLA/CFA)</a:t>
                </a:r>
              </a:p>
              <a:p>
                <a:pPr lvl="1">
                  <a:buSzPct val="90000"/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Plan seasonal production plan, using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600" dirty="0"/>
                  <a:t>-percentile (say, 80</a:t>
                </a:r>
                <a:r>
                  <a:rPr lang="en-US" sz="1600" baseline="30000" dirty="0"/>
                  <a:t>th</a:t>
                </a:r>
                <a:r>
                  <a:rPr lang="en-US" sz="1600" dirty="0"/>
                  <a:t> percentile) demand forecasts.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VFA policy using PFA</a:t>
                </a:r>
              </a:p>
              <a:p>
                <a:pPr lvl="1">
                  <a:buSzPct val="90000"/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Distribution planning using VFAs to value inventory at each warehouse, but using rules (PFAs) to force deliveries to specific locations.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VFA with CFA</a:t>
                </a:r>
              </a:p>
              <a:p>
                <a:pPr lvl="1">
                  <a:buSzPct val="90000"/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Start with a VFA-based policy with a linear model, and then tune the parameters of the linear VFA to get the best results using a simulator.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28FF24E-3E90-4935-30F5-45FAAC061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6314" y="1048263"/>
                <a:ext cx="8398294" cy="4401600"/>
              </a:xfrm>
              <a:blipFill>
                <a:blip r:embed="rId2"/>
                <a:stretch>
                  <a:fillRect l="-508" b="-14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9749B8B-368E-2507-1D98-4056085BE114}"/>
              </a:ext>
            </a:extLst>
          </p:cNvPr>
          <p:cNvSpPr txBox="1"/>
          <p:nvPr/>
        </p:nvSpPr>
        <p:spPr>
          <a:xfrm>
            <a:off x="1505117" y="6070516"/>
            <a:ext cx="894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accent2">
                    <a:lumMod val="75000"/>
                  </a:schemeClr>
                </a:solidFill>
              </a:rPr>
              <a:t>The only way to create effective hybrids is to know all four classes of policies.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178CF-AA2D-E24E-70C1-DE19DCA385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30"/>
          <a:stretch/>
        </p:blipFill>
        <p:spPr>
          <a:xfrm>
            <a:off x="9081393" y="1525003"/>
            <a:ext cx="2734395" cy="3868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033A4-F79F-696D-86B7-F277A4EBD47D}"/>
              </a:ext>
            </a:extLst>
          </p:cNvPr>
          <p:cNvSpPr txBox="1"/>
          <p:nvPr/>
        </p:nvSpPr>
        <p:spPr>
          <a:xfrm>
            <a:off x="9240567" y="4086862"/>
            <a:ext cx="1531188" cy="646331"/>
          </a:xfrm>
          <a:prstGeom prst="rect">
            <a:avLst/>
          </a:prstGeom>
          <a:solidFill>
            <a:srgbClr val="281028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Chapter 11</a:t>
            </a:r>
          </a:p>
          <a:p>
            <a:r>
              <a:rPr lang="en-US" sz="1800" dirty="0">
                <a:solidFill>
                  <a:schemeClr val="bg1"/>
                </a:solidFill>
              </a:rPr>
              <a:t>Section 11.7 </a:t>
            </a:r>
          </a:p>
        </p:txBody>
      </p:sp>
    </p:spTree>
    <p:extLst>
      <p:ext uri="{BB962C8B-B14F-4D97-AF65-F5344CB8AC3E}">
        <p14:creationId xmlns:p14="http://schemas.microsoft.com/office/powerpoint/2010/main" val="1822026415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D38C-01B5-28E6-25CE-5EE415F5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D4729-0E91-68D0-CD9A-16F438712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065999"/>
            <a:ext cx="10925638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Searching over policies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1600" dirty="0"/>
          </a:p>
          <a:p>
            <a:pPr marL="86360" indent="0">
              <a:buNone/>
            </a:pPr>
            <a:r>
              <a:rPr lang="en-US" sz="2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8FEC354C-EABD-FD11-7193-22D9DD48AC6A}"/>
                  </a:ext>
                </a:extLst>
              </p:cNvPr>
              <p:cNvSpPr txBox="1"/>
              <p:nvPr/>
            </p:nvSpPr>
            <p:spPr bwMode="auto">
              <a:xfrm>
                <a:off x="2936099" y="1570516"/>
                <a:ext cx="6617804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p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8FEC354C-EABD-FD11-7193-22D9DD48A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6099" y="1570516"/>
                <a:ext cx="6617804" cy="1047346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A9837DF7-E812-56EA-7F2F-A4B2C2CB9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Objective function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2E2061-5457-A06D-BB5E-5BCB3324DC23}"/>
              </a:ext>
            </a:extLst>
          </p:cNvPr>
          <p:cNvGrpSpPr/>
          <p:nvPr/>
        </p:nvGrpSpPr>
        <p:grpSpPr>
          <a:xfrm>
            <a:off x="5021109" y="3035572"/>
            <a:ext cx="3899801" cy="3321431"/>
            <a:chOff x="5021109" y="3035572"/>
            <a:chExt cx="3899801" cy="3321431"/>
          </a:xfrm>
        </p:grpSpPr>
        <p:sp>
          <p:nvSpPr>
            <p:cNvPr id="23" name="Text Placeholder 2">
              <a:extLst>
                <a:ext uri="{FF2B5EF4-FFF2-40B4-BE49-F238E27FC236}">
                  <a16:creationId xmlns:a16="http://schemas.microsoft.com/office/drawing/2014/main" id="{E0D95D8A-643E-D5CC-6B0B-CEBBA786B021}"/>
                </a:ext>
              </a:extLst>
            </p:cNvPr>
            <p:cNvSpPr txBox="1">
              <a:spLocks/>
            </p:cNvSpPr>
            <p:nvPr/>
          </p:nvSpPr>
          <p:spPr>
            <a:xfrm>
              <a:off x="5725238" y="3035572"/>
              <a:ext cx="3195672" cy="3321431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70840" algn="l" rtl="0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240"/>
                <a:buFont typeface="Raleway"/>
                <a:buChar char="•"/>
                <a:defRPr sz="28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•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–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pPr marL="86360" indent="0">
                <a:buClr>
                  <a:schemeClr val="accent2">
                    <a:lumMod val="75000"/>
                  </a:schemeClr>
                </a:buClr>
                <a:buSzPct val="80000"/>
                <a:buNone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Hybrids</a:t>
              </a:r>
            </a:p>
            <a:p>
              <a:pPr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CFAs with PFAs</a:t>
              </a:r>
            </a:p>
            <a:p>
              <a:pPr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DLA with VFA</a:t>
              </a:r>
            </a:p>
            <a:p>
              <a:pPr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DLA with CFA</a:t>
              </a:r>
            </a:p>
            <a:p>
              <a:pPr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VFA with PFA</a:t>
              </a:r>
            </a:p>
            <a:p>
              <a:pPr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VFA with CFA</a:t>
              </a:r>
            </a:p>
            <a:p>
              <a:pPr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PFA, CFA, DLA</a:t>
              </a:r>
            </a:p>
            <a:p>
              <a:pPr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PFA, DLA, VFA</a:t>
              </a:r>
            </a:p>
            <a:p>
              <a:pPr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</a:rPr>
                <a:t>PFA, CFA, VFA, DLA</a:t>
              </a:r>
            </a:p>
            <a:p>
              <a:pPr>
                <a:buSzPct val="90000"/>
                <a:buFont typeface="Wingdings" panose="05000000000000000000" pitchFamily="2" charset="2"/>
                <a:buChar char="Ø"/>
              </a:pPr>
              <a:endParaRPr lang="en-US" sz="22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4" name="Arrow: Left 23">
              <a:extLst>
                <a:ext uri="{FF2B5EF4-FFF2-40B4-BE49-F238E27FC236}">
                  <a16:creationId xmlns:a16="http://schemas.microsoft.com/office/drawing/2014/main" id="{40357F83-C475-1435-84D4-2F13ACB22050}"/>
                </a:ext>
              </a:extLst>
            </p:cNvPr>
            <p:cNvSpPr/>
            <p:nvPr/>
          </p:nvSpPr>
          <p:spPr>
            <a:xfrm>
              <a:off x="5021109" y="3920356"/>
              <a:ext cx="704129" cy="1513006"/>
            </a:xfrm>
            <a:prstGeom prst="lef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0B448D-467B-C623-627C-08712C8247C0}"/>
              </a:ext>
            </a:extLst>
          </p:cNvPr>
          <p:cNvGrpSpPr/>
          <p:nvPr/>
        </p:nvGrpSpPr>
        <p:grpSpPr>
          <a:xfrm>
            <a:off x="458642" y="2060032"/>
            <a:ext cx="4562467" cy="3449607"/>
            <a:chOff x="458642" y="2060032"/>
            <a:chExt cx="4562467" cy="344960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F875C0F-519D-26B1-36D3-33A790AA1671}"/>
                </a:ext>
              </a:extLst>
            </p:cNvPr>
            <p:cNvSpPr/>
            <p:nvPr/>
          </p:nvSpPr>
          <p:spPr>
            <a:xfrm>
              <a:off x="3573518" y="2060032"/>
              <a:ext cx="504496" cy="483476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1D81B31-4762-441E-34A4-D8BD9C9E6B12}"/>
                </a:ext>
              </a:extLst>
            </p:cNvPr>
            <p:cNvSpPr txBox="1"/>
            <p:nvPr/>
          </p:nvSpPr>
          <p:spPr>
            <a:xfrm>
              <a:off x="458642" y="3878423"/>
              <a:ext cx="4562467" cy="1631216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The four classes of policies:</a:t>
              </a:r>
            </a:p>
            <a:p>
              <a:pPr marL="457200" indent="-457200">
                <a:buFont typeface="+mj-lt"/>
                <a:buAutoNum type="arabicParenR"/>
              </a:pP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Policy function approximations</a:t>
              </a:r>
            </a:p>
            <a:p>
              <a:pPr marL="457200" indent="-457200">
                <a:buFont typeface="+mj-lt"/>
                <a:buAutoNum type="arabicParenR"/>
              </a:pP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Cost function approximations</a:t>
              </a:r>
            </a:p>
            <a:p>
              <a:pPr marL="457200" indent="-457200">
                <a:buFont typeface="+mj-lt"/>
                <a:buAutoNum type="arabicParenR"/>
              </a:pP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Value function approximations</a:t>
              </a:r>
            </a:p>
            <a:p>
              <a:pPr marL="457200" indent="-457200">
                <a:buFont typeface="+mj-lt"/>
                <a:buAutoNum type="arabicParenR"/>
              </a:pP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Direct lookahead approximations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F4A601C-39B2-C98B-44E4-C8497BF401D0}"/>
                </a:ext>
              </a:extLst>
            </p:cNvPr>
            <p:cNvCxnSpPr>
              <a:cxnSpLocks/>
              <a:endCxn id="21" idx="4"/>
            </p:cNvCxnSpPr>
            <p:nvPr/>
          </p:nvCxnSpPr>
          <p:spPr>
            <a:xfrm flipV="1">
              <a:off x="2732690" y="2543508"/>
              <a:ext cx="1093076" cy="1334915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767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5C76-B482-577D-22D9-CC4327A7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118E2-4BCC-2EF3-129B-B73B24E43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065999"/>
            <a:ext cx="10925638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Searching over policies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1600" dirty="0"/>
          </a:p>
          <a:p>
            <a:pPr marL="86360" indent="0">
              <a:buNone/>
            </a:pPr>
            <a:r>
              <a:rPr lang="en-US" sz="2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EE22268D-FF8B-E840-2FBF-41DBB44C872B}"/>
                  </a:ext>
                </a:extLst>
              </p:cNvPr>
              <p:cNvSpPr txBox="1"/>
              <p:nvPr/>
            </p:nvSpPr>
            <p:spPr bwMode="auto">
              <a:xfrm>
                <a:off x="2936099" y="1570516"/>
                <a:ext cx="6617804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p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8FEC354C-EABD-FD11-7193-22D9DD48A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6099" y="1570516"/>
                <a:ext cx="6617804" cy="1047346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D40484DA-C7F3-50DA-3F02-9877B33B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Objective function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CC8987-FF94-1513-ACA3-3B8E2A83F133}"/>
              </a:ext>
            </a:extLst>
          </p:cNvPr>
          <p:cNvGrpSpPr/>
          <p:nvPr/>
        </p:nvGrpSpPr>
        <p:grpSpPr>
          <a:xfrm>
            <a:off x="4613784" y="2163343"/>
            <a:ext cx="3763825" cy="1797831"/>
            <a:chOff x="2904777" y="2331720"/>
            <a:chExt cx="3763825" cy="179783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8701327-89D4-E6EF-BD40-20D45A4ED77D}"/>
                </a:ext>
              </a:extLst>
            </p:cNvPr>
            <p:cNvGrpSpPr/>
            <p:nvPr/>
          </p:nvGrpSpPr>
          <p:grpSpPr>
            <a:xfrm>
              <a:off x="2904777" y="2331720"/>
              <a:ext cx="3682491" cy="1738732"/>
              <a:chOff x="2441227" y="2877820"/>
              <a:chExt cx="3682491" cy="173873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DBD7A82-CD21-2439-F140-F5CCFC7D9B35}"/>
                  </a:ext>
                </a:extLst>
              </p:cNvPr>
              <p:cNvSpPr/>
              <p:nvPr/>
            </p:nvSpPr>
            <p:spPr>
              <a:xfrm>
                <a:off x="2441227" y="2877820"/>
                <a:ext cx="577341" cy="374650"/>
              </a:xfrm>
              <a:prstGeom prst="ellipse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9AED2AE-E449-92AE-4E82-1A4B4C42945B}"/>
                  </a:ext>
                </a:extLst>
              </p:cNvPr>
              <p:cNvCxnSpPr>
                <a:cxnSpLocks/>
                <a:stCxn id="15" idx="4"/>
                <a:endCxn id="17" idx="0"/>
              </p:cNvCxnSpPr>
              <p:nvPr/>
            </p:nvCxnSpPr>
            <p:spPr>
              <a:xfrm>
                <a:off x="2729898" y="3252470"/>
                <a:ext cx="1720595" cy="891007"/>
              </a:xfrm>
              <a:prstGeom prst="straightConnector1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A003ED-ADDA-C8D5-954C-16965197F4B8}"/>
                  </a:ext>
                </a:extLst>
              </p:cNvPr>
              <p:cNvSpPr txBox="1"/>
              <p:nvPr/>
            </p:nvSpPr>
            <p:spPr>
              <a:xfrm>
                <a:off x="2777268" y="4143477"/>
                <a:ext cx="3346450" cy="473075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29">
                  <a:extLst>
                    <a:ext uri="{FF2B5EF4-FFF2-40B4-BE49-F238E27FC236}">
                      <a16:creationId xmlns:a16="http://schemas.microsoft.com/office/drawing/2014/main" id="{EBA1F7A1-9618-A7AC-9EFF-A8EE244CBFBD}"/>
                    </a:ext>
                  </a:extLst>
                </p:cNvPr>
                <p:cNvSpPr txBox="1"/>
                <p:nvPr/>
              </p:nvSpPr>
              <p:spPr>
                <a:xfrm>
                  <a:off x="3322152" y="3656476"/>
                  <a:ext cx="3346450" cy="47307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sSup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Object 29">
                  <a:extLst>
                    <a:ext uri="{FF2B5EF4-FFF2-40B4-BE49-F238E27FC236}">
                      <a16:creationId xmlns:a16="http://schemas.microsoft.com/office/drawing/2014/main" id="{EBA1F7A1-9618-A7AC-9EFF-A8EE244CB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2152" y="3656476"/>
                  <a:ext cx="3346450" cy="4730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44627794"/>
      </p:ext>
    </p:extLst>
  </p:cSld>
  <p:clrMapOvr>
    <a:masterClrMapping/>
  </p:clrMapOvr>
  <p:transition spd="slow">
    <p:wipe dir="r"/>
  </p:transition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AFB1-E2D6-DE4C-6B90-4EC578E7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Modeling: Objective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8739E-D1E5-EFD3-5E01-33348983B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17" y="1153363"/>
            <a:ext cx="4436863" cy="5110801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Policy search using LLM agents.</a:t>
            </a:r>
          </a:p>
          <a:p>
            <a:pPr lvl="1"/>
            <a:endParaRPr lang="en-US" dirty="0"/>
          </a:p>
          <a:p>
            <a:pPr marL="461963" lvl="1"/>
            <a:r>
              <a:rPr lang="en-US" sz="2000" dirty="0"/>
              <a:t>This structure opens the door to using LLMs to identify promising policies.</a:t>
            </a:r>
          </a:p>
          <a:p>
            <a:pPr marL="461963" lvl="1"/>
            <a:endParaRPr lang="en-US" sz="2000" dirty="0"/>
          </a:p>
          <a:p>
            <a:pPr marL="461963" lvl="1"/>
            <a:r>
              <a:rPr lang="en-US" sz="2000" dirty="0"/>
              <a:t>These are meta-classes – There is still work to be done choosing functions within each class.</a:t>
            </a:r>
          </a:p>
          <a:p>
            <a:pPr marL="461963" lvl="1"/>
            <a:endParaRPr lang="en-US" sz="2000" dirty="0"/>
          </a:p>
          <a:p>
            <a:pPr marL="461963" lvl="1"/>
            <a:r>
              <a:rPr lang="en-US" sz="2000" dirty="0"/>
              <a:t>Additional challenge is doing this in an online setting.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09B5E-8003-2F01-E839-9493DC6E3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005" y="1395764"/>
            <a:ext cx="7043713" cy="39855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D3683-D09C-ADB2-C3FD-B439AFF1E5E4}"/>
              </a:ext>
            </a:extLst>
          </p:cNvPr>
          <p:cNvSpPr txBox="1"/>
          <p:nvPr/>
        </p:nvSpPr>
        <p:spPr>
          <a:xfrm>
            <a:off x="6358759" y="5697802"/>
            <a:ext cx="4262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Raleway" pitchFamily="2" charset="0"/>
              </a:rPr>
              <a:t>Research by Alexander Sommers, on </a:t>
            </a:r>
            <a:r>
              <a:rPr lang="en-US" sz="1600" dirty="0" err="1">
                <a:latin typeface="Raleway" pitchFamily="2" charset="0"/>
              </a:rPr>
              <a:t>arXiv</a:t>
            </a:r>
            <a:r>
              <a:rPr lang="en-US" sz="1600" dirty="0">
                <a:latin typeface="Raleway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771647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Google Shape;4497;p100"/>
          <p:cNvSpPr/>
          <p:nvPr/>
        </p:nvSpPr>
        <p:spPr>
          <a:xfrm rot="10800000">
            <a:off x="-12600" y="1512325"/>
            <a:ext cx="12204600" cy="44964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98" name="Google Shape;4498;p100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Designing policies I - Overview</a:t>
            </a:r>
            <a:endParaRPr dirty="0"/>
          </a:p>
        </p:txBody>
      </p:sp>
      <p:sp>
        <p:nvSpPr>
          <p:cNvPr id="4499" name="Google Shape;4499;p100"/>
          <p:cNvSpPr txBox="1">
            <a:spLocks noGrp="1"/>
          </p:cNvSpPr>
          <p:nvPr>
            <p:ph type="body" idx="1"/>
          </p:nvPr>
        </p:nvSpPr>
        <p:spPr>
          <a:xfrm>
            <a:off x="658525" y="1614125"/>
            <a:ext cx="60711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latin typeface="Raleway" pitchFamily="2" charset="0"/>
              </a:rPr>
              <a:t>Working in the field:</a:t>
            </a:r>
            <a:endParaRPr sz="2500" b="1" dirty="0">
              <a:latin typeface="Raleway" pitchFamily="2" charset="0"/>
            </a:endParaRPr>
          </a:p>
          <a:p>
            <a:pPr marL="74295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1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45110" algn="l" rtl="0">
              <a:spcBef>
                <a:spcPts val="1000"/>
              </a:spcBef>
              <a:spcAft>
                <a:spcPts val="0"/>
              </a:spcAft>
              <a:buClr>
                <a:srgbClr val="42D2FF"/>
              </a:buClr>
              <a:buSzPts val="1700"/>
              <a:buFont typeface="Times New Roman"/>
              <a:buChar char="»"/>
            </a:pPr>
            <a:r>
              <a:rPr lang="en-US" sz="1700" dirty="0">
                <a:latin typeface="Raleway" pitchFamily="2" charset="0"/>
                <a:ea typeface="Raleway Thin"/>
                <a:cs typeface="Raleway Thin"/>
                <a:sym typeface="Raleway Thin"/>
              </a:rPr>
              <a:t>This is the foundation of the decision analytics suite, CORE.ai, at Optimal Dynamics</a:t>
            </a:r>
            <a:endParaRPr lang="en-US" sz="7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7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45110" algn="l" rtl="0">
              <a:spcBef>
                <a:spcPts val="1000"/>
              </a:spcBef>
              <a:spcAft>
                <a:spcPts val="0"/>
              </a:spcAft>
              <a:buClr>
                <a:srgbClr val="42D2FF"/>
              </a:buClr>
              <a:buSzPts val="1700"/>
              <a:buFont typeface="Raleway Thin"/>
              <a:buChar char="»"/>
            </a:pPr>
            <a:r>
              <a:rPr lang="en-US" sz="1700" dirty="0">
                <a:latin typeface="Raleway" pitchFamily="2" charset="0"/>
                <a:ea typeface="Raleway Thin"/>
                <a:cs typeface="Raleway Thin"/>
                <a:sym typeface="Raleway Thin"/>
              </a:rPr>
              <a:t>This white paper outlines, with mathematics, how all four classes of policies are used to perform strategic, tactical and operational planning for truckload operations.</a:t>
            </a:r>
          </a:p>
          <a:p>
            <a:pPr marL="292608" lvl="1" indent="-245110" algn="l" rtl="0">
              <a:spcBef>
                <a:spcPts val="1000"/>
              </a:spcBef>
              <a:spcAft>
                <a:spcPts val="0"/>
              </a:spcAft>
              <a:buClr>
                <a:srgbClr val="42D2FF"/>
              </a:buClr>
              <a:buSzPts val="1700"/>
              <a:buFont typeface="Raleway Thin"/>
              <a:buChar char="»"/>
            </a:pPr>
            <a:endParaRPr lang="en-US" sz="3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292608" lvl="1" indent="-245110" algn="l" rtl="0">
              <a:spcBef>
                <a:spcPts val="1000"/>
              </a:spcBef>
              <a:spcAft>
                <a:spcPts val="0"/>
              </a:spcAft>
              <a:buClr>
                <a:srgbClr val="42D2FF"/>
              </a:buClr>
              <a:buSzPts val="1700"/>
              <a:buFont typeface="Raleway Thin"/>
              <a:buChar char="»"/>
            </a:pPr>
            <a:r>
              <a:rPr lang="en-US" sz="1700" dirty="0">
                <a:latin typeface="Raleway" pitchFamily="2" charset="0"/>
                <a:ea typeface="Raleway Thin"/>
                <a:cs typeface="Raleway Thin"/>
                <a:sym typeface="Raleway Thin"/>
              </a:rPr>
              <a:t>We use all four classes of policies.</a:t>
            </a:r>
            <a:endParaRPr sz="17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501" name="Google Shape;4501;p100"/>
          <p:cNvSpPr txBox="1">
            <a:spLocks noGrp="1"/>
          </p:cNvSpPr>
          <p:nvPr>
            <p:ph type="body" idx="1"/>
          </p:nvPr>
        </p:nvSpPr>
        <p:spPr>
          <a:xfrm>
            <a:off x="393450" y="5632725"/>
            <a:ext cx="643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en-US" sz="2200" dirty="0">
                <a:solidFill>
                  <a:srgbClr val="FFFFFF"/>
                </a:solidFill>
              </a:rPr>
              <a:t>tinyurl.com/ODwhitepaper</a:t>
            </a:r>
            <a:endParaRPr sz="2200" dirty="0">
              <a:solidFill>
                <a:srgbClr val="FFFFFF"/>
              </a:solidFill>
            </a:endParaRPr>
          </a:p>
        </p:txBody>
      </p:sp>
      <p:sp>
        <p:nvSpPr>
          <p:cNvPr id="4500" name="Google Shape;4500;p100"/>
          <p:cNvSpPr/>
          <p:nvPr/>
        </p:nvSpPr>
        <p:spPr>
          <a:xfrm rot="10800000">
            <a:off x="-15200" y="5422150"/>
            <a:ext cx="8142000" cy="810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3AB557-19AD-4281-2DD8-5FA86D21A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1618">
            <a:off x="7553157" y="1088337"/>
            <a:ext cx="4051865" cy="524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FCE27F-8821-16D0-8C96-C21CB1A114DE}"/>
              </a:ext>
            </a:extLst>
          </p:cNvPr>
          <p:cNvSpPr txBox="1"/>
          <p:nvPr/>
        </p:nvSpPr>
        <p:spPr>
          <a:xfrm>
            <a:off x="745664" y="5632725"/>
            <a:ext cx="5283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https://tinyurl.com/ODwhitepaper</a:t>
            </a:r>
          </a:p>
        </p:txBody>
      </p:sp>
    </p:spTree>
    <p:extLst>
      <p:ext uri="{BB962C8B-B14F-4D97-AF65-F5344CB8AC3E}">
        <p14:creationId xmlns:p14="http://schemas.microsoft.com/office/powerpoint/2010/main" val="2145673286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03A8-81C0-CDFB-DB4A-56F2802C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policies I -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FEE4F-FB06-6868-2712-9E776157F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279489"/>
            <a:ext cx="7743825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Brief tour of policies in Sutton &amp; Barto:</a:t>
            </a:r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sz="2000" dirty="0"/>
              <a:t>PFAs – “Policy gradient method” Ch. 13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600" dirty="0"/>
              <a:t>Boltzmann policy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sz="2000" dirty="0"/>
              <a:t>CFAs – UCB policies for bandit problems Ch 2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sz="2000" dirty="0"/>
              <a:t>VFAs – Classical RL based on Bellman’s equation Ch 6, 7, …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600" dirty="0"/>
              <a:t>TD learning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600" dirty="0"/>
              <a:t>Q-learning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600" dirty="0"/>
              <a:t>SARSA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sz="2000" dirty="0"/>
              <a:t>DLAs - Direct lookahead approximations Ch 8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600" dirty="0"/>
              <a:t>Real-time dynamic programming (RTDP)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600" dirty="0"/>
              <a:t>Rollout algorithms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600" dirty="0"/>
              <a:t>Monte Carlo tree search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7542B8-E582-702A-C166-3A9DEA148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48" y="1308064"/>
            <a:ext cx="3713882" cy="48974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5652018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policies I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466" y="1078992"/>
            <a:ext cx="5804534" cy="49530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AlphaGo/AlphaGo Zero:</a:t>
            </a:r>
          </a:p>
          <a:p>
            <a:pPr marL="571500" lvl="1" indent="0">
              <a:buNone/>
            </a:pPr>
            <a:endParaRPr lang="en-US" dirty="0"/>
          </a:p>
          <a:p>
            <a:pPr marL="742950" lvl="1"/>
            <a:r>
              <a:rPr lang="en-US" dirty="0"/>
              <a:t>Uses hybrid of all four classes of policies:</a:t>
            </a:r>
          </a:p>
          <a:p>
            <a:pPr marL="1200150" lvl="2"/>
            <a:endParaRPr lang="en-US" dirty="0"/>
          </a:p>
          <a:p>
            <a:pPr lvl="2"/>
            <a:r>
              <a:rPr lang="en-US" dirty="0"/>
              <a:t>PFA</a:t>
            </a:r>
          </a:p>
          <a:p>
            <a:pPr lvl="2"/>
            <a:r>
              <a:rPr lang="en-US" dirty="0"/>
              <a:t>CFA</a:t>
            </a:r>
          </a:p>
          <a:p>
            <a:pPr lvl="2"/>
            <a:r>
              <a:rPr lang="en-US" dirty="0"/>
              <a:t>VFA</a:t>
            </a:r>
          </a:p>
          <a:p>
            <a:pPr lvl="2"/>
            <a:r>
              <a:rPr lang="en-US" dirty="0"/>
              <a:t>DLA (Monte Carlo tree search)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569" y="1589164"/>
            <a:ext cx="4390131" cy="437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54297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9BCED-D769-09E4-1478-7DC592D2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5B857F-7676-7093-957D-CCF9C834F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6960F2-1300-60A4-07C1-0CCFC6D7C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8FC08-895D-8C32-5389-C2E3A1FA7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5CF4C9-0CFE-8C52-C99A-B0C96F23A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CDBBD-3BF9-99EB-76AD-5556E048C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E0C9A0-271C-ECF1-D177-0B52E34C6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FF2ABB-A85F-9327-BF88-C21A76EAA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41B412-EA28-3E6B-5621-77B70E46DEA0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policies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4997009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purl.org/dc/terms/"/>
    <ds:schemaRef ds:uri="b9a67f89-7d7d-48be-9399-9713d9f7587c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463730</TotalTime>
  <Words>19706</Words>
  <Application>Microsoft Office PowerPoint</Application>
  <PresentationFormat>Widescreen</PresentationFormat>
  <Paragraphs>4554</Paragraphs>
  <Slides>325</Slides>
  <Notes>107</Notes>
  <HiddenSlides>0</HiddenSlides>
  <MMClips>3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325</vt:i4>
      </vt:variant>
    </vt:vector>
  </HeadingPairs>
  <TitlesOfParts>
    <vt:vector size="338" baseType="lpstr">
      <vt:lpstr>Oswald Regular</vt:lpstr>
      <vt:lpstr>Wingdings</vt:lpstr>
      <vt:lpstr>Cambria Math</vt:lpstr>
      <vt:lpstr>Oswald</vt:lpstr>
      <vt:lpstr>Courier New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PowerPoint Presentation</vt:lpstr>
      <vt:lpstr>CASTLE Laboratory</vt:lpstr>
      <vt:lpstr>PowerPoint Presentation</vt:lpstr>
      <vt:lpstr>CASTLE Lab March, 2019</vt:lpstr>
      <vt:lpstr>Human processes</vt:lpstr>
      <vt:lpstr>Performance metrics</vt:lpstr>
      <vt:lpstr>Framing the problem</vt:lpstr>
      <vt:lpstr>Framing the problem</vt:lpstr>
      <vt:lpstr>Application domains</vt:lpstr>
      <vt:lpstr>PowerPoint Presentation</vt:lpstr>
      <vt:lpstr>PowerPoint Presentation</vt:lpstr>
      <vt:lpstr>Relevant courses I taught at Princeton</vt:lpstr>
      <vt:lpstr>Teaching materials</vt:lpstr>
      <vt:lpstr>Teaching materials</vt:lpstr>
      <vt:lpstr>Teaching materials</vt:lpstr>
      <vt:lpstr>Teaching materials</vt:lpstr>
      <vt:lpstr>Teaching materials</vt:lpstr>
      <vt:lpstr>Thank you!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PowerPoint Presentation</vt:lpstr>
      <vt:lpstr>Brief history of sequential decision problems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Decisions</vt:lpstr>
      <vt:lpstr>Brief history of seq. decision problems</vt:lpstr>
      <vt:lpstr>PowerPoint Presentation</vt:lpstr>
      <vt:lpstr>Thank you!</vt:lpstr>
      <vt:lpstr>PowerPoint Presentation</vt:lpstr>
      <vt:lpstr>PowerPoint Presentation</vt:lpstr>
      <vt:lpstr>Decisions</vt:lpstr>
      <vt:lpstr>Information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PowerPoint Presentation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Teaching materials</vt:lpstr>
      <vt:lpstr>PowerPoint Presentation</vt:lpstr>
      <vt:lpstr>PowerPoint Presentation</vt:lpstr>
      <vt:lpstr>Sequential decision problems</vt:lpstr>
      <vt:lpstr>Sequential decision problems</vt:lpstr>
      <vt:lpstr>Thank you!</vt:lpstr>
      <vt:lpstr>PowerPoint Presentation</vt:lpstr>
      <vt:lpstr>OUTLINE</vt:lpstr>
      <vt:lpstr>OUTLINE</vt:lpstr>
      <vt:lpstr>Framing the problem</vt:lpstr>
      <vt:lpstr>Framing the problem</vt:lpstr>
      <vt:lpstr>PowerPoint Presentation</vt:lpstr>
      <vt:lpstr>Framing the problem</vt:lpstr>
      <vt:lpstr>Framing the problem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Framing: Metrics</vt:lpstr>
      <vt:lpstr>Framing: Metrics</vt:lpstr>
      <vt:lpstr>OUTLINE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OUTLINE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OUTLINE</vt:lpstr>
      <vt:lpstr>PowerPoint Presentation</vt:lpstr>
      <vt:lpstr>PowerPoint Presentation</vt:lpstr>
      <vt:lpstr>PowerPoint Presentation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Thank you!</vt:lpstr>
      <vt:lpstr>PowerPoint Presentation</vt:lpstr>
      <vt:lpstr>The universal modeling framework</vt:lpstr>
      <vt:lpstr>The universal modeling framework</vt:lpstr>
      <vt:lpstr>The universal modeling framework</vt:lpstr>
      <vt:lpstr>The universal modeling framework</vt:lpstr>
      <vt:lpstr>The Universal Modeling Framework</vt:lpstr>
      <vt:lpstr>Teaching materials</vt:lpstr>
      <vt:lpstr>The universal modeling framework</vt:lpstr>
      <vt:lpstr>The universal modeling framework</vt:lpstr>
      <vt:lpstr>The universal modeling framework</vt:lpstr>
      <vt:lpstr>The universal modeling framework</vt:lpstr>
      <vt:lpstr>Thank you!</vt:lpstr>
      <vt:lpstr>PowerPoint Presentation</vt:lpstr>
      <vt:lpstr>OUTLINE</vt:lpstr>
      <vt:lpstr>OUTLINE</vt:lpstr>
      <vt:lpstr>Estimation: Learning problems</vt:lpstr>
      <vt:lpstr>OUTLINE</vt:lpstr>
      <vt:lpstr>Estimation: Approximation strategies</vt:lpstr>
      <vt:lpstr>Estimation: Approximation strategies</vt:lpstr>
      <vt:lpstr>Estimation: Approximation strategies</vt:lpstr>
      <vt:lpstr>Estimation: Approximation strategies</vt:lpstr>
      <vt:lpstr>Estimation: Neural networks</vt:lpstr>
      <vt:lpstr>Estimation: Neural networks</vt:lpstr>
      <vt:lpstr>Estimation: Neural networks</vt:lpstr>
      <vt:lpstr>OUTLINE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PowerPoint Presentation</vt:lpstr>
      <vt:lpstr>PowerPoint Presentation</vt:lpstr>
      <vt:lpstr>OUTLINE</vt:lpstr>
      <vt:lpstr>Estimation: Batch vs. recursive learning</vt:lpstr>
      <vt:lpstr>Estimation: Batch vs. recursive learning</vt:lpstr>
      <vt:lpstr>Estimation: Batch vs. recursive learning</vt:lpstr>
      <vt:lpstr>Thank you!</vt:lpstr>
      <vt:lpstr>PowerPoint Presentation</vt:lpstr>
      <vt:lpstr>OUTLINE</vt:lpstr>
      <vt:lpstr>OUTLINE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OUTLINE</vt:lpstr>
      <vt:lpstr>Time scales in energy</vt:lpstr>
      <vt:lpstr>Modeling: Time</vt:lpstr>
      <vt:lpstr>Modeling: Time</vt:lpstr>
      <vt:lpstr>OUTLINE</vt:lpstr>
      <vt:lpstr>Modeling: State variables</vt:lpstr>
      <vt:lpstr>Modeling: State variables</vt:lpstr>
      <vt:lpstr>OUTLINE</vt:lpstr>
      <vt:lpstr>Modeling: Decisions</vt:lpstr>
      <vt:lpstr>Modeling: Decisions</vt:lpstr>
      <vt:lpstr>OUTLINE</vt:lpstr>
      <vt:lpstr>Modeling: Exogenous information</vt:lpstr>
      <vt:lpstr>Modeling: Exogenous information</vt:lpstr>
      <vt:lpstr>Modeling: Exogenous information</vt:lpstr>
      <vt:lpstr>Modeling: Exogenous information</vt:lpstr>
      <vt:lpstr>OUTLINE</vt:lpstr>
      <vt:lpstr>Modeling: Transition function</vt:lpstr>
      <vt:lpstr>Modeling: Transition function</vt:lpstr>
      <vt:lpstr>OUTLINE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Thank you!</vt:lpstr>
      <vt:lpstr>PowerPoint Presentation</vt:lpstr>
      <vt:lpstr>OUTLINE</vt:lpstr>
      <vt:lpstr>OUTLINE</vt:lpstr>
      <vt:lpstr>State variables</vt:lpstr>
      <vt:lpstr>PowerPoint Presentation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OUTLINE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OUTLINE</vt:lpstr>
      <vt:lpstr>State variables: Belief states</vt:lpstr>
      <vt:lpstr>State variables: Belief states</vt:lpstr>
      <vt:lpstr>OUTLINE</vt:lpstr>
      <vt:lpstr>State variables: Pre- and post-decision states</vt:lpstr>
      <vt:lpstr>State variables: Pre- and post-decision states</vt:lpstr>
      <vt:lpstr>State variables: Pre- and post-decision states</vt:lpstr>
      <vt:lpstr>State variables: Pre- and post-decision states</vt:lpstr>
      <vt:lpstr>OUTLINE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Thank you!</vt:lpstr>
      <vt:lpstr>PowerPoint Presentation</vt:lpstr>
      <vt:lpstr>OUTLINE</vt:lpstr>
      <vt:lpstr>OUTLINE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OUTLINE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OUTLINE</vt:lpstr>
      <vt:lpstr>Different flavors of uncertainty</vt:lpstr>
      <vt:lpstr>Different flavors of uncertainty</vt:lpstr>
      <vt:lpstr>Different flavors of uncertainty</vt:lpstr>
      <vt:lpstr>Different flavors of uncertainty</vt:lpstr>
      <vt:lpstr>OUTLINE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Thank you!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VFA policies</vt:lpstr>
      <vt:lpstr>PowerPoint Presentation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PowerPoint Presentation</vt:lpstr>
      <vt:lpstr>Designing policies I - Overview</vt:lpstr>
      <vt:lpstr>Modeling: Objective function</vt:lpstr>
      <vt:lpstr>Modeling: Objective function</vt:lpstr>
      <vt:lpstr>Modeling: Objective function</vt:lpstr>
      <vt:lpstr>Designing policies I - Overview</vt:lpstr>
      <vt:lpstr>Designing policies I - Overview</vt:lpstr>
      <vt:lpstr>Designing policies I - Overview</vt:lpstr>
      <vt:lpstr>Thank you!</vt:lpstr>
      <vt:lpstr>PowerPoint Presentation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795</cp:revision>
  <cp:lastPrinted>2025-05-20T14:08:40Z</cp:lastPrinted>
  <dcterms:modified xsi:type="dcterms:W3CDTF">2026-09-07T19:33:09Z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