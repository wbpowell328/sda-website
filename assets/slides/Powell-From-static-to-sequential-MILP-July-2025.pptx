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4"/>
  </p:sldMasterIdLst>
  <p:notesMasterIdLst>
    <p:notesMasterId r:id="rId15"/>
  </p:notesMasterIdLst>
  <p:sldIdLst>
    <p:sldId id="372" r:id="rId5"/>
    <p:sldId id="9218" r:id="rId6"/>
    <p:sldId id="8831" r:id="rId7"/>
    <p:sldId id="9196" r:id="rId8"/>
    <p:sldId id="9197" r:id="rId9"/>
    <p:sldId id="9198" r:id="rId10"/>
    <p:sldId id="9199" r:id="rId11"/>
    <p:sldId id="9200" r:id="rId12"/>
    <p:sldId id="9172" r:id="rId13"/>
    <p:sldId id="9201" r:id="rId14"/>
  </p:sldIdLst>
  <p:sldSz cx="12192000" cy="6858000"/>
  <p:notesSz cx="7102475" cy="9388475"/>
  <p:embeddedFontLst>
    <p:embeddedFont>
      <p:font typeface="Cambria Math" panose="02040503050406030204" pitchFamily="18" charset="0"/>
      <p:regular r:id="rId16"/>
    </p:embeddedFont>
    <p:embeddedFont>
      <p:font typeface="Oswald" panose="00000500000000000000" pitchFamily="2" charset="0"/>
      <p:regular r:id="rId17"/>
      <p:bold r:id="rId18"/>
    </p:embeddedFont>
    <p:embeddedFont>
      <p:font typeface="Playfair Display" panose="00000500000000000000" pitchFamily="2" charset="0"/>
      <p:regular r:id="rId19"/>
      <p:bold r:id="rId20"/>
      <p:italic r:id="rId21"/>
      <p:boldItalic r:id="rId22"/>
    </p:embeddedFont>
    <p:embeddedFont>
      <p:font typeface="Raleway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594221A-EA1A-49CA-A6F5-055A24DBA16E}">
          <p14:sldIdLst>
            <p14:sldId id="372"/>
            <p14:sldId id="9218"/>
            <p14:sldId id="8831"/>
            <p14:sldId id="9196"/>
            <p14:sldId id="9197"/>
            <p14:sldId id="9198"/>
            <p14:sldId id="9199"/>
            <p14:sldId id="9200"/>
            <p14:sldId id="9172"/>
            <p14:sldId id="9201"/>
          </p14:sldIdLst>
        </p14:section>
        <p14:section name="Untitled Section" id="{B1708D8C-CA48-42C4-8F70-69959BCDE4FA}">
          <p14:sldIdLst/>
        </p14:section>
        <p14:section name="Untitled Section" id="{1B10CAED-9D60-4577-9174-6652579FD55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6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2F2A"/>
    <a:srgbClr val="E7E7F9"/>
    <a:srgbClr val="5C5CD6"/>
    <a:srgbClr val="C4C4C4"/>
    <a:srgbClr val="EDEDFA"/>
    <a:srgbClr val="8585E0"/>
    <a:srgbClr val="262699"/>
    <a:srgbClr val="0066FF"/>
    <a:srgbClr val="0D76A3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7" autoAdjust="0"/>
    <p:restoredTop sz="94660"/>
  </p:normalViewPr>
  <p:slideViewPr>
    <p:cSldViewPr snapToGrid="0">
      <p:cViewPr varScale="1">
        <p:scale>
          <a:sx n="92" d="100"/>
          <a:sy n="92" d="100"/>
        </p:scale>
        <p:origin x="16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56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9.fntdata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7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2"/>
            <a:ext cx="3088836" cy="49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85895" y="2"/>
            <a:ext cx="3088836" cy="49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85895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/>
          <a:p>
            <a:pPr algn="r"/>
            <a:fld id="{00000000-1234-1234-1234-123412341234}" type="slidenum">
              <a:rPr lang="en-US" sz="130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/>
              <a:t>‹#›</a:t>
            </a:fld>
            <a:endParaRPr lang="en-US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0B9C27F7-6CAF-AD15-F38D-948A85E8A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12E68160-2E24-F8A2-FD1D-B6C1AEFE23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4A4D2C23-9DA6-429C-FAC0-9AE1E3F6CD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10616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FFFFFF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  <a:defRPr/>
            </a:lvl1pPr>
            <a:lvl2pPr lvl="1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Font typeface="Oswald"/>
              <a:buNone/>
              <a:defRPr sz="3300">
                <a:latin typeface="Oswald"/>
                <a:ea typeface="Oswald"/>
                <a:cs typeface="Oswald"/>
                <a:sym typeface="Oswa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630092" y="1279489"/>
            <a:ext cx="10363200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084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bg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bg>
      <p:bgPr>
        <a:solidFill>
          <a:schemeClr val="bg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bg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bg>
      <p:bgPr>
        <a:solidFill>
          <a:schemeClr val="bg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116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Times New Roman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»"/>
              <a:defRPr sz="2800"/>
            </a:lvl2pPr>
            <a:lvl3pPr marL="1371600" lvl="2" indent="-381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marL="1828800" lvl="3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marL="2286000" lvl="4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marL="2743200" lvl="5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6pPr>
            <a:lvl7pPr marL="3200400" lvl="6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7pPr>
            <a:lvl8pPr marL="3657600" lvl="7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8pPr>
            <a:lvl9pPr marL="4114800" lvl="8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bg>
      <p:bgPr>
        <a:solidFill>
          <a:schemeClr val="bg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Times New Roman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bg>
      <p:bgPr>
        <a:solidFill>
          <a:schemeClr val="bg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body" idx="1"/>
          </p:nvPr>
        </p:nvSpPr>
        <p:spPr>
          <a:xfrm rot="5400000">
            <a:off x="3619500" y="-1562100"/>
            <a:ext cx="4953000" cy="10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bg>
      <p:bgPr>
        <a:solidFill>
          <a:schemeClr val="bg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title"/>
          </p:nvPr>
        </p:nvSpPr>
        <p:spPr>
          <a:xfrm rot="5400000">
            <a:off x="7086600" y="1905000"/>
            <a:ext cx="5791200" cy="25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body" idx="1"/>
          </p:nvPr>
        </p:nvSpPr>
        <p:spPr>
          <a:xfrm rot="5400000">
            <a:off x="1803400" y="-584200"/>
            <a:ext cx="5791200" cy="75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 type="tbl">
  <p:cSld name="TABLE">
    <p:bg>
      <p:bgPr>
        <a:solidFill>
          <a:schemeClr val="bg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4 Content" type="fourObj">
  <p:cSld name="FOUR_OBJECTS">
    <p:bg>
      <p:bgPr>
        <a:solidFill>
          <a:schemeClr val="bg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2"/>
          </p:nvPr>
        </p:nvSpPr>
        <p:spPr>
          <a:xfrm>
            <a:off x="61976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body" idx="3"/>
          </p:nvPr>
        </p:nvSpPr>
        <p:spPr>
          <a:xfrm>
            <a:off x="9144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body" idx="4"/>
          </p:nvPr>
        </p:nvSpPr>
        <p:spPr>
          <a:xfrm>
            <a:off x="61976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2 Content" type="txAndTwoObj">
  <p:cSld name="TEXT_AND_TWO_OBJECTS">
    <p:bg>
      <p:bgPr>
        <a:solidFill>
          <a:schemeClr val="bg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5080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body" idx="2"/>
          </p:nvPr>
        </p:nvSpPr>
        <p:spPr>
          <a:xfrm>
            <a:off x="61976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body" idx="3"/>
          </p:nvPr>
        </p:nvSpPr>
        <p:spPr>
          <a:xfrm>
            <a:off x="61976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 type="objOnly">
  <p:cSld name="OBJECT_ONLY">
    <p:bg>
      <p:bgPr>
        <a:solidFill>
          <a:schemeClr val="bg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>
            <a:spLocks noGrp="1"/>
          </p:cNvSpPr>
          <p:nvPr>
            <p:ph type="body" idx="1"/>
          </p:nvPr>
        </p:nvSpPr>
        <p:spPr>
          <a:xfrm>
            <a:off x="914400" y="304800"/>
            <a:ext cx="10363200" cy="5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103632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084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8DAADDE6-9D87-4A94-9A5F-2FE2DE75B0D7}"/>
              </a:ext>
            </a:extLst>
          </p:cNvPr>
          <p:cNvSpPr/>
          <p:nvPr userDrawn="1"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5" name="Google Shape;129;p18">
            <a:extLst>
              <a:ext uri="{FF2B5EF4-FFF2-40B4-BE49-F238E27FC236}">
                <a16:creationId xmlns:a16="http://schemas.microsoft.com/office/drawing/2014/main" id="{2199409B-45F8-4A01-AB9C-7EA2B2CCD078}"/>
              </a:ext>
            </a:extLst>
          </p:cNvPr>
          <p:cNvPicPr preferRelativeResize="0"/>
          <p:nvPr userDrawn="1"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56373" y="6533883"/>
            <a:ext cx="2041301" cy="2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3;p3">
            <a:extLst>
              <a:ext uri="{FF2B5EF4-FFF2-40B4-BE49-F238E27FC236}">
                <a16:creationId xmlns:a16="http://schemas.microsoft.com/office/drawing/2014/main" id="{1D1BDBDF-7EA2-8C6E-6985-BFD39B103D2C}"/>
              </a:ext>
            </a:extLst>
          </p:cNvPr>
          <p:cNvSpPr/>
          <p:nvPr userDrawn="1"/>
        </p:nvSpPr>
        <p:spPr>
          <a:xfrm>
            <a:off x="4885608" y="6521551"/>
            <a:ext cx="1837408" cy="303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Playfair Display"/>
              <a:buNone/>
            </a:pPr>
            <a:r>
              <a:rPr lang="en-US" sz="900" b="0" dirty="0">
                <a:solidFill>
                  <a:schemeClr val="tx1"/>
                </a:solidFill>
                <a:latin typeface="Raleway" pitchFamily="2" charset="0"/>
                <a:ea typeface="Raleway Thin"/>
                <a:cs typeface="Raleway Thin"/>
                <a:sym typeface="Raleway Thin"/>
              </a:rPr>
              <a:t>© WARREN POWELL 2025</a:t>
            </a:r>
            <a:endParaRPr sz="900" b="0" dirty="0">
              <a:solidFill>
                <a:schemeClr val="tx1"/>
              </a:solidFill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4169C6-5F4C-B4B3-3723-F0458AB0A96A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6790" b="93519" l="2186" r="96448">
                        <a14:foregroundMark x1="7923" y1="9259" x2="7923" y2="9259"/>
                        <a14:foregroundMark x1="20219" y1="38272" x2="20219" y2="38272"/>
                        <a14:foregroundMark x1="18579" y1="64815" x2="18579" y2="64815"/>
                        <a14:foregroundMark x1="12568" y1="88580" x2="12568" y2="88580"/>
                        <a14:foregroundMark x1="33880" y1="92901" x2="33880" y2="92901"/>
                        <a14:foregroundMark x1="5464" y1="93827" x2="5464" y2="93827"/>
                        <a14:foregroundMark x1="18852" y1="10494" x2="18852" y2="10494"/>
                        <a14:foregroundMark x1="2732" y1="8333" x2="2732" y2="8333"/>
                        <a14:foregroundMark x1="96721" y1="85802" x2="96721" y2="85802"/>
                        <a14:foregroundMark x1="62295" y1="6790" x2="62295" y2="67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697005" y="6459673"/>
            <a:ext cx="354039" cy="313411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2" r:id="rId12"/>
    <p:sldLayoutId id="2147483663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1.png"/><Relationship Id="rId2" Type="http://schemas.openxmlformats.org/officeDocument/2006/relationships/image" Target="../media/image59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0.png"/><Relationship Id="rId2" Type="http://schemas.openxmlformats.org/officeDocument/2006/relationships/image" Target="../media/image5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3.png"/><Relationship Id="rId2" Type="http://schemas.openxmlformats.org/officeDocument/2006/relationships/image" Target="../media/image6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0.png"/><Relationship Id="rId4" Type="http://schemas.openxmlformats.org/officeDocument/2006/relationships/image" Target="../media/image65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58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1.png"/><Relationship Id="rId13" Type="http://schemas.openxmlformats.org/officeDocument/2006/relationships/image" Target="../media/image19121.png"/><Relationship Id="rId18" Type="http://schemas.openxmlformats.org/officeDocument/2006/relationships/image" Target="../media/image901.png"/><Relationship Id="rId26" Type="http://schemas.openxmlformats.org/officeDocument/2006/relationships/image" Target="../media/image12.png"/><Relationship Id="rId3" Type="http://schemas.openxmlformats.org/officeDocument/2006/relationships/image" Target="../media/image18111.png"/><Relationship Id="rId12" Type="http://schemas.openxmlformats.org/officeDocument/2006/relationships/image" Target="../media/image19031.png"/><Relationship Id="rId17" Type="http://schemas.openxmlformats.org/officeDocument/2006/relationships/image" Target="../media/image890.png"/><Relationship Id="rId25" Type="http://schemas.openxmlformats.org/officeDocument/2006/relationships/image" Target="../media/image11.png"/><Relationship Id="rId2" Type="http://schemas.openxmlformats.org/officeDocument/2006/relationships/image" Target="../media/image18011.png"/><Relationship Id="rId16" Type="http://schemas.openxmlformats.org/officeDocument/2006/relationships/image" Target="../media/image8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401.png"/><Relationship Id="rId24" Type="http://schemas.openxmlformats.org/officeDocument/2006/relationships/image" Target="../media/image59.png"/><Relationship Id="rId5" Type="http://schemas.openxmlformats.org/officeDocument/2006/relationships/image" Target="../media/image700.png"/><Relationship Id="rId15" Type="http://schemas.openxmlformats.org/officeDocument/2006/relationships/image" Target="../media/image872.png"/><Relationship Id="rId23" Type="http://schemas.openxmlformats.org/officeDocument/2006/relationships/image" Target="../media/image991.png"/><Relationship Id="rId10" Type="http://schemas.openxmlformats.org/officeDocument/2006/relationships/image" Target="../media/image850.png"/><Relationship Id="rId19" Type="http://schemas.openxmlformats.org/officeDocument/2006/relationships/image" Target="../media/image710.png"/><Relationship Id="rId4" Type="http://schemas.openxmlformats.org/officeDocument/2006/relationships/image" Target="../media/image841.png"/><Relationship Id="rId9" Type="http://schemas.openxmlformats.org/officeDocument/2006/relationships/image" Target="../media/image187001.png"/><Relationship Id="rId14" Type="http://schemas.openxmlformats.org/officeDocument/2006/relationships/image" Target="../media/image861.png"/><Relationship Id="rId27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14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9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accent6">
                <a:lumMod val="40000"/>
                <a:lumOff val="60000"/>
              </a:schemeClr>
            </a:gs>
            <a:gs pos="46000">
              <a:schemeClr val="accent6">
                <a:lumMod val="95000"/>
                <a:lumOff val="5000"/>
              </a:schemeClr>
            </a:gs>
            <a:gs pos="100000">
              <a:schemeClr val="accent6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6A819904-9CA9-B813-102F-8D31E916015B}"/>
              </a:ext>
            </a:extLst>
          </p:cNvPr>
          <p:cNvSpPr txBox="1">
            <a:spLocks/>
          </p:cNvSpPr>
          <p:nvPr/>
        </p:nvSpPr>
        <p:spPr>
          <a:xfrm>
            <a:off x="914400" y="739916"/>
            <a:ext cx="10363200" cy="2752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Fresh Approach to Teaching Optimization:</a:t>
            </a:r>
          </a:p>
          <a:p>
            <a:pPr>
              <a:buNone/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Deterministic Optimization to the Jungle of Stochastic Optimization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8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 of Operations Research and Information Engineering</a:t>
            </a:r>
            <a:b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Cornell University</a:t>
            </a:r>
            <a:endParaRPr lang="en-US" sz="18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April 29, 2025</a:t>
            </a:r>
            <a:b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72149BEE-EE93-D126-FB61-A4C72986F5F7}"/>
              </a:ext>
            </a:extLst>
          </p:cNvPr>
          <p:cNvSpPr txBox="1">
            <a:spLocks/>
          </p:cNvSpPr>
          <p:nvPr/>
        </p:nvSpPr>
        <p:spPr>
          <a:xfrm>
            <a:off x="1828800" y="3492333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Warren B Powell</a:t>
            </a:r>
          </a:p>
          <a:p>
            <a:r>
              <a:rPr lang="en-US" sz="2000" dirty="0">
                <a:solidFill>
                  <a:schemeClr val="bg1"/>
                </a:solidFill>
              </a:rPr>
              <a:t>Chief Innovation Officer, Optimal Dynamics</a:t>
            </a:r>
          </a:p>
          <a:p>
            <a:r>
              <a:rPr lang="en-US" sz="2000" dirty="0">
                <a:solidFill>
                  <a:schemeClr val="bg1"/>
                </a:solidFill>
              </a:rPr>
              <a:t>Professor Emeritus, Princeton University</a:t>
            </a:r>
          </a:p>
          <a:p>
            <a:r>
              <a:rPr lang="en-US" sz="2000" dirty="0">
                <a:solidFill>
                  <a:schemeClr val="bg1"/>
                </a:solidFill>
              </a:rPr>
              <a:t>Executive-in-Residence, Rutgers University</a:t>
            </a:r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C4F5457F-FC38-5697-B0F7-5B076D3AA1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495" b="97253" l="4706" r="97059">
                        <a14:foregroundMark x1="45294" y1="24725" x2="45294" y2="24725"/>
                        <a14:foregroundMark x1="56471" y1="23626" x2="56471" y2="23626"/>
                        <a14:foregroundMark x1="41765" y1="20879" x2="41765" y2="20879"/>
                        <a14:foregroundMark x1="10000" y1="72527" x2="10000" y2="72527"/>
                        <a14:foregroundMark x1="10588" y1="79121" x2="10588" y2="79121"/>
                        <a14:foregroundMark x1="11765" y1="68681" x2="11765" y2="68681"/>
                        <a14:foregroundMark x1="6471" y1="68681" x2="6471" y2="68681"/>
                        <a14:foregroundMark x1="40000" y1="30220" x2="40000" y2="30220"/>
                        <a14:foregroundMark x1="54706" y1="20879" x2="54706" y2="20879"/>
                        <a14:foregroundMark x1="54706" y1="30220" x2="54706" y2="30220"/>
                        <a14:foregroundMark x1="54706" y1="30220" x2="54706" y2="30220"/>
                        <a14:foregroundMark x1="51765" y1="24176" x2="51765" y2="24176"/>
                        <a14:foregroundMark x1="53529" y1="30769" x2="53529" y2="30769"/>
                        <a14:foregroundMark x1="45882" y1="29670" x2="45882" y2="29670"/>
                        <a14:foregroundMark x1="8824" y1="87363" x2="8824" y2="87363"/>
                        <a14:foregroundMark x1="19412" y1="89011" x2="19412" y2="89011"/>
                        <a14:foregroundMark x1="31176" y1="93407" x2="31176" y2="93407"/>
                        <a14:foregroundMark x1="24118" y1="95604" x2="24118" y2="96154"/>
                        <a14:foregroundMark x1="24118" y1="87912" x2="24118" y2="95604"/>
                        <a14:foregroundMark x1="5882" y1="65385" x2="5882" y2="65385"/>
                        <a14:foregroundMark x1="9413" y1="62088" x2="8235" y2="61538"/>
                        <a14:foregroundMark x1="10588" y1="62637" x2="9413" y2="62088"/>
                        <a14:foregroundMark x1="16471" y1="65385" x2="10588" y2="62637"/>
                        <a14:foregroundMark x1="28235" y1="89560" x2="28235" y2="89560"/>
                        <a14:foregroundMark x1="31765" y1="96703" x2="31765" y2="96703"/>
                        <a14:foregroundMark x1="38235" y1="95604" x2="38235" y2="95604"/>
                        <a14:foregroundMark x1="35882" y1="92857" x2="35882" y2="92857"/>
                        <a14:foregroundMark x1="34118" y1="90110" x2="34118" y2="90110"/>
                        <a14:foregroundMark x1="41765" y1="90659" x2="41765" y2="90659"/>
                        <a14:foregroundMark x1="41765" y1="93956" x2="41765" y2="93956"/>
                        <a14:foregroundMark x1="45882" y1="97253" x2="45882" y2="97253"/>
                        <a14:foregroundMark x1="50000" y1="97802" x2="50000" y2="97802"/>
                        <a14:foregroundMark x1="52941" y1="97802" x2="52941" y2="97802"/>
                        <a14:foregroundMark x1="58235" y1="97253" x2="58235" y2="97253"/>
                        <a14:foregroundMark x1="61176" y1="97802" x2="61176" y2="97802"/>
                        <a14:foregroundMark x1="60000" y1="90110" x2="60000" y2="90110"/>
                        <a14:foregroundMark x1="64118" y1="90659" x2="64118" y2="90659"/>
                        <a14:foregroundMark x1="70000" y1="86813" x2="70000" y2="86813"/>
                        <a14:foregroundMark x1="74118" y1="85165" x2="74118" y2="85165"/>
                        <a14:foregroundMark x1="75882" y1="91758" x2="75882" y2="91758"/>
                        <a14:foregroundMark x1="87647" y1="75275" x2="87647" y2="75275"/>
                        <a14:foregroundMark x1="87647" y1="75275" x2="87647" y2="75275"/>
                        <a14:foregroundMark x1="87647" y1="72527" x2="87647" y2="72527"/>
                        <a14:foregroundMark x1="84706" y1="80769" x2="84706" y2="80769"/>
                        <a14:foregroundMark x1="92941" y1="82418" x2="92941" y2="82418"/>
                        <a14:foregroundMark x1="97059" y1="65934" x2="97059" y2="65934"/>
                        <a14:foregroundMark x1="88235" y1="65934" x2="88235" y2="65934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50000" y1="5495" x2="50000" y2="5495"/>
                        <a14:foregroundMark x1="9412" y1="62637" x2="9412" y2="62637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backgroundMark x1="9412" y1="61538" x2="9412" y2="61538"/>
                        <a14:backgroundMark x1="8235" y1="60989" x2="8235" y2="60989"/>
                        <a14:backgroundMark x1="11765" y1="62637" x2="11765" y2="62637"/>
                        <a14:backgroundMark x1="10588" y1="62088" x2="10588" y2="62088"/>
                        <a14:backgroundMark x1="24706" y1="96154" x2="24706" y2="96154"/>
                        <a14:backgroundMark x1="24118" y1="95604" x2="24118" y2="95604"/>
                        <a14:backgroundMark x1="23529" y1="97253" x2="23529" y2="97253"/>
                        <a14:backgroundMark x1="24118" y1="97253" x2="24118" y2="97253"/>
                        <a14:backgroundMark x1="24118" y1="97253" x2="24118" y2="97253"/>
                        <a14:backgroundMark x1="23529" y1="97802" x2="23529" y2="97802"/>
                        <a14:backgroundMark x1="23529" y1="96703" x2="23529" y2="96703"/>
                        <a14:backgroundMark x1="23529" y1="96703" x2="23529" y2="96154"/>
                        <a14:backgroundMark x1="7647" y1="62088" x2="7647" y2="62088"/>
                        <a14:backgroundMark x1="8824" y1="62637" x2="8824" y2="626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68273" y="3223458"/>
            <a:ext cx="1319996" cy="141317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359251F-644F-4A9A-638A-E449103E7E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790" b="93519" l="2186" r="96448">
                        <a14:foregroundMark x1="7923" y1="9259" x2="7923" y2="9259"/>
                        <a14:foregroundMark x1="20219" y1="38272" x2="20219" y2="38272"/>
                        <a14:foregroundMark x1="18579" y1="64815" x2="18579" y2="64815"/>
                        <a14:foregroundMark x1="12568" y1="88580" x2="12568" y2="88580"/>
                        <a14:foregroundMark x1="33880" y1="92901" x2="33880" y2="92901"/>
                        <a14:foregroundMark x1="5464" y1="93827" x2="5464" y2="93827"/>
                        <a14:foregroundMark x1="18852" y1="10494" x2="18852" y2="10494"/>
                        <a14:foregroundMark x1="2732" y1="8333" x2="2732" y2="8333"/>
                        <a14:foregroundMark x1="96721" y1="85802" x2="96721" y2="85802"/>
                        <a14:foregroundMark x1="62295" y1="6790" x2="62295" y2="67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67738" y="4895641"/>
            <a:ext cx="1220264" cy="1080234"/>
          </a:xfrm>
          <a:prstGeom prst="rect">
            <a:avLst/>
          </a:prstGeom>
        </p:spPr>
      </p:pic>
      <p:pic>
        <p:nvPicPr>
          <p:cNvPr id="6" name="Picture 5" descr="A black cross with white squares&#10;&#10;Description automatically generated">
            <a:extLst>
              <a:ext uri="{FF2B5EF4-FFF2-40B4-BE49-F238E27FC236}">
                <a16:creationId xmlns:a16="http://schemas.microsoft.com/office/drawing/2014/main" id="{92AED0D1-965B-DA91-AED3-508928B758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923" y="4336049"/>
            <a:ext cx="2743922" cy="1317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287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7A2B40DA-8BA0-03DC-9FED-6B1AF292F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0E0308CE-4D31-D551-23E2-D358BB3F3AE3}"/>
              </a:ext>
            </a:extLst>
          </p:cNvPr>
          <p:cNvGrpSpPr/>
          <p:nvPr/>
        </p:nvGrpSpPr>
        <p:grpSpPr>
          <a:xfrm>
            <a:off x="-57955" y="-51515"/>
            <a:ext cx="12249955" cy="6909515"/>
            <a:chOff x="8614" y="0"/>
            <a:chExt cx="12150322" cy="6858000"/>
          </a:xfrm>
        </p:grpSpPr>
        <p:pic>
          <p:nvPicPr>
            <p:cNvPr id="7" name="Picture 6" descr="Shape&#10;&#10;Description automatically generated">
              <a:extLst>
                <a:ext uri="{FF2B5EF4-FFF2-40B4-BE49-F238E27FC236}">
                  <a16:creationId xmlns:a16="http://schemas.microsoft.com/office/drawing/2014/main" id="{3DD45472-D2BE-B4BA-8F72-FDC7A70FEC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14" y="0"/>
              <a:ext cx="12150322" cy="6858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9601644-3A4E-6A4D-6FE3-172ADCF18F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00487" y="677453"/>
              <a:ext cx="2527430" cy="1130358"/>
            </a:xfrm>
            <a:prstGeom prst="rect">
              <a:avLst/>
            </a:prstGeom>
          </p:spPr>
        </p:pic>
      </p:grpSp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5A1A45F5-2B66-04F1-AFD4-F522911A3C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247" name="Google Shape;247;p26">
            <a:extLst>
              <a:ext uri="{FF2B5EF4-FFF2-40B4-BE49-F238E27FC236}">
                <a16:creationId xmlns:a16="http://schemas.microsoft.com/office/drawing/2014/main" id="{DBBD8810-D2FF-125E-6446-02637900B6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580913"/>
            <a:ext cx="9840879" cy="38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40"/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Optimizing decisions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40"/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From static to sequential optimization</a:t>
            </a:r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240"/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Sequential decision problems</a:t>
            </a:r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240"/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Designing policies</a:t>
            </a:r>
          </a:p>
          <a:p>
            <a:pPr marL="342900" indent="-342900">
              <a:spcBef>
                <a:spcPts val="0"/>
              </a:spcBef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 new educational field: sequential decision analytics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40"/>
              <a:buFont typeface="Times New Roman"/>
              <a:buChar char="➜"/>
            </a:pPr>
            <a:endParaRPr dirty="0">
              <a:solidFill>
                <a:schemeClr val="lt1"/>
              </a:solidFill>
            </a:endParaRPr>
          </a:p>
          <a:p>
            <a:pPr marL="342900" lvl="0" indent="-20066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</a:pPr>
            <a:endParaRPr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0944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A1B46-AC20-8C53-81E7-ABEADCA06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static to sequential problems</a:t>
            </a:r>
            <a:endParaRPr lang="en-US" dirty="0">
              <a:latin typeface="Oswald" panose="00000500000000000000" pitchFamily="2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3CBE138-4037-D1BE-ABAB-AB2D287B306C}"/>
              </a:ext>
            </a:extLst>
          </p:cNvPr>
          <p:cNvGrpSpPr/>
          <p:nvPr/>
        </p:nvGrpSpPr>
        <p:grpSpPr>
          <a:xfrm>
            <a:off x="8129328" y="1479958"/>
            <a:ext cx="3160643" cy="3292510"/>
            <a:chOff x="7083287" y="1510748"/>
            <a:chExt cx="2431774" cy="251791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AACA6F8-97A7-A178-7A1A-C0448A2C5956}"/>
                </a:ext>
              </a:extLst>
            </p:cNvPr>
            <p:cNvSpPr/>
            <p:nvPr/>
          </p:nvSpPr>
          <p:spPr>
            <a:xfrm>
              <a:off x="7083287" y="1510748"/>
              <a:ext cx="2431774" cy="2517913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" name="Google Shape;7154;p125">
              <a:extLst>
                <a:ext uri="{FF2B5EF4-FFF2-40B4-BE49-F238E27FC236}">
                  <a16:creationId xmlns:a16="http://schemas.microsoft.com/office/drawing/2014/main" id="{5C80BE71-795A-84C0-211F-D41A7A85BA2F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7521538" y="1739714"/>
              <a:ext cx="1309821" cy="6246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Google Shape;7155;p125">
              <a:extLst>
                <a:ext uri="{FF2B5EF4-FFF2-40B4-BE49-F238E27FC236}">
                  <a16:creationId xmlns:a16="http://schemas.microsoft.com/office/drawing/2014/main" id="{0E66F9EF-E4F8-6084-B356-BB7A0DBE5C12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635904" y="2489093"/>
              <a:ext cx="1195455" cy="11215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2880A5D-DE0F-4358-5547-AC1EF795D460}"/>
              </a:ext>
            </a:extLst>
          </p:cNvPr>
          <p:cNvSpPr txBox="1"/>
          <p:nvPr/>
        </p:nvSpPr>
        <p:spPr>
          <a:xfrm>
            <a:off x="1570074" y="5234454"/>
            <a:ext cx="90518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Raleway" pitchFamily="2" charset="0"/>
              </a:rPr>
              <a:t>The language of classical optimization does not capture anything related to the evolution of the system over time.</a:t>
            </a:r>
          </a:p>
          <a:p>
            <a:endParaRPr lang="en-US" sz="2000" dirty="0">
              <a:latin typeface="Raleway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80A6A61-10A2-548B-42A2-045B1AF0DF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4325" y="1494302"/>
            <a:ext cx="3129462" cy="3259380"/>
          </a:xfrm>
          <a:prstGeom prst="rect">
            <a:avLst/>
          </a:prstGeom>
        </p:spPr>
      </p:pic>
      <p:pic>
        <p:nvPicPr>
          <p:cNvPr id="12" name="Google Shape;2007;p54">
            <a:extLst>
              <a:ext uri="{FF2B5EF4-FFF2-40B4-BE49-F238E27FC236}">
                <a16:creationId xmlns:a16="http://schemas.microsoft.com/office/drawing/2014/main" id="{57DB0C1F-CAD0-17CF-477E-FD6502EBB86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2029" y="1659886"/>
            <a:ext cx="2113416" cy="317296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BEF70DC-625C-3179-230A-B30A3FBF6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9451" y="1510486"/>
            <a:ext cx="4650664" cy="3625664"/>
          </a:xfrm>
        </p:spPr>
        <p:txBody>
          <a:bodyPr/>
          <a:lstStyle/>
          <a:p>
            <a:pPr marL="603250" indent="-342900">
              <a:buSzPct val="90000"/>
              <a:buFont typeface="Wingdings" panose="05000000000000000000" pitchFamily="2" charset="2"/>
              <a:buChar char="Ø"/>
            </a:pPr>
            <a:r>
              <a:rPr lang="en-US" sz="2000" dirty="0"/>
              <a:t>Standard modeling strategy is to pose the optimization problem at a point in time.</a:t>
            </a:r>
          </a:p>
          <a:p>
            <a:pPr marL="603250" indent="-342900">
              <a:buSzPct val="90000"/>
              <a:buFont typeface="Wingdings" panose="05000000000000000000" pitchFamily="2" charset="2"/>
              <a:buChar char="Ø"/>
            </a:pPr>
            <a:r>
              <a:rPr lang="en-US" sz="2000" dirty="0"/>
              <a:t>The next step is to design some algorithm (e.g. simplex) to solve the decision problem.</a:t>
            </a:r>
          </a:p>
          <a:p>
            <a:pPr marL="603250" indent="-342900">
              <a:buSzPct val="90000"/>
              <a:buFont typeface="Wingdings" panose="05000000000000000000" pitchFamily="2" charset="2"/>
              <a:buChar char="Ø"/>
            </a:pPr>
            <a:r>
              <a:rPr lang="en-US" sz="2000" dirty="0"/>
              <a:t>We then declare that the solution is </a:t>
            </a:r>
            <a:r>
              <a:rPr lang="en-US" sz="2000" i="1" dirty="0"/>
              <a:t>optimal!</a:t>
            </a:r>
            <a:endParaRPr lang="en-US" sz="2000" dirty="0"/>
          </a:p>
          <a:p>
            <a:pPr lvl="1">
              <a:buSzPct val="90000"/>
              <a:buFont typeface="Wingdings" panose="05000000000000000000" pitchFamily="2" charset="2"/>
              <a:buChar char="§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00065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86258-D883-1145-F8AC-1B93A66B6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static to sequential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A768A-0E90-CD62-F519-E98A735C2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01203"/>
            <a:ext cx="10990811" cy="9110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start with a static, deterministic optimization problem: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4AFB39-AF8E-6E70-00FB-8AA82D79BA53}"/>
                  </a:ext>
                </a:extLst>
              </p:cNvPr>
              <p:cNvSpPr txBox="1"/>
              <p:nvPr/>
            </p:nvSpPr>
            <p:spPr>
              <a:xfrm>
                <a:off x="4394382" y="2597522"/>
                <a:ext cx="1856790" cy="8249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6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4AFB39-AF8E-6E70-00FB-8AA82D79BA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382" y="2597522"/>
                <a:ext cx="1856790" cy="8249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D0B631E-5DC3-A54A-04BC-59CFCF94C0D4}"/>
                  </a:ext>
                </a:extLst>
              </p:cNvPr>
              <p:cNvSpPr txBox="1"/>
              <p:nvPr/>
            </p:nvSpPr>
            <p:spPr>
              <a:xfrm>
                <a:off x="4394382" y="3901763"/>
                <a:ext cx="1773242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𝐴𝑥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3600" b="0" dirty="0"/>
              </a:p>
              <a:p>
                <a:r>
                  <a:rPr lang="en-US" sz="3600" b="0" dirty="0"/>
                  <a:t>   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D0B631E-5DC3-A54A-04BC-59CFCF94C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382" y="3901763"/>
                <a:ext cx="1773242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4360744-35D1-0FDC-B057-8AD37660930C}"/>
              </a:ext>
            </a:extLst>
          </p:cNvPr>
          <p:cNvSpPr txBox="1"/>
          <p:nvPr/>
        </p:nvSpPr>
        <p:spPr>
          <a:xfrm>
            <a:off x="3135255" y="3477461"/>
            <a:ext cx="16194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Subject to:</a:t>
            </a:r>
          </a:p>
        </p:txBody>
      </p:sp>
    </p:spTree>
    <p:extLst>
      <p:ext uri="{BB962C8B-B14F-4D97-AF65-F5344CB8AC3E}">
        <p14:creationId xmlns:p14="http://schemas.microsoft.com/office/powerpoint/2010/main" val="3463105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DADF2-0A05-E86A-2D2D-881C4CDEA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38A98-41C1-92B6-1D77-A5A346C69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static to sequential problems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8E3795-BF6C-8437-F04E-5B3E52D2BA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401203"/>
                <a:ext cx="10043809" cy="91108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In practice, these are solved at a point in time with data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that is changing over time.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8E3795-BF6C-8437-F04E-5B3E52D2BA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401203"/>
                <a:ext cx="10043809" cy="911088"/>
              </a:xfrm>
              <a:blipFill>
                <a:blip r:embed="rId2"/>
                <a:stretch>
                  <a:fillRect l="-1092" t="-2013" b="-14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C9D940-A896-EDA2-3648-4CFADF568F5A}"/>
                  </a:ext>
                </a:extLst>
              </p:cNvPr>
              <p:cNvSpPr txBox="1"/>
              <p:nvPr/>
            </p:nvSpPr>
            <p:spPr>
              <a:xfrm>
                <a:off x="4394382" y="2597522"/>
                <a:ext cx="2015616" cy="8302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6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lim>
                          </m:limLow>
                        </m:fName>
                        <m:e>
                          <m:sSubSup>
                            <m:sSub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C9D940-A896-EDA2-3648-4CFADF568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382" y="2597522"/>
                <a:ext cx="2015616" cy="8302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601059A-E6E7-05D9-3FBB-E3EF33DD718D}"/>
              </a:ext>
            </a:extLst>
          </p:cNvPr>
          <p:cNvSpPr txBox="1"/>
          <p:nvPr/>
        </p:nvSpPr>
        <p:spPr>
          <a:xfrm>
            <a:off x="3135255" y="3477461"/>
            <a:ext cx="16194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Subject to: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08FBC02-8CC0-E86A-C33E-FA71E9425B5A}"/>
                  </a:ext>
                </a:extLst>
              </p:cNvPr>
              <p:cNvSpPr txBox="1"/>
              <p:nvPr/>
            </p:nvSpPr>
            <p:spPr>
              <a:xfrm>
                <a:off x="3999681" y="3901763"/>
                <a:ext cx="2387000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600" b="0" dirty="0"/>
              </a:p>
              <a:p>
                <a:r>
                  <a:rPr lang="en-US" sz="3600" b="0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08FBC02-8CC0-E86A-C33E-FA71E9425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9681" y="3901763"/>
                <a:ext cx="2387000" cy="12003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6211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FE5F4-5628-8DBA-3374-E2307679E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DBB60-0017-DE68-01C6-BCB590242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static to sequential problems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624E06-CD86-2B07-DBA6-143CFF1C3D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1203"/>
                <a:ext cx="9667532" cy="91108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Any method for making a decision at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can be called a </a:t>
                </a:r>
                <a:r>
                  <a:rPr lang="en-US" i="1" dirty="0"/>
                  <a:t>policy</a:t>
                </a:r>
                <a:r>
                  <a:rPr lang="en-US" dirty="0"/>
                  <a:t> that depends on the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624E06-CD86-2B07-DBA6-143CFF1C3D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1203"/>
                <a:ext cx="9667532" cy="911088"/>
              </a:xfrm>
              <a:blipFill>
                <a:blip r:embed="rId2"/>
                <a:stretch>
                  <a:fillRect l="-1199" t="-2013" b="-14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64CE6A4-0A17-6057-9B2A-E56FDEAEC79F}"/>
              </a:ext>
            </a:extLst>
          </p:cNvPr>
          <p:cNvSpPr txBox="1"/>
          <p:nvPr/>
        </p:nvSpPr>
        <p:spPr>
          <a:xfrm>
            <a:off x="3135255" y="3477461"/>
            <a:ext cx="16194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Subject to: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7FE4C5-66FA-6D3F-C3CD-33F3E6944219}"/>
                  </a:ext>
                </a:extLst>
              </p:cNvPr>
              <p:cNvSpPr txBox="1"/>
              <p:nvPr/>
            </p:nvSpPr>
            <p:spPr>
              <a:xfrm>
                <a:off x="3999681" y="3901763"/>
                <a:ext cx="2387000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600" b="0" dirty="0"/>
              </a:p>
              <a:p>
                <a:r>
                  <a:rPr lang="en-US" sz="3600" b="0" dirty="0"/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7FE4C5-66FA-6D3F-C3CD-33F3E69442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9681" y="3901763"/>
                <a:ext cx="2387000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C307082-77B3-F73F-01AE-42C4AF168C89}"/>
                  </a:ext>
                </a:extLst>
              </p:cNvPr>
              <p:cNvSpPr txBox="1"/>
              <p:nvPr/>
            </p:nvSpPr>
            <p:spPr>
              <a:xfrm>
                <a:off x="1690648" y="2597522"/>
                <a:ext cx="4736233" cy="8302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36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36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36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6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36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3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3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𝑎𝑟𝑔</m:t>
                          </m:r>
                          <m:limLow>
                            <m:limLow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6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lim>
                          </m:limLow>
                        </m:fName>
                        <m:e>
                          <m:sSubSup>
                            <m:sSub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C307082-77B3-F73F-01AE-42C4AF168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0648" y="2597522"/>
                <a:ext cx="4736233" cy="8302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6839BB5-DAA5-2946-8414-ACF0F7C37EE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2718" y="5187310"/>
                <a:ext cx="11080795" cy="9110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600" dirty="0">
                    <a:latin typeface="Raleway" pitchFamily="2" charset="0"/>
                  </a:rPr>
                  <a:t>where “</a:t>
                </a:r>
                <a:r>
                  <a:rPr lang="en-US" sz="2600" dirty="0" err="1">
                    <a:latin typeface="Raleway" pitchFamily="2" charset="0"/>
                  </a:rPr>
                  <a:t>argmin</a:t>
                </a:r>
                <a:r>
                  <a:rPr lang="en-US" sz="2600" dirty="0">
                    <a:latin typeface="Raleway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>
                    <a:latin typeface="Raleway" pitchFamily="2" charset="0"/>
                  </a:rPr>
                  <a:t>” is the value of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600" dirty="0">
                    <a:latin typeface="Raleway" pitchFamily="2" charset="0"/>
                  </a:rPr>
                  <a:t> that minimizes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>
                    <a:latin typeface="Raleway" pitchFamily="2" charset="0"/>
                  </a:rPr>
                  <a:t>.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>
                    <a:latin typeface="Raleway" pitchFamily="2" charset="0"/>
                  </a:rPr>
                  <a:t> is a </a:t>
                </a:r>
                <a:r>
                  <a:rPr lang="en-US" sz="2600" i="1" dirty="0">
                    <a:latin typeface="Raleway" pitchFamily="2" charset="0"/>
                  </a:rPr>
                  <a:t>policy </a:t>
                </a:r>
                <a:r>
                  <a:rPr lang="en-US" sz="2600" dirty="0">
                    <a:latin typeface="Raleway" pitchFamily="2" charset="0"/>
                  </a:rPr>
                  <a:t>that represents how we make a decision at time </a:t>
                </a:r>
                <a:r>
                  <a:rPr lang="en-US" sz="2600" i="1" dirty="0">
                    <a:latin typeface="Raleway" pitchFamily="2" charset="0"/>
                  </a:rPr>
                  <a:t>t. </a:t>
                </a:r>
                <a:endParaRPr lang="en-US" sz="2600" dirty="0">
                  <a:latin typeface="Raleway" pitchFamily="2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600" dirty="0">
                  <a:latin typeface="Raleway" pitchFamily="2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600" dirty="0">
                  <a:latin typeface="Raleway" pitchFamily="2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600" dirty="0">
                  <a:latin typeface="Raleway" pitchFamily="2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600" dirty="0">
                  <a:latin typeface="Raleway" pitchFamily="2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600" dirty="0">
                  <a:latin typeface="Raleway" pitchFamily="2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600" dirty="0">
                  <a:latin typeface="Raleway" pitchFamily="2" charset="0"/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6839BB5-DAA5-2946-8414-ACF0F7C37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718" y="5187310"/>
                <a:ext cx="11080795" cy="911088"/>
              </a:xfrm>
              <a:prstGeom prst="rect">
                <a:avLst/>
              </a:prstGeom>
              <a:blipFill>
                <a:blip r:embed="rId5"/>
                <a:stretch>
                  <a:fillRect l="-991" t="-10067" b="-53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1946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F9B55-3722-DAB9-1254-33C74523D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42198-0882-3AEC-184E-49B8F6ACD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static to sequential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69845-C324-6921-47E0-86771B229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01203"/>
            <a:ext cx="10918371" cy="91108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We can modify the behavior of our linear program by introducing tunable parameters in the objective function or constraints.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8990DB-0103-8EEF-4BAB-82ABF169F5C9}"/>
              </a:ext>
            </a:extLst>
          </p:cNvPr>
          <p:cNvSpPr txBox="1"/>
          <p:nvPr/>
        </p:nvSpPr>
        <p:spPr>
          <a:xfrm>
            <a:off x="3135255" y="3477461"/>
            <a:ext cx="16194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Subject to: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A369100-9C1F-0390-251D-1A611474EEA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2718" y="5355920"/>
                <a:ext cx="11080795" cy="9110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600" dirty="0">
                    <a:latin typeface="Raleway" pitchFamily="2" charset="0"/>
                  </a:rPr>
                  <a:t>The policy “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600" dirty="0">
                    <a:latin typeface="Raleway" pitchFamily="2" charset="0"/>
                  </a:rPr>
                  <a:t>” captures the design of the adjustments to the objective function and constraints, along with the tunable parameters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600" dirty="0">
                    <a:latin typeface="Raleway" pitchFamily="2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A369100-9C1F-0390-251D-1A611474E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718" y="5355920"/>
                <a:ext cx="11080795" cy="911088"/>
              </a:xfrm>
              <a:prstGeom prst="rect">
                <a:avLst/>
              </a:prstGeom>
              <a:blipFill>
                <a:blip r:embed="rId2"/>
                <a:stretch>
                  <a:fillRect l="-991" t="-10738" b="-53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BD11B0B-5948-5786-FCE3-23132C72F6FB}"/>
                  </a:ext>
                </a:extLst>
              </p:cNvPr>
              <p:cNvSpPr txBox="1"/>
              <p:nvPr/>
            </p:nvSpPr>
            <p:spPr>
              <a:xfrm>
                <a:off x="3502237" y="3901763"/>
                <a:ext cx="5556393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3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3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3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3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600" b="0" dirty="0"/>
              </a:p>
              <a:p>
                <a:r>
                  <a:rPr lang="en-US" sz="3600" b="0" dirty="0"/>
                  <a:t>    </a:t>
                </a:r>
                <a14:m>
                  <m:oMath xmlns:m="http://schemas.openxmlformats.org/officeDocument/2006/math">
                    <m:r>
                      <a:rPr lang="en-US" sz="3600" b="0" i="0" smtClean="0">
                        <a:latin typeface="Cambria Math" panose="02040503050406030204" pitchFamily="18" charset="0"/>
                      </a:rPr>
                      <m:t>        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BD11B0B-5948-5786-FCE3-23132C72F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237" y="3901763"/>
                <a:ext cx="5556393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B2C5645C-A8FD-5A06-E641-7DBC27FF4873}"/>
              </a:ext>
            </a:extLst>
          </p:cNvPr>
          <p:cNvGrpSpPr/>
          <p:nvPr/>
        </p:nvGrpSpPr>
        <p:grpSpPr>
          <a:xfrm>
            <a:off x="1718273" y="4023875"/>
            <a:ext cx="1999017" cy="1074910"/>
            <a:chOff x="1659005" y="4057743"/>
            <a:chExt cx="1999017" cy="10749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BF997FD5-2C63-692F-53AC-FC6FD457A35A}"/>
                    </a:ext>
                  </a:extLst>
                </p:cNvPr>
                <p:cNvSpPr txBox="1"/>
                <p:nvPr/>
              </p:nvSpPr>
              <p:spPr>
                <a:xfrm>
                  <a:off x="1659005" y="4308133"/>
                  <a:ext cx="1569789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𝒳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BF997FD5-2C63-692F-53AC-FC6FD457A3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9005" y="4308133"/>
                  <a:ext cx="1569789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E7EF6145-6C67-1CED-8F1D-A567E86DC123}"/>
                    </a:ext>
                  </a:extLst>
                </p:cNvPr>
                <p:cNvSpPr txBox="1"/>
                <p:nvPr/>
              </p:nvSpPr>
              <p:spPr>
                <a:xfrm>
                  <a:off x="3014641" y="4057743"/>
                  <a:ext cx="643381" cy="10749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/>
                              </m:mr>
                              <m:mr>
                                <m:e/>
                              </m:mr>
                              <m:mr>
                                <m:e/>
                              </m:mr>
                            </m:m>
                          </m:e>
                        </m:d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E7EF6145-6C67-1CED-8F1D-A567E86DC1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14641" y="4057743"/>
                  <a:ext cx="643381" cy="10749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D37565D-E6BA-59AF-BE62-7336B50B1ADE}"/>
                  </a:ext>
                </a:extLst>
              </p:cNvPr>
              <p:cNvSpPr txBox="1"/>
              <p:nvPr/>
            </p:nvSpPr>
            <p:spPr>
              <a:xfrm>
                <a:off x="894106" y="2597522"/>
                <a:ext cx="8323176" cy="9017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𝑎𝑟𝑔</m:t>
                          </m:r>
                          <m:limLow>
                            <m:limLow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6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𝒳</m:t>
                                  </m:r>
                                </m:e>
                                <m:sub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lim>
                          </m:limLow>
                        </m:fName>
                        <m:e>
                          <m:sSubSup>
                            <m:sSub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3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3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3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3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D37565D-E6BA-59AF-BE62-7336B50B1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106" y="2597522"/>
                <a:ext cx="8323176" cy="90172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4388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055B5883-5904-3B27-0537-20334F6AA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01203"/>
            <a:ext cx="10918371" cy="9110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next simulate to evaluate the performance of our policy: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BDDB6E0-38BA-48F0-D46D-9A6317B38A2C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2504922" y="4582343"/>
            <a:ext cx="8202022" cy="348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3521444-E1D2-12D3-C84E-8C5D423136C9}"/>
              </a:ext>
            </a:extLst>
          </p:cNvPr>
          <p:cNvCxnSpPr/>
          <p:nvPr/>
        </p:nvCxnSpPr>
        <p:spPr>
          <a:xfrm>
            <a:off x="2504925" y="4463912"/>
            <a:ext cx="0" cy="2438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196360D-3F19-295A-7708-816641070318}"/>
              </a:ext>
            </a:extLst>
          </p:cNvPr>
          <p:cNvCxnSpPr/>
          <p:nvPr/>
        </p:nvCxnSpPr>
        <p:spPr>
          <a:xfrm>
            <a:off x="2504922" y="4477455"/>
            <a:ext cx="1625600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F822947-83DC-64D4-8BAB-DFF10554A41B}"/>
              </a:ext>
            </a:extLst>
          </p:cNvPr>
          <p:cNvGrpSpPr/>
          <p:nvPr/>
        </p:nvGrpSpPr>
        <p:grpSpPr>
          <a:xfrm>
            <a:off x="2323275" y="3158779"/>
            <a:ext cx="499817" cy="1272954"/>
            <a:chOff x="2474602" y="2919256"/>
            <a:chExt cx="499817" cy="1272954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F56BE68-4DE0-5093-B22B-CF7948A8643D}"/>
                </a:ext>
              </a:extLst>
            </p:cNvPr>
            <p:cNvCxnSpPr>
              <a:cxnSpLocks/>
            </p:cNvCxnSpPr>
            <p:nvPr/>
          </p:nvCxnSpPr>
          <p:spPr>
            <a:xfrm>
              <a:off x="2657261" y="3299634"/>
              <a:ext cx="0" cy="892576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5DF836C-C317-9B0E-D20C-D8180FCC634E}"/>
                    </a:ext>
                  </a:extLst>
                </p:cNvPr>
                <p:cNvSpPr txBox="1"/>
                <p:nvPr/>
              </p:nvSpPr>
              <p:spPr>
                <a:xfrm>
                  <a:off x="2474602" y="2919256"/>
                  <a:ext cx="49981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5DF836C-C317-9B0E-D20C-D8180FCC63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4602" y="2919256"/>
                  <a:ext cx="499817" cy="400110"/>
                </a:xfrm>
                <a:prstGeom prst="rect">
                  <a:avLst/>
                </a:prstGeom>
                <a:blipFill>
                  <a:blip r:embed="rId2"/>
                  <a:stretch>
                    <a:fillRect b="-46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770CA9CF-2584-0D82-DFFD-83B43505E5F0}"/>
              </a:ext>
            </a:extLst>
          </p:cNvPr>
          <p:cNvGrpSpPr/>
          <p:nvPr/>
        </p:nvGrpSpPr>
        <p:grpSpPr>
          <a:xfrm>
            <a:off x="2417883" y="3491231"/>
            <a:ext cx="1684243" cy="952359"/>
            <a:chOff x="2569210" y="3251708"/>
            <a:chExt cx="1684243" cy="952359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E10C72A-D433-06E9-0059-F41332638804}"/>
                </a:ext>
              </a:extLst>
            </p:cNvPr>
            <p:cNvCxnSpPr>
              <a:cxnSpLocks/>
            </p:cNvCxnSpPr>
            <p:nvPr/>
          </p:nvCxnSpPr>
          <p:spPr>
            <a:xfrm>
              <a:off x="2789342" y="3621040"/>
              <a:ext cx="0" cy="583027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7EDE9190-0AC0-8B08-0F9F-A6ABA2FF74B8}"/>
                    </a:ext>
                  </a:extLst>
                </p:cNvPr>
                <p:cNvSpPr txBox="1"/>
                <p:nvPr/>
              </p:nvSpPr>
              <p:spPr>
                <a:xfrm>
                  <a:off x="2569210" y="3251708"/>
                  <a:ext cx="168424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p>
                        </m:s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7EDE9190-0AC0-8B08-0F9F-A6ABA2FF74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210" y="3251708"/>
                  <a:ext cx="1684243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DD11361-881A-5AD9-9688-EC5BF5478DB4}"/>
              </a:ext>
            </a:extLst>
          </p:cNvPr>
          <p:cNvCxnSpPr/>
          <p:nvPr/>
        </p:nvCxnSpPr>
        <p:spPr>
          <a:xfrm>
            <a:off x="4137600" y="4463911"/>
            <a:ext cx="0" cy="2438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7CA436B-C8F6-56D2-769D-5659B76279EB}"/>
              </a:ext>
            </a:extLst>
          </p:cNvPr>
          <p:cNvCxnSpPr/>
          <p:nvPr/>
        </p:nvCxnSpPr>
        <p:spPr>
          <a:xfrm>
            <a:off x="5770275" y="4470888"/>
            <a:ext cx="0" cy="2438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506A4C4-61C0-195A-CA2D-F301F5B165FA}"/>
                  </a:ext>
                </a:extLst>
              </p:cNvPr>
              <p:cNvSpPr txBox="1"/>
              <p:nvPr/>
            </p:nvSpPr>
            <p:spPr>
              <a:xfrm>
                <a:off x="4669414" y="4153631"/>
                <a:ext cx="5325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506A4C4-61C0-195A-CA2D-F301F5B165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414" y="4153631"/>
                <a:ext cx="532518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905434E5-04E4-6AA3-53A0-961B740EE3A8}"/>
              </a:ext>
            </a:extLst>
          </p:cNvPr>
          <p:cNvGrpSpPr/>
          <p:nvPr/>
        </p:nvGrpSpPr>
        <p:grpSpPr>
          <a:xfrm>
            <a:off x="2667791" y="3922071"/>
            <a:ext cx="1531060" cy="693224"/>
            <a:chOff x="2819118" y="3682548"/>
            <a:chExt cx="1531060" cy="6932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D0B9D22-4319-DCEB-9AE3-78B1B1106A0F}"/>
                    </a:ext>
                  </a:extLst>
                </p:cNvPr>
                <p:cNvSpPr txBox="1"/>
                <p:nvPr/>
              </p:nvSpPr>
              <p:spPr>
                <a:xfrm rot="5400000">
                  <a:off x="3323454" y="3349049"/>
                  <a:ext cx="522387" cy="15310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/>
                              </m:mr>
                              <m:mr>
                                <m:e/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/>
                                    </m:mr>
                                    <m:mr>
                                      <m:e/>
                                    </m:m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1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/>
                                          </m:mr>
                                          <m:mr>
                                            <m:e/>
                                          </m:mr>
                                          <m:mr>
                                            <m:e/>
                                          </m:mr>
                                        </m:m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D0B9D22-4319-DCEB-9AE3-78B1B1106A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3323454" y="3349049"/>
                  <a:ext cx="522387" cy="153106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745CBA5-9EB1-0E89-D817-3EABADF96415}"/>
                    </a:ext>
                  </a:extLst>
                </p:cNvPr>
                <p:cNvSpPr txBox="1"/>
                <p:nvPr/>
              </p:nvSpPr>
              <p:spPr>
                <a:xfrm>
                  <a:off x="3368861" y="3682548"/>
                  <a:ext cx="5397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745CBA5-9EB1-0E89-D817-3EABADF964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8861" y="3682548"/>
                  <a:ext cx="539763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391FE69-CA2E-29BD-26E5-01889DB60EA2}"/>
              </a:ext>
            </a:extLst>
          </p:cNvPr>
          <p:cNvCxnSpPr/>
          <p:nvPr/>
        </p:nvCxnSpPr>
        <p:spPr>
          <a:xfrm>
            <a:off x="7402996" y="4456537"/>
            <a:ext cx="0" cy="2438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Group 82">
            <a:extLst>
              <a:ext uri="{FF2B5EF4-FFF2-40B4-BE49-F238E27FC236}">
                <a16:creationId xmlns:a16="http://schemas.microsoft.com/office/drawing/2014/main" id="{10979314-13C0-623E-2520-6C842AD5F2B7}"/>
              </a:ext>
            </a:extLst>
          </p:cNvPr>
          <p:cNvGrpSpPr/>
          <p:nvPr/>
        </p:nvGrpSpPr>
        <p:grpSpPr>
          <a:xfrm>
            <a:off x="5588671" y="3151405"/>
            <a:ext cx="1739737" cy="1284811"/>
            <a:chOff x="5739998" y="2911882"/>
            <a:chExt cx="1739737" cy="1284811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7E9A2D7-D865-6E70-8B1F-25E1B07668F7}"/>
                </a:ext>
              </a:extLst>
            </p:cNvPr>
            <p:cNvCxnSpPr>
              <a:cxnSpLocks/>
            </p:cNvCxnSpPr>
            <p:nvPr/>
          </p:nvCxnSpPr>
          <p:spPr>
            <a:xfrm>
              <a:off x="5922657" y="3292260"/>
              <a:ext cx="0" cy="892576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6F029730-3D33-882F-A784-C8989311AF7D}"/>
                    </a:ext>
                  </a:extLst>
                </p:cNvPr>
                <p:cNvSpPr txBox="1"/>
                <p:nvPr/>
              </p:nvSpPr>
              <p:spPr>
                <a:xfrm>
                  <a:off x="5739998" y="2911882"/>
                  <a:ext cx="47756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6F029730-3D33-882F-A784-C8989311AF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9998" y="2911882"/>
                  <a:ext cx="477567" cy="400110"/>
                </a:xfrm>
                <a:prstGeom prst="rect">
                  <a:avLst/>
                </a:prstGeom>
                <a:blipFill>
                  <a:blip r:embed="rId8"/>
                  <a:stretch>
                    <a:fillRect b="-30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B3905546-6C8B-A61E-9FB3-655B2D653BE0}"/>
                </a:ext>
              </a:extLst>
            </p:cNvPr>
            <p:cNvCxnSpPr>
              <a:cxnSpLocks/>
            </p:cNvCxnSpPr>
            <p:nvPr/>
          </p:nvCxnSpPr>
          <p:spPr>
            <a:xfrm>
              <a:off x="6054738" y="3613666"/>
              <a:ext cx="0" cy="583027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4EDBE034-6F74-60B3-3130-C0FFDE7F3C99}"/>
                    </a:ext>
                  </a:extLst>
                </p:cNvPr>
                <p:cNvSpPr txBox="1"/>
                <p:nvPr/>
              </p:nvSpPr>
              <p:spPr>
                <a:xfrm>
                  <a:off x="5834606" y="3244334"/>
                  <a:ext cx="164512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p>
                        </m:s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4EDBE034-6F74-60B3-3130-C0FFDE7F3C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34606" y="3244334"/>
                  <a:ext cx="1645129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F350788-B68C-CB58-6DBA-C6B1A9438014}"/>
                  </a:ext>
                </a:extLst>
              </p:cNvPr>
              <p:cNvSpPr txBox="1"/>
              <p:nvPr/>
            </p:nvSpPr>
            <p:spPr>
              <a:xfrm>
                <a:off x="7945662" y="4152076"/>
                <a:ext cx="5325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F350788-B68C-CB58-6DBA-C6B1A94380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5662" y="4152076"/>
                <a:ext cx="532518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1AACDAA-C93C-9145-7ECC-B527D26AAD4F}"/>
              </a:ext>
            </a:extLst>
          </p:cNvPr>
          <p:cNvCxnSpPr/>
          <p:nvPr/>
        </p:nvCxnSpPr>
        <p:spPr>
          <a:xfrm>
            <a:off x="9035717" y="4460089"/>
            <a:ext cx="0" cy="2438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D8A3284-39C7-771A-F2AF-7B4C35A35108}"/>
              </a:ext>
            </a:extLst>
          </p:cNvPr>
          <p:cNvCxnSpPr/>
          <p:nvPr/>
        </p:nvCxnSpPr>
        <p:spPr>
          <a:xfrm>
            <a:off x="9033396" y="4460983"/>
            <a:ext cx="0" cy="2438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1FDAA171-F0D7-272B-165E-ED4C935DFBE2}"/>
              </a:ext>
            </a:extLst>
          </p:cNvPr>
          <p:cNvGrpSpPr/>
          <p:nvPr/>
        </p:nvGrpSpPr>
        <p:grpSpPr>
          <a:xfrm>
            <a:off x="8851792" y="3141500"/>
            <a:ext cx="1866375" cy="1284811"/>
            <a:chOff x="9003119" y="2901977"/>
            <a:chExt cx="1866375" cy="1284811"/>
          </a:xfrm>
        </p:grpSpPr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C2925E1-07CB-F30C-8672-794037BB380F}"/>
                </a:ext>
              </a:extLst>
            </p:cNvPr>
            <p:cNvCxnSpPr>
              <a:cxnSpLocks/>
            </p:cNvCxnSpPr>
            <p:nvPr/>
          </p:nvCxnSpPr>
          <p:spPr>
            <a:xfrm>
              <a:off x="9185778" y="3282355"/>
              <a:ext cx="0" cy="892576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9BF18C17-90D6-5149-F8E0-B2BB7CBC2CBB}"/>
                    </a:ext>
                  </a:extLst>
                </p:cNvPr>
                <p:cNvSpPr txBox="1"/>
                <p:nvPr/>
              </p:nvSpPr>
              <p:spPr>
                <a:xfrm>
                  <a:off x="9003119" y="2901977"/>
                  <a:ext cx="52104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9BF18C17-90D6-5149-F8E0-B2BB7CBC2C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3119" y="2901977"/>
                  <a:ext cx="521040" cy="400110"/>
                </a:xfrm>
                <a:prstGeom prst="rect">
                  <a:avLst/>
                </a:prstGeom>
                <a:blipFill>
                  <a:blip r:embed="rId12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7FAF795C-0331-4489-1A8C-9C255124BBC1}"/>
                </a:ext>
              </a:extLst>
            </p:cNvPr>
            <p:cNvCxnSpPr>
              <a:cxnSpLocks/>
            </p:cNvCxnSpPr>
            <p:nvPr/>
          </p:nvCxnSpPr>
          <p:spPr>
            <a:xfrm>
              <a:off x="9317859" y="3603761"/>
              <a:ext cx="0" cy="583027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61C83698-321B-1D01-2239-CDBE7B8C8B28}"/>
                    </a:ext>
                  </a:extLst>
                </p:cNvPr>
                <p:cNvSpPr txBox="1"/>
                <p:nvPr/>
              </p:nvSpPr>
              <p:spPr>
                <a:xfrm>
                  <a:off x="9097727" y="3234429"/>
                  <a:ext cx="17717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p>
                        </m:s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61C83698-321B-1D01-2239-CDBE7B8C8B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97727" y="3234429"/>
                  <a:ext cx="1771767" cy="369332"/>
                </a:xfrm>
                <a:prstGeom prst="rect">
                  <a:avLst/>
                </a:prstGeom>
                <a:blipFill>
                  <a:blip r:embed="rId13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AFCAB8CC-CE2F-BEB7-95F6-C51033FC7B49}"/>
                  </a:ext>
                </a:extLst>
              </p:cNvPr>
              <p:cNvSpPr txBox="1"/>
              <p:nvPr/>
            </p:nvSpPr>
            <p:spPr>
              <a:xfrm>
                <a:off x="1997379" y="4784357"/>
                <a:ext cx="11232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AFCAB8CC-CE2F-BEB7-95F6-C51033FC7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7379" y="4784357"/>
                <a:ext cx="1123256" cy="369332"/>
              </a:xfrm>
              <a:prstGeom prst="rect">
                <a:avLst/>
              </a:prstGeom>
              <a:blipFill>
                <a:blip r:embed="rId14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AE1DC825-8C3A-9F23-57E3-76CB586B60F9}"/>
                  </a:ext>
                </a:extLst>
              </p:cNvPr>
              <p:cNvSpPr txBox="1"/>
              <p:nvPr/>
            </p:nvSpPr>
            <p:spPr>
              <a:xfrm>
                <a:off x="5215500" y="4787779"/>
                <a:ext cx="10841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AE1DC825-8C3A-9F23-57E3-76CB586B6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5500" y="4787779"/>
                <a:ext cx="1084143" cy="369332"/>
              </a:xfrm>
              <a:prstGeom prst="rect">
                <a:avLst/>
              </a:prstGeom>
              <a:blipFill>
                <a:blip r:embed="rId1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295AADB-FA76-7144-F417-EDDD072383E6}"/>
                  </a:ext>
                </a:extLst>
              </p:cNvPr>
              <p:cNvSpPr txBox="1"/>
              <p:nvPr/>
            </p:nvSpPr>
            <p:spPr>
              <a:xfrm>
                <a:off x="8504504" y="4785179"/>
                <a:ext cx="12028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295AADB-FA76-7144-F417-EDDD07238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4504" y="4785179"/>
                <a:ext cx="1202893" cy="369332"/>
              </a:xfrm>
              <a:prstGeom prst="rect">
                <a:avLst/>
              </a:prstGeom>
              <a:blipFill>
                <a:blip r:embed="rId1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DA15860-0BF0-8E9A-73A4-8D1DFBF1469B}"/>
                  </a:ext>
                </a:extLst>
              </p:cNvPr>
              <p:cNvSpPr txBox="1"/>
              <p:nvPr/>
            </p:nvSpPr>
            <p:spPr>
              <a:xfrm>
                <a:off x="684216" y="4792347"/>
                <a:ext cx="95675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                           +                      ⋯          +                  +                        ⋯         + 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DA15860-0BF0-8E9A-73A4-8D1DFBF14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16" y="4792347"/>
                <a:ext cx="9567578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CC584BDB-B04F-CE58-EDC5-99F6C98CCB5E}"/>
                  </a:ext>
                </a:extLst>
              </p:cNvPr>
              <p:cNvSpPr txBox="1"/>
              <p:nvPr/>
            </p:nvSpPr>
            <p:spPr>
              <a:xfrm>
                <a:off x="1356690" y="5260462"/>
                <a:ext cx="3845242" cy="8714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        </m:t>
                      </m:r>
                      <m:nary>
                        <m:naryPr>
                          <m:chr m:val="∑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sup>
                              </m:s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CC584BDB-B04F-CE58-EDC5-99F6C98CC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6690" y="5260462"/>
                <a:ext cx="3845242" cy="87145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36095B5-1C1D-DFDA-314A-313BBD7EFDFA}"/>
              </a:ext>
            </a:extLst>
          </p:cNvPr>
          <p:cNvSpPr txBox="1"/>
          <p:nvPr/>
        </p:nvSpPr>
        <p:spPr>
          <a:xfrm>
            <a:off x="10706944" y="4397677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Time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8BDB2F1-F1C7-FFF2-91E9-98BD7E24F5F6}"/>
              </a:ext>
            </a:extLst>
          </p:cNvPr>
          <p:cNvGrpSpPr/>
          <p:nvPr/>
        </p:nvGrpSpPr>
        <p:grpSpPr>
          <a:xfrm>
            <a:off x="5770318" y="3914697"/>
            <a:ext cx="1693929" cy="693224"/>
            <a:chOff x="6165910" y="3579446"/>
            <a:chExt cx="1693929" cy="693224"/>
          </a:xfrm>
        </p:grpSpPr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0223FBB9-0077-110B-3C16-C68316840E6D}"/>
                </a:ext>
              </a:extLst>
            </p:cNvPr>
            <p:cNvCxnSpPr/>
            <p:nvPr/>
          </p:nvCxnSpPr>
          <p:spPr>
            <a:xfrm>
              <a:off x="6165910" y="4134830"/>
              <a:ext cx="16256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9B1321B0-3AC9-680A-11FD-8EEF600B7BF4}"/>
                    </a:ext>
                  </a:extLst>
                </p:cNvPr>
                <p:cNvSpPr txBox="1"/>
                <p:nvPr/>
              </p:nvSpPr>
              <p:spPr>
                <a:xfrm rot="5400000">
                  <a:off x="6833115" y="3245947"/>
                  <a:ext cx="522387" cy="15310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/>
                              </m:mr>
                              <m:mr>
                                <m:e/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/>
                                    </m:mr>
                                    <m:mr>
                                      <m:e/>
                                    </m:m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1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/>
                                          </m:mr>
                                          <m:mr>
                                            <m:e/>
                                          </m:mr>
                                          <m:mr>
                                            <m:e/>
                                          </m:mr>
                                        </m:m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9B1321B0-3AC9-680A-11FD-8EEF600B7B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6833115" y="3245947"/>
                  <a:ext cx="522387" cy="153106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EE63406-0F36-1031-16F3-46496D3F92E7}"/>
                    </a:ext>
                  </a:extLst>
                </p:cNvPr>
                <p:cNvSpPr txBox="1"/>
                <p:nvPr/>
              </p:nvSpPr>
              <p:spPr>
                <a:xfrm>
                  <a:off x="6878522" y="3579446"/>
                  <a:ext cx="7451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EE63406-0F36-1031-16F3-46496D3F92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8522" y="3579446"/>
                  <a:ext cx="745140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305E91C-F8F8-6FA0-0DF0-835A9FF1396C}"/>
                  </a:ext>
                </a:extLst>
              </p:cNvPr>
              <p:cNvSpPr txBox="1"/>
              <p:nvPr/>
            </p:nvSpPr>
            <p:spPr>
              <a:xfrm>
                <a:off x="3982599" y="5518258"/>
                <a:ext cx="53366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1800" dirty="0">
                    <a:latin typeface="Raleway" pitchFamily="2" charset="0"/>
                  </a:rPr>
                  <a:t>performance of policy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1800" dirty="0">
                    <a:latin typeface="Raleway" pitchFamily="2" charset="0"/>
                  </a:rPr>
                  <a:t> over time, in the field.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305E91C-F8F8-6FA0-0DF0-835A9FF139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599" y="5518258"/>
                <a:ext cx="5336662" cy="369332"/>
              </a:xfrm>
              <a:prstGeom prst="rect">
                <a:avLst/>
              </a:prstGeom>
              <a:blipFill>
                <a:blip r:embed="rId2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itle 1">
            <a:extLst>
              <a:ext uri="{FF2B5EF4-FFF2-40B4-BE49-F238E27FC236}">
                <a16:creationId xmlns:a16="http://schemas.microsoft.com/office/drawing/2014/main" id="{D95486A7-3A86-BDB4-1F73-402A3BC50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</p:spPr>
        <p:txBody>
          <a:bodyPr/>
          <a:lstStyle/>
          <a:p>
            <a:r>
              <a:rPr lang="en-US" dirty="0"/>
              <a:t>From static to sequential problems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D0C50A68-0FCC-C9BB-7F8C-90ECEAEB1819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762812" y="2620053"/>
            <a:ext cx="2157995" cy="780551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6883A0-666C-140F-F1E8-EA32AB9ED397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985617" y="2679863"/>
            <a:ext cx="2063750" cy="74913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1CD6E9A-CFD5-9ADA-2E3D-9EA01C5E9337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248992" y="2625795"/>
            <a:ext cx="2155579" cy="83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45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61" grpId="0"/>
      <p:bldP spid="74" grpId="0"/>
      <p:bldP spid="76" grpId="0"/>
      <p:bldP spid="78" grpId="0"/>
      <p:bldP spid="79" grpId="0"/>
      <p:bldP spid="85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48000">
              <a:schemeClr val="accent2">
                <a:lumMod val="40000"/>
                <a:lumOff val="60000"/>
              </a:schemeClr>
            </a:gs>
            <a:gs pos="81000">
              <a:schemeClr val="accent2">
                <a:lumMod val="60000"/>
                <a:lumOff val="40000"/>
              </a:schemeClr>
            </a:gs>
            <a:gs pos="100000">
              <a:schemeClr val="accent2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61EF20-504E-A883-2B94-2241B9520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DD7B4A-B771-4BCA-466D-63C7F3D5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1329" y="1031101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If our policy involves solving an optimization problem, we need to recognize two optimization problems:</a:t>
            </a:r>
          </a:p>
          <a:p>
            <a:pPr marL="86360" indent="0">
              <a:buNone/>
            </a:pPr>
            <a:endParaRPr lang="en-US" dirty="0"/>
          </a:p>
          <a:p>
            <a:pPr marL="86360" indent="0">
              <a:buNone/>
            </a:pPr>
            <a:endParaRPr lang="en-US" dirty="0"/>
          </a:p>
          <a:p>
            <a:pPr marL="86360" indent="0">
              <a:buNone/>
            </a:pPr>
            <a:endParaRPr lang="en-US" dirty="0"/>
          </a:p>
          <a:p>
            <a:pPr marL="86360" indent="0">
              <a:buNone/>
            </a:pPr>
            <a:endParaRPr lang="en-US" dirty="0"/>
          </a:p>
          <a:p>
            <a:pPr marL="86360" indent="0">
              <a:buNone/>
            </a:pPr>
            <a:endParaRPr lang="en-US" dirty="0"/>
          </a:p>
          <a:p>
            <a:pPr marL="86360" indent="0">
              <a:buNone/>
            </a:pPr>
            <a:endParaRPr lang="en-US" sz="3200" dirty="0"/>
          </a:p>
          <a:p>
            <a:pPr marL="86360" indent="0">
              <a:buNone/>
            </a:pPr>
            <a:endParaRPr lang="en-US" dirty="0"/>
          </a:p>
          <a:p>
            <a:pPr marL="801688" indent="0">
              <a:buNone/>
            </a:pPr>
            <a:r>
              <a:rPr lang="en-US" sz="2000" i="1" dirty="0"/>
              <a:t>An optimal solution to the surrogate optimization model is almost never an optimal policy, and may perform quite poorly.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8B4BA-91D8-C648-15DA-27E595F319CC}"/>
              </a:ext>
            </a:extLst>
          </p:cNvPr>
          <p:cNvSpPr/>
          <p:nvPr/>
        </p:nvSpPr>
        <p:spPr>
          <a:xfrm>
            <a:off x="1324848" y="2256493"/>
            <a:ext cx="4273550" cy="3163238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48000">
                <a:schemeClr val="accent2">
                  <a:lumMod val="40000"/>
                  <a:lumOff val="60000"/>
                </a:schemeClr>
              </a:gs>
              <a:gs pos="81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081BF5-1F60-5341-872A-D0EE17B0DE5C}"/>
              </a:ext>
            </a:extLst>
          </p:cNvPr>
          <p:cNvSpPr/>
          <p:nvPr/>
        </p:nvSpPr>
        <p:spPr>
          <a:xfrm>
            <a:off x="6531848" y="2256493"/>
            <a:ext cx="4273550" cy="3163238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48000">
                <a:schemeClr val="accent2">
                  <a:lumMod val="40000"/>
                  <a:lumOff val="60000"/>
                </a:schemeClr>
              </a:gs>
              <a:gs pos="81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B230EEC-0F53-C91A-68C2-7094FBD34F37}"/>
                  </a:ext>
                </a:extLst>
              </p:cNvPr>
              <p:cNvSpPr txBox="1"/>
              <p:nvPr/>
            </p:nvSpPr>
            <p:spPr>
              <a:xfrm>
                <a:off x="2257360" y="4633165"/>
                <a:ext cx="16451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B230EEC-0F53-C91A-68C2-7094FBD34F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7360" y="4633165"/>
                <a:ext cx="1645129" cy="369332"/>
              </a:xfrm>
              <a:prstGeom prst="rect">
                <a:avLst/>
              </a:prstGeom>
              <a:blipFill>
                <a:blip r:embed="rId2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4">
                <a:extLst>
                  <a:ext uri="{FF2B5EF4-FFF2-40B4-BE49-F238E27FC236}">
                    <a16:creationId xmlns:a16="http://schemas.microsoft.com/office/drawing/2014/main" id="{D62FD1CA-11D3-30E1-7DB8-347A98036718}"/>
                  </a:ext>
                </a:extLst>
              </p:cNvPr>
              <p:cNvSpPr txBox="1"/>
              <p:nvPr/>
            </p:nvSpPr>
            <p:spPr bwMode="auto">
              <a:xfrm>
                <a:off x="6959175" y="3251248"/>
                <a:ext cx="3531025" cy="104734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Object 4">
                <a:extLst>
                  <a:ext uri="{FF2B5EF4-FFF2-40B4-BE49-F238E27FC236}">
                    <a16:creationId xmlns:a16="http://schemas.microsoft.com/office/drawing/2014/main" id="{D62FD1CA-11D3-30E1-7DB8-347A980367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59175" y="3251248"/>
                <a:ext cx="3531025" cy="10473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FF421D1-2C91-A66B-BDEA-C9388A86AF2B}"/>
              </a:ext>
            </a:extLst>
          </p:cNvPr>
          <p:cNvSpPr txBox="1"/>
          <p:nvPr/>
        </p:nvSpPr>
        <p:spPr>
          <a:xfrm>
            <a:off x="1598051" y="2408689"/>
            <a:ext cx="37369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The surrogate optimization</a:t>
            </a:r>
          </a:p>
          <a:p>
            <a:r>
              <a:rPr lang="en-US" sz="1800" dirty="0"/>
              <a:t>model – used for making decisions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4FEDF3-655F-79EE-2F60-C29CA10200C3}"/>
              </a:ext>
            </a:extLst>
          </p:cNvPr>
          <p:cNvSpPr txBox="1"/>
          <p:nvPr/>
        </p:nvSpPr>
        <p:spPr>
          <a:xfrm>
            <a:off x="6821887" y="2395989"/>
            <a:ext cx="34547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The objective function, used for </a:t>
            </a:r>
          </a:p>
          <a:p>
            <a:r>
              <a:rPr lang="en-US" sz="1800" dirty="0"/>
              <a:t>evaluating policies.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8A83BEF-C5C6-258C-A489-525BED5A3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</p:spPr>
        <p:txBody>
          <a:bodyPr/>
          <a:lstStyle/>
          <a:p>
            <a:r>
              <a:rPr lang="en-US" dirty="0"/>
              <a:t>From static to sequential problems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FD8D61-D81F-D4C5-ED00-15C14E63A74F}"/>
              </a:ext>
            </a:extLst>
          </p:cNvPr>
          <p:cNvSpPr txBox="1"/>
          <p:nvPr/>
        </p:nvSpPr>
        <p:spPr>
          <a:xfrm>
            <a:off x="6788017" y="4605793"/>
            <a:ext cx="3896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This evaluation may be done in a simulator or in the field.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AFB87F7-D031-178F-9418-0D26D85AE7D2}"/>
                  </a:ext>
                </a:extLst>
              </p:cNvPr>
              <p:cNvSpPr txBox="1"/>
              <p:nvPr/>
            </p:nvSpPr>
            <p:spPr>
              <a:xfrm>
                <a:off x="1486389" y="3320732"/>
                <a:ext cx="3802195" cy="4519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𝑎𝑟𝑔</m:t>
                          </m:r>
                          <m:limLow>
                            <m:limLow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𝒳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lim>
                          </m:limLow>
                        </m:fName>
                        <m:e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AFB87F7-D031-178F-9418-0D26D85AE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6389" y="3320732"/>
                <a:ext cx="3802195" cy="4519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6AB6A15-322D-EC8C-E414-BF9B588FE51B}"/>
                  </a:ext>
                </a:extLst>
              </p:cNvPr>
              <p:cNvSpPr txBox="1"/>
              <p:nvPr/>
            </p:nvSpPr>
            <p:spPr>
              <a:xfrm>
                <a:off x="1892992" y="3761726"/>
                <a:ext cx="250042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1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1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b="0" dirty="0"/>
              </a:p>
              <a:p>
                <a:r>
                  <a:rPr lang="en-US" sz="1600" b="0" dirty="0"/>
                  <a:t>     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6AB6A15-322D-EC8C-E414-BF9B588FE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2992" y="3761726"/>
                <a:ext cx="2500428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0691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6EBF80-1A18-2B93-B0AF-6E6E10D937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7652" y="1279489"/>
            <a:ext cx="11660968" cy="4401600"/>
          </a:xfrm>
        </p:spPr>
        <p:txBody>
          <a:bodyPr/>
          <a:lstStyle/>
          <a:p>
            <a:r>
              <a:rPr lang="en-US" dirty="0"/>
              <a:t>The policy (deterministic linear program)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The objective function (simulates the policy)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stochastic optimization problem</a:t>
            </a:r>
          </a:p>
        </p:txBody>
      </p:sp>
      <p:sp>
        <p:nvSpPr>
          <p:cNvPr id="30" name="Trapezoid 29">
            <a:extLst>
              <a:ext uri="{FF2B5EF4-FFF2-40B4-BE49-F238E27FC236}">
                <a16:creationId xmlns:a16="http://schemas.microsoft.com/office/drawing/2014/main" id="{4CFA298B-51F0-D7B5-C9F0-C0CC392E26C2}"/>
              </a:ext>
            </a:extLst>
          </p:cNvPr>
          <p:cNvSpPr/>
          <p:nvPr/>
        </p:nvSpPr>
        <p:spPr>
          <a:xfrm>
            <a:off x="0" y="2939873"/>
            <a:ext cx="12199632" cy="1532310"/>
          </a:xfrm>
          <a:prstGeom prst="trapezoid">
            <a:avLst>
              <a:gd name="adj" fmla="val 0"/>
            </a:avLst>
          </a:prstGeom>
          <a:solidFill>
            <a:schemeClr val="accent2">
              <a:lumMod val="60000"/>
              <a:lumOff val="40000"/>
              <a:alpha val="30196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rapezoid 31">
            <a:extLst>
              <a:ext uri="{FF2B5EF4-FFF2-40B4-BE49-F238E27FC236}">
                <a16:creationId xmlns:a16="http://schemas.microsoft.com/office/drawing/2014/main" id="{A82F5427-D45D-4F8D-9F19-AD4803574CEA}"/>
              </a:ext>
            </a:extLst>
          </p:cNvPr>
          <p:cNvSpPr/>
          <p:nvPr/>
        </p:nvSpPr>
        <p:spPr>
          <a:xfrm>
            <a:off x="0" y="4480005"/>
            <a:ext cx="12199632" cy="2020414"/>
          </a:xfrm>
          <a:prstGeom prst="trapezoid">
            <a:avLst>
              <a:gd name="adj" fmla="val 0"/>
            </a:avLst>
          </a:prstGeom>
          <a:solidFill>
            <a:schemeClr val="accent2">
              <a:lumMod val="75000"/>
              <a:alpha val="4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8">
                <a:extLst>
                  <a:ext uri="{FF2B5EF4-FFF2-40B4-BE49-F238E27FC236}">
                    <a16:creationId xmlns:a16="http://schemas.microsoft.com/office/drawing/2014/main" id="{05DBA0AA-0D2C-31A3-F94A-39E3F74C5850}"/>
                  </a:ext>
                </a:extLst>
              </p:cNvPr>
              <p:cNvSpPr txBox="1"/>
              <p:nvPr/>
            </p:nvSpPr>
            <p:spPr bwMode="auto">
              <a:xfrm>
                <a:off x="621884" y="2246828"/>
                <a:ext cx="9260105" cy="8016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      </m:t>
                    </m:r>
                    <m:sSubSup>
                      <m:sSubSup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bSup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func>
                      <m:func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argmax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</m:fName>
                      <m:e>
                        <m:nary>
                          <m:naryPr>
                            <m:chr m:val="∑"/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𝑡𝑝</m:t>
                                </m:r>
                              </m:sub>
                            </m:sSub>
                          </m:e>
                        </m:nary>
                      </m:e>
                    </m:func>
                  </m:oMath>
                </a14:m>
                <a:r>
                  <a:rPr lang="en-US" sz="2000" dirty="0"/>
                  <a:t>   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p>
                    </m:sSup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Object 8">
                <a:extLst>
                  <a:ext uri="{FF2B5EF4-FFF2-40B4-BE49-F238E27FC236}">
                    <a16:creationId xmlns:a16="http://schemas.microsoft.com/office/drawing/2014/main" id="{05DBA0AA-0D2C-31A3-F94A-39E3F74C5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1884" y="2246828"/>
                <a:ext cx="9260105" cy="801687"/>
              </a:xfrm>
              <a:prstGeom prst="rect">
                <a:avLst/>
              </a:prstGeom>
              <a:blipFill>
                <a:blip r:embed="rId2"/>
                <a:stretch>
                  <a:fillRect t="-56489" b="-4732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8">
                <a:extLst>
                  <a:ext uri="{FF2B5EF4-FFF2-40B4-BE49-F238E27FC236}">
                    <a16:creationId xmlns:a16="http://schemas.microsoft.com/office/drawing/2014/main" id="{5A048A8F-2C42-0EBB-0FF2-27FE4E0DC4FB}"/>
                  </a:ext>
                </a:extLst>
              </p:cNvPr>
              <p:cNvSpPr txBox="1"/>
              <p:nvPr/>
            </p:nvSpPr>
            <p:spPr bwMode="auto">
              <a:xfrm>
                <a:off x="130815" y="5239476"/>
                <a:ext cx="10363200" cy="8016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</m:t>
                      </m:r>
                      <m:sSup>
                        <m:sSupPr>
                          <m:ctrlP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e>
                            <m:lim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𝑚𝑖𝑛</m:t>
                                  </m:r>
                                </m:e>
                                <m:lim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lim>
                              </m:limLow>
                            </m:fName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𝔼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0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𝐹</m:t>
                                          </m:r>
                                        </m:e>
                                        <m:sup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sup>
                                      </m:sSup>
                                      <m:d>
                                        <m:d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d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|</m:t>
                                      </m:r>
                                      <m:sSub>
                                        <m:sSub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/>
                              </m:sSup>
                            </m:e>
                          </m:func>
                        </m:e>
                      </m:fun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Object 8">
                <a:extLst>
                  <a:ext uri="{FF2B5EF4-FFF2-40B4-BE49-F238E27FC236}">
                    <a16:creationId xmlns:a16="http://schemas.microsoft.com/office/drawing/2014/main" id="{5A048A8F-2C42-0EBB-0FF2-27FE4E0DC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0815" y="5239476"/>
                <a:ext cx="10363200" cy="8016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8">
                <a:extLst>
                  <a:ext uri="{FF2B5EF4-FFF2-40B4-BE49-F238E27FC236}">
                    <a16:creationId xmlns:a16="http://schemas.microsoft.com/office/drawing/2014/main" id="{7420A7F0-2CF0-58D9-8BB7-B6CFF631B6EE}"/>
                  </a:ext>
                </a:extLst>
              </p:cNvPr>
              <p:cNvSpPr txBox="1"/>
              <p:nvPr/>
            </p:nvSpPr>
            <p:spPr bwMode="auto">
              <a:xfrm>
                <a:off x="621884" y="3858657"/>
                <a:ext cx="10363200" cy="8016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      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en-US" sz="20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Sup>
                              <m:sSub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/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/>
                        </m:sSub>
                      </m:e>
                    </m:nary>
                  </m:oMath>
                </a14:m>
                <a:r>
                  <a:rPr lang="en-US" sz="2000" dirty="0"/>
                  <a:t>  where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bSup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Object 8">
                <a:extLst>
                  <a:ext uri="{FF2B5EF4-FFF2-40B4-BE49-F238E27FC236}">
                    <a16:creationId xmlns:a16="http://schemas.microsoft.com/office/drawing/2014/main" id="{7420A7F0-2CF0-58D9-8BB7-B6CFF631B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1884" y="3858657"/>
                <a:ext cx="10363200" cy="801687"/>
              </a:xfrm>
              <a:prstGeom prst="rect">
                <a:avLst/>
              </a:prstGeom>
              <a:blipFill>
                <a:blip r:embed="rId4"/>
                <a:stretch>
                  <a:fillRect t="-60305" b="-435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8B63CFC1-D87A-29B5-4676-B5FD2C00BFD9}"/>
              </a:ext>
            </a:extLst>
          </p:cNvPr>
          <p:cNvGrpSpPr/>
          <p:nvPr/>
        </p:nvGrpSpPr>
        <p:grpSpPr>
          <a:xfrm>
            <a:off x="2316948" y="5246809"/>
            <a:ext cx="4298931" cy="948100"/>
            <a:chOff x="2342349" y="5179073"/>
            <a:chExt cx="4298931" cy="94810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1E55180-DD14-F1FE-3637-C401E3847A86}"/>
                </a:ext>
              </a:extLst>
            </p:cNvPr>
            <p:cNvGrpSpPr/>
            <p:nvPr/>
          </p:nvGrpSpPr>
          <p:grpSpPr>
            <a:xfrm>
              <a:off x="2342349" y="5179073"/>
              <a:ext cx="2643306" cy="802921"/>
              <a:chOff x="2342349" y="5179073"/>
              <a:chExt cx="2643306" cy="80292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75B91E30-EA83-6C83-B86F-89030B3EBDAA}"/>
                  </a:ext>
                </a:extLst>
              </p:cNvPr>
              <p:cNvSpPr/>
              <p:nvPr/>
            </p:nvSpPr>
            <p:spPr>
              <a:xfrm>
                <a:off x="2342349" y="5179073"/>
                <a:ext cx="491778" cy="674881"/>
              </a:xfrm>
              <a:prstGeom prst="ellipse">
                <a:avLst/>
              </a:prstGeom>
              <a:noFill/>
              <a:ln w="127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934BF7AD-F5A3-4FDA-FF9C-9D51CC1B6989}"/>
                  </a:ext>
                </a:extLst>
              </p:cNvPr>
              <p:cNvSpPr/>
              <p:nvPr/>
            </p:nvSpPr>
            <p:spPr>
              <a:xfrm>
                <a:off x="2718866" y="5807849"/>
                <a:ext cx="2266789" cy="174145"/>
              </a:xfrm>
              <a:custGeom>
                <a:avLst/>
                <a:gdLst>
                  <a:gd name="connsiteX0" fmla="*/ 0 w 2266789"/>
                  <a:gd name="connsiteY0" fmla="*/ 0 h 353466"/>
                  <a:gd name="connsiteX1" fmla="*/ 245889 w 2266789"/>
                  <a:gd name="connsiteY1" fmla="*/ 353466 h 353466"/>
                  <a:gd name="connsiteX2" fmla="*/ 2266789 w 2266789"/>
                  <a:gd name="connsiteY2" fmla="*/ 353466 h 353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66789" h="353466">
                    <a:moveTo>
                      <a:pt x="0" y="0"/>
                    </a:moveTo>
                    <a:lnTo>
                      <a:pt x="245889" y="353466"/>
                    </a:lnTo>
                    <a:lnTo>
                      <a:pt x="2266789" y="353466"/>
                    </a:lnTo>
                  </a:path>
                </a:pathLst>
              </a:custGeom>
              <a:noFill/>
              <a:ln w="127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7213A08-12BB-49D5-E07A-2E6649A62CA8}"/>
                </a:ext>
              </a:extLst>
            </p:cNvPr>
            <p:cNvSpPr txBox="1"/>
            <p:nvPr/>
          </p:nvSpPr>
          <p:spPr>
            <a:xfrm>
              <a:off x="4956203" y="5819396"/>
              <a:ext cx="1685077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Tuning parameters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C1D44A0-8235-6904-1F24-6FBFBE8AE7D9}"/>
              </a:ext>
            </a:extLst>
          </p:cNvPr>
          <p:cNvGrpSpPr/>
          <p:nvPr/>
        </p:nvGrpSpPr>
        <p:grpSpPr>
          <a:xfrm>
            <a:off x="1836485" y="5256555"/>
            <a:ext cx="4869584" cy="1237532"/>
            <a:chOff x="1836485" y="5180353"/>
            <a:chExt cx="4869584" cy="123753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AF11689-EA81-6FB9-1B70-BE23EE64FC47}"/>
                </a:ext>
              </a:extLst>
            </p:cNvPr>
            <p:cNvGrpSpPr/>
            <p:nvPr/>
          </p:nvGrpSpPr>
          <p:grpSpPr>
            <a:xfrm>
              <a:off x="1836485" y="5180353"/>
              <a:ext cx="2597202" cy="1086768"/>
              <a:chOff x="1836485" y="5180353"/>
              <a:chExt cx="2597202" cy="1086768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50476BCF-6F1F-DE3F-A75B-3864CD2C32E7}"/>
                  </a:ext>
                </a:extLst>
              </p:cNvPr>
              <p:cNvSpPr/>
              <p:nvPr/>
            </p:nvSpPr>
            <p:spPr>
              <a:xfrm>
                <a:off x="1836485" y="5180353"/>
                <a:ext cx="491778" cy="674881"/>
              </a:xfrm>
              <a:prstGeom prst="ellipse">
                <a:avLst/>
              </a:prstGeom>
              <a:noFill/>
              <a:ln w="127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F9B184A7-5F34-17A1-7FCA-04D1B532767D}"/>
                  </a:ext>
                </a:extLst>
              </p:cNvPr>
              <p:cNvSpPr/>
              <p:nvPr/>
            </p:nvSpPr>
            <p:spPr>
              <a:xfrm>
                <a:off x="2166898" y="5816812"/>
                <a:ext cx="2266789" cy="450309"/>
              </a:xfrm>
              <a:custGeom>
                <a:avLst/>
                <a:gdLst>
                  <a:gd name="connsiteX0" fmla="*/ 0 w 2266789"/>
                  <a:gd name="connsiteY0" fmla="*/ 0 h 353466"/>
                  <a:gd name="connsiteX1" fmla="*/ 245889 w 2266789"/>
                  <a:gd name="connsiteY1" fmla="*/ 353466 h 353466"/>
                  <a:gd name="connsiteX2" fmla="*/ 2266789 w 2266789"/>
                  <a:gd name="connsiteY2" fmla="*/ 353466 h 353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66789" h="353466">
                    <a:moveTo>
                      <a:pt x="0" y="0"/>
                    </a:moveTo>
                    <a:lnTo>
                      <a:pt x="245889" y="353466"/>
                    </a:lnTo>
                    <a:lnTo>
                      <a:pt x="2266789" y="353466"/>
                    </a:lnTo>
                  </a:path>
                </a:pathLst>
              </a:custGeom>
              <a:noFill/>
              <a:ln w="127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163C63A-9ED3-BD57-8F7F-32F2F8EDCFFD}"/>
                </a:ext>
              </a:extLst>
            </p:cNvPr>
            <p:cNvSpPr txBox="1"/>
            <p:nvPr/>
          </p:nvSpPr>
          <p:spPr>
            <a:xfrm>
              <a:off x="4463147" y="6110108"/>
              <a:ext cx="224292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Testing parameterizations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62ADB4F-70E0-2959-F716-ABE8C731C1D4}"/>
              </a:ext>
            </a:extLst>
          </p:cNvPr>
          <p:cNvGrpSpPr/>
          <p:nvPr/>
        </p:nvGrpSpPr>
        <p:grpSpPr>
          <a:xfrm>
            <a:off x="6276575" y="1802774"/>
            <a:ext cx="4029025" cy="1040959"/>
            <a:chOff x="1836484" y="4814275"/>
            <a:chExt cx="4029025" cy="1040959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FEE62A0-8C0B-39A7-78B1-43EB05AEC3A1}"/>
                </a:ext>
              </a:extLst>
            </p:cNvPr>
            <p:cNvGrpSpPr/>
            <p:nvPr/>
          </p:nvGrpSpPr>
          <p:grpSpPr>
            <a:xfrm>
              <a:off x="1836484" y="4963544"/>
              <a:ext cx="2337228" cy="891690"/>
              <a:chOff x="1836484" y="4963544"/>
              <a:chExt cx="2337228" cy="89169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505ACE07-61F2-06E5-7F6F-36F3C67452DC}"/>
                  </a:ext>
                </a:extLst>
              </p:cNvPr>
              <p:cNvSpPr/>
              <p:nvPr/>
            </p:nvSpPr>
            <p:spPr>
              <a:xfrm>
                <a:off x="1836484" y="5180353"/>
                <a:ext cx="692843" cy="674881"/>
              </a:xfrm>
              <a:prstGeom prst="ellipse">
                <a:avLst/>
              </a:prstGeom>
              <a:noFill/>
              <a:ln w="127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0EF0DB5-451C-C9AA-4AC8-F7D17D7B1B8B}"/>
                  </a:ext>
                </a:extLst>
              </p:cNvPr>
              <p:cNvSpPr/>
              <p:nvPr/>
            </p:nvSpPr>
            <p:spPr>
              <a:xfrm flipV="1">
                <a:off x="2335948" y="4963544"/>
                <a:ext cx="1837764" cy="254750"/>
              </a:xfrm>
              <a:custGeom>
                <a:avLst/>
                <a:gdLst>
                  <a:gd name="connsiteX0" fmla="*/ 0 w 2266789"/>
                  <a:gd name="connsiteY0" fmla="*/ 0 h 353466"/>
                  <a:gd name="connsiteX1" fmla="*/ 245889 w 2266789"/>
                  <a:gd name="connsiteY1" fmla="*/ 353466 h 353466"/>
                  <a:gd name="connsiteX2" fmla="*/ 2266789 w 2266789"/>
                  <a:gd name="connsiteY2" fmla="*/ 353466 h 353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66789" h="353466">
                    <a:moveTo>
                      <a:pt x="0" y="0"/>
                    </a:moveTo>
                    <a:lnTo>
                      <a:pt x="245889" y="353466"/>
                    </a:lnTo>
                    <a:lnTo>
                      <a:pt x="2266789" y="353466"/>
                    </a:lnTo>
                  </a:path>
                </a:pathLst>
              </a:custGeom>
              <a:noFill/>
              <a:ln w="127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5F9955B-483D-17E9-6B52-F5FEAED1B346}"/>
                </a:ext>
              </a:extLst>
            </p:cNvPr>
            <p:cNvSpPr txBox="1"/>
            <p:nvPr/>
          </p:nvSpPr>
          <p:spPr>
            <a:xfrm>
              <a:off x="4238140" y="4814275"/>
              <a:ext cx="16273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Parameterizations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91E08BE-0745-A4DD-636D-0A45A6B0A551}"/>
              </a:ext>
            </a:extLst>
          </p:cNvPr>
          <p:cNvGrpSpPr/>
          <p:nvPr/>
        </p:nvGrpSpPr>
        <p:grpSpPr>
          <a:xfrm>
            <a:off x="6969417" y="2180966"/>
            <a:ext cx="3607759" cy="788544"/>
            <a:chOff x="6969417" y="2180966"/>
            <a:chExt cx="3607759" cy="788544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23AABAF-7EB3-E0D3-6CEE-E8DE1BA2C4AB}"/>
                </a:ext>
              </a:extLst>
            </p:cNvPr>
            <p:cNvGrpSpPr/>
            <p:nvPr/>
          </p:nvGrpSpPr>
          <p:grpSpPr>
            <a:xfrm>
              <a:off x="6969417" y="2180966"/>
              <a:ext cx="3607759" cy="788544"/>
              <a:chOff x="2342348" y="5179073"/>
              <a:chExt cx="3607759" cy="788544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4CF84376-2F3F-67CE-21B5-C4A9FFEC8DFE}"/>
                  </a:ext>
                </a:extLst>
              </p:cNvPr>
              <p:cNvSpPr/>
              <p:nvPr/>
            </p:nvSpPr>
            <p:spPr>
              <a:xfrm>
                <a:off x="2342348" y="5179073"/>
                <a:ext cx="929769" cy="674881"/>
              </a:xfrm>
              <a:prstGeom prst="ellipse">
                <a:avLst/>
              </a:prstGeom>
              <a:noFill/>
              <a:ln w="127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1F1C7B5-8151-8366-9ED0-3B2B1C195E15}"/>
                  </a:ext>
                </a:extLst>
              </p:cNvPr>
              <p:cNvSpPr txBox="1"/>
              <p:nvPr/>
            </p:nvSpPr>
            <p:spPr>
              <a:xfrm>
                <a:off x="4165644" y="5659840"/>
                <a:ext cx="178446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</a:rPr>
                  <a:t>Tunable parameters</a:t>
                </a:r>
              </a:p>
            </p:txBody>
          </p:sp>
        </p:grp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82F2A3F-24E5-9799-C47C-2430E5CA1209}"/>
                </a:ext>
              </a:extLst>
            </p:cNvPr>
            <p:cNvSpPr/>
            <p:nvPr/>
          </p:nvSpPr>
          <p:spPr>
            <a:xfrm>
              <a:off x="7847187" y="2661657"/>
              <a:ext cx="929769" cy="151456"/>
            </a:xfrm>
            <a:custGeom>
              <a:avLst/>
              <a:gdLst>
                <a:gd name="connsiteX0" fmla="*/ 0 w 2266789"/>
                <a:gd name="connsiteY0" fmla="*/ 0 h 353466"/>
                <a:gd name="connsiteX1" fmla="*/ 245889 w 2266789"/>
                <a:gd name="connsiteY1" fmla="*/ 353466 h 353466"/>
                <a:gd name="connsiteX2" fmla="*/ 2266789 w 2266789"/>
                <a:gd name="connsiteY2" fmla="*/ 353466 h 35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66789" h="353466">
                  <a:moveTo>
                    <a:pt x="0" y="0"/>
                  </a:moveTo>
                  <a:lnTo>
                    <a:pt x="245889" y="353466"/>
                  </a:lnTo>
                  <a:lnTo>
                    <a:pt x="2266789" y="353466"/>
                  </a:lnTo>
                </a:path>
              </a:pathLst>
            </a:custGeom>
            <a:noFill/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D7B70085-C025-92A8-D1BB-8830A74B4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</p:spPr>
        <p:txBody>
          <a:bodyPr/>
          <a:lstStyle/>
          <a:p>
            <a:r>
              <a:rPr lang="en-US" dirty="0"/>
              <a:t>From static to sequential problems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3AE41E3-C64A-9AB2-2E87-0ABB01B88F35}"/>
                  </a:ext>
                </a:extLst>
              </p:cNvPr>
              <p:cNvSpPr txBox="1"/>
              <p:nvPr/>
            </p:nvSpPr>
            <p:spPr>
              <a:xfrm>
                <a:off x="784885" y="2284254"/>
                <a:ext cx="4791568" cy="54200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𝑎𝑟𝑔</m:t>
                          </m:r>
                          <m:limLow>
                            <m:limLow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𝒳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lim>
                          </m:limLow>
                        </m:fName>
                        <m:e>
                          <m:sSubSup>
                            <m:sSub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2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3AE41E3-C64A-9AB2-2E87-0ABB01B88F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885" y="2284254"/>
                <a:ext cx="4791568" cy="5420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rapezoid 30">
            <a:extLst>
              <a:ext uri="{FF2B5EF4-FFF2-40B4-BE49-F238E27FC236}">
                <a16:creationId xmlns:a16="http://schemas.microsoft.com/office/drawing/2014/main" id="{2453EC32-D88E-5B26-FE43-5580C4BC6E7A}"/>
              </a:ext>
            </a:extLst>
          </p:cNvPr>
          <p:cNvSpPr/>
          <p:nvPr/>
        </p:nvSpPr>
        <p:spPr>
          <a:xfrm>
            <a:off x="16266" y="1184323"/>
            <a:ext cx="12192000" cy="1740842"/>
          </a:xfrm>
          <a:prstGeom prst="trapezoid">
            <a:avLst>
              <a:gd name="adj" fmla="val 0"/>
            </a:avLst>
          </a:prstGeom>
          <a:solidFill>
            <a:schemeClr val="accent2">
              <a:lumMod val="40000"/>
              <a:lumOff val="60000"/>
              <a:alpha val="2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811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2" grpId="0" animBg="1"/>
      <p:bldP spid="31" grpId="0" animBg="1"/>
    </p:bldLst>
  </p:timing>
</p:sld>
</file>

<file path=ppt/theme/theme1.xml><?xml version="1.0" encoding="utf-8"?>
<a:theme xmlns:a="http://schemas.openxmlformats.org/drawingml/2006/main" name="CIV 411 11 Intro and overview">
  <a:themeElements>
    <a:clrScheme name="CIV 411 11 Intro and overview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8575">
          <a:solidFill>
            <a:schemeClr val="tx1"/>
          </a:solidFill>
          <a:headEnd type="none" w="med" len="med"/>
          <a:tailEnd type="arrow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A48227E3DE37419A418C60F2D64C15" ma:contentTypeVersion="4" ma:contentTypeDescription="Create a new document." ma:contentTypeScope="" ma:versionID="5a821b418db10c4a560eab9e32ac3723">
  <xsd:schema xmlns:xsd="http://www.w3.org/2001/XMLSchema" xmlns:xs="http://www.w3.org/2001/XMLSchema" xmlns:p="http://schemas.microsoft.com/office/2006/metadata/properties" xmlns:ns3="b9a67f89-7d7d-48be-9399-9713d9f7587c" targetNamespace="http://schemas.microsoft.com/office/2006/metadata/properties" ma:root="true" ma:fieldsID="42462b3b3e84324c9aaf61227d41f6c0" ns3:_="">
    <xsd:import namespace="b9a67f89-7d7d-48be-9399-9713d9f7587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a67f89-7d7d-48be-9399-9713d9f758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99611F8-1974-4A8A-AF09-CB23287D66B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9AAD22F-0715-4457-A130-80773E09E4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a67f89-7d7d-48be-9399-9713d9f758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F0C8D23-C824-4069-9D96-A056B9C750B2}">
  <ds:schemaRefs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purl.org/dc/elements/1.1/"/>
    <ds:schemaRef ds:uri="b9a67f89-7d7d-48be-9399-9713d9f7587c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227024</TotalTime>
  <Words>632</Words>
  <Application>Microsoft Office PowerPoint</Application>
  <PresentationFormat>Widescreen</PresentationFormat>
  <Paragraphs>126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Playfair Display</vt:lpstr>
      <vt:lpstr>Oswald</vt:lpstr>
      <vt:lpstr>Raleway</vt:lpstr>
      <vt:lpstr>Times New Roman</vt:lpstr>
      <vt:lpstr>Cambria Math</vt:lpstr>
      <vt:lpstr>Wingdings</vt:lpstr>
      <vt:lpstr>CIV 411 11 Intro and overview</vt:lpstr>
      <vt:lpstr>PowerPoint Presentation</vt:lpstr>
      <vt:lpstr>OUTLINE</vt:lpstr>
      <vt:lpstr>From static to sequential problems</vt:lpstr>
      <vt:lpstr>From static to sequential problems</vt:lpstr>
      <vt:lpstr>From static to sequential problems</vt:lpstr>
      <vt:lpstr>From static to sequential problems</vt:lpstr>
      <vt:lpstr>From static to sequential problems</vt:lpstr>
      <vt:lpstr>From static to sequential problems</vt:lpstr>
      <vt:lpstr>From static to sequential problems</vt:lpstr>
      <vt:lpstr>From static to sequential problems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Warren B. Powell</dc:creator>
  <cp:lastModifiedBy>Warren Powell</cp:lastModifiedBy>
  <cp:revision>412</cp:revision>
  <cp:lastPrinted>2025-05-20T14:08:40Z</cp:lastPrinted>
  <dcterms:modified xsi:type="dcterms:W3CDTF">2025-07-16T14:54:34Z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0x0101000CA48227E3DE37419A418C60F2D64C15</vt:lpwstr>
  </property>
</Properties>
</file>